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794f66df-0004-599a-9018-d3cbe9a35329}">
          <p14:sldIdLst>
            <p14:sldId id="256"/>
            <p14:sldId id="257"/>
            <p14:sldId id="258"/>
            <p14:sldId id="259"/>
          </p14:sldIdLst>
        </p14:section>
        <p14:section name="Findings" id="{f6399a95-4657-416d-2473-9828fba0a896}">
          <p14:sldIdLst>
            <p14:sldId id="260"/>
            <p14:sldId id="261"/>
            <p14:sldId id="262"/>
            <p14:sldId id="263"/>
            <p14:sldId id="264"/>
            <p14:sldId id="265"/>
            <p14:sldId id="266"/>
            <p14:sldId id="267"/>
          </p14:sldIdLst>
        </p14:section>
        <p14:section name="Method" id="{172ab474-5d66-745e-f1d6-a8fde154c74b}">
          <p14:sldIdLst>
            <p14:sldId id="268"/>
            <p14:sldId id="269"/>
            <p14:sldId id="270"/>
            <p14:sldId id="271"/>
            <p14:sldId id="272"/>
            <p14:sldId id="273"/>
          </p14:sldIdLst>
        </p14:section>
        <p14:section name="Next" id="{ec574730-1c0b-09ec-e8d6-305684b86351}">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with extra helper functions Qwen3-14B's convex-hull program prints 0 corners instead of 6, with no error; 24-37% of gpt-oss-120b's wrong contest programs pass the examples printed in the problem. (2) Thinking is expensive: on 311 Codeforces geometry problems gpt-oss-120b solves 57% at medium effort (6.8k tokens per problem) and 66% at high effort (30k), 4.4 times the tokens for 9 more points. Why it matters: agents already write such code; tokens are cost and latency; most teams have one small GPU. Our question and plan: compare cheap fixes (a fact, a check, reuse) with thinking longer on real benchmarks, priced in tokens, and combine what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80160"/>
            <a:ext cx="3566160" cy="3154680"/>
          </a:xfrm>
          <a:prstGeom prst="roundRect">
            <a:avLst>
              <a:gd name="adj" fmla="val 2319"/>
            </a:avLst>
          </a:prstGeom>
          <a:solidFill>
            <a:srgbClr val="FDF2F1"/>
          </a:solidFill>
          <a:ln w="12700">
            <a:solidFill>
              <a:srgbClr val="C00000"/>
            </a:solidFill>
            <a:prstDash val="solid"/>
          </a:ln>
        </p:spPr>
      </p:sp>
      <p:sp>
        <p:nvSpPr>
          <p:cNvPr id="4" name="Text 2"/>
          <p:cNvSpPr txBox="1"/>
          <p:nvPr/>
        </p:nvSpPr>
        <p:spPr>
          <a:xfrm>
            <a:off x="731520" y="1371600"/>
            <a:ext cx="3200400" cy="457200"/>
          </a:xfrm>
          <a:prstGeom prst="rect">
            <a:avLst/>
          </a:prstGeom>
          <a:noFill/>
          <a:ln/>
        </p:spPr>
        <p:txBody>
          <a:bodyPr wrap="square" lIns="0" tIns="0" rIns="0" bIns="0" rtlCol="0" anchor="ctr"/>
          <a:lstStyle/>
          <a:p>
            <a:pPr indent="0" marL="0">
              <a:buNone/>
            </a:pPr>
            <a:r>
              <a:rPr lang="en-US" sz="1900" b="1" dirty="0">
                <a:solidFill>
                  <a:srgbClr val="C00000"/>
                </a:solidFill>
              </a:rPr>
              <a:t>1. Programs fail silently</a:t>
            </a:r>
            <a:endParaRPr lang="en-US" sz="1900" dirty="0"/>
          </a:p>
        </p:txBody>
      </p:sp>
      <p:sp>
        <p:nvSpPr>
          <p:cNvPr id="5" name="Text 3"/>
          <p:cNvSpPr txBox="1"/>
          <p:nvPr/>
        </p:nvSpPr>
        <p:spPr>
          <a:xfrm>
            <a:off x="731520" y="1874520"/>
            <a:ext cx="3200400" cy="320040"/>
          </a:xfrm>
          <a:prstGeom prst="rect">
            <a:avLst/>
          </a:prstGeom>
          <a:noFill/>
          <a:ln/>
        </p:spPr>
        <p:txBody>
          <a:bodyPr wrap="square" lIns="0" tIns="0" rIns="0" bIns="0" rtlCol="0" anchor="ctr"/>
          <a:lstStyle/>
          <a:p>
            <a:pPr indent="0" marL="0">
              <a:buNone/>
            </a:pPr>
            <a:r>
              <a:rPr lang="en-US" sz="1400" dirty="0">
                <a:solidFill>
                  <a:schemeClr val="tx1"/>
                </a:solidFill>
              </a:rPr>
              <a:t>a convex-hull program (Qwen3-14B, 10 points):</a:t>
            </a:r>
            <a:endParaRPr lang="en-US" sz="1400" dirty="0"/>
          </a:p>
        </p:txBody>
      </p:sp>
      <p:sp>
        <p:nvSpPr>
          <p:cNvPr id="6" name="code output: 0      (righ"/>
          <p:cNvSpPr/>
          <p:nvPr/>
        </p:nvSpPr>
        <p:spPr>
          <a:xfrm>
            <a:off x="731520" y="2212848"/>
            <a:ext cx="3200400" cy="457200"/>
          </a:xfrm>
          <a:prstGeom prst="rect">
            <a:avLst/>
          </a:prstGeom>
          <a:solidFill>
            <a:srgbClr val="FFFFFF"/>
          </a:solidFill>
          <a:ln w="9525">
            <a:solidFill>
              <a:srgbClr val="BFBFBF"/>
            </a:solidFill>
            <a:prstDash val="solid"/>
          </a:ln>
        </p:spPr>
      </p:sp>
      <p:sp>
        <p:nvSpPr>
          <p:cNvPr id="7" name="Text 5"/>
          <p:cNvSpPr txBox="1"/>
          <p:nvPr/>
        </p:nvSpPr>
        <p:spPr>
          <a:xfrm>
            <a:off x="841248" y="2212848"/>
            <a:ext cx="2980944" cy="45720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output: 0      (right answer: 6)</a:t>
            </a:r>
            <a:endParaRPr lang="en-US" sz="1400" dirty="0"/>
          </a:p>
        </p:txBody>
      </p:sp>
      <p:sp>
        <p:nvSpPr>
          <p:cNvPr id="8" name="Text 6"/>
          <p:cNvSpPr txBox="1"/>
          <p:nvPr/>
        </p:nvSpPr>
        <p:spPr>
          <a:xfrm>
            <a:off x="731520" y="2697480"/>
            <a:ext cx="3200400" cy="320040"/>
          </a:xfrm>
          <a:prstGeom prst="rect">
            <a:avLst/>
          </a:prstGeom>
          <a:noFill/>
          <a:ln/>
        </p:spPr>
        <p:txBody>
          <a:bodyPr wrap="square" lIns="0" tIns="0" rIns="0" bIns="0" rtlCol="0" anchor="ctr"/>
          <a:lstStyle/>
          <a:p>
            <a:pPr indent="0" marL="0">
              <a:buNone/>
            </a:pPr>
            <a:r>
              <a:rPr lang="en-US" sz="1400" dirty="0">
                <a:solidFill>
                  <a:srgbClr val="C00000"/>
                </a:solidFill>
              </a:rPr>
              <a:t>no error message, just a wrong number</a:t>
            </a:r>
            <a:endParaRPr lang="en-US" sz="1400" dirty="0"/>
          </a:p>
        </p:txBody>
      </p:sp>
      <p:sp>
        <p:nvSpPr>
          <p:cNvPr id="9" name="Text 7"/>
          <p:cNvSpPr txBox="1"/>
          <p:nvPr/>
        </p:nvSpPr>
        <p:spPr>
          <a:xfrm>
            <a:off x="731520" y="3154680"/>
            <a:ext cx="3200400" cy="1188720"/>
          </a:xfrm>
          <a:prstGeom prst="rect">
            <a:avLst/>
          </a:prstGeom>
          <a:noFill/>
          <a:ln/>
        </p:spPr>
        <p:txBody>
          <a:bodyPr wrap="square" lIns="0" tIns="0" rIns="0" bIns="0" rtlCol="0" anchor="t"/>
          <a:lstStyle/>
          <a:p>
            <a:pPr indent="0" marL="0">
              <a:buNone/>
            </a:pPr>
            <a:r>
              <a:rPr lang="en-US" sz="2400" b="1" dirty="0">
                <a:solidFill>
                  <a:srgbClr val="C00000"/>
                </a:solidFill>
              </a:rPr>
              <a:t>24–37%</a:t>
            </a:r>
            <a:endParaRPr lang="en-US" sz="1400" dirty="0"/>
          </a:p>
          <a:p>
            <a:pPr indent="0" marL="0">
              <a:buNone/>
            </a:pPr>
            <a:r>
              <a:rPr lang="en-US" sz="1400" dirty="0">
                <a:solidFill>
                  <a:schemeClr val="tx1"/>
                </a:solidFill>
              </a:rPr>
              <a:t>of wrong contest programs still pass the examples in the problem</a:t>
            </a:r>
            <a:endParaRPr lang="en-US" sz="1400" dirty="0"/>
          </a:p>
        </p:txBody>
      </p:sp>
      <p:sp>
        <p:nvSpPr>
          <p:cNvPr id="10" name="why 2. Thinking is expensive"/>
          <p:cNvSpPr/>
          <p:nvPr/>
        </p:nvSpPr>
        <p:spPr>
          <a:xfrm>
            <a:off x="4297680" y="1280160"/>
            <a:ext cx="3566160" cy="3154680"/>
          </a:xfrm>
          <a:prstGeom prst="roundRect">
            <a:avLst>
              <a:gd name="adj" fmla="val 2319"/>
            </a:avLst>
          </a:prstGeom>
          <a:solidFill>
            <a:srgbClr val="FDF0E6"/>
          </a:solidFill>
          <a:ln w="12700">
            <a:solidFill>
              <a:srgbClr val="ED7D31"/>
            </a:solidFill>
            <a:prstDash val="solid"/>
          </a:ln>
        </p:spPr>
      </p:sp>
      <p:sp>
        <p:nvSpPr>
          <p:cNvPr id="11" name="Text 9"/>
          <p:cNvSpPr txBox="1"/>
          <p:nvPr/>
        </p:nvSpPr>
        <p:spPr>
          <a:xfrm>
            <a:off x="4480560" y="1371600"/>
            <a:ext cx="3200400" cy="457200"/>
          </a:xfrm>
          <a:prstGeom prst="rect">
            <a:avLst/>
          </a:prstGeom>
          <a:noFill/>
          <a:ln/>
        </p:spPr>
        <p:txBody>
          <a:bodyPr wrap="square" lIns="0" tIns="0" rIns="0" bIns="0" rtlCol="0" anchor="ctr"/>
          <a:lstStyle/>
          <a:p>
            <a:pPr indent="0" marL="0">
              <a:buNone/>
            </a:pPr>
            <a:r>
              <a:rPr lang="en-US" sz="1900" b="1" dirty="0">
                <a:solidFill>
                  <a:srgbClr val="ED7D31"/>
                </a:solidFill>
              </a:rPr>
              <a:t>2. Thinking is expensive</a:t>
            </a:r>
            <a:endParaRPr lang="en-US" sz="1900" dirty="0"/>
          </a:p>
        </p:txBody>
      </p:sp>
      <p:sp>
        <p:nvSpPr>
          <p:cNvPr id="12" name="Text 10"/>
          <p:cNvSpPr txBox="1"/>
          <p:nvPr/>
        </p:nvSpPr>
        <p:spPr>
          <a:xfrm>
            <a:off x="4480560" y="1874520"/>
            <a:ext cx="3200400" cy="320040"/>
          </a:xfrm>
          <a:prstGeom prst="rect">
            <a:avLst/>
          </a:prstGeom>
          <a:noFill/>
          <a:ln/>
        </p:spPr>
        <p:txBody>
          <a:bodyPr wrap="square" lIns="0" tIns="0" rIns="0" bIns="0" rtlCol="0" anchor="ctr"/>
          <a:lstStyle/>
          <a:p>
            <a:pPr indent="0" marL="0">
              <a:buNone/>
            </a:pPr>
            <a:r>
              <a:rPr lang="en-US" sz="1400" dirty="0">
                <a:solidFill>
                  <a:schemeClr val="tx1"/>
                </a:solidFill>
              </a:rPr>
              <a:t>311 contest problems (gpt-oss-120b)</a:t>
            </a:r>
            <a:endParaRPr lang="en-US" sz="1400" dirty="0"/>
          </a:p>
        </p:txBody>
      </p:sp>
      <p:sp>
        <p:nvSpPr>
          <p:cNvPr id="13" name="Text 11"/>
          <p:cNvSpPr txBox="1"/>
          <p:nvPr/>
        </p:nvSpPr>
        <p:spPr>
          <a:xfrm>
            <a:off x="4389120" y="2286000"/>
            <a:ext cx="1188720" cy="365760"/>
          </a:xfrm>
          <a:prstGeom prst="rect">
            <a:avLst/>
          </a:prstGeom>
          <a:noFill/>
          <a:ln/>
        </p:spPr>
        <p:txBody>
          <a:bodyPr wrap="square" lIns="0" tIns="0" rIns="0" bIns="0" rtlCol="0" anchor="ctr"/>
          <a:lstStyle/>
          <a:p>
            <a:pPr algn="r" indent="0" marL="0">
              <a:buNone/>
            </a:pPr>
            <a:r>
              <a:rPr lang="en-US" sz="1400" dirty="0">
                <a:solidFill>
                  <a:schemeClr val="tx1"/>
                </a:solidFill>
              </a:rPr>
              <a:t>medium effort</a:t>
            </a:r>
            <a:endParaRPr lang="en-US" sz="1400" dirty="0"/>
          </a:p>
        </p:txBody>
      </p:sp>
      <p:sp>
        <p:nvSpPr>
          <p:cNvPr id="14" name="effort medium effort"/>
          <p:cNvSpPr/>
          <p:nvPr/>
        </p:nvSpPr>
        <p:spPr>
          <a:xfrm>
            <a:off x="5669280" y="2350008"/>
            <a:ext cx="987136" cy="256032"/>
          </a:xfrm>
          <a:prstGeom prst="rect">
            <a:avLst/>
          </a:prstGeom>
          <a:solidFill>
            <a:srgbClr val="A5A5A5"/>
          </a:solidFill>
          <a:ln w="6350">
            <a:solidFill>
              <a:srgbClr val="A5A5A5"/>
            </a:solidFill>
            <a:prstDash val="solid"/>
          </a:ln>
        </p:spPr>
      </p:sp>
      <p:sp>
        <p:nvSpPr>
          <p:cNvPr id="15" name="Text 13"/>
          <p:cNvSpPr txBox="1"/>
          <p:nvPr/>
        </p:nvSpPr>
        <p:spPr>
          <a:xfrm>
            <a:off x="6702136" y="2286000"/>
            <a:ext cx="1051560" cy="365760"/>
          </a:xfrm>
          <a:prstGeom prst="rect">
            <a:avLst/>
          </a:prstGeom>
          <a:noFill/>
          <a:ln/>
        </p:spPr>
        <p:txBody>
          <a:bodyPr wrap="square" lIns="0" tIns="0" rIns="0" bIns="0" rtlCol="0" anchor="ctr"/>
          <a:lstStyle/>
          <a:p>
            <a:pPr indent="0" marL="0">
              <a:buNone/>
            </a:pPr>
            <a:r>
              <a:rPr lang="en-US" sz="1400" b="1" dirty="0">
                <a:solidFill>
                  <a:srgbClr val="595959"/>
                </a:solidFill>
              </a:rPr>
              <a:t>57% · 6.8k</a:t>
            </a:r>
            <a:endParaRPr lang="en-US" sz="1400" dirty="0"/>
          </a:p>
        </p:txBody>
      </p:sp>
      <p:sp>
        <p:nvSpPr>
          <p:cNvPr id="16" name="Text 14"/>
          <p:cNvSpPr txBox="1"/>
          <p:nvPr/>
        </p:nvSpPr>
        <p:spPr>
          <a:xfrm>
            <a:off x="4389120" y="2788920"/>
            <a:ext cx="1188720" cy="365760"/>
          </a:xfrm>
          <a:prstGeom prst="rect">
            <a:avLst/>
          </a:prstGeom>
          <a:noFill/>
          <a:ln/>
        </p:spPr>
        <p:txBody>
          <a:bodyPr wrap="square" lIns="0" tIns="0" rIns="0" bIns="0" rtlCol="0" anchor="ctr"/>
          <a:lstStyle/>
          <a:p>
            <a:pPr algn="r" indent="0" marL="0">
              <a:buNone/>
            </a:pPr>
            <a:r>
              <a:rPr lang="en-US" sz="1400" dirty="0">
                <a:solidFill>
                  <a:schemeClr val="tx1"/>
                </a:solidFill>
              </a:rPr>
              <a:t>high effort</a:t>
            </a:r>
            <a:endParaRPr lang="en-US" sz="1400" dirty="0"/>
          </a:p>
        </p:txBody>
      </p:sp>
      <p:sp>
        <p:nvSpPr>
          <p:cNvPr id="17" name="effort high effort"/>
          <p:cNvSpPr/>
          <p:nvPr/>
        </p:nvSpPr>
        <p:spPr>
          <a:xfrm>
            <a:off x="5669280" y="2852928"/>
            <a:ext cx="1143000" cy="256032"/>
          </a:xfrm>
          <a:prstGeom prst="rect">
            <a:avLst/>
          </a:prstGeom>
          <a:solidFill>
            <a:srgbClr val="ED7D31"/>
          </a:solidFill>
          <a:ln w="6350">
            <a:solidFill>
              <a:srgbClr val="ED7D31"/>
            </a:solidFill>
            <a:prstDash val="solid"/>
          </a:ln>
        </p:spPr>
      </p:sp>
      <p:sp>
        <p:nvSpPr>
          <p:cNvPr id="18" name="Text 16"/>
          <p:cNvSpPr txBox="1"/>
          <p:nvPr/>
        </p:nvSpPr>
        <p:spPr>
          <a:xfrm>
            <a:off x="6858000" y="2788920"/>
            <a:ext cx="1051560" cy="365760"/>
          </a:xfrm>
          <a:prstGeom prst="rect">
            <a:avLst/>
          </a:prstGeom>
          <a:noFill/>
          <a:ln/>
        </p:spPr>
        <p:txBody>
          <a:bodyPr wrap="square" lIns="0" tIns="0" rIns="0" bIns="0" rtlCol="0" anchor="ctr"/>
          <a:lstStyle/>
          <a:p>
            <a:pPr indent="0" marL="0">
              <a:buNone/>
            </a:pPr>
            <a:r>
              <a:rPr lang="en-US" sz="1400" b="1" dirty="0">
                <a:solidFill>
                  <a:srgbClr val="ED7D31"/>
                </a:solidFill>
              </a:rPr>
              <a:t>66% · 30k</a:t>
            </a:r>
            <a:endParaRPr lang="en-US" sz="1400" dirty="0"/>
          </a:p>
        </p:txBody>
      </p:sp>
      <p:sp>
        <p:nvSpPr>
          <p:cNvPr id="19" name="Text 17"/>
          <p:cNvSpPr txBox="1"/>
          <p:nvPr/>
        </p:nvSpPr>
        <p:spPr>
          <a:xfrm>
            <a:off x="4480560" y="3291840"/>
            <a:ext cx="3200400" cy="1097280"/>
          </a:xfrm>
          <a:prstGeom prst="rect">
            <a:avLst/>
          </a:prstGeom>
          <a:noFill/>
          <a:ln/>
        </p:spPr>
        <p:txBody>
          <a:bodyPr wrap="square" lIns="0" tIns="0" rIns="0" bIns="0" rtlCol="0" anchor="t"/>
          <a:lstStyle/>
          <a:p>
            <a:pPr indent="0" marL="0">
              <a:buNone/>
            </a:pPr>
            <a:r>
              <a:rPr lang="en-US" sz="2400" b="1" dirty="0">
                <a:solidFill>
                  <a:srgbClr val="ED7D31"/>
                </a:solidFill>
              </a:rPr>
              <a:t>4.4× the tokens</a:t>
            </a:r>
            <a:endParaRPr lang="en-US" sz="1400" dirty="0"/>
          </a:p>
          <a:p>
            <a:pPr indent="0" marL="0">
              <a:buNone/>
            </a:pPr>
            <a:r>
              <a:rPr lang="en-US" sz="1400" dirty="0">
                <a:solidFill>
                  <a:schemeClr val="tx1"/>
                </a:solidFill>
              </a:rPr>
              <a:t>for 9 more points</a:t>
            </a:r>
            <a:endParaRPr lang="en-US" sz="1400" dirty="0"/>
          </a:p>
        </p:txBody>
      </p:sp>
      <p:sp>
        <p:nvSpPr>
          <p:cNvPr id="20" name="why 3. Why it matters"/>
          <p:cNvSpPr/>
          <p:nvPr/>
        </p:nvSpPr>
        <p:spPr>
          <a:xfrm>
            <a:off x="8046720" y="1280160"/>
            <a:ext cx="3566160" cy="3154680"/>
          </a:xfrm>
          <a:prstGeom prst="roundRect">
            <a:avLst>
              <a:gd name="adj" fmla="val 2319"/>
            </a:avLst>
          </a:prstGeom>
          <a:solidFill>
            <a:srgbClr val="EEF3FB"/>
          </a:solidFill>
          <a:ln w="12700">
            <a:solidFill>
              <a:srgbClr val="4472C4"/>
            </a:solidFill>
            <a:prstDash val="solid"/>
          </a:ln>
        </p:spPr>
      </p:sp>
      <p:sp>
        <p:nvSpPr>
          <p:cNvPr id="21" name="Text 19"/>
          <p:cNvSpPr txBox="1"/>
          <p:nvPr/>
        </p:nvSpPr>
        <p:spPr>
          <a:xfrm>
            <a:off x="8229600" y="1371600"/>
            <a:ext cx="3200400" cy="457200"/>
          </a:xfrm>
          <a:prstGeom prst="rect">
            <a:avLst/>
          </a:prstGeom>
          <a:noFill/>
          <a:ln/>
        </p:spPr>
        <p:txBody>
          <a:bodyPr wrap="square" lIns="0" tIns="0" rIns="0" bIns="0" rtlCol="0" anchor="ctr"/>
          <a:lstStyle/>
          <a:p>
            <a:pPr indent="0" marL="0">
              <a:buNone/>
            </a:pPr>
            <a:r>
              <a:rPr lang="en-US" sz="1900" b="1" dirty="0">
                <a:solidFill>
                  <a:srgbClr val="4472C4"/>
                </a:solidFill>
              </a:rPr>
              <a:t>3. Why it matters</a:t>
            </a:r>
            <a:endParaRPr lang="en-US" sz="1900" dirty="0"/>
          </a:p>
        </p:txBody>
      </p:sp>
      <p:sp>
        <p:nvSpPr>
          <p:cNvPr id="22" name="Text 20"/>
          <p:cNvSpPr txBox="1"/>
          <p:nvPr/>
        </p:nvSpPr>
        <p:spPr>
          <a:xfrm>
            <a:off x="8229600" y="1874520"/>
            <a:ext cx="3200400" cy="246888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chemeClr val="tx1"/>
                </a:solidFill>
              </a:rPr>
              <a:t>coding agents already write route planners, schedulers and geometry code</a:t>
            </a:r>
            <a:endParaRPr lang="en-US" sz="1500" dirty="0"/>
          </a:p>
          <a:p>
            <a:pPr marL="342900" indent="-342900">
              <a:spcAft>
                <a:spcPts val="800"/>
              </a:spcAft>
              <a:buSzPct val="100000"/>
              <a:buChar char="•"/>
            </a:pPr>
            <a:r>
              <a:rPr lang="en-US" sz="1500" dirty="0">
                <a:solidFill>
                  <a:schemeClr val="tx1"/>
                </a:solidFill>
              </a:rPr>
              <a:t>tokens are the cost and the waiting time</a:t>
            </a:r>
            <a:endParaRPr lang="en-US" sz="1500" dirty="0"/>
          </a:p>
          <a:p>
            <a:pPr marL="342900" indent="-342900">
              <a:spcAft>
                <a:spcPts val="800"/>
              </a:spcAft>
              <a:buSzPct val="100000"/>
              <a:buChar char="•"/>
            </a:pPr>
            <a:r>
              <a:rPr lang="en-US" sz="1500" dirty="0">
                <a:solidFill>
                  <a:schemeClr val="tx1"/>
                </a:solidFill>
              </a:rPr>
              <a:t>many teams have one 24 GB GPU, not a 120B model</a:t>
            </a:r>
            <a:endParaRPr lang="en-US" sz="1500" dirty="0"/>
          </a:p>
        </p:txBody>
      </p:sp>
      <p:sp>
        <p:nvSpPr>
          <p:cNvPr id="23" name="what we do"/>
          <p:cNvSpPr/>
          <p:nvPr/>
        </p:nvSpPr>
        <p:spPr>
          <a:xfrm>
            <a:off x="548640" y="4617720"/>
            <a:ext cx="11064240" cy="1417320"/>
          </a:xfrm>
          <a:prstGeom prst="roundRect">
            <a:avLst>
              <a:gd name="adj" fmla="val 5161"/>
            </a:avLst>
          </a:prstGeom>
          <a:solidFill>
            <a:srgbClr val="F2F2F2"/>
          </a:solidFill>
          <a:ln w="9525">
            <a:solidFill>
              <a:srgbClr val="D9D9D9"/>
            </a:solidFill>
            <a:prstDash val="solid"/>
          </a:ln>
        </p:spPr>
      </p:sp>
      <p:sp>
        <p:nvSpPr>
          <p:cNvPr id="24" name="Text 22"/>
          <p:cNvSpPr txBox="1"/>
          <p:nvPr/>
        </p:nvSpPr>
        <p:spPr>
          <a:xfrm>
            <a:off x="777240" y="4663440"/>
            <a:ext cx="10607040" cy="1325880"/>
          </a:xfrm>
          <a:prstGeom prst="rect">
            <a:avLst/>
          </a:prstGeom>
          <a:noFill/>
          <a:ln/>
        </p:spPr>
        <p:txBody>
          <a:bodyPr wrap="square" lIns="0" tIns="0" rIns="0" bIns="0" rtlCol="0" anchor="ctr"/>
          <a:lstStyle/>
          <a:p>
            <a:pPr indent="0" marL="0">
              <a:buNone/>
            </a:pPr>
            <a:r>
              <a:rPr lang="en-US" sz="1600" b="1" dirty="0">
                <a:solidFill>
                  <a:srgbClr val="4472C4"/>
                </a:solidFill>
              </a:rPr>
              <a:t>Our question: </a:t>
            </a:r>
            <a:pPr indent="0" marL="0">
              <a:buNone/>
            </a:pPr>
            <a:r>
              <a:rPr lang="en-US" sz="1600" dirty="0">
                <a:solidFill>
                  <a:schemeClr val="tx1"/>
                </a:solidFill>
              </a:rPr>
              <a:t>where should the extra effort go: give a missing fact, run a cheap check, or think longer?</a:t>
            </a:r>
            <a:endParaRPr lang="en-US" sz="1600" dirty="0"/>
          </a:p>
          <a:p>
            <a:pPr indent="0" marL="0">
              <a:buNone/>
            </a:pPr>
            <a:r>
              <a:rPr lang="en-US" sz="1600" b="1" dirty="0">
                <a:solidFill>
                  <a:srgbClr val="4472C4"/>
                </a:solidFill>
              </a:rPr>
              <a:t>What we do: </a:t>
            </a:r>
            <a:pPr indent="0" marL="0">
              <a:buNone/>
            </a:pPr>
            <a:r>
              <a:rPr lang="en-US" sz="1600" dirty="0">
                <a:solidFill>
                  <a:schemeClr val="tx1"/>
                </a:solidFill>
              </a:rPr>
              <a:t>test each fix on geometry, routing, scheduling, contest problems, word problems, competition math and proofs, with open models, scoring accuracy and tokens; then combine the winners into one recipe.</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2026-10-19T11:58:02Z</dcterms:created>
  <dcterms:modified xsi:type="dcterms:W3CDTF">2026-10-19T11:58:02Z</dcterms:modified>
</cp:coreProperties>
</file>