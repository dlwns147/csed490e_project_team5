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9a6e2163-4d0d-ca38-b647-a6c2ae405622}">
          <p14:sldIdLst>
            <p14:sldId id="256"/>
            <p14:sldId id="257"/>
            <p14:sldId id="258"/>
            <p14:sldId id="259"/>
            <p14:sldId id="260"/>
          </p14:sldIdLst>
        </p14:section>
        <p14:section name="Findings" id="{87d0bf9e-f5ec-96a8-5a53-a9544e3e2733}">
          <p14:sldIdLst>
            <p14:sldId id="261"/>
            <p14:sldId id="262"/>
            <p14:sldId id="263"/>
            <p14:sldId id="264"/>
            <p14:sldId id="265"/>
            <p14:sldId id="266"/>
            <p14:sldId id="267"/>
            <p14:sldId id="268"/>
          </p14:sldIdLst>
        </p14:section>
        <p14:section name="Method" id="{613ccdda-cd72-4500-b5ad-109f7210fb87}">
          <p14:sldIdLst>
            <p14:sldId id="269"/>
            <p14:sldId id="270"/>
            <p14:sldId id="271"/>
            <p14:sldId id="272"/>
            <p14:sldId id="273"/>
            <p14:sldId id="274"/>
            <p14:sldId id="275"/>
          </p14:sldIdLst>
        </p14:section>
        <p14:section name="Next" id="{8d76434e-7411-75da-ac50-e74ed7d829bd}">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Computational math: geometry, optimization, contest problems, word problems whose answer must be computed exactly. We ask how to get them right with the fewest tokens and the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ways an LLM can solve a math problem: answer in words, write a program, write a program that calls a solver library (for optimization), or think longer first (reasoning mode, more tokens). Example, 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hard, by well-known yardsticks. Contest problems: Codeforces ratings with the human rank at that level (Newbie up to 1199, Pupil 1200-1399, Specialist 1400-1599, Expert 1600-1899, Candidate Master 1900-2099, Master 2100-2299, International Master 2300-2399, Grandmaster 2400+); our median is 2200 (Master) and 142 of 311 are 2400+; 56 problems (18%) are solved by none of our 9 model settings. Routing: the Solomon VRPTW benchmark (1987); a simple greedy plan is valid on all 56 but 47.6% longer than the best known. Word problems: NL4OPT (a NeurIPS 2022 competition) is undergraduate OR-exercise level. Math: AIME invites at least the top 2.5% of AMC 10 and top 5% of AMC 12 takers. Proofs: on IMO-AG-30 an average IMO gold medallist solves 25.9 of 30 and an average participant 15.2 (AlphaGeometry paper). gpt-oss-120b at high effort solves 89% of the easiest contest band and 48% of the 2400+ band.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problems. (1) Programs fail silently: for the same task (how many corners does the rubber band around these 10 points have?) Qwen3-14B's program prints 6 with only the task, and 0 when the prompt also offers 8 unneeded helper functions, with no error message. Even the examples in a contest problem miss such bugs: a program for 'Find Color' passes all 3 and fails hidden test 11; 24-37% of gpt-oss-120b's wrong contest programs pass the examples. (2) Thinking longer is expensive: on 311 Codeforces geometry problems gpt-oss-120b uses 6.8k tokens per problem at medium effort (about 10 pages) and solves 57%, and 30k tokens at high effort (about 43 pages) for 66%: 4.4 times the tokens for 9 more points. Why it matters: agents already write route planners, schedulers and geometry code; tokens are cost and latency; most teams have one small GPU. Our question: where should extra effort go, a missing fact, a free check, or more thinking? We test each on geometry, routing, scheduling, contest problems, word problems, math and proofs, counting accuracy and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long reference sheet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writes the program (the right side shows the line that matters). With a long reference sheet it guesses a plausible function name that does not exist and crashes; with the exact usage (11 lines) it writes the right one. Thinking longer cannot supply a fact it does not have (3%).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measured result, shown on the finding slides with an example. Step 1: the polygon. Step 2: delivery routing with OR-Tools (Qwen3-32B). Step 3: free checks (the problem's examples; two versions that should agree). Step 4: contest geometry with gpt-oss-120b. Step 5: reuse on the Solomon routing benchmark. Together (3 models, 624 geometry and optimization problems, 3 seeds): fact first and thinking only on a failed check solves 87% at 2.5k tokens per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run (Qwen3-8B, MAMO easy-189, answer 20000). 1: without a fact the program calls Objective().Minimize(), which does not exist, and crashes. 2: the fact is the model's own earlier program for another problem (vans and trucks) that passed the check; with it the program writes solver.Minimize(10*x + 15*y + 20*z) and prints 20000 (316 tokens). 3: the free check, a second version, also prints 20000 (312 tokens): they agree. 4: so no thinking (thinking alone took 5,323 tokens). 5: the same kind of problem with new data reuses the checked program. Bottom: this problem 0.6k vs 5.3k tokens; over 624 geometry and optimization problems (Qwen3-8B, Qwen3-32B, Qwen3.6, 3 seeds) 87% at 2.5k vs 74% at 4.1k for thinking on the hardest-looking problems. The free check in each domain needs no answers: contest sample tests, geometry copies that must agree, routing plans that must obey every rule, word problems with two versions that must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(208 problems × 3 models); contest geometry gpt-oss-120b (311); selection Qwen3-8B (300 geometry instances, 3 candidates); documentation Qwen3-32B on CVRP; tools Qwen3-32B on 5 geometry tasks; daily routing gpt-oss-120b on 48 held-out Solomon instances. Tokens are output tokens per problem. ORLM-LLaMA-3-8B was run in our harness on MAMO (863 held-out word problems; greedy 80.5 / 35.5% on Easy / Complex, as reported). More rows (MBR-exec, majority vote, DeepConf, Self-Debugging, Mixture-of-Thought cascade, BM25 retrieval) are in PROPOSAL.md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Closest work per theme (details and how we differ: PROPOSAL.md section 6.1 and docs/notes/RELATED_WORK.md). Closest overall: OptiSkill (2609.22987) builds a skill bank from a strong teacher's programs validated against answers and routes it by problem type; our facts are the same small model's own programs chosen by a label-free check, and we show why routing by problem type is needed (a fact from another type costs 14-21 points). For when-to-think, Thinkless and AdaptThink train a switch with RL; we decide with an execution check after giving the fact; a same-backbone comparison with AdaptThink-7B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as reported by the papers or model cards; our harness, prompts and graders differ (MAMO labels are noisy; reported ORLM numbers range 81.6-88.2% on Easy). ORLM-8B rerun in our harness gives 80.5 / 35.5%, close to its report. STORM-Qwen3-4B is being run in our harness. Goedel-Prover-V2-8B: 187 of 244 with 32 tries in our Lean setup vs 84.6% on its card. AlphaGeometry's DD+AR engine proves 12 of IMO-AG-30 here (14 in the paper; one problem does not parse in this engine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 test. Models: open models run locally (Qwen3 1.7B, 4B, 8B, 14B, 32B; Qwen3.6-35B-A3B; gpt-oss-20b and 120b; Goedel-Prover-V2-8B and DeepSeek-Prover-V2-7B for Lean). Benchmarks with exact answers. Every comparison changes one thing, is pre-registered (predictions written before the run, docs/prereg), replicated on 3 seeds, and reports output tokens per problem; published baselines are rerun in the same harness.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3.png"/><Relationship Id="rId5" Type="http://schemas.openxmlformats.org/officeDocument/2006/relationships/image" Target="../media/image-4-3.png"/><Relationship Id="rId6" Type="http://schemas.openxmlformats.org/officeDocument/2006/relationships/image" Target="../media/image-4-3.png"/><Relationship Id="rId7" Type="http://schemas.openxmlformats.org/officeDocument/2006/relationships/image" Target="../media/image-4-3.png"/><Relationship Id="rId8" Type="http://schemas.openxmlformats.org/officeDocument/2006/relationships/image" Target="../media/image-4-3.png"/><Relationship Id="rId9" Type="http://schemas.openxmlformats.org/officeDocument/2006/relationships/image" Target="../media/image-4-3.png"/><Relationship Id="rId10" Type="http://schemas.openxmlformats.org/officeDocument/2006/relationships/image" Target="../media/image-4-3.png"/><Relationship Id="rId11" Type="http://schemas.openxmlformats.org/officeDocument/2006/relationships/image" Target="../media/image-4-3.png"/><Relationship Id="rId12" Type="http://schemas.openxmlformats.org/officeDocument/2006/relationships/image" Target="../media/image-4-3.png"/><Relationship Id="rId13" Type="http://schemas.openxmlformats.org/officeDocument/2006/relationships/image" Target="../media/image-4-13.png"/><Relationship Id="rId14" Type="http://schemas.openxmlformats.org/officeDocument/2006/relationships/image" Target="../media/image-4-13.png"/><Relationship Id="rId15" Type="http://schemas.openxmlformats.org/officeDocument/2006/relationships/image" Target="../media/image-4-13.png"/><Relationship Id="rId16" Type="http://schemas.openxmlformats.org/officeDocument/2006/relationships/image" Target="../media/image-4-13.png"/><Relationship Id="rId17" Type="http://schemas.openxmlformats.org/officeDocument/2006/relationships/image" Target="../media/image-4-13.png"/><Relationship Id="rId18" Type="http://schemas.openxmlformats.org/officeDocument/2006/relationships/image" Target="../media/image-4-13.png"/><Relationship Id="rId19" Type="http://schemas.openxmlformats.org/officeDocument/2006/relationships/image" Target="../media/image-4-13.png"/><Relationship Id="rId20" Type="http://schemas.openxmlformats.org/officeDocument/2006/relationships/image" Target="../media/image-4-13.png"/><Relationship Id="rId21" Type="http://schemas.openxmlformats.org/officeDocument/2006/relationships/image" Target="../media/image-4-13.png"/><Relationship Id="rId22" Type="http://schemas.openxmlformats.org/officeDocument/2006/relationships/image" Target="../media/image-4-13.png"/><Relationship Id="rId23" Type="http://schemas.openxmlformats.org/officeDocument/2006/relationships/image" Target="../media/image-4-13.png"/><Relationship Id="rId24" Type="http://schemas.openxmlformats.org/officeDocument/2006/relationships/image" Target="../media/image-4-13.png"/><Relationship Id="rId25" Type="http://schemas.openxmlformats.org/officeDocument/2006/relationships/image" Target="../media/image-4-13.png"/><Relationship Id="rId26" Type="http://schemas.openxmlformats.org/officeDocument/2006/relationships/image" Target="../media/image-4-13.png"/><Relationship Id="rId27" Type="http://schemas.openxmlformats.org/officeDocument/2006/relationships/image" Target="../media/image-4-13.png"/><Relationship Id="rId28" Type="http://schemas.openxmlformats.org/officeDocument/2006/relationships/image" Target="../media/image-4-13.png"/><Relationship Id="rId29" Type="http://schemas.openxmlformats.org/officeDocument/2006/relationships/image" Target="../media/image-4-13.png"/><Relationship Id="rId30" Type="http://schemas.openxmlformats.org/officeDocument/2006/relationships/image" Target="../media/image-4-13.png"/><Relationship Id="rId31" Type="http://schemas.openxmlformats.org/officeDocument/2006/relationships/image" Target="../media/image-4-13.png"/><Relationship Id="rId32" Type="http://schemas.openxmlformats.org/officeDocument/2006/relationships/image" Target="../media/image-4-13.png"/><Relationship Id="rId33" Type="http://schemas.openxmlformats.org/officeDocument/2006/relationships/image" Target="../media/image-4-13.png"/><Relationship Id="rId34" Type="http://schemas.openxmlformats.org/officeDocument/2006/relationships/image" Target="../media/image-4-13.png"/><Relationship Id="rId35" Type="http://schemas.openxmlformats.org/officeDocument/2006/relationships/image" Target="../media/image-4-13.png"/><Relationship Id="rId36" Type="http://schemas.openxmlformats.org/officeDocument/2006/relationships/image" Target="../media/image-4-13.png"/><Relationship Id="rId37" Type="http://schemas.openxmlformats.org/officeDocument/2006/relationships/image" Target="../media/image-4-13.png"/><Relationship Id="rId38" Type="http://schemas.openxmlformats.org/officeDocument/2006/relationships/image" Target="../media/image-4-13.png"/><Relationship Id="rId39" Type="http://schemas.openxmlformats.org/officeDocument/2006/relationships/image" Target="../media/image-4-13.png"/><Relationship Id="rId40" Type="http://schemas.openxmlformats.org/officeDocument/2006/relationships/image" Target="../media/image-4-13.png"/><Relationship Id="rId41" Type="http://schemas.openxmlformats.org/officeDocument/2006/relationships/image" Target="../media/image-4-13.png"/><Relationship Id="rId42" Type="http://schemas.openxmlformats.org/officeDocument/2006/relationships/image" Target="../media/image-4-13.png"/><Relationship Id="rId43" Type="http://schemas.openxmlformats.org/officeDocument/2006/relationships/image" Target="../media/image-4-13.png"/><Relationship Id="rId44" Type="http://schemas.openxmlformats.org/officeDocument/2006/relationships/image" Target="../media/image-4-13.png"/><Relationship Id="rId45" Type="http://schemas.openxmlformats.org/officeDocument/2006/relationships/image" Target="../media/image-4-13.png"/><Relationship Id="rId46" Type="http://schemas.openxmlformats.org/officeDocument/2006/relationships/image" Target="../media/image-4-13.png"/><Relationship Id="rId47" Type="http://schemas.openxmlformats.org/officeDocument/2006/relationships/image" Target="../media/image-4-13.png"/><Relationship Id="rId48" Type="http://schemas.openxmlformats.org/officeDocument/2006/relationships/image" Target="../media/image-4-13.png"/><Relationship Id="rId49" Type="http://schemas.openxmlformats.org/officeDocument/2006/relationships/image" Target="../media/image-4-13.png"/><Relationship Id="rId50" Type="http://schemas.openxmlformats.org/officeDocument/2006/relationships/image" Target="../media/image-4-13.png"/><Relationship Id="rId51" Type="http://schemas.openxmlformats.org/officeDocument/2006/relationships/image" Target="../media/image-4-13.png"/><Relationship Id="rId52" Type="http://schemas.openxmlformats.org/officeDocument/2006/relationships/image" Target="../media/image-4-13.png"/><Relationship Id="rId53" Type="http://schemas.openxmlformats.org/officeDocument/2006/relationships/image" Target="../media/image-4-13.png"/><Relationship Id="rId54" Type="http://schemas.openxmlformats.org/officeDocument/2006/relationships/image" Target="../media/image-4-13.png"/><Relationship Id="rId55" Type="http://schemas.openxmlformats.org/officeDocument/2006/relationships/image" Target="../media/image-4-13.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image" Target="../media/image-4-58.png"/><Relationship Id="rId59" Type="http://schemas.openxmlformats.org/officeDocument/2006/relationships/image" Target="../media/image-4-59.png"/><Relationship Id="rId60" Type="http://schemas.openxmlformats.org/officeDocument/2006/relationships/image" Target="../media/image-4-60.png"/><Relationship Id="rId61" Type="http://schemas.openxmlformats.org/officeDocument/2006/relationships/image" Target="../media/image-4-61.png"/><Relationship Id="rId62" Type="http://schemas.openxmlformats.org/officeDocument/2006/relationships/slideLayout" Target="../slideLayouts/slideLayout3.xml"/><Relationship Id="rId6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3.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fact, a check, or more thinking: where should the extra effort go?</a:t>
            </a:r>
            <a:endParaRPr lang="en-US" sz="2200" dirty="0"/>
          </a:p>
          <a:p>
            <a:pPr algn="ctr" indent="0" marL="0">
              <a:buNone/>
            </a:pPr>
            <a:r>
              <a:rPr lang="en-US" sz="1600" dirty="0">
                <a:solidFill>
                  <a:srgbClr val="44546A"/>
                </a:solidFill>
              </a:rPr>
              <a:t>Team 5: Sangjun Lee, Seongbin Park · POSTECH CSED490E (Graduate NLP) ·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How an LLM solves a math problem</a:t>
            </a:r>
            <a:endParaRPr lang="en-US" sz="3600" dirty="0"/>
          </a:p>
        </p:txBody>
      </p:sp>
      <p:sp>
        <p:nvSpPr>
          <p:cNvPr id="3" name="approach Answer in words"/>
          <p:cNvSpPr/>
          <p:nvPr/>
        </p:nvSpPr>
        <p:spPr>
          <a:xfrm>
            <a:off x="548640" y="1188720"/>
            <a:ext cx="2651760" cy="777240"/>
          </a:xfrm>
          <a:prstGeom prst="roundRect">
            <a:avLst>
              <a:gd name="adj" fmla="val 9412"/>
            </a:avLst>
          </a:prstGeom>
          <a:solidFill>
            <a:srgbClr val="F2F2F2"/>
          </a:solidFill>
          <a:ln w="9525">
            <a:solidFill>
              <a:srgbClr val="D9D9D9"/>
            </a:solidFill>
            <a:prstDash val="solid"/>
          </a:ln>
        </p:spPr>
      </p:sp>
      <p:pic>
        <p:nvPicPr>
          <p:cNvPr id="4" name="icon pen" descr="/NAS/SJ/POSTECH/nlp/figs/icons/pen.png">    </p:cNvPr>
          <p:cNvPicPr>
            <a:picLocks noChangeAspect="1"/>
          </p:cNvPicPr>
          <p:nvPr/>
        </p:nvPicPr>
        <p:blipFill>
          <a:blip r:embed="rId1"/>
          <a:stretch>
            <a:fillRect/>
          </a:stretch>
        </p:blipFill>
        <p:spPr>
          <a:xfrm>
            <a:off x="685800" y="1344168"/>
            <a:ext cx="457200" cy="457200"/>
          </a:xfrm>
          <a:prstGeom prst="rect">
            <a:avLst/>
          </a:prstGeom>
        </p:spPr>
      </p:pic>
      <p:sp>
        <p:nvSpPr>
          <p:cNvPr id="5" name="Text 2"/>
          <p:cNvSpPr txBox="1"/>
          <p:nvPr/>
        </p:nvSpPr>
        <p:spPr>
          <a:xfrm>
            <a:off x="123444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Answer in words</a:t>
            </a:r>
            <a:endParaRPr lang="en-US" sz="1600" dirty="0"/>
          </a:p>
          <a:p>
            <a:pPr indent="0" marL="0">
              <a:buNone/>
            </a:pPr>
            <a:r>
              <a:rPr lang="en-US" sz="1250" dirty="0">
                <a:solidFill>
                  <a:schemeClr val="tx2"/>
                </a:solidFill>
              </a:rPr>
              <a:t>it does the arithmetic itself</a:t>
            </a:r>
            <a:endParaRPr lang="en-US" sz="1600" dirty="0"/>
          </a:p>
        </p:txBody>
      </p:sp>
      <p:sp>
        <p:nvSpPr>
          <p:cNvPr id="6" name="approach Write a program"/>
          <p:cNvSpPr/>
          <p:nvPr/>
        </p:nvSpPr>
        <p:spPr>
          <a:xfrm>
            <a:off x="3337560" y="1188720"/>
            <a:ext cx="2651760" cy="777240"/>
          </a:xfrm>
          <a:prstGeom prst="roundRect">
            <a:avLst>
              <a:gd name="adj" fmla="val 9412"/>
            </a:avLst>
          </a:prstGeom>
          <a:solidFill>
            <a:srgbClr val="F2F2F2"/>
          </a:solidFill>
          <a:ln w="9525">
            <a:solidFill>
              <a:srgbClr val="D9D9D9"/>
            </a:solidFill>
            <a:prstDash val="solid"/>
          </a:ln>
        </p:spPr>
      </p:sp>
      <p:pic>
        <p:nvPicPr>
          <p:cNvPr id="7" name="icon code" descr="/NAS/SJ/POSTECH/nlp/figs/icons/code.png">    </p:cNvPr>
          <p:cNvPicPr>
            <a:picLocks noChangeAspect="1"/>
          </p:cNvPicPr>
          <p:nvPr/>
        </p:nvPicPr>
        <p:blipFill>
          <a:blip r:embed="rId2"/>
          <a:stretch>
            <a:fillRect/>
          </a:stretch>
        </p:blipFill>
        <p:spPr>
          <a:xfrm>
            <a:off x="3474720" y="1344168"/>
            <a:ext cx="457200" cy="457200"/>
          </a:xfrm>
          <a:prstGeom prst="rect">
            <a:avLst/>
          </a:prstGeom>
        </p:spPr>
      </p:pic>
      <p:sp>
        <p:nvSpPr>
          <p:cNvPr id="8" name="Text 4"/>
          <p:cNvSpPr txBox="1"/>
          <p:nvPr/>
        </p:nvSpPr>
        <p:spPr>
          <a:xfrm>
            <a:off x="402336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Write a program</a:t>
            </a:r>
            <a:endParaRPr lang="en-US" sz="1600" dirty="0"/>
          </a:p>
          <a:p>
            <a:pPr indent="0" marL="0">
              <a:buNone/>
            </a:pPr>
            <a:r>
              <a:rPr lang="en-US" sz="1250" dirty="0">
                <a:solidFill>
                  <a:schemeClr val="tx2"/>
                </a:solidFill>
              </a:rPr>
              <a:t>the computer computes the answer</a:t>
            </a:r>
            <a:endParaRPr lang="en-US" sz="1600" dirty="0"/>
          </a:p>
        </p:txBody>
      </p:sp>
      <p:sp>
        <p:nvSpPr>
          <p:cNvPr id="9" name="approach Call a solver library"/>
          <p:cNvSpPr/>
          <p:nvPr/>
        </p:nvSpPr>
        <p:spPr>
          <a:xfrm>
            <a:off x="6126480" y="1188720"/>
            <a:ext cx="2651760" cy="777240"/>
          </a:xfrm>
          <a:prstGeom prst="roundRect">
            <a:avLst>
              <a:gd name="adj" fmla="val 9412"/>
            </a:avLst>
          </a:prstGeom>
          <a:solidFill>
            <a:srgbClr val="F2F2F2"/>
          </a:solidFill>
          <a:ln w="9525">
            <a:solidFill>
              <a:srgbClr val="D9D9D9"/>
            </a:solidFill>
            <a:prstDash val="solid"/>
          </a:ln>
        </p:spPr>
      </p:sp>
      <p:pic>
        <p:nvPicPr>
          <p:cNvPr id="10" name="icon gears" descr="/NAS/SJ/POSTECH/nlp/figs/icons/gears.png">    </p:cNvPr>
          <p:cNvPicPr>
            <a:picLocks noChangeAspect="1"/>
          </p:cNvPicPr>
          <p:nvPr/>
        </p:nvPicPr>
        <p:blipFill>
          <a:blip r:embed="rId3"/>
          <a:stretch>
            <a:fillRect/>
          </a:stretch>
        </p:blipFill>
        <p:spPr>
          <a:xfrm>
            <a:off x="6263640" y="1344168"/>
            <a:ext cx="457200" cy="457200"/>
          </a:xfrm>
          <a:prstGeom prst="rect">
            <a:avLst/>
          </a:prstGeom>
        </p:spPr>
      </p:pic>
      <p:sp>
        <p:nvSpPr>
          <p:cNvPr id="11" name="Text 6"/>
          <p:cNvSpPr txBox="1"/>
          <p:nvPr/>
        </p:nvSpPr>
        <p:spPr>
          <a:xfrm>
            <a:off x="681228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Call a solver library</a:t>
            </a:r>
            <a:endParaRPr lang="en-US" sz="1600" dirty="0"/>
          </a:p>
          <a:p>
            <a:pPr indent="0" marL="0">
              <a:buNone/>
            </a:pPr>
            <a:r>
              <a:rPr lang="en-US" sz="1250" dirty="0">
                <a:solidFill>
                  <a:schemeClr val="tx2"/>
                </a:solidFill>
              </a:rPr>
              <a:t>e.g. OR-Tools finds the best routes</a:t>
            </a:r>
            <a:endParaRPr lang="en-US" sz="1600" dirty="0"/>
          </a:p>
        </p:txBody>
      </p:sp>
      <p:sp>
        <p:nvSpPr>
          <p:cNvPr id="12" name="approach Think longer first"/>
          <p:cNvSpPr/>
          <p:nvPr/>
        </p:nvSpPr>
        <p:spPr>
          <a:xfrm>
            <a:off x="8915400" y="1188720"/>
            <a:ext cx="2651760" cy="777240"/>
          </a:xfrm>
          <a:prstGeom prst="roundRect">
            <a:avLst>
              <a:gd name="adj" fmla="val 9412"/>
            </a:avLst>
          </a:prstGeom>
          <a:solidFill>
            <a:srgbClr val="F2F2F2"/>
          </a:solidFill>
          <a:ln w="9525">
            <a:solidFill>
              <a:srgbClr val="D9D9D9"/>
            </a:solidFill>
            <a:prstDash val="solid"/>
          </a:ln>
        </p:spPr>
      </p:sp>
      <p:pic>
        <p:nvPicPr>
          <p:cNvPr id="13" name="icon brain" descr="/NAS/SJ/POSTECH/nlp/figs/icons/brain.png">    </p:cNvPr>
          <p:cNvPicPr>
            <a:picLocks noChangeAspect="1"/>
          </p:cNvPicPr>
          <p:nvPr/>
        </p:nvPicPr>
        <p:blipFill>
          <a:blip r:embed="rId4"/>
          <a:stretch>
            <a:fillRect/>
          </a:stretch>
        </p:blipFill>
        <p:spPr>
          <a:xfrm>
            <a:off x="9052560" y="1344168"/>
            <a:ext cx="457200" cy="457200"/>
          </a:xfrm>
          <a:prstGeom prst="rect">
            <a:avLst/>
          </a:prstGeom>
        </p:spPr>
      </p:pic>
      <p:sp>
        <p:nvSpPr>
          <p:cNvPr id="14" name="Text 8"/>
          <p:cNvSpPr txBox="1"/>
          <p:nvPr/>
        </p:nvSpPr>
        <p:spPr>
          <a:xfrm>
            <a:off x="960120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Think longer first</a:t>
            </a:r>
            <a:endParaRPr lang="en-US" sz="1600" dirty="0"/>
          </a:p>
          <a:p>
            <a:pPr indent="0" marL="0">
              <a:buNone/>
            </a:pPr>
            <a:r>
              <a:rPr lang="en-US" sz="1250" dirty="0">
                <a:solidFill>
                  <a:schemeClr val="tx2"/>
                </a:solidFill>
              </a:rPr>
              <a:t>more hidden notes = more tokens</a:t>
            </a:r>
            <a:endParaRPr lang="en-US" sz="1600" dirty="0"/>
          </a:p>
        </p:txBody>
      </p:sp>
      <p:sp>
        <p:nvSpPr>
          <p:cNvPr id="15" name="Text 9"/>
          <p:cNvSpPr txBox="1"/>
          <p:nvPr/>
        </p:nvSpPr>
        <p:spPr>
          <a:xfrm>
            <a:off x="3566160" y="2148840"/>
            <a:ext cx="8046720" cy="365760"/>
          </a:xfrm>
          <a:prstGeom prst="rect">
            <a:avLst/>
          </a:prstGeom>
          <a:noFill/>
          <a:ln/>
        </p:spPr>
        <p:txBody>
          <a:bodyPr wrap="square" lIns="0" tIns="0" rIns="0" bIns="0" rtlCol="0" anchor="ctr"/>
          <a:lstStyle/>
          <a:p>
            <a:pPr algn="ctr" indent="0" marL="0">
              <a:buNone/>
            </a:pPr>
            <a:r>
              <a:rPr lang="en-US" sz="1500" dirty="0">
                <a:solidFill>
                  <a:schemeClr val="tx1"/>
                </a:solidFill>
              </a:rPr>
              <a:t>Example: one shape moved, turned or flipped, so the right answer never changes: 436 (twice its area)</a:t>
            </a:r>
            <a:endParaRPr lang="en-US" sz="1500" dirty="0"/>
          </a:p>
        </p:txBody>
      </p:sp>
      <p:pic>
        <p:nvPicPr>
          <p:cNvPr id="16" name="four copies of one polygon" descr="one polygon: original, moved, turned, flipped">    </p:cNvPr>
          <p:cNvPicPr>
            <a:picLocks noChangeAspect="1"/>
          </p:cNvPicPr>
          <p:nvPr/>
        </p:nvPicPr>
        <p:blipFill>
          <a:blip r:embed="rId5"/>
          <a:stretch>
            <a:fillRect/>
          </a:stretch>
        </p:blipFill>
        <p:spPr>
          <a:xfrm>
            <a:off x="4206240" y="2514600"/>
            <a:ext cx="6766560" cy="1463040"/>
          </a:xfrm>
          <a:prstGeom prst="rect">
            <a:avLst/>
          </a:prstGeom>
        </p:spPr>
      </p:pic>
      <p:sp>
        <p:nvSpPr>
          <p:cNvPr id="17" name="Text 10"/>
          <p:cNvSpPr txBox="1"/>
          <p:nvPr/>
        </p:nvSpPr>
        <p:spPr>
          <a:xfrm>
            <a:off x="356616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original</a:t>
            </a:r>
            <a:endParaRPr lang="en-US" sz="1400" dirty="0"/>
          </a:p>
        </p:txBody>
      </p:sp>
      <p:sp>
        <p:nvSpPr>
          <p:cNvPr id="18" name="Text 11"/>
          <p:cNvSpPr txBox="1"/>
          <p:nvPr/>
        </p:nvSpPr>
        <p:spPr>
          <a:xfrm>
            <a:off x="557784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moved</a:t>
            </a:r>
            <a:endParaRPr lang="en-US" sz="1400" dirty="0"/>
          </a:p>
        </p:txBody>
      </p:sp>
      <p:sp>
        <p:nvSpPr>
          <p:cNvPr id="19" name="Text 12"/>
          <p:cNvSpPr txBox="1"/>
          <p:nvPr/>
        </p:nvSpPr>
        <p:spPr>
          <a:xfrm>
            <a:off x="758952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turned</a:t>
            </a:r>
            <a:endParaRPr lang="en-US" sz="1400" dirty="0"/>
          </a:p>
        </p:txBody>
      </p:sp>
      <p:sp>
        <p:nvSpPr>
          <p:cNvPr id="20" name="Text 13"/>
          <p:cNvSpPr txBox="1"/>
          <p:nvPr/>
        </p:nvSpPr>
        <p:spPr>
          <a:xfrm>
            <a:off x="960120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flipped</a:t>
            </a:r>
            <a:endParaRPr lang="en-US" sz="1400" dirty="0"/>
          </a:p>
        </p:txBody>
      </p:sp>
      <p:sp>
        <p:nvSpPr>
          <p:cNvPr id="21" name="Text 14"/>
          <p:cNvSpPr txBox="1"/>
          <p:nvPr/>
        </p:nvSpPr>
        <p:spPr>
          <a:xfrm>
            <a:off x="548640" y="42062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Answer in words</a:t>
            </a:r>
            <a:endParaRPr lang="en-US" sz="1900" dirty="0"/>
          </a:p>
          <a:p>
            <a:pPr indent="0" marL="0">
              <a:buNone/>
            </a:pPr>
            <a:r>
              <a:rPr lang="en-US" sz="1300" dirty="0">
                <a:solidFill>
                  <a:srgbClr val="44546A"/>
                </a:solidFill>
              </a:rPr>
              <a:t>the model does the arithmetic itself</a:t>
            </a:r>
            <a:endParaRPr lang="en-US" sz="1900" dirty="0"/>
          </a:p>
        </p:txBody>
      </p:sp>
      <p:sp>
        <p:nvSpPr>
          <p:cNvPr id="22" name="answer 436 ✓"/>
          <p:cNvSpPr/>
          <p:nvPr/>
        </p:nvSpPr>
        <p:spPr>
          <a:xfrm>
            <a:off x="3794760" y="4297680"/>
            <a:ext cx="1554480" cy="548640"/>
          </a:xfrm>
          <a:prstGeom prst="roundRect">
            <a:avLst>
              <a:gd name="adj" fmla="val 16667"/>
            </a:avLst>
          </a:prstGeom>
          <a:solidFill>
            <a:srgbClr val="E2F0D9"/>
          </a:solidFill>
          <a:ln w="12700">
            <a:solidFill>
              <a:srgbClr val="70AD47"/>
            </a:solidFill>
            <a:prstDash val="solid"/>
          </a:ln>
        </p:spPr>
      </p:sp>
      <p:sp>
        <p:nvSpPr>
          <p:cNvPr id="23" name="Text 16"/>
          <p:cNvSpPr txBox="1"/>
          <p:nvPr/>
        </p:nvSpPr>
        <p:spPr>
          <a:xfrm>
            <a:off x="3794760" y="42976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4" name="answer 2944 ✗"/>
          <p:cNvSpPr/>
          <p:nvPr/>
        </p:nvSpPr>
        <p:spPr>
          <a:xfrm>
            <a:off x="5806440" y="4297680"/>
            <a:ext cx="1554480" cy="548640"/>
          </a:xfrm>
          <a:prstGeom prst="roundRect">
            <a:avLst>
              <a:gd name="adj" fmla="val 16667"/>
            </a:avLst>
          </a:prstGeom>
          <a:solidFill>
            <a:srgbClr val="FADBD8"/>
          </a:solidFill>
          <a:ln w="12700">
            <a:solidFill>
              <a:srgbClr val="C00000"/>
            </a:solidFill>
            <a:prstDash val="solid"/>
          </a:ln>
        </p:spPr>
      </p:sp>
      <p:sp>
        <p:nvSpPr>
          <p:cNvPr id="25" name="Text 18"/>
          <p:cNvSpPr txBox="1"/>
          <p:nvPr/>
        </p:nvSpPr>
        <p:spPr>
          <a:xfrm>
            <a:off x="580644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26" name="answer 392 ✗"/>
          <p:cNvSpPr/>
          <p:nvPr/>
        </p:nvSpPr>
        <p:spPr>
          <a:xfrm>
            <a:off x="7818120" y="4297680"/>
            <a:ext cx="1554480" cy="548640"/>
          </a:xfrm>
          <a:prstGeom prst="roundRect">
            <a:avLst>
              <a:gd name="adj" fmla="val 16667"/>
            </a:avLst>
          </a:prstGeom>
          <a:solidFill>
            <a:srgbClr val="FADBD8"/>
          </a:solidFill>
          <a:ln w="12700">
            <a:solidFill>
              <a:srgbClr val="C00000"/>
            </a:solidFill>
            <a:prstDash val="solid"/>
          </a:ln>
        </p:spPr>
      </p:sp>
      <p:sp>
        <p:nvSpPr>
          <p:cNvPr id="27" name="Text 20"/>
          <p:cNvSpPr txBox="1"/>
          <p:nvPr/>
        </p:nvSpPr>
        <p:spPr>
          <a:xfrm>
            <a:off x="781812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28" name="answer 728 ✗"/>
          <p:cNvSpPr/>
          <p:nvPr/>
        </p:nvSpPr>
        <p:spPr>
          <a:xfrm>
            <a:off x="9829800" y="4297680"/>
            <a:ext cx="1554480" cy="548640"/>
          </a:xfrm>
          <a:prstGeom prst="roundRect">
            <a:avLst>
              <a:gd name="adj" fmla="val 16667"/>
            </a:avLst>
          </a:prstGeom>
          <a:solidFill>
            <a:srgbClr val="FADBD8"/>
          </a:solidFill>
          <a:ln w="12700">
            <a:solidFill>
              <a:srgbClr val="C00000"/>
            </a:solidFill>
            <a:prstDash val="solid"/>
          </a:ln>
        </p:spPr>
      </p:sp>
      <p:sp>
        <p:nvSpPr>
          <p:cNvPr id="29" name="Text 22"/>
          <p:cNvSpPr txBox="1"/>
          <p:nvPr/>
        </p:nvSpPr>
        <p:spPr>
          <a:xfrm>
            <a:off x="982980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30" name="Text 23"/>
          <p:cNvSpPr txBox="1"/>
          <p:nvPr/>
        </p:nvSpPr>
        <p:spPr>
          <a:xfrm>
            <a:off x="548640" y="48920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Write a program</a:t>
            </a:r>
            <a:endParaRPr lang="en-US" sz="1900" dirty="0"/>
          </a:p>
          <a:p>
            <a:pPr indent="0" marL="0">
              <a:buNone/>
            </a:pPr>
            <a:r>
              <a:rPr lang="en-US" sz="1300" dirty="0">
                <a:solidFill>
                  <a:srgbClr val="44546A"/>
                </a:solidFill>
              </a:rPr>
              <a:t>the computer does the arithmetic</a:t>
            </a:r>
            <a:endParaRPr lang="en-US" sz="1900" dirty="0"/>
          </a:p>
        </p:txBody>
      </p:sp>
      <p:sp>
        <p:nvSpPr>
          <p:cNvPr id="31" name="answer 436 ✓"/>
          <p:cNvSpPr/>
          <p:nvPr/>
        </p:nvSpPr>
        <p:spPr>
          <a:xfrm>
            <a:off x="3794760" y="4983480"/>
            <a:ext cx="1554480" cy="548640"/>
          </a:xfrm>
          <a:prstGeom prst="roundRect">
            <a:avLst>
              <a:gd name="adj" fmla="val 16667"/>
            </a:avLst>
          </a:prstGeom>
          <a:solidFill>
            <a:srgbClr val="E2F0D9"/>
          </a:solidFill>
          <a:ln w="12700">
            <a:solidFill>
              <a:srgbClr val="70AD47"/>
            </a:solidFill>
            <a:prstDash val="solid"/>
          </a:ln>
        </p:spPr>
      </p:sp>
      <p:sp>
        <p:nvSpPr>
          <p:cNvPr id="32" name="Text 25"/>
          <p:cNvSpPr txBox="1"/>
          <p:nvPr/>
        </p:nvSpPr>
        <p:spPr>
          <a:xfrm>
            <a:off x="379476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3" name="answer 436 ✓"/>
          <p:cNvSpPr/>
          <p:nvPr/>
        </p:nvSpPr>
        <p:spPr>
          <a:xfrm>
            <a:off x="5806440" y="4983480"/>
            <a:ext cx="1554480" cy="548640"/>
          </a:xfrm>
          <a:prstGeom prst="roundRect">
            <a:avLst>
              <a:gd name="adj" fmla="val 16667"/>
            </a:avLst>
          </a:prstGeom>
          <a:solidFill>
            <a:srgbClr val="E2F0D9"/>
          </a:solidFill>
          <a:ln w="12700">
            <a:solidFill>
              <a:srgbClr val="70AD47"/>
            </a:solidFill>
            <a:prstDash val="solid"/>
          </a:ln>
        </p:spPr>
      </p:sp>
      <p:sp>
        <p:nvSpPr>
          <p:cNvPr id="34" name="Text 27"/>
          <p:cNvSpPr txBox="1"/>
          <p:nvPr/>
        </p:nvSpPr>
        <p:spPr>
          <a:xfrm>
            <a:off x="580644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5" name="answer 436 ✓"/>
          <p:cNvSpPr/>
          <p:nvPr/>
        </p:nvSpPr>
        <p:spPr>
          <a:xfrm>
            <a:off x="7818120" y="4983480"/>
            <a:ext cx="1554480" cy="548640"/>
          </a:xfrm>
          <a:prstGeom prst="roundRect">
            <a:avLst>
              <a:gd name="adj" fmla="val 16667"/>
            </a:avLst>
          </a:prstGeom>
          <a:solidFill>
            <a:srgbClr val="E2F0D9"/>
          </a:solidFill>
          <a:ln w="12700">
            <a:solidFill>
              <a:srgbClr val="70AD47"/>
            </a:solidFill>
            <a:prstDash val="solid"/>
          </a:ln>
        </p:spPr>
      </p:sp>
      <p:sp>
        <p:nvSpPr>
          <p:cNvPr id="36" name="Text 29"/>
          <p:cNvSpPr txBox="1"/>
          <p:nvPr/>
        </p:nvSpPr>
        <p:spPr>
          <a:xfrm>
            <a:off x="781812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7" name="answer 436 ✓"/>
          <p:cNvSpPr/>
          <p:nvPr/>
        </p:nvSpPr>
        <p:spPr>
          <a:xfrm>
            <a:off x="9829800" y="4983480"/>
            <a:ext cx="1554480" cy="548640"/>
          </a:xfrm>
          <a:prstGeom prst="roundRect">
            <a:avLst>
              <a:gd name="adj" fmla="val 16667"/>
            </a:avLst>
          </a:prstGeom>
          <a:solidFill>
            <a:srgbClr val="E2F0D9"/>
          </a:solidFill>
          <a:ln w="12700">
            <a:solidFill>
              <a:srgbClr val="70AD47"/>
            </a:solidFill>
            <a:prstDash val="solid"/>
          </a:ln>
        </p:spPr>
      </p:sp>
      <p:sp>
        <p:nvSpPr>
          <p:cNvPr id="38" name="Text 31"/>
          <p:cNvSpPr txBox="1"/>
          <p:nvPr/>
        </p:nvSpPr>
        <p:spPr>
          <a:xfrm>
            <a:off x="982980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Programs get the arithmetic right, but they can be silently wrong, and thinking is expensive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The problems we study, and how hard they are</a:t>
            </a:r>
            <a:endParaRPr lang="en-US" sz="3600" dirty="0"/>
          </a:p>
        </p:txBody>
      </p:sp>
      <p:sp>
        <p:nvSpPr>
          <p:cNvPr id="3" name="kind Geometry"/>
          <p:cNvSpPr/>
          <p:nvPr/>
        </p:nvSpPr>
        <p:spPr>
          <a:xfrm>
            <a:off x="548640" y="1188720"/>
            <a:ext cx="2103120" cy="2148840"/>
          </a:xfrm>
          <a:prstGeom prst="roundRect">
            <a:avLst>
              <a:gd name="adj" fmla="val 3478"/>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Geometry</a:t>
            </a:r>
            <a:endParaRPr lang="en-US" sz="1500" dirty="0"/>
          </a:p>
        </p:txBody>
      </p:sp>
      <p:sp>
        <p:nvSpPr>
          <p:cNvPr id="6" name="Text 3"/>
          <p:cNvSpPr txBox="1"/>
          <p:nvPr/>
        </p:nvSpPr>
        <p:spPr>
          <a:xfrm>
            <a:off x="68580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How many corners does the rubber band around 10 points have?</a:t>
            </a:r>
            <a:endParaRPr lang="en-US" sz="1300" dirty="0"/>
          </a:p>
        </p:txBody>
      </p:sp>
      <p:sp>
        <p:nvSpPr>
          <p:cNvPr id="7" name="tag Geometry"/>
          <p:cNvSpPr/>
          <p:nvPr/>
        </p:nvSpPr>
        <p:spPr>
          <a:xfrm>
            <a:off x="640080" y="2697480"/>
            <a:ext cx="192024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1828800" cy="548640"/>
          </a:xfrm>
          <a:prstGeom prst="rect">
            <a:avLst/>
          </a:prstGeom>
          <a:noFill/>
          <a:ln/>
        </p:spPr>
        <p:txBody>
          <a:bodyPr wrap="square" lIns="0" tIns="0" rIns="0" bIns="0" rtlCol="0" anchor="ctr"/>
          <a:lstStyle/>
          <a:p>
            <a:pPr algn="ctr" indent="0" marL="0">
              <a:buNone/>
            </a:pPr>
            <a:r>
              <a:rPr lang="en-US" sz="1250" b="1" dirty="0">
                <a:solidFill>
                  <a:srgbClr val="4472C4"/>
                </a:solidFill>
              </a:rPr>
              <a:t>textbook algorithms, exact on every copy</a:t>
            </a:r>
            <a:endParaRPr lang="en-US" sz="1250" dirty="0"/>
          </a:p>
        </p:txBody>
      </p:sp>
      <p:sp>
        <p:nvSpPr>
          <p:cNvPr id="9" name="kind Contest problems"/>
          <p:cNvSpPr/>
          <p:nvPr/>
        </p:nvSpPr>
        <p:spPr>
          <a:xfrm>
            <a:off x="2788920" y="1188720"/>
            <a:ext cx="2103120" cy="2148840"/>
          </a:xfrm>
          <a:prstGeom prst="roundRect">
            <a:avLst>
              <a:gd name="adj" fmla="val 3478"/>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2926080" y="1298448"/>
            <a:ext cx="438912" cy="438912"/>
          </a:xfrm>
          <a:prstGeom prst="rect">
            <a:avLst/>
          </a:prstGeom>
        </p:spPr>
      </p:pic>
      <p:sp>
        <p:nvSpPr>
          <p:cNvPr id="11" name="Text 7"/>
          <p:cNvSpPr txBox="1"/>
          <p:nvPr/>
        </p:nvSpPr>
        <p:spPr>
          <a:xfrm>
            <a:off x="342900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Contest problems</a:t>
            </a:r>
            <a:endParaRPr lang="en-US" sz="1500" dirty="0"/>
          </a:p>
        </p:txBody>
      </p:sp>
      <p:sp>
        <p:nvSpPr>
          <p:cNvPr id="12" name="Text 8"/>
          <p:cNvSpPr txBox="1"/>
          <p:nvPr/>
        </p:nvSpPr>
        <p:spPr>
          <a:xfrm>
            <a:off x="292608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311 Codeforces geometry problems, hidden tests</a:t>
            </a:r>
            <a:endParaRPr lang="en-US" sz="1300" dirty="0"/>
          </a:p>
        </p:txBody>
      </p:sp>
      <p:sp>
        <p:nvSpPr>
          <p:cNvPr id="13" name="tag Contest problems"/>
          <p:cNvSpPr/>
          <p:nvPr/>
        </p:nvSpPr>
        <p:spPr>
          <a:xfrm>
            <a:off x="2880360" y="2697480"/>
            <a:ext cx="192024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2926080" y="2697480"/>
            <a:ext cx="1828800" cy="548640"/>
          </a:xfrm>
          <a:prstGeom prst="rect">
            <a:avLst/>
          </a:prstGeom>
          <a:noFill/>
          <a:ln/>
        </p:spPr>
        <p:txBody>
          <a:bodyPr wrap="square" lIns="0" tIns="0" rIns="0" bIns="0" rtlCol="0" anchor="ctr"/>
          <a:lstStyle/>
          <a:p>
            <a:pPr algn="ctr" indent="0" marL="0">
              <a:buNone/>
            </a:pPr>
            <a:r>
              <a:rPr lang="en-US" sz="1250" b="1" dirty="0">
                <a:solidFill>
                  <a:srgbClr val="C00000"/>
                </a:solidFill>
              </a:rPr>
              <a:t>Codeforces Master to Grandmaster level</a:t>
            </a:r>
            <a:endParaRPr lang="en-US" sz="1250" dirty="0"/>
          </a:p>
        </p:txBody>
      </p:sp>
      <p:sp>
        <p:nvSpPr>
          <p:cNvPr id="15" name="kind Routing, scheduling"/>
          <p:cNvSpPr/>
          <p:nvPr/>
        </p:nvSpPr>
        <p:spPr>
          <a:xfrm>
            <a:off x="5029200" y="1188720"/>
            <a:ext cx="2103120" cy="2148840"/>
          </a:xfrm>
          <a:prstGeom prst="roundRect">
            <a:avLst>
              <a:gd name="adj" fmla="val 3478"/>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5166360" y="1298448"/>
            <a:ext cx="438912" cy="438912"/>
          </a:xfrm>
          <a:prstGeom prst="rect">
            <a:avLst/>
          </a:prstGeom>
        </p:spPr>
      </p:pic>
      <p:sp>
        <p:nvSpPr>
          <p:cNvPr id="17" name="Text 12"/>
          <p:cNvSpPr txBox="1"/>
          <p:nvPr/>
        </p:nvSpPr>
        <p:spPr>
          <a:xfrm>
            <a:off x="566928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Routing, scheduling</a:t>
            </a:r>
            <a:endParaRPr lang="en-US" sz="1500" dirty="0"/>
          </a:p>
        </p:txBody>
      </p:sp>
      <p:sp>
        <p:nvSpPr>
          <p:cNvPr id="18" name="Text 13"/>
          <p:cNvSpPr txBox="1"/>
          <p:nvPr/>
        </p:nvSpPr>
        <p:spPr>
          <a:xfrm>
            <a:off x="516636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routes for 100 customers with time windows</a:t>
            </a:r>
            <a:endParaRPr lang="en-US" sz="1300" dirty="0"/>
          </a:p>
        </p:txBody>
      </p:sp>
      <p:sp>
        <p:nvSpPr>
          <p:cNvPr id="19" name="tag Routing, scheduling"/>
          <p:cNvSpPr/>
          <p:nvPr/>
        </p:nvSpPr>
        <p:spPr>
          <a:xfrm>
            <a:off x="5120640" y="2697480"/>
            <a:ext cx="192024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5166360" y="2697480"/>
            <a:ext cx="1828800" cy="548640"/>
          </a:xfrm>
          <a:prstGeom prst="rect">
            <a:avLst/>
          </a:prstGeom>
          <a:noFill/>
          <a:ln/>
        </p:spPr>
        <p:txBody>
          <a:bodyPr wrap="square" lIns="0" tIns="0" rIns="0" bIns="0" rtlCol="0" anchor="ctr"/>
          <a:lstStyle/>
          <a:p>
            <a:pPr algn="ctr" indent="0" marL="0">
              <a:buNone/>
            </a:pPr>
            <a:r>
              <a:rPr lang="en-US" sz="1250" b="1" dirty="0">
                <a:solidFill>
                  <a:srgbClr val="ED7D31"/>
                </a:solidFill>
              </a:rPr>
              <a:t>classic OR benchmark: a greedy plan is 48% worse</a:t>
            </a:r>
            <a:endParaRPr lang="en-US" sz="1250" dirty="0"/>
          </a:p>
        </p:txBody>
      </p:sp>
      <p:sp>
        <p:nvSpPr>
          <p:cNvPr id="21" name="kind Word problems"/>
          <p:cNvSpPr/>
          <p:nvPr/>
        </p:nvSpPr>
        <p:spPr>
          <a:xfrm>
            <a:off x="7269480" y="1188720"/>
            <a:ext cx="2103120" cy="2148840"/>
          </a:xfrm>
          <a:prstGeom prst="roundRect">
            <a:avLst>
              <a:gd name="adj" fmla="val 3478"/>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7406640" y="1298448"/>
            <a:ext cx="438912" cy="438912"/>
          </a:xfrm>
          <a:prstGeom prst="rect">
            <a:avLst/>
          </a:prstGeom>
        </p:spPr>
      </p:pic>
      <p:sp>
        <p:nvSpPr>
          <p:cNvPr id="23" name="Text 17"/>
          <p:cNvSpPr txBox="1"/>
          <p:nvPr/>
        </p:nvSpPr>
        <p:spPr>
          <a:xfrm>
            <a:off x="790956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Word problems</a:t>
            </a:r>
            <a:endParaRPr lang="en-US" sz="1500" dirty="0"/>
          </a:p>
        </p:txBody>
      </p:sp>
      <p:sp>
        <p:nvSpPr>
          <p:cNvPr id="24" name="Text 18"/>
          <p:cNvSpPr txBox="1"/>
          <p:nvPr/>
        </p:nvSpPr>
        <p:spPr>
          <a:xfrm>
            <a:off x="740664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most coins from 500 gold and 300 wires?</a:t>
            </a:r>
            <a:endParaRPr lang="en-US" sz="1300" dirty="0"/>
          </a:p>
        </p:txBody>
      </p:sp>
      <p:sp>
        <p:nvSpPr>
          <p:cNvPr id="25" name="tag Word problems"/>
          <p:cNvSpPr/>
          <p:nvPr/>
        </p:nvSpPr>
        <p:spPr>
          <a:xfrm>
            <a:off x="7360920" y="2697480"/>
            <a:ext cx="192024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7406640" y="2697480"/>
            <a:ext cx="1828800" cy="548640"/>
          </a:xfrm>
          <a:prstGeom prst="rect">
            <a:avLst/>
          </a:prstGeom>
          <a:noFill/>
          <a:ln/>
        </p:spPr>
        <p:txBody>
          <a:bodyPr wrap="square" lIns="0" tIns="0" rIns="0" bIns="0" rtlCol="0" anchor="ctr"/>
          <a:lstStyle/>
          <a:p>
            <a:pPr algn="ctr" indent="0" marL="0">
              <a:buNone/>
            </a:pPr>
            <a:r>
              <a:rPr lang="en-US" sz="1250" b="1" dirty="0">
                <a:solidFill>
                  <a:srgbClr val="38761D"/>
                </a:solidFill>
              </a:rPr>
              <a:t>OR-course exercises (NL4OPT, NeurIPS 2022)</a:t>
            </a:r>
            <a:endParaRPr lang="en-US" sz="1250" dirty="0"/>
          </a:p>
        </p:txBody>
      </p:sp>
      <p:sp>
        <p:nvSpPr>
          <p:cNvPr id="27" name="kind Math and proofs"/>
          <p:cNvSpPr/>
          <p:nvPr/>
        </p:nvSpPr>
        <p:spPr>
          <a:xfrm>
            <a:off x="9509760" y="1188720"/>
            <a:ext cx="2103120" cy="2148840"/>
          </a:xfrm>
          <a:prstGeom prst="roundRect">
            <a:avLst>
              <a:gd name="adj" fmla="val 3478"/>
            </a:avLst>
          </a:prstGeom>
          <a:solidFill>
            <a:srgbClr val="F7F7F7"/>
          </a:solidFill>
          <a:ln w="9525">
            <a:solidFill>
              <a:srgbClr val="D9D9D9"/>
            </a:solidFill>
            <a:prstDash val="solid"/>
          </a:ln>
        </p:spPr>
      </p:sp>
      <p:pic>
        <p:nvPicPr>
          <p:cNvPr id="28" name="icon sqrt" descr="/NAS/SJ/POSTECH/nlp/figs/icons/sqrt.png">    </p:cNvPr>
          <p:cNvPicPr>
            <a:picLocks noChangeAspect="1"/>
          </p:cNvPicPr>
          <p:nvPr/>
        </p:nvPicPr>
        <p:blipFill>
          <a:blip r:embed="rId5"/>
          <a:stretch>
            <a:fillRect/>
          </a:stretch>
        </p:blipFill>
        <p:spPr>
          <a:xfrm>
            <a:off x="9646920" y="1298448"/>
            <a:ext cx="438912" cy="438912"/>
          </a:xfrm>
          <a:prstGeom prst="rect">
            <a:avLst/>
          </a:prstGeom>
        </p:spPr>
      </p:pic>
      <p:sp>
        <p:nvSpPr>
          <p:cNvPr id="29" name="Text 22"/>
          <p:cNvSpPr txBox="1"/>
          <p:nvPr/>
        </p:nvSpPr>
        <p:spPr>
          <a:xfrm>
            <a:off x="1014984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Math and proofs</a:t>
            </a:r>
            <a:endParaRPr lang="en-US" sz="1500" dirty="0"/>
          </a:p>
        </p:txBody>
      </p:sp>
      <p:sp>
        <p:nvSpPr>
          <p:cNvPr id="30" name="Text 23"/>
          <p:cNvSpPr txBox="1"/>
          <p:nvPr/>
        </p:nvSpPr>
        <p:spPr>
          <a:xfrm>
            <a:off x="964692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AIME answers; Lean proofs of olympiad statements</a:t>
            </a:r>
            <a:endParaRPr lang="en-US" sz="1300" dirty="0"/>
          </a:p>
        </p:txBody>
      </p:sp>
      <p:sp>
        <p:nvSpPr>
          <p:cNvPr id="31" name="tag Math and proofs"/>
          <p:cNvSpPr/>
          <p:nvPr/>
        </p:nvSpPr>
        <p:spPr>
          <a:xfrm>
            <a:off x="9601200" y="2697480"/>
            <a:ext cx="1920240" cy="548640"/>
          </a:xfrm>
          <a:prstGeom prst="roundRect">
            <a:avLst>
              <a:gd name="adj" fmla="val 16667"/>
            </a:avLst>
          </a:prstGeom>
          <a:solidFill>
            <a:srgbClr val="FFFFFF"/>
          </a:solidFill>
          <a:ln w="12700">
            <a:solidFill>
              <a:srgbClr val="595959"/>
            </a:solidFill>
            <a:prstDash val="solid"/>
          </a:ln>
        </p:spPr>
      </p:sp>
      <p:sp>
        <p:nvSpPr>
          <p:cNvPr id="32" name="Text 25"/>
          <p:cNvSpPr txBox="1"/>
          <p:nvPr/>
        </p:nvSpPr>
        <p:spPr>
          <a:xfrm>
            <a:off x="9646920" y="2697480"/>
            <a:ext cx="1828800" cy="548640"/>
          </a:xfrm>
          <a:prstGeom prst="rect">
            <a:avLst/>
          </a:prstGeom>
          <a:noFill/>
          <a:ln/>
        </p:spPr>
        <p:txBody>
          <a:bodyPr wrap="square" lIns="0" tIns="0" rIns="0" bIns="0" rtlCol="0" anchor="ctr"/>
          <a:lstStyle/>
          <a:p>
            <a:pPr algn="ctr" indent="0" marL="0">
              <a:buNone/>
            </a:pPr>
            <a:r>
              <a:rPr lang="en-US" sz="1250" b="1" dirty="0">
                <a:solidFill>
                  <a:srgbClr val="595959"/>
                </a:solidFill>
              </a:rPr>
              <a:t>AIME: top ~5% of AMC; IMO gold: 25.9/30</a:t>
            </a:r>
            <a:endParaRPr lang="en-US" sz="1250" dirty="0"/>
          </a:p>
        </p:txBody>
      </p:sp>
      <p:sp>
        <p:nvSpPr>
          <p:cNvPr id="33" name="Text 26"/>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34"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35" name="Text 28"/>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6"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7" name="Text 30"/>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8"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9" name="Text 32"/>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40"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41" name="Text 34"/>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42"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43" name="Text 36"/>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44"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45" name="Text 38"/>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6" name="Text 39"/>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7"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8" name="Text 41"/>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9" name="Text 42"/>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50"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51" name="Text 44"/>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52" name="Text 45"/>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53"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54" name="Text 47"/>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55" name="Text 48"/>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6"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7" name="Text 50"/>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8" name="Text 51"/>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9"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60" name="Text 53"/>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61" name="Text 54"/>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62"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63" name="Text 56"/>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64" name="Text 57"/>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65" name="Text 58"/>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6" name="Text 5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goes wrong, and what we do</a:t>
            </a:r>
            <a:endParaRPr lang="en-US" sz="3600" dirty="0"/>
          </a:p>
        </p:txBody>
      </p:sp>
      <p:sp>
        <p:nvSpPr>
          <p:cNvPr id="3" name="why 1. Programs fail silently"/>
          <p:cNvSpPr/>
          <p:nvPr/>
        </p:nvSpPr>
        <p:spPr>
          <a:xfrm>
            <a:off x="548640" y="1234440"/>
            <a:ext cx="5440680" cy="3017520"/>
          </a:xfrm>
          <a:prstGeom prst="roundRect">
            <a:avLst>
              <a:gd name="adj" fmla="val 2424"/>
            </a:avLst>
          </a:prstGeom>
          <a:solidFill>
            <a:srgbClr val="FDF2F1"/>
          </a:solidFill>
          <a:ln w="12700">
            <a:solidFill>
              <a:srgbClr val="C00000"/>
            </a:solidFill>
            <a:prstDash val="solid"/>
          </a:ln>
        </p:spPr>
      </p:sp>
      <p:sp>
        <p:nvSpPr>
          <p:cNvPr id="4" name="Text 2"/>
          <p:cNvSpPr txBox="1"/>
          <p:nvPr/>
        </p:nvSpPr>
        <p:spPr>
          <a:xfrm>
            <a:off x="777240" y="1307592"/>
            <a:ext cx="4983480" cy="457200"/>
          </a:xfrm>
          <a:prstGeom prst="rect">
            <a:avLst/>
          </a:prstGeom>
          <a:noFill/>
          <a:ln/>
        </p:spPr>
        <p:txBody>
          <a:bodyPr wrap="square" lIns="0" tIns="0" rIns="0" bIns="0" rtlCol="0" anchor="ctr"/>
          <a:lstStyle/>
          <a:p>
            <a:pPr indent="0" marL="0">
              <a:buNone/>
            </a:pPr>
            <a:r>
              <a:rPr lang="en-US" sz="2100" b="1" dirty="0">
                <a:solidFill>
                  <a:srgbClr val="C00000"/>
                </a:solidFill>
              </a:rPr>
              <a:t>1. Programs fail silently</a:t>
            </a:r>
            <a:endParaRPr lang="en-US" sz="2100" dirty="0"/>
          </a:p>
        </p:txBody>
      </p:sp>
      <p:pic>
        <p:nvPicPr>
          <p:cNvPr id="5" name="ten points and their hull" descr="10 points; the rubber band touches 6 of them">    </p:cNvPr>
          <p:cNvPicPr>
            <a:picLocks noChangeAspect="1"/>
          </p:cNvPicPr>
          <p:nvPr/>
        </p:nvPicPr>
        <p:blipFill>
          <a:blip r:embed="rId1"/>
          <a:stretch>
            <a:fillRect/>
          </a:stretch>
        </p:blipFill>
        <p:spPr>
          <a:xfrm>
            <a:off x="731520" y="1828800"/>
            <a:ext cx="1325880" cy="1325880"/>
          </a:xfrm>
          <a:prstGeom prst="rect">
            <a:avLst/>
          </a:prstGeom>
        </p:spPr>
      </p:pic>
      <p:sp>
        <p:nvSpPr>
          <p:cNvPr id="6" name="Text 3"/>
          <p:cNvSpPr txBox="1"/>
          <p:nvPr/>
        </p:nvSpPr>
        <p:spPr>
          <a:xfrm>
            <a:off x="594360" y="3154680"/>
            <a:ext cx="1600200" cy="274320"/>
          </a:xfrm>
          <a:prstGeom prst="rect">
            <a:avLst/>
          </a:prstGeom>
          <a:noFill/>
          <a:ln/>
        </p:spPr>
        <p:txBody>
          <a:bodyPr wrap="square" lIns="0" tIns="0" rIns="0" bIns="0" rtlCol="0" anchor="ctr"/>
          <a:lstStyle/>
          <a:p>
            <a:pPr algn="ctr" indent="0" marL="0">
              <a:buNone/>
            </a:pPr>
            <a:r>
              <a:rPr lang="en-US" sz="1200" b="1" dirty="0">
                <a:solidFill>
                  <a:srgbClr val="70AD47"/>
                </a:solidFill>
              </a:rPr>
              <a:t>10 points: 6 corners</a:t>
            </a:r>
            <a:endParaRPr lang="en-US" sz="1200" dirty="0"/>
          </a:p>
        </p:txBody>
      </p:sp>
      <p:sp>
        <p:nvSpPr>
          <p:cNvPr id="7" name="terminal"/>
          <p:cNvSpPr/>
          <p:nvPr/>
        </p:nvSpPr>
        <p:spPr>
          <a:xfrm>
            <a:off x="2240280" y="1828800"/>
            <a:ext cx="3611880" cy="1417320"/>
          </a:xfrm>
          <a:prstGeom prst="roundRect">
            <a:avLst>
              <a:gd name="adj" fmla="val 3226"/>
            </a:avLst>
          </a:prstGeom>
          <a:solidFill>
            <a:srgbClr val="262626"/>
          </a:solidFill>
          <a:ln w="12700">
            <a:solidFill>
              <a:srgbClr val="262626"/>
            </a:solidFill>
            <a:prstDash val="solid"/>
          </a:ln>
        </p:spPr>
      </p:sp>
      <p:sp>
        <p:nvSpPr>
          <p:cNvPr id="8" name="Text 5"/>
          <p:cNvSpPr txBox="1"/>
          <p:nvPr/>
        </p:nvSpPr>
        <p:spPr>
          <a:xfrm>
            <a:off x="2377440" y="1874520"/>
            <a:ext cx="3383280" cy="1325880"/>
          </a:xfrm>
          <a:prstGeom prst="rect">
            <a:avLst/>
          </a:prstGeom>
          <a:noFill/>
          <a:ln/>
        </p:spPr>
        <p:txBody>
          <a:bodyPr wrap="square" lIns="0" tIns="0" rIns="0" bIns="0" rtlCol="0" anchor="ctr"/>
          <a:lstStyle/>
          <a:p>
            <a:pPr indent="0" marL="0">
              <a:buNone/>
            </a:pPr>
            <a:r>
              <a:rPr lang="en-US" sz="1250" dirty="0">
                <a:solidFill>
                  <a:srgbClr val="BFBFBF"/>
                </a:solidFill>
                <a:latin typeface="Courier New" pitchFamily="34" charset="0"/>
                <a:ea typeface="Courier New" pitchFamily="34" charset="-122"/>
                <a:cs typeface="Courier New" pitchFamily="34" charset="-120"/>
              </a:rPr>
              <a:t>$ python hull_A.py   # task only</a:t>
            </a:r>
            <a:endParaRPr lang="en-US" sz="1250" dirty="0"/>
          </a:p>
          <a:p>
            <a:pPr indent="0" marL="0">
              <a:buNone/>
            </a:pPr>
            <a:r>
              <a:rPr lang="en-US" sz="1250" b="1" dirty="0">
                <a:solidFill>
                  <a:srgbClr val="8FD16A"/>
                </a:solidFill>
                <a:latin typeface="Courier New" pitchFamily="34" charset="0"/>
                <a:ea typeface="Courier New" pitchFamily="34" charset="-122"/>
                <a:cs typeface="Courier New" pitchFamily="34" charset="-120"/>
              </a:rPr>
              <a:t>6</a:t>
            </a:r>
            <a:endParaRPr lang="en-US" sz="1250" dirty="0"/>
          </a:p>
          <a:p>
            <a:pPr indent="0" marL="0">
              <a:buNone/>
            </a:pPr>
            <a:r>
              <a:rPr lang="en-US" sz="1250" dirty="0">
                <a:solidFill>
                  <a:srgbClr val="BFBFBF"/>
                </a:solidFill>
                <a:latin typeface="Courier New" pitchFamily="34" charset="0"/>
                <a:ea typeface="Courier New" pitchFamily="34" charset="-122"/>
                <a:cs typeface="Courier New" pitchFamily="34" charset="-120"/>
              </a:rPr>
              <a:t>$ python hull_B.py   # + 8 helpers</a:t>
            </a:r>
            <a:endParaRPr lang="en-US" sz="1250" dirty="0"/>
          </a:p>
          <a:p>
            <a:pPr indent="0" marL="0">
              <a:buNone/>
            </a:pPr>
            <a:r>
              <a:rPr lang="en-US" sz="1250" b="1" dirty="0">
                <a:solidFill>
                  <a:srgbClr val="FF7B7B"/>
                </a:solidFill>
                <a:latin typeface="Courier New" pitchFamily="34" charset="0"/>
                <a:ea typeface="Courier New" pitchFamily="34" charset="-122"/>
                <a:cs typeface="Courier New" pitchFamily="34" charset="-120"/>
              </a:rPr>
              <a:t>0    ← no error, just wrong</a:t>
            </a:r>
            <a:endParaRPr lang="en-US" sz="1250" dirty="0"/>
          </a:p>
        </p:txBody>
      </p:sp>
      <p:pic>
        <p:nvPicPr>
          <p:cNvPr id="9" name="warning icon" descr="/NAS/SJ/POSTECH/nlp/figs/icons/warn.png">    </p:cNvPr>
          <p:cNvPicPr>
            <a:picLocks noChangeAspect="1"/>
          </p:cNvPicPr>
          <p:nvPr/>
        </p:nvPicPr>
        <p:blipFill>
          <a:blip r:embed="rId2"/>
          <a:stretch>
            <a:fillRect/>
          </a:stretch>
        </p:blipFill>
        <p:spPr>
          <a:xfrm>
            <a:off x="777240" y="3593592"/>
            <a:ext cx="320040" cy="320040"/>
          </a:xfrm>
          <a:prstGeom prst="rect">
            <a:avLst/>
          </a:prstGeom>
        </p:spPr>
      </p:pic>
      <p:sp>
        <p:nvSpPr>
          <p:cNvPr id="10" name="Text 6"/>
          <p:cNvSpPr txBox="1"/>
          <p:nvPr/>
        </p:nvSpPr>
        <p:spPr>
          <a:xfrm>
            <a:off x="1188720" y="3520440"/>
            <a:ext cx="4663440" cy="548640"/>
          </a:xfrm>
          <a:prstGeom prst="rect">
            <a:avLst/>
          </a:prstGeom>
          <a:noFill/>
          <a:ln/>
        </p:spPr>
        <p:txBody>
          <a:bodyPr wrap="square" lIns="0" tIns="0" rIns="0" bIns="0" rtlCol="0" anchor="ctr"/>
          <a:lstStyle/>
          <a:p>
            <a:pPr indent="0" marL="0">
              <a:buNone/>
            </a:pPr>
            <a:r>
              <a:rPr lang="en-US" sz="1300" dirty="0">
                <a:solidFill>
                  <a:schemeClr val="tx1"/>
                </a:solidFill>
              </a:rPr>
              <a:t>The problem's own examples miss it too: "Find Color" passes all 3, then fails hidden test 11</a:t>
            </a:r>
            <a:endParaRPr lang="en-US" sz="1300" dirty="0"/>
          </a:p>
        </p:txBody>
      </p:sp>
      <p:sp>
        <p:nvSpPr>
          <p:cNvPr id="11" name="why 2. Thinking longer is expensive"/>
          <p:cNvSpPr/>
          <p:nvPr/>
        </p:nvSpPr>
        <p:spPr>
          <a:xfrm>
            <a:off x="6172200" y="1234440"/>
            <a:ext cx="5440680" cy="3017520"/>
          </a:xfrm>
          <a:prstGeom prst="roundRect">
            <a:avLst>
              <a:gd name="adj" fmla="val 2424"/>
            </a:avLst>
          </a:prstGeom>
          <a:solidFill>
            <a:srgbClr val="FDF0E6"/>
          </a:solidFill>
          <a:ln w="12700">
            <a:solidFill>
              <a:srgbClr val="ED7D31"/>
            </a:solidFill>
            <a:prstDash val="solid"/>
          </a:ln>
        </p:spPr>
      </p:sp>
      <p:sp>
        <p:nvSpPr>
          <p:cNvPr id="12" name="Text 8"/>
          <p:cNvSpPr txBox="1"/>
          <p:nvPr/>
        </p:nvSpPr>
        <p:spPr>
          <a:xfrm>
            <a:off x="6400800" y="1307592"/>
            <a:ext cx="4983480" cy="457200"/>
          </a:xfrm>
          <a:prstGeom prst="rect">
            <a:avLst/>
          </a:prstGeom>
          <a:noFill/>
          <a:ln/>
        </p:spPr>
        <p:txBody>
          <a:bodyPr wrap="square" lIns="0" tIns="0" rIns="0" bIns="0" rtlCol="0" anchor="ctr"/>
          <a:lstStyle/>
          <a:p>
            <a:pPr indent="0" marL="0">
              <a:buNone/>
            </a:pPr>
            <a:r>
              <a:rPr lang="en-US" sz="2100" b="1" dirty="0">
                <a:solidFill>
                  <a:srgbClr val="ED7D31"/>
                </a:solidFill>
              </a:rPr>
              <a:t>2. Thinking longer is expensive</a:t>
            </a:r>
            <a:endParaRPr lang="en-US" sz="2100" dirty="0"/>
          </a:p>
        </p:txBody>
      </p:sp>
      <p:sp>
        <p:nvSpPr>
          <p:cNvPr id="13" name="Text 9"/>
          <p:cNvSpPr txBox="1"/>
          <p:nvPr/>
        </p:nvSpPr>
        <p:spPr>
          <a:xfrm>
            <a:off x="6400800" y="1783080"/>
            <a:ext cx="5029200" cy="274320"/>
          </a:xfrm>
          <a:prstGeom prst="rect">
            <a:avLst/>
          </a:prstGeom>
          <a:noFill/>
          <a:ln/>
        </p:spPr>
        <p:txBody>
          <a:bodyPr wrap="square" lIns="0" tIns="0" rIns="0" bIns="0" rtlCol="0" anchor="ctr"/>
          <a:lstStyle/>
          <a:p>
            <a:pPr indent="0" marL="0">
              <a:buNone/>
            </a:pPr>
            <a:r>
              <a:rPr lang="en-US" sz="1250" dirty="0">
                <a:solidFill>
                  <a:schemeClr val="tx2"/>
                </a:solidFill>
              </a:rPr>
              <a:t>tokens per contest problem (gpt-oss-120b); one page ≈ 700 tokens</a:t>
            </a:r>
            <a:endParaRPr lang="en-US" sz="1250" dirty="0"/>
          </a:p>
        </p:txBody>
      </p:sp>
      <p:sp>
        <p:nvSpPr>
          <p:cNvPr id="14" name="Text 10"/>
          <p:cNvSpPr txBox="1"/>
          <p:nvPr/>
        </p:nvSpPr>
        <p:spPr>
          <a:xfrm>
            <a:off x="6400800" y="214884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medium effort</a:t>
            </a:r>
            <a:endParaRPr lang="en-US" sz="1300" dirty="0"/>
          </a:p>
          <a:p>
            <a:pPr indent="0" marL="0">
              <a:buNone/>
            </a:pPr>
            <a:r>
              <a:rPr lang="en-US" sz="1300" dirty="0">
                <a:solidFill>
                  <a:schemeClr val="tx1"/>
                </a:solidFill>
              </a:rPr>
              <a:t>57% solved</a:t>
            </a:r>
            <a:endParaRPr lang="en-US" sz="1300" dirty="0"/>
          </a:p>
        </p:txBody>
      </p:sp>
      <p:pic>
        <p:nvPicPr>
          <p:cNvPr id="15" name="medium effort page 0" descr="/NAS/SJ/POSTECH/nlp/figs/icons/page.png">    </p:cNvPr>
          <p:cNvPicPr>
            <a:picLocks noChangeAspect="1"/>
          </p:cNvPicPr>
          <p:nvPr/>
        </p:nvPicPr>
        <p:blipFill>
          <a:blip r:embed="rId3"/>
          <a:stretch>
            <a:fillRect/>
          </a:stretch>
        </p:blipFill>
        <p:spPr>
          <a:xfrm>
            <a:off x="7863840" y="2148840"/>
            <a:ext cx="173736" cy="201168"/>
          </a:xfrm>
          <a:prstGeom prst="rect">
            <a:avLst/>
          </a:prstGeom>
        </p:spPr>
      </p:pic>
      <p:pic>
        <p:nvPicPr>
          <p:cNvPr id="16" name="medium effort page 1" descr="/NAS/SJ/POSTECH/nlp/figs/icons/page.png">    </p:cNvPr>
          <p:cNvPicPr>
            <a:picLocks noChangeAspect="1"/>
          </p:cNvPicPr>
          <p:nvPr/>
        </p:nvPicPr>
        <p:blipFill>
          <a:blip r:embed="rId4"/>
          <a:stretch>
            <a:fillRect/>
          </a:stretch>
        </p:blipFill>
        <p:spPr>
          <a:xfrm>
            <a:off x="8042148" y="2148840"/>
            <a:ext cx="173736" cy="201168"/>
          </a:xfrm>
          <a:prstGeom prst="rect">
            <a:avLst/>
          </a:prstGeom>
        </p:spPr>
      </p:pic>
      <p:pic>
        <p:nvPicPr>
          <p:cNvPr id="17" name="medium effort page 2" descr="/NAS/SJ/POSTECH/nlp/figs/icons/page.png">    </p:cNvPr>
          <p:cNvPicPr>
            <a:picLocks noChangeAspect="1"/>
          </p:cNvPicPr>
          <p:nvPr/>
        </p:nvPicPr>
        <p:blipFill>
          <a:blip r:embed="rId5"/>
          <a:stretch>
            <a:fillRect/>
          </a:stretch>
        </p:blipFill>
        <p:spPr>
          <a:xfrm>
            <a:off x="8220456" y="2148840"/>
            <a:ext cx="173736" cy="201168"/>
          </a:xfrm>
          <a:prstGeom prst="rect">
            <a:avLst/>
          </a:prstGeom>
        </p:spPr>
      </p:pic>
      <p:pic>
        <p:nvPicPr>
          <p:cNvPr id="18" name="medium effort page 3" descr="/NAS/SJ/POSTECH/nlp/figs/icons/page.png">    </p:cNvPr>
          <p:cNvPicPr>
            <a:picLocks noChangeAspect="1"/>
          </p:cNvPicPr>
          <p:nvPr/>
        </p:nvPicPr>
        <p:blipFill>
          <a:blip r:embed="rId6"/>
          <a:stretch>
            <a:fillRect/>
          </a:stretch>
        </p:blipFill>
        <p:spPr>
          <a:xfrm>
            <a:off x="8398764" y="2148840"/>
            <a:ext cx="173736" cy="201168"/>
          </a:xfrm>
          <a:prstGeom prst="rect">
            <a:avLst/>
          </a:prstGeom>
        </p:spPr>
      </p:pic>
      <p:pic>
        <p:nvPicPr>
          <p:cNvPr id="19" name="medium effort page 4" descr="/NAS/SJ/POSTECH/nlp/figs/icons/page.png">    </p:cNvPr>
          <p:cNvPicPr>
            <a:picLocks noChangeAspect="1"/>
          </p:cNvPicPr>
          <p:nvPr/>
        </p:nvPicPr>
        <p:blipFill>
          <a:blip r:embed="rId7"/>
          <a:stretch>
            <a:fillRect/>
          </a:stretch>
        </p:blipFill>
        <p:spPr>
          <a:xfrm>
            <a:off x="8577072" y="2148840"/>
            <a:ext cx="173736" cy="201168"/>
          </a:xfrm>
          <a:prstGeom prst="rect">
            <a:avLst/>
          </a:prstGeom>
        </p:spPr>
      </p:pic>
      <p:pic>
        <p:nvPicPr>
          <p:cNvPr id="20" name="medium effort page 5" descr="/NAS/SJ/POSTECH/nlp/figs/icons/page.png">    </p:cNvPr>
          <p:cNvPicPr>
            <a:picLocks noChangeAspect="1"/>
          </p:cNvPicPr>
          <p:nvPr/>
        </p:nvPicPr>
        <p:blipFill>
          <a:blip r:embed="rId8"/>
          <a:stretch>
            <a:fillRect/>
          </a:stretch>
        </p:blipFill>
        <p:spPr>
          <a:xfrm>
            <a:off x="8755380" y="2148840"/>
            <a:ext cx="173736" cy="201168"/>
          </a:xfrm>
          <a:prstGeom prst="rect">
            <a:avLst/>
          </a:prstGeom>
        </p:spPr>
      </p:pic>
      <p:pic>
        <p:nvPicPr>
          <p:cNvPr id="21" name="medium effort page 6" descr="/NAS/SJ/POSTECH/nlp/figs/icons/page.png">    </p:cNvPr>
          <p:cNvPicPr>
            <a:picLocks noChangeAspect="1"/>
          </p:cNvPicPr>
          <p:nvPr/>
        </p:nvPicPr>
        <p:blipFill>
          <a:blip r:embed="rId9"/>
          <a:stretch>
            <a:fillRect/>
          </a:stretch>
        </p:blipFill>
        <p:spPr>
          <a:xfrm>
            <a:off x="8933688" y="2148840"/>
            <a:ext cx="173736" cy="201168"/>
          </a:xfrm>
          <a:prstGeom prst="rect">
            <a:avLst/>
          </a:prstGeom>
        </p:spPr>
      </p:pic>
      <p:pic>
        <p:nvPicPr>
          <p:cNvPr id="22" name="medium effort page 7" descr="/NAS/SJ/POSTECH/nlp/figs/icons/page.png">    </p:cNvPr>
          <p:cNvPicPr>
            <a:picLocks noChangeAspect="1"/>
          </p:cNvPicPr>
          <p:nvPr/>
        </p:nvPicPr>
        <p:blipFill>
          <a:blip r:embed="rId10"/>
          <a:stretch>
            <a:fillRect/>
          </a:stretch>
        </p:blipFill>
        <p:spPr>
          <a:xfrm>
            <a:off x="9111996" y="2148840"/>
            <a:ext cx="173736" cy="201168"/>
          </a:xfrm>
          <a:prstGeom prst="rect">
            <a:avLst/>
          </a:prstGeom>
        </p:spPr>
      </p:pic>
      <p:pic>
        <p:nvPicPr>
          <p:cNvPr id="23" name="medium effort page 8" descr="/NAS/SJ/POSTECH/nlp/figs/icons/page.png">    </p:cNvPr>
          <p:cNvPicPr>
            <a:picLocks noChangeAspect="1"/>
          </p:cNvPicPr>
          <p:nvPr/>
        </p:nvPicPr>
        <p:blipFill>
          <a:blip r:embed="rId11"/>
          <a:stretch>
            <a:fillRect/>
          </a:stretch>
        </p:blipFill>
        <p:spPr>
          <a:xfrm>
            <a:off x="9290304" y="2148840"/>
            <a:ext cx="173736" cy="201168"/>
          </a:xfrm>
          <a:prstGeom prst="rect">
            <a:avLst/>
          </a:prstGeom>
        </p:spPr>
      </p:pic>
      <p:pic>
        <p:nvPicPr>
          <p:cNvPr id="24" name="medium effort page 9" descr="/NAS/SJ/POSTECH/nlp/figs/icons/page.png">    </p:cNvPr>
          <p:cNvPicPr>
            <a:picLocks noChangeAspect="1"/>
          </p:cNvPicPr>
          <p:nvPr/>
        </p:nvPicPr>
        <p:blipFill>
          <a:blip r:embed="rId12"/>
          <a:stretch>
            <a:fillRect/>
          </a:stretch>
        </p:blipFill>
        <p:spPr>
          <a:xfrm>
            <a:off x="9468612" y="2148840"/>
            <a:ext cx="173736" cy="201168"/>
          </a:xfrm>
          <a:prstGeom prst="rect">
            <a:avLst/>
          </a:prstGeom>
        </p:spPr>
      </p:pic>
      <p:sp>
        <p:nvSpPr>
          <p:cNvPr id="25" name="Text 11"/>
          <p:cNvSpPr txBox="1"/>
          <p:nvPr/>
        </p:nvSpPr>
        <p:spPr>
          <a:xfrm>
            <a:off x="6400800" y="265176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high effort</a:t>
            </a:r>
            <a:endParaRPr lang="en-US" sz="1300" dirty="0"/>
          </a:p>
          <a:p>
            <a:pPr indent="0" marL="0">
              <a:buNone/>
            </a:pPr>
            <a:r>
              <a:rPr lang="en-US" sz="1300" dirty="0">
                <a:solidFill>
                  <a:schemeClr val="tx1"/>
                </a:solidFill>
              </a:rPr>
              <a:t>66% solved</a:t>
            </a:r>
            <a:endParaRPr lang="en-US" sz="1300" dirty="0"/>
          </a:p>
        </p:txBody>
      </p:sp>
      <p:pic>
        <p:nvPicPr>
          <p:cNvPr id="26" name="high effort page 0" descr="/NAS/SJ/POSTECH/nlp/figs/icons/pagehot.png">    </p:cNvPr>
          <p:cNvPicPr>
            <a:picLocks noChangeAspect="1"/>
          </p:cNvPicPr>
          <p:nvPr/>
        </p:nvPicPr>
        <p:blipFill>
          <a:blip r:embed="rId13"/>
          <a:stretch>
            <a:fillRect/>
          </a:stretch>
        </p:blipFill>
        <p:spPr>
          <a:xfrm>
            <a:off x="7863840" y="2651760"/>
            <a:ext cx="173736" cy="201168"/>
          </a:xfrm>
          <a:prstGeom prst="rect">
            <a:avLst/>
          </a:prstGeom>
        </p:spPr>
      </p:pic>
      <p:pic>
        <p:nvPicPr>
          <p:cNvPr id="27" name="high effort page 1" descr="/NAS/SJ/POSTECH/nlp/figs/icons/pagehot.png">    </p:cNvPr>
          <p:cNvPicPr>
            <a:picLocks noChangeAspect="1"/>
          </p:cNvPicPr>
          <p:nvPr/>
        </p:nvPicPr>
        <p:blipFill>
          <a:blip r:embed="rId14"/>
          <a:stretch>
            <a:fillRect/>
          </a:stretch>
        </p:blipFill>
        <p:spPr>
          <a:xfrm>
            <a:off x="8042148" y="2651760"/>
            <a:ext cx="173736" cy="201168"/>
          </a:xfrm>
          <a:prstGeom prst="rect">
            <a:avLst/>
          </a:prstGeom>
        </p:spPr>
      </p:pic>
      <p:pic>
        <p:nvPicPr>
          <p:cNvPr id="28" name="high effort page 2" descr="/NAS/SJ/POSTECH/nlp/figs/icons/pagehot.png">    </p:cNvPr>
          <p:cNvPicPr>
            <a:picLocks noChangeAspect="1"/>
          </p:cNvPicPr>
          <p:nvPr/>
        </p:nvPicPr>
        <p:blipFill>
          <a:blip r:embed="rId15"/>
          <a:stretch>
            <a:fillRect/>
          </a:stretch>
        </p:blipFill>
        <p:spPr>
          <a:xfrm>
            <a:off x="8220456" y="2651760"/>
            <a:ext cx="173736" cy="201168"/>
          </a:xfrm>
          <a:prstGeom prst="rect">
            <a:avLst/>
          </a:prstGeom>
        </p:spPr>
      </p:pic>
      <p:pic>
        <p:nvPicPr>
          <p:cNvPr id="29" name="high effort page 3" descr="/NAS/SJ/POSTECH/nlp/figs/icons/pagehot.png">    </p:cNvPr>
          <p:cNvPicPr>
            <a:picLocks noChangeAspect="1"/>
          </p:cNvPicPr>
          <p:nvPr/>
        </p:nvPicPr>
        <p:blipFill>
          <a:blip r:embed="rId16"/>
          <a:stretch>
            <a:fillRect/>
          </a:stretch>
        </p:blipFill>
        <p:spPr>
          <a:xfrm>
            <a:off x="8398764" y="2651760"/>
            <a:ext cx="173736" cy="201168"/>
          </a:xfrm>
          <a:prstGeom prst="rect">
            <a:avLst/>
          </a:prstGeom>
        </p:spPr>
      </p:pic>
      <p:pic>
        <p:nvPicPr>
          <p:cNvPr id="30" name="high effort page 4" descr="/NAS/SJ/POSTECH/nlp/figs/icons/pagehot.png">    </p:cNvPr>
          <p:cNvPicPr>
            <a:picLocks noChangeAspect="1"/>
          </p:cNvPicPr>
          <p:nvPr/>
        </p:nvPicPr>
        <p:blipFill>
          <a:blip r:embed="rId17"/>
          <a:stretch>
            <a:fillRect/>
          </a:stretch>
        </p:blipFill>
        <p:spPr>
          <a:xfrm>
            <a:off x="8577072" y="2651760"/>
            <a:ext cx="173736" cy="201168"/>
          </a:xfrm>
          <a:prstGeom prst="rect">
            <a:avLst/>
          </a:prstGeom>
        </p:spPr>
      </p:pic>
      <p:pic>
        <p:nvPicPr>
          <p:cNvPr id="31" name="high effort page 5" descr="/NAS/SJ/POSTECH/nlp/figs/icons/pagehot.png">    </p:cNvPr>
          <p:cNvPicPr>
            <a:picLocks noChangeAspect="1"/>
          </p:cNvPicPr>
          <p:nvPr/>
        </p:nvPicPr>
        <p:blipFill>
          <a:blip r:embed="rId18"/>
          <a:stretch>
            <a:fillRect/>
          </a:stretch>
        </p:blipFill>
        <p:spPr>
          <a:xfrm>
            <a:off x="8755380" y="2651760"/>
            <a:ext cx="173736" cy="201168"/>
          </a:xfrm>
          <a:prstGeom prst="rect">
            <a:avLst/>
          </a:prstGeom>
        </p:spPr>
      </p:pic>
      <p:pic>
        <p:nvPicPr>
          <p:cNvPr id="32" name="high effort page 6" descr="/NAS/SJ/POSTECH/nlp/figs/icons/pagehot.png">    </p:cNvPr>
          <p:cNvPicPr>
            <a:picLocks noChangeAspect="1"/>
          </p:cNvPicPr>
          <p:nvPr/>
        </p:nvPicPr>
        <p:blipFill>
          <a:blip r:embed="rId19"/>
          <a:stretch>
            <a:fillRect/>
          </a:stretch>
        </p:blipFill>
        <p:spPr>
          <a:xfrm>
            <a:off x="8933688" y="2651760"/>
            <a:ext cx="173736" cy="201168"/>
          </a:xfrm>
          <a:prstGeom prst="rect">
            <a:avLst/>
          </a:prstGeom>
        </p:spPr>
      </p:pic>
      <p:pic>
        <p:nvPicPr>
          <p:cNvPr id="33" name="high effort page 7" descr="/NAS/SJ/POSTECH/nlp/figs/icons/pagehot.png">    </p:cNvPr>
          <p:cNvPicPr>
            <a:picLocks noChangeAspect="1"/>
          </p:cNvPicPr>
          <p:nvPr/>
        </p:nvPicPr>
        <p:blipFill>
          <a:blip r:embed="rId20"/>
          <a:stretch>
            <a:fillRect/>
          </a:stretch>
        </p:blipFill>
        <p:spPr>
          <a:xfrm>
            <a:off x="9111996" y="2651760"/>
            <a:ext cx="173736" cy="201168"/>
          </a:xfrm>
          <a:prstGeom prst="rect">
            <a:avLst/>
          </a:prstGeom>
        </p:spPr>
      </p:pic>
      <p:pic>
        <p:nvPicPr>
          <p:cNvPr id="34" name="high effort page 8" descr="/NAS/SJ/POSTECH/nlp/figs/icons/pagehot.png">    </p:cNvPr>
          <p:cNvPicPr>
            <a:picLocks noChangeAspect="1"/>
          </p:cNvPicPr>
          <p:nvPr/>
        </p:nvPicPr>
        <p:blipFill>
          <a:blip r:embed="rId21"/>
          <a:stretch>
            <a:fillRect/>
          </a:stretch>
        </p:blipFill>
        <p:spPr>
          <a:xfrm>
            <a:off x="9290304" y="2651760"/>
            <a:ext cx="173736" cy="201168"/>
          </a:xfrm>
          <a:prstGeom prst="rect">
            <a:avLst/>
          </a:prstGeom>
        </p:spPr>
      </p:pic>
      <p:pic>
        <p:nvPicPr>
          <p:cNvPr id="35" name="high effort page 9" descr="/NAS/SJ/POSTECH/nlp/figs/icons/pagehot.png">    </p:cNvPr>
          <p:cNvPicPr>
            <a:picLocks noChangeAspect="1"/>
          </p:cNvPicPr>
          <p:nvPr/>
        </p:nvPicPr>
        <p:blipFill>
          <a:blip r:embed="rId22"/>
          <a:stretch>
            <a:fillRect/>
          </a:stretch>
        </p:blipFill>
        <p:spPr>
          <a:xfrm>
            <a:off x="9468612" y="2651760"/>
            <a:ext cx="173736" cy="201168"/>
          </a:xfrm>
          <a:prstGeom prst="rect">
            <a:avLst/>
          </a:prstGeom>
        </p:spPr>
      </p:pic>
      <p:pic>
        <p:nvPicPr>
          <p:cNvPr id="36" name="high effort page 10" descr="/NAS/SJ/POSTECH/nlp/figs/icons/pagehot.png">    </p:cNvPr>
          <p:cNvPicPr>
            <a:picLocks noChangeAspect="1"/>
          </p:cNvPicPr>
          <p:nvPr/>
        </p:nvPicPr>
        <p:blipFill>
          <a:blip r:embed="rId23"/>
          <a:stretch>
            <a:fillRect/>
          </a:stretch>
        </p:blipFill>
        <p:spPr>
          <a:xfrm>
            <a:off x="9646920" y="2651760"/>
            <a:ext cx="173736" cy="201168"/>
          </a:xfrm>
          <a:prstGeom prst="rect">
            <a:avLst/>
          </a:prstGeom>
        </p:spPr>
      </p:pic>
      <p:pic>
        <p:nvPicPr>
          <p:cNvPr id="37" name="high effort page 11" descr="/NAS/SJ/POSTECH/nlp/figs/icons/pagehot.png">    </p:cNvPr>
          <p:cNvPicPr>
            <a:picLocks noChangeAspect="1"/>
          </p:cNvPicPr>
          <p:nvPr/>
        </p:nvPicPr>
        <p:blipFill>
          <a:blip r:embed="rId24"/>
          <a:stretch>
            <a:fillRect/>
          </a:stretch>
        </p:blipFill>
        <p:spPr>
          <a:xfrm>
            <a:off x="9825228" y="2651760"/>
            <a:ext cx="173736" cy="201168"/>
          </a:xfrm>
          <a:prstGeom prst="rect">
            <a:avLst/>
          </a:prstGeom>
        </p:spPr>
      </p:pic>
      <p:pic>
        <p:nvPicPr>
          <p:cNvPr id="38" name="high effort page 12" descr="/NAS/SJ/POSTECH/nlp/figs/icons/pagehot.png">    </p:cNvPr>
          <p:cNvPicPr>
            <a:picLocks noChangeAspect="1"/>
          </p:cNvPicPr>
          <p:nvPr/>
        </p:nvPicPr>
        <p:blipFill>
          <a:blip r:embed="rId25"/>
          <a:stretch>
            <a:fillRect/>
          </a:stretch>
        </p:blipFill>
        <p:spPr>
          <a:xfrm>
            <a:off x="10003536" y="2651760"/>
            <a:ext cx="173736" cy="201168"/>
          </a:xfrm>
          <a:prstGeom prst="rect">
            <a:avLst/>
          </a:prstGeom>
        </p:spPr>
      </p:pic>
      <p:pic>
        <p:nvPicPr>
          <p:cNvPr id="39" name="high effort page 13" descr="/NAS/SJ/POSTECH/nlp/figs/icons/pagehot.png">    </p:cNvPr>
          <p:cNvPicPr>
            <a:picLocks noChangeAspect="1"/>
          </p:cNvPicPr>
          <p:nvPr/>
        </p:nvPicPr>
        <p:blipFill>
          <a:blip r:embed="rId26"/>
          <a:stretch>
            <a:fillRect/>
          </a:stretch>
        </p:blipFill>
        <p:spPr>
          <a:xfrm>
            <a:off x="10181844" y="2651760"/>
            <a:ext cx="173736" cy="201168"/>
          </a:xfrm>
          <a:prstGeom prst="rect">
            <a:avLst/>
          </a:prstGeom>
        </p:spPr>
      </p:pic>
      <p:pic>
        <p:nvPicPr>
          <p:cNvPr id="40" name="high effort page 14" descr="/NAS/SJ/POSTECH/nlp/figs/icons/pagehot.png">    </p:cNvPr>
          <p:cNvPicPr>
            <a:picLocks noChangeAspect="1"/>
          </p:cNvPicPr>
          <p:nvPr/>
        </p:nvPicPr>
        <p:blipFill>
          <a:blip r:embed="rId27"/>
          <a:stretch>
            <a:fillRect/>
          </a:stretch>
        </p:blipFill>
        <p:spPr>
          <a:xfrm>
            <a:off x="10360152" y="2651760"/>
            <a:ext cx="173736" cy="201168"/>
          </a:xfrm>
          <a:prstGeom prst="rect">
            <a:avLst/>
          </a:prstGeom>
        </p:spPr>
      </p:pic>
      <p:pic>
        <p:nvPicPr>
          <p:cNvPr id="41" name="high effort page 15" descr="/NAS/SJ/POSTECH/nlp/figs/icons/pagehot.png">    </p:cNvPr>
          <p:cNvPicPr>
            <a:picLocks noChangeAspect="1"/>
          </p:cNvPicPr>
          <p:nvPr/>
        </p:nvPicPr>
        <p:blipFill>
          <a:blip r:embed="rId28"/>
          <a:stretch>
            <a:fillRect/>
          </a:stretch>
        </p:blipFill>
        <p:spPr>
          <a:xfrm>
            <a:off x="10538460" y="2651760"/>
            <a:ext cx="173736" cy="201168"/>
          </a:xfrm>
          <a:prstGeom prst="rect">
            <a:avLst/>
          </a:prstGeom>
        </p:spPr>
      </p:pic>
      <p:pic>
        <p:nvPicPr>
          <p:cNvPr id="42" name="high effort page 16" descr="/NAS/SJ/POSTECH/nlp/figs/icons/pagehot.png">    </p:cNvPr>
          <p:cNvPicPr>
            <a:picLocks noChangeAspect="1"/>
          </p:cNvPicPr>
          <p:nvPr/>
        </p:nvPicPr>
        <p:blipFill>
          <a:blip r:embed="rId29"/>
          <a:stretch>
            <a:fillRect/>
          </a:stretch>
        </p:blipFill>
        <p:spPr>
          <a:xfrm>
            <a:off x="10716768" y="2651760"/>
            <a:ext cx="173736" cy="201168"/>
          </a:xfrm>
          <a:prstGeom prst="rect">
            <a:avLst/>
          </a:prstGeom>
        </p:spPr>
      </p:pic>
      <p:pic>
        <p:nvPicPr>
          <p:cNvPr id="43" name="high effort page 17" descr="/NAS/SJ/POSTECH/nlp/figs/icons/pagehot.png">    </p:cNvPr>
          <p:cNvPicPr>
            <a:picLocks noChangeAspect="1"/>
          </p:cNvPicPr>
          <p:nvPr/>
        </p:nvPicPr>
        <p:blipFill>
          <a:blip r:embed="rId30"/>
          <a:stretch>
            <a:fillRect/>
          </a:stretch>
        </p:blipFill>
        <p:spPr>
          <a:xfrm>
            <a:off x="10895076" y="2651760"/>
            <a:ext cx="173736" cy="201168"/>
          </a:xfrm>
          <a:prstGeom prst="rect">
            <a:avLst/>
          </a:prstGeom>
        </p:spPr>
      </p:pic>
      <p:pic>
        <p:nvPicPr>
          <p:cNvPr id="44" name="high effort page 18" descr="/NAS/SJ/POSTECH/nlp/figs/icons/pagehot.png">    </p:cNvPr>
          <p:cNvPicPr>
            <a:picLocks noChangeAspect="1"/>
          </p:cNvPicPr>
          <p:nvPr/>
        </p:nvPicPr>
        <p:blipFill>
          <a:blip r:embed="rId31"/>
          <a:stretch>
            <a:fillRect/>
          </a:stretch>
        </p:blipFill>
        <p:spPr>
          <a:xfrm>
            <a:off x="11073384" y="2651760"/>
            <a:ext cx="173736" cy="201168"/>
          </a:xfrm>
          <a:prstGeom prst="rect">
            <a:avLst/>
          </a:prstGeom>
        </p:spPr>
      </p:pic>
      <p:pic>
        <p:nvPicPr>
          <p:cNvPr id="45" name="high effort page 19" descr="/NAS/SJ/POSTECH/nlp/figs/icons/pagehot.png">    </p:cNvPr>
          <p:cNvPicPr>
            <a:picLocks noChangeAspect="1"/>
          </p:cNvPicPr>
          <p:nvPr/>
        </p:nvPicPr>
        <p:blipFill>
          <a:blip r:embed="rId32"/>
          <a:stretch>
            <a:fillRect/>
          </a:stretch>
        </p:blipFill>
        <p:spPr>
          <a:xfrm>
            <a:off x="11251692" y="2651760"/>
            <a:ext cx="173736" cy="201168"/>
          </a:xfrm>
          <a:prstGeom prst="rect">
            <a:avLst/>
          </a:prstGeom>
        </p:spPr>
      </p:pic>
      <p:pic>
        <p:nvPicPr>
          <p:cNvPr id="46" name="high effort page 20" descr="/NAS/SJ/POSTECH/nlp/figs/icons/pagehot.png">    </p:cNvPr>
          <p:cNvPicPr>
            <a:picLocks noChangeAspect="1"/>
          </p:cNvPicPr>
          <p:nvPr/>
        </p:nvPicPr>
        <p:blipFill>
          <a:blip r:embed="rId33"/>
          <a:stretch>
            <a:fillRect/>
          </a:stretch>
        </p:blipFill>
        <p:spPr>
          <a:xfrm>
            <a:off x="7863840" y="2871216"/>
            <a:ext cx="173736" cy="201168"/>
          </a:xfrm>
          <a:prstGeom prst="rect">
            <a:avLst/>
          </a:prstGeom>
        </p:spPr>
      </p:pic>
      <p:pic>
        <p:nvPicPr>
          <p:cNvPr id="47" name="high effort page 21" descr="/NAS/SJ/POSTECH/nlp/figs/icons/pagehot.png">    </p:cNvPr>
          <p:cNvPicPr>
            <a:picLocks noChangeAspect="1"/>
          </p:cNvPicPr>
          <p:nvPr/>
        </p:nvPicPr>
        <p:blipFill>
          <a:blip r:embed="rId34"/>
          <a:stretch>
            <a:fillRect/>
          </a:stretch>
        </p:blipFill>
        <p:spPr>
          <a:xfrm>
            <a:off x="8042148" y="2871216"/>
            <a:ext cx="173736" cy="201168"/>
          </a:xfrm>
          <a:prstGeom prst="rect">
            <a:avLst/>
          </a:prstGeom>
        </p:spPr>
      </p:pic>
      <p:pic>
        <p:nvPicPr>
          <p:cNvPr id="48" name="high effort page 22" descr="/NAS/SJ/POSTECH/nlp/figs/icons/pagehot.png">    </p:cNvPr>
          <p:cNvPicPr>
            <a:picLocks noChangeAspect="1"/>
          </p:cNvPicPr>
          <p:nvPr/>
        </p:nvPicPr>
        <p:blipFill>
          <a:blip r:embed="rId35"/>
          <a:stretch>
            <a:fillRect/>
          </a:stretch>
        </p:blipFill>
        <p:spPr>
          <a:xfrm>
            <a:off x="8220456" y="2871216"/>
            <a:ext cx="173736" cy="201168"/>
          </a:xfrm>
          <a:prstGeom prst="rect">
            <a:avLst/>
          </a:prstGeom>
        </p:spPr>
      </p:pic>
      <p:pic>
        <p:nvPicPr>
          <p:cNvPr id="49" name="high effort page 23" descr="/NAS/SJ/POSTECH/nlp/figs/icons/pagehot.png">    </p:cNvPr>
          <p:cNvPicPr>
            <a:picLocks noChangeAspect="1"/>
          </p:cNvPicPr>
          <p:nvPr/>
        </p:nvPicPr>
        <p:blipFill>
          <a:blip r:embed="rId36"/>
          <a:stretch>
            <a:fillRect/>
          </a:stretch>
        </p:blipFill>
        <p:spPr>
          <a:xfrm>
            <a:off x="8398764" y="2871216"/>
            <a:ext cx="173736" cy="201168"/>
          </a:xfrm>
          <a:prstGeom prst="rect">
            <a:avLst/>
          </a:prstGeom>
        </p:spPr>
      </p:pic>
      <p:pic>
        <p:nvPicPr>
          <p:cNvPr id="50" name="high effort page 24" descr="/NAS/SJ/POSTECH/nlp/figs/icons/pagehot.png">    </p:cNvPr>
          <p:cNvPicPr>
            <a:picLocks noChangeAspect="1"/>
          </p:cNvPicPr>
          <p:nvPr/>
        </p:nvPicPr>
        <p:blipFill>
          <a:blip r:embed="rId37"/>
          <a:stretch>
            <a:fillRect/>
          </a:stretch>
        </p:blipFill>
        <p:spPr>
          <a:xfrm>
            <a:off x="8577072" y="2871216"/>
            <a:ext cx="173736" cy="201168"/>
          </a:xfrm>
          <a:prstGeom prst="rect">
            <a:avLst/>
          </a:prstGeom>
        </p:spPr>
      </p:pic>
      <p:pic>
        <p:nvPicPr>
          <p:cNvPr id="51" name="high effort page 25" descr="/NAS/SJ/POSTECH/nlp/figs/icons/pagehot.png">    </p:cNvPr>
          <p:cNvPicPr>
            <a:picLocks noChangeAspect="1"/>
          </p:cNvPicPr>
          <p:nvPr/>
        </p:nvPicPr>
        <p:blipFill>
          <a:blip r:embed="rId38"/>
          <a:stretch>
            <a:fillRect/>
          </a:stretch>
        </p:blipFill>
        <p:spPr>
          <a:xfrm>
            <a:off x="8755380" y="2871216"/>
            <a:ext cx="173736" cy="201168"/>
          </a:xfrm>
          <a:prstGeom prst="rect">
            <a:avLst/>
          </a:prstGeom>
        </p:spPr>
      </p:pic>
      <p:pic>
        <p:nvPicPr>
          <p:cNvPr id="52" name="high effort page 26" descr="/NAS/SJ/POSTECH/nlp/figs/icons/pagehot.png">    </p:cNvPr>
          <p:cNvPicPr>
            <a:picLocks noChangeAspect="1"/>
          </p:cNvPicPr>
          <p:nvPr/>
        </p:nvPicPr>
        <p:blipFill>
          <a:blip r:embed="rId39"/>
          <a:stretch>
            <a:fillRect/>
          </a:stretch>
        </p:blipFill>
        <p:spPr>
          <a:xfrm>
            <a:off x="8933688" y="2871216"/>
            <a:ext cx="173736" cy="201168"/>
          </a:xfrm>
          <a:prstGeom prst="rect">
            <a:avLst/>
          </a:prstGeom>
        </p:spPr>
      </p:pic>
      <p:pic>
        <p:nvPicPr>
          <p:cNvPr id="53" name="high effort page 27" descr="/NAS/SJ/POSTECH/nlp/figs/icons/pagehot.png">    </p:cNvPr>
          <p:cNvPicPr>
            <a:picLocks noChangeAspect="1"/>
          </p:cNvPicPr>
          <p:nvPr/>
        </p:nvPicPr>
        <p:blipFill>
          <a:blip r:embed="rId40"/>
          <a:stretch>
            <a:fillRect/>
          </a:stretch>
        </p:blipFill>
        <p:spPr>
          <a:xfrm>
            <a:off x="9111996" y="2871216"/>
            <a:ext cx="173736" cy="201168"/>
          </a:xfrm>
          <a:prstGeom prst="rect">
            <a:avLst/>
          </a:prstGeom>
        </p:spPr>
      </p:pic>
      <p:pic>
        <p:nvPicPr>
          <p:cNvPr id="54" name="high effort page 28" descr="/NAS/SJ/POSTECH/nlp/figs/icons/pagehot.png">    </p:cNvPr>
          <p:cNvPicPr>
            <a:picLocks noChangeAspect="1"/>
          </p:cNvPicPr>
          <p:nvPr/>
        </p:nvPicPr>
        <p:blipFill>
          <a:blip r:embed="rId41"/>
          <a:stretch>
            <a:fillRect/>
          </a:stretch>
        </p:blipFill>
        <p:spPr>
          <a:xfrm>
            <a:off x="9290304" y="2871216"/>
            <a:ext cx="173736" cy="201168"/>
          </a:xfrm>
          <a:prstGeom prst="rect">
            <a:avLst/>
          </a:prstGeom>
        </p:spPr>
      </p:pic>
      <p:pic>
        <p:nvPicPr>
          <p:cNvPr id="55" name="high effort page 29" descr="/NAS/SJ/POSTECH/nlp/figs/icons/pagehot.png">    </p:cNvPr>
          <p:cNvPicPr>
            <a:picLocks noChangeAspect="1"/>
          </p:cNvPicPr>
          <p:nvPr/>
        </p:nvPicPr>
        <p:blipFill>
          <a:blip r:embed="rId42"/>
          <a:stretch>
            <a:fillRect/>
          </a:stretch>
        </p:blipFill>
        <p:spPr>
          <a:xfrm>
            <a:off x="9468612" y="2871216"/>
            <a:ext cx="173736" cy="201168"/>
          </a:xfrm>
          <a:prstGeom prst="rect">
            <a:avLst/>
          </a:prstGeom>
        </p:spPr>
      </p:pic>
      <p:pic>
        <p:nvPicPr>
          <p:cNvPr id="56" name="high effort page 30" descr="/NAS/SJ/POSTECH/nlp/figs/icons/pagehot.png">    </p:cNvPr>
          <p:cNvPicPr>
            <a:picLocks noChangeAspect="1"/>
          </p:cNvPicPr>
          <p:nvPr/>
        </p:nvPicPr>
        <p:blipFill>
          <a:blip r:embed="rId43"/>
          <a:stretch>
            <a:fillRect/>
          </a:stretch>
        </p:blipFill>
        <p:spPr>
          <a:xfrm>
            <a:off x="9646920" y="2871216"/>
            <a:ext cx="173736" cy="201168"/>
          </a:xfrm>
          <a:prstGeom prst="rect">
            <a:avLst/>
          </a:prstGeom>
        </p:spPr>
      </p:pic>
      <p:pic>
        <p:nvPicPr>
          <p:cNvPr id="57" name="high effort page 31" descr="/NAS/SJ/POSTECH/nlp/figs/icons/pagehot.png">    </p:cNvPr>
          <p:cNvPicPr>
            <a:picLocks noChangeAspect="1"/>
          </p:cNvPicPr>
          <p:nvPr/>
        </p:nvPicPr>
        <p:blipFill>
          <a:blip r:embed="rId44"/>
          <a:stretch>
            <a:fillRect/>
          </a:stretch>
        </p:blipFill>
        <p:spPr>
          <a:xfrm>
            <a:off x="9825228" y="2871216"/>
            <a:ext cx="173736" cy="201168"/>
          </a:xfrm>
          <a:prstGeom prst="rect">
            <a:avLst/>
          </a:prstGeom>
        </p:spPr>
      </p:pic>
      <p:pic>
        <p:nvPicPr>
          <p:cNvPr id="58" name="high effort page 32" descr="/NAS/SJ/POSTECH/nlp/figs/icons/pagehot.png">    </p:cNvPr>
          <p:cNvPicPr>
            <a:picLocks noChangeAspect="1"/>
          </p:cNvPicPr>
          <p:nvPr/>
        </p:nvPicPr>
        <p:blipFill>
          <a:blip r:embed="rId45"/>
          <a:stretch>
            <a:fillRect/>
          </a:stretch>
        </p:blipFill>
        <p:spPr>
          <a:xfrm>
            <a:off x="10003536" y="2871216"/>
            <a:ext cx="173736" cy="201168"/>
          </a:xfrm>
          <a:prstGeom prst="rect">
            <a:avLst/>
          </a:prstGeom>
        </p:spPr>
      </p:pic>
      <p:pic>
        <p:nvPicPr>
          <p:cNvPr id="59" name="high effort page 33" descr="/NAS/SJ/POSTECH/nlp/figs/icons/pagehot.png">    </p:cNvPr>
          <p:cNvPicPr>
            <a:picLocks noChangeAspect="1"/>
          </p:cNvPicPr>
          <p:nvPr/>
        </p:nvPicPr>
        <p:blipFill>
          <a:blip r:embed="rId46"/>
          <a:stretch>
            <a:fillRect/>
          </a:stretch>
        </p:blipFill>
        <p:spPr>
          <a:xfrm>
            <a:off x="10181844" y="2871216"/>
            <a:ext cx="173736" cy="201168"/>
          </a:xfrm>
          <a:prstGeom prst="rect">
            <a:avLst/>
          </a:prstGeom>
        </p:spPr>
      </p:pic>
      <p:pic>
        <p:nvPicPr>
          <p:cNvPr id="60" name="high effort page 34" descr="/NAS/SJ/POSTECH/nlp/figs/icons/pagehot.png">    </p:cNvPr>
          <p:cNvPicPr>
            <a:picLocks noChangeAspect="1"/>
          </p:cNvPicPr>
          <p:nvPr/>
        </p:nvPicPr>
        <p:blipFill>
          <a:blip r:embed="rId47"/>
          <a:stretch>
            <a:fillRect/>
          </a:stretch>
        </p:blipFill>
        <p:spPr>
          <a:xfrm>
            <a:off x="10360152" y="2871216"/>
            <a:ext cx="173736" cy="201168"/>
          </a:xfrm>
          <a:prstGeom prst="rect">
            <a:avLst/>
          </a:prstGeom>
        </p:spPr>
      </p:pic>
      <p:pic>
        <p:nvPicPr>
          <p:cNvPr id="61" name="high effort page 35" descr="/NAS/SJ/POSTECH/nlp/figs/icons/pagehot.png">    </p:cNvPr>
          <p:cNvPicPr>
            <a:picLocks noChangeAspect="1"/>
          </p:cNvPicPr>
          <p:nvPr/>
        </p:nvPicPr>
        <p:blipFill>
          <a:blip r:embed="rId48"/>
          <a:stretch>
            <a:fillRect/>
          </a:stretch>
        </p:blipFill>
        <p:spPr>
          <a:xfrm>
            <a:off x="10538460" y="2871216"/>
            <a:ext cx="173736" cy="201168"/>
          </a:xfrm>
          <a:prstGeom prst="rect">
            <a:avLst/>
          </a:prstGeom>
        </p:spPr>
      </p:pic>
      <p:pic>
        <p:nvPicPr>
          <p:cNvPr id="62" name="high effort page 36" descr="/NAS/SJ/POSTECH/nlp/figs/icons/pagehot.png">    </p:cNvPr>
          <p:cNvPicPr>
            <a:picLocks noChangeAspect="1"/>
          </p:cNvPicPr>
          <p:nvPr/>
        </p:nvPicPr>
        <p:blipFill>
          <a:blip r:embed="rId49"/>
          <a:stretch>
            <a:fillRect/>
          </a:stretch>
        </p:blipFill>
        <p:spPr>
          <a:xfrm>
            <a:off x="10716768" y="2871216"/>
            <a:ext cx="173736" cy="201168"/>
          </a:xfrm>
          <a:prstGeom prst="rect">
            <a:avLst/>
          </a:prstGeom>
        </p:spPr>
      </p:pic>
      <p:pic>
        <p:nvPicPr>
          <p:cNvPr id="63" name="high effort page 37" descr="/NAS/SJ/POSTECH/nlp/figs/icons/pagehot.png">    </p:cNvPr>
          <p:cNvPicPr>
            <a:picLocks noChangeAspect="1"/>
          </p:cNvPicPr>
          <p:nvPr/>
        </p:nvPicPr>
        <p:blipFill>
          <a:blip r:embed="rId50"/>
          <a:stretch>
            <a:fillRect/>
          </a:stretch>
        </p:blipFill>
        <p:spPr>
          <a:xfrm>
            <a:off x="10895076" y="2871216"/>
            <a:ext cx="173736" cy="201168"/>
          </a:xfrm>
          <a:prstGeom prst="rect">
            <a:avLst/>
          </a:prstGeom>
        </p:spPr>
      </p:pic>
      <p:pic>
        <p:nvPicPr>
          <p:cNvPr id="64" name="high effort page 38" descr="/NAS/SJ/POSTECH/nlp/figs/icons/pagehot.png">    </p:cNvPr>
          <p:cNvPicPr>
            <a:picLocks noChangeAspect="1"/>
          </p:cNvPicPr>
          <p:nvPr/>
        </p:nvPicPr>
        <p:blipFill>
          <a:blip r:embed="rId51"/>
          <a:stretch>
            <a:fillRect/>
          </a:stretch>
        </p:blipFill>
        <p:spPr>
          <a:xfrm>
            <a:off x="11073384" y="2871216"/>
            <a:ext cx="173736" cy="201168"/>
          </a:xfrm>
          <a:prstGeom prst="rect">
            <a:avLst/>
          </a:prstGeom>
        </p:spPr>
      </p:pic>
      <p:pic>
        <p:nvPicPr>
          <p:cNvPr id="65" name="high effort page 39" descr="/NAS/SJ/POSTECH/nlp/figs/icons/pagehot.png">    </p:cNvPr>
          <p:cNvPicPr>
            <a:picLocks noChangeAspect="1"/>
          </p:cNvPicPr>
          <p:nvPr/>
        </p:nvPicPr>
        <p:blipFill>
          <a:blip r:embed="rId52"/>
          <a:stretch>
            <a:fillRect/>
          </a:stretch>
        </p:blipFill>
        <p:spPr>
          <a:xfrm>
            <a:off x="11251692" y="2871216"/>
            <a:ext cx="173736" cy="201168"/>
          </a:xfrm>
          <a:prstGeom prst="rect">
            <a:avLst/>
          </a:prstGeom>
        </p:spPr>
      </p:pic>
      <p:pic>
        <p:nvPicPr>
          <p:cNvPr id="66" name="high effort page 40" descr="/NAS/SJ/POSTECH/nlp/figs/icons/pagehot.png">    </p:cNvPr>
          <p:cNvPicPr>
            <a:picLocks noChangeAspect="1"/>
          </p:cNvPicPr>
          <p:nvPr/>
        </p:nvPicPr>
        <p:blipFill>
          <a:blip r:embed="rId53"/>
          <a:stretch>
            <a:fillRect/>
          </a:stretch>
        </p:blipFill>
        <p:spPr>
          <a:xfrm>
            <a:off x="7863840" y="3090672"/>
            <a:ext cx="173736" cy="201168"/>
          </a:xfrm>
          <a:prstGeom prst="rect">
            <a:avLst/>
          </a:prstGeom>
        </p:spPr>
      </p:pic>
      <p:pic>
        <p:nvPicPr>
          <p:cNvPr id="67" name="high effort page 41" descr="/NAS/SJ/POSTECH/nlp/figs/icons/pagehot.png">    </p:cNvPr>
          <p:cNvPicPr>
            <a:picLocks noChangeAspect="1"/>
          </p:cNvPicPr>
          <p:nvPr/>
        </p:nvPicPr>
        <p:blipFill>
          <a:blip r:embed="rId54"/>
          <a:stretch>
            <a:fillRect/>
          </a:stretch>
        </p:blipFill>
        <p:spPr>
          <a:xfrm>
            <a:off x="8042148" y="3090672"/>
            <a:ext cx="173736" cy="201168"/>
          </a:xfrm>
          <a:prstGeom prst="rect">
            <a:avLst/>
          </a:prstGeom>
        </p:spPr>
      </p:pic>
      <p:pic>
        <p:nvPicPr>
          <p:cNvPr id="68" name="high effort page 42" descr="/NAS/SJ/POSTECH/nlp/figs/icons/pagehot.png">    </p:cNvPr>
          <p:cNvPicPr>
            <a:picLocks noChangeAspect="1"/>
          </p:cNvPicPr>
          <p:nvPr/>
        </p:nvPicPr>
        <p:blipFill>
          <a:blip r:embed="rId55"/>
          <a:stretch>
            <a:fillRect/>
          </a:stretch>
        </p:blipFill>
        <p:spPr>
          <a:xfrm>
            <a:off x="8220456" y="3090672"/>
            <a:ext cx="173736" cy="201168"/>
          </a:xfrm>
          <a:prstGeom prst="rect">
            <a:avLst/>
          </a:prstGeom>
        </p:spPr>
      </p:pic>
      <p:sp>
        <p:nvSpPr>
          <p:cNvPr id="69" name="Text 12"/>
          <p:cNvSpPr txBox="1"/>
          <p:nvPr/>
        </p:nvSpPr>
        <p:spPr>
          <a:xfrm>
            <a:off x="6400800" y="3520440"/>
            <a:ext cx="5029200" cy="548640"/>
          </a:xfrm>
          <a:prstGeom prst="rect">
            <a:avLst/>
          </a:prstGeom>
          <a:noFill/>
          <a:ln/>
        </p:spPr>
        <p:txBody>
          <a:bodyPr wrap="square" lIns="0" tIns="0" rIns="0" bIns="0" rtlCol="0" anchor="ctr"/>
          <a:lstStyle/>
          <a:p>
            <a:pPr indent="0" marL="0">
              <a:buNone/>
            </a:pPr>
            <a:r>
              <a:rPr lang="en-US" sz="2200" b="1" dirty="0">
                <a:solidFill>
                  <a:srgbClr val="ED7D31"/>
                </a:solidFill>
              </a:rPr>
              <a:t>4.4× the pages</a:t>
            </a:r>
            <a:pPr indent="0" marL="0">
              <a:buNone/>
            </a:pPr>
            <a:r>
              <a:rPr lang="en-US" sz="1500" dirty="0">
                <a:solidFill>
                  <a:schemeClr val="tx1"/>
                </a:solidFill>
              </a:rPr>
              <a:t>  for only 9 more points</a:t>
            </a:r>
            <a:endParaRPr lang="en-US" sz="1600" dirty="0"/>
          </a:p>
        </p:txBody>
      </p:sp>
      <p:sp>
        <p:nvSpPr>
          <p:cNvPr id="70" name="box "/>
          <p:cNvSpPr/>
          <p:nvPr/>
        </p:nvSpPr>
        <p:spPr>
          <a:xfrm>
            <a:off x="548640" y="4407408"/>
            <a:ext cx="3566160" cy="502920"/>
          </a:xfrm>
          <a:prstGeom prst="roundRect">
            <a:avLst>
              <a:gd name="adj" fmla="val 10909"/>
            </a:avLst>
          </a:prstGeom>
          <a:solidFill>
            <a:srgbClr val="F2F2F2"/>
          </a:solidFill>
          <a:ln w="9525">
            <a:solidFill>
              <a:srgbClr val="BFBFBF"/>
            </a:solidFill>
            <a:prstDash val="solid"/>
          </a:ln>
        </p:spPr>
      </p:sp>
      <p:sp>
        <p:nvSpPr>
          <p:cNvPr id="71" name="Text 14"/>
          <p:cNvSpPr txBox="1"/>
          <p:nvPr/>
        </p:nvSpPr>
        <p:spPr>
          <a:xfrm>
            <a:off x="62179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2" name="icon robot" descr="/NAS/SJ/POSTECH/nlp/figs/icons/robot.png">    </p:cNvPr>
          <p:cNvPicPr>
            <a:picLocks noChangeAspect="1"/>
          </p:cNvPicPr>
          <p:nvPr/>
        </p:nvPicPr>
        <p:blipFill>
          <a:blip r:embed="rId56"/>
          <a:stretch>
            <a:fillRect/>
          </a:stretch>
        </p:blipFill>
        <p:spPr>
          <a:xfrm>
            <a:off x="685800" y="4462272"/>
            <a:ext cx="384048" cy="384048"/>
          </a:xfrm>
          <a:prstGeom prst="rect">
            <a:avLst/>
          </a:prstGeom>
        </p:spPr>
      </p:pic>
      <p:sp>
        <p:nvSpPr>
          <p:cNvPr id="73" name="Text 15"/>
          <p:cNvSpPr txBox="1"/>
          <p:nvPr/>
        </p:nvSpPr>
        <p:spPr>
          <a:xfrm>
            <a:off x="118872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agents already write this code</a:t>
            </a:r>
            <a:endParaRPr lang="en-US" sz="1500" dirty="0"/>
          </a:p>
        </p:txBody>
      </p:sp>
      <p:sp>
        <p:nvSpPr>
          <p:cNvPr id="74" name="box "/>
          <p:cNvSpPr/>
          <p:nvPr/>
        </p:nvSpPr>
        <p:spPr>
          <a:xfrm>
            <a:off x="4297680" y="4407408"/>
            <a:ext cx="3566160" cy="502920"/>
          </a:xfrm>
          <a:prstGeom prst="roundRect">
            <a:avLst>
              <a:gd name="adj" fmla="val 10909"/>
            </a:avLst>
          </a:prstGeom>
          <a:solidFill>
            <a:srgbClr val="F2F2F2"/>
          </a:solidFill>
          <a:ln w="9525">
            <a:solidFill>
              <a:srgbClr val="BFBFBF"/>
            </a:solidFill>
            <a:prstDash val="solid"/>
          </a:ln>
        </p:spPr>
      </p:sp>
      <p:sp>
        <p:nvSpPr>
          <p:cNvPr id="75" name="Text 17"/>
          <p:cNvSpPr txBox="1"/>
          <p:nvPr/>
        </p:nvSpPr>
        <p:spPr>
          <a:xfrm>
            <a:off x="437083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6" name="icon coins" descr="/NAS/SJ/POSTECH/nlp/figs/icons/coins.png">    </p:cNvPr>
          <p:cNvPicPr>
            <a:picLocks noChangeAspect="1"/>
          </p:cNvPicPr>
          <p:nvPr/>
        </p:nvPicPr>
        <p:blipFill>
          <a:blip r:embed="rId57"/>
          <a:stretch>
            <a:fillRect/>
          </a:stretch>
        </p:blipFill>
        <p:spPr>
          <a:xfrm>
            <a:off x="4434840" y="4462272"/>
            <a:ext cx="384048" cy="384048"/>
          </a:xfrm>
          <a:prstGeom prst="rect">
            <a:avLst/>
          </a:prstGeom>
        </p:spPr>
      </p:pic>
      <p:sp>
        <p:nvSpPr>
          <p:cNvPr id="77" name="Text 18"/>
          <p:cNvSpPr txBox="1"/>
          <p:nvPr/>
        </p:nvSpPr>
        <p:spPr>
          <a:xfrm>
            <a:off x="493776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tokens cost money and time</a:t>
            </a:r>
            <a:endParaRPr lang="en-US" sz="1500" dirty="0"/>
          </a:p>
        </p:txBody>
      </p:sp>
      <p:sp>
        <p:nvSpPr>
          <p:cNvPr id="78" name="box "/>
          <p:cNvSpPr/>
          <p:nvPr/>
        </p:nvSpPr>
        <p:spPr>
          <a:xfrm>
            <a:off x="8046720" y="4407408"/>
            <a:ext cx="3566160" cy="502920"/>
          </a:xfrm>
          <a:prstGeom prst="roundRect">
            <a:avLst>
              <a:gd name="adj" fmla="val 10909"/>
            </a:avLst>
          </a:prstGeom>
          <a:solidFill>
            <a:srgbClr val="F2F2F2"/>
          </a:solidFill>
          <a:ln w="9525">
            <a:solidFill>
              <a:srgbClr val="BFBFBF"/>
            </a:solidFill>
            <a:prstDash val="solid"/>
          </a:ln>
        </p:spPr>
      </p:sp>
      <p:sp>
        <p:nvSpPr>
          <p:cNvPr id="79" name="Text 20"/>
          <p:cNvSpPr txBox="1"/>
          <p:nvPr/>
        </p:nvSpPr>
        <p:spPr>
          <a:xfrm>
            <a:off x="811987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80" name="icon gpu" descr="/NAS/SJ/POSTECH/nlp/figs/icons/gpu.png">    </p:cNvPr>
          <p:cNvPicPr>
            <a:picLocks noChangeAspect="1"/>
          </p:cNvPicPr>
          <p:nvPr/>
        </p:nvPicPr>
        <p:blipFill>
          <a:blip r:embed="rId58"/>
          <a:stretch>
            <a:fillRect/>
          </a:stretch>
        </p:blipFill>
        <p:spPr>
          <a:xfrm>
            <a:off x="8183880" y="4462272"/>
            <a:ext cx="384048" cy="384048"/>
          </a:xfrm>
          <a:prstGeom prst="rect">
            <a:avLst/>
          </a:prstGeom>
        </p:spPr>
      </p:pic>
      <p:sp>
        <p:nvSpPr>
          <p:cNvPr id="81" name="Text 21"/>
          <p:cNvSpPr txBox="1"/>
          <p:nvPr/>
        </p:nvSpPr>
        <p:spPr>
          <a:xfrm>
            <a:off x="868680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most teams have one 24 GB GPU</a:t>
            </a:r>
            <a:endParaRPr lang="en-US" sz="1500" dirty="0"/>
          </a:p>
        </p:txBody>
      </p:sp>
      <p:sp>
        <p:nvSpPr>
          <p:cNvPr id="82" name="our question"/>
          <p:cNvSpPr/>
          <p:nvPr/>
        </p:nvSpPr>
        <p:spPr>
          <a:xfrm>
            <a:off x="548640" y="5074920"/>
            <a:ext cx="11064240" cy="960120"/>
          </a:xfrm>
          <a:prstGeom prst="roundRect">
            <a:avLst>
              <a:gd name="adj" fmla="val 7619"/>
            </a:avLst>
          </a:prstGeom>
          <a:solidFill>
            <a:srgbClr val="DEEBF7"/>
          </a:solidFill>
          <a:ln w="9525">
            <a:solidFill>
              <a:srgbClr val="BDD7EE"/>
            </a:solidFill>
            <a:prstDash val="solid"/>
          </a:ln>
        </p:spPr>
      </p:sp>
      <p:sp>
        <p:nvSpPr>
          <p:cNvPr id="83" name="Text 23"/>
          <p:cNvSpPr txBox="1"/>
          <p:nvPr/>
        </p:nvSpPr>
        <p:spPr>
          <a:xfrm>
            <a:off x="777240" y="5120640"/>
            <a:ext cx="4023360" cy="868680"/>
          </a:xfrm>
          <a:prstGeom prst="rect">
            <a:avLst/>
          </a:prstGeom>
          <a:noFill/>
          <a:ln/>
        </p:spPr>
        <p:txBody>
          <a:bodyPr wrap="square" lIns="0" tIns="0" rIns="0" bIns="0" rtlCol="0" anchor="ctr"/>
          <a:lstStyle/>
          <a:p>
            <a:pPr indent="0" marL="0">
              <a:buNone/>
            </a:pPr>
            <a:r>
              <a:rPr lang="en-US" sz="2000" b="1" dirty="0">
                <a:solidFill>
                  <a:srgbClr val="4472C4"/>
                </a:solidFill>
              </a:rPr>
              <a:t>Where should extra effort go?</a:t>
            </a:r>
            <a:endParaRPr lang="en-US" sz="2000" dirty="0"/>
          </a:p>
        </p:txBody>
      </p:sp>
      <p:sp>
        <p:nvSpPr>
          <p:cNvPr id="84" name="option a missing fact"/>
          <p:cNvSpPr/>
          <p:nvPr/>
        </p:nvSpPr>
        <p:spPr>
          <a:xfrm>
            <a:off x="4846320" y="5303520"/>
            <a:ext cx="2103120" cy="502920"/>
          </a:xfrm>
          <a:prstGeom prst="roundRect">
            <a:avLst>
              <a:gd name="adj" fmla="val 36364"/>
            </a:avLst>
          </a:prstGeom>
          <a:solidFill>
            <a:srgbClr val="E2F0D9"/>
          </a:solidFill>
          <a:ln w="12700">
            <a:solidFill>
              <a:srgbClr val="38761D"/>
            </a:solidFill>
            <a:prstDash val="solid"/>
          </a:ln>
        </p:spPr>
      </p:sp>
      <p:pic>
        <p:nvPicPr>
          <p:cNvPr id="85" name="icon fact" descr="/NAS/SJ/POSTECH/nlp/figs/icons/fact.png">    </p:cNvPr>
          <p:cNvPicPr>
            <a:picLocks noChangeAspect="1"/>
          </p:cNvPicPr>
          <p:nvPr/>
        </p:nvPicPr>
        <p:blipFill>
          <a:blip r:embed="rId59"/>
          <a:stretch>
            <a:fillRect/>
          </a:stretch>
        </p:blipFill>
        <p:spPr>
          <a:xfrm>
            <a:off x="4974336" y="5385816"/>
            <a:ext cx="329184" cy="329184"/>
          </a:xfrm>
          <a:prstGeom prst="rect">
            <a:avLst/>
          </a:prstGeom>
        </p:spPr>
      </p:pic>
      <p:sp>
        <p:nvSpPr>
          <p:cNvPr id="86" name="Text 25"/>
          <p:cNvSpPr txBox="1"/>
          <p:nvPr/>
        </p:nvSpPr>
        <p:spPr>
          <a:xfrm>
            <a:off x="541324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missing fact</a:t>
            </a:r>
            <a:endParaRPr lang="en-US" sz="1600" dirty="0"/>
          </a:p>
        </p:txBody>
      </p:sp>
      <p:sp>
        <p:nvSpPr>
          <p:cNvPr id="87" name="option a free check"/>
          <p:cNvSpPr/>
          <p:nvPr/>
        </p:nvSpPr>
        <p:spPr>
          <a:xfrm>
            <a:off x="7086600" y="5303520"/>
            <a:ext cx="2103120" cy="502920"/>
          </a:xfrm>
          <a:prstGeom prst="roundRect">
            <a:avLst>
              <a:gd name="adj" fmla="val 36364"/>
            </a:avLst>
          </a:prstGeom>
          <a:solidFill>
            <a:srgbClr val="E2F0D9"/>
          </a:solidFill>
          <a:ln w="12700">
            <a:solidFill>
              <a:srgbClr val="38761D"/>
            </a:solidFill>
            <a:prstDash val="solid"/>
          </a:ln>
        </p:spPr>
      </p:sp>
      <p:pic>
        <p:nvPicPr>
          <p:cNvPr id="88" name="icon check" descr="/NAS/SJ/POSTECH/nlp/figs/icons/check.png">    </p:cNvPr>
          <p:cNvPicPr>
            <a:picLocks noChangeAspect="1"/>
          </p:cNvPicPr>
          <p:nvPr/>
        </p:nvPicPr>
        <p:blipFill>
          <a:blip r:embed="rId60"/>
          <a:stretch>
            <a:fillRect/>
          </a:stretch>
        </p:blipFill>
        <p:spPr>
          <a:xfrm>
            <a:off x="7214616" y="5385816"/>
            <a:ext cx="329184" cy="329184"/>
          </a:xfrm>
          <a:prstGeom prst="rect">
            <a:avLst/>
          </a:prstGeom>
        </p:spPr>
      </p:pic>
      <p:sp>
        <p:nvSpPr>
          <p:cNvPr id="89" name="Text 27"/>
          <p:cNvSpPr txBox="1"/>
          <p:nvPr/>
        </p:nvSpPr>
        <p:spPr>
          <a:xfrm>
            <a:off x="765352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free check</a:t>
            </a:r>
            <a:endParaRPr lang="en-US" sz="1600" dirty="0"/>
          </a:p>
        </p:txBody>
      </p:sp>
      <p:sp>
        <p:nvSpPr>
          <p:cNvPr id="90" name="option more thinking"/>
          <p:cNvSpPr/>
          <p:nvPr/>
        </p:nvSpPr>
        <p:spPr>
          <a:xfrm>
            <a:off x="9326880" y="5303520"/>
            <a:ext cx="2103120" cy="502920"/>
          </a:xfrm>
          <a:prstGeom prst="roundRect">
            <a:avLst>
              <a:gd name="adj" fmla="val 36364"/>
            </a:avLst>
          </a:prstGeom>
          <a:solidFill>
            <a:srgbClr val="FADBD8"/>
          </a:solidFill>
          <a:ln w="12700">
            <a:solidFill>
              <a:srgbClr val="C00000"/>
            </a:solidFill>
            <a:prstDash val="solid"/>
          </a:ln>
        </p:spPr>
      </p:sp>
      <p:pic>
        <p:nvPicPr>
          <p:cNvPr id="91" name="icon brain" descr="/NAS/SJ/POSTECH/nlp/figs/icons/brain.png">    </p:cNvPr>
          <p:cNvPicPr>
            <a:picLocks noChangeAspect="1"/>
          </p:cNvPicPr>
          <p:nvPr/>
        </p:nvPicPr>
        <p:blipFill>
          <a:blip r:embed="rId61"/>
          <a:stretch>
            <a:fillRect/>
          </a:stretch>
        </p:blipFill>
        <p:spPr>
          <a:xfrm>
            <a:off x="9454896" y="5385816"/>
            <a:ext cx="329184" cy="329184"/>
          </a:xfrm>
          <a:prstGeom prst="rect">
            <a:avLst/>
          </a:prstGeom>
        </p:spPr>
      </p:pic>
      <p:sp>
        <p:nvSpPr>
          <p:cNvPr id="92" name="Text 29"/>
          <p:cNvSpPr txBox="1"/>
          <p:nvPr/>
        </p:nvSpPr>
        <p:spPr>
          <a:xfrm>
            <a:off x="9893808" y="5303520"/>
            <a:ext cx="1508760" cy="502920"/>
          </a:xfrm>
          <a:prstGeom prst="rect">
            <a:avLst/>
          </a:prstGeom>
          <a:noFill/>
          <a:ln/>
        </p:spPr>
        <p:txBody>
          <a:bodyPr wrap="square" lIns="0" tIns="0" rIns="0" bIns="0" rtlCol="0" anchor="ctr"/>
          <a:lstStyle/>
          <a:p>
            <a:pPr indent="0" marL="0">
              <a:buNone/>
            </a:pPr>
            <a:r>
              <a:rPr lang="en-US" sz="1600" b="1" dirty="0">
                <a:solidFill>
                  <a:srgbClr val="C00000"/>
                </a:solidFill>
              </a:rPr>
              <a:t>more thinking</a:t>
            </a:r>
            <a:endParaRPr lang="en-US" sz="1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Findings at a glance: same or better, for fewer tokens</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long manual</a:t>
            </a:r>
            <a:endParaRPr lang="en-US" sz="1300" dirty="0"/>
          </a:p>
        </p:txBody>
      </p:sp>
      <p:sp>
        <p:nvSpPr>
          <p:cNvPr id="13" name="Add the missing fact long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exact usage</a:t>
            </a:r>
            <a:endParaRPr lang="en-US" sz="1300" dirty="0"/>
          </a:p>
        </p:txBody>
      </p:sp>
      <p:sp>
        <p:nvSpPr>
          <p:cNvPr id="16" name="Add the missing fact exact usage"/>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examples fail</a:t>
            </a:r>
            <a:endParaRPr lang="en-US" sz="1300" dirty="0"/>
          </a:p>
        </p:txBody>
      </p:sp>
      <p:sp>
        <p:nvSpPr>
          <p:cNvPr id="49" name="Think only on failure examples fail"/>
          <p:cNvSpPr/>
          <p:nvPr/>
        </p:nvSpPr>
        <p:spPr>
          <a:xfrm>
            <a:off x="2029968" y="5212080"/>
            <a:ext cx="742950" cy="237744"/>
          </a:xfrm>
          <a:prstGeom prst="rect">
            <a:avLst/>
          </a:prstGeom>
          <a:solidFill>
            <a:srgbClr val="5B9BD5"/>
          </a:solidFill>
          <a:ln w="6350">
            <a:solidFill>
              <a:srgbClr val="5B9BD5"/>
            </a:solidFill>
            <a:prstDash val="solid"/>
          </a:ln>
        </p:spPr>
      </p:sp>
      <p:sp>
        <p:nvSpPr>
          <p:cNvPr id="50" name="Text 48"/>
          <p:cNvSpPr txBox="1"/>
          <p:nvPr/>
        </p:nvSpPr>
        <p:spPr>
          <a:xfrm>
            <a:off x="2827782" y="5166360"/>
            <a:ext cx="1051560" cy="329184"/>
          </a:xfrm>
          <a:prstGeom prst="rect">
            <a:avLst/>
          </a:prstGeom>
          <a:noFill/>
          <a:ln/>
        </p:spPr>
        <p:txBody>
          <a:bodyPr wrap="square" lIns="0" tIns="0" rIns="0" bIns="0" rtlCol="0" anchor="ctr"/>
          <a:lstStyle/>
          <a:p>
            <a:pPr indent="0" marL="0">
              <a:buNone/>
            </a:pPr>
            <a:r>
              <a:rPr lang="en-US" sz="1300" b="1" dirty="0">
                <a:solidFill>
                  <a:srgbClr val="5B9BD5"/>
                </a:solidFill>
              </a:rPr>
              <a:t>65% · 20k</a:t>
            </a:r>
            <a:endParaRPr lang="en-US" sz="1300" dirty="0"/>
          </a:p>
        </p:txBody>
      </p:sp>
      <p:sp>
        <p:nvSpPr>
          <p:cNvPr id="51" name="Text 49"/>
          <p:cNvSpPr txBox="1"/>
          <p:nvPr/>
        </p:nvSpPr>
        <p:spPr>
          <a:xfrm>
            <a:off x="54864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 brute force</a:t>
            </a:r>
            <a:endParaRPr lang="en-US" sz="1300" dirty="0"/>
          </a:p>
        </p:txBody>
      </p:sp>
      <p:sp>
        <p:nvSpPr>
          <p:cNvPr id="52" name="Think only on failure + brute force"/>
          <p:cNvSpPr/>
          <p:nvPr/>
        </p:nvSpPr>
        <p:spPr>
          <a:xfrm>
            <a:off x="2029968" y="5596128"/>
            <a:ext cx="757809" cy="237744"/>
          </a:xfrm>
          <a:prstGeom prst="rect">
            <a:avLst/>
          </a:prstGeom>
          <a:solidFill>
            <a:srgbClr val="4472C4"/>
          </a:solidFill>
          <a:ln w="6350">
            <a:solidFill>
              <a:srgbClr val="4472C4"/>
            </a:solidFill>
            <a:prstDash val="solid"/>
          </a:ln>
        </p:spPr>
      </p:sp>
      <p:sp>
        <p:nvSpPr>
          <p:cNvPr id="53" name="Text 51"/>
          <p:cNvSpPr txBox="1"/>
          <p:nvPr/>
        </p:nvSpPr>
        <p:spPr>
          <a:xfrm>
            <a:off x="2842641"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4" name="Text 52"/>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5" name="Text 53"/>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6" name="Text 54"/>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7"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8" name="Text 56"/>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9" name="Text 57"/>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a:t>
            </a:r>
            <a:endParaRPr lang="en-US" sz="1300" dirty="0"/>
          </a:p>
        </p:txBody>
      </p:sp>
      <p:sp>
        <p:nvSpPr>
          <p:cNvPr id="60" name="Reuse a checked program own notes"/>
          <p:cNvSpPr/>
          <p:nvPr/>
        </p:nvSpPr>
        <p:spPr>
          <a:xfrm>
            <a:off x="5824728" y="5212080"/>
            <a:ext cx="411480" cy="237744"/>
          </a:xfrm>
          <a:prstGeom prst="rect">
            <a:avLst/>
          </a:prstGeom>
          <a:solidFill>
            <a:srgbClr val="A5A5A5"/>
          </a:solidFill>
          <a:ln w="6350">
            <a:solidFill>
              <a:srgbClr val="A5A5A5"/>
            </a:solidFill>
            <a:prstDash val="solid"/>
          </a:ln>
        </p:spPr>
      </p:sp>
      <p:sp>
        <p:nvSpPr>
          <p:cNvPr id="61" name="Text 59"/>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62" name="Text 60"/>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3"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4" name="Text 62"/>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5" name="Text 63"/>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6" name="Text 64"/>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208 problems × 3 models: % · tokens</a:t>
            </a:r>
            <a:endParaRPr lang="en-US" sz="1200" dirty="0"/>
          </a:p>
        </p:txBody>
      </p:sp>
      <p:sp>
        <p:nvSpPr>
          <p:cNvPr id="67" name="Text 65"/>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8"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9" name="Text 67"/>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70" name="Text 68"/>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71"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72" name="Text 70"/>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3" name="Text 71"/>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4"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5" name="Text 73"/>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the exact usage (11 lines)"/>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the exact usage (11 lines)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of 30 routing problems solved optimally:</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Exact usage</a:t>
            </a:r>
            <a:endParaRPr lang="en-US" sz="1600" dirty="0"/>
          </a:p>
        </p:txBody>
      </p:sp>
      <p:sp>
        <p:nvSpPr>
          <p:cNvPr id="27" name="bar Exact usage"/>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3: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4: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with a quick brute-force check added: same 66%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when a check fails</a:t>
            </a:r>
            <a:endParaRPr lang="en-US" sz="1600" dirty="0"/>
          </a:p>
        </p:txBody>
      </p:sp>
      <p:sp>
        <p:nvSpPr>
          <p:cNvPr id="26" name="bar Think hard only when a check fails"/>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5: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6: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7: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a recipe built from the findings</a:t>
            </a:r>
            <a:endParaRPr lang="en-US" sz="3600" dirty="0"/>
          </a:p>
        </p:txBody>
      </p:sp>
      <p:sp>
        <p:nvSpPr>
          <p:cNvPr id="3" name="step 1"/>
          <p:cNvSpPr/>
          <p:nvPr/>
        </p:nvSpPr>
        <p:spPr>
          <a:xfrm>
            <a:off x="548640" y="1554480"/>
            <a:ext cx="2651760" cy="1234440"/>
          </a:xfrm>
          <a:prstGeom prst="roundRect">
            <a:avLst>
              <a:gd name="adj" fmla="val 5926"/>
            </a:avLst>
          </a:prstGeom>
          <a:solidFill>
            <a:srgbClr val="DEEBF7"/>
          </a:solidFill>
          <a:ln w="9525">
            <a:solidFill>
              <a:srgbClr val="BDD7EE"/>
            </a:solidFill>
            <a:prstDash val="solid"/>
          </a:ln>
        </p:spPr>
      </p:sp>
      <p:sp>
        <p:nvSpPr>
          <p:cNvPr id="4" name="badge 1"/>
          <p:cNvSpPr/>
          <p:nvPr/>
        </p:nvSpPr>
        <p:spPr>
          <a:xfrm>
            <a:off x="685800" y="1828800"/>
            <a:ext cx="640080" cy="640080"/>
          </a:xfrm>
          <a:prstGeom prst="ellipse">
            <a:avLst/>
          </a:prstGeom>
          <a:solidFill>
            <a:srgbClr val="4472C4"/>
          </a:solidFill>
          <a:ln w="12700">
            <a:solidFill>
              <a:srgbClr val="4472C4"/>
            </a:solidFill>
            <a:prstDash val="solid"/>
          </a:ln>
        </p:spPr>
      </p:sp>
      <p:sp>
        <p:nvSpPr>
          <p:cNvPr id="5" name="Text 3"/>
          <p:cNvSpPr txBox="1"/>
          <p:nvPr/>
        </p:nvSpPr>
        <p:spPr>
          <a:xfrm>
            <a:off x="68580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6" name="Text 4"/>
          <p:cNvSpPr txBox="1"/>
          <p:nvPr/>
        </p:nvSpPr>
        <p:spPr>
          <a:xfrm>
            <a:off x="141732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Write a program</a:t>
            </a:r>
            <a:endParaRPr lang="en-US" sz="1800" dirty="0"/>
          </a:p>
        </p:txBody>
      </p:sp>
      <p:sp>
        <p:nvSpPr>
          <p:cNvPr id="7" name="Text 5"/>
          <p:cNvSpPr txBox="1"/>
          <p:nvPr/>
        </p:nvSpPr>
        <p:spPr>
          <a:xfrm>
            <a:off x="54864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right on 8 of 8 copies (slide 2)</a:t>
            </a:r>
            <a:endParaRPr lang="en-US" sz="1400" dirty="0"/>
          </a:p>
        </p:txBody>
      </p:sp>
      <p:sp>
        <p:nvSpPr>
          <p:cNvPr id="8" name="Shape 6"/>
          <p:cNvSpPr/>
          <p:nvPr/>
        </p:nvSpPr>
        <p:spPr>
          <a:xfrm>
            <a:off x="3200400" y="2167128"/>
            <a:ext cx="365760" cy="0"/>
          </a:xfrm>
          <a:prstGeom prst="line">
            <a:avLst/>
          </a:prstGeom>
          <a:noFill/>
          <a:ln w="25400">
            <a:solidFill>
              <a:srgbClr val="7F7F7F"/>
            </a:solidFill>
            <a:prstDash val="solid"/>
            <a:tailEnd type="triangle"/>
          </a:ln>
        </p:spPr>
      </p:sp>
      <p:sp>
        <p:nvSpPr>
          <p:cNvPr id="9" name="step 2"/>
          <p:cNvSpPr/>
          <p:nvPr/>
        </p:nvSpPr>
        <p:spPr>
          <a:xfrm>
            <a:off x="3566160" y="1554480"/>
            <a:ext cx="2743200" cy="1234440"/>
          </a:xfrm>
          <a:prstGeom prst="roundRect">
            <a:avLst>
              <a:gd name="adj" fmla="val 5926"/>
            </a:avLst>
          </a:prstGeom>
          <a:solidFill>
            <a:srgbClr val="DEEBF7"/>
          </a:solidFill>
          <a:ln w="9525">
            <a:solidFill>
              <a:srgbClr val="BDD7EE"/>
            </a:solidFill>
            <a:prstDash val="solid"/>
          </a:ln>
        </p:spPr>
      </p:sp>
      <p:sp>
        <p:nvSpPr>
          <p:cNvPr id="10" name="badge 2"/>
          <p:cNvSpPr/>
          <p:nvPr/>
        </p:nvSpPr>
        <p:spPr>
          <a:xfrm>
            <a:off x="3703320" y="1828800"/>
            <a:ext cx="640080" cy="640080"/>
          </a:xfrm>
          <a:prstGeom prst="ellipse">
            <a:avLst/>
          </a:prstGeom>
          <a:solidFill>
            <a:srgbClr val="4472C4"/>
          </a:solidFill>
          <a:ln w="12700">
            <a:solidFill>
              <a:srgbClr val="4472C4"/>
            </a:solidFill>
            <a:prstDash val="solid"/>
          </a:ln>
        </p:spPr>
      </p:sp>
      <p:sp>
        <p:nvSpPr>
          <p:cNvPr id="11" name="Text 9"/>
          <p:cNvSpPr txBox="1"/>
          <p:nvPr/>
        </p:nvSpPr>
        <p:spPr>
          <a:xfrm>
            <a:off x="370332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2" name="Text 10"/>
          <p:cNvSpPr txBox="1"/>
          <p:nvPr/>
        </p:nvSpPr>
        <p:spPr>
          <a:xfrm>
            <a:off x="4434840" y="1645920"/>
            <a:ext cx="1783080" cy="1051560"/>
          </a:xfrm>
          <a:prstGeom prst="rect">
            <a:avLst/>
          </a:prstGeom>
          <a:noFill/>
          <a:ln/>
        </p:spPr>
        <p:txBody>
          <a:bodyPr wrap="square" lIns="0" tIns="0" rIns="0" bIns="0" rtlCol="0" anchor="ctr"/>
          <a:lstStyle/>
          <a:p>
            <a:pPr indent="0" marL="0">
              <a:buNone/>
            </a:pPr>
            <a:r>
              <a:rPr lang="en-US" sz="1800" b="1" dirty="0">
                <a:solidFill>
                  <a:schemeClr val="tx1"/>
                </a:solidFill>
              </a:rPr>
              <a:t>Add the missing fact</a:t>
            </a:r>
            <a:endParaRPr lang="en-US" sz="1800" dirty="0"/>
          </a:p>
        </p:txBody>
      </p:sp>
      <p:sp>
        <p:nvSpPr>
          <p:cNvPr id="13" name="Text 11"/>
          <p:cNvSpPr txBox="1"/>
          <p:nvPr/>
        </p:nvSpPr>
        <p:spPr>
          <a:xfrm>
            <a:off x="3566160" y="2852928"/>
            <a:ext cx="2743200" cy="685800"/>
          </a:xfrm>
          <a:prstGeom prst="rect">
            <a:avLst/>
          </a:prstGeom>
          <a:noFill/>
          <a:ln/>
        </p:spPr>
        <p:txBody>
          <a:bodyPr wrap="square" lIns="0" tIns="0" rIns="0" bIns="0" rtlCol="0" anchor="t"/>
          <a:lstStyle/>
          <a:p>
            <a:pPr algn="ctr" indent="0" marL="0">
              <a:buNone/>
            </a:pPr>
            <a:r>
              <a:rPr lang="en-US" sz="1400" dirty="0">
                <a:solidFill>
                  <a:schemeClr val="tx2"/>
                </a:solidFill>
              </a:rPr>
              <a:t>23% → 77–90%; can be automatic (findings 1, 2, 6)</a:t>
            </a:r>
            <a:endParaRPr lang="en-US" sz="1400" dirty="0"/>
          </a:p>
        </p:txBody>
      </p:sp>
      <p:sp>
        <p:nvSpPr>
          <p:cNvPr id="14" name="Shape 12"/>
          <p:cNvSpPr/>
          <p:nvPr/>
        </p:nvSpPr>
        <p:spPr>
          <a:xfrm>
            <a:off x="6309360" y="2167128"/>
            <a:ext cx="365760" cy="0"/>
          </a:xfrm>
          <a:prstGeom prst="line">
            <a:avLst/>
          </a:prstGeom>
          <a:noFill/>
          <a:ln w="25400">
            <a:solidFill>
              <a:srgbClr val="7F7F7F"/>
            </a:solidFill>
            <a:prstDash val="solid"/>
            <a:tailEnd type="triangle"/>
          </a:ln>
        </p:spPr>
      </p:sp>
      <p:sp>
        <p:nvSpPr>
          <p:cNvPr id="15" name="step 3"/>
          <p:cNvSpPr/>
          <p:nvPr/>
        </p:nvSpPr>
        <p:spPr>
          <a:xfrm>
            <a:off x="6675120" y="1554480"/>
            <a:ext cx="2651760" cy="1234440"/>
          </a:xfrm>
          <a:prstGeom prst="roundRect">
            <a:avLst>
              <a:gd name="adj" fmla="val 5926"/>
            </a:avLst>
          </a:prstGeom>
          <a:solidFill>
            <a:srgbClr val="DEEBF7"/>
          </a:solidFill>
          <a:ln w="9525">
            <a:solidFill>
              <a:srgbClr val="BDD7EE"/>
            </a:solidFill>
            <a:prstDash val="solid"/>
          </a:ln>
        </p:spPr>
      </p:sp>
      <p:sp>
        <p:nvSpPr>
          <p:cNvPr id="16" name="badge 3"/>
          <p:cNvSpPr/>
          <p:nvPr/>
        </p:nvSpPr>
        <p:spPr>
          <a:xfrm>
            <a:off x="6812280" y="1828800"/>
            <a:ext cx="640080" cy="640080"/>
          </a:xfrm>
          <a:prstGeom prst="ellipse">
            <a:avLst/>
          </a:prstGeom>
          <a:solidFill>
            <a:srgbClr val="4472C4"/>
          </a:solidFill>
          <a:ln w="12700">
            <a:solidFill>
              <a:srgbClr val="4472C4"/>
            </a:solidFill>
            <a:prstDash val="solid"/>
          </a:ln>
        </p:spPr>
      </p:sp>
      <p:sp>
        <p:nvSpPr>
          <p:cNvPr id="17" name="Text 15"/>
          <p:cNvSpPr txBox="1"/>
          <p:nvPr/>
        </p:nvSpPr>
        <p:spPr>
          <a:xfrm>
            <a:off x="681228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8" name="Text 16"/>
          <p:cNvSpPr txBox="1"/>
          <p:nvPr/>
        </p:nvSpPr>
        <p:spPr>
          <a:xfrm>
            <a:off x="754380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Run a free check</a:t>
            </a:r>
            <a:endParaRPr lang="en-US" sz="1800" dirty="0"/>
          </a:p>
        </p:txBody>
      </p:sp>
      <p:sp>
        <p:nvSpPr>
          <p:cNvPr id="19" name="Text 17"/>
          <p:cNvSpPr txBox="1"/>
          <p:nvPr/>
        </p:nvSpPr>
        <p:spPr>
          <a:xfrm>
            <a:off x="667512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examples, or two versions agree (finding 3)</a:t>
            </a:r>
            <a:endParaRPr lang="en-US" sz="1400" dirty="0"/>
          </a:p>
        </p:txBody>
      </p:sp>
      <p:sp>
        <p:nvSpPr>
          <p:cNvPr id="20" name="Shape 18"/>
          <p:cNvSpPr/>
          <p:nvPr/>
        </p:nvSpPr>
        <p:spPr>
          <a:xfrm flipV="1">
            <a:off x="9326880" y="1691640"/>
            <a:ext cx="365760" cy="228600"/>
          </a:xfrm>
          <a:prstGeom prst="line">
            <a:avLst/>
          </a:prstGeom>
          <a:noFill/>
          <a:ln w="25400">
            <a:solidFill>
              <a:srgbClr val="7F7F7F"/>
            </a:solidFill>
            <a:prstDash val="solid"/>
            <a:tailEnd type="triangle"/>
          </a:ln>
        </p:spPr>
      </p:sp>
      <p:sp>
        <p:nvSpPr>
          <p:cNvPr id="21" name="Shape 19"/>
          <p:cNvSpPr/>
          <p:nvPr/>
        </p:nvSpPr>
        <p:spPr>
          <a:xfrm>
            <a:off x="9326880" y="2423160"/>
            <a:ext cx="365760" cy="274320"/>
          </a:xfrm>
          <a:prstGeom prst="line">
            <a:avLst/>
          </a:prstGeom>
          <a:noFill/>
          <a:ln w="25400">
            <a:solidFill>
              <a:srgbClr val="7F7F7F"/>
            </a:solidFill>
            <a:prstDash val="solid"/>
            <a:tailEnd type="triangle"/>
          </a:ln>
        </p:spPr>
      </p:sp>
      <p:sp>
        <p:nvSpPr>
          <p:cNvPr id="22" name="box pass → done"/>
          <p:cNvSpPr/>
          <p:nvPr/>
        </p:nvSpPr>
        <p:spPr>
          <a:xfrm>
            <a:off x="9692640" y="1417320"/>
            <a:ext cx="1920240" cy="548640"/>
          </a:xfrm>
          <a:prstGeom prst="roundRect">
            <a:avLst>
              <a:gd name="adj" fmla="val 10000"/>
            </a:avLst>
          </a:prstGeom>
          <a:solidFill>
            <a:srgbClr val="E2F0D9"/>
          </a:solidFill>
          <a:ln w="9525">
            <a:solidFill>
              <a:srgbClr val="BFBFBF"/>
            </a:solidFill>
            <a:prstDash val="solid"/>
          </a:ln>
        </p:spPr>
      </p:sp>
      <p:sp>
        <p:nvSpPr>
          <p:cNvPr id="23" name="Text 21"/>
          <p:cNvSpPr txBox="1"/>
          <p:nvPr/>
        </p:nvSpPr>
        <p:spPr>
          <a:xfrm>
            <a:off x="9765792" y="1417320"/>
            <a:ext cx="1773936" cy="548640"/>
          </a:xfrm>
          <a:prstGeom prst="rect">
            <a:avLst/>
          </a:prstGeom>
          <a:noFill/>
          <a:ln/>
        </p:spPr>
        <p:txBody>
          <a:bodyPr wrap="square" lIns="0" tIns="0" rIns="0" bIns="0" rtlCol="0" anchor="ctr"/>
          <a:lstStyle/>
          <a:p>
            <a:pPr algn="ctr" indent="0" marL="0">
              <a:buNone/>
            </a:pPr>
            <a:r>
              <a:rPr lang="en-US" sz="1600" b="1" dirty="0">
                <a:solidFill>
                  <a:schemeClr val="tx1"/>
                </a:solidFill>
              </a:rPr>
              <a:t>pass → done</a:t>
            </a:r>
            <a:endParaRPr lang="en-US" sz="1600" dirty="0"/>
          </a:p>
        </p:txBody>
      </p:sp>
      <p:sp>
        <p:nvSpPr>
          <p:cNvPr id="24" name="box fail → 4. think hard"/>
          <p:cNvSpPr/>
          <p:nvPr/>
        </p:nvSpPr>
        <p:spPr>
          <a:xfrm>
            <a:off x="9692640" y="2423160"/>
            <a:ext cx="1920240" cy="685800"/>
          </a:xfrm>
          <a:prstGeom prst="roundRect">
            <a:avLst>
              <a:gd name="adj" fmla="val 8000"/>
            </a:avLst>
          </a:prstGeom>
          <a:solidFill>
            <a:srgbClr val="FADBD8"/>
          </a:solidFill>
          <a:ln w="9525">
            <a:solidFill>
              <a:srgbClr val="BFBFBF"/>
            </a:solidFill>
            <a:prstDash val="solid"/>
          </a:ln>
        </p:spPr>
      </p:sp>
      <p:sp>
        <p:nvSpPr>
          <p:cNvPr id="25" name="Text 23"/>
          <p:cNvSpPr txBox="1"/>
          <p:nvPr/>
        </p:nvSpPr>
        <p:spPr>
          <a:xfrm>
            <a:off x="9765792" y="2423160"/>
            <a:ext cx="1773936" cy="685800"/>
          </a:xfrm>
          <a:prstGeom prst="rect">
            <a:avLst/>
          </a:prstGeom>
          <a:noFill/>
          <a:ln/>
        </p:spPr>
        <p:txBody>
          <a:bodyPr wrap="square" lIns="0" tIns="0" rIns="0" bIns="0" rtlCol="0" anchor="ctr"/>
          <a:lstStyle/>
          <a:p>
            <a:pPr algn="ctr" indent="0" marL="0">
              <a:buNone/>
            </a:pPr>
            <a:r>
              <a:rPr lang="en-US" sz="1600" b="1" dirty="0">
                <a:solidFill>
                  <a:schemeClr val="tx1"/>
                </a:solidFill>
              </a:rPr>
              <a:t>fail → 4. think harder</a:t>
            </a:r>
            <a:endParaRPr lang="en-US" sz="1600" dirty="0"/>
          </a:p>
        </p:txBody>
      </p:sp>
      <p:sp>
        <p:nvSpPr>
          <p:cNvPr id="26" name="Text 24"/>
          <p:cNvSpPr txBox="1"/>
          <p:nvPr/>
        </p:nvSpPr>
        <p:spPr>
          <a:xfrm>
            <a:off x="9509760" y="3154680"/>
            <a:ext cx="2286000" cy="548640"/>
          </a:xfrm>
          <a:prstGeom prst="rect">
            <a:avLst/>
          </a:prstGeom>
          <a:noFill/>
          <a:ln/>
        </p:spPr>
        <p:txBody>
          <a:bodyPr wrap="square" lIns="0" tIns="0" rIns="0" bIns="0" rtlCol="0" anchor="t"/>
          <a:lstStyle/>
          <a:p>
            <a:pPr algn="ctr" indent="0" marL="0">
              <a:buNone/>
            </a:pPr>
            <a:r>
              <a:rPr lang="en-US" sz="1400" dirty="0">
                <a:solidFill>
                  <a:schemeClr val="tx2"/>
                </a:solidFill>
              </a:rPr>
              <a:t>same 66%, 18% fewer tokens (finding 4)</a:t>
            </a:r>
            <a:endParaRPr lang="en-US" sz="1400" dirty="0"/>
          </a:p>
        </p:txBody>
      </p:sp>
      <p:sp>
        <p:nvSpPr>
          <p:cNvPr id="27" name="step 5"/>
          <p:cNvSpPr/>
          <p:nvPr/>
        </p:nvSpPr>
        <p:spPr>
          <a:xfrm>
            <a:off x="3566160" y="3931920"/>
            <a:ext cx="5760720" cy="1234440"/>
          </a:xfrm>
          <a:prstGeom prst="roundRect">
            <a:avLst>
              <a:gd name="adj" fmla="val 5926"/>
            </a:avLst>
          </a:prstGeom>
          <a:solidFill>
            <a:srgbClr val="DEEBF7"/>
          </a:solidFill>
          <a:ln w="9525">
            <a:solidFill>
              <a:srgbClr val="BDD7EE"/>
            </a:solidFill>
            <a:prstDash val="solid"/>
          </a:ln>
        </p:spPr>
      </p:sp>
      <p:sp>
        <p:nvSpPr>
          <p:cNvPr id="28" name="badge 5"/>
          <p:cNvSpPr/>
          <p:nvPr/>
        </p:nvSpPr>
        <p:spPr>
          <a:xfrm>
            <a:off x="3703320" y="4206240"/>
            <a:ext cx="640080" cy="640080"/>
          </a:xfrm>
          <a:prstGeom prst="ellipse">
            <a:avLst/>
          </a:prstGeom>
          <a:solidFill>
            <a:srgbClr val="4472C4"/>
          </a:solidFill>
          <a:ln w="12700">
            <a:solidFill>
              <a:srgbClr val="4472C4"/>
            </a:solidFill>
            <a:prstDash val="solid"/>
          </a:ln>
        </p:spPr>
      </p:sp>
      <p:sp>
        <p:nvSpPr>
          <p:cNvPr id="29" name="Text 27"/>
          <p:cNvSpPr txBox="1"/>
          <p:nvPr/>
        </p:nvSpPr>
        <p:spPr>
          <a:xfrm>
            <a:off x="3703320" y="42062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5</a:t>
            </a:r>
            <a:endParaRPr lang="en-US" sz="2400" dirty="0"/>
          </a:p>
        </p:txBody>
      </p:sp>
      <p:sp>
        <p:nvSpPr>
          <p:cNvPr id="30" name="Text 28"/>
          <p:cNvSpPr txBox="1"/>
          <p:nvPr/>
        </p:nvSpPr>
        <p:spPr>
          <a:xfrm>
            <a:off x="4434840" y="4023360"/>
            <a:ext cx="4800600" cy="1051560"/>
          </a:xfrm>
          <a:prstGeom prst="rect">
            <a:avLst/>
          </a:prstGeom>
          <a:noFill/>
          <a:ln/>
        </p:spPr>
        <p:txBody>
          <a:bodyPr wrap="square" lIns="0" tIns="0" rIns="0" bIns="0" rtlCol="0" anchor="ctr"/>
          <a:lstStyle/>
          <a:p>
            <a:pPr indent="0" marL="0">
              <a:buNone/>
            </a:pPr>
            <a:r>
              <a:rPr lang="en-US" sz="1800" b="1" dirty="0">
                <a:solidFill>
                  <a:schemeClr val="tx1"/>
                </a:solidFill>
              </a:rPr>
              <a:t>Same problem again? Reuse the checked program</a:t>
            </a:r>
            <a:endParaRPr lang="en-US" sz="1800" dirty="0"/>
          </a:p>
        </p:txBody>
      </p:sp>
      <p:sp>
        <p:nvSpPr>
          <p:cNvPr id="31" name="Text 29"/>
          <p:cNvSpPr txBox="1"/>
          <p:nvPr/>
        </p:nvSpPr>
        <p:spPr>
          <a:xfrm>
            <a:off x="3566160" y="5230368"/>
            <a:ext cx="5760720" cy="685800"/>
          </a:xfrm>
          <a:prstGeom prst="rect">
            <a:avLst/>
          </a:prstGeom>
          <a:noFill/>
          <a:ln/>
        </p:spPr>
        <p:txBody>
          <a:bodyPr wrap="square" lIns="0" tIns="0" rIns="0" bIns="0" rtlCol="0" anchor="t"/>
          <a:lstStyle/>
          <a:p>
            <a:pPr algn="ctr" indent="0" marL="0">
              <a:buNone/>
            </a:pPr>
            <a:r>
              <a:rPr lang="en-US" sz="1400" dirty="0">
                <a:solidFill>
                  <a:schemeClr val="tx2"/>
                </a:solidFill>
              </a:rPr>
              <a:t>valid plans 7% → 94% (finding 5)</a:t>
            </a:r>
            <a:endParaRPr lang="en-US" sz="14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Together: 87% solved at 2.5k tokens, vs 74% at 4.1k for "think longer on hard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on one real problem</a:t>
            </a:r>
            <a:endParaRPr lang="en-US" sz="3600" dirty="0"/>
          </a:p>
        </p:txBody>
      </p:sp>
      <p:sp>
        <p:nvSpPr>
          <p:cNvPr id="3" name="Text 1"/>
          <p:cNvSpPr txBox="1"/>
          <p:nvPr/>
        </p:nvSpPr>
        <p:spPr>
          <a:xfrm>
            <a:off x="548640" y="1170432"/>
            <a:ext cx="110642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products X, Y, Z cost $10, $15, $20 under three limits. Minimum cost? → 20000</a:t>
            </a:r>
            <a:endParaRPr lang="en-US" sz="1600" dirty="0"/>
          </a:p>
        </p:txBody>
      </p:sp>
      <p:sp>
        <p:nvSpPr>
          <p:cNvPr id="4" name="method badge 1"/>
          <p:cNvSpPr/>
          <p:nvPr/>
        </p:nvSpPr>
        <p:spPr>
          <a:xfrm>
            <a:off x="548640" y="1673352"/>
            <a:ext cx="457200" cy="457200"/>
          </a:xfrm>
          <a:prstGeom prst="ellipse">
            <a:avLst/>
          </a:prstGeom>
          <a:solidFill>
            <a:srgbClr val="4472C4"/>
          </a:solidFill>
          <a:ln w="12700">
            <a:solidFill>
              <a:srgbClr val="4472C4"/>
            </a:solidFill>
            <a:prstDash val="solid"/>
          </a:ln>
        </p:spPr>
      </p:sp>
      <p:sp>
        <p:nvSpPr>
          <p:cNvPr id="5" name="Text 3"/>
          <p:cNvSpPr txBox="1"/>
          <p:nvPr/>
        </p:nvSpPr>
        <p:spPr>
          <a:xfrm>
            <a:off x="54864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09728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Write a program</a:t>
            </a:r>
            <a:endParaRPr lang="en-US" sz="1700" dirty="0"/>
          </a:p>
        </p:txBody>
      </p:sp>
      <p:sp>
        <p:nvSpPr>
          <p:cNvPr id="7" name="method step Write a program"/>
          <p:cNvSpPr/>
          <p:nvPr/>
        </p:nvSpPr>
        <p:spPr>
          <a:xfrm>
            <a:off x="548640" y="2240280"/>
            <a:ext cx="2103120" cy="1188720"/>
          </a:xfrm>
          <a:prstGeom prst="roundRect">
            <a:avLst>
              <a:gd name="adj" fmla="val 6154"/>
            </a:avLst>
          </a:prstGeom>
          <a:solidFill>
            <a:srgbClr val="FADBD8"/>
          </a:solidFill>
          <a:ln w="12700">
            <a:solidFill>
              <a:srgbClr val="C00000"/>
            </a:solidFill>
            <a:prstDash val="solid"/>
          </a:ln>
        </p:spPr>
      </p:sp>
      <p:sp>
        <p:nvSpPr>
          <p:cNvPr id="8" name="Text 6"/>
          <p:cNvSpPr txBox="1"/>
          <p:nvPr/>
        </p:nvSpPr>
        <p:spPr>
          <a:xfrm>
            <a:off x="640080" y="2286000"/>
            <a:ext cx="1920240" cy="457200"/>
          </a:xfrm>
          <a:prstGeom prst="rect">
            <a:avLst/>
          </a:prstGeom>
          <a:noFill/>
          <a:ln/>
        </p:spPr>
        <p:txBody>
          <a:bodyPr wrap="square" lIns="0" tIns="0" rIns="0" bIns="0" rtlCol="0" anchor="ctr"/>
          <a:lstStyle/>
          <a:p>
            <a:pPr algn="ctr" indent="0" marL="0">
              <a:buNone/>
            </a:pPr>
            <a:r>
              <a:rPr lang="en-US" sz="1050" b="1" dirty="0">
                <a:solidFill>
                  <a:srgbClr val="C00000"/>
                </a:solidFill>
                <a:latin typeface="Courier New" pitchFamily="34" charset="0"/>
                <a:ea typeface="Courier New" pitchFamily="34" charset="-122"/>
                <a:cs typeface="Courier New" pitchFamily="34" charset="-120"/>
              </a:rPr>
              <a:t>Objective().Minimize()</a:t>
            </a:r>
            <a:endParaRPr lang="en-US" sz="1050" dirty="0"/>
          </a:p>
        </p:txBody>
      </p:sp>
      <p:sp>
        <p:nvSpPr>
          <p:cNvPr id="9" name="Text 7"/>
          <p:cNvSpPr txBox="1"/>
          <p:nvPr/>
        </p:nvSpPr>
        <p:spPr>
          <a:xfrm>
            <a:off x="64008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 crash: no such method</a:t>
            </a:r>
            <a:endParaRPr lang="en-US" sz="1300" dirty="0"/>
          </a:p>
        </p:txBody>
      </p:sp>
      <p:sp>
        <p:nvSpPr>
          <p:cNvPr id="10" name="Text 8"/>
          <p:cNvSpPr txBox="1"/>
          <p:nvPr/>
        </p:nvSpPr>
        <p:spPr>
          <a:xfrm>
            <a:off x="54864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without a fact</a:t>
            </a:r>
            <a:endParaRPr lang="en-US" sz="1400" dirty="0"/>
          </a:p>
        </p:txBody>
      </p:sp>
      <p:sp>
        <p:nvSpPr>
          <p:cNvPr id="11" name="Shape 9"/>
          <p:cNvSpPr/>
          <p:nvPr/>
        </p:nvSpPr>
        <p:spPr>
          <a:xfrm>
            <a:off x="2651760" y="2807208"/>
            <a:ext cx="137160" cy="0"/>
          </a:xfrm>
          <a:prstGeom prst="line">
            <a:avLst/>
          </a:prstGeom>
          <a:noFill/>
          <a:ln w="25400">
            <a:solidFill>
              <a:srgbClr val="7F7F7F"/>
            </a:solidFill>
            <a:prstDash val="solid"/>
            <a:tailEnd type="triangle"/>
          </a:ln>
        </p:spPr>
      </p:sp>
      <p:sp>
        <p:nvSpPr>
          <p:cNvPr id="12" name="method badge 2"/>
          <p:cNvSpPr/>
          <p:nvPr/>
        </p:nvSpPr>
        <p:spPr>
          <a:xfrm>
            <a:off x="2788920" y="1673352"/>
            <a:ext cx="457200" cy="457200"/>
          </a:xfrm>
          <a:prstGeom prst="ellipse">
            <a:avLst/>
          </a:prstGeom>
          <a:solidFill>
            <a:srgbClr val="4472C4"/>
          </a:solidFill>
          <a:ln w="12700">
            <a:solidFill>
              <a:srgbClr val="4472C4"/>
            </a:solidFill>
            <a:prstDash val="solid"/>
          </a:ln>
        </p:spPr>
      </p:sp>
      <p:sp>
        <p:nvSpPr>
          <p:cNvPr id="13" name="Text 11"/>
          <p:cNvSpPr txBox="1"/>
          <p:nvPr/>
        </p:nvSpPr>
        <p:spPr>
          <a:xfrm>
            <a:off x="278892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4" name="Text 12"/>
          <p:cNvSpPr txBox="1"/>
          <p:nvPr/>
        </p:nvSpPr>
        <p:spPr>
          <a:xfrm>
            <a:off x="333756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Add the fact</a:t>
            </a:r>
            <a:endParaRPr lang="en-US" sz="1700" dirty="0"/>
          </a:p>
        </p:txBody>
      </p:sp>
      <p:sp>
        <p:nvSpPr>
          <p:cNvPr id="15" name="method step Add the fact"/>
          <p:cNvSpPr/>
          <p:nvPr/>
        </p:nvSpPr>
        <p:spPr>
          <a:xfrm>
            <a:off x="2788920" y="2240280"/>
            <a:ext cx="2103120" cy="1188720"/>
          </a:xfrm>
          <a:prstGeom prst="roundRect">
            <a:avLst>
              <a:gd name="adj" fmla="val 6154"/>
            </a:avLst>
          </a:prstGeom>
          <a:solidFill>
            <a:srgbClr val="E2F0D9"/>
          </a:solidFill>
          <a:ln w="12700">
            <a:solidFill>
              <a:srgbClr val="38761D"/>
            </a:solidFill>
            <a:prstDash val="solid"/>
          </a:ln>
        </p:spPr>
      </p:sp>
      <p:sp>
        <p:nvSpPr>
          <p:cNvPr id="16" name="Text 14"/>
          <p:cNvSpPr txBox="1"/>
          <p:nvPr/>
        </p:nvSpPr>
        <p:spPr>
          <a:xfrm>
            <a:off x="2880360" y="2286000"/>
            <a:ext cx="1920240" cy="457200"/>
          </a:xfrm>
          <a:prstGeom prst="rect">
            <a:avLst/>
          </a:prstGeom>
          <a:noFill/>
          <a:ln/>
        </p:spPr>
        <p:txBody>
          <a:bodyPr wrap="square" lIns="0" tIns="0" rIns="0" bIns="0" rtlCol="0" anchor="ctr"/>
          <a:lstStyle/>
          <a:p>
            <a:pPr algn="ctr" indent="0" marL="0">
              <a:buNone/>
            </a:pPr>
            <a:r>
              <a:rPr lang="en-US" sz="1300" b="1" dirty="0">
                <a:solidFill>
                  <a:srgbClr val="38761D"/>
                </a:solidFill>
                <a:latin typeface="Courier New" pitchFamily="34" charset="0"/>
                <a:ea typeface="Courier New" pitchFamily="34" charset="-122"/>
                <a:cs typeface="Courier New" pitchFamily="34" charset="-120"/>
              </a:rPr>
              <a:t>solver.Minimize(v)</a:t>
            </a:r>
            <a:endParaRPr lang="en-US" sz="1300" dirty="0"/>
          </a:p>
        </p:txBody>
      </p:sp>
      <p:sp>
        <p:nvSpPr>
          <p:cNvPr id="17" name="Text 15"/>
          <p:cNvSpPr txBox="1"/>
          <p:nvPr/>
        </p:nvSpPr>
        <p:spPr>
          <a:xfrm>
            <a:off x="288036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the call, from its own checked program → prints 20000 ✓</a:t>
            </a:r>
            <a:endParaRPr lang="en-US" sz="1300" dirty="0"/>
          </a:p>
        </p:txBody>
      </p:sp>
      <p:sp>
        <p:nvSpPr>
          <p:cNvPr id="18" name="Text 16"/>
          <p:cNvSpPr txBox="1"/>
          <p:nvPr/>
        </p:nvSpPr>
        <p:spPr>
          <a:xfrm>
            <a:off x="278892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316 tokens</a:t>
            </a:r>
            <a:endParaRPr lang="en-US" sz="1400" dirty="0"/>
          </a:p>
        </p:txBody>
      </p:sp>
      <p:sp>
        <p:nvSpPr>
          <p:cNvPr id="19" name="Shape 17"/>
          <p:cNvSpPr/>
          <p:nvPr/>
        </p:nvSpPr>
        <p:spPr>
          <a:xfrm>
            <a:off x="4892040" y="2807208"/>
            <a:ext cx="137160" cy="0"/>
          </a:xfrm>
          <a:prstGeom prst="line">
            <a:avLst/>
          </a:prstGeom>
          <a:noFill/>
          <a:ln w="25400">
            <a:solidFill>
              <a:srgbClr val="7F7F7F"/>
            </a:solidFill>
            <a:prstDash val="solid"/>
            <a:tailEnd type="triangle"/>
          </a:ln>
        </p:spPr>
      </p:sp>
      <p:sp>
        <p:nvSpPr>
          <p:cNvPr id="20" name="method badge 3"/>
          <p:cNvSpPr/>
          <p:nvPr/>
        </p:nvSpPr>
        <p:spPr>
          <a:xfrm>
            <a:off x="5029200" y="1673352"/>
            <a:ext cx="457200" cy="457200"/>
          </a:xfrm>
          <a:prstGeom prst="ellipse">
            <a:avLst/>
          </a:prstGeom>
          <a:solidFill>
            <a:srgbClr val="4472C4"/>
          </a:solidFill>
          <a:ln w="12700">
            <a:solidFill>
              <a:srgbClr val="4472C4"/>
            </a:solidFill>
            <a:prstDash val="solid"/>
          </a:ln>
        </p:spPr>
      </p:sp>
      <p:sp>
        <p:nvSpPr>
          <p:cNvPr id="21" name="Text 19"/>
          <p:cNvSpPr txBox="1"/>
          <p:nvPr/>
        </p:nvSpPr>
        <p:spPr>
          <a:xfrm>
            <a:off x="502920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2" name="Text 20"/>
          <p:cNvSpPr txBox="1"/>
          <p:nvPr/>
        </p:nvSpPr>
        <p:spPr>
          <a:xfrm>
            <a:off x="557784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Free check</a:t>
            </a:r>
            <a:endParaRPr lang="en-US" sz="1700" dirty="0"/>
          </a:p>
        </p:txBody>
      </p:sp>
      <p:sp>
        <p:nvSpPr>
          <p:cNvPr id="23" name="method step Free check"/>
          <p:cNvSpPr/>
          <p:nvPr/>
        </p:nvSpPr>
        <p:spPr>
          <a:xfrm>
            <a:off x="5029200" y="2240280"/>
            <a:ext cx="2103120" cy="1188720"/>
          </a:xfrm>
          <a:prstGeom prst="roundRect">
            <a:avLst>
              <a:gd name="adj" fmla="val 6154"/>
            </a:avLst>
          </a:prstGeom>
          <a:solidFill>
            <a:srgbClr val="E2F0D9"/>
          </a:solidFill>
          <a:ln w="12700">
            <a:solidFill>
              <a:srgbClr val="38761D"/>
            </a:solidFill>
            <a:prstDash val="solid"/>
          </a:ln>
        </p:spPr>
      </p:sp>
      <p:sp>
        <p:nvSpPr>
          <p:cNvPr id="24" name="Text 22"/>
          <p:cNvSpPr txBox="1"/>
          <p:nvPr/>
        </p:nvSpPr>
        <p:spPr>
          <a:xfrm>
            <a:off x="5120640" y="2286000"/>
            <a:ext cx="1920240" cy="457200"/>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25" name="Text 23"/>
          <p:cNvSpPr txBox="1"/>
          <p:nvPr/>
        </p:nvSpPr>
        <p:spPr>
          <a:xfrm>
            <a:off x="512064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a 2nd version agrees ✓</a:t>
            </a:r>
            <a:endParaRPr lang="en-US" sz="1300" dirty="0"/>
          </a:p>
        </p:txBody>
      </p:sp>
      <p:sp>
        <p:nvSpPr>
          <p:cNvPr id="26" name="Text 24"/>
          <p:cNvSpPr txBox="1"/>
          <p:nvPr/>
        </p:nvSpPr>
        <p:spPr>
          <a:xfrm>
            <a:off x="502920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+312 tokens</a:t>
            </a:r>
            <a:endParaRPr lang="en-US" sz="1400" dirty="0"/>
          </a:p>
        </p:txBody>
      </p:sp>
      <p:sp>
        <p:nvSpPr>
          <p:cNvPr id="27" name="Shape 25"/>
          <p:cNvSpPr/>
          <p:nvPr/>
        </p:nvSpPr>
        <p:spPr>
          <a:xfrm>
            <a:off x="7132320" y="2807208"/>
            <a:ext cx="137160" cy="0"/>
          </a:xfrm>
          <a:prstGeom prst="line">
            <a:avLst/>
          </a:prstGeom>
          <a:noFill/>
          <a:ln w="25400">
            <a:solidFill>
              <a:srgbClr val="7F7F7F"/>
            </a:solidFill>
            <a:prstDash val="solid"/>
            <a:tailEnd type="triangle"/>
          </a:ln>
        </p:spPr>
      </p:sp>
      <p:sp>
        <p:nvSpPr>
          <p:cNvPr id="28" name="method badge 4"/>
          <p:cNvSpPr/>
          <p:nvPr/>
        </p:nvSpPr>
        <p:spPr>
          <a:xfrm>
            <a:off x="7269480" y="1673352"/>
            <a:ext cx="457200" cy="457200"/>
          </a:xfrm>
          <a:prstGeom prst="ellipse">
            <a:avLst/>
          </a:prstGeom>
          <a:solidFill>
            <a:srgbClr val="4472C4"/>
          </a:solidFill>
          <a:ln w="12700">
            <a:solidFill>
              <a:srgbClr val="4472C4"/>
            </a:solidFill>
            <a:prstDash val="solid"/>
          </a:ln>
        </p:spPr>
      </p:sp>
      <p:sp>
        <p:nvSpPr>
          <p:cNvPr id="29" name="Text 27"/>
          <p:cNvSpPr txBox="1"/>
          <p:nvPr/>
        </p:nvSpPr>
        <p:spPr>
          <a:xfrm>
            <a:off x="726948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30" name="Text 28"/>
          <p:cNvSpPr txBox="1"/>
          <p:nvPr/>
        </p:nvSpPr>
        <p:spPr>
          <a:xfrm>
            <a:off x="781812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Think harder?</a:t>
            </a:r>
            <a:endParaRPr lang="en-US" sz="1700" dirty="0"/>
          </a:p>
        </p:txBody>
      </p:sp>
      <p:sp>
        <p:nvSpPr>
          <p:cNvPr id="31" name="method step Think harder?"/>
          <p:cNvSpPr/>
          <p:nvPr/>
        </p:nvSpPr>
        <p:spPr>
          <a:xfrm>
            <a:off x="7269480" y="2240280"/>
            <a:ext cx="2103120" cy="1188720"/>
          </a:xfrm>
          <a:prstGeom prst="roundRect">
            <a:avLst>
              <a:gd name="adj" fmla="val 6154"/>
            </a:avLst>
          </a:prstGeom>
          <a:solidFill>
            <a:srgbClr val="F2F2F2"/>
          </a:solidFill>
          <a:ln w="12700">
            <a:solidFill>
              <a:srgbClr val="7F7F7F"/>
            </a:solidFill>
            <a:prstDash val="solid"/>
          </a:ln>
        </p:spPr>
      </p:sp>
      <p:sp>
        <p:nvSpPr>
          <p:cNvPr id="32" name="Text 30"/>
          <p:cNvSpPr txBox="1"/>
          <p:nvPr/>
        </p:nvSpPr>
        <p:spPr>
          <a:xfrm>
            <a:off x="7360920" y="2286000"/>
            <a:ext cx="1920240" cy="457200"/>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33" name="Text 31"/>
          <p:cNvSpPr txBox="1"/>
          <p:nvPr/>
        </p:nvSpPr>
        <p:spPr>
          <a:xfrm>
            <a:off x="736092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only if the versions differ or crash</a:t>
            </a:r>
            <a:endParaRPr lang="en-US" sz="1300" dirty="0"/>
          </a:p>
        </p:txBody>
      </p:sp>
      <p:sp>
        <p:nvSpPr>
          <p:cNvPr id="34" name="Text 32"/>
          <p:cNvSpPr txBox="1"/>
          <p:nvPr/>
        </p:nvSpPr>
        <p:spPr>
          <a:xfrm>
            <a:off x="726948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0 tokens</a:t>
            </a:r>
            <a:endParaRPr lang="en-US" sz="1400" dirty="0"/>
          </a:p>
        </p:txBody>
      </p:sp>
      <p:sp>
        <p:nvSpPr>
          <p:cNvPr id="35" name="Shape 33"/>
          <p:cNvSpPr/>
          <p:nvPr/>
        </p:nvSpPr>
        <p:spPr>
          <a:xfrm>
            <a:off x="9372600" y="2807208"/>
            <a:ext cx="137160" cy="0"/>
          </a:xfrm>
          <a:prstGeom prst="line">
            <a:avLst/>
          </a:prstGeom>
          <a:noFill/>
          <a:ln w="25400">
            <a:solidFill>
              <a:srgbClr val="7F7F7F"/>
            </a:solidFill>
            <a:prstDash val="solid"/>
            <a:tailEnd type="triangle"/>
          </a:ln>
        </p:spPr>
      </p:sp>
      <p:sp>
        <p:nvSpPr>
          <p:cNvPr id="36" name="method badge 5"/>
          <p:cNvSpPr/>
          <p:nvPr/>
        </p:nvSpPr>
        <p:spPr>
          <a:xfrm>
            <a:off x="9509760" y="1673352"/>
            <a:ext cx="457200" cy="457200"/>
          </a:xfrm>
          <a:prstGeom prst="ellipse">
            <a:avLst/>
          </a:prstGeom>
          <a:solidFill>
            <a:srgbClr val="4472C4"/>
          </a:solidFill>
          <a:ln w="12700">
            <a:solidFill>
              <a:srgbClr val="4472C4"/>
            </a:solidFill>
            <a:prstDash val="solid"/>
          </a:ln>
        </p:spPr>
      </p:sp>
      <p:sp>
        <p:nvSpPr>
          <p:cNvPr id="37" name="Text 35"/>
          <p:cNvSpPr txBox="1"/>
          <p:nvPr/>
        </p:nvSpPr>
        <p:spPr>
          <a:xfrm>
            <a:off x="950976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38" name="Text 36"/>
          <p:cNvSpPr txBox="1"/>
          <p:nvPr/>
        </p:nvSpPr>
        <p:spPr>
          <a:xfrm>
            <a:off x="1005840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Reuse</a:t>
            </a:r>
            <a:endParaRPr lang="en-US" sz="1700" dirty="0"/>
          </a:p>
        </p:txBody>
      </p:sp>
      <p:sp>
        <p:nvSpPr>
          <p:cNvPr id="39" name="method step Reuse"/>
          <p:cNvSpPr/>
          <p:nvPr/>
        </p:nvSpPr>
        <p:spPr>
          <a:xfrm>
            <a:off x="9509760" y="2240280"/>
            <a:ext cx="2103120" cy="1188720"/>
          </a:xfrm>
          <a:prstGeom prst="roundRect">
            <a:avLst>
              <a:gd name="adj" fmla="val 6154"/>
            </a:avLst>
          </a:prstGeom>
          <a:solidFill>
            <a:srgbClr val="DEEBF7"/>
          </a:solidFill>
          <a:ln w="12700">
            <a:solidFill>
              <a:srgbClr val="4472C4"/>
            </a:solidFill>
            <a:prstDash val="solid"/>
          </a:ln>
        </p:spPr>
      </p:sp>
      <p:sp>
        <p:nvSpPr>
          <p:cNvPr id="40" name="Text 38"/>
          <p:cNvSpPr txBox="1"/>
          <p:nvPr/>
        </p:nvSpPr>
        <p:spPr>
          <a:xfrm>
            <a:off x="9601200" y="2286000"/>
            <a:ext cx="1920240" cy="457200"/>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41" name="Text 39"/>
          <p:cNvSpPr txBox="1"/>
          <p:nvPr/>
        </p:nvSpPr>
        <p:spPr>
          <a:xfrm>
            <a:off x="960120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same kind of problem, new data</a:t>
            </a:r>
            <a:endParaRPr lang="en-US" sz="1300" dirty="0"/>
          </a:p>
        </p:txBody>
      </p:sp>
      <p:sp>
        <p:nvSpPr>
          <p:cNvPr id="42" name="Text 40"/>
          <p:cNvSpPr txBox="1"/>
          <p:nvPr/>
        </p:nvSpPr>
        <p:spPr>
          <a:xfrm>
            <a:off x="950976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 0 tokens</a:t>
            </a:r>
            <a:endParaRPr lang="en-US" sz="1400" dirty="0"/>
          </a:p>
        </p:txBody>
      </p:sp>
      <p:sp>
        <p:nvSpPr>
          <p:cNvPr id="43" name="Text 41"/>
          <p:cNvSpPr txBox="1"/>
          <p:nvPr/>
        </p:nvSpPr>
        <p:spPr>
          <a:xfrm>
            <a:off x="54864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This problem: tokens (both answers right)</a:t>
            </a:r>
            <a:endParaRPr lang="en-US" sz="1500" dirty="0"/>
          </a:p>
        </p:txBody>
      </p:sp>
      <p:sp>
        <p:nvSpPr>
          <p:cNvPr id="44" name="Text 42"/>
          <p:cNvSpPr txBox="1"/>
          <p:nvPr/>
        </p:nvSpPr>
        <p:spPr>
          <a:xfrm>
            <a:off x="54864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always think</a:t>
            </a:r>
            <a:endParaRPr lang="en-US" sz="1400" dirty="0"/>
          </a:p>
        </p:txBody>
      </p:sp>
      <p:sp>
        <p:nvSpPr>
          <p:cNvPr id="45" name="This problem: tokens (both answers right) always think"/>
          <p:cNvSpPr/>
          <p:nvPr/>
        </p:nvSpPr>
        <p:spPr>
          <a:xfrm>
            <a:off x="2743200" y="4389120"/>
            <a:ext cx="2194560" cy="237744"/>
          </a:xfrm>
          <a:prstGeom prst="rect">
            <a:avLst/>
          </a:prstGeom>
          <a:solidFill>
            <a:srgbClr val="7F7F7F"/>
          </a:solidFill>
          <a:ln w="6350">
            <a:solidFill>
              <a:srgbClr val="7F7F7F"/>
            </a:solidFill>
            <a:prstDash val="solid"/>
          </a:ln>
        </p:spPr>
      </p:sp>
      <p:sp>
        <p:nvSpPr>
          <p:cNvPr id="46" name="Text 44"/>
          <p:cNvSpPr txBox="1"/>
          <p:nvPr/>
        </p:nvSpPr>
        <p:spPr>
          <a:xfrm>
            <a:off x="5029200"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5.3k</a:t>
            </a:r>
            <a:endParaRPr lang="en-US" sz="1400" dirty="0"/>
          </a:p>
        </p:txBody>
      </p:sp>
      <p:sp>
        <p:nvSpPr>
          <p:cNvPr id="47" name="Text 45"/>
          <p:cNvSpPr txBox="1"/>
          <p:nvPr/>
        </p:nvSpPr>
        <p:spPr>
          <a:xfrm>
            <a:off x="54864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48" name="This problem: tokens (both answers right) our method"/>
          <p:cNvSpPr/>
          <p:nvPr/>
        </p:nvSpPr>
        <p:spPr>
          <a:xfrm>
            <a:off x="2743200" y="4828032"/>
            <a:ext cx="263347" cy="237744"/>
          </a:xfrm>
          <a:prstGeom prst="rect">
            <a:avLst/>
          </a:prstGeom>
          <a:solidFill>
            <a:srgbClr val="4472C4"/>
          </a:solidFill>
          <a:ln w="6350">
            <a:solidFill>
              <a:srgbClr val="4472C4"/>
            </a:solidFill>
            <a:prstDash val="solid"/>
          </a:ln>
        </p:spPr>
      </p:sp>
      <p:sp>
        <p:nvSpPr>
          <p:cNvPr id="49" name="Text 47"/>
          <p:cNvSpPr txBox="1"/>
          <p:nvPr/>
        </p:nvSpPr>
        <p:spPr>
          <a:xfrm>
            <a:off x="30979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0.6k</a:t>
            </a:r>
            <a:endParaRPr lang="en-US" sz="1400" dirty="0"/>
          </a:p>
        </p:txBody>
      </p:sp>
      <p:sp>
        <p:nvSpPr>
          <p:cNvPr id="50" name="Text 48"/>
          <p:cNvSpPr txBox="1"/>
          <p:nvPr/>
        </p:nvSpPr>
        <p:spPr>
          <a:xfrm>
            <a:off x="621792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208 problems × 3 models: % solved · tokens</a:t>
            </a:r>
            <a:endParaRPr lang="en-US" sz="1500" dirty="0"/>
          </a:p>
        </p:txBody>
      </p:sp>
      <p:sp>
        <p:nvSpPr>
          <p:cNvPr id="51" name="Text 49"/>
          <p:cNvSpPr txBox="1"/>
          <p:nvPr/>
        </p:nvSpPr>
        <p:spPr>
          <a:xfrm>
            <a:off x="621792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think on hardest</a:t>
            </a:r>
            <a:endParaRPr lang="en-US" sz="1400" dirty="0"/>
          </a:p>
        </p:txBody>
      </p:sp>
      <p:sp>
        <p:nvSpPr>
          <p:cNvPr id="52" name="208 problems × 3 models: % solved · tokens think on hardest"/>
          <p:cNvSpPr/>
          <p:nvPr/>
        </p:nvSpPr>
        <p:spPr>
          <a:xfrm>
            <a:off x="8412480" y="4389120"/>
            <a:ext cx="1623974" cy="237744"/>
          </a:xfrm>
          <a:prstGeom prst="rect">
            <a:avLst/>
          </a:prstGeom>
          <a:solidFill>
            <a:srgbClr val="7F7F7F"/>
          </a:solidFill>
          <a:ln w="6350">
            <a:solidFill>
              <a:srgbClr val="7F7F7F"/>
            </a:solidFill>
            <a:prstDash val="solid"/>
          </a:ln>
        </p:spPr>
      </p:sp>
      <p:sp>
        <p:nvSpPr>
          <p:cNvPr id="53" name="Text 51"/>
          <p:cNvSpPr txBox="1"/>
          <p:nvPr/>
        </p:nvSpPr>
        <p:spPr>
          <a:xfrm>
            <a:off x="10127894"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74% · 4.1k</a:t>
            </a:r>
            <a:endParaRPr lang="en-US" sz="1400" dirty="0"/>
          </a:p>
        </p:txBody>
      </p:sp>
      <p:sp>
        <p:nvSpPr>
          <p:cNvPr id="54" name="Text 52"/>
          <p:cNvSpPr txBox="1"/>
          <p:nvPr/>
        </p:nvSpPr>
        <p:spPr>
          <a:xfrm>
            <a:off x="621792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55" name="208 problems × 3 models: % solved · tokens our method"/>
          <p:cNvSpPr/>
          <p:nvPr/>
        </p:nvSpPr>
        <p:spPr>
          <a:xfrm>
            <a:off x="8412480" y="4828032"/>
            <a:ext cx="1909267" cy="237744"/>
          </a:xfrm>
          <a:prstGeom prst="rect">
            <a:avLst/>
          </a:prstGeom>
          <a:solidFill>
            <a:srgbClr val="4472C4"/>
          </a:solidFill>
          <a:ln w="6350">
            <a:solidFill>
              <a:srgbClr val="4472C4"/>
            </a:solidFill>
            <a:prstDash val="solid"/>
          </a:ln>
        </p:spPr>
      </p:sp>
      <p:sp>
        <p:nvSpPr>
          <p:cNvPr id="56" name="Text 54"/>
          <p:cNvSpPr txBox="1"/>
          <p:nvPr/>
        </p:nvSpPr>
        <p:spPr>
          <a:xfrm>
            <a:off x="104131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87% · 2.5k</a:t>
            </a:r>
            <a:endParaRPr lang="en-US" sz="1400" dirty="0"/>
          </a:p>
        </p:txBody>
      </p:sp>
      <p:sp>
        <p:nvSpPr>
          <p:cNvPr id="57" name="Text 55"/>
          <p:cNvSpPr txBox="1"/>
          <p:nvPr/>
        </p:nvSpPr>
        <p:spPr>
          <a:xfrm>
            <a:off x="548640" y="5349240"/>
            <a:ext cx="2834640" cy="411480"/>
          </a:xfrm>
          <a:prstGeom prst="rect">
            <a:avLst/>
          </a:prstGeom>
          <a:noFill/>
          <a:ln/>
        </p:spPr>
        <p:txBody>
          <a:bodyPr wrap="square" lIns="0" tIns="0" rIns="0" bIns="0" rtlCol="0" anchor="ctr"/>
          <a:lstStyle/>
          <a:p>
            <a:pPr indent="0" marL="0">
              <a:buNone/>
            </a:pPr>
            <a:r>
              <a:rPr lang="en-US" sz="1400" b="1" dirty="0">
                <a:solidFill>
                  <a:schemeClr val="tx1"/>
                </a:solidFill>
              </a:rPr>
              <a:t>Free check, no answers needed:</a:t>
            </a:r>
            <a:endParaRPr lang="en-US" sz="1400" dirty="0"/>
          </a:p>
        </p:txBody>
      </p:sp>
      <p:sp>
        <p:nvSpPr>
          <p:cNvPr id="58" name="box "/>
          <p:cNvSpPr/>
          <p:nvPr/>
        </p:nvSpPr>
        <p:spPr>
          <a:xfrm>
            <a:off x="3383280" y="5330952"/>
            <a:ext cx="1984248" cy="457200"/>
          </a:xfrm>
          <a:prstGeom prst="roundRect">
            <a:avLst>
              <a:gd name="adj" fmla="val 12000"/>
            </a:avLst>
          </a:prstGeom>
          <a:solidFill>
            <a:srgbClr val="F2F2F2"/>
          </a:solidFill>
          <a:ln w="9525">
            <a:solidFill>
              <a:srgbClr val="BFBFBF"/>
            </a:solidFill>
            <a:prstDash val="solid"/>
          </a:ln>
        </p:spPr>
      </p:sp>
      <p:sp>
        <p:nvSpPr>
          <p:cNvPr id="59" name="Text 57"/>
          <p:cNvSpPr txBox="1"/>
          <p:nvPr/>
        </p:nvSpPr>
        <p:spPr>
          <a:xfrm>
            <a:off x="3456432"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0" name="Text 58"/>
          <p:cNvSpPr txBox="1"/>
          <p:nvPr/>
        </p:nvSpPr>
        <p:spPr>
          <a:xfrm>
            <a:off x="3429000"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contest: </a:t>
            </a:r>
            <a:pPr algn="ctr" indent="0" marL="0">
              <a:buNone/>
            </a:pPr>
            <a:r>
              <a:rPr lang="en-US" sz="1300" dirty="0">
                <a:solidFill>
                  <a:schemeClr val="tx1"/>
                </a:solidFill>
              </a:rPr>
              <a:t>sample tests pass</a:t>
            </a:r>
            <a:endParaRPr lang="en-US" sz="1300" dirty="0"/>
          </a:p>
        </p:txBody>
      </p:sp>
      <p:sp>
        <p:nvSpPr>
          <p:cNvPr id="61" name="box "/>
          <p:cNvSpPr/>
          <p:nvPr/>
        </p:nvSpPr>
        <p:spPr>
          <a:xfrm>
            <a:off x="5458968" y="5330952"/>
            <a:ext cx="1984248" cy="457200"/>
          </a:xfrm>
          <a:prstGeom prst="roundRect">
            <a:avLst>
              <a:gd name="adj" fmla="val 12000"/>
            </a:avLst>
          </a:prstGeom>
          <a:solidFill>
            <a:srgbClr val="F2F2F2"/>
          </a:solidFill>
          <a:ln w="9525">
            <a:solidFill>
              <a:srgbClr val="BFBFBF"/>
            </a:solidFill>
            <a:prstDash val="solid"/>
          </a:ln>
        </p:spPr>
      </p:sp>
      <p:sp>
        <p:nvSpPr>
          <p:cNvPr id="62" name="Text 60"/>
          <p:cNvSpPr txBox="1"/>
          <p:nvPr/>
        </p:nvSpPr>
        <p:spPr>
          <a:xfrm>
            <a:off x="5532120"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3" name="Text 61"/>
          <p:cNvSpPr txBox="1"/>
          <p:nvPr/>
        </p:nvSpPr>
        <p:spPr>
          <a:xfrm>
            <a:off x="5504688"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geometry: </a:t>
            </a:r>
            <a:pPr algn="ctr" indent="0" marL="0">
              <a:buNone/>
            </a:pPr>
            <a:r>
              <a:rPr lang="en-US" sz="1300" dirty="0">
                <a:solidFill>
                  <a:schemeClr val="tx1"/>
                </a:solidFill>
              </a:rPr>
              <a:t>moved copies agree</a:t>
            </a:r>
            <a:endParaRPr lang="en-US" sz="1300" dirty="0"/>
          </a:p>
        </p:txBody>
      </p:sp>
      <p:sp>
        <p:nvSpPr>
          <p:cNvPr id="64" name="box "/>
          <p:cNvSpPr/>
          <p:nvPr/>
        </p:nvSpPr>
        <p:spPr>
          <a:xfrm>
            <a:off x="7534656" y="5330952"/>
            <a:ext cx="1984248" cy="457200"/>
          </a:xfrm>
          <a:prstGeom prst="roundRect">
            <a:avLst>
              <a:gd name="adj" fmla="val 12000"/>
            </a:avLst>
          </a:prstGeom>
          <a:solidFill>
            <a:srgbClr val="F2F2F2"/>
          </a:solidFill>
          <a:ln w="9525">
            <a:solidFill>
              <a:srgbClr val="BFBFBF"/>
            </a:solidFill>
            <a:prstDash val="solid"/>
          </a:ln>
        </p:spPr>
      </p:sp>
      <p:sp>
        <p:nvSpPr>
          <p:cNvPr id="65" name="Text 63"/>
          <p:cNvSpPr txBox="1"/>
          <p:nvPr/>
        </p:nvSpPr>
        <p:spPr>
          <a:xfrm>
            <a:off x="7607808"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6" name="Text 64"/>
          <p:cNvSpPr txBox="1"/>
          <p:nvPr/>
        </p:nvSpPr>
        <p:spPr>
          <a:xfrm>
            <a:off x="7580376"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routing: </a:t>
            </a:r>
            <a:pPr algn="ctr" indent="0" marL="0">
              <a:buNone/>
            </a:pPr>
            <a:r>
              <a:rPr lang="en-US" sz="1300" dirty="0">
                <a:solidFill>
                  <a:schemeClr val="tx1"/>
                </a:solidFill>
              </a:rPr>
              <a:t>plan obeys rules</a:t>
            </a:r>
            <a:endParaRPr lang="en-US" sz="1300" dirty="0"/>
          </a:p>
        </p:txBody>
      </p:sp>
      <p:sp>
        <p:nvSpPr>
          <p:cNvPr id="67" name="box "/>
          <p:cNvSpPr/>
          <p:nvPr/>
        </p:nvSpPr>
        <p:spPr>
          <a:xfrm>
            <a:off x="9610344" y="5330952"/>
            <a:ext cx="1984248" cy="457200"/>
          </a:xfrm>
          <a:prstGeom prst="roundRect">
            <a:avLst>
              <a:gd name="adj" fmla="val 12000"/>
            </a:avLst>
          </a:prstGeom>
          <a:solidFill>
            <a:srgbClr val="F2F2F2"/>
          </a:solidFill>
          <a:ln w="9525">
            <a:solidFill>
              <a:srgbClr val="BFBFBF"/>
            </a:solidFill>
            <a:prstDash val="solid"/>
          </a:ln>
        </p:spPr>
      </p:sp>
      <p:sp>
        <p:nvSpPr>
          <p:cNvPr id="68" name="Text 66"/>
          <p:cNvSpPr txBox="1"/>
          <p:nvPr/>
        </p:nvSpPr>
        <p:spPr>
          <a:xfrm>
            <a:off x="9683496"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9" name="Text 67"/>
          <p:cNvSpPr txBox="1"/>
          <p:nvPr/>
        </p:nvSpPr>
        <p:spPr>
          <a:xfrm>
            <a:off x="9656064"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word problems: </a:t>
            </a:r>
            <a:pPr algn="ctr" indent="0" marL="0">
              <a:buNone/>
            </a:pPr>
            <a:r>
              <a:rPr lang="en-US" sz="1300" dirty="0">
                <a:solidFill>
                  <a:schemeClr val="tx1"/>
                </a:solidFill>
              </a:rPr>
              <a:t>two versions agree</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All together: facts first, think only on failure</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Compared with published methods</a:t>
            </a:r>
            <a:endParaRPr lang="en-US" sz="3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this work sits in related research</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when a program helps; text vs program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facts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facts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Goedel-Prover-V2, DeepSeek-Prover-V2, AlphaGeometry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facts and checks do not carry over: use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Numbers reported in papers, next to ours</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miniF2F, 32 tries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Goedel-Prover-V2-8B 84.6%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the same model in our harness: 76.6%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822960">
                <a:tc>
                  <a:txBody>
                    <a:bodyPr/>
                    <a:lstStyle/>
                    <a:p>
                      <a:pPr indent="0" marL="0">
                        <a:buNone/>
                      </a:pPr>
                      <a:r>
                        <a:rPr lang="en-US" sz="1500" dirty="0">
                          <a:solidFill>
                            <a:schemeClr val="tx1"/>
                          </a:solidFill>
                        </a:rPr>
                        <a:t>IMO-AG-30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AlphaGeometry 25 of 30; its symbolic engine alone 14; average IMO gold medallist 25.9, average participant 15.2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engine alone 12 in our setup; with our models' points 13</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Setup and fairness</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 Goedel- and DeepSeek-Prover for proofs</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 MATH-500 + AIME; miniF2F</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math and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seeds)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facts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2026-10-20T01:16:37Z</dcterms:created>
  <dcterms:modified xsi:type="dcterms:W3CDTF">2026-10-20T01:16:37Z</dcterms:modified>
</cp:coreProperties>
</file>