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69e598e-58e5-9300-ff83-8676b2693ad5}">
          <p14:sldIdLst>
            <p14:sldId id="256"/>
            <p14:sldId id="257"/>
            <p14:sldId id="258"/>
            <p14:sldId id="259"/>
          </p14:sldIdLst>
        </p14:section>
        <p14:section name="Findings" id="{0b5e3d97-f918-138d-b18a-2de9eaca2c0c}">
          <p14:sldIdLst>
            <p14:sldId id="260"/>
            <p14:sldId id="261"/>
            <p14:sldId id="262"/>
            <p14:sldId id="263"/>
            <p14:sldId id="264"/>
            <p14:sldId id="265"/>
            <p14:sldId id="266"/>
            <p14:sldId id="267"/>
          </p14:sldIdLst>
        </p14:section>
        <p14:section name="Method" id="{240736f6-e7f0-8a8e-e20a-fdb234fa4537}">
          <p14:sldIdLst>
            <p14:sldId id="268"/>
            <p14:sldId id="269"/>
            <p14:sldId id="270"/>
            <p14:sldId id="271"/>
            <p14:sldId id="272"/>
            <p14:sldId id="273"/>
          </p14:sldIdLst>
        </p14:section>
        <p14:section name="Next" id="{bad511c6-e444-51f6-49f5-231c13e36115}">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10 points have?) Qwen3-14B's program prints 6 with only the task, and 0 when the prompt also offers 8 unneeded helper functions, with no error message; and 24-37% of gpt-oss-120b's wrong contest programs pass the examples printed in the problem. (2) Thinking longer is expensive: on 311 Codeforces geometry problems gpt-oss-120b solves 57% at medium effort (6.8k tokens per problem) and 66% at high effort (30k),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seven kinds of problems, counting accuracy and tokens, and combine what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80160"/>
            <a:ext cx="5440680" cy="2743200"/>
          </a:xfrm>
          <a:prstGeom prst="roundRect">
            <a:avLst>
              <a:gd name="adj" fmla="val 2667"/>
            </a:avLst>
          </a:prstGeom>
          <a:solidFill>
            <a:srgbClr val="FDF2F1"/>
          </a:solidFill>
          <a:ln w="12700">
            <a:solidFill>
              <a:srgbClr val="C00000"/>
            </a:solidFill>
            <a:prstDash val="solid"/>
          </a:ln>
        </p:spPr>
      </p:sp>
      <p:sp>
        <p:nvSpPr>
          <p:cNvPr id="4" name="Text 2"/>
          <p:cNvSpPr txBox="1"/>
          <p:nvPr/>
        </p:nvSpPr>
        <p:spPr>
          <a:xfrm>
            <a:off x="777240" y="137160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silently</a:t>
            </a:r>
            <a:endParaRPr lang="en-US" sz="2200" dirty="0"/>
          </a:p>
        </p:txBody>
      </p:sp>
      <p:sp>
        <p:nvSpPr>
          <p:cNvPr id="5" name="Text 3"/>
          <p:cNvSpPr txBox="1"/>
          <p:nvPr/>
        </p:nvSpPr>
        <p:spPr>
          <a:xfrm>
            <a:off x="777240" y="1828800"/>
            <a:ext cx="5029200" cy="274320"/>
          </a:xfrm>
          <a:prstGeom prst="rect">
            <a:avLst/>
          </a:prstGeom>
          <a:noFill/>
          <a:ln/>
        </p:spPr>
        <p:txBody>
          <a:bodyPr wrap="square" lIns="0" tIns="0" rIns="0" bIns="0" rtlCol="0" anchor="ctr"/>
          <a:lstStyle/>
          <a:p>
            <a:pPr indent="0" marL="0">
              <a:buNone/>
            </a:pPr>
            <a:r>
              <a:rPr lang="en-US" sz="1300" dirty="0">
                <a:solidFill>
                  <a:schemeClr val="tx2"/>
                </a:solidFill>
              </a:rPr>
              <a:t>Same task (corners around 10 points), two programs:</a:t>
            </a:r>
            <a:endParaRPr lang="en-US" sz="1300" dirty="0"/>
          </a:p>
        </p:txBody>
      </p:sp>
      <p:sp>
        <p:nvSpPr>
          <p:cNvPr id="6" name="answer 6 ✓"/>
          <p:cNvSpPr/>
          <p:nvPr/>
        </p:nvSpPr>
        <p:spPr>
          <a:xfrm>
            <a:off x="914400" y="2194560"/>
            <a:ext cx="1554480" cy="548640"/>
          </a:xfrm>
          <a:prstGeom prst="roundRect">
            <a:avLst>
              <a:gd name="adj" fmla="val 16667"/>
            </a:avLst>
          </a:prstGeom>
          <a:solidFill>
            <a:srgbClr val="E2F0D9"/>
          </a:solidFill>
          <a:ln w="12700">
            <a:solidFill>
              <a:srgbClr val="70AD47"/>
            </a:solidFill>
            <a:prstDash val="solid"/>
          </a:ln>
        </p:spPr>
      </p:sp>
      <p:sp>
        <p:nvSpPr>
          <p:cNvPr id="7" name="Text 5"/>
          <p:cNvSpPr txBox="1"/>
          <p:nvPr/>
        </p:nvSpPr>
        <p:spPr>
          <a:xfrm>
            <a:off x="914400" y="21945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8" name="Text 6"/>
          <p:cNvSpPr txBox="1"/>
          <p:nvPr/>
        </p:nvSpPr>
        <p:spPr>
          <a:xfrm>
            <a:off x="777240" y="2761488"/>
            <a:ext cx="1554480" cy="274320"/>
          </a:xfrm>
          <a:prstGeom prst="rect">
            <a:avLst/>
          </a:prstGeom>
          <a:noFill/>
          <a:ln/>
        </p:spPr>
        <p:txBody>
          <a:bodyPr wrap="square" lIns="0" tIns="0" rIns="0" bIns="0" rtlCol="0" anchor="ctr"/>
          <a:lstStyle/>
          <a:p>
            <a:pPr algn="ctr" indent="0" marL="0">
              <a:buNone/>
            </a:pPr>
            <a:r>
              <a:rPr lang="en-US" sz="1300" dirty="0">
                <a:solidFill>
                  <a:schemeClr val="tx2"/>
                </a:solidFill>
              </a:rPr>
              <a:t>program A</a:t>
            </a:r>
            <a:endParaRPr lang="en-US" sz="1300" dirty="0"/>
          </a:p>
        </p:txBody>
      </p:sp>
      <p:sp>
        <p:nvSpPr>
          <p:cNvPr id="9" name="answer 0 ✗"/>
          <p:cNvSpPr/>
          <p:nvPr/>
        </p:nvSpPr>
        <p:spPr>
          <a:xfrm>
            <a:off x="2834640" y="2194560"/>
            <a:ext cx="1554480" cy="548640"/>
          </a:xfrm>
          <a:prstGeom prst="roundRect">
            <a:avLst>
              <a:gd name="adj" fmla="val 16667"/>
            </a:avLst>
          </a:prstGeom>
          <a:solidFill>
            <a:srgbClr val="FADBD8"/>
          </a:solidFill>
          <a:ln w="12700">
            <a:solidFill>
              <a:srgbClr val="C00000"/>
            </a:solidFill>
            <a:prstDash val="solid"/>
          </a:ln>
        </p:spPr>
      </p:sp>
      <p:sp>
        <p:nvSpPr>
          <p:cNvPr id="10" name="Text 8"/>
          <p:cNvSpPr txBox="1"/>
          <p:nvPr/>
        </p:nvSpPr>
        <p:spPr>
          <a:xfrm>
            <a:off x="2834640" y="219456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1" name="Text 9"/>
          <p:cNvSpPr txBox="1"/>
          <p:nvPr/>
        </p:nvSpPr>
        <p:spPr>
          <a:xfrm>
            <a:off x="2423160" y="2761488"/>
            <a:ext cx="2286000" cy="274320"/>
          </a:xfrm>
          <a:prstGeom prst="rect">
            <a:avLst/>
          </a:prstGeom>
          <a:noFill/>
          <a:ln/>
        </p:spPr>
        <p:txBody>
          <a:bodyPr wrap="square" lIns="0" tIns="0" rIns="0" bIns="0" rtlCol="0" anchor="ctr"/>
          <a:lstStyle/>
          <a:p>
            <a:pPr algn="ctr" indent="0" marL="0">
              <a:buNone/>
            </a:pPr>
            <a:r>
              <a:rPr lang="en-US" sz="1300" dirty="0">
                <a:solidFill>
                  <a:schemeClr val="tx2"/>
                </a:solidFill>
              </a:rPr>
              <a:t>program B: no error, just wrong</a:t>
            </a:r>
            <a:endParaRPr lang="en-US" sz="1300" dirty="0"/>
          </a:p>
        </p:txBody>
      </p:sp>
      <p:sp>
        <p:nvSpPr>
          <p:cNvPr id="12" name="Text 10"/>
          <p:cNvSpPr txBox="1"/>
          <p:nvPr/>
        </p:nvSpPr>
        <p:spPr>
          <a:xfrm>
            <a:off x="777240" y="3108960"/>
            <a:ext cx="5029200" cy="777240"/>
          </a:xfrm>
          <a:prstGeom prst="rect">
            <a:avLst/>
          </a:prstGeom>
          <a:noFill/>
          <a:ln/>
        </p:spPr>
        <p:txBody>
          <a:bodyPr wrap="square" lIns="0" tIns="0" rIns="0" bIns="0" rtlCol="0" anchor="ctr"/>
          <a:lstStyle/>
          <a:p>
            <a:pPr indent="0" marL="0">
              <a:buNone/>
            </a:pPr>
            <a:r>
              <a:rPr lang="en-US" sz="2800" b="1" dirty="0">
                <a:solidFill>
                  <a:srgbClr val="C00000"/>
                </a:solidFill>
              </a:rPr>
              <a:t>24–37%</a:t>
            </a:r>
            <a:pPr indent="0" marL="0">
              <a:buNone/>
            </a:pPr>
            <a:r>
              <a:rPr lang="en-US" sz="1500" dirty="0">
                <a:solidFill>
                  <a:schemeClr val="tx1"/>
                </a:solidFill>
              </a:rPr>
              <a:t>  of wrong programs pass the problem's examples</a:t>
            </a:r>
            <a:endParaRPr lang="en-US" sz="1600" dirty="0"/>
          </a:p>
        </p:txBody>
      </p:sp>
      <p:sp>
        <p:nvSpPr>
          <p:cNvPr id="13" name="why 2. Thinking longer is expensive"/>
          <p:cNvSpPr/>
          <p:nvPr/>
        </p:nvSpPr>
        <p:spPr>
          <a:xfrm>
            <a:off x="6172200" y="1280160"/>
            <a:ext cx="5440680" cy="2743200"/>
          </a:xfrm>
          <a:prstGeom prst="roundRect">
            <a:avLst>
              <a:gd name="adj" fmla="val 2667"/>
            </a:avLst>
          </a:prstGeom>
          <a:solidFill>
            <a:srgbClr val="FDF0E6"/>
          </a:solidFill>
          <a:ln w="12700">
            <a:solidFill>
              <a:srgbClr val="ED7D31"/>
            </a:solidFill>
            <a:prstDash val="solid"/>
          </a:ln>
        </p:spPr>
      </p:sp>
      <p:sp>
        <p:nvSpPr>
          <p:cNvPr id="14" name="Text 12"/>
          <p:cNvSpPr txBox="1"/>
          <p:nvPr/>
        </p:nvSpPr>
        <p:spPr>
          <a:xfrm>
            <a:off x="6400800" y="137160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5" name="Text 13"/>
          <p:cNvSpPr txBox="1"/>
          <p:nvPr/>
        </p:nvSpPr>
        <p:spPr>
          <a:xfrm>
            <a:off x="6400800" y="1828800"/>
            <a:ext cx="5029200" cy="274320"/>
          </a:xfrm>
          <a:prstGeom prst="rect">
            <a:avLst/>
          </a:prstGeom>
          <a:noFill/>
          <a:ln/>
        </p:spPr>
        <p:txBody>
          <a:bodyPr wrap="square" lIns="0" tIns="0" rIns="0" bIns="0" rtlCol="0" anchor="ctr"/>
          <a:lstStyle/>
          <a:p>
            <a:pPr indent="0" marL="0">
              <a:buNone/>
            </a:pPr>
            <a:r>
              <a:rPr lang="en-US" sz="1300" dirty="0">
                <a:solidFill>
                  <a:schemeClr val="tx2"/>
                </a:solidFill>
              </a:rPr>
              <a:t>311 contest problems (gpt-oss-120b), by effort:</a:t>
            </a:r>
            <a:endParaRPr lang="en-US" sz="1300" dirty="0"/>
          </a:p>
        </p:txBody>
      </p:sp>
      <p:sp>
        <p:nvSpPr>
          <p:cNvPr id="16" name="Text 14"/>
          <p:cNvSpPr txBox="1"/>
          <p:nvPr/>
        </p:nvSpPr>
        <p:spPr>
          <a:xfrm>
            <a:off x="6355080" y="2194560"/>
            <a:ext cx="822960" cy="365760"/>
          </a:xfrm>
          <a:prstGeom prst="rect">
            <a:avLst/>
          </a:prstGeom>
          <a:noFill/>
          <a:ln/>
        </p:spPr>
        <p:txBody>
          <a:bodyPr wrap="square" lIns="0" tIns="0" rIns="0" bIns="0" rtlCol="0" anchor="ctr"/>
          <a:lstStyle/>
          <a:p>
            <a:pPr algn="r" indent="0" marL="0">
              <a:buNone/>
            </a:pPr>
            <a:r>
              <a:rPr lang="en-US" sz="1500" dirty="0">
                <a:solidFill>
                  <a:schemeClr val="tx1"/>
                </a:solidFill>
              </a:rPr>
              <a:t>medium</a:t>
            </a:r>
            <a:endParaRPr lang="en-US" sz="1500" dirty="0"/>
          </a:p>
        </p:txBody>
      </p:sp>
      <p:sp>
        <p:nvSpPr>
          <p:cNvPr id="17" name="effort medium"/>
          <p:cNvSpPr/>
          <p:nvPr/>
        </p:nvSpPr>
        <p:spPr>
          <a:xfrm>
            <a:off x="7269480" y="2258568"/>
            <a:ext cx="619726" cy="274320"/>
          </a:xfrm>
          <a:prstGeom prst="rect">
            <a:avLst/>
          </a:prstGeom>
          <a:solidFill>
            <a:srgbClr val="A5A5A5"/>
          </a:solidFill>
          <a:ln w="6350">
            <a:solidFill>
              <a:srgbClr val="A5A5A5"/>
            </a:solidFill>
            <a:prstDash val="solid"/>
          </a:ln>
        </p:spPr>
      </p:sp>
      <p:sp>
        <p:nvSpPr>
          <p:cNvPr id="18" name="Text 16"/>
          <p:cNvSpPr txBox="1"/>
          <p:nvPr/>
        </p:nvSpPr>
        <p:spPr>
          <a:xfrm>
            <a:off x="7980646" y="2194560"/>
            <a:ext cx="1737360" cy="365760"/>
          </a:xfrm>
          <a:prstGeom prst="rect">
            <a:avLst/>
          </a:prstGeom>
          <a:noFill/>
          <a:ln/>
        </p:spPr>
        <p:txBody>
          <a:bodyPr wrap="square" lIns="0" tIns="0" rIns="0" bIns="0" rtlCol="0" anchor="ctr"/>
          <a:lstStyle/>
          <a:p>
            <a:pPr indent="0" marL="0">
              <a:buNone/>
            </a:pPr>
            <a:r>
              <a:rPr lang="en-US" sz="1300" b="1" dirty="0">
                <a:solidFill>
                  <a:srgbClr val="595959"/>
                </a:solidFill>
              </a:rPr>
              <a:t>57% · 6.8k tokens</a:t>
            </a:r>
            <a:endParaRPr lang="en-US" sz="1300" dirty="0"/>
          </a:p>
        </p:txBody>
      </p:sp>
      <p:sp>
        <p:nvSpPr>
          <p:cNvPr id="19" name="Text 17"/>
          <p:cNvSpPr txBox="1"/>
          <p:nvPr/>
        </p:nvSpPr>
        <p:spPr>
          <a:xfrm>
            <a:off x="6355080" y="2651760"/>
            <a:ext cx="822960" cy="365760"/>
          </a:xfrm>
          <a:prstGeom prst="rect">
            <a:avLst/>
          </a:prstGeom>
          <a:noFill/>
          <a:ln/>
        </p:spPr>
        <p:txBody>
          <a:bodyPr wrap="square" lIns="0" tIns="0" rIns="0" bIns="0" rtlCol="0" anchor="ctr"/>
          <a:lstStyle/>
          <a:p>
            <a:pPr algn="r" indent="0" marL="0">
              <a:buNone/>
            </a:pPr>
            <a:r>
              <a:rPr lang="en-US" sz="1500" dirty="0">
                <a:solidFill>
                  <a:schemeClr val="tx1"/>
                </a:solidFill>
              </a:rPr>
              <a:t>high</a:t>
            </a:r>
            <a:endParaRPr lang="en-US" sz="1500" dirty="0"/>
          </a:p>
        </p:txBody>
      </p:sp>
      <p:sp>
        <p:nvSpPr>
          <p:cNvPr id="20" name="effort high"/>
          <p:cNvSpPr/>
          <p:nvPr/>
        </p:nvSpPr>
        <p:spPr>
          <a:xfrm>
            <a:off x="7269480" y="2715768"/>
            <a:ext cx="2743200" cy="274320"/>
          </a:xfrm>
          <a:prstGeom prst="rect">
            <a:avLst/>
          </a:prstGeom>
          <a:solidFill>
            <a:srgbClr val="ED7D31"/>
          </a:solidFill>
          <a:ln w="6350">
            <a:solidFill>
              <a:srgbClr val="ED7D31"/>
            </a:solidFill>
            <a:prstDash val="solid"/>
          </a:ln>
        </p:spPr>
      </p:sp>
      <p:sp>
        <p:nvSpPr>
          <p:cNvPr id="21" name="Text 19"/>
          <p:cNvSpPr txBox="1"/>
          <p:nvPr/>
        </p:nvSpPr>
        <p:spPr>
          <a:xfrm>
            <a:off x="10104120" y="2651760"/>
            <a:ext cx="1737360" cy="365760"/>
          </a:xfrm>
          <a:prstGeom prst="rect">
            <a:avLst/>
          </a:prstGeom>
          <a:noFill/>
          <a:ln/>
        </p:spPr>
        <p:txBody>
          <a:bodyPr wrap="square" lIns="0" tIns="0" rIns="0" bIns="0" rtlCol="0" anchor="ctr"/>
          <a:lstStyle/>
          <a:p>
            <a:pPr indent="0" marL="0">
              <a:buNone/>
            </a:pPr>
            <a:r>
              <a:rPr lang="en-US" sz="1300" b="1" dirty="0">
                <a:solidFill>
                  <a:srgbClr val="ED7D31"/>
                </a:solidFill>
              </a:rPr>
              <a:t>66% · 30k tokens</a:t>
            </a:r>
            <a:endParaRPr lang="en-US" sz="1300" dirty="0"/>
          </a:p>
        </p:txBody>
      </p:sp>
      <p:sp>
        <p:nvSpPr>
          <p:cNvPr id="22" name="Text 20"/>
          <p:cNvSpPr txBox="1"/>
          <p:nvPr/>
        </p:nvSpPr>
        <p:spPr>
          <a:xfrm>
            <a:off x="6400800" y="3108960"/>
            <a:ext cx="5029200" cy="777240"/>
          </a:xfrm>
          <a:prstGeom prst="rect">
            <a:avLst/>
          </a:prstGeom>
          <a:noFill/>
          <a:ln/>
        </p:spPr>
        <p:txBody>
          <a:bodyPr wrap="square" lIns="0" tIns="0" rIns="0" bIns="0" rtlCol="0" anchor="ctr"/>
          <a:lstStyle/>
          <a:p>
            <a:pPr indent="0" marL="0">
              <a:buNone/>
            </a:pPr>
            <a:r>
              <a:rPr lang="en-US" sz="2800" b="1" dirty="0">
                <a:solidFill>
                  <a:srgbClr val="ED7D31"/>
                </a:solidFill>
              </a:rPr>
              <a:t>4.4× tokens</a:t>
            </a:r>
            <a:pPr indent="0" marL="0">
              <a:buNone/>
            </a:pPr>
            <a:r>
              <a:rPr lang="en-US" sz="1500" dirty="0">
                <a:solidFill>
                  <a:schemeClr val="tx1"/>
                </a:solidFill>
              </a:rPr>
              <a:t>  for only 9 more points</a:t>
            </a:r>
            <a:endParaRPr lang="en-US" sz="1600" dirty="0"/>
          </a:p>
        </p:txBody>
      </p:sp>
      <p:sp>
        <p:nvSpPr>
          <p:cNvPr id="23" name="Text 21"/>
          <p:cNvSpPr txBox="1"/>
          <p:nvPr/>
        </p:nvSpPr>
        <p:spPr>
          <a:xfrm>
            <a:off x="548640" y="420624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Why it matters:</a:t>
            </a:r>
            <a:endParaRPr lang="en-US" sz="1600" dirty="0"/>
          </a:p>
        </p:txBody>
      </p:sp>
      <p:sp>
        <p:nvSpPr>
          <p:cNvPr id="24" name="box agents already write"/>
          <p:cNvSpPr/>
          <p:nvPr/>
        </p:nvSpPr>
        <p:spPr>
          <a:xfrm>
            <a:off x="2377440" y="4206240"/>
            <a:ext cx="2971800" cy="457200"/>
          </a:xfrm>
          <a:prstGeom prst="roundRect">
            <a:avLst>
              <a:gd name="adj" fmla="val 12000"/>
            </a:avLst>
          </a:prstGeom>
          <a:solidFill>
            <a:srgbClr val="F2F2F2"/>
          </a:solidFill>
          <a:ln w="9525">
            <a:solidFill>
              <a:srgbClr val="BFBFBF"/>
            </a:solidFill>
            <a:prstDash val="solid"/>
          </a:ln>
        </p:spPr>
      </p:sp>
      <p:sp>
        <p:nvSpPr>
          <p:cNvPr id="25" name="Text 23"/>
          <p:cNvSpPr txBox="1"/>
          <p:nvPr/>
        </p:nvSpPr>
        <p:spPr>
          <a:xfrm>
            <a:off x="2450592" y="4206240"/>
            <a:ext cx="2825496" cy="457200"/>
          </a:xfrm>
          <a:prstGeom prst="rect">
            <a:avLst/>
          </a:prstGeom>
          <a:noFill/>
          <a:ln/>
        </p:spPr>
        <p:txBody>
          <a:bodyPr wrap="square" lIns="0" tIns="0" rIns="0" bIns="0" rtlCol="0" anchor="ctr"/>
          <a:lstStyle/>
          <a:p>
            <a:pPr algn="ctr" indent="0" marL="0">
              <a:buNone/>
            </a:pPr>
            <a:r>
              <a:rPr lang="en-US" sz="1500" dirty="0">
                <a:solidFill>
                  <a:schemeClr val="tx1"/>
                </a:solidFill>
              </a:rPr>
              <a:t>agents already write this code</a:t>
            </a:r>
            <a:endParaRPr lang="en-US" sz="1500" dirty="0"/>
          </a:p>
        </p:txBody>
      </p:sp>
      <p:sp>
        <p:nvSpPr>
          <p:cNvPr id="26" name="box tokens = cost and wa"/>
          <p:cNvSpPr/>
          <p:nvPr/>
        </p:nvSpPr>
        <p:spPr>
          <a:xfrm>
            <a:off x="5486400" y="4206240"/>
            <a:ext cx="2971800" cy="457200"/>
          </a:xfrm>
          <a:prstGeom prst="roundRect">
            <a:avLst>
              <a:gd name="adj" fmla="val 12000"/>
            </a:avLst>
          </a:prstGeom>
          <a:solidFill>
            <a:srgbClr val="F2F2F2"/>
          </a:solidFill>
          <a:ln w="9525">
            <a:solidFill>
              <a:srgbClr val="BFBFBF"/>
            </a:solidFill>
            <a:prstDash val="solid"/>
          </a:ln>
        </p:spPr>
      </p:sp>
      <p:sp>
        <p:nvSpPr>
          <p:cNvPr id="27" name="Text 25"/>
          <p:cNvSpPr txBox="1"/>
          <p:nvPr/>
        </p:nvSpPr>
        <p:spPr>
          <a:xfrm>
            <a:off x="5559552" y="4206240"/>
            <a:ext cx="2825496" cy="457200"/>
          </a:xfrm>
          <a:prstGeom prst="rect">
            <a:avLst/>
          </a:prstGeom>
          <a:noFill/>
          <a:ln/>
        </p:spPr>
        <p:txBody>
          <a:bodyPr wrap="square" lIns="0" tIns="0" rIns="0" bIns="0" rtlCol="0" anchor="ctr"/>
          <a:lstStyle/>
          <a:p>
            <a:pPr algn="ctr" indent="0" marL="0">
              <a:buNone/>
            </a:pPr>
            <a:r>
              <a:rPr lang="en-US" sz="1500" dirty="0">
                <a:solidFill>
                  <a:schemeClr val="tx1"/>
                </a:solidFill>
              </a:rPr>
              <a:t>tokens = cost and waiting time</a:t>
            </a:r>
            <a:endParaRPr lang="en-US" sz="1500" dirty="0"/>
          </a:p>
        </p:txBody>
      </p:sp>
      <p:sp>
        <p:nvSpPr>
          <p:cNvPr id="28" name="box most teams have one "/>
          <p:cNvSpPr/>
          <p:nvPr/>
        </p:nvSpPr>
        <p:spPr>
          <a:xfrm>
            <a:off x="8595360" y="4206240"/>
            <a:ext cx="2971800" cy="457200"/>
          </a:xfrm>
          <a:prstGeom prst="roundRect">
            <a:avLst>
              <a:gd name="adj" fmla="val 12000"/>
            </a:avLst>
          </a:prstGeom>
          <a:solidFill>
            <a:srgbClr val="F2F2F2"/>
          </a:solidFill>
          <a:ln w="9525">
            <a:solidFill>
              <a:srgbClr val="BFBFBF"/>
            </a:solidFill>
            <a:prstDash val="solid"/>
          </a:ln>
        </p:spPr>
      </p:sp>
      <p:sp>
        <p:nvSpPr>
          <p:cNvPr id="29" name="Text 27"/>
          <p:cNvSpPr txBox="1"/>
          <p:nvPr/>
        </p:nvSpPr>
        <p:spPr>
          <a:xfrm>
            <a:off x="8668512" y="4206240"/>
            <a:ext cx="2825496" cy="457200"/>
          </a:xfrm>
          <a:prstGeom prst="rect">
            <a:avLst/>
          </a:prstGeom>
          <a:noFill/>
          <a:ln/>
        </p:spPr>
        <p:txBody>
          <a:bodyPr wrap="square" lIns="0" tIns="0" rIns="0" bIns="0" rtlCol="0" anchor="ctr"/>
          <a:lstStyle/>
          <a:p>
            <a:pPr algn="ctr" indent="0" marL="0">
              <a:buNone/>
            </a:pPr>
            <a:r>
              <a:rPr lang="en-US" sz="1500" dirty="0">
                <a:solidFill>
                  <a:schemeClr val="tx1"/>
                </a:solidFill>
              </a:rPr>
              <a:t>most teams have one 24 GB GPU</a:t>
            </a:r>
            <a:endParaRPr lang="en-US" sz="1500" dirty="0"/>
          </a:p>
        </p:txBody>
      </p:sp>
      <p:sp>
        <p:nvSpPr>
          <p:cNvPr id="30" name="our question"/>
          <p:cNvSpPr/>
          <p:nvPr/>
        </p:nvSpPr>
        <p:spPr>
          <a:xfrm>
            <a:off x="548640" y="4892040"/>
            <a:ext cx="11064240" cy="1097280"/>
          </a:xfrm>
          <a:prstGeom prst="roundRect">
            <a:avLst>
              <a:gd name="adj" fmla="val 6667"/>
            </a:avLst>
          </a:prstGeom>
          <a:solidFill>
            <a:srgbClr val="DEEBF7"/>
          </a:solidFill>
          <a:ln w="9525">
            <a:solidFill>
              <a:srgbClr val="BDD7EE"/>
            </a:solidFill>
            <a:prstDash val="solid"/>
          </a:ln>
        </p:spPr>
      </p:sp>
      <p:sp>
        <p:nvSpPr>
          <p:cNvPr id="31" name="Text 29"/>
          <p:cNvSpPr txBox="1"/>
          <p:nvPr/>
        </p:nvSpPr>
        <p:spPr>
          <a:xfrm>
            <a:off x="777240" y="4983480"/>
            <a:ext cx="3931920" cy="54864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32" name="option a missing fact"/>
          <p:cNvSpPr/>
          <p:nvPr/>
        </p:nvSpPr>
        <p:spPr>
          <a:xfrm>
            <a:off x="4846320" y="5029200"/>
            <a:ext cx="2057400" cy="457200"/>
          </a:xfrm>
          <a:prstGeom prst="roundRect">
            <a:avLst>
              <a:gd name="adj" fmla="val 40000"/>
            </a:avLst>
          </a:prstGeom>
          <a:solidFill>
            <a:srgbClr val="E2F0D9"/>
          </a:solidFill>
          <a:ln w="12700">
            <a:solidFill>
              <a:srgbClr val="38761D"/>
            </a:solidFill>
            <a:prstDash val="solid"/>
          </a:ln>
        </p:spPr>
      </p:sp>
      <p:sp>
        <p:nvSpPr>
          <p:cNvPr id="33" name="Text 31"/>
          <p:cNvSpPr txBox="1"/>
          <p:nvPr/>
        </p:nvSpPr>
        <p:spPr>
          <a:xfrm>
            <a:off x="4846320" y="5029200"/>
            <a:ext cx="2057400" cy="457200"/>
          </a:xfrm>
          <a:prstGeom prst="rect">
            <a:avLst/>
          </a:prstGeom>
          <a:noFill/>
          <a:ln/>
        </p:spPr>
        <p:txBody>
          <a:bodyPr wrap="square" lIns="0" tIns="0" rIns="0" bIns="0" rtlCol="0" anchor="ctr"/>
          <a:lstStyle/>
          <a:p>
            <a:pPr algn="ctr" indent="0" marL="0">
              <a:buNone/>
            </a:pPr>
            <a:r>
              <a:rPr lang="en-US" sz="1600" b="1" dirty="0">
                <a:solidFill>
                  <a:srgbClr val="38761D"/>
                </a:solidFill>
              </a:rPr>
              <a:t>a missing fact</a:t>
            </a:r>
            <a:endParaRPr lang="en-US" sz="1600" dirty="0"/>
          </a:p>
        </p:txBody>
      </p:sp>
      <p:sp>
        <p:nvSpPr>
          <p:cNvPr id="34" name="option a free check"/>
          <p:cNvSpPr/>
          <p:nvPr/>
        </p:nvSpPr>
        <p:spPr>
          <a:xfrm>
            <a:off x="7086600" y="5029200"/>
            <a:ext cx="2057400" cy="457200"/>
          </a:xfrm>
          <a:prstGeom prst="roundRect">
            <a:avLst>
              <a:gd name="adj" fmla="val 40000"/>
            </a:avLst>
          </a:prstGeom>
          <a:solidFill>
            <a:srgbClr val="E2F0D9"/>
          </a:solidFill>
          <a:ln w="12700">
            <a:solidFill>
              <a:srgbClr val="38761D"/>
            </a:solidFill>
            <a:prstDash val="solid"/>
          </a:ln>
        </p:spPr>
      </p:sp>
      <p:sp>
        <p:nvSpPr>
          <p:cNvPr id="35" name="Text 33"/>
          <p:cNvSpPr txBox="1"/>
          <p:nvPr/>
        </p:nvSpPr>
        <p:spPr>
          <a:xfrm>
            <a:off x="7086600" y="5029200"/>
            <a:ext cx="2057400" cy="457200"/>
          </a:xfrm>
          <a:prstGeom prst="rect">
            <a:avLst/>
          </a:prstGeom>
          <a:noFill/>
          <a:ln/>
        </p:spPr>
        <p:txBody>
          <a:bodyPr wrap="square" lIns="0" tIns="0" rIns="0" bIns="0" rtlCol="0" anchor="ctr"/>
          <a:lstStyle/>
          <a:p>
            <a:pPr algn="ctr" indent="0" marL="0">
              <a:buNone/>
            </a:pPr>
            <a:r>
              <a:rPr lang="en-US" sz="1600" b="1" dirty="0">
                <a:solidFill>
                  <a:srgbClr val="38761D"/>
                </a:solidFill>
              </a:rPr>
              <a:t>a free check</a:t>
            </a:r>
            <a:endParaRPr lang="en-US" sz="1600" dirty="0"/>
          </a:p>
        </p:txBody>
      </p:sp>
      <p:sp>
        <p:nvSpPr>
          <p:cNvPr id="36" name="option more thinking"/>
          <p:cNvSpPr/>
          <p:nvPr/>
        </p:nvSpPr>
        <p:spPr>
          <a:xfrm>
            <a:off x="9326880" y="5029200"/>
            <a:ext cx="2057400" cy="457200"/>
          </a:xfrm>
          <a:prstGeom prst="roundRect">
            <a:avLst>
              <a:gd name="adj" fmla="val 40000"/>
            </a:avLst>
          </a:prstGeom>
          <a:solidFill>
            <a:srgbClr val="FADBD8"/>
          </a:solidFill>
          <a:ln w="12700">
            <a:solidFill>
              <a:srgbClr val="C00000"/>
            </a:solidFill>
            <a:prstDash val="solid"/>
          </a:ln>
        </p:spPr>
      </p:sp>
      <p:sp>
        <p:nvSpPr>
          <p:cNvPr id="37" name="Text 35"/>
          <p:cNvSpPr txBox="1"/>
          <p:nvPr/>
        </p:nvSpPr>
        <p:spPr>
          <a:xfrm>
            <a:off x="9326880" y="5029200"/>
            <a:ext cx="2057400" cy="457200"/>
          </a:xfrm>
          <a:prstGeom prst="rect">
            <a:avLst/>
          </a:prstGeom>
          <a:noFill/>
          <a:ln/>
        </p:spPr>
        <p:txBody>
          <a:bodyPr wrap="square" lIns="0" tIns="0" rIns="0" bIns="0" rtlCol="0" anchor="ctr"/>
          <a:lstStyle/>
          <a:p>
            <a:pPr algn="ctr" indent="0" marL="0">
              <a:buNone/>
            </a:pPr>
            <a:r>
              <a:rPr lang="en-US" sz="1600" b="1" dirty="0">
                <a:solidFill>
                  <a:srgbClr val="C00000"/>
                </a:solidFill>
              </a:rPr>
              <a:t>more thinking</a:t>
            </a:r>
            <a:endParaRPr lang="en-US" sz="1600" dirty="0"/>
          </a:p>
        </p:txBody>
      </p:sp>
      <p:sp>
        <p:nvSpPr>
          <p:cNvPr id="38" name="Text 36"/>
          <p:cNvSpPr txBox="1"/>
          <p:nvPr/>
        </p:nvSpPr>
        <p:spPr>
          <a:xfrm>
            <a:off x="777240" y="5532120"/>
            <a:ext cx="10607040" cy="384048"/>
          </a:xfrm>
          <a:prstGeom prst="rect">
            <a:avLst/>
          </a:prstGeom>
          <a:noFill/>
          <a:ln/>
        </p:spPr>
        <p:txBody>
          <a:bodyPr wrap="square" lIns="0" tIns="0" rIns="0" bIns="0" rtlCol="0" anchor="ctr"/>
          <a:lstStyle/>
          <a:p>
            <a:pPr indent="0" marL="0">
              <a:buNone/>
            </a:pPr>
            <a:r>
              <a:rPr lang="en-US" sz="1400" dirty="0">
                <a:solidFill>
                  <a:schemeClr val="tx2"/>
                </a:solidFill>
              </a:rPr>
              <a:t>We test each on geometry, routing, scheduling, contest, word problems, math and proofs, counting accuracy and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2026-10-19T12:00:15Z</dcterms:created>
  <dcterms:modified xsi:type="dcterms:W3CDTF">2026-10-19T12:00:15Z</dcterms:modified>
</cp:coreProperties>
</file>