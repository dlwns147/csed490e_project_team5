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8e692120-ab03-75d1-2aaf-b34335fbae38}">
          <p14:sldIdLst>
            <p14:sldId id="256"/>
            <p14:sldId id="257"/>
            <p14:sldId id="258"/>
          </p14:sldIdLst>
        </p14:section>
        <p14:section name="Findings" id="{cd3fec84-dbda-37f3-64e4-ff43384eaf96}">
          <p14:sldIdLst>
            <p14:sldId id="259"/>
            <p14:sldId id="260"/>
            <p14:sldId id="261"/>
            <p14:sldId id="262"/>
            <p14:sldId id="263"/>
            <p14:sldId id="264"/>
            <p14:sldId id="265"/>
            <p14:sldId id="266"/>
          </p14:sldIdLst>
        </p14:section>
        <p14:section name="Method" id="{be9fbc08-b3f3-6690-8dee-c60a479cd1cf}">
          <p14:sldIdLst>
            <p14:sldId id="267"/>
            <p14:sldId id="268"/>
            <p14:sldId id="269"/>
            <p14:sldId id="270"/>
          </p14:sldIdLst>
        </p14:section>
        <p14:section name="Next" id="{96883ec0-791b-92cb-27a0-301be7bf39ef}">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program only</c:v>
                </c:pt>
              </c:strCache>
            </c:strRef>
          </c:tx>
          <c:spPr>
            <a:solidFill>
              <a:srgbClr val="A5A5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Sheet1!$B$2:$B$6</c:f>
              <c:numCache>
                <c:formatCode>General</c:formatCode>
                <c:ptCount val="5"/>
                <c:pt idx="0">
                  <c:v>0.1</c:v>
                </c:pt>
                <c:pt idx="1">
                  <c:v>14.7</c:v>
                </c:pt>
                <c:pt idx="2">
                  <c:v>34.3</c:v>
                </c:pt>
                <c:pt idx="3">
                  <c:v>58.1</c:v>
                </c:pt>
                <c:pt idx="4">
                  <c:v>65.4</c:v>
                </c:pt>
              </c:numCache>
            </c:numRef>
          </c:val>
        </c:ser>
        <c:ser>
          <c:idx val="1"/>
          <c:order val="1"/>
          <c:tx>
            <c:strRef>
              <c:f>Sheet1!$C$1</c:f>
              <c:strCache>
                <c:ptCount val="1"/>
                <c:pt idx="0">
                  <c:v>+ 6 lines of exact solver usage</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Sheet1!$C$2:$C$6</c:f>
              <c:numCache>
                <c:formatCode>General</c:formatCode>
                <c:ptCount val="5"/>
                <c:pt idx="0">
                  <c:v>44.5</c:v>
                </c:pt>
                <c:pt idx="1">
                  <c:v>46</c:v>
                </c:pt>
                <c:pt idx="2">
                  <c:v>51.7</c:v>
                </c:pt>
                <c:pt idx="3">
                  <c:v>66</c:v>
                </c:pt>
                <c:pt idx="4">
                  <c:v>66.2</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04040"/>
                </a:solidFill>
                <a:latin typeface="+mn-lt"/>
              </a:defRPr>
            </a:pPr>
            <a:r>
              <a:rPr sz="1300" b="0" i="0" u="none" strike="noStrike">
                <a:solidFill>
                  <a:srgbClr val="404040"/>
                </a:solidFill>
                <a:latin typeface="+mn-lt"/>
              </a:rPr>
              <a:t>MAMO, 863 problems never used before: % solved</a:t>
            </a:r>
          </a:p>
        </c:rich>
      </c:tx>
      <c:layout/>
      <c:overlay val="0"/>
    </c:title>
    <c:autoTitleDeleted val="0"/>
    <c:plotArea>
      <c:layout/>
      <c:barChart>
        <c:barDir val="col"/>
        <c:grouping val="clustered"/>
        <c:varyColors val="0"/>
        <c:ser>
          <c:idx val="0"/>
          <c:order val="0"/>
          <c:tx>
            <c:strRef>
              <c:f>Sheet1!$B$1</c:f>
              <c:strCache>
                <c:ptCount val="1"/>
                <c:pt idx="0">
                  <c:v>no fact</c:v>
                </c:pt>
              </c:strCache>
            </c:strRef>
          </c:tx>
          <c:spPr>
            <a:solidFill>
              <a:srgbClr val="A5A5A5"/>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Sheet1!$B$2:$B$4</c:f>
              <c:numCache>
                <c:formatCode>General</c:formatCode>
                <c:ptCount val="3"/>
                <c:pt idx="0">
                  <c:v>73.2</c:v>
                </c:pt>
                <c:pt idx="1">
                  <c:v>59.7</c:v>
                </c:pt>
                <c:pt idx="2">
                  <c:v>45.5</c:v>
                </c:pt>
              </c:numCache>
            </c:numRef>
          </c:val>
        </c:ser>
        <c:ser>
          <c:idx val="1"/>
          <c:order val="1"/>
          <c:tx>
            <c:strRef>
              <c:f>Sheet1!$C$1</c:f>
              <c:strCache>
                <c:ptCount val="1"/>
                <c:pt idx="0">
                  <c:v>hand-written</c:v>
                </c:pt>
              </c:strCache>
            </c:strRef>
          </c:tx>
          <c:spPr>
            <a:solidFill>
              <a:srgbClr val="7F7F7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Sheet1!$C$2:$C$4</c:f>
              <c:numCache>
                <c:formatCode>General</c:formatCode>
                <c:ptCount val="3"/>
                <c:pt idx="0">
                  <c:v>78.9</c:v>
                </c:pt>
                <c:pt idx="1">
                  <c:v>71.4</c:v>
                </c:pt>
                <c:pt idx="2">
                  <c:v>72</c:v>
                </c:pt>
              </c:numCache>
            </c:numRef>
          </c:val>
        </c:ser>
        <c:ser>
          <c:idx val="2"/>
          <c:order val="2"/>
          <c:tx>
            <c:strRef>
              <c:f>Sheet1!$D$1</c:f>
              <c:strCache>
                <c:ptCount val="1"/>
                <c:pt idx="0">
                  <c:v>automatic</c:v>
                </c:pt>
              </c:strCache>
            </c:strRef>
          </c:tx>
          <c:spPr>
            <a:solidFill>
              <a:srgbClr val="4472C4"/>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Sheet1!$D$2:$D$4</c:f>
              <c:numCache>
                <c:formatCode>General</c:formatCode>
                <c:ptCount val="3"/>
                <c:pt idx="0">
                  <c:v>78.8</c:v>
                </c:pt>
                <c:pt idx="1">
                  <c:v>71.7</c:v>
                </c:pt>
                <c:pt idx="2">
                  <c:v>71</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Computational math: geometry, optimization, contest problems, word problems whose answer must be computed exactly. We ask how to get them right with the fewest tokens and the smallest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Qwen3-8B, real outputs. Asked to answer directly, it gives a different area for each copy of the same polygon (only the original is right). Asked for a program, it writes the shoelace formula and the computer gets all copies right. Programs still fail silently, and thinking longer is expensive: on 311 contest problems gpt-oss-120b goes from 57% to 66% for 4.4 times the tokens. Goal: effective (exactly right) and efficient (fewest tokens, smallest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definitions for the rest of the talk. Every result is reported as accuracy and tokens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panel per result. Add the fact: routing 23% to 77-90% (thinking longer 3%, whole manual 7%). Small models gain most: Qwen3-1.7B 0% to 45%, Qwen3-32B 65% to 66% (word problems). Compare two versions: 99% at 4.3k tokens vs always thinking 98% at 5.9k; with 8 extra tools 59%. Think only on a failed check (gpt-oss-120b, contest): 66.3% at 24.7k vs 66.2% at 30.1k. Reuse: 94% of 48 routing days vs 7% with a new program per day; Dynamic Cheatsheet (DC, the model's own notes) 31-40%. All together: fact first then think on failure 87% at 2.5k vs 74% at 4.1k for thinking on the hardest-looking problems (Snell-style) and 83% for choosing the fix by failure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writes the program (the right side shows the line that matters). With a long reference sheet it guesses a plausible function name that does not exist and crashes; with five lines showing the exact call it writes the right one. Thinking longer cannot supply a fact it does not have (3 of 100). On the 56 standard Solomon routing problems, three such facts together take gpt-oss-120b to a valid plan on every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study. Without the snippet the 1.7B model invents OR-Tools attributes and almost never runs (0.1%); with six lines of exact usage it solves 44.5%. The gain shrinks as the model grows (+44, +31, +17, +8, +1 points). With the recipe (fact first, think only when the check fails), models that fit one 24 GB GPU match or beat Qwen3-32B: gpt-oss-20b 73.0% at 0.7k tokens vs Qwen3-32B with the fact and always thinking 72.0% at 5.5k; on the optimization suite Qwen3-14B (4-bit) 87-92% vs Qwen3-32B 79-85%. Below 14B the optimization suite stays at 47% or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(Qwen3-14B, real output): the only difference between the two prompts is the toolbox, eight correct helper functions that the task does not need. We run the two finished programs ourselves. Program A prints 6, the right answer; program B builds its method on polar_sort and prints 0. The bars (Qwen3-32B, 108 generated geometry problems, mean of 3 runs; tokens = output tokens per problem, both cheap programs counted for the last row): with the helpers 59%, task only 77%, always thinking 98% at 5.9k tokens, and writing both cheap programs and thinking only when their answers differ 99% at 4.3k (27% fewer tokens; the pair differs on 37-53% of problems). It does not help when both programs share the mistake (gpt-oss-120b on contest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gpt-oss-120b runs on Codeforces geometry problems. The examples are a free check: if the quick (medium-effort) program gets them right we submit it; if not, we pay for high effort. Examples can miss bugs (Find Color passed all 3 examples and failed hidden test 11), so the full policy also runs a quick brute-force comparison on small inputs. Result: 66.3% at 24.7k tokens per problem vs 66.2% at 30.1k for always high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the 56 Solomon routing problems: each problem is like one day's orders. A: a new program per day is valid on 6 and 1 of 48 days in two runs (7%; drawn as 3), about 1.8k tokens each. B: draw 16 programs once, keep the one that gives valid plans on 8 practice days, reuse it: valid on 45 of 48 days (94%), 28k tokens in total. Reused programs also work on 200- and 400-customer problems; for a new rule (job-shop with release dates) editing the working program beats writing a new one (10% to 68-100%).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outputs, Qwen3-8B on MAMO easy-189 (gold 20000). Without a fact it writes solver.Objective().Minimize() and crashes (AttributeError). The fact is chosen automatically: its own shortest program from NL4OPT (a vans-and-trucks problem) that passed the label-free check (it runs and prints a value); no answers, no human. With it, both programs write solver.Minimize(10*x + 15*y + 20*z) and print 20000 (316 + 312 tokens), they agree, so no thinking is needed (thinking alone: 5,323 tokens). Chart: on the held-out MAMO the automatic fact matches the hand-written one (gpt-oss-20b within 1.2 points on 3 seeds). It stays within a problem family: a program of another problem type is 14-21 points below the hand-written fact on the optimization suite, and an introspected list of names hurts (Qwen3-32B 66.2 to 56.1%).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outputs. miniF2F mathd_numbertheory_34 (9^-1 mod 100 = 89). Qwen3-32B's 8 attempts all fail; they cite lemmas that do not exist, e.g. Nat.ModEq_iff_modEq. Goedel-Prover-V2-8B proves it by checking every x below 100 (interval_cases, then norm_num and omega). Specialized provers rarely invent names (6-7% of failed attempts vs 22-40%). For general models a verified proof of the most similar statement, thinking, or an inequality toolkit does not help; even for provers, revising from Lean's errors proves half as many as a fresh attempt (Goedel 11 vs 22 of 107). Geometry: AlphaGeometry's DD+AR engine alone proves 12 of IMO-AG-30 and 187 of JGEX-AG-231; LLM auxiliary points add 13 JGEX problems and only IMO 2014 P4 (d = midpoint of b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a measured result, shown on the finding slides with an example. Step 1: the polygon. Step 2: delivery routing with OR-Tools (Qwen3-32B). Step 3: free checks (the problem's examples; two versions that should agree). Step 4: contest geometry with gpt-oss-120b. Step 5: reuse on the Solomon routing benchmark. Together (3 models, 624 geometry and optimization problems, 3 seeds): fact first and thinking only on a failed check solves 87% at 2.5k tokens per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run (Qwen3-8B, MAMO easy-189). Step 0 happens once per kind of problem: the model's own shortest program for another benchmark problem that passed the label-free check becomes the fact. Steps 1-2: with it the program calls solver.Minimize(10*x + 15*y + 20*z) and prints 20000 (316 tokens); without it, it calls Objective().Minimize() and crashes. Step 3: a second program (312 tokens) also prints 20000, so they agree. Step 4: thinking is used only when the two disagree or a program crashes; here it is skipped (thinking alone took 5,323 tokens). Step 5: if the same kind of problem comes back with new data, the checked program is reused. Table: what the free check is in each domain; none needs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panel (MODEL, 63 model x task x seed cells; 0.5 points per 1k tokens): fact first, think on failure is the best fixed default (1.4 points from each cell's best policy; always thinking 8.4); choosing among 4 policies on 30 labelled problems of the new task cuts it to 0.6 (MAMO: 0.8-1.4). U1 / U1r / U2 (pre-registered). Qwen3-8B, Qwen3-32B and Qwen3.6 on the generated geometry and optimization suites, 624 problems, cure seed 1 shown; the order is the same on seeds 2 and 3. Thinking on the hardest-looking problems (difficulty-based allocation, as in compute-optimal scaling work) is even below thinking whenever the check fails. Giving the fact first and thinking only when the check fails is the most accurate and uses fewer tokens than any thinking policy; with automatically retrieved facts (BM25) it still reaches 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baselines were run by us on our benchmarks. Models: U1 policies over Qwen3-8B / Qwen3-32B / Qwen3.6 (624 problems); contest geometry gpt-oss-120b (311); selection Qwen3-8B (300 geometry instances, 3 candidates); documentation Qwen3-32B on CVRP; tools Qwen3-32B on 5 geometry tasks; daily routing gpt-oss-120b on 48 held-out Solomon instances. Tokens are output tokens per problem. More rows (MBR-exec, majority vote, DeepConf, Self-Debugging, Mixture-of-Thought cascade, BM25 retrieval) are in PROPOSAL.md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2026-10-19. Done since the last version: contest geometry and competition math on 24 GB GPUs, Qwen3.6 with the model card settings (headline unchanged), automatic facts and the held-out MAMO test, the policy model, proofs. Older notes: for Lean proofs an invented lemma stands for a missing proof step (similar-name feedback fixes 2.7%, a fresh try 3.2%); for PopQA thinking adds 1.8-5 points at 70-200 times the tokens, only for well-known facts. Checks leak, which caps every policy. Facts were hand-written; BM25 retrieval recovers most of the gain. Next: SIZE-CC (gpt-oss-20b on contest geometry with check-gated escalation), X1-SIZE (competition math for Qwen3-4B/8B/14B), automatic facts, a closed API model, final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lstStyle>
            <a:lvl1pPr algn="ctr" indent="0" marL="0">
              <a:buNone/>
              <a:defRPr lang="en-US" sz="5400" dirty="0">
                <a:solidFill>
                  <a:schemeClr val="tx1"/>
                </a:solidFill>
              </a:defRPr>
            </a:lvl1pPr>
          </a:lstStyle>
          <a:p>
            <a:pPr algn="ctr" indent="0" marL="0">
              <a:buNone/>
            </a:pP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lstStyle>
            <a:lvl1pPr algn="ctr" indent="0" marL="0">
              <a:buNone/>
              <a:defRPr lang="en-US" sz="2200" dirty="0">
                <a:solidFill>
                  <a:schemeClr val="tx1"/>
                </a:solidFill>
              </a:defRPr>
            </a:lvl1pPr>
          </a:lstStyle>
          <a:p>
            <a:pPr algn="ct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371600"/>
            <a:ext cx="11064240" cy="4846320"/>
          </a:xfrm>
          <a:prstGeom prst="rect">
            <a:avLst/>
          </a:prstGeom>
          <a:noFill/>
          <a:ln/>
        </p:spPr>
        <p:txBody>
          <a:bodyPr wrap="square" rtlCol="0"/>
          <a:lstStyle>
            <a:lvl1pPr indent="0" marL="0">
              <a:buNone/>
              <a:defRPr lang="en-US" sz="1800" dirty="0">
                <a:solidFill>
                  <a:schemeClr val="tx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nchor="b"/>
          <a:lstStyle/>
          <a:p>
            <a:pPr algn="ctr" indent="0" marL="0">
              <a:buNone/>
            </a:pPr>
            <a:r>
              <a:rPr lang="en-US" sz="4400" dirty="0">
                <a:solidFill>
                  <a:schemeClr val="tx1"/>
                </a:solidFill>
              </a:rPr>
              <a:t>Solving Computational Math</a:t>
            </a:r>
            <a:endParaRPr lang="en-US" sz="5400" dirty="0"/>
          </a:p>
          <a:p>
            <a:pPr algn="ctr" indent="0" marL="0">
              <a:buNone/>
            </a:pPr>
            <a:r>
              <a:rPr lang="en-US" sz="4000" dirty="0">
                <a:solidFill>
                  <a:schemeClr val="tx1"/>
                </a:solidFill>
              </a:rPr>
              <a:t>with LLMs, Accurately and Cheaply</a:t>
            </a: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nchor="t"/>
          <a:lstStyle/>
          <a:p>
            <a:pPr algn="ctr" indent="0" marL="0">
              <a:buNone/>
            </a:pPr>
            <a:r>
              <a:rPr lang="en-US" sz="2200" dirty="0">
                <a:solidFill>
                  <a:schemeClr val="tx1"/>
                </a:solidFill>
              </a:rPr>
              <a:t>Tools, Facts, and Checks</a:t>
            </a:r>
            <a:endParaRPr lang="en-US" sz="2200" dirty="0"/>
          </a:p>
          <a:p>
            <a:pPr algn="ctr" indent="0" marL="0">
              <a:buNone/>
            </a:pPr>
            <a:r>
              <a:rPr lang="en-US" sz="1600" dirty="0">
                <a:solidFill>
                  <a:srgbClr val="44546A"/>
                </a:solidFill>
              </a:rPr>
              <a:t>POSTECH CSED490E (Graduate NLP) · Team 5 · October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Let the computer do the math</a:t>
            </a:r>
            <a:endParaRPr lang="en-US" sz="3600" dirty="0"/>
          </a:p>
        </p:txBody>
      </p:sp>
      <p:sp>
        <p:nvSpPr>
          <p:cNvPr id="3" name="Text 1"/>
          <p:cNvSpPr txBox="1"/>
          <p:nvPr/>
        </p:nvSpPr>
        <p:spPr>
          <a:xfrm>
            <a:off x="3566160" y="1234440"/>
            <a:ext cx="8046720" cy="411480"/>
          </a:xfrm>
          <a:prstGeom prst="rect">
            <a:avLst/>
          </a:prstGeom>
          <a:noFill/>
          <a:ln/>
        </p:spPr>
        <p:txBody>
          <a:bodyPr wrap="square" lIns="0" tIns="0" rIns="0" bIns="0" rtlCol="0" anchor="ctr"/>
          <a:lstStyle/>
          <a:p>
            <a:pPr algn="ctr" indent="0" marL="0">
              <a:buNone/>
            </a:pPr>
            <a:r>
              <a:rPr lang="en-US" sz="1600" dirty="0">
                <a:solidFill>
                  <a:schemeClr val="tx1"/>
                </a:solidFill>
              </a:rPr>
              <a:t>Same shape moved, turned or flipped, so the right answer never changes: 436 (twice its area)</a:t>
            </a:r>
            <a:endParaRPr lang="en-US" sz="1600" dirty="0"/>
          </a:p>
        </p:txBody>
      </p:sp>
      <p:pic>
        <p:nvPicPr>
          <p:cNvPr id="4" name="four copies of one polygon" descr="one polygon: original, moved, turned, flipped">    </p:cNvPr>
          <p:cNvPicPr>
            <a:picLocks noChangeAspect="1"/>
          </p:cNvPicPr>
          <p:nvPr/>
        </p:nvPicPr>
        <p:blipFill>
          <a:blip r:embed="rId1"/>
          <a:stretch>
            <a:fillRect/>
          </a:stretch>
        </p:blipFill>
        <p:spPr>
          <a:xfrm>
            <a:off x="3566160" y="1691640"/>
            <a:ext cx="8046720" cy="1737360"/>
          </a:xfrm>
          <a:prstGeom prst="rect">
            <a:avLst/>
          </a:prstGeom>
        </p:spPr>
      </p:pic>
      <p:sp>
        <p:nvSpPr>
          <p:cNvPr id="5" name="Text 2"/>
          <p:cNvSpPr txBox="1"/>
          <p:nvPr/>
        </p:nvSpPr>
        <p:spPr>
          <a:xfrm>
            <a:off x="356616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original</a:t>
            </a:r>
            <a:endParaRPr lang="en-US" sz="1600" dirty="0"/>
          </a:p>
        </p:txBody>
      </p:sp>
      <p:sp>
        <p:nvSpPr>
          <p:cNvPr id="6" name="Text 3"/>
          <p:cNvSpPr txBox="1"/>
          <p:nvPr/>
        </p:nvSpPr>
        <p:spPr>
          <a:xfrm>
            <a:off x="557784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moved</a:t>
            </a:r>
            <a:endParaRPr lang="en-US" sz="1600" dirty="0"/>
          </a:p>
        </p:txBody>
      </p:sp>
      <p:sp>
        <p:nvSpPr>
          <p:cNvPr id="7" name="Text 4"/>
          <p:cNvSpPr txBox="1"/>
          <p:nvPr/>
        </p:nvSpPr>
        <p:spPr>
          <a:xfrm>
            <a:off x="758952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turned</a:t>
            </a:r>
            <a:endParaRPr lang="en-US" sz="1600" dirty="0"/>
          </a:p>
        </p:txBody>
      </p:sp>
      <p:sp>
        <p:nvSpPr>
          <p:cNvPr id="8" name="Text 5"/>
          <p:cNvSpPr txBox="1"/>
          <p:nvPr/>
        </p:nvSpPr>
        <p:spPr>
          <a:xfrm>
            <a:off x="9601200" y="3246120"/>
            <a:ext cx="2011680" cy="320040"/>
          </a:xfrm>
          <a:prstGeom prst="rect">
            <a:avLst/>
          </a:prstGeom>
          <a:noFill/>
          <a:ln/>
        </p:spPr>
        <p:txBody>
          <a:bodyPr wrap="square" lIns="0" tIns="0" rIns="0" bIns="0" rtlCol="0" anchor="ctr"/>
          <a:lstStyle/>
          <a:p>
            <a:pPr algn="ctr" indent="0" marL="0">
              <a:buNone/>
            </a:pPr>
            <a:r>
              <a:rPr lang="en-US" sz="1600" dirty="0">
                <a:solidFill>
                  <a:schemeClr val="tx2"/>
                </a:solidFill>
              </a:rPr>
              <a:t>flipped</a:t>
            </a:r>
            <a:endParaRPr lang="en-US" sz="1600" dirty="0"/>
          </a:p>
        </p:txBody>
      </p:sp>
      <p:sp>
        <p:nvSpPr>
          <p:cNvPr id="9" name="Text 6"/>
          <p:cNvSpPr txBox="1"/>
          <p:nvPr/>
        </p:nvSpPr>
        <p:spPr>
          <a:xfrm>
            <a:off x="548640" y="3840480"/>
            <a:ext cx="2926080" cy="731520"/>
          </a:xfrm>
          <a:prstGeom prst="rect">
            <a:avLst/>
          </a:prstGeom>
          <a:noFill/>
          <a:ln/>
        </p:spPr>
        <p:txBody>
          <a:bodyPr wrap="square" lIns="0" tIns="0" rIns="0" bIns="0" rtlCol="0" anchor="ctr"/>
          <a:lstStyle/>
          <a:p>
            <a:pPr indent="0" marL="0">
              <a:buNone/>
            </a:pPr>
            <a:r>
              <a:rPr lang="en-US" sz="2000" b="1" dirty="0">
                <a:solidFill>
                  <a:schemeClr val="tx1"/>
                </a:solidFill>
              </a:rPr>
              <a:t>Answer in words</a:t>
            </a:r>
            <a:endParaRPr lang="en-US" sz="2000" dirty="0"/>
          </a:p>
          <a:p>
            <a:pPr indent="0" marL="0">
              <a:buNone/>
            </a:pPr>
            <a:r>
              <a:rPr lang="en-US" sz="1400" dirty="0">
                <a:solidFill>
                  <a:srgbClr val="44546A"/>
                </a:solidFill>
              </a:rPr>
              <a:t>the model does the arithmetic itself</a:t>
            </a:r>
            <a:endParaRPr lang="en-US" sz="2000" dirty="0"/>
          </a:p>
        </p:txBody>
      </p:sp>
      <p:sp>
        <p:nvSpPr>
          <p:cNvPr id="10" name="answer 436 ✓"/>
          <p:cNvSpPr/>
          <p:nvPr/>
        </p:nvSpPr>
        <p:spPr>
          <a:xfrm>
            <a:off x="3794760" y="3931920"/>
            <a:ext cx="1554480" cy="548640"/>
          </a:xfrm>
          <a:prstGeom prst="roundRect">
            <a:avLst>
              <a:gd name="adj" fmla="val 16667"/>
            </a:avLst>
          </a:prstGeom>
          <a:solidFill>
            <a:srgbClr val="E2F0D9"/>
          </a:solidFill>
          <a:ln w="12700">
            <a:solidFill>
              <a:srgbClr val="70AD47"/>
            </a:solidFill>
            <a:prstDash val="solid"/>
          </a:ln>
        </p:spPr>
      </p:sp>
      <p:sp>
        <p:nvSpPr>
          <p:cNvPr id="11" name="Text 8"/>
          <p:cNvSpPr txBox="1"/>
          <p:nvPr/>
        </p:nvSpPr>
        <p:spPr>
          <a:xfrm>
            <a:off x="3794760" y="393192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12" name="answer 2944 ✗"/>
          <p:cNvSpPr/>
          <p:nvPr/>
        </p:nvSpPr>
        <p:spPr>
          <a:xfrm>
            <a:off x="5806440" y="3931920"/>
            <a:ext cx="1554480" cy="548640"/>
          </a:xfrm>
          <a:prstGeom prst="roundRect">
            <a:avLst>
              <a:gd name="adj" fmla="val 16667"/>
            </a:avLst>
          </a:prstGeom>
          <a:solidFill>
            <a:srgbClr val="FADBD8"/>
          </a:solidFill>
          <a:ln w="12700">
            <a:solidFill>
              <a:srgbClr val="C00000"/>
            </a:solidFill>
            <a:prstDash val="solid"/>
          </a:ln>
        </p:spPr>
      </p:sp>
      <p:sp>
        <p:nvSpPr>
          <p:cNvPr id="13" name="Text 10"/>
          <p:cNvSpPr txBox="1"/>
          <p:nvPr/>
        </p:nvSpPr>
        <p:spPr>
          <a:xfrm>
            <a:off x="5806440" y="393192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2944 ✗</a:t>
            </a:r>
            <a:endParaRPr lang="en-US" sz="2200" dirty="0"/>
          </a:p>
        </p:txBody>
      </p:sp>
      <p:sp>
        <p:nvSpPr>
          <p:cNvPr id="14" name="answer 392 ✗"/>
          <p:cNvSpPr/>
          <p:nvPr/>
        </p:nvSpPr>
        <p:spPr>
          <a:xfrm>
            <a:off x="7818120" y="3931920"/>
            <a:ext cx="1554480" cy="548640"/>
          </a:xfrm>
          <a:prstGeom prst="roundRect">
            <a:avLst>
              <a:gd name="adj" fmla="val 16667"/>
            </a:avLst>
          </a:prstGeom>
          <a:solidFill>
            <a:srgbClr val="FADBD8"/>
          </a:solidFill>
          <a:ln w="12700">
            <a:solidFill>
              <a:srgbClr val="C00000"/>
            </a:solidFill>
            <a:prstDash val="solid"/>
          </a:ln>
        </p:spPr>
      </p:sp>
      <p:sp>
        <p:nvSpPr>
          <p:cNvPr id="15" name="Text 12"/>
          <p:cNvSpPr txBox="1"/>
          <p:nvPr/>
        </p:nvSpPr>
        <p:spPr>
          <a:xfrm>
            <a:off x="7818120" y="393192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392 ✗</a:t>
            </a:r>
            <a:endParaRPr lang="en-US" sz="2200" dirty="0"/>
          </a:p>
        </p:txBody>
      </p:sp>
      <p:sp>
        <p:nvSpPr>
          <p:cNvPr id="16" name="answer 728 ✗"/>
          <p:cNvSpPr/>
          <p:nvPr/>
        </p:nvSpPr>
        <p:spPr>
          <a:xfrm>
            <a:off x="9829800" y="3931920"/>
            <a:ext cx="1554480" cy="548640"/>
          </a:xfrm>
          <a:prstGeom prst="roundRect">
            <a:avLst>
              <a:gd name="adj" fmla="val 16667"/>
            </a:avLst>
          </a:prstGeom>
          <a:solidFill>
            <a:srgbClr val="FADBD8"/>
          </a:solidFill>
          <a:ln w="12700">
            <a:solidFill>
              <a:srgbClr val="C00000"/>
            </a:solidFill>
            <a:prstDash val="solid"/>
          </a:ln>
        </p:spPr>
      </p:sp>
      <p:sp>
        <p:nvSpPr>
          <p:cNvPr id="17" name="Text 14"/>
          <p:cNvSpPr txBox="1"/>
          <p:nvPr/>
        </p:nvSpPr>
        <p:spPr>
          <a:xfrm>
            <a:off x="9829800" y="393192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728 ✗</a:t>
            </a:r>
            <a:endParaRPr lang="en-US" sz="2200" dirty="0"/>
          </a:p>
        </p:txBody>
      </p:sp>
      <p:sp>
        <p:nvSpPr>
          <p:cNvPr id="18" name="Text 15"/>
          <p:cNvSpPr txBox="1"/>
          <p:nvPr/>
        </p:nvSpPr>
        <p:spPr>
          <a:xfrm>
            <a:off x="548640" y="4617720"/>
            <a:ext cx="2926080" cy="731520"/>
          </a:xfrm>
          <a:prstGeom prst="rect">
            <a:avLst/>
          </a:prstGeom>
          <a:noFill/>
          <a:ln/>
        </p:spPr>
        <p:txBody>
          <a:bodyPr wrap="square" lIns="0" tIns="0" rIns="0" bIns="0" rtlCol="0" anchor="ctr"/>
          <a:lstStyle/>
          <a:p>
            <a:pPr indent="0" marL="0">
              <a:buNone/>
            </a:pPr>
            <a:r>
              <a:rPr lang="en-US" sz="2000" b="1" dirty="0">
                <a:solidFill>
                  <a:schemeClr val="tx1"/>
                </a:solidFill>
              </a:rPr>
              <a:t>Write a program</a:t>
            </a:r>
            <a:endParaRPr lang="en-US" sz="2000" dirty="0"/>
          </a:p>
          <a:p>
            <a:pPr indent="0" marL="0">
              <a:buNone/>
            </a:pPr>
            <a:r>
              <a:rPr lang="en-US" sz="1400" dirty="0">
                <a:solidFill>
                  <a:srgbClr val="44546A"/>
                </a:solidFill>
              </a:rPr>
              <a:t>the computer does the arithmetic</a:t>
            </a:r>
            <a:endParaRPr lang="en-US" sz="2000" dirty="0"/>
          </a:p>
        </p:txBody>
      </p:sp>
      <p:sp>
        <p:nvSpPr>
          <p:cNvPr id="19" name="answer 436 ✓"/>
          <p:cNvSpPr/>
          <p:nvPr/>
        </p:nvSpPr>
        <p:spPr>
          <a:xfrm>
            <a:off x="3794760" y="4709160"/>
            <a:ext cx="1554480" cy="548640"/>
          </a:xfrm>
          <a:prstGeom prst="roundRect">
            <a:avLst>
              <a:gd name="adj" fmla="val 16667"/>
            </a:avLst>
          </a:prstGeom>
          <a:solidFill>
            <a:srgbClr val="E2F0D9"/>
          </a:solidFill>
          <a:ln w="12700">
            <a:solidFill>
              <a:srgbClr val="70AD47"/>
            </a:solidFill>
            <a:prstDash val="solid"/>
          </a:ln>
        </p:spPr>
      </p:sp>
      <p:sp>
        <p:nvSpPr>
          <p:cNvPr id="20" name="Text 17"/>
          <p:cNvSpPr txBox="1"/>
          <p:nvPr/>
        </p:nvSpPr>
        <p:spPr>
          <a:xfrm>
            <a:off x="379476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1" name="answer 436 ✓"/>
          <p:cNvSpPr/>
          <p:nvPr/>
        </p:nvSpPr>
        <p:spPr>
          <a:xfrm>
            <a:off x="5806440" y="4709160"/>
            <a:ext cx="1554480" cy="548640"/>
          </a:xfrm>
          <a:prstGeom prst="roundRect">
            <a:avLst>
              <a:gd name="adj" fmla="val 16667"/>
            </a:avLst>
          </a:prstGeom>
          <a:solidFill>
            <a:srgbClr val="E2F0D9"/>
          </a:solidFill>
          <a:ln w="12700">
            <a:solidFill>
              <a:srgbClr val="70AD47"/>
            </a:solidFill>
            <a:prstDash val="solid"/>
          </a:ln>
        </p:spPr>
      </p:sp>
      <p:sp>
        <p:nvSpPr>
          <p:cNvPr id="22" name="Text 19"/>
          <p:cNvSpPr txBox="1"/>
          <p:nvPr/>
        </p:nvSpPr>
        <p:spPr>
          <a:xfrm>
            <a:off x="580644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3" name="answer 436 ✓"/>
          <p:cNvSpPr/>
          <p:nvPr/>
        </p:nvSpPr>
        <p:spPr>
          <a:xfrm>
            <a:off x="7818120" y="4709160"/>
            <a:ext cx="1554480" cy="548640"/>
          </a:xfrm>
          <a:prstGeom prst="roundRect">
            <a:avLst>
              <a:gd name="adj" fmla="val 16667"/>
            </a:avLst>
          </a:prstGeom>
          <a:solidFill>
            <a:srgbClr val="E2F0D9"/>
          </a:solidFill>
          <a:ln w="12700">
            <a:solidFill>
              <a:srgbClr val="70AD47"/>
            </a:solidFill>
            <a:prstDash val="solid"/>
          </a:ln>
        </p:spPr>
      </p:sp>
      <p:sp>
        <p:nvSpPr>
          <p:cNvPr id="24" name="Text 21"/>
          <p:cNvSpPr txBox="1"/>
          <p:nvPr/>
        </p:nvSpPr>
        <p:spPr>
          <a:xfrm>
            <a:off x="781812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5" name="answer 436 ✓"/>
          <p:cNvSpPr/>
          <p:nvPr/>
        </p:nvSpPr>
        <p:spPr>
          <a:xfrm>
            <a:off x="9829800" y="4709160"/>
            <a:ext cx="1554480" cy="548640"/>
          </a:xfrm>
          <a:prstGeom prst="roundRect">
            <a:avLst>
              <a:gd name="adj" fmla="val 16667"/>
            </a:avLst>
          </a:prstGeom>
          <a:solidFill>
            <a:srgbClr val="E2F0D9"/>
          </a:solidFill>
          <a:ln w="12700">
            <a:solidFill>
              <a:srgbClr val="70AD47"/>
            </a:solidFill>
            <a:prstDash val="solid"/>
          </a:ln>
        </p:spPr>
      </p:sp>
      <p:sp>
        <p:nvSpPr>
          <p:cNvPr id="26" name="Text 23"/>
          <p:cNvSpPr txBox="1"/>
          <p:nvPr/>
        </p:nvSpPr>
        <p:spPr>
          <a:xfrm>
            <a:off x="9829800" y="47091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7" name="Text 24"/>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But programs can be silently wrong, and thinking is expensive. Goal: right answers, lowest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Words we use</a:t>
            </a:r>
            <a:endParaRPr lang="en-US" sz="3600" dirty="0"/>
          </a:p>
        </p:txBody>
      </p:sp>
      <p:sp>
        <p:nvSpPr>
          <p:cNvPr id="3" name="term Program"/>
          <p:cNvSpPr/>
          <p:nvPr/>
        </p:nvSpPr>
        <p:spPr>
          <a:xfrm>
            <a:off x="548640" y="1417320"/>
            <a:ext cx="3520440" cy="2011680"/>
          </a:xfrm>
          <a:prstGeom prst="roundRect">
            <a:avLst>
              <a:gd name="adj" fmla="val 3636"/>
            </a:avLst>
          </a:prstGeom>
          <a:solidFill>
            <a:srgbClr val="F2F2F2"/>
          </a:solidFill>
          <a:ln w="9525">
            <a:solidFill>
              <a:srgbClr val="D9D9D9"/>
            </a:solidFill>
            <a:prstDash val="solid"/>
          </a:ln>
        </p:spPr>
      </p:sp>
      <p:sp>
        <p:nvSpPr>
          <p:cNvPr id="4" name="Text 2"/>
          <p:cNvSpPr txBox="1"/>
          <p:nvPr/>
        </p:nvSpPr>
        <p:spPr>
          <a:xfrm>
            <a:off x="777240" y="155448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Program</a:t>
            </a:r>
            <a:endParaRPr lang="en-US" sz="2600" dirty="0"/>
          </a:p>
        </p:txBody>
      </p:sp>
      <p:sp>
        <p:nvSpPr>
          <p:cNvPr id="5" name="Text 3"/>
          <p:cNvSpPr txBox="1"/>
          <p:nvPr/>
        </p:nvSpPr>
        <p:spPr>
          <a:xfrm>
            <a:off x="777240" y="2130552"/>
            <a:ext cx="3063240" cy="640080"/>
          </a:xfrm>
          <a:prstGeom prst="rect">
            <a:avLst/>
          </a:prstGeom>
          <a:noFill/>
          <a:ln/>
        </p:spPr>
        <p:txBody>
          <a:bodyPr wrap="square" lIns="0" tIns="0" rIns="0" bIns="0" rtlCol="0" anchor="t"/>
          <a:lstStyle/>
          <a:p>
            <a:pPr indent="0" marL="0">
              <a:buNone/>
            </a:pPr>
            <a:r>
              <a:rPr lang="en-US" sz="1600" dirty="0">
                <a:solidFill>
                  <a:schemeClr val="tx1"/>
                </a:solidFill>
              </a:rPr>
              <a:t>code the model writes; the computer runs it</a:t>
            </a:r>
            <a:endParaRPr lang="en-US" sz="1600" dirty="0"/>
          </a:p>
        </p:txBody>
      </p:sp>
      <p:sp>
        <p:nvSpPr>
          <p:cNvPr id="6" name="Text 4"/>
          <p:cNvSpPr txBox="1"/>
          <p:nvPr/>
        </p:nvSpPr>
        <p:spPr>
          <a:xfrm>
            <a:off x="777240" y="278892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the shoelace formula for an area</a:t>
            </a:r>
            <a:endParaRPr lang="en-US" sz="1400" dirty="0"/>
          </a:p>
        </p:txBody>
      </p:sp>
      <p:sp>
        <p:nvSpPr>
          <p:cNvPr id="7" name="term Tool"/>
          <p:cNvSpPr/>
          <p:nvPr/>
        </p:nvSpPr>
        <p:spPr>
          <a:xfrm>
            <a:off x="4343400" y="1417320"/>
            <a:ext cx="3520440" cy="2011680"/>
          </a:xfrm>
          <a:prstGeom prst="roundRect">
            <a:avLst>
              <a:gd name="adj" fmla="val 3636"/>
            </a:avLst>
          </a:prstGeom>
          <a:solidFill>
            <a:srgbClr val="F2F2F2"/>
          </a:solidFill>
          <a:ln w="9525">
            <a:solidFill>
              <a:srgbClr val="D9D9D9"/>
            </a:solidFill>
            <a:prstDash val="solid"/>
          </a:ln>
        </p:spPr>
      </p:sp>
      <p:sp>
        <p:nvSpPr>
          <p:cNvPr id="8" name="Text 6"/>
          <p:cNvSpPr txBox="1"/>
          <p:nvPr/>
        </p:nvSpPr>
        <p:spPr>
          <a:xfrm>
            <a:off x="4572000" y="155448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Tool</a:t>
            </a:r>
            <a:endParaRPr lang="en-US" sz="2600" dirty="0"/>
          </a:p>
        </p:txBody>
      </p:sp>
      <p:sp>
        <p:nvSpPr>
          <p:cNvPr id="9" name="Text 7"/>
          <p:cNvSpPr txBox="1"/>
          <p:nvPr/>
        </p:nvSpPr>
        <p:spPr>
          <a:xfrm>
            <a:off x="4572000" y="2130552"/>
            <a:ext cx="3063240" cy="640080"/>
          </a:xfrm>
          <a:prstGeom prst="rect">
            <a:avLst/>
          </a:prstGeom>
          <a:noFill/>
          <a:ln/>
        </p:spPr>
        <p:txBody>
          <a:bodyPr wrap="square" lIns="0" tIns="0" rIns="0" bIns="0" rtlCol="0" anchor="t"/>
          <a:lstStyle/>
          <a:p>
            <a:pPr indent="0" marL="0">
              <a:buNone/>
            </a:pPr>
            <a:r>
              <a:rPr lang="en-US" sz="1600" dirty="0">
                <a:solidFill>
                  <a:schemeClr val="tx1"/>
                </a:solidFill>
              </a:rPr>
              <a:t>ready-made code we put in the prompt</a:t>
            </a:r>
            <a:endParaRPr lang="en-US" sz="1600" dirty="0"/>
          </a:p>
        </p:txBody>
      </p:sp>
      <p:sp>
        <p:nvSpPr>
          <p:cNvPr id="10" name="Text 8"/>
          <p:cNvSpPr txBox="1"/>
          <p:nvPr/>
        </p:nvSpPr>
        <p:spPr>
          <a:xfrm>
            <a:off x="4572000" y="278892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orient(a, b, c); the OR-Tools route library</a:t>
            </a:r>
            <a:endParaRPr lang="en-US" sz="1400" dirty="0"/>
          </a:p>
        </p:txBody>
      </p:sp>
      <p:sp>
        <p:nvSpPr>
          <p:cNvPr id="11" name="term Fact"/>
          <p:cNvSpPr/>
          <p:nvPr/>
        </p:nvSpPr>
        <p:spPr>
          <a:xfrm>
            <a:off x="8138160" y="1417320"/>
            <a:ext cx="3520440" cy="2011680"/>
          </a:xfrm>
          <a:prstGeom prst="roundRect">
            <a:avLst>
              <a:gd name="adj" fmla="val 3636"/>
            </a:avLst>
          </a:prstGeom>
          <a:solidFill>
            <a:srgbClr val="F2F2F2"/>
          </a:solidFill>
          <a:ln w="9525">
            <a:solidFill>
              <a:srgbClr val="D9D9D9"/>
            </a:solidFill>
            <a:prstDash val="solid"/>
          </a:ln>
        </p:spPr>
      </p:sp>
      <p:sp>
        <p:nvSpPr>
          <p:cNvPr id="12" name="Text 10"/>
          <p:cNvSpPr txBox="1"/>
          <p:nvPr/>
        </p:nvSpPr>
        <p:spPr>
          <a:xfrm>
            <a:off x="8366760" y="155448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Fact</a:t>
            </a:r>
            <a:endParaRPr lang="en-US" sz="2600" dirty="0"/>
          </a:p>
        </p:txBody>
      </p:sp>
      <p:sp>
        <p:nvSpPr>
          <p:cNvPr id="13" name="Text 11"/>
          <p:cNvSpPr txBox="1"/>
          <p:nvPr/>
        </p:nvSpPr>
        <p:spPr>
          <a:xfrm>
            <a:off x="8366760" y="2130552"/>
            <a:ext cx="3063240" cy="640080"/>
          </a:xfrm>
          <a:prstGeom prst="rect">
            <a:avLst/>
          </a:prstGeom>
          <a:noFill/>
          <a:ln/>
        </p:spPr>
        <p:txBody>
          <a:bodyPr wrap="square" lIns="0" tIns="0" rIns="0" bIns="0" rtlCol="0" anchor="t"/>
          <a:lstStyle/>
          <a:p>
            <a:pPr indent="0" marL="0">
              <a:buNone/>
            </a:pPr>
            <a:r>
              <a:rPr lang="en-US" sz="1600" dirty="0">
                <a:solidFill>
                  <a:schemeClr val="tx1"/>
                </a:solidFill>
              </a:rPr>
              <a:t>know-how the model may lack</a:t>
            </a:r>
            <a:endParaRPr lang="en-US" sz="1600" dirty="0"/>
          </a:p>
        </p:txBody>
      </p:sp>
      <p:sp>
        <p:nvSpPr>
          <p:cNvPr id="14" name="Text 12"/>
          <p:cNvSpPr txBox="1"/>
          <p:nvPr/>
        </p:nvSpPr>
        <p:spPr>
          <a:xfrm>
            <a:off x="8366760" y="278892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the exact function name to call</a:t>
            </a:r>
            <a:endParaRPr lang="en-US" sz="1400" dirty="0"/>
          </a:p>
        </p:txBody>
      </p:sp>
      <p:sp>
        <p:nvSpPr>
          <p:cNvPr id="15" name="term Check"/>
          <p:cNvSpPr/>
          <p:nvPr/>
        </p:nvSpPr>
        <p:spPr>
          <a:xfrm>
            <a:off x="548640" y="3657600"/>
            <a:ext cx="3520440" cy="2011680"/>
          </a:xfrm>
          <a:prstGeom prst="roundRect">
            <a:avLst>
              <a:gd name="adj" fmla="val 3636"/>
            </a:avLst>
          </a:prstGeom>
          <a:solidFill>
            <a:srgbClr val="F2F2F2"/>
          </a:solidFill>
          <a:ln w="9525">
            <a:solidFill>
              <a:srgbClr val="D9D9D9"/>
            </a:solidFill>
            <a:prstDash val="solid"/>
          </a:ln>
        </p:spPr>
      </p:sp>
      <p:sp>
        <p:nvSpPr>
          <p:cNvPr id="16" name="Text 14"/>
          <p:cNvSpPr txBox="1"/>
          <p:nvPr/>
        </p:nvSpPr>
        <p:spPr>
          <a:xfrm>
            <a:off x="777240" y="379476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Check</a:t>
            </a:r>
            <a:endParaRPr lang="en-US" sz="2600" dirty="0"/>
          </a:p>
        </p:txBody>
      </p:sp>
      <p:sp>
        <p:nvSpPr>
          <p:cNvPr id="17" name="Text 15"/>
          <p:cNvSpPr txBox="1"/>
          <p:nvPr/>
        </p:nvSpPr>
        <p:spPr>
          <a:xfrm>
            <a:off x="777240" y="4370832"/>
            <a:ext cx="3063240" cy="640080"/>
          </a:xfrm>
          <a:prstGeom prst="rect">
            <a:avLst/>
          </a:prstGeom>
          <a:noFill/>
          <a:ln/>
        </p:spPr>
        <p:txBody>
          <a:bodyPr wrap="square" lIns="0" tIns="0" rIns="0" bIns="0" rtlCol="0" anchor="t"/>
          <a:lstStyle/>
          <a:p>
            <a:pPr indent="0" marL="0">
              <a:buNone/>
            </a:pPr>
            <a:r>
              <a:rPr lang="en-US" sz="1600" dirty="0">
                <a:solidFill>
                  <a:schemeClr val="tx1"/>
                </a:solidFill>
              </a:rPr>
              <a:t>a cheap test, without knowing the answer</a:t>
            </a:r>
            <a:endParaRPr lang="en-US" sz="1600" dirty="0"/>
          </a:p>
        </p:txBody>
      </p:sp>
      <p:sp>
        <p:nvSpPr>
          <p:cNvPr id="18" name="Text 16"/>
          <p:cNvSpPr txBox="1"/>
          <p:nvPr/>
        </p:nvSpPr>
        <p:spPr>
          <a:xfrm>
            <a:off x="777240" y="502920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run the examples printed in the problem</a:t>
            </a:r>
            <a:endParaRPr lang="en-US" sz="1400" dirty="0"/>
          </a:p>
        </p:txBody>
      </p:sp>
      <p:sp>
        <p:nvSpPr>
          <p:cNvPr id="19" name="term Thinking"/>
          <p:cNvSpPr/>
          <p:nvPr/>
        </p:nvSpPr>
        <p:spPr>
          <a:xfrm>
            <a:off x="4343400" y="3657600"/>
            <a:ext cx="3520440" cy="2011680"/>
          </a:xfrm>
          <a:prstGeom prst="roundRect">
            <a:avLst>
              <a:gd name="adj" fmla="val 3636"/>
            </a:avLst>
          </a:prstGeom>
          <a:solidFill>
            <a:srgbClr val="F2F2F2"/>
          </a:solidFill>
          <a:ln w="9525">
            <a:solidFill>
              <a:srgbClr val="D9D9D9"/>
            </a:solidFill>
            <a:prstDash val="solid"/>
          </a:ln>
        </p:spPr>
      </p:sp>
      <p:sp>
        <p:nvSpPr>
          <p:cNvPr id="20" name="Text 18"/>
          <p:cNvSpPr txBox="1"/>
          <p:nvPr/>
        </p:nvSpPr>
        <p:spPr>
          <a:xfrm>
            <a:off x="4572000" y="379476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Thinking</a:t>
            </a:r>
            <a:endParaRPr lang="en-US" sz="2600" dirty="0"/>
          </a:p>
        </p:txBody>
      </p:sp>
      <p:sp>
        <p:nvSpPr>
          <p:cNvPr id="21" name="Text 19"/>
          <p:cNvSpPr txBox="1"/>
          <p:nvPr/>
        </p:nvSpPr>
        <p:spPr>
          <a:xfrm>
            <a:off x="4572000" y="4370832"/>
            <a:ext cx="3063240" cy="640080"/>
          </a:xfrm>
          <a:prstGeom prst="rect">
            <a:avLst/>
          </a:prstGeom>
          <a:noFill/>
          <a:ln/>
        </p:spPr>
        <p:txBody>
          <a:bodyPr wrap="square" lIns="0" tIns="0" rIns="0" bIns="0" rtlCol="0" anchor="t"/>
          <a:lstStyle/>
          <a:p>
            <a:pPr indent="0" marL="0">
              <a:buNone/>
            </a:pPr>
            <a:r>
              <a:rPr lang="en-US" sz="1600" dirty="0">
                <a:solidFill>
                  <a:schemeClr val="tx1"/>
                </a:solidFill>
              </a:rPr>
              <a:t>hidden notes before answering; costs tokens</a:t>
            </a:r>
            <a:endParaRPr lang="en-US" sz="1600" dirty="0"/>
          </a:p>
        </p:txBody>
      </p:sp>
      <p:sp>
        <p:nvSpPr>
          <p:cNvPr id="22" name="Text 20"/>
          <p:cNvSpPr txBox="1"/>
          <p:nvPr/>
        </p:nvSpPr>
        <p:spPr>
          <a:xfrm>
            <a:off x="4572000" y="502920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low / medium / high effort</a:t>
            </a:r>
            <a:endParaRPr lang="en-US" sz="1400" dirty="0"/>
          </a:p>
        </p:txBody>
      </p:sp>
      <p:sp>
        <p:nvSpPr>
          <p:cNvPr id="23" name="term Token"/>
          <p:cNvSpPr/>
          <p:nvPr/>
        </p:nvSpPr>
        <p:spPr>
          <a:xfrm>
            <a:off x="8138160" y="3657600"/>
            <a:ext cx="3520440" cy="2011680"/>
          </a:xfrm>
          <a:prstGeom prst="roundRect">
            <a:avLst>
              <a:gd name="adj" fmla="val 3636"/>
            </a:avLst>
          </a:prstGeom>
          <a:solidFill>
            <a:srgbClr val="F2F2F2"/>
          </a:solidFill>
          <a:ln w="9525">
            <a:solidFill>
              <a:srgbClr val="D9D9D9"/>
            </a:solidFill>
            <a:prstDash val="solid"/>
          </a:ln>
        </p:spPr>
      </p:sp>
      <p:sp>
        <p:nvSpPr>
          <p:cNvPr id="24" name="Text 22"/>
          <p:cNvSpPr txBox="1"/>
          <p:nvPr/>
        </p:nvSpPr>
        <p:spPr>
          <a:xfrm>
            <a:off x="8366760" y="3794760"/>
            <a:ext cx="3063240" cy="548640"/>
          </a:xfrm>
          <a:prstGeom prst="rect">
            <a:avLst/>
          </a:prstGeom>
          <a:noFill/>
          <a:ln/>
        </p:spPr>
        <p:txBody>
          <a:bodyPr wrap="square" lIns="0" tIns="0" rIns="0" bIns="0" rtlCol="0" anchor="ctr"/>
          <a:lstStyle/>
          <a:p>
            <a:pPr indent="0" marL="0">
              <a:buNone/>
            </a:pPr>
            <a:r>
              <a:rPr lang="en-US" sz="2600" b="1" dirty="0">
                <a:solidFill>
                  <a:srgbClr val="4472C4"/>
                </a:solidFill>
              </a:rPr>
              <a:t>Token</a:t>
            </a:r>
            <a:endParaRPr lang="en-US" sz="2600" dirty="0"/>
          </a:p>
        </p:txBody>
      </p:sp>
      <p:sp>
        <p:nvSpPr>
          <p:cNvPr id="25" name="Text 23"/>
          <p:cNvSpPr txBox="1"/>
          <p:nvPr/>
        </p:nvSpPr>
        <p:spPr>
          <a:xfrm>
            <a:off x="8366760" y="4370832"/>
            <a:ext cx="3063240" cy="640080"/>
          </a:xfrm>
          <a:prstGeom prst="rect">
            <a:avLst/>
          </a:prstGeom>
          <a:noFill/>
          <a:ln/>
        </p:spPr>
        <p:txBody>
          <a:bodyPr wrap="square" lIns="0" tIns="0" rIns="0" bIns="0" rtlCol="0" anchor="t"/>
          <a:lstStyle/>
          <a:p>
            <a:pPr indent="0" marL="0">
              <a:buNone/>
            </a:pPr>
            <a:r>
              <a:rPr lang="en-US" sz="1600" dirty="0">
                <a:solidFill>
                  <a:schemeClr val="tx1"/>
                </a:solidFill>
              </a:rPr>
              <a:t>a piece of a word: the unit of cost</a:t>
            </a:r>
            <a:endParaRPr lang="en-US" sz="1600" dirty="0"/>
          </a:p>
        </p:txBody>
      </p:sp>
      <p:sp>
        <p:nvSpPr>
          <p:cNvPr id="26" name="Text 24"/>
          <p:cNvSpPr txBox="1"/>
          <p:nvPr/>
        </p:nvSpPr>
        <p:spPr>
          <a:xfrm>
            <a:off x="8366760" y="5029200"/>
            <a:ext cx="3063240" cy="502920"/>
          </a:xfrm>
          <a:prstGeom prst="rect">
            <a:avLst/>
          </a:prstGeom>
          <a:noFill/>
          <a:ln/>
        </p:spPr>
        <p:txBody>
          <a:bodyPr wrap="square" lIns="0" tIns="0" rIns="0" bIns="0" rtlCol="0" anchor="t"/>
          <a:lstStyle/>
          <a:p>
            <a:pPr indent="0" marL="0">
              <a:buNone/>
            </a:pPr>
            <a:r>
              <a:rPr lang="en-US" sz="1400" i="1" dirty="0">
                <a:solidFill>
                  <a:schemeClr val="tx2"/>
                </a:solidFill>
              </a:rPr>
              <a:t>e.g. a one-page answer ≈ 700 tokens</a:t>
            </a:r>
            <a:endParaRPr lang="en-US" sz="14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Findings at a glance: same or better, for fewer tokens</a:t>
            </a:r>
            <a:endParaRPr lang="en-US" sz="3600" dirty="0"/>
          </a:p>
        </p:txBody>
      </p:sp>
      <p:sp>
        <p:nvSpPr>
          <p:cNvPr id="3" name="Text 1"/>
          <p:cNvSpPr txBox="1"/>
          <p:nvPr/>
        </p:nvSpPr>
        <p:spPr>
          <a:xfrm>
            <a:off x="548640" y="1188720"/>
            <a:ext cx="11064240" cy="320040"/>
          </a:xfrm>
          <a:prstGeom prst="rect">
            <a:avLst/>
          </a:prstGeom>
          <a:noFill/>
          <a:ln/>
        </p:spPr>
        <p:txBody>
          <a:bodyPr wrap="square" lIns="0" tIns="0" rIns="0" bIns="0" rtlCol="0" anchor="ctr"/>
          <a:lstStyle/>
          <a:p>
            <a:pPr indent="0" marL="0">
              <a:buNone/>
            </a:pPr>
            <a:r>
              <a:rPr lang="en-US" sz="1400" b="1" dirty="0">
                <a:solidFill>
                  <a:srgbClr val="4472C4"/>
                </a:solidFill>
              </a:rPr>
              <a:t>blue</a:t>
            </a:r>
            <a:pPr indent="0" marL="0">
              <a:buNone/>
            </a:pPr>
            <a:r>
              <a:rPr lang="en-US" sz="1400" dirty="0">
                <a:solidFill>
                  <a:schemeClr val="tx2"/>
                </a:solidFill>
              </a:rPr>
              <a:t> = the better way   ·   </a:t>
            </a:r>
            <a:pPr indent="0" marL="0">
              <a:buNone/>
            </a:pPr>
            <a:r>
              <a:rPr lang="en-US" sz="1400" b="1" dirty="0">
                <a:solidFill>
                  <a:srgbClr val="7F7F7F"/>
                </a:solidFill>
              </a:rPr>
              <a:t>grey</a:t>
            </a:r>
            <a:pPr indent="0" marL="0">
              <a:buNone/>
            </a:pPr>
            <a:r>
              <a:rPr lang="en-US" sz="1400" dirty="0">
                <a:solidFill>
                  <a:schemeClr val="tx2"/>
                </a:solidFill>
              </a:rPr>
              <a:t> = the usual way or a published method   ·   </a:t>
            </a:r>
            <a:pPr indent="0" marL="0">
              <a:buNone/>
            </a:pPr>
            <a:r>
              <a:rPr lang="en-US" sz="1400" b="1" dirty="0">
                <a:solidFill>
                  <a:srgbClr val="C00000"/>
                </a:solidFill>
              </a:rPr>
              <a:t>red</a:t>
            </a:r>
            <a:pPr indent="0" marL="0">
              <a:buNone/>
            </a:pPr>
            <a:r>
              <a:rPr lang="en-US" sz="1400" dirty="0">
                <a:solidFill>
                  <a:schemeClr val="tx2"/>
                </a:solidFill>
              </a:rPr>
              <a:t> = makes it worse</a:t>
            </a:r>
            <a:endParaRPr lang="en-US" sz="1400" dirty="0"/>
          </a:p>
        </p:txBody>
      </p:sp>
      <p:sp>
        <p:nvSpPr>
          <p:cNvPr id="4" name="Text 2"/>
          <p:cNvSpPr txBox="1"/>
          <p:nvPr/>
        </p:nvSpPr>
        <p:spPr>
          <a:xfrm>
            <a:off x="548640" y="169164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Add the missing fact</a:t>
            </a:r>
            <a:endParaRPr lang="en-US" sz="1700" dirty="0"/>
          </a:p>
        </p:txBody>
      </p:sp>
      <p:sp>
        <p:nvSpPr>
          <p:cNvPr id="5" name="Text 3"/>
          <p:cNvSpPr txBox="1"/>
          <p:nvPr/>
        </p:nvSpPr>
        <p:spPr>
          <a:xfrm>
            <a:off x="548640" y="2039112"/>
            <a:ext cx="3611880" cy="274320"/>
          </a:xfrm>
          <a:prstGeom prst="rect">
            <a:avLst/>
          </a:prstGeom>
          <a:noFill/>
          <a:ln/>
        </p:spPr>
        <p:txBody>
          <a:bodyPr wrap="square" lIns="0" tIns="0" rIns="0" bIns="0" rtlCol="0" anchor="ctr"/>
          <a:lstStyle/>
          <a:p>
            <a:pPr indent="0" marL="0">
              <a:buNone/>
            </a:pPr>
            <a:r>
              <a:rPr lang="en-US" sz="1200" dirty="0">
                <a:solidFill>
                  <a:schemeClr val="tx2"/>
                </a:solidFill>
              </a:rPr>
              <a:t>delivery routing, Qwen3-32B: % optimal</a:t>
            </a:r>
            <a:endParaRPr lang="en-US" sz="1200" dirty="0"/>
          </a:p>
        </p:txBody>
      </p:sp>
      <p:sp>
        <p:nvSpPr>
          <p:cNvPr id="6" name="Text 4"/>
          <p:cNvSpPr txBox="1"/>
          <p:nvPr/>
        </p:nvSpPr>
        <p:spPr>
          <a:xfrm>
            <a:off x="548640" y="240487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task only</a:t>
            </a:r>
            <a:endParaRPr lang="en-US" sz="1300" dirty="0"/>
          </a:p>
        </p:txBody>
      </p:sp>
      <p:sp>
        <p:nvSpPr>
          <p:cNvPr id="7" name="Add the missing fact task only"/>
          <p:cNvSpPr/>
          <p:nvPr/>
        </p:nvSpPr>
        <p:spPr>
          <a:xfrm>
            <a:off x="2029968" y="2450592"/>
            <a:ext cx="262890" cy="237744"/>
          </a:xfrm>
          <a:prstGeom prst="rect">
            <a:avLst/>
          </a:prstGeom>
          <a:solidFill>
            <a:srgbClr val="A5A5A5"/>
          </a:solidFill>
          <a:ln w="6350">
            <a:solidFill>
              <a:srgbClr val="A5A5A5"/>
            </a:solidFill>
            <a:prstDash val="solid"/>
          </a:ln>
        </p:spPr>
      </p:sp>
      <p:sp>
        <p:nvSpPr>
          <p:cNvPr id="8" name="Text 6"/>
          <p:cNvSpPr txBox="1"/>
          <p:nvPr/>
        </p:nvSpPr>
        <p:spPr>
          <a:xfrm>
            <a:off x="2347722" y="240487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23%</a:t>
            </a:r>
            <a:endParaRPr lang="en-US" sz="1300" dirty="0"/>
          </a:p>
        </p:txBody>
      </p:sp>
      <p:sp>
        <p:nvSpPr>
          <p:cNvPr id="9" name="Text 7"/>
          <p:cNvSpPr txBox="1"/>
          <p:nvPr/>
        </p:nvSpPr>
        <p:spPr>
          <a:xfrm>
            <a:off x="548640" y="278892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think longer</a:t>
            </a:r>
            <a:endParaRPr lang="en-US" sz="1300" dirty="0"/>
          </a:p>
        </p:txBody>
      </p:sp>
      <p:sp>
        <p:nvSpPr>
          <p:cNvPr id="10" name="Add the missing fact think longer"/>
          <p:cNvSpPr/>
          <p:nvPr/>
        </p:nvSpPr>
        <p:spPr>
          <a:xfrm>
            <a:off x="2029968" y="2834640"/>
            <a:ext cx="34290" cy="237744"/>
          </a:xfrm>
          <a:prstGeom prst="rect">
            <a:avLst/>
          </a:prstGeom>
          <a:solidFill>
            <a:srgbClr val="C00000"/>
          </a:solidFill>
          <a:ln w="6350">
            <a:solidFill>
              <a:srgbClr val="C00000"/>
            </a:solidFill>
            <a:prstDash val="solid"/>
          </a:ln>
        </p:spPr>
      </p:sp>
      <p:sp>
        <p:nvSpPr>
          <p:cNvPr id="11" name="Text 9"/>
          <p:cNvSpPr txBox="1"/>
          <p:nvPr/>
        </p:nvSpPr>
        <p:spPr>
          <a:xfrm>
            <a:off x="2119122" y="2788920"/>
            <a:ext cx="1051560" cy="329184"/>
          </a:xfrm>
          <a:prstGeom prst="rect">
            <a:avLst/>
          </a:prstGeom>
          <a:noFill/>
          <a:ln/>
        </p:spPr>
        <p:txBody>
          <a:bodyPr wrap="square" lIns="0" tIns="0" rIns="0" bIns="0" rtlCol="0" anchor="ctr"/>
          <a:lstStyle/>
          <a:p>
            <a:pPr indent="0" marL="0">
              <a:buNone/>
            </a:pPr>
            <a:r>
              <a:rPr lang="en-US" sz="1300" b="1" dirty="0">
                <a:solidFill>
                  <a:srgbClr val="C00000"/>
                </a:solidFill>
              </a:rPr>
              <a:t>3%</a:t>
            </a:r>
            <a:endParaRPr lang="en-US" sz="1300" dirty="0"/>
          </a:p>
        </p:txBody>
      </p:sp>
      <p:sp>
        <p:nvSpPr>
          <p:cNvPr id="12" name="Text 10"/>
          <p:cNvSpPr txBox="1"/>
          <p:nvPr/>
        </p:nvSpPr>
        <p:spPr>
          <a:xfrm>
            <a:off x="548640" y="317296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whole manual</a:t>
            </a:r>
            <a:endParaRPr lang="en-US" sz="1300" dirty="0"/>
          </a:p>
        </p:txBody>
      </p:sp>
      <p:sp>
        <p:nvSpPr>
          <p:cNvPr id="13" name="Add the missing fact whole manual"/>
          <p:cNvSpPr/>
          <p:nvPr/>
        </p:nvSpPr>
        <p:spPr>
          <a:xfrm>
            <a:off x="2029968" y="3218688"/>
            <a:ext cx="80010" cy="237744"/>
          </a:xfrm>
          <a:prstGeom prst="rect">
            <a:avLst/>
          </a:prstGeom>
          <a:solidFill>
            <a:srgbClr val="C00000"/>
          </a:solidFill>
          <a:ln w="6350">
            <a:solidFill>
              <a:srgbClr val="C00000"/>
            </a:solidFill>
            <a:prstDash val="solid"/>
          </a:ln>
        </p:spPr>
      </p:sp>
      <p:sp>
        <p:nvSpPr>
          <p:cNvPr id="14" name="Text 12"/>
          <p:cNvSpPr txBox="1"/>
          <p:nvPr/>
        </p:nvSpPr>
        <p:spPr>
          <a:xfrm>
            <a:off x="2164842" y="3172968"/>
            <a:ext cx="1051560" cy="329184"/>
          </a:xfrm>
          <a:prstGeom prst="rect">
            <a:avLst/>
          </a:prstGeom>
          <a:noFill/>
          <a:ln/>
        </p:spPr>
        <p:txBody>
          <a:bodyPr wrap="square" lIns="0" tIns="0" rIns="0" bIns="0" rtlCol="0" anchor="ctr"/>
          <a:lstStyle/>
          <a:p>
            <a:pPr indent="0" marL="0">
              <a:buNone/>
            </a:pPr>
            <a:r>
              <a:rPr lang="en-US" sz="1300" b="1" dirty="0">
                <a:solidFill>
                  <a:srgbClr val="C00000"/>
                </a:solidFill>
              </a:rPr>
              <a:t>7%</a:t>
            </a:r>
            <a:endParaRPr lang="en-US" sz="1300" dirty="0"/>
          </a:p>
        </p:txBody>
      </p:sp>
      <p:sp>
        <p:nvSpPr>
          <p:cNvPr id="15" name="Text 13"/>
          <p:cNvSpPr txBox="1"/>
          <p:nvPr/>
        </p:nvSpPr>
        <p:spPr>
          <a:xfrm>
            <a:off x="548640" y="3557016"/>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5 exact lines</a:t>
            </a:r>
            <a:endParaRPr lang="en-US" sz="1300" dirty="0"/>
          </a:p>
        </p:txBody>
      </p:sp>
      <p:sp>
        <p:nvSpPr>
          <p:cNvPr id="16" name="Add the missing fact 5 exact lines"/>
          <p:cNvSpPr/>
          <p:nvPr/>
        </p:nvSpPr>
        <p:spPr>
          <a:xfrm>
            <a:off x="2029968" y="3602736"/>
            <a:ext cx="948690" cy="237744"/>
          </a:xfrm>
          <a:prstGeom prst="rect">
            <a:avLst/>
          </a:prstGeom>
          <a:solidFill>
            <a:srgbClr val="4472C4"/>
          </a:solidFill>
          <a:ln w="6350">
            <a:solidFill>
              <a:srgbClr val="4472C4"/>
            </a:solidFill>
            <a:prstDash val="solid"/>
          </a:ln>
        </p:spPr>
      </p:sp>
      <p:sp>
        <p:nvSpPr>
          <p:cNvPr id="17" name="Text 15"/>
          <p:cNvSpPr txBox="1"/>
          <p:nvPr/>
        </p:nvSpPr>
        <p:spPr>
          <a:xfrm>
            <a:off x="3033522" y="3557016"/>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77–90%</a:t>
            </a:r>
            <a:endParaRPr lang="en-US" sz="1300" dirty="0"/>
          </a:p>
        </p:txBody>
      </p:sp>
      <p:sp>
        <p:nvSpPr>
          <p:cNvPr id="18" name="Text 16"/>
          <p:cNvSpPr txBox="1"/>
          <p:nvPr/>
        </p:nvSpPr>
        <p:spPr>
          <a:xfrm>
            <a:off x="4343400" y="169164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Small models gain most</a:t>
            </a:r>
            <a:endParaRPr lang="en-US" sz="1700" dirty="0"/>
          </a:p>
        </p:txBody>
      </p:sp>
      <p:sp>
        <p:nvSpPr>
          <p:cNvPr id="19" name="Text 17"/>
          <p:cNvSpPr txBox="1"/>
          <p:nvPr/>
        </p:nvSpPr>
        <p:spPr>
          <a:xfrm>
            <a:off x="4343400" y="2039112"/>
            <a:ext cx="3611880" cy="274320"/>
          </a:xfrm>
          <a:prstGeom prst="rect">
            <a:avLst/>
          </a:prstGeom>
          <a:noFill/>
          <a:ln/>
        </p:spPr>
        <p:txBody>
          <a:bodyPr wrap="square" lIns="0" tIns="0" rIns="0" bIns="0" rtlCol="0" anchor="ctr"/>
          <a:lstStyle/>
          <a:p>
            <a:pPr indent="0" marL="0">
              <a:buNone/>
            </a:pPr>
            <a:r>
              <a:rPr lang="en-US" sz="1200" dirty="0">
                <a:solidFill>
                  <a:schemeClr val="tx2"/>
                </a:solidFill>
              </a:rPr>
              <a:t>word problems: % solved</a:t>
            </a:r>
            <a:endParaRPr lang="en-US" sz="1200" dirty="0"/>
          </a:p>
        </p:txBody>
      </p:sp>
      <p:sp>
        <p:nvSpPr>
          <p:cNvPr id="20" name="Text 18"/>
          <p:cNvSpPr txBox="1"/>
          <p:nvPr/>
        </p:nvSpPr>
        <p:spPr>
          <a:xfrm>
            <a:off x="4343400" y="240487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Qwen3-1.7B</a:t>
            </a:r>
            <a:endParaRPr lang="en-US" sz="1300" dirty="0"/>
          </a:p>
        </p:txBody>
      </p:sp>
      <p:sp>
        <p:nvSpPr>
          <p:cNvPr id="21" name="Small models gain most Qwen3-1.7B"/>
          <p:cNvSpPr/>
          <p:nvPr/>
        </p:nvSpPr>
        <p:spPr>
          <a:xfrm>
            <a:off x="5824728" y="2450592"/>
            <a:ext cx="27432" cy="237744"/>
          </a:xfrm>
          <a:prstGeom prst="rect">
            <a:avLst/>
          </a:prstGeom>
          <a:solidFill>
            <a:srgbClr val="A5A5A5"/>
          </a:solidFill>
          <a:ln w="6350">
            <a:solidFill>
              <a:srgbClr val="A5A5A5"/>
            </a:solidFill>
            <a:prstDash val="solid"/>
          </a:ln>
        </p:spPr>
      </p:sp>
      <p:sp>
        <p:nvSpPr>
          <p:cNvPr id="22" name="Text 20"/>
          <p:cNvSpPr txBox="1"/>
          <p:nvPr/>
        </p:nvSpPr>
        <p:spPr>
          <a:xfrm>
            <a:off x="5880735" y="240487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0%</a:t>
            </a:r>
            <a:endParaRPr lang="en-US" sz="1300" dirty="0"/>
          </a:p>
        </p:txBody>
      </p:sp>
      <p:sp>
        <p:nvSpPr>
          <p:cNvPr id="23" name="Text 21"/>
          <p:cNvSpPr txBox="1"/>
          <p:nvPr/>
        </p:nvSpPr>
        <p:spPr>
          <a:xfrm>
            <a:off x="4343400" y="278892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1.7B + fact</a:t>
            </a:r>
            <a:endParaRPr lang="en-US" sz="1300" dirty="0"/>
          </a:p>
        </p:txBody>
      </p:sp>
      <p:sp>
        <p:nvSpPr>
          <p:cNvPr id="24" name="Small models gain most 1.7B + fact"/>
          <p:cNvSpPr/>
          <p:nvPr/>
        </p:nvSpPr>
        <p:spPr>
          <a:xfrm>
            <a:off x="5824728" y="2834640"/>
            <a:ext cx="508635" cy="237744"/>
          </a:xfrm>
          <a:prstGeom prst="rect">
            <a:avLst/>
          </a:prstGeom>
          <a:solidFill>
            <a:srgbClr val="4472C4"/>
          </a:solidFill>
          <a:ln w="6350">
            <a:solidFill>
              <a:srgbClr val="4472C4"/>
            </a:solidFill>
            <a:prstDash val="solid"/>
          </a:ln>
        </p:spPr>
      </p:sp>
      <p:sp>
        <p:nvSpPr>
          <p:cNvPr id="25" name="Text 23"/>
          <p:cNvSpPr txBox="1"/>
          <p:nvPr/>
        </p:nvSpPr>
        <p:spPr>
          <a:xfrm>
            <a:off x="6388227" y="2788920"/>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45%</a:t>
            </a:r>
            <a:endParaRPr lang="en-US" sz="1300" dirty="0"/>
          </a:p>
        </p:txBody>
      </p:sp>
      <p:sp>
        <p:nvSpPr>
          <p:cNvPr id="26" name="Text 24"/>
          <p:cNvSpPr txBox="1"/>
          <p:nvPr/>
        </p:nvSpPr>
        <p:spPr>
          <a:xfrm>
            <a:off x="4343400" y="317296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Qwen3-32B</a:t>
            </a:r>
            <a:endParaRPr lang="en-US" sz="1300" dirty="0"/>
          </a:p>
        </p:txBody>
      </p:sp>
      <p:sp>
        <p:nvSpPr>
          <p:cNvPr id="27" name="Small models gain most Qwen3-32B"/>
          <p:cNvSpPr/>
          <p:nvPr/>
        </p:nvSpPr>
        <p:spPr>
          <a:xfrm>
            <a:off x="5824728" y="3218688"/>
            <a:ext cx="747522" cy="237744"/>
          </a:xfrm>
          <a:prstGeom prst="rect">
            <a:avLst/>
          </a:prstGeom>
          <a:solidFill>
            <a:srgbClr val="A5A5A5"/>
          </a:solidFill>
          <a:ln w="6350">
            <a:solidFill>
              <a:srgbClr val="A5A5A5"/>
            </a:solidFill>
            <a:prstDash val="solid"/>
          </a:ln>
        </p:spPr>
      </p:sp>
      <p:sp>
        <p:nvSpPr>
          <p:cNvPr id="28" name="Text 26"/>
          <p:cNvSpPr txBox="1"/>
          <p:nvPr/>
        </p:nvSpPr>
        <p:spPr>
          <a:xfrm>
            <a:off x="6627114" y="3172968"/>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65%</a:t>
            </a:r>
            <a:endParaRPr lang="en-US" sz="1300" dirty="0"/>
          </a:p>
        </p:txBody>
      </p:sp>
      <p:sp>
        <p:nvSpPr>
          <p:cNvPr id="29" name="Text 27"/>
          <p:cNvSpPr txBox="1"/>
          <p:nvPr/>
        </p:nvSpPr>
        <p:spPr>
          <a:xfrm>
            <a:off x="4343400" y="3557016"/>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32B + fact</a:t>
            </a:r>
            <a:endParaRPr lang="en-US" sz="1300" dirty="0"/>
          </a:p>
        </p:txBody>
      </p:sp>
      <p:sp>
        <p:nvSpPr>
          <p:cNvPr id="30" name="Small models gain most 32B + fact"/>
          <p:cNvSpPr/>
          <p:nvPr/>
        </p:nvSpPr>
        <p:spPr>
          <a:xfrm>
            <a:off x="5824728" y="3602736"/>
            <a:ext cx="756666" cy="237744"/>
          </a:xfrm>
          <a:prstGeom prst="rect">
            <a:avLst/>
          </a:prstGeom>
          <a:solidFill>
            <a:srgbClr val="4472C4"/>
          </a:solidFill>
          <a:ln w="6350">
            <a:solidFill>
              <a:srgbClr val="4472C4"/>
            </a:solidFill>
            <a:prstDash val="solid"/>
          </a:ln>
        </p:spPr>
      </p:sp>
      <p:sp>
        <p:nvSpPr>
          <p:cNvPr id="31" name="Text 29"/>
          <p:cNvSpPr txBox="1"/>
          <p:nvPr/>
        </p:nvSpPr>
        <p:spPr>
          <a:xfrm>
            <a:off x="6636258" y="3557016"/>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66%</a:t>
            </a:r>
            <a:endParaRPr lang="en-US" sz="1300" dirty="0"/>
          </a:p>
        </p:txBody>
      </p:sp>
      <p:sp>
        <p:nvSpPr>
          <p:cNvPr id="32" name="Text 30"/>
          <p:cNvSpPr txBox="1"/>
          <p:nvPr/>
        </p:nvSpPr>
        <p:spPr>
          <a:xfrm>
            <a:off x="8138160" y="169164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Compare two versions</a:t>
            </a:r>
            <a:endParaRPr lang="en-US" sz="1700" dirty="0"/>
          </a:p>
        </p:txBody>
      </p:sp>
      <p:sp>
        <p:nvSpPr>
          <p:cNvPr id="33" name="Text 31"/>
          <p:cNvSpPr txBox="1"/>
          <p:nvPr/>
        </p:nvSpPr>
        <p:spPr>
          <a:xfrm>
            <a:off x="8138160" y="2039112"/>
            <a:ext cx="3611880" cy="274320"/>
          </a:xfrm>
          <a:prstGeom prst="rect">
            <a:avLst/>
          </a:prstGeom>
          <a:noFill/>
          <a:ln/>
        </p:spPr>
        <p:txBody>
          <a:bodyPr wrap="square" lIns="0" tIns="0" rIns="0" bIns="0" rtlCol="0" anchor="ctr"/>
          <a:lstStyle/>
          <a:p>
            <a:pPr indent="0" marL="0">
              <a:buNone/>
            </a:pPr>
            <a:r>
              <a:rPr lang="en-US" sz="1200" dirty="0">
                <a:solidFill>
                  <a:schemeClr val="tx2"/>
                </a:solidFill>
              </a:rPr>
              <a:t>geometry, Qwen3-32B: % · tokens</a:t>
            </a:r>
            <a:endParaRPr lang="en-US" sz="1200" dirty="0"/>
          </a:p>
        </p:txBody>
      </p:sp>
      <p:sp>
        <p:nvSpPr>
          <p:cNvPr id="34" name="Text 32"/>
          <p:cNvSpPr txBox="1"/>
          <p:nvPr/>
        </p:nvSpPr>
        <p:spPr>
          <a:xfrm>
            <a:off x="8138160" y="240487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8 extra tools</a:t>
            </a:r>
            <a:endParaRPr lang="en-US" sz="1300" dirty="0"/>
          </a:p>
        </p:txBody>
      </p:sp>
      <p:sp>
        <p:nvSpPr>
          <p:cNvPr id="35" name="Compare two versions 8 extra tools"/>
          <p:cNvSpPr/>
          <p:nvPr/>
        </p:nvSpPr>
        <p:spPr>
          <a:xfrm>
            <a:off x="9619488" y="2450592"/>
            <a:ext cx="674370" cy="237744"/>
          </a:xfrm>
          <a:prstGeom prst="rect">
            <a:avLst/>
          </a:prstGeom>
          <a:solidFill>
            <a:srgbClr val="C00000"/>
          </a:solidFill>
          <a:ln w="6350">
            <a:solidFill>
              <a:srgbClr val="C00000"/>
            </a:solidFill>
            <a:prstDash val="solid"/>
          </a:ln>
        </p:spPr>
      </p:sp>
      <p:sp>
        <p:nvSpPr>
          <p:cNvPr id="36" name="Text 34"/>
          <p:cNvSpPr txBox="1"/>
          <p:nvPr/>
        </p:nvSpPr>
        <p:spPr>
          <a:xfrm>
            <a:off x="10348722" y="2404872"/>
            <a:ext cx="1051560" cy="329184"/>
          </a:xfrm>
          <a:prstGeom prst="rect">
            <a:avLst/>
          </a:prstGeom>
          <a:noFill/>
          <a:ln/>
        </p:spPr>
        <p:txBody>
          <a:bodyPr wrap="square" lIns="0" tIns="0" rIns="0" bIns="0" rtlCol="0" anchor="ctr"/>
          <a:lstStyle/>
          <a:p>
            <a:pPr indent="0" marL="0">
              <a:buNone/>
            </a:pPr>
            <a:r>
              <a:rPr lang="en-US" sz="1300" b="1" dirty="0">
                <a:solidFill>
                  <a:srgbClr val="C00000"/>
                </a:solidFill>
              </a:rPr>
              <a:t>59% · 0.6k</a:t>
            </a:r>
            <a:endParaRPr lang="en-US" sz="1300" dirty="0"/>
          </a:p>
        </p:txBody>
      </p:sp>
      <p:sp>
        <p:nvSpPr>
          <p:cNvPr id="37" name="Text 35"/>
          <p:cNvSpPr txBox="1"/>
          <p:nvPr/>
        </p:nvSpPr>
        <p:spPr>
          <a:xfrm>
            <a:off x="8138160" y="278892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always think</a:t>
            </a:r>
            <a:endParaRPr lang="en-US" sz="1300" dirty="0"/>
          </a:p>
        </p:txBody>
      </p:sp>
      <p:sp>
        <p:nvSpPr>
          <p:cNvPr id="38" name="Compare two versions always think"/>
          <p:cNvSpPr/>
          <p:nvPr/>
        </p:nvSpPr>
        <p:spPr>
          <a:xfrm>
            <a:off x="9619488" y="2834640"/>
            <a:ext cx="1120140" cy="237744"/>
          </a:xfrm>
          <a:prstGeom prst="rect">
            <a:avLst/>
          </a:prstGeom>
          <a:solidFill>
            <a:srgbClr val="A5A5A5"/>
          </a:solidFill>
          <a:ln w="6350">
            <a:solidFill>
              <a:srgbClr val="A5A5A5"/>
            </a:solidFill>
            <a:prstDash val="solid"/>
          </a:ln>
        </p:spPr>
      </p:sp>
      <p:sp>
        <p:nvSpPr>
          <p:cNvPr id="39" name="Text 37"/>
          <p:cNvSpPr txBox="1"/>
          <p:nvPr/>
        </p:nvSpPr>
        <p:spPr>
          <a:xfrm>
            <a:off x="10794492" y="2788920"/>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98% · 5.9k</a:t>
            </a:r>
            <a:endParaRPr lang="en-US" sz="1300" dirty="0"/>
          </a:p>
        </p:txBody>
      </p:sp>
      <p:sp>
        <p:nvSpPr>
          <p:cNvPr id="40" name="Text 38"/>
          <p:cNvSpPr txBox="1"/>
          <p:nvPr/>
        </p:nvSpPr>
        <p:spPr>
          <a:xfrm>
            <a:off x="8138160" y="317296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think if differ</a:t>
            </a:r>
            <a:endParaRPr lang="en-US" sz="1300" dirty="0"/>
          </a:p>
        </p:txBody>
      </p:sp>
      <p:sp>
        <p:nvSpPr>
          <p:cNvPr id="41" name="Compare two versions think if differ"/>
          <p:cNvSpPr/>
          <p:nvPr/>
        </p:nvSpPr>
        <p:spPr>
          <a:xfrm>
            <a:off x="9619488" y="3218688"/>
            <a:ext cx="1131570" cy="237744"/>
          </a:xfrm>
          <a:prstGeom prst="rect">
            <a:avLst/>
          </a:prstGeom>
          <a:solidFill>
            <a:srgbClr val="4472C4"/>
          </a:solidFill>
          <a:ln w="6350">
            <a:solidFill>
              <a:srgbClr val="4472C4"/>
            </a:solidFill>
            <a:prstDash val="solid"/>
          </a:ln>
        </p:spPr>
      </p:sp>
      <p:sp>
        <p:nvSpPr>
          <p:cNvPr id="42" name="Text 40"/>
          <p:cNvSpPr txBox="1"/>
          <p:nvPr/>
        </p:nvSpPr>
        <p:spPr>
          <a:xfrm>
            <a:off x="10805922" y="3172968"/>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99% · 4.3k</a:t>
            </a:r>
            <a:endParaRPr lang="en-US" sz="1300" dirty="0"/>
          </a:p>
        </p:txBody>
      </p:sp>
      <p:sp>
        <p:nvSpPr>
          <p:cNvPr id="43" name="Text 41"/>
          <p:cNvSpPr txBox="1"/>
          <p:nvPr/>
        </p:nvSpPr>
        <p:spPr>
          <a:xfrm>
            <a:off x="548640" y="406908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Think only on failure</a:t>
            </a:r>
            <a:endParaRPr lang="en-US" sz="1700" dirty="0"/>
          </a:p>
        </p:txBody>
      </p:sp>
      <p:sp>
        <p:nvSpPr>
          <p:cNvPr id="44" name="Text 42"/>
          <p:cNvSpPr txBox="1"/>
          <p:nvPr/>
        </p:nvSpPr>
        <p:spPr>
          <a:xfrm>
            <a:off x="548640" y="4416552"/>
            <a:ext cx="3611880" cy="274320"/>
          </a:xfrm>
          <a:prstGeom prst="rect">
            <a:avLst/>
          </a:prstGeom>
          <a:noFill/>
          <a:ln/>
        </p:spPr>
        <p:txBody>
          <a:bodyPr wrap="square" lIns="0" tIns="0" rIns="0" bIns="0" rtlCol="0" anchor="ctr"/>
          <a:lstStyle/>
          <a:p>
            <a:pPr indent="0" marL="0">
              <a:buNone/>
            </a:pPr>
            <a:r>
              <a:rPr lang="en-US" sz="1200" dirty="0">
                <a:solidFill>
                  <a:schemeClr val="tx2"/>
                </a:solidFill>
              </a:rPr>
              <a:t>311 contest problems: % · tokens</a:t>
            </a:r>
            <a:endParaRPr lang="en-US" sz="1200" dirty="0"/>
          </a:p>
        </p:txBody>
      </p:sp>
      <p:sp>
        <p:nvSpPr>
          <p:cNvPr id="45" name="Text 43"/>
          <p:cNvSpPr txBox="1"/>
          <p:nvPr/>
        </p:nvSpPr>
        <p:spPr>
          <a:xfrm>
            <a:off x="548640" y="478231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always high</a:t>
            </a:r>
            <a:endParaRPr lang="en-US" sz="1300" dirty="0"/>
          </a:p>
        </p:txBody>
      </p:sp>
      <p:sp>
        <p:nvSpPr>
          <p:cNvPr id="46" name="Think only on failure always high"/>
          <p:cNvSpPr/>
          <p:nvPr/>
        </p:nvSpPr>
        <p:spPr>
          <a:xfrm>
            <a:off x="2029968" y="4828032"/>
            <a:ext cx="756666" cy="237744"/>
          </a:xfrm>
          <a:prstGeom prst="rect">
            <a:avLst/>
          </a:prstGeom>
          <a:solidFill>
            <a:srgbClr val="A5A5A5"/>
          </a:solidFill>
          <a:ln w="6350">
            <a:solidFill>
              <a:srgbClr val="A5A5A5"/>
            </a:solidFill>
            <a:prstDash val="solid"/>
          </a:ln>
        </p:spPr>
      </p:sp>
      <p:sp>
        <p:nvSpPr>
          <p:cNvPr id="47" name="Text 45"/>
          <p:cNvSpPr txBox="1"/>
          <p:nvPr/>
        </p:nvSpPr>
        <p:spPr>
          <a:xfrm>
            <a:off x="2841498" y="478231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66% · 30k</a:t>
            </a:r>
            <a:endParaRPr lang="en-US" sz="1300" dirty="0"/>
          </a:p>
        </p:txBody>
      </p:sp>
      <p:sp>
        <p:nvSpPr>
          <p:cNvPr id="48" name="Text 46"/>
          <p:cNvSpPr txBox="1"/>
          <p:nvPr/>
        </p:nvSpPr>
        <p:spPr>
          <a:xfrm>
            <a:off x="548640" y="516636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high on failure</a:t>
            </a:r>
            <a:endParaRPr lang="en-US" sz="1300" dirty="0"/>
          </a:p>
        </p:txBody>
      </p:sp>
      <p:sp>
        <p:nvSpPr>
          <p:cNvPr id="49" name="Think only on failure high on failure"/>
          <p:cNvSpPr/>
          <p:nvPr/>
        </p:nvSpPr>
        <p:spPr>
          <a:xfrm>
            <a:off x="2029968" y="5212080"/>
            <a:ext cx="757809" cy="237744"/>
          </a:xfrm>
          <a:prstGeom prst="rect">
            <a:avLst/>
          </a:prstGeom>
          <a:solidFill>
            <a:srgbClr val="4472C4"/>
          </a:solidFill>
          <a:ln w="6350">
            <a:solidFill>
              <a:srgbClr val="4472C4"/>
            </a:solidFill>
            <a:prstDash val="solid"/>
          </a:ln>
        </p:spPr>
      </p:sp>
      <p:sp>
        <p:nvSpPr>
          <p:cNvPr id="50" name="Text 48"/>
          <p:cNvSpPr txBox="1"/>
          <p:nvPr/>
        </p:nvSpPr>
        <p:spPr>
          <a:xfrm>
            <a:off x="2842641" y="5166360"/>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66% · 25k</a:t>
            </a:r>
            <a:endParaRPr lang="en-US" sz="1300" dirty="0"/>
          </a:p>
        </p:txBody>
      </p:sp>
      <p:sp>
        <p:nvSpPr>
          <p:cNvPr id="51" name="Text 49"/>
          <p:cNvSpPr txBox="1"/>
          <p:nvPr/>
        </p:nvSpPr>
        <p:spPr>
          <a:xfrm>
            <a:off x="4343400" y="406908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Reuse a checked program</a:t>
            </a:r>
            <a:endParaRPr lang="en-US" sz="1700" dirty="0"/>
          </a:p>
        </p:txBody>
      </p:sp>
      <p:sp>
        <p:nvSpPr>
          <p:cNvPr id="52" name="Text 50"/>
          <p:cNvSpPr txBox="1"/>
          <p:nvPr/>
        </p:nvSpPr>
        <p:spPr>
          <a:xfrm>
            <a:off x="4343400" y="4416552"/>
            <a:ext cx="3611880" cy="274320"/>
          </a:xfrm>
          <a:prstGeom prst="rect">
            <a:avLst/>
          </a:prstGeom>
          <a:noFill/>
          <a:ln/>
        </p:spPr>
        <p:txBody>
          <a:bodyPr wrap="square" lIns="0" tIns="0" rIns="0" bIns="0" rtlCol="0" anchor="ctr"/>
          <a:lstStyle/>
          <a:p>
            <a:pPr indent="0" marL="0">
              <a:buNone/>
            </a:pPr>
            <a:r>
              <a:rPr lang="en-US" sz="1200" dirty="0">
                <a:solidFill>
                  <a:schemeClr val="tx2"/>
                </a:solidFill>
              </a:rPr>
              <a:t>48 routing days: % valid · tokens</a:t>
            </a:r>
            <a:endParaRPr lang="en-US" sz="1200" dirty="0"/>
          </a:p>
        </p:txBody>
      </p:sp>
      <p:sp>
        <p:nvSpPr>
          <p:cNvPr id="53" name="Text 51"/>
          <p:cNvSpPr txBox="1"/>
          <p:nvPr/>
        </p:nvSpPr>
        <p:spPr>
          <a:xfrm>
            <a:off x="4343400" y="478231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new each day</a:t>
            </a:r>
            <a:endParaRPr lang="en-US" sz="1300" dirty="0"/>
          </a:p>
        </p:txBody>
      </p:sp>
      <p:sp>
        <p:nvSpPr>
          <p:cNvPr id="54" name="Reuse a checked program new each day"/>
          <p:cNvSpPr/>
          <p:nvPr/>
        </p:nvSpPr>
        <p:spPr>
          <a:xfrm>
            <a:off x="5824728" y="4828032"/>
            <a:ext cx="80010" cy="237744"/>
          </a:xfrm>
          <a:prstGeom prst="rect">
            <a:avLst/>
          </a:prstGeom>
          <a:solidFill>
            <a:srgbClr val="A5A5A5"/>
          </a:solidFill>
          <a:ln w="6350">
            <a:solidFill>
              <a:srgbClr val="A5A5A5"/>
            </a:solidFill>
            <a:prstDash val="solid"/>
          </a:ln>
        </p:spPr>
      </p:sp>
      <p:sp>
        <p:nvSpPr>
          <p:cNvPr id="55" name="Text 53"/>
          <p:cNvSpPr txBox="1"/>
          <p:nvPr/>
        </p:nvSpPr>
        <p:spPr>
          <a:xfrm>
            <a:off x="5959602" y="478231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7% · 86k</a:t>
            </a:r>
            <a:endParaRPr lang="en-US" sz="1300" dirty="0"/>
          </a:p>
        </p:txBody>
      </p:sp>
      <p:sp>
        <p:nvSpPr>
          <p:cNvPr id="56" name="Text 54"/>
          <p:cNvSpPr txBox="1"/>
          <p:nvPr/>
        </p:nvSpPr>
        <p:spPr>
          <a:xfrm>
            <a:off x="4343400" y="516636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own notes (DC)</a:t>
            </a:r>
            <a:endParaRPr lang="en-US" sz="1300" dirty="0"/>
          </a:p>
        </p:txBody>
      </p:sp>
      <p:sp>
        <p:nvSpPr>
          <p:cNvPr id="57" name="Reuse a checked program own notes (DC)"/>
          <p:cNvSpPr/>
          <p:nvPr/>
        </p:nvSpPr>
        <p:spPr>
          <a:xfrm>
            <a:off x="5824728" y="5212080"/>
            <a:ext cx="411480" cy="237744"/>
          </a:xfrm>
          <a:prstGeom prst="rect">
            <a:avLst/>
          </a:prstGeom>
          <a:solidFill>
            <a:srgbClr val="A5A5A5"/>
          </a:solidFill>
          <a:ln w="6350">
            <a:solidFill>
              <a:srgbClr val="A5A5A5"/>
            </a:solidFill>
            <a:prstDash val="solid"/>
          </a:ln>
        </p:spPr>
      </p:sp>
      <p:sp>
        <p:nvSpPr>
          <p:cNvPr id="58" name="Text 56"/>
          <p:cNvSpPr txBox="1"/>
          <p:nvPr/>
        </p:nvSpPr>
        <p:spPr>
          <a:xfrm>
            <a:off x="6291072" y="5166360"/>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31–40%</a:t>
            </a:r>
            <a:endParaRPr lang="en-US" sz="1300" dirty="0"/>
          </a:p>
        </p:txBody>
      </p:sp>
      <p:sp>
        <p:nvSpPr>
          <p:cNvPr id="59" name="Text 57"/>
          <p:cNvSpPr txBox="1"/>
          <p:nvPr/>
        </p:nvSpPr>
        <p:spPr>
          <a:xfrm>
            <a:off x="4343400" y="555040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reuse one</a:t>
            </a:r>
            <a:endParaRPr lang="en-US" sz="1300" dirty="0"/>
          </a:p>
        </p:txBody>
      </p:sp>
      <p:sp>
        <p:nvSpPr>
          <p:cNvPr id="60" name="Reuse a checked program reuse one"/>
          <p:cNvSpPr/>
          <p:nvPr/>
        </p:nvSpPr>
        <p:spPr>
          <a:xfrm>
            <a:off x="5824728" y="5596128"/>
            <a:ext cx="1074420" cy="237744"/>
          </a:xfrm>
          <a:prstGeom prst="rect">
            <a:avLst/>
          </a:prstGeom>
          <a:solidFill>
            <a:srgbClr val="4472C4"/>
          </a:solidFill>
          <a:ln w="6350">
            <a:solidFill>
              <a:srgbClr val="4472C4"/>
            </a:solidFill>
            <a:prstDash val="solid"/>
          </a:ln>
        </p:spPr>
      </p:sp>
      <p:sp>
        <p:nvSpPr>
          <p:cNvPr id="61" name="Text 59"/>
          <p:cNvSpPr txBox="1"/>
          <p:nvPr/>
        </p:nvSpPr>
        <p:spPr>
          <a:xfrm>
            <a:off x="6954012" y="5550408"/>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94% · 28k</a:t>
            </a:r>
            <a:endParaRPr lang="en-US" sz="1300" dirty="0"/>
          </a:p>
        </p:txBody>
      </p:sp>
      <p:sp>
        <p:nvSpPr>
          <p:cNvPr id="62" name="Text 60"/>
          <p:cNvSpPr txBox="1"/>
          <p:nvPr/>
        </p:nvSpPr>
        <p:spPr>
          <a:xfrm>
            <a:off x="8138160" y="4069080"/>
            <a:ext cx="3611880" cy="347472"/>
          </a:xfrm>
          <a:prstGeom prst="rect">
            <a:avLst/>
          </a:prstGeom>
          <a:noFill/>
          <a:ln/>
        </p:spPr>
        <p:txBody>
          <a:bodyPr wrap="square" lIns="0" tIns="0" rIns="0" bIns="0" rtlCol="0" anchor="ctr"/>
          <a:lstStyle/>
          <a:p>
            <a:pPr indent="0" marL="0">
              <a:buNone/>
            </a:pPr>
            <a:r>
              <a:rPr lang="en-US" sz="1700" b="1" dirty="0">
                <a:solidFill>
                  <a:schemeClr val="tx1"/>
                </a:solidFill>
              </a:rPr>
              <a:t>All together</a:t>
            </a:r>
            <a:endParaRPr lang="en-US" sz="1700" dirty="0"/>
          </a:p>
        </p:txBody>
      </p:sp>
      <p:sp>
        <p:nvSpPr>
          <p:cNvPr id="63" name="Text 61"/>
          <p:cNvSpPr txBox="1"/>
          <p:nvPr/>
        </p:nvSpPr>
        <p:spPr>
          <a:xfrm>
            <a:off x="8138160" y="4416552"/>
            <a:ext cx="3611880" cy="274320"/>
          </a:xfrm>
          <a:prstGeom prst="rect">
            <a:avLst/>
          </a:prstGeom>
          <a:noFill/>
          <a:ln/>
        </p:spPr>
        <p:txBody>
          <a:bodyPr wrap="square" lIns="0" tIns="0" rIns="0" bIns="0" rtlCol="0" anchor="ctr"/>
          <a:lstStyle/>
          <a:p>
            <a:pPr indent="0" marL="0">
              <a:buNone/>
            </a:pPr>
            <a:r>
              <a:rPr lang="en-US" sz="1200" dirty="0">
                <a:solidFill>
                  <a:schemeClr val="tx2"/>
                </a:solidFill>
              </a:rPr>
              <a:t>624 problems, 3 models: % · tokens</a:t>
            </a:r>
            <a:endParaRPr lang="en-US" sz="1200" dirty="0"/>
          </a:p>
        </p:txBody>
      </p:sp>
      <p:sp>
        <p:nvSpPr>
          <p:cNvPr id="64" name="Text 62"/>
          <p:cNvSpPr txBox="1"/>
          <p:nvPr/>
        </p:nvSpPr>
        <p:spPr>
          <a:xfrm>
            <a:off x="8138160" y="4782312"/>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think on hardest</a:t>
            </a:r>
            <a:endParaRPr lang="en-US" sz="1300" dirty="0"/>
          </a:p>
        </p:txBody>
      </p:sp>
      <p:sp>
        <p:nvSpPr>
          <p:cNvPr id="65" name="All together think on hardest"/>
          <p:cNvSpPr/>
          <p:nvPr/>
        </p:nvSpPr>
        <p:spPr>
          <a:xfrm>
            <a:off x="9619488" y="4828032"/>
            <a:ext cx="845820" cy="237744"/>
          </a:xfrm>
          <a:prstGeom prst="rect">
            <a:avLst/>
          </a:prstGeom>
          <a:solidFill>
            <a:srgbClr val="A5A5A5"/>
          </a:solidFill>
          <a:ln w="6350">
            <a:solidFill>
              <a:srgbClr val="A5A5A5"/>
            </a:solidFill>
            <a:prstDash val="solid"/>
          </a:ln>
        </p:spPr>
      </p:sp>
      <p:sp>
        <p:nvSpPr>
          <p:cNvPr id="66" name="Text 64"/>
          <p:cNvSpPr txBox="1"/>
          <p:nvPr/>
        </p:nvSpPr>
        <p:spPr>
          <a:xfrm>
            <a:off x="10520172" y="4782312"/>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74% · 4.1k</a:t>
            </a:r>
            <a:endParaRPr lang="en-US" sz="1300" dirty="0"/>
          </a:p>
        </p:txBody>
      </p:sp>
      <p:sp>
        <p:nvSpPr>
          <p:cNvPr id="67" name="Text 65"/>
          <p:cNvSpPr txBox="1"/>
          <p:nvPr/>
        </p:nvSpPr>
        <p:spPr>
          <a:xfrm>
            <a:off x="8138160" y="5166360"/>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fix by type</a:t>
            </a:r>
            <a:endParaRPr lang="en-US" sz="1300" dirty="0"/>
          </a:p>
        </p:txBody>
      </p:sp>
      <p:sp>
        <p:nvSpPr>
          <p:cNvPr id="68" name="All together fix by type"/>
          <p:cNvSpPr/>
          <p:nvPr/>
        </p:nvSpPr>
        <p:spPr>
          <a:xfrm>
            <a:off x="9619488" y="5212080"/>
            <a:ext cx="948690" cy="237744"/>
          </a:xfrm>
          <a:prstGeom prst="rect">
            <a:avLst/>
          </a:prstGeom>
          <a:solidFill>
            <a:srgbClr val="A5A5A5"/>
          </a:solidFill>
          <a:ln w="6350">
            <a:solidFill>
              <a:srgbClr val="A5A5A5"/>
            </a:solidFill>
            <a:prstDash val="solid"/>
          </a:ln>
        </p:spPr>
      </p:sp>
      <p:sp>
        <p:nvSpPr>
          <p:cNvPr id="69" name="Text 67"/>
          <p:cNvSpPr txBox="1"/>
          <p:nvPr/>
        </p:nvSpPr>
        <p:spPr>
          <a:xfrm>
            <a:off x="10623042" y="5166360"/>
            <a:ext cx="1051560" cy="329184"/>
          </a:xfrm>
          <a:prstGeom prst="rect">
            <a:avLst/>
          </a:prstGeom>
          <a:noFill/>
          <a:ln/>
        </p:spPr>
        <p:txBody>
          <a:bodyPr wrap="square" lIns="0" tIns="0" rIns="0" bIns="0" rtlCol="0" anchor="ctr"/>
          <a:lstStyle/>
          <a:p>
            <a:pPr indent="0" marL="0">
              <a:buNone/>
            </a:pPr>
            <a:r>
              <a:rPr lang="en-US" sz="1300" b="1" dirty="0">
                <a:solidFill>
                  <a:srgbClr val="595959"/>
                </a:solidFill>
              </a:rPr>
              <a:t>83% · 4.2k</a:t>
            </a:r>
            <a:endParaRPr lang="en-US" sz="1300" dirty="0"/>
          </a:p>
        </p:txBody>
      </p:sp>
      <p:sp>
        <p:nvSpPr>
          <p:cNvPr id="70" name="Text 68"/>
          <p:cNvSpPr txBox="1"/>
          <p:nvPr/>
        </p:nvSpPr>
        <p:spPr>
          <a:xfrm>
            <a:off x="8138160" y="5550408"/>
            <a:ext cx="1417320" cy="329184"/>
          </a:xfrm>
          <a:prstGeom prst="rect">
            <a:avLst/>
          </a:prstGeom>
          <a:noFill/>
          <a:ln/>
        </p:spPr>
        <p:txBody>
          <a:bodyPr wrap="square" lIns="0" tIns="0" rIns="0" bIns="0" rtlCol="0" anchor="ctr"/>
          <a:lstStyle/>
          <a:p>
            <a:pPr algn="r" indent="0" marL="0">
              <a:buNone/>
            </a:pPr>
            <a:r>
              <a:rPr lang="en-US" sz="1300" dirty="0">
                <a:solidFill>
                  <a:schemeClr val="tx1"/>
                </a:solidFill>
              </a:rPr>
              <a:t>fact first</a:t>
            </a:r>
            <a:endParaRPr lang="en-US" sz="1300" dirty="0"/>
          </a:p>
        </p:txBody>
      </p:sp>
      <p:sp>
        <p:nvSpPr>
          <p:cNvPr id="71" name="All together fact first"/>
          <p:cNvSpPr/>
          <p:nvPr/>
        </p:nvSpPr>
        <p:spPr>
          <a:xfrm>
            <a:off x="9619488" y="5596128"/>
            <a:ext cx="994410" cy="237744"/>
          </a:xfrm>
          <a:prstGeom prst="rect">
            <a:avLst/>
          </a:prstGeom>
          <a:solidFill>
            <a:srgbClr val="4472C4"/>
          </a:solidFill>
          <a:ln w="6350">
            <a:solidFill>
              <a:srgbClr val="4472C4"/>
            </a:solidFill>
            <a:prstDash val="solid"/>
          </a:ln>
        </p:spPr>
      </p:sp>
      <p:sp>
        <p:nvSpPr>
          <p:cNvPr id="72" name="Text 70"/>
          <p:cNvSpPr txBox="1"/>
          <p:nvPr/>
        </p:nvSpPr>
        <p:spPr>
          <a:xfrm>
            <a:off x="10668762" y="5550408"/>
            <a:ext cx="1051560" cy="329184"/>
          </a:xfrm>
          <a:prstGeom prst="rect">
            <a:avLst/>
          </a:prstGeom>
          <a:noFill/>
          <a:ln/>
        </p:spPr>
        <p:txBody>
          <a:bodyPr wrap="square" lIns="0" tIns="0" rIns="0" bIns="0" rtlCol="0" anchor="ctr"/>
          <a:lstStyle/>
          <a:p>
            <a:pPr indent="0" marL="0">
              <a:buNone/>
            </a:pPr>
            <a:r>
              <a:rPr lang="en-US" sz="1300" b="1" dirty="0">
                <a:solidFill>
                  <a:srgbClr val="4472C4"/>
                </a:solidFill>
              </a:rPr>
              <a:t>87% · 2.5k</a:t>
            </a:r>
            <a:endParaRPr lang="en-US" sz="13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1: give the fact, not the manual</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Task: plan delivery routes for trucks with a weight limit, using Google's OR-Tools library (Qwen3-32B)</a:t>
            </a:r>
            <a:endParaRPr lang="en-US" sz="1800" dirty="0"/>
          </a:p>
        </p:txBody>
      </p:sp>
      <p:sp>
        <p:nvSpPr>
          <p:cNvPr id="4" name="prompt Prompt A: task + a long OR-Tools reference sheet"/>
          <p:cNvSpPr/>
          <p:nvPr/>
        </p:nvSpPr>
        <p:spPr>
          <a:xfrm>
            <a:off x="548640" y="1783080"/>
            <a:ext cx="4572000" cy="1051560"/>
          </a:xfrm>
          <a:prstGeom prst="rect">
            <a:avLst/>
          </a:prstGeom>
          <a:solidFill>
            <a:srgbClr val="FCE4D6"/>
          </a:solidFill>
          <a:ln w="9525">
            <a:solidFill>
              <a:srgbClr val="BFBFBF"/>
            </a:solidFill>
            <a:prstDash val="solid"/>
          </a:ln>
        </p:spPr>
      </p:sp>
      <p:sp>
        <p:nvSpPr>
          <p:cNvPr id="5" name="Text 3"/>
          <p:cNvSpPr txBox="1"/>
          <p:nvPr/>
        </p:nvSpPr>
        <p:spPr>
          <a:xfrm>
            <a:off x="658368" y="1837944"/>
            <a:ext cx="4352544" cy="9418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A: task + a long OR-Tools reference sheet</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RoutingModel: AddDimension(...), Solve(...),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SetArcCostEvaluator(...), ... (many functions)</a:t>
            </a:r>
            <a:endParaRPr lang="en-US" sz="1150" dirty="0"/>
          </a:p>
        </p:txBody>
      </p:sp>
      <p:sp>
        <p:nvSpPr>
          <p:cNvPr id="6" name="Shape 4"/>
          <p:cNvSpPr/>
          <p:nvPr/>
        </p:nvSpPr>
        <p:spPr>
          <a:xfrm>
            <a:off x="5120640" y="2304288"/>
            <a:ext cx="365760" cy="0"/>
          </a:xfrm>
          <a:prstGeom prst="line">
            <a:avLst/>
          </a:prstGeom>
          <a:noFill/>
          <a:ln w="25400">
            <a:solidFill>
              <a:srgbClr val="7F7F7F"/>
            </a:solidFill>
            <a:prstDash val="solid"/>
            <a:tailEnd type="triangle"/>
          </a:ln>
        </p:spPr>
      </p:sp>
      <p:sp>
        <p:nvSpPr>
          <p:cNvPr id="7" name="code RegisterUnaryLongLiv"/>
          <p:cNvSpPr/>
          <p:nvPr/>
        </p:nvSpPr>
        <p:spPr>
          <a:xfrm>
            <a:off x="5486400" y="2057400"/>
            <a:ext cx="4206240" cy="502920"/>
          </a:xfrm>
          <a:prstGeom prst="rect">
            <a:avLst/>
          </a:prstGeom>
          <a:solidFill>
            <a:srgbClr val="FFFFFF"/>
          </a:solidFill>
          <a:ln w="9525">
            <a:solidFill>
              <a:srgbClr val="BFBFBF"/>
            </a:solidFill>
            <a:prstDash val="solid"/>
          </a:ln>
        </p:spPr>
      </p:sp>
      <p:sp>
        <p:nvSpPr>
          <p:cNvPr id="8" name="Text 6"/>
          <p:cNvSpPr txBox="1"/>
          <p:nvPr/>
        </p:nvSpPr>
        <p:spPr>
          <a:xfrm>
            <a:off x="5596128" y="2057400"/>
            <a:ext cx="3986784" cy="502920"/>
          </a:xfrm>
          <a:prstGeom prst="rect">
            <a:avLst/>
          </a:prstGeom>
          <a:noFill/>
          <a:ln/>
        </p:spPr>
        <p:txBody>
          <a:bodyPr wrap="square" lIns="0" tIns="0" rIns="0" bIns="0" rtlCol="0" anchor="ctr"/>
          <a:lstStyle/>
          <a:p>
            <a:pPr indent="0" marL="0">
              <a:buNone/>
            </a:pPr>
            <a:r>
              <a:rPr lang="en-US" sz="1200" dirty="0">
                <a:solidFill>
                  <a:srgbClr val="C00000"/>
                </a:solidFill>
                <a:latin typeface="Courier New" pitchFamily="34" charset="0"/>
                <a:ea typeface="Courier New" pitchFamily="34" charset="-122"/>
                <a:cs typeface="Courier New" pitchFamily="34" charset="-120"/>
              </a:rPr>
              <a:t>RegisterUnaryLongLivingCallback(...)</a:t>
            </a:r>
            <a:endParaRPr lang="en-US" sz="1200" dirty="0"/>
          </a:p>
        </p:txBody>
      </p:sp>
      <p:sp>
        <p:nvSpPr>
          <p:cNvPr id="9" name="Text 7"/>
          <p:cNvSpPr txBox="1"/>
          <p:nvPr/>
        </p:nvSpPr>
        <p:spPr>
          <a:xfrm>
            <a:off x="9829800" y="1965960"/>
            <a:ext cx="1828800" cy="685800"/>
          </a:xfrm>
          <a:prstGeom prst="rect">
            <a:avLst/>
          </a:prstGeom>
          <a:noFill/>
          <a:ln/>
        </p:spPr>
        <p:txBody>
          <a:bodyPr wrap="square" lIns="0" tIns="0" rIns="0" bIns="0" rtlCol="0" anchor="ctr"/>
          <a:lstStyle/>
          <a:p>
            <a:pPr indent="0" marL="0">
              <a:buNone/>
            </a:pPr>
            <a:r>
              <a:rPr lang="en-US" sz="1500" b="1" dirty="0">
                <a:solidFill>
                  <a:srgbClr val="C00000"/>
                </a:solidFill>
              </a:rPr>
              <a:t>✗ crash: no such function</a:t>
            </a:r>
            <a:endParaRPr lang="en-US" sz="1500" dirty="0"/>
          </a:p>
        </p:txBody>
      </p:sp>
      <p:sp>
        <p:nvSpPr>
          <p:cNvPr id="10" name="prompt Prompt B: task + 5 lines of exact usage"/>
          <p:cNvSpPr/>
          <p:nvPr/>
        </p:nvSpPr>
        <p:spPr>
          <a:xfrm>
            <a:off x="548640" y="3017520"/>
            <a:ext cx="4572000" cy="1051560"/>
          </a:xfrm>
          <a:prstGeom prst="rect">
            <a:avLst/>
          </a:prstGeom>
          <a:solidFill>
            <a:srgbClr val="E2F0D9"/>
          </a:solidFill>
          <a:ln w="9525">
            <a:solidFill>
              <a:srgbClr val="BFBFBF"/>
            </a:solidFill>
            <a:prstDash val="solid"/>
          </a:ln>
        </p:spPr>
      </p:sp>
      <p:sp>
        <p:nvSpPr>
          <p:cNvPr id="11" name="Text 9"/>
          <p:cNvSpPr txBox="1"/>
          <p:nvPr/>
        </p:nvSpPr>
        <p:spPr>
          <a:xfrm>
            <a:off x="658368" y="3072384"/>
            <a:ext cx="4352544" cy="94183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B: task + 5 lines of exact usage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dcb = r.RegisterUnaryTransitCallback(demand)</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r.AddDimensionWithVehicleCapacity(dcb, ...)</a:t>
            </a:r>
            <a:endParaRPr lang="en-US" sz="1150" dirty="0"/>
          </a:p>
        </p:txBody>
      </p:sp>
      <p:sp>
        <p:nvSpPr>
          <p:cNvPr id="12" name="Shape 10"/>
          <p:cNvSpPr/>
          <p:nvPr/>
        </p:nvSpPr>
        <p:spPr>
          <a:xfrm>
            <a:off x="5120640" y="3538728"/>
            <a:ext cx="365760" cy="0"/>
          </a:xfrm>
          <a:prstGeom prst="line">
            <a:avLst/>
          </a:prstGeom>
          <a:noFill/>
          <a:ln w="25400">
            <a:solidFill>
              <a:srgbClr val="7F7F7F"/>
            </a:solidFill>
            <a:prstDash val="solid"/>
            <a:tailEnd type="triangle"/>
          </a:ln>
        </p:spPr>
      </p:sp>
      <p:sp>
        <p:nvSpPr>
          <p:cNvPr id="13" name="code RegisterUnaryTransit"/>
          <p:cNvSpPr/>
          <p:nvPr/>
        </p:nvSpPr>
        <p:spPr>
          <a:xfrm>
            <a:off x="5486400" y="3291840"/>
            <a:ext cx="4206240" cy="502920"/>
          </a:xfrm>
          <a:prstGeom prst="rect">
            <a:avLst/>
          </a:prstGeom>
          <a:solidFill>
            <a:srgbClr val="FFFFFF"/>
          </a:solidFill>
          <a:ln w="9525">
            <a:solidFill>
              <a:srgbClr val="BFBFBF"/>
            </a:solidFill>
            <a:prstDash val="solid"/>
          </a:ln>
        </p:spPr>
      </p:sp>
      <p:sp>
        <p:nvSpPr>
          <p:cNvPr id="14" name="Text 12"/>
          <p:cNvSpPr txBox="1"/>
          <p:nvPr/>
        </p:nvSpPr>
        <p:spPr>
          <a:xfrm>
            <a:off x="5596128" y="3291840"/>
            <a:ext cx="3986784" cy="502920"/>
          </a:xfrm>
          <a:prstGeom prst="rect">
            <a:avLst/>
          </a:prstGeom>
          <a:noFill/>
          <a:ln/>
        </p:spPr>
        <p:txBody>
          <a:bodyPr wrap="square" lIns="0" tIns="0" rIns="0" bIns="0" rtlCol="0" anchor="ctr"/>
          <a:lstStyle/>
          <a:p>
            <a:pPr indent="0" marL="0">
              <a:buNone/>
            </a:pPr>
            <a:r>
              <a:rPr lang="en-US" sz="1200" dirty="0">
                <a:solidFill>
                  <a:srgbClr val="70AD47"/>
                </a:solidFill>
                <a:latin typeface="Courier New" pitchFamily="34" charset="0"/>
                <a:ea typeface="Courier New" pitchFamily="34" charset="-122"/>
                <a:cs typeface="Courier New" pitchFamily="34" charset="-120"/>
              </a:rPr>
              <a:t>RegisterUnaryTransitCallback(...)</a:t>
            </a:r>
            <a:endParaRPr lang="en-US" sz="1200" dirty="0"/>
          </a:p>
        </p:txBody>
      </p:sp>
      <p:sp>
        <p:nvSpPr>
          <p:cNvPr id="15" name="Text 13"/>
          <p:cNvSpPr txBox="1"/>
          <p:nvPr/>
        </p:nvSpPr>
        <p:spPr>
          <a:xfrm>
            <a:off x="9829800" y="3200400"/>
            <a:ext cx="1828800" cy="685800"/>
          </a:xfrm>
          <a:prstGeom prst="rect">
            <a:avLst/>
          </a:prstGeom>
          <a:noFill/>
          <a:ln/>
        </p:spPr>
        <p:txBody>
          <a:bodyPr wrap="square" lIns="0" tIns="0" rIns="0" bIns="0" rtlCol="0" anchor="ctr"/>
          <a:lstStyle/>
          <a:p>
            <a:pPr indent="0" marL="0">
              <a:buNone/>
            </a:pPr>
            <a:r>
              <a:rPr lang="en-US" sz="1500" b="1" dirty="0">
                <a:solidFill>
                  <a:srgbClr val="70AD47"/>
                </a:solidFill>
              </a:rPr>
              <a:t>✓ runs, best route</a:t>
            </a:r>
            <a:endParaRPr lang="en-US" sz="1500" dirty="0"/>
          </a:p>
        </p:txBody>
      </p:sp>
      <p:sp>
        <p:nvSpPr>
          <p:cNvPr id="16" name="Text 14"/>
          <p:cNvSpPr txBox="1"/>
          <p:nvPr/>
        </p:nvSpPr>
        <p:spPr>
          <a:xfrm>
            <a:off x="548640" y="425196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Out of 100 routing problems, how many it solves best:</a:t>
            </a:r>
            <a:endParaRPr lang="en-US" sz="1700" dirty="0"/>
          </a:p>
        </p:txBody>
      </p:sp>
      <p:sp>
        <p:nvSpPr>
          <p:cNvPr id="17" name="Text 15"/>
          <p:cNvSpPr txBox="1"/>
          <p:nvPr/>
        </p:nvSpPr>
        <p:spPr>
          <a:xfrm>
            <a:off x="548640" y="4617720"/>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Nothing extra</a:t>
            </a:r>
            <a:endParaRPr lang="en-US" sz="1600" dirty="0"/>
          </a:p>
        </p:txBody>
      </p:sp>
      <p:sp>
        <p:nvSpPr>
          <p:cNvPr id="18" name="bar Nothing extra"/>
          <p:cNvSpPr/>
          <p:nvPr/>
        </p:nvSpPr>
        <p:spPr>
          <a:xfrm>
            <a:off x="3429000" y="4669841"/>
            <a:ext cx="1556309" cy="173736"/>
          </a:xfrm>
          <a:prstGeom prst="rect">
            <a:avLst/>
          </a:prstGeom>
          <a:solidFill>
            <a:srgbClr val="7F7F7F"/>
          </a:solidFill>
          <a:ln w="6350">
            <a:solidFill>
              <a:srgbClr val="7F7F7F"/>
            </a:solidFill>
            <a:prstDash val="solid"/>
          </a:ln>
        </p:spPr>
      </p:sp>
      <p:sp>
        <p:nvSpPr>
          <p:cNvPr id="19" name="Text 17"/>
          <p:cNvSpPr txBox="1"/>
          <p:nvPr/>
        </p:nvSpPr>
        <p:spPr>
          <a:xfrm>
            <a:off x="5076749" y="4617720"/>
            <a:ext cx="1371600" cy="277978"/>
          </a:xfrm>
          <a:prstGeom prst="rect">
            <a:avLst/>
          </a:prstGeom>
          <a:noFill/>
          <a:ln/>
        </p:spPr>
        <p:txBody>
          <a:bodyPr wrap="square" lIns="0" tIns="0" rIns="0" bIns="0" rtlCol="0" anchor="ctr"/>
          <a:lstStyle/>
          <a:p>
            <a:pPr indent="0" marL="0">
              <a:buNone/>
            </a:pPr>
            <a:r>
              <a:rPr lang="en-US" sz="1800" b="1" dirty="0">
                <a:solidFill>
                  <a:srgbClr val="7F7F7F"/>
                </a:solidFill>
              </a:rPr>
              <a:t>23</a:t>
            </a:r>
            <a:endParaRPr lang="en-US" sz="1800" dirty="0"/>
          </a:p>
        </p:txBody>
      </p:sp>
      <p:sp>
        <p:nvSpPr>
          <p:cNvPr id="20" name="Text 18"/>
          <p:cNvSpPr txBox="1"/>
          <p:nvPr/>
        </p:nvSpPr>
        <p:spPr>
          <a:xfrm>
            <a:off x="548640" y="4965192"/>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Think longer</a:t>
            </a:r>
            <a:endParaRPr lang="en-US" sz="1600" dirty="0"/>
          </a:p>
        </p:txBody>
      </p:sp>
      <p:sp>
        <p:nvSpPr>
          <p:cNvPr id="21" name="bar Think longer"/>
          <p:cNvSpPr/>
          <p:nvPr/>
        </p:nvSpPr>
        <p:spPr>
          <a:xfrm>
            <a:off x="3429000" y="5017313"/>
            <a:ext cx="202997" cy="173736"/>
          </a:xfrm>
          <a:prstGeom prst="rect">
            <a:avLst/>
          </a:prstGeom>
          <a:solidFill>
            <a:srgbClr val="C00000"/>
          </a:solidFill>
          <a:ln w="6350">
            <a:solidFill>
              <a:srgbClr val="C00000"/>
            </a:solidFill>
            <a:prstDash val="solid"/>
          </a:ln>
        </p:spPr>
      </p:sp>
      <p:sp>
        <p:nvSpPr>
          <p:cNvPr id="22" name="Text 20"/>
          <p:cNvSpPr txBox="1"/>
          <p:nvPr/>
        </p:nvSpPr>
        <p:spPr>
          <a:xfrm>
            <a:off x="3723437" y="4965192"/>
            <a:ext cx="1371600" cy="277978"/>
          </a:xfrm>
          <a:prstGeom prst="rect">
            <a:avLst/>
          </a:prstGeom>
          <a:noFill/>
          <a:ln/>
        </p:spPr>
        <p:txBody>
          <a:bodyPr wrap="square" lIns="0" tIns="0" rIns="0" bIns="0" rtlCol="0" anchor="ctr"/>
          <a:lstStyle/>
          <a:p>
            <a:pPr indent="0" marL="0">
              <a:buNone/>
            </a:pPr>
            <a:r>
              <a:rPr lang="en-US" sz="1800" b="1" dirty="0">
                <a:solidFill>
                  <a:srgbClr val="C00000"/>
                </a:solidFill>
              </a:rPr>
              <a:t>3</a:t>
            </a:r>
            <a:endParaRPr lang="en-US" sz="1800" dirty="0"/>
          </a:p>
        </p:txBody>
      </p:sp>
      <p:sp>
        <p:nvSpPr>
          <p:cNvPr id="23" name="Text 21"/>
          <p:cNvSpPr txBox="1"/>
          <p:nvPr/>
        </p:nvSpPr>
        <p:spPr>
          <a:xfrm>
            <a:off x="548640" y="5312664"/>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Long reference sheet</a:t>
            </a:r>
            <a:endParaRPr lang="en-US" sz="1600" dirty="0"/>
          </a:p>
        </p:txBody>
      </p:sp>
      <p:sp>
        <p:nvSpPr>
          <p:cNvPr id="24" name="bar Long reference sheet"/>
          <p:cNvSpPr/>
          <p:nvPr/>
        </p:nvSpPr>
        <p:spPr>
          <a:xfrm>
            <a:off x="3429000" y="5364785"/>
            <a:ext cx="473659" cy="173736"/>
          </a:xfrm>
          <a:prstGeom prst="rect">
            <a:avLst/>
          </a:prstGeom>
          <a:solidFill>
            <a:srgbClr val="C00000"/>
          </a:solidFill>
          <a:ln w="6350">
            <a:solidFill>
              <a:srgbClr val="C00000"/>
            </a:solidFill>
            <a:prstDash val="solid"/>
          </a:ln>
        </p:spPr>
      </p:sp>
      <p:sp>
        <p:nvSpPr>
          <p:cNvPr id="25" name="Text 23"/>
          <p:cNvSpPr txBox="1"/>
          <p:nvPr/>
        </p:nvSpPr>
        <p:spPr>
          <a:xfrm>
            <a:off x="3994099" y="5312664"/>
            <a:ext cx="1371600" cy="277978"/>
          </a:xfrm>
          <a:prstGeom prst="rect">
            <a:avLst/>
          </a:prstGeom>
          <a:noFill/>
          <a:ln/>
        </p:spPr>
        <p:txBody>
          <a:bodyPr wrap="square" lIns="0" tIns="0" rIns="0" bIns="0" rtlCol="0" anchor="ctr"/>
          <a:lstStyle/>
          <a:p>
            <a:pPr indent="0" marL="0">
              <a:buNone/>
            </a:pPr>
            <a:r>
              <a:rPr lang="en-US" sz="1800" b="1" dirty="0">
                <a:solidFill>
                  <a:srgbClr val="C00000"/>
                </a:solidFill>
              </a:rPr>
              <a:t>7</a:t>
            </a:r>
            <a:endParaRPr lang="en-US" sz="1800" dirty="0"/>
          </a:p>
        </p:txBody>
      </p:sp>
      <p:sp>
        <p:nvSpPr>
          <p:cNvPr id="26" name="Text 24"/>
          <p:cNvSpPr txBox="1"/>
          <p:nvPr/>
        </p:nvSpPr>
        <p:spPr>
          <a:xfrm>
            <a:off x="548640" y="5660136"/>
            <a:ext cx="2743200" cy="277978"/>
          </a:xfrm>
          <a:prstGeom prst="rect">
            <a:avLst/>
          </a:prstGeom>
          <a:noFill/>
          <a:ln/>
        </p:spPr>
        <p:txBody>
          <a:bodyPr wrap="square" lIns="0" tIns="0" rIns="0" bIns="0" rtlCol="0" anchor="ctr"/>
          <a:lstStyle/>
          <a:p>
            <a:pPr algn="r" indent="0" marL="0">
              <a:buNone/>
            </a:pPr>
            <a:r>
              <a:rPr lang="en-US" sz="1600" dirty="0">
                <a:solidFill>
                  <a:schemeClr val="tx1"/>
                </a:solidFill>
              </a:rPr>
              <a:t>5 exact lines</a:t>
            </a:r>
            <a:endParaRPr lang="en-US" sz="1600" dirty="0"/>
          </a:p>
        </p:txBody>
      </p:sp>
      <p:sp>
        <p:nvSpPr>
          <p:cNvPr id="27" name="bar 5 exact lines"/>
          <p:cNvSpPr/>
          <p:nvPr/>
        </p:nvSpPr>
        <p:spPr>
          <a:xfrm>
            <a:off x="3429000" y="5712257"/>
            <a:ext cx="5616245" cy="173736"/>
          </a:xfrm>
          <a:prstGeom prst="rect">
            <a:avLst/>
          </a:prstGeom>
          <a:solidFill>
            <a:srgbClr val="70AD47"/>
          </a:solidFill>
          <a:ln w="6350">
            <a:solidFill>
              <a:srgbClr val="70AD47"/>
            </a:solidFill>
            <a:prstDash val="solid"/>
          </a:ln>
        </p:spPr>
      </p:sp>
      <p:sp>
        <p:nvSpPr>
          <p:cNvPr id="28" name="Text 26"/>
          <p:cNvSpPr txBox="1"/>
          <p:nvPr/>
        </p:nvSpPr>
        <p:spPr>
          <a:xfrm>
            <a:off x="9136685" y="5660136"/>
            <a:ext cx="1371600" cy="277978"/>
          </a:xfrm>
          <a:prstGeom prst="rect">
            <a:avLst/>
          </a:prstGeom>
          <a:noFill/>
          <a:ln/>
        </p:spPr>
        <p:txBody>
          <a:bodyPr wrap="square" lIns="0" tIns="0" rIns="0" bIns="0" rtlCol="0" anchor="ctr"/>
          <a:lstStyle/>
          <a:p>
            <a:pPr indent="0" marL="0">
              <a:buNone/>
            </a:pPr>
            <a:r>
              <a:rPr lang="en-US" sz="1800" b="1" dirty="0">
                <a:solidFill>
                  <a:srgbClr val="70AD47"/>
                </a:solidFill>
              </a:rPr>
              <a:t>77–90</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2: one fact helps small models most</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Word problems → optimization programs (NL4OPT + IndustryOR, 345 problems, 3 runs): % solved</a:t>
            </a:r>
            <a:endParaRPr lang="en-US" sz="1800" dirty="0"/>
          </a:p>
        </p:txBody>
      </p:sp>
      <p:graphicFrame>
        <p:nvGraphicFramePr>
          <p:cNvPr id="4" name="fact gain by model size" descr=""/>
          <p:cNvGraphicFramePr/>
          <p:nvPr/>
        </p:nvGraphicFramePr>
        <p:xfrm>
          <a:off x="548640" y="1691640"/>
          <a:ext cx="74980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783080"/>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+44</a:t>
            </a:r>
            <a:endParaRPr lang="en-US" sz="2200" dirty="0"/>
          </a:p>
        </p:txBody>
      </p:sp>
      <p:sp>
        <p:nvSpPr>
          <p:cNvPr id="6" name="Text 3"/>
          <p:cNvSpPr txBox="1"/>
          <p:nvPr/>
        </p:nvSpPr>
        <p:spPr>
          <a:xfrm>
            <a:off x="9464040" y="1783080"/>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Qwen3-1.7B</a:t>
            </a:r>
            <a:endParaRPr lang="en-US" sz="1500" dirty="0"/>
          </a:p>
        </p:txBody>
      </p:sp>
      <p:sp>
        <p:nvSpPr>
          <p:cNvPr id="7" name="Text 4"/>
          <p:cNvSpPr txBox="1"/>
          <p:nvPr/>
        </p:nvSpPr>
        <p:spPr>
          <a:xfrm>
            <a:off x="8412480" y="2350008"/>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+31</a:t>
            </a:r>
            <a:endParaRPr lang="en-US" sz="2200" dirty="0"/>
          </a:p>
        </p:txBody>
      </p:sp>
      <p:sp>
        <p:nvSpPr>
          <p:cNvPr id="8" name="Text 5"/>
          <p:cNvSpPr txBox="1"/>
          <p:nvPr/>
        </p:nvSpPr>
        <p:spPr>
          <a:xfrm>
            <a:off x="9464040" y="2350008"/>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Qwen3-4B</a:t>
            </a:r>
            <a:endParaRPr lang="en-US" sz="1500" dirty="0"/>
          </a:p>
        </p:txBody>
      </p:sp>
      <p:sp>
        <p:nvSpPr>
          <p:cNvPr id="9" name="Text 6"/>
          <p:cNvSpPr txBox="1"/>
          <p:nvPr/>
        </p:nvSpPr>
        <p:spPr>
          <a:xfrm>
            <a:off x="8412480" y="2916936"/>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+17</a:t>
            </a:r>
            <a:endParaRPr lang="en-US" sz="2200" dirty="0"/>
          </a:p>
        </p:txBody>
      </p:sp>
      <p:sp>
        <p:nvSpPr>
          <p:cNvPr id="10" name="Text 7"/>
          <p:cNvSpPr txBox="1"/>
          <p:nvPr/>
        </p:nvSpPr>
        <p:spPr>
          <a:xfrm>
            <a:off x="9464040" y="2916936"/>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Qwen3-8B</a:t>
            </a:r>
            <a:endParaRPr lang="en-US" sz="1500" dirty="0"/>
          </a:p>
        </p:txBody>
      </p:sp>
      <p:sp>
        <p:nvSpPr>
          <p:cNvPr id="11" name="Text 8"/>
          <p:cNvSpPr txBox="1"/>
          <p:nvPr/>
        </p:nvSpPr>
        <p:spPr>
          <a:xfrm>
            <a:off x="8412480" y="3483864"/>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+8</a:t>
            </a:r>
            <a:endParaRPr lang="en-US" sz="2200" dirty="0"/>
          </a:p>
        </p:txBody>
      </p:sp>
      <p:sp>
        <p:nvSpPr>
          <p:cNvPr id="12" name="Text 9"/>
          <p:cNvSpPr txBox="1"/>
          <p:nvPr/>
        </p:nvSpPr>
        <p:spPr>
          <a:xfrm>
            <a:off x="9464040" y="3483864"/>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Qwen3-14B</a:t>
            </a:r>
            <a:endParaRPr lang="en-US" sz="1500" dirty="0"/>
          </a:p>
        </p:txBody>
      </p:sp>
      <p:sp>
        <p:nvSpPr>
          <p:cNvPr id="13" name="Text 10"/>
          <p:cNvSpPr txBox="1"/>
          <p:nvPr/>
        </p:nvSpPr>
        <p:spPr>
          <a:xfrm>
            <a:off x="8412480" y="4050792"/>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a:t>
            </a:r>
            <a:endParaRPr lang="en-US" sz="2200" dirty="0"/>
          </a:p>
        </p:txBody>
      </p:sp>
      <p:sp>
        <p:nvSpPr>
          <p:cNvPr id="14" name="Text 11"/>
          <p:cNvSpPr txBox="1"/>
          <p:nvPr/>
        </p:nvSpPr>
        <p:spPr>
          <a:xfrm>
            <a:off x="9464040" y="4050792"/>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Qwen3-32B</a:t>
            </a:r>
            <a:endParaRPr lang="en-US" sz="1500" dirty="0"/>
          </a:p>
        </p:txBody>
      </p:sp>
      <p:sp>
        <p:nvSpPr>
          <p:cNvPr id="15" name="Text 12"/>
          <p:cNvSpPr txBox="1"/>
          <p:nvPr/>
        </p:nvSpPr>
        <p:spPr>
          <a:xfrm>
            <a:off x="8412480" y="4663440"/>
            <a:ext cx="3200400" cy="365760"/>
          </a:xfrm>
          <a:prstGeom prst="rect">
            <a:avLst/>
          </a:prstGeom>
          <a:noFill/>
          <a:ln/>
        </p:spPr>
        <p:txBody>
          <a:bodyPr wrap="square" lIns="0" tIns="0" rIns="0" bIns="0" rtlCol="0" anchor="ctr"/>
          <a:lstStyle/>
          <a:p>
            <a:pPr indent="0" marL="0">
              <a:buNone/>
            </a:pPr>
            <a:r>
              <a:rPr lang="en-US" sz="1300" dirty="0">
                <a:solidFill>
                  <a:schemeClr val="tx2"/>
                </a:solidFill>
              </a:rPr>
              <a:t>fact gain (points)</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With the fact, a model on one 24 GB GPU matches Qwen3-32B (73% vs 72%) at 1/8 of the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3: two versions catch each other's mistakes</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Extra tools can mislead the model. Write the program with and without them, and compare:</a:t>
            </a:r>
            <a:endParaRPr lang="en-US" sz="1800" dirty="0"/>
          </a:p>
        </p:txBody>
      </p:sp>
      <p:pic>
        <p:nvPicPr>
          <p:cNvPr id="4" name="ten points and their hull" descr="10 points; the rubber band touches 6 of them">    </p:cNvPr>
          <p:cNvPicPr>
            <a:picLocks noChangeAspect="1"/>
          </p:cNvPicPr>
          <p:nvPr/>
        </p:nvPicPr>
        <p:blipFill>
          <a:blip r:embed="rId1"/>
          <a:stretch>
            <a:fillRect/>
          </a:stretch>
        </p:blipFill>
        <p:spPr>
          <a:xfrm>
            <a:off x="685800" y="1783080"/>
            <a:ext cx="1874520" cy="1874520"/>
          </a:xfrm>
          <a:prstGeom prst="rect">
            <a:avLst/>
          </a:prstGeom>
        </p:spPr>
      </p:pic>
      <p:sp>
        <p:nvSpPr>
          <p:cNvPr id="5" name="Text 2"/>
          <p:cNvSpPr txBox="1"/>
          <p:nvPr/>
        </p:nvSpPr>
        <p:spPr>
          <a:xfrm>
            <a:off x="365760" y="3657600"/>
            <a:ext cx="2514600" cy="365760"/>
          </a:xfrm>
          <a:prstGeom prst="rect">
            <a:avLst/>
          </a:prstGeom>
          <a:noFill/>
          <a:ln/>
        </p:spPr>
        <p:txBody>
          <a:bodyPr wrap="square" lIns="0" tIns="0" rIns="0" bIns="0" rtlCol="0" anchor="ctr"/>
          <a:lstStyle/>
          <a:p>
            <a:pPr algn="ctr" indent="0" marL="0">
              <a:buNone/>
            </a:pPr>
            <a:r>
              <a:rPr lang="en-US" sz="1200" b="1" dirty="0">
                <a:solidFill>
                  <a:srgbClr val="70AD47"/>
                </a:solidFill>
              </a:rPr>
              <a:t>rubber band around 10 points: 6 corners</a:t>
            </a:r>
            <a:endParaRPr lang="en-US" sz="1200" dirty="0"/>
          </a:p>
        </p:txBody>
      </p:sp>
      <p:sp>
        <p:nvSpPr>
          <p:cNvPr id="6" name="prompt Prompt A: only the task"/>
          <p:cNvSpPr/>
          <p:nvPr/>
        </p:nvSpPr>
        <p:spPr>
          <a:xfrm>
            <a:off x="3246120" y="1783080"/>
            <a:ext cx="3749040" cy="914400"/>
          </a:xfrm>
          <a:prstGeom prst="rect">
            <a:avLst/>
          </a:prstGeom>
          <a:solidFill>
            <a:srgbClr val="FFFFFF"/>
          </a:solidFill>
          <a:ln w="9525">
            <a:solidFill>
              <a:srgbClr val="BFBFBF"/>
            </a:solidFill>
            <a:prstDash val="solid"/>
          </a:ln>
        </p:spPr>
      </p:sp>
      <p:sp>
        <p:nvSpPr>
          <p:cNvPr id="7" name="Text 4"/>
          <p:cNvSpPr txBox="1"/>
          <p:nvPr/>
        </p:nvSpPr>
        <p:spPr>
          <a:xfrm>
            <a:off x="3355848" y="1837944"/>
            <a:ext cx="3529584" cy="80467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A: only 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Points: (20,-40) (-26,-18) ...</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How many corners does the rubber</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band have? Write a Python program.</a:t>
            </a:r>
            <a:endParaRPr lang="en-US" sz="1150" dirty="0"/>
          </a:p>
        </p:txBody>
      </p:sp>
      <p:sp>
        <p:nvSpPr>
          <p:cNvPr id="8" name="Shape 5"/>
          <p:cNvSpPr/>
          <p:nvPr/>
        </p:nvSpPr>
        <p:spPr>
          <a:xfrm>
            <a:off x="6995160" y="2240280"/>
            <a:ext cx="411480" cy="0"/>
          </a:xfrm>
          <a:prstGeom prst="line">
            <a:avLst/>
          </a:prstGeom>
          <a:noFill/>
          <a:ln w="25400">
            <a:solidFill>
              <a:srgbClr val="7F7F7F"/>
            </a:solidFill>
            <a:prstDash val="solid"/>
            <a:tailEnd type="triangle"/>
          </a:ln>
        </p:spPr>
      </p:sp>
      <p:sp>
        <p:nvSpPr>
          <p:cNvPr id="9" name="answer 6 ✓"/>
          <p:cNvSpPr/>
          <p:nvPr/>
        </p:nvSpPr>
        <p:spPr>
          <a:xfrm>
            <a:off x="7452360" y="1965960"/>
            <a:ext cx="1554480" cy="548640"/>
          </a:xfrm>
          <a:prstGeom prst="roundRect">
            <a:avLst>
              <a:gd name="adj" fmla="val 16667"/>
            </a:avLst>
          </a:prstGeom>
          <a:solidFill>
            <a:srgbClr val="E2F0D9"/>
          </a:solidFill>
          <a:ln w="12700">
            <a:solidFill>
              <a:srgbClr val="70AD47"/>
            </a:solidFill>
            <a:prstDash val="solid"/>
          </a:ln>
        </p:spPr>
      </p:sp>
      <p:sp>
        <p:nvSpPr>
          <p:cNvPr id="10" name="Text 7"/>
          <p:cNvSpPr txBox="1"/>
          <p:nvPr/>
        </p:nvSpPr>
        <p:spPr>
          <a:xfrm>
            <a:off x="7452360" y="19659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6 ✓</a:t>
            </a:r>
            <a:endParaRPr lang="en-US" sz="2200" dirty="0"/>
          </a:p>
        </p:txBody>
      </p:sp>
      <p:sp>
        <p:nvSpPr>
          <p:cNvPr id="11" name="prompt Prompt B: the task + 8 helpers"/>
          <p:cNvSpPr/>
          <p:nvPr/>
        </p:nvSpPr>
        <p:spPr>
          <a:xfrm>
            <a:off x="3246120" y="2834640"/>
            <a:ext cx="3749040" cy="1261872"/>
          </a:xfrm>
          <a:prstGeom prst="rect">
            <a:avLst/>
          </a:prstGeom>
          <a:solidFill>
            <a:srgbClr val="FCE4D6"/>
          </a:solidFill>
          <a:ln w="9525">
            <a:solidFill>
              <a:srgbClr val="BFBFBF"/>
            </a:solidFill>
            <a:prstDash val="solid"/>
          </a:ln>
        </p:spPr>
      </p:sp>
      <p:sp>
        <p:nvSpPr>
          <p:cNvPr id="12" name="Text 9"/>
          <p:cNvSpPr txBox="1"/>
          <p:nvPr/>
        </p:nvSpPr>
        <p:spPr>
          <a:xfrm>
            <a:off x="3355848" y="2889504"/>
            <a:ext cx="3529584" cy="1152144"/>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B: the task + 8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...same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You may use these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orient(a, b, c)    # side of a line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polar_sort(pts, o) # sort by angle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and 6 more</a:t>
            </a:r>
            <a:endParaRPr lang="en-US" sz="1150" dirty="0"/>
          </a:p>
        </p:txBody>
      </p:sp>
      <p:sp>
        <p:nvSpPr>
          <p:cNvPr id="13" name="Shape 10"/>
          <p:cNvSpPr/>
          <p:nvPr/>
        </p:nvSpPr>
        <p:spPr>
          <a:xfrm>
            <a:off x="6995160" y="3401568"/>
            <a:ext cx="411480" cy="0"/>
          </a:xfrm>
          <a:prstGeom prst="line">
            <a:avLst/>
          </a:prstGeom>
          <a:noFill/>
          <a:ln w="25400">
            <a:solidFill>
              <a:srgbClr val="7F7F7F"/>
            </a:solidFill>
            <a:prstDash val="solid"/>
            <a:tailEnd type="triangle"/>
          </a:ln>
        </p:spPr>
      </p:sp>
      <p:sp>
        <p:nvSpPr>
          <p:cNvPr id="14" name="answer 0 ✗"/>
          <p:cNvSpPr/>
          <p:nvPr/>
        </p:nvSpPr>
        <p:spPr>
          <a:xfrm>
            <a:off x="7452360" y="3127248"/>
            <a:ext cx="1554480" cy="548640"/>
          </a:xfrm>
          <a:prstGeom prst="roundRect">
            <a:avLst>
              <a:gd name="adj" fmla="val 16667"/>
            </a:avLst>
          </a:prstGeom>
          <a:solidFill>
            <a:srgbClr val="FADBD8"/>
          </a:solidFill>
          <a:ln w="12700">
            <a:solidFill>
              <a:srgbClr val="C00000"/>
            </a:solidFill>
            <a:prstDash val="solid"/>
          </a:ln>
        </p:spPr>
      </p:sp>
      <p:sp>
        <p:nvSpPr>
          <p:cNvPr id="15" name="Text 12"/>
          <p:cNvSpPr txBox="1"/>
          <p:nvPr/>
        </p:nvSpPr>
        <p:spPr>
          <a:xfrm>
            <a:off x="7452360" y="3127248"/>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0 ✗</a:t>
            </a:r>
            <a:endParaRPr lang="en-US" sz="2200" dirty="0"/>
          </a:p>
        </p:txBody>
      </p:sp>
      <p:sp>
        <p:nvSpPr>
          <p:cNvPr id="16" name="Text 13"/>
          <p:cNvSpPr txBox="1"/>
          <p:nvPr/>
        </p:nvSpPr>
        <p:spPr>
          <a:xfrm>
            <a:off x="7315200" y="3703320"/>
            <a:ext cx="2011680" cy="320040"/>
          </a:xfrm>
          <a:prstGeom prst="rect">
            <a:avLst/>
          </a:prstGeom>
          <a:noFill/>
          <a:ln/>
        </p:spPr>
        <p:txBody>
          <a:bodyPr wrap="square" lIns="0" tIns="0" rIns="0" bIns="0" rtlCol="0" anchor="ctr"/>
          <a:lstStyle/>
          <a:p>
            <a:pPr algn="ctr" indent="0" marL="0">
              <a:buNone/>
            </a:pPr>
            <a:r>
              <a:rPr lang="en-US" sz="1200" dirty="0">
                <a:solidFill>
                  <a:schemeClr val="tx2"/>
                </a:solidFill>
              </a:rPr>
              <a:t>used polar_sort: wrong method</a:t>
            </a:r>
            <a:endParaRPr lang="en-US" sz="1200" dirty="0"/>
          </a:p>
        </p:txBody>
      </p:sp>
      <p:sp>
        <p:nvSpPr>
          <p:cNvPr id="17" name="Shape 14"/>
          <p:cNvSpPr/>
          <p:nvPr/>
        </p:nvSpPr>
        <p:spPr>
          <a:xfrm>
            <a:off x="9052560" y="2240280"/>
            <a:ext cx="411480" cy="411480"/>
          </a:xfrm>
          <a:prstGeom prst="line">
            <a:avLst/>
          </a:prstGeom>
          <a:noFill/>
          <a:ln w="25400">
            <a:solidFill>
              <a:srgbClr val="7F7F7F"/>
            </a:solidFill>
            <a:prstDash val="solid"/>
            <a:tailEnd type="triangle"/>
          </a:ln>
        </p:spPr>
      </p:sp>
      <p:sp>
        <p:nvSpPr>
          <p:cNvPr id="18" name="Shape 15"/>
          <p:cNvSpPr/>
          <p:nvPr/>
        </p:nvSpPr>
        <p:spPr>
          <a:xfrm flipV="1">
            <a:off x="9052560" y="3017520"/>
            <a:ext cx="411480" cy="384048"/>
          </a:xfrm>
          <a:prstGeom prst="line">
            <a:avLst/>
          </a:prstGeom>
          <a:noFill/>
          <a:ln w="25400">
            <a:solidFill>
              <a:srgbClr val="7F7F7F"/>
            </a:solidFill>
            <a:prstDash val="solid"/>
            <a:tailEnd type="triangle"/>
          </a:ln>
        </p:spPr>
      </p:sp>
      <p:sp>
        <p:nvSpPr>
          <p:cNvPr id="19" name="box answers differ → thi"/>
          <p:cNvSpPr/>
          <p:nvPr/>
        </p:nvSpPr>
        <p:spPr>
          <a:xfrm>
            <a:off x="9464040" y="2240280"/>
            <a:ext cx="2148840" cy="1188720"/>
          </a:xfrm>
          <a:prstGeom prst="roundRect">
            <a:avLst>
              <a:gd name="adj" fmla="val 4615"/>
            </a:avLst>
          </a:prstGeom>
          <a:solidFill>
            <a:srgbClr val="DEEBF7"/>
          </a:solidFill>
          <a:ln w="9525">
            <a:solidFill>
              <a:srgbClr val="BFBFBF"/>
            </a:solidFill>
            <a:prstDash val="solid"/>
          </a:ln>
        </p:spPr>
      </p:sp>
      <p:sp>
        <p:nvSpPr>
          <p:cNvPr id="20" name="Text 17"/>
          <p:cNvSpPr txBox="1"/>
          <p:nvPr/>
        </p:nvSpPr>
        <p:spPr>
          <a:xfrm>
            <a:off x="9537192" y="2240280"/>
            <a:ext cx="2002536" cy="1188720"/>
          </a:xfrm>
          <a:prstGeom prst="rect">
            <a:avLst/>
          </a:prstGeom>
          <a:noFill/>
          <a:ln/>
        </p:spPr>
        <p:txBody>
          <a:bodyPr wrap="square" lIns="0" tIns="0" rIns="0" bIns="0" rtlCol="0" anchor="ctr"/>
          <a:lstStyle/>
          <a:p>
            <a:pPr algn="ctr" indent="0" marL="0">
              <a:buNone/>
            </a:pPr>
            <a:r>
              <a:rPr lang="en-US" sz="1500" dirty="0">
                <a:solidFill>
                  <a:schemeClr val="tx1"/>
                </a:solidFill>
              </a:rPr>
              <a:t>answers differ → think it through → 6 ✓</a:t>
            </a:r>
            <a:endParaRPr lang="en-US" sz="1500" dirty="0"/>
          </a:p>
        </p:txBody>
      </p:sp>
      <p:sp>
        <p:nvSpPr>
          <p:cNvPr id="21" name="Text 18"/>
          <p:cNvSpPr txBox="1"/>
          <p:nvPr/>
        </p:nvSpPr>
        <p:spPr>
          <a:xfrm>
            <a:off x="548640" y="42062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Over 108 geometry problems (Qwen3-32B, 3 runs): how often the answer is right, and tokens per problem</a:t>
            </a:r>
            <a:endParaRPr lang="en-US" sz="1700" dirty="0"/>
          </a:p>
        </p:txBody>
      </p:sp>
      <p:sp>
        <p:nvSpPr>
          <p:cNvPr id="22" name="Text 19"/>
          <p:cNvSpPr txBox="1"/>
          <p:nvPr/>
        </p:nvSpPr>
        <p:spPr>
          <a:xfrm>
            <a:off x="548640" y="457200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B (+ helpers)</a:t>
            </a:r>
            <a:endParaRPr lang="en-US" sz="1600" dirty="0"/>
          </a:p>
        </p:txBody>
      </p:sp>
      <p:sp>
        <p:nvSpPr>
          <p:cNvPr id="23" name="bar Always Prompt B (+ helpers)"/>
          <p:cNvSpPr/>
          <p:nvPr/>
        </p:nvSpPr>
        <p:spPr>
          <a:xfrm>
            <a:off x="4434840" y="4626864"/>
            <a:ext cx="3183026" cy="182880"/>
          </a:xfrm>
          <a:prstGeom prst="rect">
            <a:avLst/>
          </a:prstGeom>
          <a:solidFill>
            <a:srgbClr val="C00000"/>
          </a:solidFill>
          <a:ln w="6350">
            <a:solidFill>
              <a:srgbClr val="C00000"/>
            </a:solidFill>
            <a:prstDash val="solid"/>
          </a:ln>
        </p:spPr>
      </p:sp>
      <p:sp>
        <p:nvSpPr>
          <p:cNvPr id="24" name="Text 21"/>
          <p:cNvSpPr txBox="1"/>
          <p:nvPr/>
        </p:nvSpPr>
        <p:spPr>
          <a:xfrm>
            <a:off x="7709306" y="4572000"/>
            <a:ext cx="1737360" cy="292608"/>
          </a:xfrm>
          <a:prstGeom prst="rect">
            <a:avLst/>
          </a:prstGeom>
          <a:noFill/>
          <a:ln/>
        </p:spPr>
        <p:txBody>
          <a:bodyPr wrap="square" lIns="0" tIns="0" rIns="0" bIns="0" rtlCol="0" anchor="ctr"/>
          <a:lstStyle/>
          <a:p>
            <a:pPr indent="0" marL="0">
              <a:buNone/>
            </a:pPr>
            <a:r>
              <a:rPr lang="en-US" sz="1800" b="1" dirty="0">
                <a:solidFill>
                  <a:srgbClr val="C00000"/>
                </a:solidFill>
              </a:rPr>
              <a:t>59% · 0.6k</a:t>
            </a:r>
            <a:endParaRPr lang="en-US" sz="1800" dirty="0"/>
          </a:p>
        </p:txBody>
      </p:sp>
      <p:sp>
        <p:nvSpPr>
          <p:cNvPr id="25" name="Text 22"/>
          <p:cNvSpPr txBox="1"/>
          <p:nvPr/>
        </p:nvSpPr>
        <p:spPr>
          <a:xfrm>
            <a:off x="548640" y="493776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A (task only)</a:t>
            </a:r>
            <a:endParaRPr lang="en-US" sz="1600" dirty="0"/>
          </a:p>
        </p:txBody>
      </p:sp>
      <p:sp>
        <p:nvSpPr>
          <p:cNvPr id="26" name="bar Always Prompt A (task only)"/>
          <p:cNvSpPr/>
          <p:nvPr/>
        </p:nvSpPr>
        <p:spPr>
          <a:xfrm>
            <a:off x="4434840" y="4992624"/>
            <a:ext cx="4154119" cy="182880"/>
          </a:xfrm>
          <a:prstGeom prst="rect">
            <a:avLst/>
          </a:prstGeom>
          <a:solidFill>
            <a:srgbClr val="7F7F7F"/>
          </a:solidFill>
          <a:ln w="6350">
            <a:solidFill>
              <a:srgbClr val="7F7F7F"/>
            </a:solidFill>
            <a:prstDash val="solid"/>
          </a:ln>
        </p:spPr>
      </p:sp>
      <p:sp>
        <p:nvSpPr>
          <p:cNvPr id="27" name="Text 24"/>
          <p:cNvSpPr txBox="1"/>
          <p:nvPr/>
        </p:nvSpPr>
        <p:spPr>
          <a:xfrm>
            <a:off x="8680399" y="493776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77% · 0.4k</a:t>
            </a:r>
            <a:endParaRPr lang="en-US" sz="1800" dirty="0"/>
          </a:p>
        </p:txBody>
      </p:sp>
      <p:sp>
        <p:nvSpPr>
          <p:cNvPr id="28" name="Text 25"/>
          <p:cNvSpPr txBox="1"/>
          <p:nvPr/>
        </p:nvSpPr>
        <p:spPr>
          <a:xfrm>
            <a:off x="548640" y="530352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think long</a:t>
            </a:r>
            <a:endParaRPr lang="en-US" sz="1600" dirty="0"/>
          </a:p>
        </p:txBody>
      </p:sp>
      <p:sp>
        <p:nvSpPr>
          <p:cNvPr id="29" name="bar Always think long"/>
          <p:cNvSpPr/>
          <p:nvPr/>
        </p:nvSpPr>
        <p:spPr>
          <a:xfrm>
            <a:off x="4434840" y="5358384"/>
            <a:ext cx="5287061" cy="182880"/>
          </a:xfrm>
          <a:prstGeom prst="rect">
            <a:avLst/>
          </a:prstGeom>
          <a:solidFill>
            <a:srgbClr val="7F7F7F"/>
          </a:solidFill>
          <a:ln w="6350">
            <a:solidFill>
              <a:srgbClr val="7F7F7F"/>
            </a:solidFill>
            <a:prstDash val="solid"/>
          </a:ln>
        </p:spPr>
      </p:sp>
      <p:sp>
        <p:nvSpPr>
          <p:cNvPr id="30" name="Text 27"/>
          <p:cNvSpPr txBox="1"/>
          <p:nvPr/>
        </p:nvSpPr>
        <p:spPr>
          <a:xfrm>
            <a:off x="9813341" y="530352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98% · 5.9k</a:t>
            </a:r>
            <a:endParaRPr lang="en-US" sz="1800" dirty="0"/>
          </a:p>
        </p:txBody>
      </p:sp>
      <p:sp>
        <p:nvSpPr>
          <p:cNvPr id="31" name="Text 28"/>
          <p:cNvSpPr txBox="1"/>
          <p:nvPr/>
        </p:nvSpPr>
        <p:spPr>
          <a:xfrm>
            <a:off x="548640" y="566928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Both prompts, think only if they differ</a:t>
            </a:r>
            <a:endParaRPr lang="en-US" sz="1600" dirty="0"/>
          </a:p>
        </p:txBody>
      </p:sp>
      <p:sp>
        <p:nvSpPr>
          <p:cNvPr id="32" name="bar Both prompts, think only if they differ"/>
          <p:cNvSpPr/>
          <p:nvPr/>
        </p:nvSpPr>
        <p:spPr>
          <a:xfrm>
            <a:off x="4434840" y="5724144"/>
            <a:ext cx="5341010" cy="182880"/>
          </a:xfrm>
          <a:prstGeom prst="rect">
            <a:avLst/>
          </a:prstGeom>
          <a:solidFill>
            <a:srgbClr val="4472C4"/>
          </a:solidFill>
          <a:ln w="6350">
            <a:solidFill>
              <a:srgbClr val="4472C4"/>
            </a:solidFill>
            <a:prstDash val="solid"/>
          </a:ln>
        </p:spPr>
      </p:sp>
      <p:sp>
        <p:nvSpPr>
          <p:cNvPr id="33" name="Text 30"/>
          <p:cNvSpPr txBox="1"/>
          <p:nvPr/>
        </p:nvSpPr>
        <p:spPr>
          <a:xfrm>
            <a:off x="9867290" y="5669280"/>
            <a:ext cx="1737360" cy="292608"/>
          </a:xfrm>
          <a:prstGeom prst="rect">
            <a:avLst/>
          </a:prstGeom>
          <a:noFill/>
          <a:ln/>
        </p:spPr>
        <p:txBody>
          <a:bodyPr wrap="square" lIns="0" tIns="0" rIns="0" bIns="0" rtlCol="0" anchor="ctr"/>
          <a:lstStyle/>
          <a:p>
            <a:pPr indent="0" marL="0">
              <a:buNone/>
            </a:pPr>
            <a:r>
              <a:rPr lang="en-US" sz="1800" b="1" dirty="0">
                <a:solidFill>
                  <a:srgbClr val="4472C4"/>
                </a:solidFill>
              </a:rPr>
              <a:t>99% · 4.3k</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4: think harder only when a check fails</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Every contest problem lists a few sample inputs with the correct outputs. Running the program on them costs nothing:</a:t>
            </a:r>
            <a:endParaRPr lang="en-US" sz="1800" dirty="0"/>
          </a:p>
        </p:txBody>
      </p:sp>
      <p:sp>
        <p:nvSpPr>
          <p:cNvPr id="4" name="box write a program quic"/>
          <p:cNvSpPr/>
          <p:nvPr/>
        </p:nvSpPr>
        <p:spPr>
          <a:xfrm>
            <a:off x="548640" y="2011680"/>
            <a:ext cx="2651760" cy="777240"/>
          </a:xfrm>
          <a:prstGeom prst="roundRect">
            <a:avLst>
              <a:gd name="adj" fmla="val 7059"/>
            </a:avLst>
          </a:prstGeom>
          <a:solidFill>
            <a:srgbClr val="FFFFFF"/>
          </a:solidFill>
          <a:ln w="9525">
            <a:solidFill>
              <a:srgbClr val="BFBFBF"/>
            </a:solidFill>
            <a:prstDash val="solid"/>
          </a:ln>
        </p:spPr>
      </p:sp>
      <p:sp>
        <p:nvSpPr>
          <p:cNvPr id="5" name="Text 3"/>
          <p:cNvSpPr txBox="1"/>
          <p:nvPr/>
        </p:nvSpPr>
        <p:spPr>
          <a:xfrm>
            <a:off x="621792" y="2011680"/>
            <a:ext cx="2505456" cy="777240"/>
          </a:xfrm>
          <a:prstGeom prst="rect">
            <a:avLst/>
          </a:prstGeom>
          <a:noFill/>
          <a:ln/>
        </p:spPr>
        <p:txBody>
          <a:bodyPr wrap="square" lIns="0" tIns="0" rIns="0" bIns="0" rtlCol="0" anchor="ctr"/>
          <a:lstStyle/>
          <a:p>
            <a:pPr algn="ctr" indent="0" marL="0">
              <a:buNone/>
            </a:pPr>
            <a:r>
              <a:rPr lang="en-US" sz="1500" dirty="0">
                <a:solidFill>
                  <a:schemeClr val="tx1"/>
                </a:solidFill>
              </a:rPr>
              <a:t>write a program quickly (medium effort)</a:t>
            </a:r>
            <a:endParaRPr lang="en-US" sz="1500" dirty="0"/>
          </a:p>
        </p:txBody>
      </p:sp>
      <p:sp>
        <p:nvSpPr>
          <p:cNvPr id="6" name="Shape 4"/>
          <p:cNvSpPr/>
          <p:nvPr/>
        </p:nvSpPr>
        <p:spPr>
          <a:xfrm>
            <a:off x="3200400" y="2395728"/>
            <a:ext cx="411480" cy="0"/>
          </a:xfrm>
          <a:prstGeom prst="line">
            <a:avLst/>
          </a:prstGeom>
          <a:noFill/>
          <a:ln w="25400">
            <a:solidFill>
              <a:srgbClr val="7F7F7F"/>
            </a:solidFill>
            <a:prstDash val="solid"/>
            <a:tailEnd type="triangle"/>
          </a:ln>
        </p:spPr>
      </p:sp>
      <p:sp>
        <p:nvSpPr>
          <p:cNvPr id="7" name="box run it on the exampl"/>
          <p:cNvSpPr/>
          <p:nvPr/>
        </p:nvSpPr>
        <p:spPr>
          <a:xfrm>
            <a:off x="3611880" y="2011680"/>
            <a:ext cx="2194560" cy="777240"/>
          </a:xfrm>
          <a:prstGeom prst="roundRect">
            <a:avLst>
              <a:gd name="adj" fmla="val 7059"/>
            </a:avLst>
          </a:prstGeom>
          <a:solidFill>
            <a:srgbClr val="DEEBF7"/>
          </a:solidFill>
          <a:ln w="9525">
            <a:solidFill>
              <a:srgbClr val="BFBFBF"/>
            </a:solidFill>
            <a:prstDash val="solid"/>
          </a:ln>
        </p:spPr>
      </p:sp>
      <p:sp>
        <p:nvSpPr>
          <p:cNvPr id="8" name="Text 6"/>
          <p:cNvSpPr txBox="1"/>
          <p:nvPr/>
        </p:nvSpPr>
        <p:spPr>
          <a:xfrm>
            <a:off x="3685032" y="2011680"/>
            <a:ext cx="2048256" cy="777240"/>
          </a:xfrm>
          <a:prstGeom prst="rect">
            <a:avLst/>
          </a:prstGeom>
          <a:noFill/>
          <a:ln/>
        </p:spPr>
        <p:txBody>
          <a:bodyPr wrap="square" lIns="0" tIns="0" rIns="0" bIns="0" rtlCol="0" anchor="ctr"/>
          <a:lstStyle/>
          <a:p>
            <a:pPr algn="ctr" indent="0" marL="0">
              <a:buNone/>
            </a:pPr>
            <a:r>
              <a:rPr lang="en-US" sz="1500" dirty="0">
                <a:solidFill>
                  <a:schemeClr val="tx1"/>
                </a:solidFill>
              </a:rPr>
              <a:t>run it on the examples</a:t>
            </a:r>
            <a:endParaRPr lang="en-US" sz="1500" dirty="0"/>
          </a:p>
        </p:txBody>
      </p:sp>
      <p:sp>
        <p:nvSpPr>
          <p:cNvPr id="9" name="Shape 7"/>
          <p:cNvSpPr/>
          <p:nvPr/>
        </p:nvSpPr>
        <p:spPr>
          <a:xfrm flipV="1">
            <a:off x="5806440" y="2057400"/>
            <a:ext cx="457200" cy="182880"/>
          </a:xfrm>
          <a:prstGeom prst="line">
            <a:avLst/>
          </a:prstGeom>
          <a:noFill/>
          <a:ln w="25400">
            <a:solidFill>
              <a:srgbClr val="7F7F7F"/>
            </a:solidFill>
            <a:prstDash val="solid"/>
            <a:tailEnd type="triangle"/>
          </a:ln>
        </p:spPr>
      </p:sp>
      <p:sp>
        <p:nvSpPr>
          <p:cNvPr id="10" name="Shape 8"/>
          <p:cNvSpPr/>
          <p:nvPr/>
        </p:nvSpPr>
        <p:spPr>
          <a:xfrm>
            <a:off x="5806440" y="2560320"/>
            <a:ext cx="457200" cy="246888"/>
          </a:xfrm>
          <a:prstGeom prst="line">
            <a:avLst/>
          </a:prstGeom>
          <a:noFill/>
          <a:ln w="25400">
            <a:solidFill>
              <a:srgbClr val="7F7F7F"/>
            </a:solidFill>
            <a:prstDash val="solid"/>
            <a:tailEnd type="triangle"/>
          </a:ln>
        </p:spPr>
      </p:sp>
      <p:sp>
        <p:nvSpPr>
          <p:cNvPr id="11" name="box all right → submit"/>
          <p:cNvSpPr/>
          <p:nvPr/>
        </p:nvSpPr>
        <p:spPr>
          <a:xfrm>
            <a:off x="6263640" y="1801368"/>
            <a:ext cx="2468880" cy="512064"/>
          </a:xfrm>
          <a:prstGeom prst="roundRect">
            <a:avLst>
              <a:gd name="adj" fmla="val 10714"/>
            </a:avLst>
          </a:prstGeom>
          <a:solidFill>
            <a:srgbClr val="E2F0D9"/>
          </a:solidFill>
          <a:ln w="9525">
            <a:solidFill>
              <a:srgbClr val="BFBFBF"/>
            </a:solidFill>
            <a:prstDash val="solid"/>
          </a:ln>
        </p:spPr>
      </p:sp>
      <p:sp>
        <p:nvSpPr>
          <p:cNvPr id="12" name="Text 10"/>
          <p:cNvSpPr txBox="1"/>
          <p:nvPr/>
        </p:nvSpPr>
        <p:spPr>
          <a:xfrm>
            <a:off x="6336792" y="1801368"/>
            <a:ext cx="2322576" cy="512064"/>
          </a:xfrm>
          <a:prstGeom prst="rect">
            <a:avLst/>
          </a:prstGeom>
          <a:noFill/>
          <a:ln/>
        </p:spPr>
        <p:txBody>
          <a:bodyPr wrap="square" lIns="0" tIns="0" rIns="0" bIns="0" rtlCol="0" anchor="ctr"/>
          <a:lstStyle/>
          <a:p>
            <a:pPr algn="ctr" indent="0" marL="0">
              <a:buNone/>
            </a:pPr>
            <a:r>
              <a:rPr lang="en-US" sz="1500" dirty="0">
                <a:solidFill>
                  <a:schemeClr val="tx1"/>
                </a:solidFill>
              </a:rPr>
              <a:t>all right → submit</a:t>
            </a:r>
            <a:endParaRPr lang="en-US" sz="1500" dirty="0"/>
          </a:p>
        </p:txBody>
      </p:sp>
      <p:sp>
        <p:nvSpPr>
          <p:cNvPr id="13" name="box one wrong → think ha"/>
          <p:cNvSpPr/>
          <p:nvPr/>
        </p:nvSpPr>
        <p:spPr>
          <a:xfrm>
            <a:off x="6263640" y="2532888"/>
            <a:ext cx="3840480" cy="548640"/>
          </a:xfrm>
          <a:prstGeom prst="roundRect">
            <a:avLst>
              <a:gd name="adj" fmla="val 10000"/>
            </a:avLst>
          </a:prstGeom>
          <a:solidFill>
            <a:srgbClr val="FADBD8"/>
          </a:solidFill>
          <a:ln w="9525">
            <a:solidFill>
              <a:srgbClr val="BFBFBF"/>
            </a:solidFill>
            <a:prstDash val="solid"/>
          </a:ln>
        </p:spPr>
      </p:sp>
      <p:sp>
        <p:nvSpPr>
          <p:cNvPr id="14" name="Text 12"/>
          <p:cNvSpPr txBox="1"/>
          <p:nvPr/>
        </p:nvSpPr>
        <p:spPr>
          <a:xfrm>
            <a:off x="6336792" y="2532888"/>
            <a:ext cx="3694176" cy="548640"/>
          </a:xfrm>
          <a:prstGeom prst="rect">
            <a:avLst/>
          </a:prstGeom>
          <a:noFill/>
          <a:ln/>
        </p:spPr>
        <p:txBody>
          <a:bodyPr wrap="square" lIns="0" tIns="0" rIns="0" bIns="0" rtlCol="0" anchor="ctr"/>
          <a:lstStyle/>
          <a:p>
            <a:pPr algn="ctr" indent="0" marL="0">
              <a:buNone/>
            </a:pPr>
            <a:r>
              <a:rPr lang="en-US" sz="1500" dirty="0">
                <a:solidFill>
                  <a:schemeClr val="tx1"/>
                </a:solidFill>
              </a:rPr>
              <a:t>one wrong → think harder (high effort), then submit</a:t>
            </a:r>
            <a:endParaRPr lang="en-US" sz="1500" dirty="0"/>
          </a:p>
        </p:txBody>
      </p:sp>
      <p:sp>
        <p:nvSpPr>
          <p:cNvPr id="15" name="case &quot;Make a triangle!&quot; (easy)"/>
          <p:cNvSpPr/>
          <p:nvPr/>
        </p:nvSpPr>
        <p:spPr>
          <a:xfrm>
            <a:off x="548640" y="3337560"/>
            <a:ext cx="5394960" cy="1371600"/>
          </a:xfrm>
          <a:prstGeom prst="roundRect">
            <a:avLst>
              <a:gd name="adj" fmla="val 5333"/>
            </a:avLst>
          </a:prstGeom>
          <a:solidFill>
            <a:srgbClr val="F3F9EF"/>
          </a:solidFill>
          <a:ln w="12700">
            <a:solidFill>
              <a:srgbClr val="70AD47"/>
            </a:solidFill>
            <a:prstDash val="solid"/>
          </a:ln>
        </p:spPr>
      </p:sp>
      <p:sp>
        <p:nvSpPr>
          <p:cNvPr id="16" name="Text 14"/>
          <p:cNvSpPr txBox="1"/>
          <p:nvPr/>
        </p:nvSpPr>
        <p:spPr>
          <a:xfrm>
            <a:off x="731520" y="3410712"/>
            <a:ext cx="5029200" cy="411480"/>
          </a:xfrm>
          <a:prstGeom prst="rect">
            <a:avLst/>
          </a:prstGeom>
          <a:noFill/>
          <a:ln/>
        </p:spPr>
        <p:txBody>
          <a:bodyPr wrap="square" lIns="0" tIns="0" rIns="0" bIns="0" rtlCol="0" anchor="ctr"/>
          <a:lstStyle/>
          <a:p>
            <a:pPr indent="0" marL="0">
              <a:buNone/>
            </a:pPr>
            <a:r>
              <a:rPr lang="en-US" sz="1700" b="1" dirty="0">
                <a:solidFill>
                  <a:schemeClr val="tx1"/>
                </a:solidFill>
              </a:rPr>
              <a:t>"Make a triangle!" (easy)</a:t>
            </a:r>
            <a:endParaRPr lang="en-US" sz="1700" dirty="0"/>
          </a:p>
        </p:txBody>
      </p:sp>
      <p:sp>
        <p:nvSpPr>
          <p:cNvPr id="17" name="Text 15"/>
          <p:cNvSpPr txBox="1"/>
          <p:nvPr/>
        </p:nvSpPr>
        <p:spPr>
          <a:xfrm>
            <a:off x="731520" y="3822192"/>
            <a:ext cx="5029200" cy="868680"/>
          </a:xfrm>
          <a:prstGeom prst="rect">
            <a:avLst/>
          </a:prstGeom>
          <a:noFill/>
          <a:ln/>
        </p:spPr>
        <p:txBody>
          <a:bodyPr wrap="square" lIns="0" tIns="0" rIns="0" bIns="0" rtlCol="0" anchor="t"/>
          <a:lstStyle/>
          <a:p>
            <a:pPr indent="0" marL="0">
              <a:buNone/>
            </a:pPr>
            <a:r>
              <a:rPr lang="en-US" sz="1500" dirty="0">
                <a:solidFill>
                  <a:schemeClr val="tx1"/>
                </a:solidFill>
              </a:rPr>
              <a:t>Q: how many cm to add so 3 sticks make a triangle?</a:t>
            </a:r>
            <a:endParaRPr lang="en-US" sz="1500" dirty="0"/>
          </a:p>
          <a:p>
            <a:pPr indent="0" marL="0">
              <a:buNone/>
            </a:pPr>
            <a:r>
              <a:rPr lang="en-US" sz="1500" dirty="0">
                <a:solidFill>
                  <a:schemeClr val="tx1"/>
                </a:solidFill>
              </a:rPr>
              <a:t>samples (3,4,5) → 0 and (2,5,3) → 1: program agrees ✓</a:t>
            </a:r>
            <a:endParaRPr lang="en-US" sz="1500" dirty="0"/>
          </a:p>
          <a:p>
            <a:pPr indent="0" marL="0">
              <a:buNone/>
            </a:pPr>
            <a:r>
              <a:rPr lang="en-US" sz="1500" dirty="0">
                <a:solidFill>
                  <a:schemeClr val="tx1"/>
                </a:solidFill>
              </a:rPr>
              <a:t>→ submit; correct, no extra tokens</a:t>
            </a:r>
            <a:endParaRPr lang="en-US" sz="1500" dirty="0"/>
          </a:p>
        </p:txBody>
      </p:sp>
      <p:sp>
        <p:nvSpPr>
          <p:cNvPr id="18" name="case &quot;Arrow&quot; (hard)"/>
          <p:cNvSpPr/>
          <p:nvPr/>
        </p:nvSpPr>
        <p:spPr>
          <a:xfrm>
            <a:off x="6217920" y="3337560"/>
            <a:ext cx="5394960" cy="1371600"/>
          </a:xfrm>
          <a:prstGeom prst="roundRect">
            <a:avLst>
              <a:gd name="adj" fmla="val 5333"/>
            </a:avLst>
          </a:prstGeom>
          <a:solidFill>
            <a:srgbClr val="FDF2F1"/>
          </a:solidFill>
          <a:ln w="12700">
            <a:solidFill>
              <a:srgbClr val="C00000"/>
            </a:solidFill>
            <a:prstDash val="solid"/>
          </a:ln>
        </p:spPr>
      </p:sp>
      <p:sp>
        <p:nvSpPr>
          <p:cNvPr id="19" name="Text 17"/>
          <p:cNvSpPr txBox="1"/>
          <p:nvPr/>
        </p:nvSpPr>
        <p:spPr>
          <a:xfrm>
            <a:off x="6400800" y="3410712"/>
            <a:ext cx="5029200" cy="411480"/>
          </a:xfrm>
          <a:prstGeom prst="rect">
            <a:avLst/>
          </a:prstGeom>
          <a:noFill/>
          <a:ln/>
        </p:spPr>
        <p:txBody>
          <a:bodyPr wrap="square" lIns="0" tIns="0" rIns="0" bIns="0" rtlCol="0" anchor="ctr"/>
          <a:lstStyle/>
          <a:p>
            <a:pPr indent="0" marL="0">
              <a:buNone/>
            </a:pPr>
            <a:r>
              <a:rPr lang="en-US" sz="1700" b="1" dirty="0">
                <a:solidFill>
                  <a:schemeClr val="tx1"/>
                </a:solidFill>
              </a:rPr>
              <a:t>"Arrow" (hard)</a:t>
            </a:r>
            <a:endParaRPr lang="en-US" sz="1700" dirty="0"/>
          </a:p>
        </p:txBody>
      </p:sp>
      <p:sp>
        <p:nvSpPr>
          <p:cNvPr id="20" name="Text 18"/>
          <p:cNvSpPr txBox="1"/>
          <p:nvPr/>
        </p:nvSpPr>
        <p:spPr>
          <a:xfrm>
            <a:off x="6400800" y="3822192"/>
            <a:ext cx="5029200" cy="868680"/>
          </a:xfrm>
          <a:prstGeom prst="rect">
            <a:avLst/>
          </a:prstGeom>
          <a:noFill/>
          <a:ln/>
        </p:spPr>
        <p:txBody>
          <a:bodyPr wrap="square" lIns="0" tIns="0" rIns="0" bIns="0" rtlCol="0" anchor="t"/>
          <a:lstStyle/>
          <a:p>
            <a:pPr indent="0" marL="0">
              <a:buNone/>
            </a:pPr>
            <a:r>
              <a:rPr lang="en-US" sz="1500" dirty="0">
                <a:solidFill>
                  <a:schemeClr val="tx1"/>
                </a:solidFill>
              </a:rPr>
              <a:t>Q: print the 7 corners of an arrow shape</a:t>
            </a:r>
            <a:endParaRPr lang="en-US" sz="1500" dirty="0"/>
          </a:p>
          <a:p>
            <a:pPr indent="0" marL="0">
              <a:buNone/>
            </a:pPr>
            <a:r>
              <a:rPr lang="en-US" sz="1500" dirty="0">
                <a:solidFill>
                  <a:schemeClr val="tx1"/>
                </a:solidFill>
              </a:rPr>
              <a:t>program's corners ≠ the sample ✗ → think harder → correct ✓</a:t>
            </a:r>
            <a:endParaRPr lang="en-US" sz="1500" dirty="0"/>
          </a:p>
          <a:p>
            <a:pPr indent="0" marL="0">
              <a:buNone/>
            </a:pPr>
            <a:r>
              <a:rPr lang="en-US" sz="1500" dirty="0">
                <a:solidFill>
                  <a:schemeClr val="tx1"/>
                </a:solidFill>
              </a:rPr>
              <a:t>4k + 13k tokens, paid only because the check failed</a:t>
            </a:r>
            <a:endParaRPr lang="en-US" sz="1500" dirty="0"/>
          </a:p>
        </p:txBody>
      </p:sp>
      <p:sp>
        <p:nvSpPr>
          <p:cNvPr id="21" name="Text 19"/>
          <p:cNvSpPr txBox="1"/>
          <p:nvPr/>
        </p:nvSpPr>
        <p:spPr>
          <a:xfrm>
            <a:off x="548640" y="4892040"/>
            <a:ext cx="11064240" cy="411480"/>
          </a:xfrm>
          <a:prstGeom prst="rect">
            <a:avLst/>
          </a:prstGeom>
          <a:noFill/>
          <a:ln/>
        </p:spPr>
        <p:txBody>
          <a:bodyPr wrap="square" lIns="0" tIns="0" rIns="0" bIns="0" rtlCol="0" anchor="ctr"/>
          <a:lstStyle/>
          <a:p>
            <a:pPr indent="0" marL="0">
              <a:buNone/>
            </a:pPr>
            <a:r>
              <a:rPr lang="en-US" sz="1700" b="1" dirty="0">
                <a:solidFill>
                  <a:schemeClr val="tx1"/>
                </a:solidFill>
              </a:rPr>
              <a:t>Over 311 problems (gpt-oss-120b): same 66% solved as always thinking hard, 18% fewer tokens</a:t>
            </a:r>
            <a:endParaRPr lang="en-US" sz="1700" dirty="0"/>
          </a:p>
        </p:txBody>
      </p:sp>
      <p:sp>
        <p:nvSpPr>
          <p:cNvPr id="22" name="Text 20"/>
          <p:cNvSpPr txBox="1"/>
          <p:nvPr/>
        </p:nvSpPr>
        <p:spPr>
          <a:xfrm>
            <a:off x="548640" y="5303520"/>
            <a:ext cx="3291840" cy="292608"/>
          </a:xfrm>
          <a:prstGeom prst="rect">
            <a:avLst/>
          </a:prstGeom>
          <a:noFill/>
          <a:ln/>
        </p:spPr>
        <p:txBody>
          <a:bodyPr wrap="square" lIns="0" tIns="0" rIns="0" bIns="0" rtlCol="0" anchor="ctr"/>
          <a:lstStyle/>
          <a:p>
            <a:pPr algn="r" indent="0" marL="0">
              <a:buNone/>
            </a:pPr>
            <a:r>
              <a:rPr lang="en-US" sz="1600" dirty="0">
                <a:solidFill>
                  <a:schemeClr val="tx1"/>
                </a:solidFill>
              </a:rPr>
              <a:t>Always think hard</a:t>
            </a:r>
            <a:endParaRPr lang="en-US" sz="1600" dirty="0"/>
          </a:p>
        </p:txBody>
      </p:sp>
      <p:sp>
        <p:nvSpPr>
          <p:cNvPr id="23" name="bar Always think hard"/>
          <p:cNvSpPr/>
          <p:nvPr/>
        </p:nvSpPr>
        <p:spPr>
          <a:xfrm>
            <a:off x="3977640" y="5358384"/>
            <a:ext cx="3840480" cy="182880"/>
          </a:xfrm>
          <a:prstGeom prst="rect">
            <a:avLst/>
          </a:prstGeom>
          <a:solidFill>
            <a:srgbClr val="7F7F7F"/>
          </a:solidFill>
          <a:ln w="6350">
            <a:solidFill>
              <a:srgbClr val="7F7F7F"/>
            </a:solidFill>
            <a:prstDash val="solid"/>
          </a:ln>
        </p:spPr>
      </p:sp>
      <p:sp>
        <p:nvSpPr>
          <p:cNvPr id="24" name="Text 22"/>
          <p:cNvSpPr txBox="1"/>
          <p:nvPr/>
        </p:nvSpPr>
        <p:spPr>
          <a:xfrm>
            <a:off x="7909560" y="5303520"/>
            <a:ext cx="1371600" cy="292608"/>
          </a:xfrm>
          <a:prstGeom prst="rect">
            <a:avLst/>
          </a:prstGeom>
          <a:noFill/>
          <a:ln/>
        </p:spPr>
        <p:txBody>
          <a:bodyPr wrap="square" lIns="0" tIns="0" rIns="0" bIns="0" rtlCol="0" anchor="ctr"/>
          <a:lstStyle/>
          <a:p>
            <a:pPr indent="0" marL="0">
              <a:buNone/>
            </a:pPr>
            <a:r>
              <a:rPr lang="en-US" sz="1800" b="1" dirty="0">
                <a:solidFill>
                  <a:srgbClr val="7F7F7F"/>
                </a:solidFill>
              </a:rPr>
              <a:t>30k tokens</a:t>
            </a:r>
            <a:endParaRPr lang="en-US" sz="1800" dirty="0"/>
          </a:p>
        </p:txBody>
      </p:sp>
      <p:sp>
        <p:nvSpPr>
          <p:cNvPr id="25" name="Text 23"/>
          <p:cNvSpPr txBox="1"/>
          <p:nvPr/>
        </p:nvSpPr>
        <p:spPr>
          <a:xfrm>
            <a:off x="548640" y="5669280"/>
            <a:ext cx="3291840" cy="292608"/>
          </a:xfrm>
          <a:prstGeom prst="rect">
            <a:avLst/>
          </a:prstGeom>
          <a:noFill/>
          <a:ln/>
        </p:spPr>
        <p:txBody>
          <a:bodyPr wrap="square" lIns="0" tIns="0" rIns="0" bIns="0" rtlCol="0" anchor="ctr"/>
          <a:lstStyle/>
          <a:p>
            <a:pPr algn="r" indent="0" marL="0">
              <a:buNone/>
            </a:pPr>
            <a:r>
              <a:rPr lang="en-US" sz="1600" dirty="0">
                <a:solidFill>
                  <a:schemeClr val="tx1"/>
                </a:solidFill>
              </a:rPr>
              <a:t>Think hard only on a failed check</a:t>
            </a:r>
            <a:endParaRPr lang="en-US" sz="1600" dirty="0"/>
          </a:p>
        </p:txBody>
      </p:sp>
      <p:sp>
        <p:nvSpPr>
          <p:cNvPr id="26" name="bar Think hard only on a failed check"/>
          <p:cNvSpPr/>
          <p:nvPr/>
        </p:nvSpPr>
        <p:spPr>
          <a:xfrm>
            <a:off x="3977640" y="5724144"/>
            <a:ext cx="3149194" cy="182880"/>
          </a:xfrm>
          <a:prstGeom prst="rect">
            <a:avLst/>
          </a:prstGeom>
          <a:solidFill>
            <a:srgbClr val="4472C4"/>
          </a:solidFill>
          <a:ln w="6350">
            <a:solidFill>
              <a:srgbClr val="4472C4"/>
            </a:solidFill>
            <a:prstDash val="solid"/>
          </a:ln>
        </p:spPr>
      </p:sp>
      <p:sp>
        <p:nvSpPr>
          <p:cNvPr id="27" name="Text 25"/>
          <p:cNvSpPr txBox="1"/>
          <p:nvPr/>
        </p:nvSpPr>
        <p:spPr>
          <a:xfrm>
            <a:off x="7218274" y="5669280"/>
            <a:ext cx="1371600" cy="292608"/>
          </a:xfrm>
          <a:prstGeom prst="rect">
            <a:avLst/>
          </a:prstGeom>
          <a:noFill/>
          <a:ln/>
        </p:spPr>
        <p:txBody>
          <a:bodyPr wrap="square" lIns="0" tIns="0" rIns="0" bIns="0" rtlCol="0" anchor="ctr"/>
          <a:lstStyle/>
          <a:p>
            <a:pPr indent="0" marL="0">
              <a:buNone/>
            </a:pPr>
            <a:r>
              <a:rPr lang="en-US" sz="1800" b="1" dirty="0">
                <a:solidFill>
                  <a:srgbClr val="4472C4"/>
                </a:solidFill>
              </a:rPr>
              <a:t>25k tokens</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5: repeated problems need one checked program</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A delivery company plans routes every day: the same kind of problem, new customers each day (gpt-oss-120b)</a:t>
            </a:r>
            <a:endParaRPr lang="en-US" sz="1800" dirty="0"/>
          </a:p>
        </p:txBody>
      </p:sp>
      <p:sp>
        <p:nvSpPr>
          <p:cNvPr id="4" name="Text 2"/>
          <p:cNvSpPr txBox="1"/>
          <p:nvPr/>
        </p:nvSpPr>
        <p:spPr>
          <a:xfrm>
            <a:off x="548640" y="196596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A: ask for a new program every day</a:t>
            </a:r>
            <a:endParaRPr lang="en-US" sz="1700" dirty="0"/>
          </a:p>
        </p:txBody>
      </p:sp>
      <p:sp>
        <p:nvSpPr>
          <p:cNvPr id="5" name="A: ask for a new program every day day 0"/>
          <p:cNvSpPr/>
          <p:nvPr/>
        </p:nvSpPr>
        <p:spPr>
          <a:xfrm>
            <a:off x="3749040" y="1965960"/>
            <a:ext cx="246888" cy="310896"/>
          </a:xfrm>
          <a:prstGeom prst="rect">
            <a:avLst/>
          </a:prstGeom>
          <a:solidFill>
            <a:srgbClr val="70AD47"/>
          </a:solidFill>
          <a:ln w="6350">
            <a:solidFill>
              <a:srgbClr val="70AD47"/>
            </a:solidFill>
            <a:prstDash val="solid"/>
          </a:ln>
        </p:spPr>
      </p:sp>
      <p:sp>
        <p:nvSpPr>
          <p:cNvPr id="6" name="A: ask for a new program every day day 1"/>
          <p:cNvSpPr/>
          <p:nvPr/>
        </p:nvSpPr>
        <p:spPr>
          <a:xfrm>
            <a:off x="4050792" y="1965960"/>
            <a:ext cx="246888" cy="310896"/>
          </a:xfrm>
          <a:prstGeom prst="rect">
            <a:avLst/>
          </a:prstGeom>
          <a:solidFill>
            <a:srgbClr val="70AD47"/>
          </a:solidFill>
          <a:ln w="6350">
            <a:solidFill>
              <a:srgbClr val="70AD47"/>
            </a:solidFill>
            <a:prstDash val="solid"/>
          </a:ln>
        </p:spPr>
      </p:sp>
      <p:sp>
        <p:nvSpPr>
          <p:cNvPr id="7" name="A: ask for a new program every day day 2"/>
          <p:cNvSpPr/>
          <p:nvPr/>
        </p:nvSpPr>
        <p:spPr>
          <a:xfrm>
            <a:off x="4352544" y="1965960"/>
            <a:ext cx="246888" cy="310896"/>
          </a:xfrm>
          <a:prstGeom prst="rect">
            <a:avLst/>
          </a:prstGeom>
          <a:solidFill>
            <a:srgbClr val="70AD47"/>
          </a:solidFill>
          <a:ln w="6350">
            <a:solidFill>
              <a:srgbClr val="70AD47"/>
            </a:solidFill>
            <a:prstDash val="solid"/>
          </a:ln>
        </p:spPr>
      </p:sp>
      <p:sp>
        <p:nvSpPr>
          <p:cNvPr id="8" name="A: ask for a new program every day day 3"/>
          <p:cNvSpPr/>
          <p:nvPr/>
        </p:nvSpPr>
        <p:spPr>
          <a:xfrm>
            <a:off x="4654296" y="1965960"/>
            <a:ext cx="246888" cy="310896"/>
          </a:xfrm>
          <a:prstGeom prst="rect">
            <a:avLst/>
          </a:prstGeom>
          <a:solidFill>
            <a:srgbClr val="FADBD8"/>
          </a:solidFill>
          <a:ln w="6350">
            <a:solidFill>
              <a:srgbClr val="E6B8B7"/>
            </a:solidFill>
            <a:prstDash val="solid"/>
          </a:ln>
        </p:spPr>
      </p:sp>
      <p:sp>
        <p:nvSpPr>
          <p:cNvPr id="9" name="A: ask for a new program every day day 4"/>
          <p:cNvSpPr/>
          <p:nvPr/>
        </p:nvSpPr>
        <p:spPr>
          <a:xfrm>
            <a:off x="4956048" y="1965960"/>
            <a:ext cx="246888" cy="310896"/>
          </a:xfrm>
          <a:prstGeom prst="rect">
            <a:avLst/>
          </a:prstGeom>
          <a:solidFill>
            <a:srgbClr val="FADBD8"/>
          </a:solidFill>
          <a:ln w="6350">
            <a:solidFill>
              <a:srgbClr val="E6B8B7"/>
            </a:solidFill>
            <a:prstDash val="solid"/>
          </a:ln>
        </p:spPr>
      </p:sp>
      <p:sp>
        <p:nvSpPr>
          <p:cNvPr id="10" name="A: ask for a new program every day day 5"/>
          <p:cNvSpPr/>
          <p:nvPr/>
        </p:nvSpPr>
        <p:spPr>
          <a:xfrm>
            <a:off x="5257800" y="1965960"/>
            <a:ext cx="246888" cy="310896"/>
          </a:xfrm>
          <a:prstGeom prst="rect">
            <a:avLst/>
          </a:prstGeom>
          <a:solidFill>
            <a:srgbClr val="FADBD8"/>
          </a:solidFill>
          <a:ln w="6350">
            <a:solidFill>
              <a:srgbClr val="E6B8B7"/>
            </a:solidFill>
            <a:prstDash val="solid"/>
          </a:ln>
        </p:spPr>
      </p:sp>
      <p:sp>
        <p:nvSpPr>
          <p:cNvPr id="11" name="A: ask for a new program every day day 6"/>
          <p:cNvSpPr/>
          <p:nvPr/>
        </p:nvSpPr>
        <p:spPr>
          <a:xfrm>
            <a:off x="5559552" y="1965960"/>
            <a:ext cx="246888" cy="310896"/>
          </a:xfrm>
          <a:prstGeom prst="rect">
            <a:avLst/>
          </a:prstGeom>
          <a:solidFill>
            <a:srgbClr val="FADBD8"/>
          </a:solidFill>
          <a:ln w="6350">
            <a:solidFill>
              <a:srgbClr val="E6B8B7"/>
            </a:solidFill>
            <a:prstDash val="solid"/>
          </a:ln>
        </p:spPr>
      </p:sp>
      <p:sp>
        <p:nvSpPr>
          <p:cNvPr id="12" name="A: ask for a new program every day day 7"/>
          <p:cNvSpPr/>
          <p:nvPr/>
        </p:nvSpPr>
        <p:spPr>
          <a:xfrm>
            <a:off x="5861304" y="1965960"/>
            <a:ext cx="246888" cy="310896"/>
          </a:xfrm>
          <a:prstGeom prst="rect">
            <a:avLst/>
          </a:prstGeom>
          <a:solidFill>
            <a:srgbClr val="FADBD8"/>
          </a:solidFill>
          <a:ln w="6350">
            <a:solidFill>
              <a:srgbClr val="E6B8B7"/>
            </a:solidFill>
            <a:prstDash val="solid"/>
          </a:ln>
        </p:spPr>
      </p:sp>
      <p:sp>
        <p:nvSpPr>
          <p:cNvPr id="13" name="A: ask for a new program every day day 8"/>
          <p:cNvSpPr/>
          <p:nvPr/>
        </p:nvSpPr>
        <p:spPr>
          <a:xfrm>
            <a:off x="6163056" y="1965960"/>
            <a:ext cx="246888" cy="310896"/>
          </a:xfrm>
          <a:prstGeom prst="rect">
            <a:avLst/>
          </a:prstGeom>
          <a:solidFill>
            <a:srgbClr val="FADBD8"/>
          </a:solidFill>
          <a:ln w="6350">
            <a:solidFill>
              <a:srgbClr val="E6B8B7"/>
            </a:solidFill>
            <a:prstDash val="solid"/>
          </a:ln>
        </p:spPr>
      </p:sp>
      <p:sp>
        <p:nvSpPr>
          <p:cNvPr id="14" name="A: ask for a new program every day day 9"/>
          <p:cNvSpPr/>
          <p:nvPr/>
        </p:nvSpPr>
        <p:spPr>
          <a:xfrm>
            <a:off x="6464808" y="1965960"/>
            <a:ext cx="246888" cy="310896"/>
          </a:xfrm>
          <a:prstGeom prst="rect">
            <a:avLst/>
          </a:prstGeom>
          <a:solidFill>
            <a:srgbClr val="FADBD8"/>
          </a:solidFill>
          <a:ln w="6350">
            <a:solidFill>
              <a:srgbClr val="E6B8B7"/>
            </a:solidFill>
            <a:prstDash val="solid"/>
          </a:ln>
        </p:spPr>
      </p:sp>
      <p:sp>
        <p:nvSpPr>
          <p:cNvPr id="15" name="A: ask for a new program every day day 10"/>
          <p:cNvSpPr/>
          <p:nvPr/>
        </p:nvSpPr>
        <p:spPr>
          <a:xfrm>
            <a:off x="6766560" y="1965960"/>
            <a:ext cx="246888" cy="310896"/>
          </a:xfrm>
          <a:prstGeom prst="rect">
            <a:avLst/>
          </a:prstGeom>
          <a:solidFill>
            <a:srgbClr val="FADBD8"/>
          </a:solidFill>
          <a:ln w="6350">
            <a:solidFill>
              <a:srgbClr val="E6B8B7"/>
            </a:solidFill>
            <a:prstDash val="solid"/>
          </a:ln>
        </p:spPr>
      </p:sp>
      <p:sp>
        <p:nvSpPr>
          <p:cNvPr id="16" name="A: ask for a new program every day day 11"/>
          <p:cNvSpPr/>
          <p:nvPr/>
        </p:nvSpPr>
        <p:spPr>
          <a:xfrm>
            <a:off x="7068312" y="1965960"/>
            <a:ext cx="246888" cy="310896"/>
          </a:xfrm>
          <a:prstGeom prst="rect">
            <a:avLst/>
          </a:prstGeom>
          <a:solidFill>
            <a:srgbClr val="FADBD8"/>
          </a:solidFill>
          <a:ln w="6350">
            <a:solidFill>
              <a:srgbClr val="E6B8B7"/>
            </a:solidFill>
            <a:prstDash val="solid"/>
          </a:ln>
        </p:spPr>
      </p:sp>
      <p:sp>
        <p:nvSpPr>
          <p:cNvPr id="17" name="A: ask for a new program every day day 12"/>
          <p:cNvSpPr/>
          <p:nvPr/>
        </p:nvSpPr>
        <p:spPr>
          <a:xfrm>
            <a:off x="7370064" y="1965960"/>
            <a:ext cx="246888" cy="310896"/>
          </a:xfrm>
          <a:prstGeom prst="rect">
            <a:avLst/>
          </a:prstGeom>
          <a:solidFill>
            <a:srgbClr val="FADBD8"/>
          </a:solidFill>
          <a:ln w="6350">
            <a:solidFill>
              <a:srgbClr val="E6B8B7"/>
            </a:solidFill>
            <a:prstDash val="solid"/>
          </a:ln>
        </p:spPr>
      </p:sp>
      <p:sp>
        <p:nvSpPr>
          <p:cNvPr id="18" name="A: ask for a new program every day day 13"/>
          <p:cNvSpPr/>
          <p:nvPr/>
        </p:nvSpPr>
        <p:spPr>
          <a:xfrm>
            <a:off x="7671816" y="1965960"/>
            <a:ext cx="246888" cy="310896"/>
          </a:xfrm>
          <a:prstGeom prst="rect">
            <a:avLst/>
          </a:prstGeom>
          <a:solidFill>
            <a:srgbClr val="FADBD8"/>
          </a:solidFill>
          <a:ln w="6350">
            <a:solidFill>
              <a:srgbClr val="E6B8B7"/>
            </a:solidFill>
            <a:prstDash val="solid"/>
          </a:ln>
        </p:spPr>
      </p:sp>
      <p:sp>
        <p:nvSpPr>
          <p:cNvPr id="19" name="A: ask for a new program every day day 14"/>
          <p:cNvSpPr/>
          <p:nvPr/>
        </p:nvSpPr>
        <p:spPr>
          <a:xfrm>
            <a:off x="7973568" y="1965960"/>
            <a:ext cx="246888" cy="310896"/>
          </a:xfrm>
          <a:prstGeom prst="rect">
            <a:avLst/>
          </a:prstGeom>
          <a:solidFill>
            <a:srgbClr val="FADBD8"/>
          </a:solidFill>
          <a:ln w="6350">
            <a:solidFill>
              <a:srgbClr val="E6B8B7"/>
            </a:solidFill>
            <a:prstDash val="solid"/>
          </a:ln>
        </p:spPr>
      </p:sp>
      <p:sp>
        <p:nvSpPr>
          <p:cNvPr id="20" name="A: ask for a new program every day day 15"/>
          <p:cNvSpPr/>
          <p:nvPr/>
        </p:nvSpPr>
        <p:spPr>
          <a:xfrm>
            <a:off x="8275320" y="1965960"/>
            <a:ext cx="246888" cy="310896"/>
          </a:xfrm>
          <a:prstGeom prst="rect">
            <a:avLst/>
          </a:prstGeom>
          <a:solidFill>
            <a:srgbClr val="FADBD8"/>
          </a:solidFill>
          <a:ln w="6350">
            <a:solidFill>
              <a:srgbClr val="E6B8B7"/>
            </a:solidFill>
            <a:prstDash val="solid"/>
          </a:ln>
        </p:spPr>
      </p:sp>
      <p:sp>
        <p:nvSpPr>
          <p:cNvPr id="21" name="A: ask for a new program every day day 16"/>
          <p:cNvSpPr/>
          <p:nvPr/>
        </p:nvSpPr>
        <p:spPr>
          <a:xfrm>
            <a:off x="3749040" y="2350008"/>
            <a:ext cx="246888" cy="310896"/>
          </a:xfrm>
          <a:prstGeom prst="rect">
            <a:avLst/>
          </a:prstGeom>
          <a:solidFill>
            <a:srgbClr val="FADBD8"/>
          </a:solidFill>
          <a:ln w="6350">
            <a:solidFill>
              <a:srgbClr val="E6B8B7"/>
            </a:solidFill>
            <a:prstDash val="solid"/>
          </a:ln>
        </p:spPr>
      </p:sp>
      <p:sp>
        <p:nvSpPr>
          <p:cNvPr id="22" name="A: ask for a new program every day day 17"/>
          <p:cNvSpPr/>
          <p:nvPr/>
        </p:nvSpPr>
        <p:spPr>
          <a:xfrm>
            <a:off x="4050792" y="2350008"/>
            <a:ext cx="246888" cy="310896"/>
          </a:xfrm>
          <a:prstGeom prst="rect">
            <a:avLst/>
          </a:prstGeom>
          <a:solidFill>
            <a:srgbClr val="FADBD8"/>
          </a:solidFill>
          <a:ln w="6350">
            <a:solidFill>
              <a:srgbClr val="E6B8B7"/>
            </a:solidFill>
            <a:prstDash val="solid"/>
          </a:ln>
        </p:spPr>
      </p:sp>
      <p:sp>
        <p:nvSpPr>
          <p:cNvPr id="23" name="A: ask for a new program every day day 18"/>
          <p:cNvSpPr/>
          <p:nvPr/>
        </p:nvSpPr>
        <p:spPr>
          <a:xfrm>
            <a:off x="4352544" y="2350008"/>
            <a:ext cx="246888" cy="310896"/>
          </a:xfrm>
          <a:prstGeom prst="rect">
            <a:avLst/>
          </a:prstGeom>
          <a:solidFill>
            <a:srgbClr val="FADBD8"/>
          </a:solidFill>
          <a:ln w="6350">
            <a:solidFill>
              <a:srgbClr val="E6B8B7"/>
            </a:solidFill>
            <a:prstDash val="solid"/>
          </a:ln>
        </p:spPr>
      </p:sp>
      <p:sp>
        <p:nvSpPr>
          <p:cNvPr id="24" name="A: ask for a new program every day day 19"/>
          <p:cNvSpPr/>
          <p:nvPr/>
        </p:nvSpPr>
        <p:spPr>
          <a:xfrm>
            <a:off x="4654296" y="2350008"/>
            <a:ext cx="246888" cy="310896"/>
          </a:xfrm>
          <a:prstGeom prst="rect">
            <a:avLst/>
          </a:prstGeom>
          <a:solidFill>
            <a:srgbClr val="FADBD8"/>
          </a:solidFill>
          <a:ln w="6350">
            <a:solidFill>
              <a:srgbClr val="E6B8B7"/>
            </a:solidFill>
            <a:prstDash val="solid"/>
          </a:ln>
        </p:spPr>
      </p:sp>
      <p:sp>
        <p:nvSpPr>
          <p:cNvPr id="25" name="A: ask for a new program every day day 20"/>
          <p:cNvSpPr/>
          <p:nvPr/>
        </p:nvSpPr>
        <p:spPr>
          <a:xfrm>
            <a:off x="4956048" y="2350008"/>
            <a:ext cx="246888" cy="310896"/>
          </a:xfrm>
          <a:prstGeom prst="rect">
            <a:avLst/>
          </a:prstGeom>
          <a:solidFill>
            <a:srgbClr val="FADBD8"/>
          </a:solidFill>
          <a:ln w="6350">
            <a:solidFill>
              <a:srgbClr val="E6B8B7"/>
            </a:solidFill>
            <a:prstDash val="solid"/>
          </a:ln>
        </p:spPr>
      </p:sp>
      <p:sp>
        <p:nvSpPr>
          <p:cNvPr id="26" name="A: ask for a new program every day day 21"/>
          <p:cNvSpPr/>
          <p:nvPr/>
        </p:nvSpPr>
        <p:spPr>
          <a:xfrm>
            <a:off x="5257800" y="2350008"/>
            <a:ext cx="246888" cy="310896"/>
          </a:xfrm>
          <a:prstGeom prst="rect">
            <a:avLst/>
          </a:prstGeom>
          <a:solidFill>
            <a:srgbClr val="FADBD8"/>
          </a:solidFill>
          <a:ln w="6350">
            <a:solidFill>
              <a:srgbClr val="E6B8B7"/>
            </a:solidFill>
            <a:prstDash val="solid"/>
          </a:ln>
        </p:spPr>
      </p:sp>
      <p:sp>
        <p:nvSpPr>
          <p:cNvPr id="27" name="A: ask for a new program every day day 22"/>
          <p:cNvSpPr/>
          <p:nvPr/>
        </p:nvSpPr>
        <p:spPr>
          <a:xfrm>
            <a:off x="5559552" y="2350008"/>
            <a:ext cx="246888" cy="310896"/>
          </a:xfrm>
          <a:prstGeom prst="rect">
            <a:avLst/>
          </a:prstGeom>
          <a:solidFill>
            <a:srgbClr val="FADBD8"/>
          </a:solidFill>
          <a:ln w="6350">
            <a:solidFill>
              <a:srgbClr val="E6B8B7"/>
            </a:solidFill>
            <a:prstDash val="solid"/>
          </a:ln>
        </p:spPr>
      </p:sp>
      <p:sp>
        <p:nvSpPr>
          <p:cNvPr id="28" name="A: ask for a new program every day day 23"/>
          <p:cNvSpPr/>
          <p:nvPr/>
        </p:nvSpPr>
        <p:spPr>
          <a:xfrm>
            <a:off x="5861304" y="2350008"/>
            <a:ext cx="246888" cy="310896"/>
          </a:xfrm>
          <a:prstGeom prst="rect">
            <a:avLst/>
          </a:prstGeom>
          <a:solidFill>
            <a:srgbClr val="FADBD8"/>
          </a:solidFill>
          <a:ln w="6350">
            <a:solidFill>
              <a:srgbClr val="E6B8B7"/>
            </a:solidFill>
            <a:prstDash val="solid"/>
          </a:ln>
        </p:spPr>
      </p:sp>
      <p:sp>
        <p:nvSpPr>
          <p:cNvPr id="29" name="A: ask for a new program every day day 24"/>
          <p:cNvSpPr/>
          <p:nvPr/>
        </p:nvSpPr>
        <p:spPr>
          <a:xfrm>
            <a:off x="6163056" y="2350008"/>
            <a:ext cx="246888" cy="310896"/>
          </a:xfrm>
          <a:prstGeom prst="rect">
            <a:avLst/>
          </a:prstGeom>
          <a:solidFill>
            <a:srgbClr val="FADBD8"/>
          </a:solidFill>
          <a:ln w="6350">
            <a:solidFill>
              <a:srgbClr val="E6B8B7"/>
            </a:solidFill>
            <a:prstDash val="solid"/>
          </a:ln>
        </p:spPr>
      </p:sp>
      <p:sp>
        <p:nvSpPr>
          <p:cNvPr id="30" name="A: ask for a new program every day day 25"/>
          <p:cNvSpPr/>
          <p:nvPr/>
        </p:nvSpPr>
        <p:spPr>
          <a:xfrm>
            <a:off x="6464808" y="2350008"/>
            <a:ext cx="246888" cy="310896"/>
          </a:xfrm>
          <a:prstGeom prst="rect">
            <a:avLst/>
          </a:prstGeom>
          <a:solidFill>
            <a:srgbClr val="FADBD8"/>
          </a:solidFill>
          <a:ln w="6350">
            <a:solidFill>
              <a:srgbClr val="E6B8B7"/>
            </a:solidFill>
            <a:prstDash val="solid"/>
          </a:ln>
        </p:spPr>
      </p:sp>
      <p:sp>
        <p:nvSpPr>
          <p:cNvPr id="31" name="A: ask for a new program every day day 26"/>
          <p:cNvSpPr/>
          <p:nvPr/>
        </p:nvSpPr>
        <p:spPr>
          <a:xfrm>
            <a:off x="6766560" y="2350008"/>
            <a:ext cx="246888" cy="310896"/>
          </a:xfrm>
          <a:prstGeom prst="rect">
            <a:avLst/>
          </a:prstGeom>
          <a:solidFill>
            <a:srgbClr val="FADBD8"/>
          </a:solidFill>
          <a:ln w="6350">
            <a:solidFill>
              <a:srgbClr val="E6B8B7"/>
            </a:solidFill>
            <a:prstDash val="solid"/>
          </a:ln>
        </p:spPr>
      </p:sp>
      <p:sp>
        <p:nvSpPr>
          <p:cNvPr id="32" name="A: ask for a new program every day day 27"/>
          <p:cNvSpPr/>
          <p:nvPr/>
        </p:nvSpPr>
        <p:spPr>
          <a:xfrm>
            <a:off x="7068312" y="2350008"/>
            <a:ext cx="246888" cy="310896"/>
          </a:xfrm>
          <a:prstGeom prst="rect">
            <a:avLst/>
          </a:prstGeom>
          <a:solidFill>
            <a:srgbClr val="FADBD8"/>
          </a:solidFill>
          <a:ln w="6350">
            <a:solidFill>
              <a:srgbClr val="E6B8B7"/>
            </a:solidFill>
            <a:prstDash val="solid"/>
          </a:ln>
        </p:spPr>
      </p:sp>
      <p:sp>
        <p:nvSpPr>
          <p:cNvPr id="33" name="A: ask for a new program every day day 28"/>
          <p:cNvSpPr/>
          <p:nvPr/>
        </p:nvSpPr>
        <p:spPr>
          <a:xfrm>
            <a:off x="7370064" y="2350008"/>
            <a:ext cx="246888" cy="310896"/>
          </a:xfrm>
          <a:prstGeom prst="rect">
            <a:avLst/>
          </a:prstGeom>
          <a:solidFill>
            <a:srgbClr val="FADBD8"/>
          </a:solidFill>
          <a:ln w="6350">
            <a:solidFill>
              <a:srgbClr val="E6B8B7"/>
            </a:solidFill>
            <a:prstDash val="solid"/>
          </a:ln>
        </p:spPr>
      </p:sp>
      <p:sp>
        <p:nvSpPr>
          <p:cNvPr id="34" name="A: ask for a new program every day day 29"/>
          <p:cNvSpPr/>
          <p:nvPr/>
        </p:nvSpPr>
        <p:spPr>
          <a:xfrm>
            <a:off x="7671816" y="2350008"/>
            <a:ext cx="246888" cy="310896"/>
          </a:xfrm>
          <a:prstGeom prst="rect">
            <a:avLst/>
          </a:prstGeom>
          <a:solidFill>
            <a:srgbClr val="FADBD8"/>
          </a:solidFill>
          <a:ln w="6350">
            <a:solidFill>
              <a:srgbClr val="E6B8B7"/>
            </a:solidFill>
            <a:prstDash val="solid"/>
          </a:ln>
        </p:spPr>
      </p:sp>
      <p:sp>
        <p:nvSpPr>
          <p:cNvPr id="35" name="A: ask for a new program every day day 30"/>
          <p:cNvSpPr/>
          <p:nvPr/>
        </p:nvSpPr>
        <p:spPr>
          <a:xfrm>
            <a:off x="7973568" y="2350008"/>
            <a:ext cx="246888" cy="310896"/>
          </a:xfrm>
          <a:prstGeom prst="rect">
            <a:avLst/>
          </a:prstGeom>
          <a:solidFill>
            <a:srgbClr val="FADBD8"/>
          </a:solidFill>
          <a:ln w="6350">
            <a:solidFill>
              <a:srgbClr val="E6B8B7"/>
            </a:solidFill>
            <a:prstDash val="solid"/>
          </a:ln>
        </p:spPr>
      </p:sp>
      <p:sp>
        <p:nvSpPr>
          <p:cNvPr id="36" name="A: ask for a new program every day day 31"/>
          <p:cNvSpPr/>
          <p:nvPr/>
        </p:nvSpPr>
        <p:spPr>
          <a:xfrm>
            <a:off x="8275320" y="2350008"/>
            <a:ext cx="246888" cy="310896"/>
          </a:xfrm>
          <a:prstGeom prst="rect">
            <a:avLst/>
          </a:prstGeom>
          <a:solidFill>
            <a:srgbClr val="FADBD8"/>
          </a:solidFill>
          <a:ln w="6350">
            <a:solidFill>
              <a:srgbClr val="E6B8B7"/>
            </a:solidFill>
            <a:prstDash val="solid"/>
          </a:ln>
        </p:spPr>
      </p:sp>
      <p:sp>
        <p:nvSpPr>
          <p:cNvPr id="37" name="A: ask for a new program every day day 32"/>
          <p:cNvSpPr/>
          <p:nvPr/>
        </p:nvSpPr>
        <p:spPr>
          <a:xfrm>
            <a:off x="3749040" y="2734056"/>
            <a:ext cx="246888" cy="310896"/>
          </a:xfrm>
          <a:prstGeom prst="rect">
            <a:avLst/>
          </a:prstGeom>
          <a:solidFill>
            <a:srgbClr val="FADBD8"/>
          </a:solidFill>
          <a:ln w="6350">
            <a:solidFill>
              <a:srgbClr val="E6B8B7"/>
            </a:solidFill>
            <a:prstDash val="solid"/>
          </a:ln>
        </p:spPr>
      </p:sp>
      <p:sp>
        <p:nvSpPr>
          <p:cNvPr id="38" name="A: ask for a new program every day day 33"/>
          <p:cNvSpPr/>
          <p:nvPr/>
        </p:nvSpPr>
        <p:spPr>
          <a:xfrm>
            <a:off x="4050792" y="2734056"/>
            <a:ext cx="246888" cy="310896"/>
          </a:xfrm>
          <a:prstGeom prst="rect">
            <a:avLst/>
          </a:prstGeom>
          <a:solidFill>
            <a:srgbClr val="FADBD8"/>
          </a:solidFill>
          <a:ln w="6350">
            <a:solidFill>
              <a:srgbClr val="E6B8B7"/>
            </a:solidFill>
            <a:prstDash val="solid"/>
          </a:ln>
        </p:spPr>
      </p:sp>
      <p:sp>
        <p:nvSpPr>
          <p:cNvPr id="39" name="A: ask for a new program every day day 34"/>
          <p:cNvSpPr/>
          <p:nvPr/>
        </p:nvSpPr>
        <p:spPr>
          <a:xfrm>
            <a:off x="4352544" y="2734056"/>
            <a:ext cx="246888" cy="310896"/>
          </a:xfrm>
          <a:prstGeom prst="rect">
            <a:avLst/>
          </a:prstGeom>
          <a:solidFill>
            <a:srgbClr val="FADBD8"/>
          </a:solidFill>
          <a:ln w="6350">
            <a:solidFill>
              <a:srgbClr val="E6B8B7"/>
            </a:solidFill>
            <a:prstDash val="solid"/>
          </a:ln>
        </p:spPr>
      </p:sp>
      <p:sp>
        <p:nvSpPr>
          <p:cNvPr id="40" name="A: ask for a new program every day day 35"/>
          <p:cNvSpPr/>
          <p:nvPr/>
        </p:nvSpPr>
        <p:spPr>
          <a:xfrm>
            <a:off x="4654296" y="2734056"/>
            <a:ext cx="246888" cy="310896"/>
          </a:xfrm>
          <a:prstGeom prst="rect">
            <a:avLst/>
          </a:prstGeom>
          <a:solidFill>
            <a:srgbClr val="FADBD8"/>
          </a:solidFill>
          <a:ln w="6350">
            <a:solidFill>
              <a:srgbClr val="E6B8B7"/>
            </a:solidFill>
            <a:prstDash val="solid"/>
          </a:ln>
        </p:spPr>
      </p:sp>
      <p:sp>
        <p:nvSpPr>
          <p:cNvPr id="41" name="A: ask for a new program every day day 36"/>
          <p:cNvSpPr/>
          <p:nvPr/>
        </p:nvSpPr>
        <p:spPr>
          <a:xfrm>
            <a:off x="4956048" y="2734056"/>
            <a:ext cx="246888" cy="310896"/>
          </a:xfrm>
          <a:prstGeom prst="rect">
            <a:avLst/>
          </a:prstGeom>
          <a:solidFill>
            <a:srgbClr val="FADBD8"/>
          </a:solidFill>
          <a:ln w="6350">
            <a:solidFill>
              <a:srgbClr val="E6B8B7"/>
            </a:solidFill>
            <a:prstDash val="solid"/>
          </a:ln>
        </p:spPr>
      </p:sp>
      <p:sp>
        <p:nvSpPr>
          <p:cNvPr id="42" name="A: ask for a new program every day day 37"/>
          <p:cNvSpPr/>
          <p:nvPr/>
        </p:nvSpPr>
        <p:spPr>
          <a:xfrm>
            <a:off x="5257800" y="2734056"/>
            <a:ext cx="246888" cy="310896"/>
          </a:xfrm>
          <a:prstGeom prst="rect">
            <a:avLst/>
          </a:prstGeom>
          <a:solidFill>
            <a:srgbClr val="FADBD8"/>
          </a:solidFill>
          <a:ln w="6350">
            <a:solidFill>
              <a:srgbClr val="E6B8B7"/>
            </a:solidFill>
            <a:prstDash val="solid"/>
          </a:ln>
        </p:spPr>
      </p:sp>
      <p:sp>
        <p:nvSpPr>
          <p:cNvPr id="43" name="A: ask for a new program every day day 38"/>
          <p:cNvSpPr/>
          <p:nvPr/>
        </p:nvSpPr>
        <p:spPr>
          <a:xfrm>
            <a:off x="5559552" y="2734056"/>
            <a:ext cx="246888" cy="310896"/>
          </a:xfrm>
          <a:prstGeom prst="rect">
            <a:avLst/>
          </a:prstGeom>
          <a:solidFill>
            <a:srgbClr val="FADBD8"/>
          </a:solidFill>
          <a:ln w="6350">
            <a:solidFill>
              <a:srgbClr val="E6B8B7"/>
            </a:solidFill>
            <a:prstDash val="solid"/>
          </a:ln>
        </p:spPr>
      </p:sp>
      <p:sp>
        <p:nvSpPr>
          <p:cNvPr id="44" name="A: ask for a new program every day day 39"/>
          <p:cNvSpPr/>
          <p:nvPr/>
        </p:nvSpPr>
        <p:spPr>
          <a:xfrm>
            <a:off x="5861304" y="2734056"/>
            <a:ext cx="246888" cy="310896"/>
          </a:xfrm>
          <a:prstGeom prst="rect">
            <a:avLst/>
          </a:prstGeom>
          <a:solidFill>
            <a:srgbClr val="FADBD8"/>
          </a:solidFill>
          <a:ln w="6350">
            <a:solidFill>
              <a:srgbClr val="E6B8B7"/>
            </a:solidFill>
            <a:prstDash val="solid"/>
          </a:ln>
        </p:spPr>
      </p:sp>
      <p:sp>
        <p:nvSpPr>
          <p:cNvPr id="45" name="A: ask for a new program every day day 40"/>
          <p:cNvSpPr/>
          <p:nvPr/>
        </p:nvSpPr>
        <p:spPr>
          <a:xfrm>
            <a:off x="6163056" y="2734056"/>
            <a:ext cx="246888" cy="310896"/>
          </a:xfrm>
          <a:prstGeom prst="rect">
            <a:avLst/>
          </a:prstGeom>
          <a:solidFill>
            <a:srgbClr val="FADBD8"/>
          </a:solidFill>
          <a:ln w="6350">
            <a:solidFill>
              <a:srgbClr val="E6B8B7"/>
            </a:solidFill>
            <a:prstDash val="solid"/>
          </a:ln>
        </p:spPr>
      </p:sp>
      <p:sp>
        <p:nvSpPr>
          <p:cNvPr id="46" name="A: ask for a new program every day day 41"/>
          <p:cNvSpPr/>
          <p:nvPr/>
        </p:nvSpPr>
        <p:spPr>
          <a:xfrm>
            <a:off x="6464808" y="2734056"/>
            <a:ext cx="246888" cy="310896"/>
          </a:xfrm>
          <a:prstGeom prst="rect">
            <a:avLst/>
          </a:prstGeom>
          <a:solidFill>
            <a:srgbClr val="FADBD8"/>
          </a:solidFill>
          <a:ln w="6350">
            <a:solidFill>
              <a:srgbClr val="E6B8B7"/>
            </a:solidFill>
            <a:prstDash val="solid"/>
          </a:ln>
        </p:spPr>
      </p:sp>
      <p:sp>
        <p:nvSpPr>
          <p:cNvPr id="47" name="A: ask for a new program every day day 42"/>
          <p:cNvSpPr/>
          <p:nvPr/>
        </p:nvSpPr>
        <p:spPr>
          <a:xfrm>
            <a:off x="6766560" y="2734056"/>
            <a:ext cx="246888" cy="310896"/>
          </a:xfrm>
          <a:prstGeom prst="rect">
            <a:avLst/>
          </a:prstGeom>
          <a:solidFill>
            <a:srgbClr val="FADBD8"/>
          </a:solidFill>
          <a:ln w="6350">
            <a:solidFill>
              <a:srgbClr val="E6B8B7"/>
            </a:solidFill>
            <a:prstDash val="solid"/>
          </a:ln>
        </p:spPr>
      </p:sp>
      <p:sp>
        <p:nvSpPr>
          <p:cNvPr id="48" name="A: ask for a new program every day day 43"/>
          <p:cNvSpPr/>
          <p:nvPr/>
        </p:nvSpPr>
        <p:spPr>
          <a:xfrm>
            <a:off x="7068312" y="2734056"/>
            <a:ext cx="246888" cy="310896"/>
          </a:xfrm>
          <a:prstGeom prst="rect">
            <a:avLst/>
          </a:prstGeom>
          <a:solidFill>
            <a:srgbClr val="FADBD8"/>
          </a:solidFill>
          <a:ln w="6350">
            <a:solidFill>
              <a:srgbClr val="E6B8B7"/>
            </a:solidFill>
            <a:prstDash val="solid"/>
          </a:ln>
        </p:spPr>
      </p:sp>
      <p:sp>
        <p:nvSpPr>
          <p:cNvPr id="49" name="A: ask for a new program every day day 44"/>
          <p:cNvSpPr/>
          <p:nvPr/>
        </p:nvSpPr>
        <p:spPr>
          <a:xfrm>
            <a:off x="7370064" y="2734056"/>
            <a:ext cx="246888" cy="310896"/>
          </a:xfrm>
          <a:prstGeom prst="rect">
            <a:avLst/>
          </a:prstGeom>
          <a:solidFill>
            <a:srgbClr val="FADBD8"/>
          </a:solidFill>
          <a:ln w="6350">
            <a:solidFill>
              <a:srgbClr val="E6B8B7"/>
            </a:solidFill>
            <a:prstDash val="solid"/>
          </a:ln>
        </p:spPr>
      </p:sp>
      <p:sp>
        <p:nvSpPr>
          <p:cNvPr id="50" name="A: ask for a new program every day day 45"/>
          <p:cNvSpPr/>
          <p:nvPr/>
        </p:nvSpPr>
        <p:spPr>
          <a:xfrm>
            <a:off x="7671816" y="2734056"/>
            <a:ext cx="246888" cy="310896"/>
          </a:xfrm>
          <a:prstGeom prst="rect">
            <a:avLst/>
          </a:prstGeom>
          <a:solidFill>
            <a:srgbClr val="FADBD8"/>
          </a:solidFill>
          <a:ln w="6350">
            <a:solidFill>
              <a:srgbClr val="E6B8B7"/>
            </a:solidFill>
            <a:prstDash val="solid"/>
          </a:ln>
        </p:spPr>
      </p:sp>
      <p:sp>
        <p:nvSpPr>
          <p:cNvPr id="51" name="A: ask for a new program every day day 46"/>
          <p:cNvSpPr/>
          <p:nvPr/>
        </p:nvSpPr>
        <p:spPr>
          <a:xfrm>
            <a:off x="7973568" y="2734056"/>
            <a:ext cx="246888" cy="310896"/>
          </a:xfrm>
          <a:prstGeom prst="rect">
            <a:avLst/>
          </a:prstGeom>
          <a:solidFill>
            <a:srgbClr val="FADBD8"/>
          </a:solidFill>
          <a:ln w="6350">
            <a:solidFill>
              <a:srgbClr val="E6B8B7"/>
            </a:solidFill>
            <a:prstDash val="solid"/>
          </a:ln>
        </p:spPr>
      </p:sp>
      <p:sp>
        <p:nvSpPr>
          <p:cNvPr id="52" name="A: ask for a new program every day day 47"/>
          <p:cNvSpPr/>
          <p:nvPr/>
        </p:nvSpPr>
        <p:spPr>
          <a:xfrm>
            <a:off x="8275320" y="2734056"/>
            <a:ext cx="246888" cy="310896"/>
          </a:xfrm>
          <a:prstGeom prst="rect">
            <a:avLst/>
          </a:prstGeom>
          <a:solidFill>
            <a:srgbClr val="FADBD8"/>
          </a:solidFill>
          <a:ln w="6350">
            <a:solidFill>
              <a:srgbClr val="E6B8B7"/>
            </a:solidFill>
            <a:prstDash val="solid"/>
          </a:ln>
        </p:spPr>
      </p:sp>
      <p:sp>
        <p:nvSpPr>
          <p:cNvPr id="53" name="Text 51"/>
          <p:cNvSpPr txBox="1"/>
          <p:nvPr/>
        </p:nvSpPr>
        <p:spPr>
          <a:xfrm>
            <a:off x="8778240" y="1965960"/>
            <a:ext cx="2834640" cy="1188720"/>
          </a:xfrm>
          <a:prstGeom prst="rect">
            <a:avLst/>
          </a:prstGeom>
          <a:noFill/>
          <a:ln/>
        </p:spPr>
        <p:txBody>
          <a:bodyPr wrap="square" lIns="0" tIns="0" rIns="0" bIns="0" rtlCol="0" anchor="ctr"/>
          <a:lstStyle/>
          <a:p>
            <a:pPr indent="0" marL="0">
              <a:buNone/>
            </a:pPr>
            <a:r>
              <a:rPr lang="en-US" sz="1700" b="1" dirty="0">
                <a:solidFill>
                  <a:srgbClr val="C00000"/>
                </a:solidFill>
              </a:rPr>
              <a:t>valid on 7% of days</a:t>
            </a:r>
            <a:endParaRPr lang="en-US" sz="1700" dirty="0"/>
          </a:p>
          <a:p>
            <a:pPr indent="0" marL="0">
              <a:buNone/>
            </a:pPr>
            <a:r>
              <a:rPr lang="en-US" sz="1700" b="1" dirty="0">
                <a:solidFill>
                  <a:srgbClr val="C00000"/>
                </a:solidFill>
              </a:rPr>
              <a:t>≈ 86k tokens</a:t>
            </a:r>
            <a:endParaRPr lang="en-US" sz="1700" dirty="0"/>
          </a:p>
        </p:txBody>
      </p:sp>
      <p:sp>
        <p:nvSpPr>
          <p:cNvPr id="54" name="Text 52"/>
          <p:cNvSpPr txBox="1"/>
          <p:nvPr/>
        </p:nvSpPr>
        <p:spPr>
          <a:xfrm>
            <a:off x="548640" y="352044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B: the model writes 16 programs; keep the one valid on 8 past days; reuse it</a:t>
            </a:r>
            <a:endParaRPr lang="en-US" sz="1700" dirty="0"/>
          </a:p>
        </p:txBody>
      </p:sp>
      <p:sp>
        <p:nvSpPr>
          <p:cNvPr id="55" name="B: the model writes 16 programs; keep the one valid on 8 past days; reuse it day 0"/>
          <p:cNvSpPr/>
          <p:nvPr/>
        </p:nvSpPr>
        <p:spPr>
          <a:xfrm>
            <a:off x="3749040" y="3520440"/>
            <a:ext cx="246888" cy="310896"/>
          </a:xfrm>
          <a:prstGeom prst="rect">
            <a:avLst/>
          </a:prstGeom>
          <a:solidFill>
            <a:srgbClr val="70AD47"/>
          </a:solidFill>
          <a:ln w="6350">
            <a:solidFill>
              <a:srgbClr val="70AD47"/>
            </a:solidFill>
            <a:prstDash val="solid"/>
          </a:ln>
        </p:spPr>
      </p:sp>
      <p:sp>
        <p:nvSpPr>
          <p:cNvPr id="56" name="B: the model writes 16 programs; keep the one valid on 8 past days; reuse it day 1"/>
          <p:cNvSpPr/>
          <p:nvPr/>
        </p:nvSpPr>
        <p:spPr>
          <a:xfrm>
            <a:off x="4050792" y="3520440"/>
            <a:ext cx="246888" cy="310896"/>
          </a:xfrm>
          <a:prstGeom prst="rect">
            <a:avLst/>
          </a:prstGeom>
          <a:solidFill>
            <a:srgbClr val="70AD47"/>
          </a:solidFill>
          <a:ln w="6350">
            <a:solidFill>
              <a:srgbClr val="70AD47"/>
            </a:solidFill>
            <a:prstDash val="solid"/>
          </a:ln>
        </p:spPr>
      </p:sp>
      <p:sp>
        <p:nvSpPr>
          <p:cNvPr id="57" name="B: the model writes 16 programs; keep the one valid on 8 past days; reuse it day 2"/>
          <p:cNvSpPr/>
          <p:nvPr/>
        </p:nvSpPr>
        <p:spPr>
          <a:xfrm>
            <a:off x="4352544" y="3520440"/>
            <a:ext cx="246888" cy="310896"/>
          </a:xfrm>
          <a:prstGeom prst="rect">
            <a:avLst/>
          </a:prstGeom>
          <a:solidFill>
            <a:srgbClr val="70AD47"/>
          </a:solidFill>
          <a:ln w="6350">
            <a:solidFill>
              <a:srgbClr val="70AD47"/>
            </a:solidFill>
            <a:prstDash val="solid"/>
          </a:ln>
        </p:spPr>
      </p:sp>
      <p:sp>
        <p:nvSpPr>
          <p:cNvPr id="58" name="B: the model writes 16 programs; keep the one valid on 8 past days; reuse it day 3"/>
          <p:cNvSpPr/>
          <p:nvPr/>
        </p:nvSpPr>
        <p:spPr>
          <a:xfrm>
            <a:off x="4654296" y="3520440"/>
            <a:ext cx="246888" cy="310896"/>
          </a:xfrm>
          <a:prstGeom prst="rect">
            <a:avLst/>
          </a:prstGeom>
          <a:solidFill>
            <a:srgbClr val="70AD47"/>
          </a:solidFill>
          <a:ln w="6350">
            <a:solidFill>
              <a:srgbClr val="70AD47"/>
            </a:solidFill>
            <a:prstDash val="solid"/>
          </a:ln>
        </p:spPr>
      </p:sp>
      <p:sp>
        <p:nvSpPr>
          <p:cNvPr id="59" name="B: the model writes 16 programs; keep the one valid on 8 past days; reuse it day 4"/>
          <p:cNvSpPr/>
          <p:nvPr/>
        </p:nvSpPr>
        <p:spPr>
          <a:xfrm>
            <a:off x="4956048" y="3520440"/>
            <a:ext cx="246888" cy="310896"/>
          </a:xfrm>
          <a:prstGeom prst="rect">
            <a:avLst/>
          </a:prstGeom>
          <a:solidFill>
            <a:srgbClr val="70AD47"/>
          </a:solidFill>
          <a:ln w="6350">
            <a:solidFill>
              <a:srgbClr val="70AD47"/>
            </a:solidFill>
            <a:prstDash val="solid"/>
          </a:ln>
        </p:spPr>
      </p:sp>
      <p:sp>
        <p:nvSpPr>
          <p:cNvPr id="60" name="B: the model writes 16 programs; keep the one valid on 8 past days; reuse it day 5"/>
          <p:cNvSpPr/>
          <p:nvPr/>
        </p:nvSpPr>
        <p:spPr>
          <a:xfrm>
            <a:off x="5257800" y="3520440"/>
            <a:ext cx="246888" cy="310896"/>
          </a:xfrm>
          <a:prstGeom prst="rect">
            <a:avLst/>
          </a:prstGeom>
          <a:solidFill>
            <a:srgbClr val="70AD47"/>
          </a:solidFill>
          <a:ln w="6350">
            <a:solidFill>
              <a:srgbClr val="70AD47"/>
            </a:solidFill>
            <a:prstDash val="solid"/>
          </a:ln>
        </p:spPr>
      </p:sp>
      <p:sp>
        <p:nvSpPr>
          <p:cNvPr id="61" name="B: the model writes 16 programs; keep the one valid on 8 past days; reuse it day 6"/>
          <p:cNvSpPr/>
          <p:nvPr/>
        </p:nvSpPr>
        <p:spPr>
          <a:xfrm>
            <a:off x="5559552" y="3520440"/>
            <a:ext cx="246888" cy="310896"/>
          </a:xfrm>
          <a:prstGeom prst="rect">
            <a:avLst/>
          </a:prstGeom>
          <a:solidFill>
            <a:srgbClr val="70AD47"/>
          </a:solidFill>
          <a:ln w="6350">
            <a:solidFill>
              <a:srgbClr val="70AD47"/>
            </a:solidFill>
            <a:prstDash val="solid"/>
          </a:ln>
        </p:spPr>
      </p:sp>
      <p:sp>
        <p:nvSpPr>
          <p:cNvPr id="62" name="B: the model writes 16 programs; keep the one valid on 8 past days; reuse it day 7"/>
          <p:cNvSpPr/>
          <p:nvPr/>
        </p:nvSpPr>
        <p:spPr>
          <a:xfrm>
            <a:off x="5861304" y="3520440"/>
            <a:ext cx="246888" cy="310896"/>
          </a:xfrm>
          <a:prstGeom prst="rect">
            <a:avLst/>
          </a:prstGeom>
          <a:solidFill>
            <a:srgbClr val="70AD47"/>
          </a:solidFill>
          <a:ln w="6350">
            <a:solidFill>
              <a:srgbClr val="70AD47"/>
            </a:solidFill>
            <a:prstDash val="solid"/>
          </a:ln>
        </p:spPr>
      </p:sp>
      <p:sp>
        <p:nvSpPr>
          <p:cNvPr id="63" name="B: the model writes 16 programs; keep the one valid on 8 past days; reuse it day 8"/>
          <p:cNvSpPr/>
          <p:nvPr/>
        </p:nvSpPr>
        <p:spPr>
          <a:xfrm>
            <a:off x="6163056" y="3520440"/>
            <a:ext cx="246888" cy="310896"/>
          </a:xfrm>
          <a:prstGeom prst="rect">
            <a:avLst/>
          </a:prstGeom>
          <a:solidFill>
            <a:srgbClr val="70AD47"/>
          </a:solidFill>
          <a:ln w="6350">
            <a:solidFill>
              <a:srgbClr val="70AD47"/>
            </a:solidFill>
            <a:prstDash val="solid"/>
          </a:ln>
        </p:spPr>
      </p:sp>
      <p:sp>
        <p:nvSpPr>
          <p:cNvPr id="64" name="B: the model writes 16 programs; keep the one valid on 8 past days; reuse it day 9"/>
          <p:cNvSpPr/>
          <p:nvPr/>
        </p:nvSpPr>
        <p:spPr>
          <a:xfrm>
            <a:off x="6464808" y="3520440"/>
            <a:ext cx="246888" cy="310896"/>
          </a:xfrm>
          <a:prstGeom prst="rect">
            <a:avLst/>
          </a:prstGeom>
          <a:solidFill>
            <a:srgbClr val="70AD47"/>
          </a:solidFill>
          <a:ln w="6350">
            <a:solidFill>
              <a:srgbClr val="70AD47"/>
            </a:solidFill>
            <a:prstDash val="solid"/>
          </a:ln>
        </p:spPr>
      </p:sp>
      <p:sp>
        <p:nvSpPr>
          <p:cNvPr id="65" name="B: the model writes 16 programs; keep the one valid on 8 past days; reuse it day 10"/>
          <p:cNvSpPr/>
          <p:nvPr/>
        </p:nvSpPr>
        <p:spPr>
          <a:xfrm>
            <a:off x="6766560" y="3520440"/>
            <a:ext cx="246888" cy="310896"/>
          </a:xfrm>
          <a:prstGeom prst="rect">
            <a:avLst/>
          </a:prstGeom>
          <a:solidFill>
            <a:srgbClr val="70AD47"/>
          </a:solidFill>
          <a:ln w="6350">
            <a:solidFill>
              <a:srgbClr val="70AD47"/>
            </a:solidFill>
            <a:prstDash val="solid"/>
          </a:ln>
        </p:spPr>
      </p:sp>
      <p:sp>
        <p:nvSpPr>
          <p:cNvPr id="66" name="B: the model writes 16 programs; keep the one valid on 8 past days; reuse it day 11"/>
          <p:cNvSpPr/>
          <p:nvPr/>
        </p:nvSpPr>
        <p:spPr>
          <a:xfrm>
            <a:off x="7068312" y="3520440"/>
            <a:ext cx="246888" cy="310896"/>
          </a:xfrm>
          <a:prstGeom prst="rect">
            <a:avLst/>
          </a:prstGeom>
          <a:solidFill>
            <a:srgbClr val="70AD47"/>
          </a:solidFill>
          <a:ln w="6350">
            <a:solidFill>
              <a:srgbClr val="70AD47"/>
            </a:solidFill>
            <a:prstDash val="solid"/>
          </a:ln>
        </p:spPr>
      </p:sp>
      <p:sp>
        <p:nvSpPr>
          <p:cNvPr id="67" name="B: the model writes 16 programs; keep the one valid on 8 past days; reuse it day 12"/>
          <p:cNvSpPr/>
          <p:nvPr/>
        </p:nvSpPr>
        <p:spPr>
          <a:xfrm>
            <a:off x="7370064" y="3520440"/>
            <a:ext cx="246888" cy="310896"/>
          </a:xfrm>
          <a:prstGeom prst="rect">
            <a:avLst/>
          </a:prstGeom>
          <a:solidFill>
            <a:srgbClr val="70AD47"/>
          </a:solidFill>
          <a:ln w="6350">
            <a:solidFill>
              <a:srgbClr val="70AD47"/>
            </a:solidFill>
            <a:prstDash val="solid"/>
          </a:ln>
        </p:spPr>
      </p:sp>
      <p:sp>
        <p:nvSpPr>
          <p:cNvPr id="68" name="B: the model writes 16 programs; keep the one valid on 8 past days; reuse it day 13"/>
          <p:cNvSpPr/>
          <p:nvPr/>
        </p:nvSpPr>
        <p:spPr>
          <a:xfrm>
            <a:off x="7671816" y="3520440"/>
            <a:ext cx="246888" cy="310896"/>
          </a:xfrm>
          <a:prstGeom prst="rect">
            <a:avLst/>
          </a:prstGeom>
          <a:solidFill>
            <a:srgbClr val="70AD47"/>
          </a:solidFill>
          <a:ln w="6350">
            <a:solidFill>
              <a:srgbClr val="70AD47"/>
            </a:solidFill>
            <a:prstDash val="solid"/>
          </a:ln>
        </p:spPr>
      </p:sp>
      <p:sp>
        <p:nvSpPr>
          <p:cNvPr id="69" name="B: the model writes 16 programs; keep the one valid on 8 past days; reuse it day 14"/>
          <p:cNvSpPr/>
          <p:nvPr/>
        </p:nvSpPr>
        <p:spPr>
          <a:xfrm>
            <a:off x="7973568" y="3520440"/>
            <a:ext cx="246888" cy="310896"/>
          </a:xfrm>
          <a:prstGeom prst="rect">
            <a:avLst/>
          </a:prstGeom>
          <a:solidFill>
            <a:srgbClr val="70AD47"/>
          </a:solidFill>
          <a:ln w="6350">
            <a:solidFill>
              <a:srgbClr val="70AD47"/>
            </a:solidFill>
            <a:prstDash val="solid"/>
          </a:ln>
        </p:spPr>
      </p:sp>
      <p:sp>
        <p:nvSpPr>
          <p:cNvPr id="70" name="B: the model writes 16 programs; keep the one valid on 8 past days; reuse it day 15"/>
          <p:cNvSpPr/>
          <p:nvPr/>
        </p:nvSpPr>
        <p:spPr>
          <a:xfrm>
            <a:off x="8275320" y="3520440"/>
            <a:ext cx="246888" cy="310896"/>
          </a:xfrm>
          <a:prstGeom prst="rect">
            <a:avLst/>
          </a:prstGeom>
          <a:solidFill>
            <a:srgbClr val="70AD47"/>
          </a:solidFill>
          <a:ln w="6350">
            <a:solidFill>
              <a:srgbClr val="70AD47"/>
            </a:solidFill>
            <a:prstDash val="solid"/>
          </a:ln>
        </p:spPr>
      </p:sp>
      <p:sp>
        <p:nvSpPr>
          <p:cNvPr id="71" name="B: the model writes 16 programs; keep the one valid on 8 past days; reuse it day 16"/>
          <p:cNvSpPr/>
          <p:nvPr/>
        </p:nvSpPr>
        <p:spPr>
          <a:xfrm>
            <a:off x="3749040" y="3904488"/>
            <a:ext cx="246888" cy="310896"/>
          </a:xfrm>
          <a:prstGeom prst="rect">
            <a:avLst/>
          </a:prstGeom>
          <a:solidFill>
            <a:srgbClr val="70AD47"/>
          </a:solidFill>
          <a:ln w="6350">
            <a:solidFill>
              <a:srgbClr val="70AD47"/>
            </a:solidFill>
            <a:prstDash val="solid"/>
          </a:ln>
        </p:spPr>
      </p:sp>
      <p:sp>
        <p:nvSpPr>
          <p:cNvPr id="72" name="B: the model writes 16 programs; keep the one valid on 8 past days; reuse it day 17"/>
          <p:cNvSpPr/>
          <p:nvPr/>
        </p:nvSpPr>
        <p:spPr>
          <a:xfrm>
            <a:off x="4050792" y="3904488"/>
            <a:ext cx="246888" cy="310896"/>
          </a:xfrm>
          <a:prstGeom prst="rect">
            <a:avLst/>
          </a:prstGeom>
          <a:solidFill>
            <a:srgbClr val="70AD47"/>
          </a:solidFill>
          <a:ln w="6350">
            <a:solidFill>
              <a:srgbClr val="70AD47"/>
            </a:solidFill>
            <a:prstDash val="solid"/>
          </a:ln>
        </p:spPr>
      </p:sp>
      <p:sp>
        <p:nvSpPr>
          <p:cNvPr id="73" name="B: the model writes 16 programs; keep the one valid on 8 past days; reuse it day 18"/>
          <p:cNvSpPr/>
          <p:nvPr/>
        </p:nvSpPr>
        <p:spPr>
          <a:xfrm>
            <a:off x="4352544" y="3904488"/>
            <a:ext cx="246888" cy="310896"/>
          </a:xfrm>
          <a:prstGeom prst="rect">
            <a:avLst/>
          </a:prstGeom>
          <a:solidFill>
            <a:srgbClr val="70AD47"/>
          </a:solidFill>
          <a:ln w="6350">
            <a:solidFill>
              <a:srgbClr val="70AD47"/>
            </a:solidFill>
            <a:prstDash val="solid"/>
          </a:ln>
        </p:spPr>
      </p:sp>
      <p:sp>
        <p:nvSpPr>
          <p:cNvPr id="74" name="B: the model writes 16 programs; keep the one valid on 8 past days; reuse it day 19"/>
          <p:cNvSpPr/>
          <p:nvPr/>
        </p:nvSpPr>
        <p:spPr>
          <a:xfrm>
            <a:off x="4654296" y="3904488"/>
            <a:ext cx="246888" cy="310896"/>
          </a:xfrm>
          <a:prstGeom prst="rect">
            <a:avLst/>
          </a:prstGeom>
          <a:solidFill>
            <a:srgbClr val="70AD47"/>
          </a:solidFill>
          <a:ln w="6350">
            <a:solidFill>
              <a:srgbClr val="70AD47"/>
            </a:solidFill>
            <a:prstDash val="solid"/>
          </a:ln>
        </p:spPr>
      </p:sp>
      <p:sp>
        <p:nvSpPr>
          <p:cNvPr id="75" name="B: the model writes 16 programs; keep the one valid on 8 past days; reuse it day 20"/>
          <p:cNvSpPr/>
          <p:nvPr/>
        </p:nvSpPr>
        <p:spPr>
          <a:xfrm>
            <a:off x="4956048" y="3904488"/>
            <a:ext cx="246888" cy="310896"/>
          </a:xfrm>
          <a:prstGeom prst="rect">
            <a:avLst/>
          </a:prstGeom>
          <a:solidFill>
            <a:srgbClr val="70AD47"/>
          </a:solidFill>
          <a:ln w="6350">
            <a:solidFill>
              <a:srgbClr val="70AD47"/>
            </a:solidFill>
            <a:prstDash val="solid"/>
          </a:ln>
        </p:spPr>
      </p:sp>
      <p:sp>
        <p:nvSpPr>
          <p:cNvPr id="76" name="B: the model writes 16 programs; keep the one valid on 8 past days; reuse it day 21"/>
          <p:cNvSpPr/>
          <p:nvPr/>
        </p:nvSpPr>
        <p:spPr>
          <a:xfrm>
            <a:off x="5257800" y="3904488"/>
            <a:ext cx="246888" cy="310896"/>
          </a:xfrm>
          <a:prstGeom prst="rect">
            <a:avLst/>
          </a:prstGeom>
          <a:solidFill>
            <a:srgbClr val="70AD47"/>
          </a:solidFill>
          <a:ln w="6350">
            <a:solidFill>
              <a:srgbClr val="70AD47"/>
            </a:solidFill>
            <a:prstDash val="solid"/>
          </a:ln>
        </p:spPr>
      </p:sp>
      <p:sp>
        <p:nvSpPr>
          <p:cNvPr id="77" name="B: the model writes 16 programs; keep the one valid on 8 past days; reuse it day 22"/>
          <p:cNvSpPr/>
          <p:nvPr/>
        </p:nvSpPr>
        <p:spPr>
          <a:xfrm>
            <a:off x="5559552" y="3904488"/>
            <a:ext cx="246888" cy="310896"/>
          </a:xfrm>
          <a:prstGeom prst="rect">
            <a:avLst/>
          </a:prstGeom>
          <a:solidFill>
            <a:srgbClr val="70AD47"/>
          </a:solidFill>
          <a:ln w="6350">
            <a:solidFill>
              <a:srgbClr val="70AD47"/>
            </a:solidFill>
            <a:prstDash val="solid"/>
          </a:ln>
        </p:spPr>
      </p:sp>
      <p:sp>
        <p:nvSpPr>
          <p:cNvPr id="78" name="B: the model writes 16 programs; keep the one valid on 8 past days; reuse it day 23"/>
          <p:cNvSpPr/>
          <p:nvPr/>
        </p:nvSpPr>
        <p:spPr>
          <a:xfrm>
            <a:off x="5861304" y="3904488"/>
            <a:ext cx="246888" cy="310896"/>
          </a:xfrm>
          <a:prstGeom prst="rect">
            <a:avLst/>
          </a:prstGeom>
          <a:solidFill>
            <a:srgbClr val="70AD47"/>
          </a:solidFill>
          <a:ln w="6350">
            <a:solidFill>
              <a:srgbClr val="70AD47"/>
            </a:solidFill>
            <a:prstDash val="solid"/>
          </a:ln>
        </p:spPr>
      </p:sp>
      <p:sp>
        <p:nvSpPr>
          <p:cNvPr id="79" name="B: the model writes 16 programs; keep the one valid on 8 past days; reuse it day 24"/>
          <p:cNvSpPr/>
          <p:nvPr/>
        </p:nvSpPr>
        <p:spPr>
          <a:xfrm>
            <a:off x="6163056" y="3904488"/>
            <a:ext cx="246888" cy="310896"/>
          </a:xfrm>
          <a:prstGeom prst="rect">
            <a:avLst/>
          </a:prstGeom>
          <a:solidFill>
            <a:srgbClr val="70AD47"/>
          </a:solidFill>
          <a:ln w="6350">
            <a:solidFill>
              <a:srgbClr val="70AD47"/>
            </a:solidFill>
            <a:prstDash val="solid"/>
          </a:ln>
        </p:spPr>
      </p:sp>
      <p:sp>
        <p:nvSpPr>
          <p:cNvPr id="80" name="B: the model writes 16 programs; keep the one valid on 8 past days; reuse it day 25"/>
          <p:cNvSpPr/>
          <p:nvPr/>
        </p:nvSpPr>
        <p:spPr>
          <a:xfrm>
            <a:off x="6464808" y="3904488"/>
            <a:ext cx="246888" cy="310896"/>
          </a:xfrm>
          <a:prstGeom prst="rect">
            <a:avLst/>
          </a:prstGeom>
          <a:solidFill>
            <a:srgbClr val="70AD47"/>
          </a:solidFill>
          <a:ln w="6350">
            <a:solidFill>
              <a:srgbClr val="70AD47"/>
            </a:solidFill>
            <a:prstDash val="solid"/>
          </a:ln>
        </p:spPr>
      </p:sp>
      <p:sp>
        <p:nvSpPr>
          <p:cNvPr id="81" name="B: the model writes 16 programs; keep the one valid on 8 past days; reuse it day 26"/>
          <p:cNvSpPr/>
          <p:nvPr/>
        </p:nvSpPr>
        <p:spPr>
          <a:xfrm>
            <a:off x="6766560" y="3904488"/>
            <a:ext cx="246888" cy="310896"/>
          </a:xfrm>
          <a:prstGeom prst="rect">
            <a:avLst/>
          </a:prstGeom>
          <a:solidFill>
            <a:srgbClr val="70AD47"/>
          </a:solidFill>
          <a:ln w="6350">
            <a:solidFill>
              <a:srgbClr val="70AD47"/>
            </a:solidFill>
            <a:prstDash val="solid"/>
          </a:ln>
        </p:spPr>
      </p:sp>
      <p:sp>
        <p:nvSpPr>
          <p:cNvPr id="82" name="B: the model writes 16 programs; keep the one valid on 8 past days; reuse it day 27"/>
          <p:cNvSpPr/>
          <p:nvPr/>
        </p:nvSpPr>
        <p:spPr>
          <a:xfrm>
            <a:off x="7068312" y="3904488"/>
            <a:ext cx="246888" cy="310896"/>
          </a:xfrm>
          <a:prstGeom prst="rect">
            <a:avLst/>
          </a:prstGeom>
          <a:solidFill>
            <a:srgbClr val="70AD47"/>
          </a:solidFill>
          <a:ln w="6350">
            <a:solidFill>
              <a:srgbClr val="70AD47"/>
            </a:solidFill>
            <a:prstDash val="solid"/>
          </a:ln>
        </p:spPr>
      </p:sp>
      <p:sp>
        <p:nvSpPr>
          <p:cNvPr id="83" name="B: the model writes 16 programs; keep the one valid on 8 past days; reuse it day 28"/>
          <p:cNvSpPr/>
          <p:nvPr/>
        </p:nvSpPr>
        <p:spPr>
          <a:xfrm>
            <a:off x="7370064" y="3904488"/>
            <a:ext cx="246888" cy="310896"/>
          </a:xfrm>
          <a:prstGeom prst="rect">
            <a:avLst/>
          </a:prstGeom>
          <a:solidFill>
            <a:srgbClr val="70AD47"/>
          </a:solidFill>
          <a:ln w="6350">
            <a:solidFill>
              <a:srgbClr val="70AD47"/>
            </a:solidFill>
            <a:prstDash val="solid"/>
          </a:ln>
        </p:spPr>
      </p:sp>
      <p:sp>
        <p:nvSpPr>
          <p:cNvPr id="84" name="B: the model writes 16 programs; keep the one valid on 8 past days; reuse it day 29"/>
          <p:cNvSpPr/>
          <p:nvPr/>
        </p:nvSpPr>
        <p:spPr>
          <a:xfrm>
            <a:off x="7671816" y="3904488"/>
            <a:ext cx="246888" cy="310896"/>
          </a:xfrm>
          <a:prstGeom prst="rect">
            <a:avLst/>
          </a:prstGeom>
          <a:solidFill>
            <a:srgbClr val="70AD47"/>
          </a:solidFill>
          <a:ln w="6350">
            <a:solidFill>
              <a:srgbClr val="70AD47"/>
            </a:solidFill>
            <a:prstDash val="solid"/>
          </a:ln>
        </p:spPr>
      </p:sp>
      <p:sp>
        <p:nvSpPr>
          <p:cNvPr id="85" name="B: the model writes 16 programs; keep the one valid on 8 past days; reuse it day 30"/>
          <p:cNvSpPr/>
          <p:nvPr/>
        </p:nvSpPr>
        <p:spPr>
          <a:xfrm>
            <a:off x="7973568" y="3904488"/>
            <a:ext cx="246888" cy="310896"/>
          </a:xfrm>
          <a:prstGeom prst="rect">
            <a:avLst/>
          </a:prstGeom>
          <a:solidFill>
            <a:srgbClr val="70AD47"/>
          </a:solidFill>
          <a:ln w="6350">
            <a:solidFill>
              <a:srgbClr val="70AD47"/>
            </a:solidFill>
            <a:prstDash val="solid"/>
          </a:ln>
        </p:spPr>
      </p:sp>
      <p:sp>
        <p:nvSpPr>
          <p:cNvPr id="86" name="B: the model writes 16 programs; keep the one valid on 8 past days; reuse it day 31"/>
          <p:cNvSpPr/>
          <p:nvPr/>
        </p:nvSpPr>
        <p:spPr>
          <a:xfrm>
            <a:off x="8275320" y="3904488"/>
            <a:ext cx="246888" cy="310896"/>
          </a:xfrm>
          <a:prstGeom prst="rect">
            <a:avLst/>
          </a:prstGeom>
          <a:solidFill>
            <a:srgbClr val="70AD47"/>
          </a:solidFill>
          <a:ln w="6350">
            <a:solidFill>
              <a:srgbClr val="70AD47"/>
            </a:solidFill>
            <a:prstDash val="solid"/>
          </a:ln>
        </p:spPr>
      </p:sp>
      <p:sp>
        <p:nvSpPr>
          <p:cNvPr id="87" name="B: the model writes 16 programs; keep the one valid on 8 past days; reuse it day 32"/>
          <p:cNvSpPr/>
          <p:nvPr/>
        </p:nvSpPr>
        <p:spPr>
          <a:xfrm>
            <a:off x="3749040" y="4288536"/>
            <a:ext cx="246888" cy="310896"/>
          </a:xfrm>
          <a:prstGeom prst="rect">
            <a:avLst/>
          </a:prstGeom>
          <a:solidFill>
            <a:srgbClr val="70AD47"/>
          </a:solidFill>
          <a:ln w="6350">
            <a:solidFill>
              <a:srgbClr val="70AD47"/>
            </a:solidFill>
            <a:prstDash val="solid"/>
          </a:ln>
        </p:spPr>
      </p:sp>
      <p:sp>
        <p:nvSpPr>
          <p:cNvPr id="88" name="B: the model writes 16 programs; keep the one valid on 8 past days; reuse it day 33"/>
          <p:cNvSpPr/>
          <p:nvPr/>
        </p:nvSpPr>
        <p:spPr>
          <a:xfrm>
            <a:off x="4050792" y="4288536"/>
            <a:ext cx="246888" cy="310896"/>
          </a:xfrm>
          <a:prstGeom prst="rect">
            <a:avLst/>
          </a:prstGeom>
          <a:solidFill>
            <a:srgbClr val="70AD47"/>
          </a:solidFill>
          <a:ln w="6350">
            <a:solidFill>
              <a:srgbClr val="70AD47"/>
            </a:solidFill>
            <a:prstDash val="solid"/>
          </a:ln>
        </p:spPr>
      </p:sp>
      <p:sp>
        <p:nvSpPr>
          <p:cNvPr id="89" name="B: the model writes 16 programs; keep the one valid on 8 past days; reuse it day 34"/>
          <p:cNvSpPr/>
          <p:nvPr/>
        </p:nvSpPr>
        <p:spPr>
          <a:xfrm>
            <a:off x="4352544" y="4288536"/>
            <a:ext cx="246888" cy="310896"/>
          </a:xfrm>
          <a:prstGeom prst="rect">
            <a:avLst/>
          </a:prstGeom>
          <a:solidFill>
            <a:srgbClr val="70AD47"/>
          </a:solidFill>
          <a:ln w="6350">
            <a:solidFill>
              <a:srgbClr val="70AD47"/>
            </a:solidFill>
            <a:prstDash val="solid"/>
          </a:ln>
        </p:spPr>
      </p:sp>
      <p:sp>
        <p:nvSpPr>
          <p:cNvPr id="90" name="B: the model writes 16 programs; keep the one valid on 8 past days; reuse it day 35"/>
          <p:cNvSpPr/>
          <p:nvPr/>
        </p:nvSpPr>
        <p:spPr>
          <a:xfrm>
            <a:off x="4654296" y="4288536"/>
            <a:ext cx="246888" cy="310896"/>
          </a:xfrm>
          <a:prstGeom prst="rect">
            <a:avLst/>
          </a:prstGeom>
          <a:solidFill>
            <a:srgbClr val="70AD47"/>
          </a:solidFill>
          <a:ln w="6350">
            <a:solidFill>
              <a:srgbClr val="70AD47"/>
            </a:solidFill>
            <a:prstDash val="solid"/>
          </a:ln>
        </p:spPr>
      </p:sp>
      <p:sp>
        <p:nvSpPr>
          <p:cNvPr id="91" name="B: the model writes 16 programs; keep the one valid on 8 past days; reuse it day 36"/>
          <p:cNvSpPr/>
          <p:nvPr/>
        </p:nvSpPr>
        <p:spPr>
          <a:xfrm>
            <a:off x="4956048" y="4288536"/>
            <a:ext cx="246888" cy="310896"/>
          </a:xfrm>
          <a:prstGeom prst="rect">
            <a:avLst/>
          </a:prstGeom>
          <a:solidFill>
            <a:srgbClr val="70AD47"/>
          </a:solidFill>
          <a:ln w="6350">
            <a:solidFill>
              <a:srgbClr val="70AD47"/>
            </a:solidFill>
            <a:prstDash val="solid"/>
          </a:ln>
        </p:spPr>
      </p:sp>
      <p:sp>
        <p:nvSpPr>
          <p:cNvPr id="92" name="B: the model writes 16 programs; keep the one valid on 8 past days; reuse it day 37"/>
          <p:cNvSpPr/>
          <p:nvPr/>
        </p:nvSpPr>
        <p:spPr>
          <a:xfrm>
            <a:off x="5257800" y="4288536"/>
            <a:ext cx="246888" cy="310896"/>
          </a:xfrm>
          <a:prstGeom prst="rect">
            <a:avLst/>
          </a:prstGeom>
          <a:solidFill>
            <a:srgbClr val="70AD47"/>
          </a:solidFill>
          <a:ln w="6350">
            <a:solidFill>
              <a:srgbClr val="70AD47"/>
            </a:solidFill>
            <a:prstDash val="solid"/>
          </a:ln>
        </p:spPr>
      </p:sp>
      <p:sp>
        <p:nvSpPr>
          <p:cNvPr id="93" name="B: the model writes 16 programs; keep the one valid on 8 past days; reuse it day 38"/>
          <p:cNvSpPr/>
          <p:nvPr/>
        </p:nvSpPr>
        <p:spPr>
          <a:xfrm>
            <a:off x="5559552" y="4288536"/>
            <a:ext cx="246888" cy="310896"/>
          </a:xfrm>
          <a:prstGeom prst="rect">
            <a:avLst/>
          </a:prstGeom>
          <a:solidFill>
            <a:srgbClr val="70AD47"/>
          </a:solidFill>
          <a:ln w="6350">
            <a:solidFill>
              <a:srgbClr val="70AD47"/>
            </a:solidFill>
            <a:prstDash val="solid"/>
          </a:ln>
        </p:spPr>
      </p:sp>
      <p:sp>
        <p:nvSpPr>
          <p:cNvPr id="94" name="B: the model writes 16 programs; keep the one valid on 8 past days; reuse it day 39"/>
          <p:cNvSpPr/>
          <p:nvPr/>
        </p:nvSpPr>
        <p:spPr>
          <a:xfrm>
            <a:off x="5861304" y="4288536"/>
            <a:ext cx="246888" cy="310896"/>
          </a:xfrm>
          <a:prstGeom prst="rect">
            <a:avLst/>
          </a:prstGeom>
          <a:solidFill>
            <a:srgbClr val="70AD47"/>
          </a:solidFill>
          <a:ln w="6350">
            <a:solidFill>
              <a:srgbClr val="70AD47"/>
            </a:solidFill>
            <a:prstDash val="solid"/>
          </a:ln>
        </p:spPr>
      </p:sp>
      <p:sp>
        <p:nvSpPr>
          <p:cNvPr id="95" name="B: the model writes 16 programs; keep the one valid on 8 past days; reuse it day 40"/>
          <p:cNvSpPr/>
          <p:nvPr/>
        </p:nvSpPr>
        <p:spPr>
          <a:xfrm>
            <a:off x="6163056" y="4288536"/>
            <a:ext cx="246888" cy="310896"/>
          </a:xfrm>
          <a:prstGeom prst="rect">
            <a:avLst/>
          </a:prstGeom>
          <a:solidFill>
            <a:srgbClr val="70AD47"/>
          </a:solidFill>
          <a:ln w="6350">
            <a:solidFill>
              <a:srgbClr val="70AD47"/>
            </a:solidFill>
            <a:prstDash val="solid"/>
          </a:ln>
        </p:spPr>
      </p:sp>
      <p:sp>
        <p:nvSpPr>
          <p:cNvPr id="96" name="B: the model writes 16 programs; keep the one valid on 8 past days; reuse it day 41"/>
          <p:cNvSpPr/>
          <p:nvPr/>
        </p:nvSpPr>
        <p:spPr>
          <a:xfrm>
            <a:off x="6464808" y="4288536"/>
            <a:ext cx="246888" cy="310896"/>
          </a:xfrm>
          <a:prstGeom prst="rect">
            <a:avLst/>
          </a:prstGeom>
          <a:solidFill>
            <a:srgbClr val="70AD47"/>
          </a:solidFill>
          <a:ln w="6350">
            <a:solidFill>
              <a:srgbClr val="70AD47"/>
            </a:solidFill>
            <a:prstDash val="solid"/>
          </a:ln>
        </p:spPr>
      </p:sp>
      <p:sp>
        <p:nvSpPr>
          <p:cNvPr id="97" name="B: the model writes 16 programs; keep the one valid on 8 past days; reuse it day 42"/>
          <p:cNvSpPr/>
          <p:nvPr/>
        </p:nvSpPr>
        <p:spPr>
          <a:xfrm>
            <a:off x="6766560" y="4288536"/>
            <a:ext cx="246888" cy="310896"/>
          </a:xfrm>
          <a:prstGeom prst="rect">
            <a:avLst/>
          </a:prstGeom>
          <a:solidFill>
            <a:srgbClr val="70AD47"/>
          </a:solidFill>
          <a:ln w="6350">
            <a:solidFill>
              <a:srgbClr val="70AD47"/>
            </a:solidFill>
            <a:prstDash val="solid"/>
          </a:ln>
        </p:spPr>
      </p:sp>
      <p:sp>
        <p:nvSpPr>
          <p:cNvPr id="98" name="B: the model writes 16 programs; keep the one valid on 8 past days; reuse it day 43"/>
          <p:cNvSpPr/>
          <p:nvPr/>
        </p:nvSpPr>
        <p:spPr>
          <a:xfrm>
            <a:off x="7068312" y="4288536"/>
            <a:ext cx="246888" cy="310896"/>
          </a:xfrm>
          <a:prstGeom prst="rect">
            <a:avLst/>
          </a:prstGeom>
          <a:solidFill>
            <a:srgbClr val="70AD47"/>
          </a:solidFill>
          <a:ln w="6350">
            <a:solidFill>
              <a:srgbClr val="70AD47"/>
            </a:solidFill>
            <a:prstDash val="solid"/>
          </a:ln>
        </p:spPr>
      </p:sp>
      <p:sp>
        <p:nvSpPr>
          <p:cNvPr id="99" name="B: the model writes 16 programs; keep the one valid on 8 past days; reuse it day 44"/>
          <p:cNvSpPr/>
          <p:nvPr/>
        </p:nvSpPr>
        <p:spPr>
          <a:xfrm>
            <a:off x="7370064" y="4288536"/>
            <a:ext cx="246888" cy="310896"/>
          </a:xfrm>
          <a:prstGeom prst="rect">
            <a:avLst/>
          </a:prstGeom>
          <a:solidFill>
            <a:srgbClr val="70AD47"/>
          </a:solidFill>
          <a:ln w="6350">
            <a:solidFill>
              <a:srgbClr val="70AD47"/>
            </a:solidFill>
            <a:prstDash val="solid"/>
          </a:ln>
        </p:spPr>
      </p:sp>
      <p:sp>
        <p:nvSpPr>
          <p:cNvPr id="100" name="B: the model writes 16 programs; keep the one valid on 8 past days; reuse it day 45"/>
          <p:cNvSpPr/>
          <p:nvPr/>
        </p:nvSpPr>
        <p:spPr>
          <a:xfrm>
            <a:off x="7671816" y="4288536"/>
            <a:ext cx="246888" cy="310896"/>
          </a:xfrm>
          <a:prstGeom prst="rect">
            <a:avLst/>
          </a:prstGeom>
          <a:solidFill>
            <a:srgbClr val="FADBD8"/>
          </a:solidFill>
          <a:ln w="6350">
            <a:solidFill>
              <a:srgbClr val="E6B8B7"/>
            </a:solidFill>
            <a:prstDash val="solid"/>
          </a:ln>
        </p:spPr>
      </p:sp>
      <p:sp>
        <p:nvSpPr>
          <p:cNvPr id="101" name="B: the model writes 16 programs; keep the one valid on 8 past days; reuse it day 46"/>
          <p:cNvSpPr/>
          <p:nvPr/>
        </p:nvSpPr>
        <p:spPr>
          <a:xfrm>
            <a:off x="7973568" y="4288536"/>
            <a:ext cx="246888" cy="310896"/>
          </a:xfrm>
          <a:prstGeom prst="rect">
            <a:avLst/>
          </a:prstGeom>
          <a:solidFill>
            <a:srgbClr val="FADBD8"/>
          </a:solidFill>
          <a:ln w="6350">
            <a:solidFill>
              <a:srgbClr val="E6B8B7"/>
            </a:solidFill>
            <a:prstDash val="solid"/>
          </a:ln>
        </p:spPr>
      </p:sp>
      <p:sp>
        <p:nvSpPr>
          <p:cNvPr id="102" name="B: the model writes 16 programs; keep the one valid on 8 past days; reuse it day 47"/>
          <p:cNvSpPr/>
          <p:nvPr/>
        </p:nvSpPr>
        <p:spPr>
          <a:xfrm>
            <a:off x="8275320" y="4288536"/>
            <a:ext cx="246888" cy="310896"/>
          </a:xfrm>
          <a:prstGeom prst="rect">
            <a:avLst/>
          </a:prstGeom>
          <a:solidFill>
            <a:srgbClr val="FADBD8"/>
          </a:solidFill>
          <a:ln w="6350">
            <a:solidFill>
              <a:srgbClr val="E6B8B7"/>
            </a:solidFill>
            <a:prstDash val="solid"/>
          </a:ln>
        </p:spPr>
      </p:sp>
      <p:sp>
        <p:nvSpPr>
          <p:cNvPr id="103" name="Text 101"/>
          <p:cNvSpPr txBox="1"/>
          <p:nvPr/>
        </p:nvSpPr>
        <p:spPr>
          <a:xfrm>
            <a:off x="8778240" y="3520440"/>
            <a:ext cx="2834640" cy="1188720"/>
          </a:xfrm>
          <a:prstGeom prst="rect">
            <a:avLst/>
          </a:prstGeom>
          <a:noFill/>
          <a:ln/>
        </p:spPr>
        <p:txBody>
          <a:bodyPr wrap="square" lIns="0" tIns="0" rIns="0" bIns="0" rtlCol="0" anchor="ctr"/>
          <a:lstStyle/>
          <a:p>
            <a:pPr indent="0" marL="0">
              <a:buNone/>
            </a:pPr>
            <a:r>
              <a:rPr lang="en-US" sz="1700" b="1" dirty="0">
                <a:solidFill>
                  <a:srgbClr val="38761D"/>
                </a:solidFill>
              </a:rPr>
              <a:t>valid on 94% of days</a:t>
            </a:r>
            <a:endParaRPr lang="en-US" sz="1700" dirty="0"/>
          </a:p>
          <a:p>
            <a:pPr indent="0" marL="0">
              <a:buNone/>
            </a:pPr>
            <a:r>
              <a:rPr lang="en-US" sz="1700" b="1" dirty="0">
                <a:solidFill>
                  <a:srgbClr val="38761D"/>
                </a:solidFill>
              </a:rPr>
              <a:t>28k tokens in total</a:t>
            </a:r>
            <a:endParaRPr lang="en-US" sz="1700" dirty="0"/>
          </a:p>
        </p:txBody>
      </p:sp>
      <p:sp>
        <p:nvSpPr>
          <p:cNvPr id="104" name="Text 102"/>
          <p:cNvSpPr txBox="1"/>
          <p:nvPr/>
        </p:nvSpPr>
        <p:spPr>
          <a:xfrm>
            <a:off x="3749040" y="4800600"/>
            <a:ext cx="7863840" cy="365760"/>
          </a:xfrm>
          <a:prstGeom prst="rect">
            <a:avLst/>
          </a:prstGeom>
          <a:noFill/>
          <a:ln/>
        </p:spPr>
        <p:txBody>
          <a:bodyPr wrap="square" lIns="0" tIns="0" rIns="0" bIns="0" rtlCol="0" anchor="ctr"/>
          <a:lstStyle/>
          <a:p>
            <a:pPr indent="0" marL="0">
              <a:buNone/>
            </a:pPr>
            <a:r>
              <a:rPr lang="en-US" sz="1400" dirty="0">
                <a:solidFill>
                  <a:schemeClr val="tx2"/>
                </a:solidFill>
              </a:rPr>
              <a:t>each square = one of 48 new days · green = a valid route plan</a:t>
            </a:r>
            <a:endParaRPr lang="en-US" sz="1400" dirty="0"/>
          </a:p>
        </p:txBody>
      </p:sp>
      <p:sp>
        <p:nvSpPr>
          <p:cNvPr id="105" name="Text 103"/>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700" dirty="0">
                <a:solidFill>
                  <a:schemeClr val="tx1"/>
                </a:solidFill>
              </a:rPr>
              <a:t>Only the data change, so one checked program keeps working (also on 4× bigger days). New rule? Ask the model to edit it.</a:t>
            </a:r>
            <a:endParaRPr lang="en-US" sz="17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6: the fact can be found without a human</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600" dirty="0">
                <a:solidFill>
                  <a:schemeClr val="tx1"/>
                </a:solidFill>
              </a:rPr>
              <a:t>Example (Qwen3-8B, MAMO): products X, Y, Z cost $10, $15, $20; X+Y ≤ 5000, Y+Z ≤ 4000, X+Z ≥ 2000. Minimum cost? (20000)</a:t>
            </a:r>
            <a:endParaRPr lang="en-US" sz="1600" dirty="0"/>
          </a:p>
        </p:txBody>
      </p:sp>
      <p:sp>
        <p:nvSpPr>
          <p:cNvPr id="4" name="Text 2"/>
          <p:cNvSpPr txBox="1"/>
          <p:nvPr/>
        </p:nvSpPr>
        <p:spPr>
          <a:xfrm>
            <a:off x="548640" y="1691640"/>
            <a:ext cx="6126480" cy="320040"/>
          </a:xfrm>
          <a:prstGeom prst="rect">
            <a:avLst/>
          </a:prstGeom>
          <a:noFill/>
          <a:ln/>
        </p:spPr>
        <p:txBody>
          <a:bodyPr wrap="square" lIns="0" tIns="0" rIns="0" bIns="0" rtlCol="0" anchor="ctr"/>
          <a:lstStyle/>
          <a:p>
            <a:pPr indent="0" marL="0">
              <a:buNone/>
            </a:pPr>
            <a:r>
              <a:rPr lang="en-US" sz="1500" b="1" dirty="0">
                <a:solidFill>
                  <a:schemeClr val="tx1"/>
                </a:solidFill>
              </a:rPr>
              <a:t>No fact</a:t>
            </a:r>
            <a:endParaRPr lang="en-US" sz="1500" dirty="0"/>
          </a:p>
        </p:txBody>
      </p:sp>
      <p:sp>
        <p:nvSpPr>
          <p:cNvPr id="5" name="code solver.Objective().M"/>
          <p:cNvSpPr/>
          <p:nvPr/>
        </p:nvSpPr>
        <p:spPr>
          <a:xfrm>
            <a:off x="548640" y="2011680"/>
            <a:ext cx="4023360" cy="457200"/>
          </a:xfrm>
          <a:prstGeom prst="rect">
            <a:avLst/>
          </a:prstGeom>
          <a:solidFill>
            <a:srgbClr val="FFFFFF"/>
          </a:solidFill>
          <a:ln w="9525">
            <a:solidFill>
              <a:srgbClr val="BFBFBF"/>
            </a:solidFill>
            <a:prstDash val="solid"/>
          </a:ln>
        </p:spPr>
      </p:sp>
      <p:sp>
        <p:nvSpPr>
          <p:cNvPr id="6" name="Text 4"/>
          <p:cNvSpPr txBox="1"/>
          <p:nvPr/>
        </p:nvSpPr>
        <p:spPr>
          <a:xfrm>
            <a:off x="658368" y="2011680"/>
            <a:ext cx="3803904" cy="457200"/>
          </a:xfrm>
          <a:prstGeom prst="rect">
            <a:avLst/>
          </a:prstGeom>
          <a:noFill/>
          <a:ln/>
        </p:spPr>
        <p:txBody>
          <a:bodyPr wrap="square" lIns="0" tIns="0" rIns="0" bIns="0" rtlCol="0" anchor="ctr"/>
          <a:lstStyle/>
          <a:p>
            <a:pPr indent="0" marL="0">
              <a:buNone/>
            </a:pPr>
            <a:r>
              <a:rPr lang="en-US" sz="1300" dirty="0">
                <a:solidFill>
                  <a:srgbClr val="C00000"/>
                </a:solidFill>
                <a:latin typeface="Courier New" pitchFamily="34" charset="0"/>
                <a:ea typeface="Courier New" pitchFamily="34" charset="-122"/>
                <a:cs typeface="Courier New" pitchFamily="34" charset="-120"/>
              </a:rPr>
              <a:t>solver.Objective().Minimize()</a:t>
            </a:r>
            <a:endParaRPr lang="en-US" sz="1300" dirty="0"/>
          </a:p>
        </p:txBody>
      </p:sp>
      <p:sp>
        <p:nvSpPr>
          <p:cNvPr id="7" name="Text 5"/>
          <p:cNvSpPr txBox="1"/>
          <p:nvPr/>
        </p:nvSpPr>
        <p:spPr>
          <a:xfrm>
            <a:off x="4709160" y="2011680"/>
            <a:ext cx="2011680" cy="457200"/>
          </a:xfrm>
          <a:prstGeom prst="rect">
            <a:avLst/>
          </a:prstGeom>
          <a:noFill/>
          <a:ln/>
        </p:spPr>
        <p:txBody>
          <a:bodyPr wrap="square" lIns="0" tIns="0" rIns="0" bIns="0" rtlCol="0" anchor="ctr"/>
          <a:lstStyle/>
          <a:p>
            <a:pPr indent="0" marL="0">
              <a:buNone/>
            </a:pPr>
            <a:r>
              <a:rPr lang="en-US" sz="1400" b="1" dirty="0">
                <a:solidFill>
                  <a:srgbClr val="C00000"/>
                </a:solidFill>
              </a:rPr>
              <a:t>✗ crash: no such method</a:t>
            </a:r>
            <a:endParaRPr lang="en-US" sz="1400" dirty="0"/>
          </a:p>
        </p:txBody>
      </p:sp>
      <p:sp>
        <p:nvSpPr>
          <p:cNvPr id="8" name="prompt The fact: its own program for another problem (vans and trucks) that passed the free check"/>
          <p:cNvSpPr/>
          <p:nvPr/>
        </p:nvSpPr>
        <p:spPr>
          <a:xfrm>
            <a:off x="548640" y="2651760"/>
            <a:ext cx="6126480" cy="1325880"/>
          </a:xfrm>
          <a:prstGeom prst="rect">
            <a:avLst/>
          </a:prstGeom>
          <a:solidFill>
            <a:srgbClr val="E2F0D9"/>
          </a:solidFill>
          <a:ln w="9525">
            <a:solidFill>
              <a:srgbClr val="BFBFBF"/>
            </a:solidFill>
            <a:prstDash val="solid"/>
          </a:ln>
        </p:spPr>
      </p:sp>
      <p:sp>
        <p:nvSpPr>
          <p:cNvPr id="9" name="Text 7"/>
          <p:cNvSpPr txBox="1"/>
          <p:nvPr/>
        </p:nvSpPr>
        <p:spPr>
          <a:xfrm>
            <a:off x="658368" y="2706624"/>
            <a:ext cx="5907024" cy="12161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fact: its own program for another problem (vans and trucks) that passed the free check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solver = pywraplp.Solver.CreateSolver('SCIP')</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v = solver.IntVar(0, solver.infinity(), 'v')</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solver.Minimize(v)</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status = solver.Solve()</a:t>
            </a:r>
            <a:endParaRPr lang="en-US" sz="1150" dirty="0"/>
          </a:p>
        </p:txBody>
      </p:sp>
      <p:sp>
        <p:nvSpPr>
          <p:cNvPr id="10" name="Text 8"/>
          <p:cNvSpPr txBox="1"/>
          <p:nvPr/>
        </p:nvSpPr>
        <p:spPr>
          <a:xfrm>
            <a:off x="548640" y="4114800"/>
            <a:ext cx="6126480" cy="320040"/>
          </a:xfrm>
          <a:prstGeom prst="rect">
            <a:avLst/>
          </a:prstGeom>
          <a:noFill/>
          <a:ln/>
        </p:spPr>
        <p:txBody>
          <a:bodyPr wrap="square" lIns="0" tIns="0" rIns="0" bIns="0" rtlCol="0" anchor="ctr"/>
          <a:lstStyle/>
          <a:p>
            <a:pPr indent="0" marL="0">
              <a:buNone/>
            </a:pPr>
            <a:r>
              <a:rPr lang="en-US" sz="1500" b="1" dirty="0">
                <a:solidFill>
                  <a:schemeClr val="tx1"/>
                </a:solidFill>
              </a:rPr>
              <a:t>With the fact (written twice; both agree, so no thinking)</a:t>
            </a:r>
            <a:endParaRPr lang="en-US" sz="1500" dirty="0"/>
          </a:p>
        </p:txBody>
      </p:sp>
      <p:sp>
        <p:nvSpPr>
          <p:cNvPr id="11" name="code solver.Minimize(10*x"/>
          <p:cNvSpPr/>
          <p:nvPr/>
        </p:nvSpPr>
        <p:spPr>
          <a:xfrm>
            <a:off x="548640" y="4434840"/>
            <a:ext cx="4023360" cy="457200"/>
          </a:xfrm>
          <a:prstGeom prst="rect">
            <a:avLst/>
          </a:prstGeom>
          <a:solidFill>
            <a:srgbClr val="FFFFFF"/>
          </a:solidFill>
          <a:ln w="9525">
            <a:solidFill>
              <a:srgbClr val="BFBFBF"/>
            </a:solidFill>
            <a:prstDash val="solid"/>
          </a:ln>
        </p:spPr>
      </p:sp>
      <p:sp>
        <p:nvSpPr>
          <p:cNvPr id="12" name="Text 10"/>
          <p:cNvSpPr txBox="1"/>
          <p:nvPr/>
        </p:nvSpPr>
        <p:spPr>
          <a:xfrm>
            <a:off x="658368" y="4434840"/>
            <a:ext cx="3803904" cy="457200"/>
          </a:xfrm>
          <a:prstGeom prst="rect">
            <a:avLst/>
          </a:prstGeom>
          <a:noFill/>
          <a:ln/>
        </p:spPr>
        <p:txBody>
          <a:bodyPr wrap="square" lIns="0" tIns="0" rIns="0" bIns="0" rtlCol="0" anchor="ctr"/>
          <a:lstStyle/>
          <a:p>
            <a:pPr indent="0" marL="0">
              <a:buNone/>
            </a:pPr>
            <a:r>
              <a:rPr lang="en-US" sz="1300" dirty="0">
                <a:solidFill>
                  <a:srgbClr val="70AD47"/>
                </a:solidFill>
                <a:latin typeface="Courier New" pitchFamily="34" charset="0"/>
                <a:ea typeface="Courier New" pitchFamily="34" charset="-122"/>
                <a:cs typeface="Courier New" pitchFamily="34" charset="-120"/>
              </a:rPr>
              <a:t>solver.Minimize(10*x + 15*y + 20*z)</a:t>
            </a:r>
            <a:endParaRPr lang="en-US" sz="1300" dirty="0"/>
          </a:p>
        </p:txBody>
      </p:sp>
      <p:sp>
        <p:nvSpPr>
          <p:cNvPr id="13" name="Text 11"/>
          <p:cNvSpPr txBox="1"/>
          <p:nvPr/>
        </p:nvSpPr>
        <p:spPr>
          <a:xfrm>
            <a:off x="4709160" y="4434840"/>
            <a:ext cx="2194560" cy="457200"/>
          </a:xfrm>
          <a:prstGeom prst="rect">
            <a:avLst/>
          </a:prstGeom>
          <a:noFill/>
          <a:ln/>
        </p:spPr>
        <p:txBody>
          <a:bodyPr wrap="square" lIns="0" tIns="0" rIns="0" bIns="0" rtlCol="0" anchor="ctr"/>
          <a:lstStyle/>
          <a:p>
            <a:pPr indent="0" marL="0">
              <a:buNone/>
            </a:pPr>
            <a:r>
              <a:rPr lang="en-US" sz="1300" b="1" dirty="0">
                <a:solidFill>
                  <a:srgbClr val="70AD47"/>
                </a:solidFill>
              </a:rPr>
              <a:t>✓ 20000 · 0.6k tokens (thinking: 5.3k)</a:t>
            </a:r>
            <a:endParaRPr lang="en-US" sz="1300" dirty="0"/>
          </a:p>
        </p:txBody>
      </p:sp>
      <p:graphicFrame>
        <p:nvGraphicFramePr>
          <p:cNvPr id="14" name="automatic fact on held-out MAMO" descr=""/>
          <p:cNvGraphicFramePr/>
          <p:nvPr/>
        </p:nvGraphicFramePr>
        <p:xfrm>
          <a:off x="7040880" y="169164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7040880" y="5029200"/>
            <a:ext cx="4572000" cy="548640"/>
          </a:xfrm>
          <a:prstGeom prst="rect">
            <a:avLst/>
          </a:prstGeom>
          <a:noFill/>
          <a:ln/>
        </p:spPr>
        <p:txBody>
          <a:bodyPr wrap="square" lIns="0" tIns="0" rIns="0" bIns="0" rtlCol="0" anchor="t"/>
          <a:lstStyle/>
          <a:p>
            <a:pPr indent="0" marL="0">
              <a:buNone/>
            </a:pPr>
            <a:r>
              <a:rPr lang="en-US" sz="1300" dirty="0">
                <a:solidFill>
                  <a:srgbClr val="C00000"/>
                </a:solidFill>
              </a:rPr>
              <a:t>Does not work: a program of a different problem type (−14 to −21 points); a list of the library's names (66% → 56%)</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No human writes the fact: the model's own checked program shows the right call</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7: proofs need a specialized model, not a fact</a:t>
            </a:r>
            <a:endParaRPr lang="en-US" sz="3600" dirty="0"/>
          </a:p>
        </p:txBody>
      </p:sp>
      <p:sp>
        <p:nvSpPr>
          <p:cNvPr id="3" name="Text 1"/>
          <p:cNvSpPr txBox="1"/>
          <p:nvPr/>
        </p:nvSpPr>
        <p:spPr>
          <a:xfrm>
            <a:off x="548640" y="1188720"/>
            <a:ext cx="6035040" cy="411480"/>
          </a:xfrm>
          <a:prstGeom prst="rect">
            <a:avLst/>
          </a:prstGeom>
          <a:noFill/>
          <a:ln/>
        </p:spPr>
        <p:txBody>
          <a:bodyPr wrap="square" lIns="0" tIns="0" rIns="0" bIns="0" rtlCol="0" anchor="ctr"/>
          <a:lstStyle/>
          <a:p>
            <a:pPr indent="0" marL="0">
              <a:buNone/>
            </a:pPr>
            <a:r>
              <a:rPr lang="en-US" sz="1600" dirty="0">
                <a:solidFill>
                  <a:schemeClr val="tx1"/>
                </a:solidFill>
              </a:rPr>
              <a:t>Example (miniF2F): show that if x &lt; 100 and 9x mod 100 = 1, then x = 89</a:t>
            </a:r>
            <a:endParaRPr lang="en-US" sz="1600" dirty="0"/>
          </a:p>
        </p:txBody>
      </p:sp>
      <p:sp>
        <p:nvSpPr>
          <p:cNvPr id="4" name="code theorem (x : ℕ) (h₀ "/>
          <p:cNvSpPr/>
          <p:nvPr/>
        </p:nvSpPr>
        <p:spPr>
          <a:xfrm>
            <a:off x="548640" y="1645920"/>
            <a:ext cx="6035040" cy="457200"/>
          </a:xfrm>
          <a:prstGeom prst="rect">
            <a:avLst/>
          </a:prstGeom>
          <a:solidFill>
            <a:srgbClr val="FFFFFF"/>
          </a:solidFill>
          <a:ln w="9525">
            <a:solidFill>
              <a:srgbClr val="BFBFBF"/>
            </a:solidFill>
            <a:prstDash val="solid"/>
          </a:ln>
        </p:spPr>
      </p:sp>
      <p:sp>
        <p:nvSpPr>
          <p:cNvPr id="5" name="Text 3"/>
          <p:cNvSpPr txBox="1"/>
          <p:nvPr/>
        </p:nvSpPr>
        <p:spPr>
          <a:xfrm>
            <a:off x="658368" y="1645920"/>
            <a:ext cx="5815584" cy="45720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theorem (x : ℕ) (h₀ : x &lt; 100) (h₁ : x * 9 % 100 = 1) : x = 89</a:t>
            </a:r>
            <a:endParaRPr lang="en-US" sz="1200" dirty="0"/>
          </a:p>
        </p:txBody>
      </p:sp>
      <p:sp>
        <p:nvSpPr>
          <p:cNvPr id="6" name="Text 4"/>
          <p:cNvSpPr txBox="1"/>
          <p:nvPr/>
        </p:nvSpPr>
        <p:spPr>
          <a:xfrm>
            <a:off x="548640" y="2240280"/>
            <a:ext cx="6035040" cy="320040"/>
          </a:xfrm>
          <a:prstGeom prst="rect">
            <a:avLst/>
          </a:prstGeom>
          <a:noFill/>
          <a:ln/>
        </p:spPr>
        <p:txBody>
          <a:bodyPr wrap="square" lIns="0" tIns="0" rIns="0" bIns="0" rtlCol="0" anchor="ctr"/>
          <a:lstStyle/>
          <a:p>
            <a:pPr indent="0" marL="0">
              <a:buNone/>
            </a:pPr>
            <a:r>
              <a:rPr lang="en-US" sz="1500" b="1" dirty="0">
                <a:solidFill>
                  <a:schemeClr val="tx1"/>
                </a:solidFill>
              </a:rPr>
              <a:t>General model (Qwen3-32B)</a:t>
            </a:r>
            <a:endParaRPr lang="en-US" sz="1500" dirty="0"/>
          </a:p>
        </p:txBody>
      </p:sp>
      <p:sp>
        <p:nvSpPr>
          <p:cNvPr id="7" name="code ... Nat.ModEq_iff_mo"/>
          <p:cNvSpPr/>
          <p:nvPr/>
        </p:nvSpPr>
        <p:spPr>
          <a:xfrm>
            <a:off x="548640" y="2560320"/>
            <a:ext cx="3291840" cy="457200"/>
          </a:xfrm>
          <a:prstGeom prst="rect">
            <a:avLst/>
          </a:prstGeom>
          <a:solidFill>
            <a:srgbClr val="FFFFFF"/>
          </a:solidFill>
          <a:ln w="9525">
            <a:solidFill>
              <a:srgbClr val="BFBFBF"/>
            </a:solidFill>
            <a:prstDash val="solid"/>
          </a:ln>
        </p:spPr>
      </p:sp>
      <p:sp>
        <p:nvSpPr>
          <p:cNvPr id="8" name="Text 6"/>
          <p:cNvSpPr txBox="1"/>
          <p:nvPr/>
        </p:nvSpPr>
        <p:spPr>
          <a:xfrm>
            <a:off x="658368" y="2560320"/>
            <a:ext cx="3072384" cy="457200"/>
          </a:xfrm>
          <a:prstGeom prst="rect">
            <a:avLst/>
          </a:prstGeom>
          <a:noFill/>
          <a:ln/>
        </p:spPr>
        <p:txBody>
          <a:bodyPr wrap="square" lIns="0" tIns="0" rIns="0" bIns="0" rtlCol="0" anchor="ctr"/>
          <a:lstStyle/>
          <a:p>
            <a:pPr indent="0" marL="0">
              <a:buNone/>
            </a:pPr>
            <a:r>
              <a:rPr lang="en-US" sz="1300" dirty="0">
                <a:solidFill>
                  <a:srgbClr val="C00000"/>
                </a:solidFill>
                <a:latin typeface="Courier New" pitchFamily="34" charset="0"/>
                <a:ea typeface="Courier New" pitchFamily="34" charset="-122"/>
                <a:cs typeface="Courier New" pitchFamily="34" charset="-120"/>
              </a:rPr>
              <a:t>... Nat.ModEq_iff_modEq ...</a:t>
            </a:r>
            <a:endParaRPr lang="en-US" sz="1300" dirty="0"/>
          </a:p>
        </p:txBody>
      </p:sp>
      <p:sp>
        <p:nvSpPr>
          <p:cNvPr id="9" name="Text 7"/>
          <p:cNvSpPr txBox="1"/>
          <p:nvPr/>
        </p:nvSpPr>
        <p:spPr>
          <a:xfrm>
            <a:off x="3977640" y="2560320"/>
            <a:ext cx="2651760" cy="457200"/>
          </a:xfrm>
          <a:prstGeom prst="rect">
            <a:avLst/>
          </a:prstGeom>
          <a:noFill/>
          <a:ln/>
        </p:spPr>
        <p:txBody>
          <a:bodyPr wrap="square" lIns="0" tIns="0" rIns="0" bIns="0" rtlCol="0" anchor="ctr"/>
          <a:lstStyle/>
          <a:p>
            <a:pPr indent="0" marL="0">
              <a:buNone/>
            </a:pPr>
            <a:r>
              <a:rPr lang="en-US" sz="1400" b="1" dirty="0">
                <a:solidFill>
                  <a:srgbClr val="C00000"/>
                </a:solidFill>
              </a:rPr>
              <a:t>✗ no such lemma in the library</a:t>
            </a:r>
            <a:endParaRPr lang="en-US" sz="1400" dirty="0"/>
          </a:p>
        </p:txBody>
      </p:sp>
      <p:sp>
        <p:nvSpPr>
          <p:cNvPr id="10" name="Text 8"/>
          <p:cNvSpPr txBox="1"/>
          <p:nvPr/>
        </p:nvSpPr>
        <p:spPr>
          <a:xfrm>
            <a:off x="548640" y="3154680"/>
            <a:ext cx="6035040" cy="320040"/>
          </a:xfrm>
          <a:prstGeom prst="rect">
            <a:avLst/>
          </a:prstGeom>
          <a:noFill/>
          <a:ln/>
        </p:spPr>
        <p:txBody>
          <a:bodyPr wrap="square" lIns="0" tIns="0" rIns="0" bIns="0" rtlCol="0" anchor="ctr"/>
          <a:lstStyle/>
          <a:p>
            <a:pPr indent="0" marL="0">
              <a:buNone/>
            </a:pPr>
            <a:r>
              <a:rPr lang="en-US" sz="1500" b="1" dirty="0">
                <a:solidFill>
                  <a:schemeClr val="tx1"/>
                </a:solidFill>
              </a:rPr>
              <a:t>Specialized prover (Goedel-Prover-V2-8B)</a:t>
            </a:r>
            <a:endParaRPr lang="en-US" sz="1500" dirty="0"/>
          </a:p>
        </p:txBody>
      </p:sp>
      <p:sp>
        <p:nvSpPr>
          <p:cNvPr id="11" name="code interval_cases x &lt;;&gt;"/>
          <p:cNvSpPr/>
          <p:nvPr/>
        </p:nvSpPr>
        <p:spPr>
          <a:xfrm>
            <a:off x="548640" y="3474720"/>
            <a:ext cx="4754880" cy="457200"/>
          </a:xfrm>
          <a:prstGeom prst="rect">
            <a:avLst/>
          </a:prstGeom>
          <a:solidFill>
            <a:srgbClr val="FFFFFF"/>
          </a:solidFill>
          <a:ln w="9525">
            <a:solidFill>
              <a:srgbClr val="BFBFBF"/>
            </a:solidFill>
            <a:prstDash val="solid"/>
          </a:ln>
        </p:spPr>
      </p:sp>
      <p:sp>
        <p:nvSpPr>
          <p:cNvPr id="12" name="Text 10"/>
          <p:cNvSpPr txBox="1"/>
          <p:nvPr/>
        </p:nvSpPr>
        <p:spPr>
          <a:xfrm>
            <a:off x="658368" y="3474720"/>
            <a:ext cx="4535424" cy="457200"/>
          </a:xfrm>
          <a:prstGeom prst="rect">
            <a:avLst/>
          </a:prstGeom>
          <a:noFill/>
          <a:ln/>
        </p:spPr>
        <p:txBody>
          <a:bodyPr wrap="square" lIns="0" tIns="0" rIns="0" bIns="0" rtlCol="0" anchor="ctr"/>
          <a:lstStyle/>
          <a:p>
            <a:pPr indent="0" marL="0">
              <a:buNone/>
            </a:pPr>
            <a:r>
              <a:rPr lang="en-US" sz="1200" dirty="0">
                <a:solidFill>
                  <a:srgbClr val="70AD47"/>
                </a:solidFill>
                <a:latin typeface="Courier New" pitchFamily="34" charset="0"/>
                <a:ea typeface="Courier New" pitchFamily="34" charset="-122"/>
                <a:cs typeface="Courier New" pitchFamily="34" charset="-120"/>
              </a:rPr>
              <a:t>interval_cases x &lt;;&gt; norm_num at h₁ ⊢ &lt;;&gt; omega</a:t>
            </a:r>
            <a:endParaRPr lang="en-US" sz="1200" dirty="0"/>
          </a:p>
        </p:txBody>
      </p:sp>
      <p:sp>
        <p:nvSpPr>
          <p:cNvPr id="13" name="Text 11"/>
          <p:cNvSpPr txBox="1"/>
          <p:nvPr/>
        </p:nvSpPr>
        <p:spPr>
          <a:xfrm>
            <a:off x="5394960" y="3474720"/>
            <a:ext cx="1371600" cy="457200"/>
          </a:xfrm>
          <a:prstGeom prst="rect">
            <a:avLst/>
          </a:prstGeom>
          <a:noFill/>
          <a:ln/>
        </p:spPr>
        <p:txBody>
          <a:bodyPr wrap="square" lIns="0" tIns="0" rIns="0" bIns="0" rtlCol="0" anchor="ctr"/>
          <a:lstStyle/>
          <a:p>
            <a:pPr indent="0" marL="0">
              <a:buNone/>
            </a:pPr>
            <a:r>
              <a:rPr lang="en-US" sz="1400" b="1" dirty="0">
                <a:solidFill>
                  <a:srgbClr val="70AD47"/>
                </a:solidFill>
              </a:rPr>
              <a:t>✓ tries all 100 x</a:t>
            </a:r>
            <a:endParaRPr lang="en-US" sz="1400" dirty="0"/>
          </a:p>
        </p:txBody>
      </p:sp>
      <p:sp>
        <p:nvSpPr>
          <p:cNvPr id="14" name="Text 12"/>
          <p:cNvSpPr txBox="1"/>
          <p:nvPr/>
        </p:nvSpPr>
        <p:spPr>
          <a:xfrm>
            <a:off x="6949440" y="1188720"/>
            <a:ext cx="4663440" cy="411480"/>
          </a:xfrm>
          <a:prstGeom prst="rect">
            <a:avLst/>
          </a:prstGeom>
          <a:noFill/>
          <a:ln/>
        </p:spPr>
        <p:txBody>
          <a:bodyPr wrap="square" lIns="0" tIns="0" rIns="0" bIns="0" rtlCol="0" anchor="ctr"/>
          <a:lstStyle/>
          <a:p>
            <a:pPr indent="0" marL="0">
              <a:buNone/>
            </a:pPr>
            <a:r>
              <a:rPr lang="en-US" sz="1500" b="1" dirty="0">
                <a:solidFill>
                  <a:schemeClr val="tx1"/>
                </a:solidFill>
              </a:rPr>
              <a:t>244 statements, 8 tries each: % proved</a:t>
            </a:r>
            <a:endParaRPr lang="en-US" sz="1500" dirty="0"/>
          </a:p>
        </p:txBody>
      </p:sp>
      <p:sp>
        <p:nvSpPr>
          <p:cNvPr id="15" name="Text 13"/>
          <p:cNvSpPr txBox="1"/>
          <p:nvPr/>
        </p:nvSpPr>
        <p:spPr>
          <a:xfrm>
            <a:off x="6949440" y="164592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Qwen3-32B</a:t>
            </a:r>
            <a:endParaRPr lang="en-US" sz="1600" dirty="0"/>
          </a:p>
        </p:txBody>
      </p:sp>
      <p:sp>
        <p:nvSpPr>
          <p:cNvPr id="16" name="bar Qwen3-32B"/>
          <p:cNvSpPr/>
          <p:nvPr/>
        </p:nvSpPr>
        <p:spPr>
          <a:xfrm>
            <a:off x="8915400" y="1714500"/>
            <a:ext cx="249677" cy="228600"/>
          </a:xfrm>
          <a:prstGeom prst="rect">
            <a:avLst/>
          </a:prstGeom>
          <a:solidFill>
            <a:srgbClr val="A5A5A5"/>
          </a:solidFill>
          <a:ln w="6350">
            <a:solidFill>
              <a:srgbClr val="A5A5A5"/>
            </a:solidFill>
            <a:prstDash val="solid"/>
          </a:ln>
        </p:spPr>
      </p:sp>
      <p:sp>
        <p:nvSpPr>
          <p:cNvPr id="17" name="Text 15"/>
          <p:cNvSpPr txBox="1"/>
          <p:nvPr/>
        </p:nvSpPr>
        <p:spPr>
          <a:xfrm>
            <a:off x="9256517" y="1645920"/>
            <a:ext cx="685800" cy="365760"/>
          </a:xfrm>
          <a:prstGeom prst="rect">
            <a:avLst/>
          </a:prstGeom>
          <a:noFill/>
          <a:ln/>
        </p:spPr>
        <p:txBody>
          <a:bodyPr wrap="square" lIns="0" tIns="0" rIns="0" bIns="0" rtlCol="0" anchor="ctr"/>
          <a:lstStyle/>
          <a:p>
            <a:pPr indent="0" marL="0">
              <a:buNone/>
            </a:pPr>
            <a:r>
              <a:rPr lang="en-US" sz="1800" b="1" dirty="0">
                <a:solidFill>
                  <a:srgbClr val="A5A5A5"/>
                </a:solidFill>
              </a:rPr>
              <a:t>13%</a:t>
            </a:r>
            <a:endParaRPr lang="en-US" sz="1800" dirty="0"/>
          </a:p>
        </p:txBody>
      </p:sp>
      <p:sp>
        <p:nvSpPr>
          <p:cNvPr id="18" name="Text 16"/>
          <p:cNvSpPr txBox="1"/>
          <p:nvPr/>
        </p:nvSpPr>
        <p:spPr>
          <a:xfrm>
            <a:off x="6949440" y="210312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gpt-oss-20b</a:t>
            </a:r>
            <a:endParaRPr lang="en-US" sz="1600" dirty="0"/>
          </a:p>
        </p:txBody>
      </p:sp>
      <p:sp>
        <p:nvSpPr>
          <p:cNvPr id="19" name="bar gpt-oss-20b"/>
          <p:cNvSpPr/>
          <p:nvPr/>
        </p:nvSpPr>
        <p:spPr>
          <a:xfrm>
            <a:off x="8915400" y="2171700"/>
            <a:ext cx="530809" cy="228600"/>
          </a:xfrm>
          <a:prstGeom prst="rect">
            <a:avLst/>
          </a:prstGeom>
          <a:solidFill>
            <a:srgbClr val="A5A5A5"/>
          </a:solidFill>
          <a:ln w="6350">
            <a:solidFill>
              <a:srgbClr val="A5A5A5"/>
            </a:solidFill>
            <a:prstDash val="solid"/>
          </a:ln>
        </p:spPr>
      </p:sp>
      <p:sp>
        <p:nvSpPr>
          <p:cNvPr id="20" name="Text 18"/>
          <p:cNvSpPr txBox="1"/>
          <p:nvPr/>
        </p:nvSpPr>
        <p:spPr>
          <a:xfrm>
            <a:off x="9537649" y="2103120"/>
            <a:ext cx="685800" cy="365760"/>
          </a:xfrm>
          <a:prstGeom prst="rect">
            <a:avLst/>
          </a:prstGeom>
          <a:noFill/>
          <a:ln/>
        </p:spPr>
        <p:txBody>
          <a:bodyPr wrap="square" lIns="0" tIns="0" rIns="0" bIns="0" rtlCol="0" anchor="ctr"/>
          <a:lstStyle/>
          <a:p>
            <a:pPr indent="0" marL="0">
              <a:buNone/>
            </a:pPr>
            <a:r>
              <a:rPr lang="en-US" sz="1800" b="1" dirty="0">
                <a:solidFill>
                  <a:srgbClr val="A5A5A5"/>
                </a:solidFill>
              </a:rPr>
              <a:t>27%</a:t>
            </a:r>
            <a:endParaRPr lang="en-US" sz="1800" dirty="0"/>
          </a:p>
        </p:txBody>
      </p:sp>
      <p:sp>
        <p:nvSpPr>
          <p:cNvPr id="21" name="Text 19"/>
          <p:cNvSpPr txBox="1"/>
          <p:nvPr/>
        </p:nvSpPr>
        <p:spPr>
          <a:xfrm>
            <a:off x="6949440" y="256032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Qwen3.6-35B</a:t>
            </a:r>
            <a:endParaRPr lang="en-US" sz="1600" dirty="0"/>
          </a:p>
        </p:txBody>
      </p:sp>
      <p:sp>
        <p:nvSpPr>
          <p:cNvPr id="22" name="bar Qwen3.6-35B"/>
          <p:cNvSpPr/>
          <p:nvPr/>
        </p:nvSpPr>
        <p:spPr>
          <a:xfrm>
            <a:off x="8915400" y="2628900"/>
            <a:ext cx="1071448" cy="228600"/>
          </a:xfrm>
          <a:prstGeom prst="rect">
            <a:avLst/>
          </a:prstGeom>
          <a:solidFill>
            <a:srgbClr val="A5A5A5"/>
          </a:solidFill>
          <a:ln w="6350">
            <a:solidFill>
              <a:srgbClr val="A5A5A5"/>
            </a:solidFill>
            <a:prstDash val="solid"/>
          </a:ln>
        </p:spPr>
      </p:sp>
      <p:sp>
        <p:nvSpPr>
          <p:cNvPr id="23" name="Text 21"/>
          <p:cNvSpPr txBox="1"/>
          <p:nvPr/>
        </p:nvSpPr>
        <p:spPr>
          <a:xfrm>
            <a:off x="10078288" y="2560320"/>
            <a:ext cx="685800" cy="365760"/>
          </a:xfrm>
          <a:prstGeom prst="rect">
            <a:avLst/>
          </a:prstGeom>
          <a:noFill/>
          <a:ln/>
        </p:spPr>
        <p:txBody>
          <a:bodyPr wrap="square" lIns="0" tIns="0" rIns="0" bIns="0" rtlCol="0" anchor="ctr"/>
          <a:lstStyle/>
          <a:p>
            <a:pPr indent="0" marL="0">
              <a:buNone/>
            </a:pPr>
            <a:r>
              <a:rPr lang="en-US" sz="1800" b="1" dirty="0">
                <a:solidFill>
                  <a:srgbClr val="A5A5A5"/>
                </a:solidFill>
              </a:rPr>
              <a:t>55%</a:t>
            </a:r>
            <a:endParaRPr lang="en-US" sz="1800" dirty="0"/>
          </a:p>
        </p:txBody>
      </p:sp>
      <p:sp>
        <p:nvSpPr>
          <p:cNvPr id="24" name="Text 22"/>
          <p:cNvSpPr txBox="1"/>
          <p:nvPr/>
        </p:nvSpPr>
        <p:spPr>
          <a:xfrm>
            <a:off x="6949440" y="301752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DeepSeek-Prover-7B</a:t>
            </a:r>
            <a:endParaRPr lang="en-US" sz="1600" dirty="0"/>
          </a:p>
        </p:txBody>
      </p:sp>
      <p:sp>
        <p:nvSpPr>
          <p:cNvPr id="25" name="bar DeepSeek-Prover-7B"/>
          <p:cNvSpPr/>
          <p:nvPr/>
        </p:nvSpPr>
        <p:spPr>
          <a:xfrm>
            <a:off x="8915400" y="3086100"/>
            <a:ext cx="1328989" cy="228600"/>
          </a:xfrm>
          <a:prstGeom prst="rect">
            <a:avLst/>
          </a:prstGeom>
          <a:solidFill>
            <a:srgbClr val="5B9BD5"/>
          </a:solidFill>
          <a:ln w="6350">
            <a:solidFill>
              <a:srgbClr val="5B9BD5"/>
            </a:solidFill>
            <a:prstDash val="solid"/>
          </a:ln>
        </p:spPr>
      </p:sp>
      <p:sp>
        <p:nvSpPr>
          <p:cNvPr id="26" name="Text 24"/>
          <p:cNvSpPr txBox="1"/>
          <p:nvPr/>
        </p:nvSpPr>
        <p:spPr>
          <a:xfrm>
            <a:off x="10335829" y="3017520"/>
            <a:ext cx="685800" cy="365760"/>
          </a:xfrm>
          <a:prstGeom prst="rect">
            <a:avLst/>
          </a:prstGeom>
          <a:noFill/>
          <a:ln/>
        </p:spPr>
        <p:txBody>
          <a:bodyPr wrap="square" lIns="0" tIns="0" rIns="0" bIns="0" rtlCol="0" anchor="ctr"/>
          <a:lstStyle/>
          <a:p>
            <a:pPr indent="0" marL="0">
              <a:buNone/>
            </a:pPr>
            <a:r>
              <a:rPr lang="en-US" sz="1800" b="1" dirty="0">
                <a:solidFill>
                  <a:srgbClr val="5B9BD5"/>
                </a:solidFill>
              </a:rPr>
              <a:t>68%</a:t>
            </a:r>
            <a:endParaRPr lang="en-US" sz="1800" dirty="0"/>
          </a:p>
        </p:txBody>
      </p:sp>
      <p:sp>
        <p:nvSpPr>
          <p:cNvPr id="27" name="Text 25"/>
          <p:cNvSpPr txBox="1"/>
          <p:nvPr/>
        </p:nvSpPr>
        <p:spPr>
          <a:xfrm>
            <a:off x="6949440" y="3474720"/>
            <a:ext cx="1828800" cy="365760"/>
          </a:xfrm>
          <a:prstGeom prst="rect">
            <a:avLst/>
          </a:prstGeom>
          <a:noFill/>
          <a:ln/>
        </p:spPr>
        <p:txBody>
          <a:bodyPr wrap="square" lIns="0" tIns="0" rIns="0" bIns="0" rtlCol="0" anchor="ctr"/>
          <a:lstStyle/>
          <a:p>
            <a:pPr algn="r" indent="0" marL="0">
              <a:buNone/>
            </a:pPr>
            <a:r>
              <a:rPr lang="en-US" sz="1600" dirty="0">
                <a:solidFill>
                  <a:schemeClr val="tx1"/>
                </a:solidFill>
              </a:rPr>
              <a:t>Goedel-Prover-8B</a:t>
            </a:r>
            <a:endParaRPr lang="en-US" sz="1600" dirty="0"/>
          </a:p>
        </p:txBody>
      </p:sp>
      <p:sp>
        <p:nvSpPr>
          <p:cNvPr id="28" name="bar Goedel-Prover-8B"/>
          <p:cNvSpPr/>
          <p:nvPr/>
        </p:nvSpPr>
        <p:spPr>
          <a:xfrm>
            <a:off x="8915400" y="3543300"/>
            <a:ext cx="1450878" cy="228600"/>
          </a:xfrm>
          <a:prstGeom prst="rect">
            <a:avLst/>
          </a:prstGeom>
          <a:solidFill>
            <a:srgbClr val="4472C4"/>
          </a:solidFill>
          <a:ln w="6350">
            <a:solidFill>
              <a:srgbClr val="4472C4"/>
            </a:solidFill>
            <a:prstDash val="solid"/>
          </a:ln>
        </p:spPr>
      </p:sp>
      <p:sp>
        <p:nvSpPr>
          <p:cNvPr id="29" name="Text 27"/>
          <p:cNvSpPr txBox="1"/>
          <p:nvPr/>
        </p:nvSpPr>
        <p:spPr>
          <a:xfrm>
            <a:off x="10457718" y="3474720"/>
            <a:ext cx="685800" cy="365760"/>
          </a:xfrm>
          <a:prstGeom prst="rect">
            <a:avLst/>
          </a:prstGeom>
          <a:noFill/>
          <a:ln/>
        </p:spPr>
        <p:txBody>
          <a:bodyPr wrap="square" lIns="0" tIns="0" rIns="0" bIns="0" rtlCol="0" anchor="ctr"/>
          <a:lstStyle/>
          <a:p>
            <a:pPr indent="0" marL="0">
              <a:buNone/>
            </a:pPr>
            <a:r>
              <a:rPr lang="en-US" sz="1800" b="1" dirty="0">
                <a:solidFill>
                  <a:srgbClr val="4472C4"/>
                </a:solidFill>
              </a:rPr>
              <a:t>74%</a:t>
            </a:r>
            <a:endParaRPr lang="en-US" sz="1800" dirty="0"/>
          </a:p>
        </p:txBody>
      </p:sp>
      <p:sp>
        <p:nvSpPr>
          <p:cNvPr id="30" name="Text 28"/>
          <p:cNvSpPr txBox="1"/>
          <p:nvPr/>
        </p:nvSpPr>
        <p:spPr>
          <a:xfrm>
            <a:off x="548640" y="4206240"/>
            <a:ext cx="11064240" cy="640080"/>
          </a:xfrm>
          <a:prstGeom prst="rect">
            <a:avLst/>
          </a:prstGeom>
          <a:noFill/>
          <a:ln/>
        </p:spPr>
        <p:txBody>
          <a:bodyPr wrap="square" lIns="0" tIns="0" rIns="0" bIns="0" rtlCol="0" anchor="ctr"/>
          <a:lstStyle/>
          <a:p>
            <a:pPr indent="0" marL="0">
              <a:buNone/>
            </a:pPr>
            <a:r>
              <a:rPr lang="en-US" sz="1500" dirty="0">
                <a:solidFill>
                  <a:schemeClr val="tx1"/>
                </a:solidFill>
              </a:rPr>
              <a:t>For general models no step helps: a similar verified proof 133 → 133 · thinking 133 → 129 · an inequality fact sheet 24 → 21; fixing a proof from Lean's errors works half as well as a fresh try</a:t>
            </a:r>
            <a:endParaRPr lang="en-US" sz="1500" dirty="0"/>
          </a:p>
        </p:txBody>
      </p:sp>
      <p:sp>
        <p:nvSpPr>
          <p:cNvPr id="31" name="Text 29"/>
          <p:cNvSpPr txBox="1"/>
          <p:nvPr/>
        </p:nvSpPr>
        <p:spPr>
          <a:xfrm>
            <a:off x="548640" y="4892040"/>
            <a:ext cx="11064240" cy="640080"/>
          </a:xfrm>
          <a:prstGeom prst="rect">
            <a:avLst/>
          </a:prstGeom>
          <a:noFill/>
          <a:ln/>
        </p:spPr>
        <p:txBody>
          <a:bodyPr wrap="square" lIns="0" tIns="0" rIns="0" bIns="0" rtlCol="0" anchor="ctr"/>
          <a:lstStyle/>
          <a:p>
            <a:pPr indent="0" marL="0">
              <a:buNone/>
            </a:pPr>
            <a:r>
              <a:rPr lang="en-US" sz="1500" dirty="0">
                <a:solidFill>
                  <a:schemeClr val="tx1"/>
                </a:solidFill>
              </a:rPr>
              <a:t>Geometry proofs (AlphaGeometry's solver + LLM-proposed points): IMO 12 → 13 of 30 (only 2014 P4: "take the midpoint of BC"); easier JGEX 187 → 200 of 231</a:t>
            </a:r>
            <a:endParaRPr lang="en-US" sz="1500" dirty="0"/>
          </a:p>
        </p:txBody>
      </p:sp>
      <p:sp>
        <p:nvSpPr>
          <p:cNvPr id="32" name="Text 3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The missing piece is a skill, not a fact: use a specialized 8B prover (fits one 24 GB GPU)</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Our method: a recipe built from the findings</a:t>
            </a:r>
            <a:endParaRPr lang="en-US" sz="3600" dirty="0"/>
          </a:p>
        </p:txBody>
      </p:sp>
      <p:sp>
        <p:nvSpPr>
          <p:cNvPr id="3" name="step 1"/>
          <p:cNvSpPr/>
          <p:nvPr/>
        </p:nvSpPr>
        <p:spPr>
          <a:xfrm>
            <a:off x="548640" y="1554480"/>
            <a:ext cx="2651760" cy="1234440"/>
          </a:xfrm>
          <a:prstGeom prst="roundRect">
            <a:avLst>
              <a:gd name="adj" fmla="val 5926"/>
            </a:avLst>
          </a:prstGeom>
          <a:solidFill>
            <a:srgbClr val="DEEBF7"/>
          </a:solidFill>
          <a:ln w="9525">
            <a:solidFill>
              <a:srgbClr val="BDD7EE"/>
            </a:solidFill>
            <a:prstDash val="solid"/>
          </a:ln>
        </p:spPr>
      </p:sp>
      <p:sp>
        <p:nvSpPr>
          <p:cNvPr id="4" name="badge 1"/>
          <p:cNvSpPr/>
          <p:nvPr/>
        </p:nvSpPr>
        <p:spPr>
          <a:xfrm>
            <a:off x="685800" y="1828800"/>
            <a:ext cx="640080" cy="640080"/>
          </a:xfrm>
          <a:prstGeom prst="ellipse">
            <a:avLst/>
          </a:prstGeom>
          <a:solidFill>
            <a:srgbClr val="4472C4"/>
          </a:solidFill>
          <a:ln w="12700">
            <a:solidFill>
              <a:srgbClr val="4472C4"/>
            </a:solidFill>
            <a:prstDash val="solid"/>
          </a:ln>
        </p:spPr>
      </p:sp>
      <p:sp>
        <p:nvSpPr>
          <p:cNvPr id="5" name="Text 3"/>
          <p:cNvSpPr txBox="1"/>
          <p:nvPr/>
        </p:nvSpPr>
        <p:spPr>
          <a:xfrm>
            <a:off x="68580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6" name="Text 4"/>
          <p:cNvSpPr txBox="1"/>
          <p:nvPr/>
        </p:nvSpPr>
        <p:spPr>
          <a:xfrm>
            <a:off x="1417320" y="1645920"/>
            <a:ext cx="1691640" cy="1051560"/>
          </a:xfrm>
          <a:prstGeom prst="rect">
            <a:avLst/>
          </a:prstGeom>
          <a:noFill/>
          <a:ln/>
        </p:spPr>
        <p:txBody>
          <a:bodyPr wrap="square" lIns="0" tIns="0" rIns="0" bIns="0" rtlCol="0" anchor="ctr"/>
          <a:lstStyle/>
          <a:p>
            <a:pPr indent="0" marL="0">
              <a:buNone/>
            </a:pPr>
            <a:r>
              <a:rPr lang="en-US" sz="1800" b="1" dirty="0">
                <a:solidFill>
                  <a:schemeClr val="tx1"/>
                </a:solidFill>
              </a:rPr>
              <a:t>Write a program</a:t>
            </a:r>
            <a:endParaRPr lang="en-US" sz="1800" dirty="0"/>
          </a:p>
        </p:txBody>
      </p:sp>
      <p:sp>
        <p:nvSpPr>
          <p:cNvPr id="7" name="Text 5"/>
          <p:cNvSpPr txBox="1"/>
          <p:nvPr/>
        </p:nvSpPr>
        <p:spPr>
          <a:xfrm>
            <a:off x="548640" y="2852928"/>
            <a:ext cx="2651760" cy="685800"/>
          </a:xfrm>
          <a:prstGeom prst="rect">
            <a:avLst/>
          </a:prstGeom>
          <a:noFill/>
          <a:ln/>
        </p:spPr>
        <p:txBody>
          <a:bodyPr wrap="square" lIns="0" tIns="0" rIns="0" bIns="0" rtlCol="0" anchor="t"/>
          <a:lstStyle/>
          <a:p>
            <a:pPr algn="ctr" indent="0" marL="0">
              <a:buNone/>
            </a:pPr>
            <a:r>
              <a:rPr lang="en-US" sz="1400" dirty="0">
                <a:solidFill>
                  <a:schemeClr val="tx2"/>
                </a:solidFill>
              </a:rPr>
              <a:t>right on 8 of 8 copies (slide 2)</a:t>
            </a:r>
            <a:endParaRPr lang="en-US" sz="1400" dirty="0"/>
          </a:p>
        </p:txBody>
      </p:sp>
      <p:sp>
        <p:nvSpPr>
          <p:cNvPr id="8" name="Shape 6"/>
          <p:cNvSpPr/>
          <p:nvPr/>
        </p:nvSpPr>
        <p:spPr>
          <a:xfrm>
            <a:off x="3200400" y="2167128"/>
            <a:ext cx="365760" cy="0"/>
          </a:xfrm>
          <a:prstGeom prst="line">
            <a:avLst/>
          </a:prstGeom>
          <a:noFill/>
          <a:ln w="25400">
            <a:solidFill>
              <a:srgbClr val="7F7F7F"/>
            </a:solidFill>
            <a:prstDash val="solid"/>
            <a:tailEnd type="triangle"/>
          </a:ln>
        </p:spPr>
      </p:sp>
      <p:sp>
        <p:nvSpPr>
          <p:cNvPr id="9" name="step 2"/>
          <p:cNvSpPr/>
          <p:nvPr/>
        </p:nvSpPr>
        <p:spPr>
          <a:xfrm>
            <a:off x="3566160" y="1554480"/>
            <a:ext cx="2743200" cy="1234440"/>
          </a:xfrm>
          <a:prstGeom prst="roundRect">
            <a:avLst>
              <a:gd name="adj" fmla="val 5926"/>
            </a:avLst>
          </a:prstGeom>
          <a:solidFill>
            <a:srgbClr val="DEEBF7"/>
          </a:solidFill>
          <a:ln w="9525">
            <a:solidFill>
              <a:srgbClr val="BDD7EE"/>
            </a:solidFill>
            <a:prstDash val="solid"/>
          </a:ln>
        </p:spPr>
      </p:sp>
      <p:sp>
        <p:nvSpPr>
          <p:cNvPr id="10" name="badge 2"/>
          <p:cNvSpPr/>
          <p:nvPr/>
        </p:nvSpPr>
        <p:spPr>
          <a:xfrm>
            <a:off x="3703320" y="1828800"/>
            <a:ext cx="640080" cy="640080"/>
          </a:xfrm>
          <a:prstGeom prst="ellipse">
            <a:avLst/>
          </a:prstGeom>
          <a:solidFill>
            <a:srgbClr val="4472C4"/>
          </a:solidFill>
          <a:ln w="12700">
            <a:solidFill>
              <a:srgbClr val="4472C4"/>
            </a:solidFill>
            <a:prstDash val="solid"/>
          </a:ln>
        </p:spPr>
      </p:sp>
      <p:sp>
        <p:nvSpPr>
          <p:cNvPr id="11" name="Text 9"/>
          <p:cNvSpPr txBox="1"/>
          <p:nvPr/>
        </p:nvSpPr>
        <p:spPr>
          <a:xfrm>
            <a:off x="370332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2" name="Text 10"/>
          <p:cNvSpPr txBox="1"/>
          <p:nvPr/>
        </p:nvSpPr>
        <p:spPr>
          <a:xfrm>
            <a:off x="4434840" y="1645920"/>
            <a:ext cx="1783080" cy="1051560"/>
          </a:xfrm>
          <a:prstGeom prst="rect">
            <a:avLst/>
          </a:prstGeom>
          <a:noFill/>
          <a:ln/>
        </p:spPr>
        <p:txBody>
          <a:bodyPr wrap="square" lIns="0" tIns="0" rIns="0" bIns="0" rtlCol="0" anchor="ctr"/>
          <a:lstStyle/>
          <a:p>
            <a:pPr indent="0" marL="0">
              <a:buNone/>
            </a:pPr>
            <a:r>
              <a:rPr lang="en-US" sz="1800" b="1" dirty="0">
                <a:solidFill>
                  <a:schemeClr val="tx1"/>
                </a:solidFill>
              </a:rPr>
              <a:t>Add the missing fact</a:t>
            </a:r>
            <a:endParaRPr lang="en-US" sz="1800" dirty="0"/>
          </a:p>
        </p:txBody>
      </p:sp>
      <p:sp>
        <p:nvSpPr>
          <p:cNvPr id="13" name="Text 11"/>
          <p:cNvSpPr txBox="1"/>
          <p:nvPr/>
        </p:nvSpPr>
        <p:spPr>
          <a:xfrm>
            <a:off x="3566160" y="2852928"/>
            <a:ext cx="2743200" cy="685800"/>
          </a:xfrm>
          <a:prstGeom prst="rect">
            <a:avLst/>
          </a:prstGeom>
          <a:noFill/>
          <a:ln/>
        </p:spPr>
        <p:txBody>
          <a:bodyPr wrap="square" lIns="0" tIns="0" rIns="0" bIns="0" rtlCol="0" anchor="t"/>
          <a:lstStyle/>
          <a:p>
            <a:pPr algn="ctr" indent="0" marL="0">
              <a:buNone/>
            </a:pPr>
            <a:r>
              <a:rPr lang="en-US" sz="1400" dirty="0">
                <a:solidFill>
                  <a:schemeClr val="tx2"/>
                </a:solidFill>
              </a:rPr>
              <a:t>23% → 77–90%; can be automatic (findings 1, 2, 6)</a:t>
            </a:r>
            <a:endParaRPr lang="en-US" sz="1400" dirty="0"/>
          </a:p>
        </p:txBody>
      </p:sp>
      <p:sp>
        <p:nvSpPr>
          <p:cNvPr id="14" name="Shape 12"/>
          <p:cNvSpPr/>
          <p:nvPr/>
        </p:nvSpPr>
        <p:spPr>
          <a:xfrm>
            <a:off x="6309360" y="2167128"/>
            <a:ext cx="365760" cy="0"/>
          </a:xfrm>
          <a:prstGeom prst="line">
            <a:avLst/>
          </a:prstGeom>
          <a:noFill/>
          <a:ln w="25400">
            <a:solidFill>
              <a:srgbClr val="7F7F7F"/>
            </a:solidFill>
            <a:prstDash val="solid"/>
            <a:tailEnd type="triangle"/>
          </a:ln>
        </p:spPr>
      </p:sp>
      <p:sp>
        <p:nvSpPr>
          <p:cNvPr id="15" name="step 3"/>
          <p:cNvSpPr/>
          <p:nvPr/>
        </p:nvSpPr>
        <p:spPr>
          <a:xfrm>
            <a:off x="6675120" y="1554480"/>
            <a:ext cx="2651760" cy="1234440"/>
          </a:xfrm>
          <a:prstGeom prst="roundRect">
            <a:avLst>
              <a:gd name="adj" fmla="val 5926"/>
            </a:avLst>
          </a:prstGeom>
          <a:solidFill>
            <a:srgbClr val="DEEBF7"/>
          </a:solidFill>
          <a:ln w="9525">
            <a:solidFill>
              <a:srgbClr val="BDD7EE"/>
            </a:solidFill>
            <a:prstDash val="solid"/>
          </a:ln>
        </p:spPr>
      </p:sp>
      <p:sp>
        <p:nvSpPr>
          <p:cNvPr id="16" name="badge 3"/>
          <p:cNvSpPr/>
          <p:nvPr/>
        </p:nvSpPr>
        <p:spPr>
          <a:xfrm>
            <a:off x="6812280" y="1828800"/>
            <a:ext cx="640080" cy="640080"/>
          </a:xfrm>
          <a:prstGeom prst="ellipse">
            <a:avLst/>
          </a:prstGeom>
          <a:solidFill>
            <a:srgbClr val="4472C4"/>
          </a:solidFill>
          <a:ln w="12700">
            <a:solidFill>
              <a:srgbClr val="4472C4"/>
            </a:solidFill>
            <a:prstDash val="solid"/>
          </a:ln>
        </p:spPr>
      </p:sp>
      <p:sp>
        <p:nvSpPr>
          <p:cNvPr id="17" name="Text 15"/>
          <p:cNvSpPr txBox="1"/>
          <p:nvPr/>
        </p:nvSpPr>
        <p:spPr>
          <a:xfrm>
            <a:off x="6812280" y="18288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8" name="Text 16"/>
          <p:cNvSpPr txBox="1"/>
          <p:nvPr/>
        </p:nvSpPr>
        <p:spPr>
          <a:xfrm>
            <a:off x="7543800" y="1645920"/>
            <a:ext cx="1691640" cy="1051560"/>
          </a:xfrm>
          <a:prstGeom prst="rect">
            <a:avLst/>
          </a:prstGeom>
          <a:noFill/>
          <a:ln/>
        </p:spPr>
        <p:txBody>
          <a:bodyPr wrap="square" lIns="0" tIns="0" rIns="0" bIns="0" rtlCol="0" anchor="ctr"/>
          <a:lstStyle/>
          <a:p>
            <a:pPr indent="0" marL="0">
              <a:buNone/>
            </a:pPr>
            <a:r>
              <a:rPr lang="en-US" sz="1800" b="1" dirty="0">
                <a:solidFill>
                  <a:schemeClr val="tx1"/>
                </a:solidFill>
              </a:rPr>
              <a:t>Run a free check</a:t>
            </a:r>
            <a:endParaRPr lang="en-US" sz="1800" dirty="0"/>
          </a:p>
        </p:txBody>
      </p:sp>
      <p:sp>
        <p:nvSpPr>
          <p:cNvPr id="19" name="Text 17"/>
          <p:cNvSpPr txBox="1"/>
          <p:nvPr/>
        </p:nvSpPr>
        <p:spPr>
          <a:xfrm>
            <a:off x="6675120" y="2852928"/>
            <a:ext cx="2651760" cy="685800"/>
          </a:xfrm>
          <a:prstGeom prst="rect">
            <a:avLst/>
          </a:prstGeom>
          <a:noFill/>
          <a:ln/>
        </p:spPr>
        <p:txBody>
          <a:bodyPr wrap="square" lIns="0" tIns="0" rIns="0" bIns="0" rtlCol="0" anchor="t"/>
          <a:lstStyle/>
          <a:p>
            <a:pPr algn="ctr" indent="0" marL="0">
              <a:buNone/>
            </a:pPr>
            <a:r>
              <a:rPr lang="en-US" sz="1400" dirty="0">
                <a:solidFill>
                  <a:schemeClr val="tx2"/>
                </a:solidFill>
              </a:rPr>
              <a:t>examples, or two versions agree (finding 3)</a:t>
            </a:r>
            <a:endParaRPr lang="en-US" sz="1400" dirty="0"/>
          </a:p>
        </p:txBody>
      </p:sp>
      <p:sp>
        <p:nvSpPr>
          <p:cNvPr id="20" name="Shape 18"/>
          <p:cNvSpPr/>
          <p:nvPr/>
        </p:nvSpPr>
        <p:spPr>
          <a:xfrm flipV="1">
            <a:off x="9326880" y="1691640"/>
            <a:ext cx="365760" cy="228600"/>
          </a:xfrm>
          <a:prstGeom prst="line">
            <a:avLst/>
          </a:prstGeom>
          <a:noFill/>
          <a:ln w="25400">
            <a:solidFill>
              <a:srgbClr val="7F7F7F"/>
            </a:solidFill>
            <a:prstDash val="solid"/>
            <a:tailEnd type="triangle"/>
          </a:ln>
        </p:spPr>
      </p:sp>
      <p:sp>
        <p:nvSpPr>
          <p:cNvPr id="21" name="Shape 19"/>
          <p:cNvSpPr/>
          <p:nvPr/>
        </p:nvSpPr>
        <p:spPr>
          <a:xfrm>
            <a:off x="9326880" y="2423160"/>
            <a:ext cx="365760" cy="274320"/>
          </a:xfrm>
          <a:prstGeom prst="line">
            <a:avLst/>
          </a:prstGeom>
          <a:noFill/>
          <a:ln w="25400">
            <a:solidFill>
              <a:srgbClr val="7F7F7F"/>
            </a:solidFill>
            <a:prstDash val="solid"/>
            <a:tailEnd type="triangle"/>
          </a:ln>
        </p:spPr>
      </p:sp>
      <p:sp>
        <p:nvSpPr>
          <p:cNvPr id="22" name="box pass → done"/>
          <p:cNvSpPr/>
          <p:nvPr/>
        </p:nvSpPr>
        <p:spPr>
          <a:xfrm>
            <a:off x="9692640" y="1417320"/>
            <a:ext cx="1920240" cy="548640"/>
          </a:xfrm>
          <a:prstGeom prst="roundRect">
            <a:avLst>
              <a:gd name="adj" fmla="val 10000"/>
            </a:avLst>
          </a:prstGeom>
          <a:solidFill>
            <a:srgbClr val="E2F0D9"/>
          </a:solidFill>
          <a:ln w="9525">
            <a:solidFill>
              <a:srgbClr val="BFBFBF"/>
            </a:solidFill>
            <a:prstDash val="solid"/>
          </a:ln>
        </p:spPr>
      </p:sp>
      <p:sp>
        <p:nvSpPr>
          <p:cNvPr id="23" name="Text 21"/>
          <p:cNvSpPr txBox="1"/>
          <p:nvPr/>
        </p:nvSpPr>
        <p:spPr>
          <a:xfrm>
            <a:off x="9765792" y="1417320"/>
            <a:ext cx="1773936" cy="548640"/>
          </a:xfrm>
          <a:prstGeom prst="rect">
            <a:avLst/>
          </a:prstGeom>
          <a:noFill/>
          <a:ln/>
        </p:spPr>
        <p:txBody>
          <a:bodyPr wrap="square" lIns="0" tIns="0" rIns="0" bIns="0" rtlCol="0" anchor="ctr"/>
          <a:lstStyle/>
          <a:p>
            <a:pPr algn="ctr" indent="0" marL="0">
              <a:buNone/>
            </a:pPr>
            <a:r>
              <a:rPr lang="en-US" sz="1600" b="1" dirty="0">
                <a:solidFill>
                  <a:schemeClr val="tx1"/>
                </a:solidFill>
              </a:rPr>
              <a:t>pass → done</a:t>
            </a:r>
            <a:endParaRPr lang="en-US" sz="1600" dirty="0"/>
          </a:p>
        </p:txBody>
      </p:sp>
      <p:sp>
        <p:nvSpPr>
          <p:cNvPr id="24" name="box fail → 4. think hard"/>
          <p:cNvSpPr/>
          <p:nvPr/>
        </p:nvSpPr>
        <p:spPr>
          <a:xfrm>
            <a:off x="9692640" y="2423160"/>
            <a:ext cx="1920240" cy="685800"/>
          </a:xfrm>
          <a:prstGeom prst="roundRect">
            <a:avLst>
              <a:gd name="adj" fmla="val 8000"/>
            </a:avLst>
          </a:prstGeom>
          <a:solidFill>
            <a:srgbClr val="FADBD8"/>
          </a:solidFill>
          <a:ln w="9525">
            <a:solidFill>
              <a:srgbClr val="BFBFBF"/>
            </a:solidFill>
            <a:prstDash val="solid"/>
          </a:ln>
        </p:spPr>
      </p:sp>
      <p:sp>
        <p:nvSpPr>
          <p:cNvPr id="25" name="Text 23"/>
          <p:cNvSpPr txBox="1"/>
          <p:nvPr/>
        </p:nvSpPr>
        <p:spPr>
          <a:xfrm>
            <a:off x="9765792" y="2423160"/>
            <a:ext cx="1773936" cy="685800"/>
          </a:xfrm>
          <a:prstGeom prst="rect">
            <a:avLst/>
          </a:prstGeom>
          <a:noFill/>
          <a:ln/>
        </p:spPr>
        <p:txBody>
          <a:bodyPr wrap="square" lIns="0" tIns="0" rIns="0" bIns="0" rtlCol="0" anchor="ctr"/>
          <a:lstStyle/>
          <a:p>
            <a:pPr algn="ctr" indent="0" marL="0">
              <a:buNone/>
            </a:pPr>
            <a:r>
              <a:rPr lang="en-US" sz="1600" b="1" dirty="0">
                <a:solidFill>
                  <a:schemeClr val="tx1"/>
                </a:solidFill>
              </a:rPr>
              <a:t>fail → 4. think harder</a:t>
            </a:r>
            <a:endParaRPr lang="en-US" sz="1600" dirty="0"/>
          </a:p>
        </p:txBody>
      </p:sp>
      <p:sp>
        <p:nvSpPr>
          <p:cNvPr id="26" name="Text 24"/>
          <p:cNvSpPr txBox="1"/>
          <p:nvPr/>
        </p:nvSpPr>
        <p:spPr>
          <a:xfrm>
            <a:off x="9509760" y="3154680"/>
            <a:ext cx="2286000" cy="548640"/>
          </a:xfrm>
          <a:prstGeom prst="rect">
            <a:avLst/>
          </a:prstGeom>
          <a:noFill/>
          <a:ln/>
        </p:spPr>
        <p:txBody>
          <a:bodyPr wrap="square" lIns="0" tIns="0" rIns="0" bIns="0" rtlCol="0" anchor="t"/>
          <a:lstStyle/>
          <a:p>
            <a:pPr algn="ctr" indent="0" marL="0">
              <a:buNone/>
            </a:pPr>
            <a:r>
              <a:rPr lang="en-US" sz="1400" dirty="0">
                <a:solidFill>
                  <a:schemeClr val="tx2"/>
                </a:solidFill>
              </a:rPr>
              <a:t>same 66%, 18% fewer tokens (finding 4)</a:t>
            </a:r>
            <a:endParaRPr lang="en-US" sz="1400" dirty="0"/>
          </a:p>
        </p:txBody>
      </p:sp>
      <p:sp>
        <p:nvSpPr>
          <p:cNvPr id="27" name="step 5"/>
          <p:cNvSpPr/>
          <p:nvPr/>
        </p:nvSpPr>
        <p:spPr>
          <a:xfrm>
            <a:off x="3566160" y="3931920"/>
            <a:ext cx="5760720" cy="1234440"/>
          </a:xfrm>
          <a:prstGeom prst="roundRect">
            <a:avLst>
              <a:gd name="adj" fmla="val 5926"/>
            </a:avLst>
          </a:prstGeom>
          <a:solidFill>
            <a:srgbClr val="DEEBF7"/>
          </a:solidFill>
          <a:ln w="9525">
            <a:solidFill>
              <a:srgbClr val="BDD7EE"/>
            </a:solidFill>
            <a:prstDash val="solid"/>
          </a:ln>
        </p:spPr>
      </p:sp>
      <p:sp>
        <p:nvSpPr>
          <p:cNvPr id="28" name="badge 5"/>
          <p:cNvSpPr/>
          <p:nvPr/>
        </p:nvSpPr>
        <p:spPr>
          <a:xfrm>
            <a:off x="3703320" y="4206240"/>
            <a:ext cx="640080" cy="640080"/>
          </a:xfrm>
          <a:prstGeom prst="ellipse">
            <a:avLst/>
          </a:prstGeom>
          <a:solidFill>
            <a:srgbClr val="4472C4"/>
          </a:solidFill>
          <a:ln w="12700">
            <a:solidFill>
              <a:srgbClr val="4472C4"/>
            </a:solidFill>
            <a:prstDash val="solid"/>
          </a:ln>
        </p:spPr>
      </p:sp>
      <p:sp>
        <p:nvSpPr>
          <p:cNvPr id="29" name="Text 27"/>
          <p:cNvSpPr txBox="1"/>
          <p:nvPr/>
        </p:nvSpPr>
        <p:spPr>
          <a:xfrm>
            <a:off x="3703320" y="42062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30" name="Text 28"/>
          <p:cNvSpPr txBox="1"/>
          <p:nvPr/>
        </p:nvSpPr>
        <p:spPr>
          <a:xfrm>
            <a:off x="4434840" y="4023360"/>
            <a:ext cx="4800600" cy="1051560"/>
          </a:xfrm>
          <a:prstGeom prst="rect">
            <a:avLst/>
          </a:prstGeom>
          <a:noFill/>
          <a:ln/>
        </p:spPr>
        <p:txBody>
          <a:bodyPr wrap="square" lIns="0" tIns="0" rIns="0" bIns="0" rtlCol="0" anchor="ctr"/>
          <a:lstStyle/>
          <a:p>
            <a:pPr indent="0" marL="0">
              <a:buNone/>
            </a:pPr>
            <a:r>
              <a:rPr lang="en-US" sz="1800" b="1" dirty="0">
                <a:solidFill>
                  <a:schemeClr val="tx1"/>
                </a:solidFill>
              </a:rPr>
              <a:t>Same problem again? Reuse the checked program</a:t>
            </a:r>
            <a:endParaRPr lang="en-US" sz="1800" dirty="0"/>
          </a:p>
        </p:txBody>
      </p:sp>
      <p:sp>
        <p:nvSpPr>
          <p:cNvPr id="31" name="Text 29"/>
          <p:cNvSpPr txBox="1"/>
          <p:nvPr/>
        </p:nvSpPr>
        <p:spPr>
          <a:xfrm>
            <a:off x="3566160" y="5230368"/>
            <a:ext cx="5760720" cy="685800"/>
          </a:xfrm>
          <a:prstGeom prst="rect">
            <a:avLst/>
          </a:prstGeom>
          <a:noFill/>
          <a:ln/>
        </p:spPr>
        <p:txBody>
          <a:bodyPr wrap="square" lIns="0" tIns="0" rIns="0" bIns="0" rtlCol="0" anchor="t"/>
          <a:lstStyle/>
          <a:p>
            <a:pPr algn="ctr" indent="0" marL="0">
              <a:buNone/>
            </a:pPr>
            <a:r>
              <a:rPr lang="en-US" sz="1400" dirty="0">
                <a:solidFill>
                  <a:schemeClr val="tx2"/>
                </a:solidFill>
              </a:rPr>
              <a:t>valid plans 7% → 94% (finding 5)</a:t>
            </a:r>
            <a:endParaRPr lang="en-US" sz="1400" dirty="0"/>
          </a:p>
        </p:txBody>
      </p:sp>
      <p:sp>
        <p:nvSpPr>
          <p:cNvPr id="32" name="Text 3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Together: 87% solved at 2.5k tokens, vs 74% at 4.1k for "think longer on hard problems"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How the recipe runs on one problem</a:t>
            </a:r>
            <a:endParaRPr lang="en-US" sz="3600" dirty="0"/>
          </a:p>
        </p:txBody>
      </p:sp>
      <p:sp>
        <p:nvSpPr>
          <p:cNvPr id="3" name="Text 1"/>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600" dirty="0">
                <a:solidFill>
                  <a:schemeClr val="tx1"/>
                </a:solidFill>
              </a:rPr>
              <a:t>Qwen3-8B on a MAMO word problem: products X, Y, Z cost $10, $15, $20 under three limits; minimum cost? (answer 20000)</a:t>
            </a:r>
            <a:endParaRPr lang="en-US" sz="1600" dirty="0"/>
          </a:p>
        </p:txBody>
      </p:sp>
      <p:sp>
        <p:nvSpPr>
          <p:cNvPr id="4" name="walk 0"/>
          <p:cNvSpPr/>
          <p:nvPr/>
        </p:nvSpPr>
        <p:spPr>
          <a:xfrm>
            <a:off x="548640" y="1691640"/>
            <a:ext cx="2514600" cy="1920240"/>
          </a:xfrm>
          <a:prstGeom prst="roundRect">
            <a:avLst>
              <a:gd name="adj" fmla="val 3810"/>
            </a:avLst>
          </a:prstGeom>
          <a:solidFill>
            <a:srgbClr val="E2F0D9"/>
          </a:solidFill>
          <a:ln w="9525">
            <a:solidFill>
              <a:srgbClr val="BFBFBF"/>
            </a:solidFill>
            <a:prstDash val="solid"/>
          </a:ln>
        </p:spPr>
      </p:sp>
      <p:sp>
        <p:nvSpPr>
          <p:cNvPr id="5" name="walk badge 0"/>
          <p:cNvSpPr/>
          <p:nvPr/>
        </p:nvSpPr>
        <p:spPr>
          <a:xfrm>
            <a:off x="640080" y="1801368"/>
            <a:ext cx="411480" cy="411480"/>
          </a:xfrm>
          <a:prstGeom prst="ellipse">
            <a:avLst/>
          </a:prstGeom>
          <a:solidFill>
            <a:srgbClr val="4472C4"/>
          </a:solidFill>
          <a:ln w="12700">
            <a:solidFill>
              <a:srgbClr val="4472C4"/>
            </a:solidFill>
            <a:prstDash val="solid"/>
          </a:ln>
        </p:spPr>
      </p:sp>
      <p:sp>
        <p:nvSpPr>
          <p:cNvPr id="6" name="Text 4"/>
          <p:cNvSpPr txBox="1"/>
          <p:nvPr/>
        </p:nvSpPr>
        <p:spPr>
          <a:xfrm>
            <a:off x="640080" y="1801368"/>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0</a:t>
            </a:r>
            <a:endParaRPr lang="en-US" sz="1500" dirty="0"/>
          </a:p>
        </p:txBody>
      </p:sp>
      <p:sp>
        <p:nvSpPr>
          <p:cNvPr id="7" name="Text 5"/>
          <p:cNvSpPr txBox="1"/>
          <p:nvPr/>
        </p:nvSpPr>
        <p:spPr>
          <a:xfrm>
            <a:off x="1115568" y="1783080"/>
            <a:ext cx="1874520" cy="457200"/>
          </a:xfrm>
          <a:prstGeom prst="rect">
            <a:avLst/>
          </a:prstGeom>
          <a:noFill/>
          <a:ln/>
        </p:spPr>
        <p:txBody>
          <a:bodyPr wrap="square" lIns="0" tIns="0" rIns="0" bIns="0" rtlCol="0" anchor="ctr"/>
          <a:lstStyle/>
          <a:p>
            <a:pPr indent="0" marL="0">
              <a:buNone/>
            </a:pPr>
            <a:r>
              <a:rPr lang="en-US" sz="1500" b="1" dirty="0">
                <a:solidFill>
                  <a:schemeClr val="tx1"/>
                </a:solidFill>
              </a:rPr>
              <a:t>Mine the fact (once)</a:t>
            </a:r>
            <a:endParaRPr lang="en-US" sz="1500" dirty="0"/>
          </a:p>
        </p:txBody>
      </p:sp>
      <p:sp>
        <p:nvSpPr>
          <p:cNvPr id="8" name="Text 6"/>
          <p:cNvSpPr txBox="1"/>
          <p:nvPr/>
        </p:nvSpPr>
        <p:spPr>
          <a:xfrm>
            <a:off x="676656" y="2331720"/>
            <a:ext cx="2258568" cy="1234440"/>
          </a:xfrm>
          <a:prstGeom prst="rect">
            <a:avLst/>
          </a:prstGeom>
          <a:noFill/>
          <a:ln/>
        </p:spPr>
        <p:txBody>
          <a:bodyPr wrap="square" lIns="0" tIns="0" rIns="0" bIns="0" rtlCol="0" anchor="t"/>
          <a:lstStyle/>
          <a:p>
            <a:pPr indent="0" marL="0">
              <a:buNone/>
            </a:pPr>
            <a:r>
              <a:rPr lang="en-US" sz="1350" dirty="0">
                <a:solidFill>
                  <a:schemeClr val="tx1"/>
                </a:solidFill>
              </a:rPr>
              <a:t>for this kind of problem: the model's own program for another problem (vans and trucks) that passed the check; it shows solver.Minimize(...)</a:t>
            </a:r>
            <a:endParaRPr lang="en-US" sz="1350" dirty="0"/>
          </a:p>
        </p:txBody>
      </p:sp>
      <p:sp>
        <p:nvSpPr>
          <p:cNvPr id="9" name="Text 7"/>
          <p:cNvSpPr txBox="1"/>
          <p:nvPr/>
        </p:nvSpPr>
        <p:spPr>
          <a:xfrm>
            <a:off x="548640" y="3675888"/>
            <a:ext cx="2514600" cy="320040"/>
          </a:xfrm>
          <a:prstGeom prst="rect">
            <a:avLst/>
          </a:prstGeom>
          <a:noFill/>
          <a:ln/>
        </p:spPr>
        <p:txBody>
          <a:bodyPr wrap="square" lIns="0" tIns="0" rIns="0" bIns="0" rtlCol="0" anchor="ctr"/>
          <a:lstStyle/>
          <a:p>
            <a:pPr algn="ctr" indent="0" marL="0">
              <a:buNone/>
            </a:pPr>
            <a:r>
              <a:rPr lang="en-US" sz="1500" b="1" dirty="0">
                <a:solidFill>
                  <a:schemeClr val="tx2"/>
                </a:solidFill>
              </a:rPr>
              <a:t>paid once</a:t>
            </a:r>
            <a:endParaRPr lang="en-US" sz="1500" dirty="0"/>
          </a:p>
        </p:txBody>
      </p:sp>
      <p:sp>
        <p:nvSpPr>
          <p:cNvPr id="10" name="Shape 8"/>
          <p:cNvSpPr/>
          <p:nvPr/>
        </p:nvSpPr>
        <p:spPr>
          <a:xfrm>
            <a:off x="3063240" y="2468880"/>
            <a:ext cx="182880" cy="0"/>
          </a:xfrm>
          <a:prstGeom prst="line">
            <a:avLst/>
          </a:prstGeom>
          <a:noFill/>
          <a:ln w="25400">
            <a:solidFill>
              <a:srgbClr val="7F7F7F"/>
            </a:solidFill>
            <a:prstDash val="solid"/>
            <a:tailEnd type="triangle"/>
          </a:ln>
        </p:spPr>
      </p:sp>
      <p:sp>
        <p:nvSpPr>
          <p:cNvPr id="11" name="walk 1-2"/>
          <p:cNvSpPr/>
          <p:nvPr/>
        </p:nvSpPr>
        <p:spPr>
          <a:xfrm>
            <a:off x="3246120" y="1691640"/>
            <a:ext cx="2148840" cy="1920240"/>
          </a:xfrm>
          <a:prstGeom prst="roundRect">
            <a:avLst>
              <a:gd name="adj" fmla="val 3810"/>
            </a:avLst>
          </a:prstGeom>
          <a:solidFill>
            <a:srgbClr val="DEEBF7"/>
          </a:solidFill>
          <a:ln w="9525">
            <a:solidFill>
              <a:srgbClr val="BFBFBF"/>
            </a:solidFill>
            <a:prstDash val="solid"/>
          </a:ln>
        </p:spPr>
      </p:sp>
      <p:sp>
        <p:nvSpPr>
          <p:cNvPr id="12" name="walk badge 1-2"/>
          <p:cNvSpPr/>
          <p:nvPr/>
        </p:nvSpPr>
        <p:spPr>
          <a:xfrm>
            <a:off x="3337560" y="1801368"/>
            <a:ext cx="411480" cy="411480"/>
          </a:xfrm>
          <a:prstGeom prst="ellipse">
            <a:avLst/>
          </a:prstGeom>
          <a:solidFill>
            <a:srgbClr val="4472C4"/>
          </a:solidFill>
          <a:ln w="12700">
            <a:solidFill>
              <a:srgbClr val="4472C4"/>
            </a:solidFill>
            <a:prstDash val="solid"/>
          </a:ln>
        </p:spPr>
      </p:sp>
      <p:sp>
        <p:nvSpPr>
          <p:cNvPr id="13" name="Text 11"/>
          <p:cNvSpPr txBox="1"/>
          <p:nvPr/>
        </p:nvSpPr>
        <p:spPr>
          <a:xfrm>
            <a:off x="3337560" y="1801368"/>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1-2</a:t>
            </a:r>
            <a:endParaRPr lang="en-US" sz="1500" dirty="0"/>
          </a:p>
        </p:txBody>
      </p:sp>
      <p:sp>
        <p:nvSpPr>
          <p:cNvPr id="14" name="Text 12"/>
          <p:cNvSpPr txBox="1"/>
          <p:nvPr/>
        </p:nvSpPr>
        <p:spPr>
          <a:xfrm>
            <a:off x="3813048" y="1783080"/>
            <a:ext cx="1508760" cy="457200"/>
          </a:xfrm>
          <a:prstGeom prst="rect">
            <a:avLst/>
          </a:prstGeom>
          <a:noFill/>
          <a:ln/>
        </p:spPr>
        <p:txBody>
          <a:bodyPr wrap="square" lIns="0" tIns="0" rIns="0" bIns="0" rtlCol="0" anchor="ctr"/>
          <a:lstStyle/>
          <a:p>
            <a:pPr indent="0" marL="0">
              <a:buNone/>
            </a:pPr>
            <a:r>
              <a:rPr lang="en-US" sz="1500" b="1" dirty="0">
                <a:solidFill>
                  <a:schemeClr val="tx1"/>
                </a:solidFill>
              </a:rPr>
              <a:t>Program + fact</a:t>
            </a:r>
            <a:endParaRPr lang="en-US" sz="1500" dirty="0"/>
          </a:p>
        </p:txBody>
      </p:sp>
      <p:sp>
        <p:nvSpPr>
          <p:cNvPr id="15" name="Text 13"/>
          <p:cNvSpPr txBox="1"/>
          <p:nvPr/>
        </p:nvSpPr>
        <p:spPr>
          <a:xfrm>
            <a:off x="3374136" y="2331720"/>
            <a:ext cx="1892808" cy="1234440"/>
          </a:xfrm>
          <a:prstGeom prst="rect">
            <a:avLst/>
          </a:prstGeom>
          <a:noFill/>
          <a:ln/>
        </p:spPr>
        <p:txBody>
          <a:bodyPr wrap="square" lIns="0" tIns="0" rIns="0" bIns="0" rtlCol="0" anchor="t"/>
          <a:lstStyle/>
          <a:p>
            <a:pPr indent="0" marL="0">
              <a:buNone/>
            </a:pPr>
            <a:r>
              <a:rPr lang="en-US" sz="1350" dirty="0">
                <a:solidFill>
                  <a:schemeClr val="tx1"/>
                </a:solidFill>
              </a:rPr>
              <a:t>writes solver.Minimize(10*x + 15*y + 20*z) and prints 20000 (without the fact it crashes)</a:t>
            </a:r>
            <a:endParaRPr lang="en-US" sz="1350" dirty="0"/>
          </a:p>
        </p:txBody>
      </p:sp>
      <p:sp>
        <p:nvSpPr>
          <p:cNvPr id="16" name="Text 14"/>
          <p:cNvSpPr txBox="1"/>
          <p:nvPr/>
        </p:nvSpPr>
        <p:spPr>
          <a:xfrm>
            <a:off x="3246120" y="3675888"/>
            <a:ext cx="2148840" cy="320040"/>
          </a:xfrm>
          <a:prstGeom prst="rect">
            <a:avLst/>
          </a:prstGeom>
          <a:noFill/>
          <a:ln/>
        </p:spPr>
        <p:txBody>
          <a:bodyPr wrap="square" lIns="0" tIns="0" rIns="0" bIns="0" rtlCol="0" anchor="ctr"/>
          <a:lstStyle/>
          <a:p>
            <a:pPr algn="ctr" indent="0" marL="0">
              <a:buNone/>
            </a:pPr>
            <a:r>
              <a:rPr lang="en-US" sz="1500" b="1" dirty="0">
                <a:solidFill>
                  <a:srgbClr val="4472C4"/>
                </a:solidFill>
              </a:rPr>
              <a:t>316 tokens</a:t>
            </a:r>
            <a:endParaRPr lang="en-US" sz="1500" dirty="0"/>
          </a:p>
        </p:txBody>
      </p:sp>
      <p:sp>
        <p:nvSpPr>
          <p:cNvPr id="17" name="Shape 15"/>
          <p:cNvSpPr/>
          <p:nvPr/>
        </p:nvSpPr>
        <p:spPr>
          <a:xfrm>
            <a:off x="5394960" y="2468880"/>
            <a:ext cx="182880" cy="0"/>
          </a:xfrm>
          <a:prstGeom prst="line">
            <a:avLst/>
          </a:prstGeom>
          <a:noFill/>
          <a:ln w="25400">
            <a:solidFill>
              <a:srgbClr val="7F7F7F"/>
            </a:solidFill>
            <a:prstDash val="solid"/>
            <a:tailEnd type="triangle"/>
          </a:ln>
        </p:spPr>
      </p:sp>
      <p:sp>
        <p:nvSpPr>
          <p:cNvPr id="18" name="walk 3"/>
          <p:cNvSpPr/>
          <p:nvPr/>
        </p:nvSpPr>
        <p:spPr>
          <a:xfrm>
            <a:off x="5577840" y="1691640"/>
            <a:ext cx="2011680" cy="1920240"/>
          </a:xfrm>
          <a:prstGeom prst="roundRect">
            <a:avLst>
              <a:gd name="adj" fmla="val 3810"/>
            </a:avLst>
          </a:prstGeom>
          <a:solidFill>
            <a:srgbClr val="DEEBF7"/>
          </a:solidFill>
          <a:ln w="9525">
            <a:solidFill>
              <a:srgbClr val="BFBFBF"/>
            </a:solidFill>
            <a:prstDash val="solid"/>
          </a:ln>
        </p:spPr>
      </p:sp>
      <p:sp>
        <p:nvSpPr>
          <p:cNvPr id="19" name="walk badge 3"/>
          <p:cNvSpPr/>
          <p:nvPr/>
        </p:nvSpPr>
        <p:spPr>
          <a:xfrm>
            <a:off x="5669280" y="1801368"/>
            <a:ext cx="411480" cy="411480"/>
          </a:xfrm>
          <a:prstGeom prst="ellipse">
            <a:avLst/>
          </a:prstGeom>
          <a:solidFill>
            <a:srgbClr val="4472C4"/>
          </a:solidFill>
          <a:ln w="12700">
            <a:solidFill>
              <a:srgbClr val="4472C4"/>
            </a:solidFill>
            <a:prstDash val="solid"/>
          </a:ln>
        </p:spPr>
      </p:sp>
      <p:sp>
        <p:nvSpPr>
          <p:cNvPr id="20" name="Text 18"/>
          <p:cNvSpPr txBox="1"/>
          <p:nvPr/>
        </p:nvSpPr>
        <p:spPr>
          <a:xfrm>
            <a:off x="5669280" y="1801368"/>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1" name="Text 19"/>
          <p:cNvSpPr txBox="1"/>
          <p:nvPr/>
        </p:nvSpPr>
        <p:spPr>
          <a:xfrm>
            <a:off x="6144768" y="1783080"/>
            <a:ext cx="1371600" cy="457200"/>
          </a:xfrm>
          <a:prstGeom prst="rect">
            <a:avLst/>
          </a:prstGeom>
          <a:noFill/>
          <a:ln/>
        </p:spPr>
        <p:txBody>
          <a:bodyPr wrap="square" lIns="0" tIns="0" rIns="0" bIns="0" rtlCol="0" anchor="ctr"/>
          <a:lstStyle/>
          <a:p>
            <a:pPr indent="0" marL="0">
              <a:buNone/>
            </a:pPr>
            <a:r>
              <a:rPr lang="en-US" sz="1500" b="1" dirty="0">
                <a:solidFill>
                  <a:schemeClr val="tx1"/>
                </a:solidFill>
              </a:rPr>
              <a:t>Free check</a:t>
            </a:r>
            <a:endParaRPr lang="en-US" sz="1500" dirty="0"/>
          </a:p>
        </p:txBody>
      </p:sp>
      <p:sp>
        <p:nvSpPr>
          <p:cNvPr id="22" name="Text 20"/>
          <p:cNvSpPr txBox="1"/>
          <p:nvPr/>
        </p:nvSpPr>
        <p:spPr>
          <a:xfrm>
            <a:off x="5705856" y="2331720"/>
            <a:ext cx="1755648" cy="1234440"/>
          </a:xfrm>
          <a:prstGeom prst="rect">
            <a:avLst/>
          </a:prstGeom>
          <a:noFill/>
          <a:ln/>
        </p:spPr>
        <p:txBody>
          <a:bodyPr wrap="square" lIns="0" tIns="0" rIns="0" bIns="0" rtlCol="0" anchor="t"/>
          <a:lstStyle/>
          <a:p>
            <a:pPr indent="0" marL="0">
              <a:buNone/>
            </a:pPr>
            <a:r>
              <a:rPr lang="en-US" sz="1350" dirty="0">
                <a:solidFill>
                  <a:schemeClr val="tx1"/>
                </a:solidFill>
              </a:rPr>
              <a:t>a second version also runs and prints 20000: the two agree</a:t>
            </a:r>
            <a:endParaRPr lang="en-US" sz="1350" dirty="0"/>
          </a:p>
        </p:txBody>
      </p:sp>
      <p:sp>
        <p:nvSpPr>
          <p:cNvPr id="23" name="Text 21"/>
          <p:cNvSpPr txBox="1"/>
          <p:nvPr/>
        </p:nvSpPr>
        <p:spPr>
          <a:xfrm>
            <a:off x="5577840" y="3675888"/>
            <a:ext cx="2011680" cy="320040"/>
          </a:xfrm>
          <a:prstGeom prst="rect">
            <a:avLst/>
          </a:prstGeom>
          <a:noFill/>
          <a:ln/>
        </p:spPr>
        <p:txBody>
          <a:bodyPr wrap="square" lIns="0" tIns="0" rIns="0" bIns="0" rtlCol="0" anchor="ctr"/>
          <a:lstStyle/>
          <a:p>
            <a:pPr algn="ctr" indent="0" marL="0">
              <a:buNone/>
            </a:pPr>
            <a:r>
              <a:rPr lang="en-US" sz="1500" b="1" dirty="0">
                <a:solidFill>
                  <a:srgbClr val="4472C4"/>
                </a:solidFill>
              </a:rPr>
              <a:t>+312 tokens</a:t>
            </a:r>
            <a:endParaRPr lang="en-US" sz="1500" dirty="0"/>
          </a:p>
        </p:txBody>
      </p:sp>
      <p:sp>
        <p:nvSpPr>
          <p:cNvPr id="24" name="Shape 22"/>
          <p:cNvSpPr/>
          <p:nvPr/>
        </p:nvSpPr>
        <p:spPr>
          <a:xfrm>
            <a:off x="7589520" y="2468880"/>
            <a:ext cx="182880" cy="0"/>
          </a:xfrm>
          <a:prstGeom prst="line">
            <a:avLst/>
          </a:prstGeom>
          <a:noFill/>
          <a:ln w="25400">
            <a:solidFill>
              <a:srgbClr val="7F7F7F"/>
            </a:solidFill>
            <a:prstDash val="solid"/>
            <a:tailEnd type="triangle"/>
          </a:ln>
        </p:spPr>
      </p:sp>
      <p:sp>
        <p:nvSpPr>
          <p:cNvPr id="25" name="walk 4"/>
          <p:cNvSpPr/>
          <p:nvPr/>
        </p:nvSpPr>
        <p:spPr>
          <a:xfrm>
            <a:off x="7772400" y="1691640"/>
            <a:ext cx="2103120" cy="1920240"/>
          </a:xfrm>
          <a:prstGeom prst="roundRect">
            <a:avLst>
              <a:gd name="adj" fmla="val 3810"/>
            </a:avLst>
          </a:prstGeom>
          <a:solidFill>
            <a:srgbClr val="FFFFFF"/>
          </a:solidFill>
          <a:ln w="9525">
            <a:solidFill>
              <a:srgbClr val="BFBFBF"/>
            </a:solidFill>
            <a:prstDash val="solid"/>
          </a:ln>
        </p:spPr>
      </p:sp>
      <p:sp>
        <p:nvSpPr>
          <p:cNvPr id="26" name="walk badge 4"/>
          <p:cNvSpPr/>
          <p:nvPr/>
        </p:nvSpPr>
        <p:spPr>
          <a:xfrm>
            <a:off x="7863840" y="1801368"/>
            <a:ext cx="411480" cy="411480"/>
          </a:xfrm>
          <a:prstGeom prst="ellipse">
            <a:avLst/>
          </a:prstGeom>
          <a:solidFill>
            <a:srgbClr val="4472C4"/>
          </a:solidFill>
          <a:ln w="12700">
            <a:solidFill>
              <a:srgbClr val="4472C4"/>
            </a:solidFill>
            <a:prstDash val="solid"/>
          </a:ln>
        </p:spPr>
      </p:sp>
      <p:sp>
        <p:nvSpPr>
          <p:cNvPr id="27" name="Text 25"/>
          <p:cNvSpPr txBox="1"/>
          <p:nvPr/>
        </p:nvSpPr>
        <p:spPr>
          <a:xfrm>
            <a:off x="7863840" y="1801368"/>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8" name="Text 26"/>
          <p:cNvSpPr txBox="1"/>
          <p:nvPr/>
        </p:nvSpPr>
        <p:spPr>
          <a:xfrm>
            <a:off x="8339328" y="1783080"/>
            <a:ext cx="1463040" cy="457200"/>
          </a:xfrm>
          <a:prstGeom prst="rect">
            <a:avLst/>
          </a:prstGeom>
          <a:noFill/>
          <a:ln/>
        </p:spPr>
        <p:txBody>
          <a:bodyPr wrap="square" lIns="0" tIns="0" rIns="0" bIns="0" rtlCol="0" anchor="ctr"/>
          <a:lstStyle/>
          <a:p>
            <a:pPr indent="0" marL="0">
              <a:buNone/>
            </a:pPr>
            <a:r>
              <a:rPr lang="en-US" sz="1500" b="1" dirty="0">
                <a:solidFill>
                  <a:schemeClr val="tx1"/>
                </a:solidFill>
              </a:rPr>
              <a:t>Think? No</a:t>
            </a:r>
            <a:endParaRPr lang="en-US" sz="1500" dirty="0"/>
          </a:p>
        </p:txBody>
      </p:sp>
      <p:sp>
        <p:nvSpPr>
          <p:cNvPr id="29" name="Text 27"/>
          <p:cNvSpPr txBox="1"/>
          <p:nvPr/>
        </p:nvSpPr>
        <p:spPr>
          <a:xfrm>
            <a:off x="7900416" y="2331720"/>
            <a:ext cx="1847088" cy="1234440"/>
          </a:xfrm>
          <a:prstGeom prst="rect">
            <a:avLst/>
          </a:prstGeom>
          <a:noFill/>
          <a:ln/>
        </p:spPr>
        <p:txBody>
          <a:bodyPr wrap="square" lIns="0" tIns="0" rIns="0" bIns="0" rtlCol="0" anchor="t"/>
          <a:lstStyle/>
          <a:p>
            <a:pPr indent="0" marL="0">
              <a:buNone/>
            </a:pPr>
            <a:r>
              <a:rPr lang="en-US" sz="1350" dirty="0">
                <a:solidFill>
                  <a:schemeClr val="tx1"/>
                </a:solidFill>
              </a:rPr>
              <a:t>think harder only if they disagree or crash; here accept 20000 (thinking alone: 5.3k tokens)</a:t>
            </a:r>
            <a:endParaRPr lang="en-US" sz="1350" dirty="0"/>
          </a:p>
        </p:txBody>
      </p:sp>
      <p:sp>
        <p:nvSpPr>
          <p:cNvPr id="30" name="Text 28"/>
          <p:cNvSpPr txBox="1"/>
          <p:nvPr/>
        </p:nvSpPr>
        <p:spPr>
          <a:xfrm>
            <a:off x="7772400" y="3675888"/>
            <a:ext cx="2103120" cy="320040"/>
          </a:xfrm>
          <a:prstGeom prst="rect">
            <a:avLst/>
          </a:prstGeom>
          <a:noFill/>
          <a:ln/>
        </p:spPr>
        <p:txBody>
          <a:bodyPr wrap="square" lIns="0" tIns="0" rIns="0" bIns="0" rtlCol="0" anchor="ctr"/>
          <a:lstStyle/>
          <a:p>
            <a:pPr algn="ctr" indent="0" marL="0">
              <a:buNone/>
            </a:pPr>
            <a:r>
              <a:rPr lang="en-US" sz="1500" b="1" dirty="0">
                <a:solidFill>
                  <a:srgbClr val="38761D"/>
                </a:solidFill>
              </a:rPr>
              <a:t>total 0.6k</a:t>
            </a:r>
            <a:endParaRPr lang="en-US" sz="1500" dirty="0"/>
          </a:p>
        </p:txBody>
      </p:sp>
      <p:sp>
        <p:nvSpPr>
          <p:cNvPr id="31" name="Shape 29"/>
          <p:cNvSpPr/>
          <p:nvPr/>
        </p:nvSpPr>
        <p:spPr>
          <a:xfrm>
            <a:off x="9875520" y="2468880"/>
            <a:ext cx="182880" cy="0"/>
          </a:xfrm>
          <a:prstGeom prst="line">
            <a:avLst/>
          </a:prstGeom>
          <a:noFill/>
          <a:ln w="25400">
            <a:solidFill>
              <a:srgbClr val="7F7F7F"/>
            </a:solidFill>
            <a:prstDash val="solid"/>
            <a:tailEnd type="triangle"/>
          </a:ln>
        </p:spPr>
      </p:sp>
      <p:sp>
        <p:nvSpPr>
          <p:cNvPr id="32" name="walk 5"/>
          <p:cNvSpPr/>
          <p:nvPr/>
        </p:nvSpPr>
        <p:spPr>
          <a:xfrm>
            <a:off x="10058400" y="1691640"/>
            <a:ext cx="1554480" cy="1920240"/>
          </a:xfrm>
          <a:prstGeom prst="roundRect">
            <a:avLst>
              <a:gd name="adj" fmla="val 4706"/>
            </a:avLst>
          </a:prstGeom>
          <a:solidFill>
            <a:srgbClr val="F2F2F2"/>
          </a:solidFill>
          <a:ln w="9525">
            <a:solidFill>
              <a:srgbClr val="BFBFBF"/>
            </a:solidFill>
            <a:prstDash val="solid"/>
          </a:ln>
        </p:spPr>
      </p:sp>
      <p:sp>
        <p:nvSpPr>
          <p:cNvPr id="33" name="walk badge 5"/>
          <p:cNvSpPr/>
          <p:nvPr/>
        </p:nvSpPr>
        <p:spPr>
          <a:xfrm>
            <a:off x="10149840" y="1801368"/>
            <a:ext cx="411480" cy="411480"/>
          </a:xfrm>
          <a:prstGeom prst="ellipse">
            <a:avLst/>
          </a:prstGeom>
          <a:solidFill>
            <a:srgbClr val="4472C4"/>
          </a:solidFill>
          <a:ln w="12700">
            <a:solidFill>
              <a:srgbClr val="4472C4"/>
            </a:solidFill>
            <a:prstDash val="solid"/>
          </a:ln>
        </p:spPr>
      </p:sp>
      <p:sp>
        <p:nvSpPr>
          <p:cNvPr id="34" name="Text 32"/>
          <p:cNvSpPr txBox="1"/>
          <p:nvPr/>
        </p:nvSpPr>
        <p:spPr>
          <a:xfrm>
            <a:off x="10149840" y="1801368"/>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5" name="Text 33"/>
          <p:cNvSpPr txBox="1"/>
          <p:nvPr/>
        </p:nvSpPr>
        <p:spPr>
          <a:xfrm>
            <a:off x="10625328" y="1783080"/>
            <a:ext cx="914400" cy="457200"/>
          </a:xfrm>
          <a:prstGeom prst="rect">
            <a:avLst/>
          </a:prstGeom>
          <a:noFill/>
          <a:ln/>
        </p:spPr>
        <p:txBody>
          <a:bodyPr wrap="square" lIns="0" tIns="0" rIns="0" bIns="0" rtlCol="0" anchor="ctr"/>
          <a:lstStyle/>
          <a:p>
            <a:pPr indent="0" marL="0">
              <a:buNone/>
            </a:pPr>
            <a:r>
              <a:rPr lang="en-US" sz="1500" b="1" dirty="0">
                <a:solidFill>
                  <a:schemeClr val="tx1"/>
                </a:solidFill>
              </a:rPr>
              <a:t>Reuse</a:t>
            </a:r>
            <a:endParaRPr lang="en-US" sz="1500" dirty="0"/>
          </a:p>
        </p:txBody>
      </p:sp>
      <p:sp>
        <p:nvSpPr>
          <p:cNvPr id="36" name="Text 34"/>
          <p:cNvSpPr txBox="1"/>
          <p:nvPr/>
        </p:nvSpPr>
        <p:spPr>
          <a:xfrm>
            <a:off x="10186416" y="2331720"/>
            <a:ext cx="1298448" cy="1234440"/>
          </a:xfrm>
          <a:prstGeom prst="rect">
            <a:avLst/>
          </a:prstGeom>
          <a:noFill/>
          <a:ln/>
        </p:spPr>
        <p:txBody>
          <a:bodyPr wrap="square" lIns="0" tIns="0" rIns="0" bIns="0" rtlCol="0" anchor="t"/>
          <a:lstStyle/>
          <a:p>
            <a:pPr indent="0" marL="0">
              <a:buNone/>
            </a:pPr>
            <a:r>
              <a:rPr lang="en-US" sz="1350" dirty="0">
                <a:solidFill>
                  <a:schemeClr val="tx1"/>
                </a:solidFill>
              </a:rPr>
              <a:t>same kind of problem with new data: run the checked program again</a:t>
            </a:r>
            <a:endParaRPr lang="en-US" sz="1350" dirty="0"/>
          </a:p>
        </p:txBody>
      </p:sp>
      <p:sp>
        <p:nvSpPr>
          <p:cNvPr id="37" name="Text 35"/>
          <p:cNvSpPr txBox="1"/>
          <p:nvPr/>
        </p:nvSpPr>
        <p:spPr>
          <a:xfrm>
            <a:off x="10058400" y="3675888"/>
            <a:ext cx="1554480" cy="320040"/>
          </a:xfrm>
          <a:prstGeom prst="rect">
            <a:avLst/>
          </a:prstGeom>
          <a:noFill/>
          <a:ln/>
        </p:spPr>
        <p:txBody>
          <a:bodyPr wrap="square" lIns="0" tIns="0" rIns="0" bIns="0" rtlCol="0" anchor="ctr"/>
          <a:lstStyle/>
          <a:p>
            <a:pPr algn="ctr" indent="0" marL="0">
              <a:buNone/>
            </a:pPr>
            <a:r>
              <a:rPr lang="en-US" sz="1500" b="1" dirty="0">
                <a:solidFill>
                  <a:schemeClr val="tx2"/>
                </a:solidFill>
              </a:rPr>
              <a:t>≈ 0 tokens</a:t>
            </a:r>
            <a:endParaRPr lang="en-US" sz="1500" dirty="0"/>
          </a:p>
        </p:txBody>
      </p:sp>
      <p:sp>
        <p:nvSpPr>
          <p:cNvPr id="38" name="Text 36"/>
          <p:cNvSpPr txBox="1"/>
          <p:nvPr/>
        </p:nvSpPr>
        <p:spPr>
          <a:xfrm>
            <a:off x="548640" y="4114800"/>
            <a:ext cx="11064240" cy="365760"/>
          </a:xfrm>
          <a:prstGeom prst="rect">
            <a:avLst/>
          </a:prstGeom>
          <a:noFill/>
          <a:ln/>
        </p:spPr>
        <p:txBody>
          <a:bodyPr wrap="square" lIns="0" tIns="0" rIns="0" bIns="0" rtlCol="0" anchor="ctr"/>
          <a:lstStyle/>
          <a:p>
            <a:pPr indent="0" marL="0">
              <a:buNone/>
            </a:pPr>
            <a:r>
              <a:rPr lang="en-US" sz="1600" b="1" dirty="0">
                <a:solidFill>
                  <a:schemeClr val="tx1"/>
                </a:solidFill>
              </a:rPr>
              <a:t>The free check depends on the kind of problem (no answers needed)</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498848"/>
          <a:ext cx="11064240" cy="914400"/>
        </p:xfrm>
        <a:graphic>
          <a:graphicData uri="http://schemas.openxmlformats.org/drawingml/2006/table">
            <a:tbl>
              <a:tblPr/>
              <a:tblGrid>
                <a:gridCol w="2743200"/>
                <a:gridCol w="2834640"/>
                <a:gridCol w="2743200"/>
                <a:gridCol w="2743200"/>
              </a:tblGrid>
              <a:tr h="384048">
                <a:tc>
                  <a:txBody>
                    <a:bodyPr/>
                    <a:lstStyle/>
                    <a:p>
                      <a:pPr indent="0" marL="0">
                        <a:buNone/>
                      </a:pPr>
                      <a:r>
                        <a:rPr lang="en-US" sz="1400" b="1" dirty="0">
                          <a:solidFill>
                            <a:srgbClr val="FFFFFF"/>
                          </a:solidFill>
                        </a:rPr>
                        <a:t>Contest problems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Geometry</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Routing and scheduling</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Word problems and math</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77240">
                <a:tc>
                  <a:txBody>
                    <a:bodyPr/>
                    <a:lstStyle/>
                    <a:p>
                      <a:pPr indent="0" marL="0">
                        <a:buNone/>
                      </a:pPr>
                      <a:r>
                        <a:rPr lang="en-US" sz="1400" dirty="0">
                          <a:solidFill>
                            <a:schemeClr val="tx1"/>
                          </a:solidFill>
                        </a:rPr>
                        <a:t>run the sample tests printed in the statement</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same answer on moved, turned and mirrored copies; or two versions agree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the plan obeys every rule (capacity, time windows)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chemeClr val="tx1"/>
                          </a:solidFill>
                        </a:rPr>
                        <a:t>the program runs and prints a value; two versions (or text and program) agree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0" name="Text 3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Cheap steps first: this problem cost 0.6k tokens instead of 5.3k, and it is right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All together: facts first, think only on failure</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Same 624 geometry and optimization problems, 3 models: % solved · tokens per problem</a:t>
            </a:r>
            <a:endParaRPr lang="en-US" sz="1800" dirty="0"/>
          </a:p>
        </p:txBody>
      </p:sp>
      <p:sp>
        <p:nvSpPr>
          <p:cNvPr id="4" name="Text 2"/>
          <p:cNvSpPr txBox="1"/>
          <p:nvPr/>
        </p:nvSpPr>
        <p:spPr>
          <a:xfrm>
            <a:off x="548640" y="178308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First program, no help</a:t>
            </a:r>
            <a:endParaRPr lang="en-US" sz="1600" dirty="0"/>
          </a:p>
        </p:txBody>
      </p:sp>
      <p:sp>
        <p:nvSpPr>
          <p:cNvPr id="5" name="bar First program, no help"/>
          <p:cNvSpPr/>
          <p:nvPr/>
        </p:nvSpPr>
        <p:spPr>
          <a:xfrm>
            <a:off x="3337560" y="1868119"/>
            <a:ext cx="1958645" cy="283464"/>
          </a:xfrm>
          <a:prstGeom prst="rect">
            <a:avLst/>
          </a:prstGeom>
          <a:solidFill>
            <a:srgbClr val="A5A5A5"/>
          </a:solidFill>
          <a:ln w="6350">
            <a:solidFill>
              <a:srgbClr val="A5A5A5"/>
            </a:solidFill>
            <a:prstDash val="solid"/>
          </a:ln>
        </p:spPr>
      </p:sp>
      <p:sp>
        <p:nvSpPr>
          <p:cNvPr id="6" name="Text 4"/>
          <p:cNvSpPr txBox="1"/>
          <p:nvPr/>
        </p:nvSpPr>
        <p:spPr>
          <a:xfrm>
            <a:off x="5387645" y="1783080"/>
            <a:ext cx="1554480" cy="453542"/>
          </a:xfrm>
          <a:prstGeom prst="rect">
            <a:avLst/>
          </a:prstGeom>
          <a:noFill/>
          <a:ln/>
        </p:spPr>
        <p:txBody>
          <a:bodyPr wrap="square" lIns="0" tIns="0" rIns="0" bIns="0" rtlCol="0" anchor="ctr"/>
          <a:lstStyle/>
          <a:p>
            <a:pPr indent="0" marL="0">
              <a:buNone/>
            </a:pPr>
            <a:r>
              <a:rPr lang="en-US" sz="1800" b="1" dirty="0">
                <a:solidFill>
                  <a:srgbClr val="A5A5A5"/>
                </a:solidFill>
              </a:rPr>
              <a:t>63% · 0.7k</a:t>
            </a:r>
            <a:endParaRPr lang="en-US" sz="1800" dirty="0"/>
          </a:p>
        </p:txBody>
      </p:sp>
      <p:sp>
        <p:nvSpPr>
          <p:cNvPr id="7" name="Text 5"/>
          <p:cNvSpPr txBox="1"/>
          <p:nvPr/>
        </p:nvSpPr>
        <p:spPr>
          <a:xfrm>
            <a:off x="548640" y="2350008"/>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on hardest-looking</a:t>
            </a:r>
            <a:endParaRPr lang="en-US" sz="1600" dirty="0"/>
          </a:p>
        </p:txBody>
      </p:sp>
      <p:sp>
        <p:nvSpPr>
          <p:cNvPr id="8" name="bar Think on hardest-looking"/>
          <p:cNvSpPr/>
          <p:nvPr/>
        </p:nvSpPr>
        <p:spPr>
          <a:xfrm>
            <a:off x="3337560" y="2435047"/>
            <a:ext cx="2300630" cy="283464"/>
          </a:xfrm>
          <a:prstGeom prst="rect">
            <a:avLst/>
          </a:prstGeom>
          <a:solidFill>
            <a:srgbClr val="7F7F7F"/>
          </a:solidFill>
          <a:ln w="6350">
            <a:solidFill>
              <a:srgbClr val="7F7F7F"/>
            </a:solidFill>
            <a:prstDash val="solid"/>
          </a:ln>
        </p:spPr>
      </p:sp>
      <p:sp>
        <p:nvSpPr>
          <p:cNvPr id="9" name="Text 7"/>
          <p:cNvSpPr txBox="1"/>
          <p:nvPr/>
        </p:nvSpPr>
        <p:spPr>
          <a:xfrm>
            <a:off x="5729630" y="2350008"/>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74% · 4.1k</a:t>
            </a:r>
            <a:endParaRPr lang="en-US" sz="1800" dirty="0"/>
          </a:p>
        </p:txBody>
      </p:sp>
      <p:sp>
        <p:nvSpPr>
          <p:cNvPr id="10" name="Text 8"/>
          <p:cNvSpPr txBox="1"/>
          <p:nvPr/>
        </p:nvSpPr>
        <p:spPr>
          <a:xfrm>
            <a:off x="548640" y="2916936"/>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when check fails</a:t>
            </a:r>
            <a:endParaRPr lang="en-US" sz="1600" dirty="0"/>
          </a:p>
        </p:txBody>
      </p:sp>
      <p:sp>
        <p:nvSpPr>
          <p:cNvPr id="11" name="bar Think when check fails"/>
          <p:cNvSpPr/>
          <p:nvPr/>
        </p:nvSpPr>
        <p:spPr>
          <a:xfrm>
            <a:off x="3337560" y="3001975"/>
            <a:ext cx="2393899" cy="283464"/>
          </a:xfrm>
          <a:prstGeom prst="rect">
            <a:avLst/>
          </a:prstGeom>
          <a:solidFill>
            <a:srgbClr val="7F7F7F"/>
          </a:solidFill>
          <a:ln w="6350">
            <a:solidFill>
              <a:srgbClr val="7F7F7F"/>
            </a:solidFill>
            <a:prstDash val="solid"/>
          </a:ln>
        </p:spPr>
      </p:sp>
      <p:sp>
        <p:nvSpPr>
          <p:cNvPr id="12" name="Text 10"/>
          <p:cNvSpPr txBox="1"/>
          <p:nvPr/>
        </p:nvSpPr>
        <p:spPr>
          <a:xfrm>
            <a:off x="5822899" y="2916936"/>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77% · 4.2k</a:t>
            </a:r>
            <a:endParaRPr lang="en-US" sz="1800" dirty="0"/>
          </a:p>
        </p:txBody>
      </p:sp>
      <p:sp>
        <p:nvSpPr>
          <p:cNvPr id="13" name="Text 11"/>
          <p:cNvSpPr txBox="1"/>
          <p:nvPr/>
        </p:nvSpPr>
        <p:spPr>
          <a:xfrm>
            <a:off x="548640" y="3483864"/>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Fix by failure type</a:t>
            </a:r>
            <a:endParaRPr lang="en-US" sz="1600" dirty="0"/>
          </a:p>
        </p:txBody>
      </p:sp>
      <p:sp>
        <p:nvSpPr>
          <p:cNvPr id="14" name="bar Fix by failure type"/>
          <p:cNvSpPr/>
          <p:nvPr/>
        </p:nvSpPr>
        <p:spPr>
          <a:xfrm>
            <a:off x="3337560" y="3568903"/>
            <a:ext cx="2580437" cy="283464"/>
          </a:xfrm>
          <a:prstGeom prst="rect">
            <a:avLst/>
          </a:prstGeom>
          <a:solidFill>
            <a:srgbClr val="ED7D31"/>
          </a:solidFill>
          <a:ln w="6350">
            <a:solidFill>
              <a:srgbClr val="ED7D31"/>
            </a:solidFill>
            <a:prstDash val="solid"/>
          </a:ln>
        </p:spPr>
      </p:sp>
      <p:sp>
        <p:nvSpPr>
          <p:cNvPr id="15" name="Text 13"/>
          <p:cNvSpPr txBox="1"/>
          <p:nvPr/>
        </p:nvSpPr>
        <p:spPr>
          <a:xfrm>
            <a:off x="6009437" y="3483864"/>
            <a:ext cx="1554480" cy="453542"/>
          </a:xfrm>
          <a:prstGeom prst="rect">
            <a:avLst/>
          </a:prstGeom>
          <a:noFill/>
          <a:ln/>
        </p:spPr>
        <p:txBody>
          <a:bodyPr wrap="square" lIns="0" tIns="0" rIns="0" bIns="0" rtlCol="0" anchor="ctr"/>
          <a:lstStyle/>
          <a:p>
            <a:pPr indent="0" marL="0">
              <a:buNone/>
            </a:pPr>
            <a:r>
              <a:rPr lang="en-US" sz="1800" b="1" dirty="0">
                <a:solidFill>
                  <a:srgbClr val="ED7D31"/>
                </a:solidFill>
              </a:rPr>
              <a:t>83% · 4.2k</a:t>
            </a:r>
            <a:endParaRPr lang="en-US" sz="1800" dirty="0"/>
          </a:p>
        </p:txBody>
      </p:sp>
      <p:sp>
        <p:nvSpPr>
          <p:cNvPr id="16" name="Text 14"/>
          <p:cNvSpPr txBox="1"/>
          <p:nvPr/>
        </p:nvSpPr>
        <p:spPr>
          <a:xfrm>
            <a:off x="548640" y="4050792"/>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Retrieved fact, then think</a:t>
            </a:r>
            <a:endParaRPr lang="en-US" sz="1600" dirty="0"/>
          </a:p>
        </p:txBody>
      </p:sp>
      <p:sp>
        <p:nvSpPr>
          <p:cNvPr id="17" name="bar Retrieved fact, then think"/>
          <p:cNvSpPr/>
          <p:nvPr/>
        </p:nvSpPr>
        <p:spPr>
          <a:xfrm>
            <a:off x="3337560" y="4135831"/>
            <a:ext cx="2611526" cy="283464"/>
          </a:xfrm>
          <a:prstGeom prst="rect">
            <a:avLst/>
          </a:prstGeom>
          <a:solidFill>
            <a:srgbClr val="5B9BD5"/>
          </a:solidFill>
          <a:ln w="6350">
            <a:solidFill>
              <a:srgbClr val="5B9BD5"/>
            </a:solidFill>
            <a:prstDash val="solid"/>
          </a:ln>
        </p:spPr>
      </p:sp>
      <p:sp>
        <p:nvSpPr>
          <p:cNvPr id="18" name="Text 16"/>
          <p:cNvSpPr txBox="1"/>
          <p:nvPr/>
        </p:nvSpPr>
        <p:spPr>
          <a:xfrm>
            <a:off x="6040526" y="4050792"/>
            <a:ext cx="1554480" cy="453542"/>
          </a:xfrm>
          <a:prstGeom prst="rect">
            <a:avLst/>
          </a:prstGeom>
          <a:noFill/>
          <a:ln/>
        </p:spPr>
        <p:txBody>
          <a:bodyPr wrap="square" lIns="0" tIns="0" rIns="0" bIns="0" rtlCol="0" anchor="ctr"/>
          <a:lstStyle/>
          <a:p>
            <a:pPr indent="0" marL="0">
              <a:buNone/>
            </a:pPr>
            <a:r>
              <a:rPr lang="en-US" sz="1800" b="1" dirty="0">
                <a:solidFill>
                  <a:srgbClr val="5B9BD5"/>
                </a:solidFill>
              </a:rPr>
              <a:t>84% · 3.3k</a:t>
            </a:r>
            <a:endParaRPr lang="en-US" sz="1800" dirty="0"/>
          </a:p>
        </p:txBody>
      </p:sp>
      <p:sp>
        <p:nvSpPr>
          <p:cNvPr id="19" name="Text 17"/>
          <p:cNvSpPr txBox="1"/>
          <p:nvPr/>
        </p:nvSpPr>
        <p:spPr>
          <a:xfrm>
            <a:off x="548640" y="461772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Fact first, then think</a:t>
            </a:r>
            <a:endParaRPr lang="en-US" sz="1600" dirty="0"/>
          </a:p>
        </p:txBody>
      </p:sp>
      <p:sp>
        <p:nvSpPr>
          <p:cNvPr id="20" name="bar Fact first, then think"/>
          <p:cNvSpPr/>
          <p:nvPr/>
        </p:nvSpPr>
        <p:spPr>
          <a:xfrm>
            <a:off x="3337560" y="4702759"/>
            <a:ext cx="2704795" cy="283464"/>
          </a:xfrm>
          <a:prstGeom prst="rect">
            <a:avLst/>
          </a:prstGeom>
          <a:solidFill>
            <a:srgbClr val="4472C4"/>
          </a:solidFill>
          <a:ln w="6350">
            <a:solidFill>
              <a:srgbClr val="4472C4"/>
            </a:solidFill>
            <a:prstDash val="solid"/>
          </a:ln>
        </p:spPr>
      </p:sp>
      <p:sp>
        <p:nvSpPr>
          <p:cNvPr id="21" name="Text 19"/>
          <p:cNvSpPr txBox="1"/>
          <p:nvPr/>
        </p:nvSpPr>
        <p:spPr>
          <a:xfrm>
            <a:off x="6133795" y="4617720"/>
            <a:ext cx="1554480" cy="453542"/>
          </a:xfrm>
          <a:prstGeom prst="rect">
            <a:avLst/>
          </a:prstGeom>
          <a:noFill/>
          <a:ln/>
        </p:spPr>
        <p:txBody>
          <a:bodyPr wrap="square" lIns="0" tIns="0" rIns="0" bIns="0" rtlCol="0" anchor="ctr"/>
          <a:lstStyle/>
          <a:p>
            <a:pPr indent="0" marL="0">
              <a:buNone/>
            </a:pPr>
            <a:r>
              <a:rPr lang="en-US" sz="1800" b="1" dirty="0">
                <a:solidFill>
                  <a:srgbClr val="4472C4"/>
                </a:solidFill>
              </a:rPr>
              <a:t>87% · 2.5k</a:t>
            </a:r>
            <a:endParaRPr lang="en-US" sz="1800" dirty="0"/>
          </a:p>
        </p:txBody>
      </p:sp>
      <p:sp>
        <p:nvSpPr>
          <p:cNvPr id="22" name="new task"/>
          <p:cNvSpPr/>
          <p:nvPr/>
        </p:nvSpPr>
        <p:spPr>
          <a:xfrm>
            <a:off x="8229600" y="1737360"/>
            <a:ext cx="3383280" cy="3566160"/>
          </a:xfrm>
          <a:prstGeom prst="roundRect">
            <a:avLst>
              <a:gd name="adj" fmla="val 2162"/>
            </a:avLst>
          </a:prstGeom>
          <a:solidFill>
            <a:srgbClr val="F2F2F2"/>
          </a:solidFill>
          <a:ln w="9525">
            <a:solidFill>
              <a:srgbClr val="D9D9D9"/>
            </a:solidFill>
            <a:prstDash val="solid"/>
          </a:ln>
        </p:spPr>
      </p:sp>
      <p:sp>
        <p:nvSpPr>
          <p:cNvPr id="23" name="Text 21"/>
          <p:cNvSpPr txBox="1"/>
          <p:nvPr/>
        </p:nvSpPr>
        <p:spPr>
          <a:xfrm>
            <a:off x="8412480" y="1828800"/>
            <a:ext cx="3017520" cy="685800"/>
          </a:xfrm>
          <a:prstGeom prst="rect">
            <a:avLst/>
          </a:prstGeom>
          <a:noFill/>
          <a:ln/>
        </p:spPr>
        <p:txBody>
          <a:bodyPr wrap="square" lIns="0" tIns="0" rIns="0" bIns="0" rtlCol="0" anchor="t"/>
          <a:lstStyle/>
          <a:p>
            <a:pPr indent="0" marL="0">
              <a:buNone/>
            </a:pPr>
            <a:r>
              <a:rPr lang="en-US" sz="1700" b="1" dirty="0">
                <a:solidFill>
                  <a:schemeClr val="tx1"/>
                </a:solidFill>
              </a:rPr>
              <a:t>A new task? Label 30 problems</a:t>
            </a:r>
            <a:endParaRPr lang="en-US" sz="1700" dirty="0"/>
          </a:p>
        </p:txBody>
      </p:sp>
      <p:sp>
        <p:nvSpPr>
          <p:cNvPr id="24" name="Text 22"/>
          <p:cNvSpPr txBox="1"/>
          <p:nvPr/>
        </p:nvSpPr>
        <p:spPr>
          <a:xfrm>
            <a:off x="8412480" y="2514600"/>
            <a:ext cx="3017520" cy="548640"/>
          </a:xfrm>
          <a:prstGeom prst="rect">
            <a:avLst/>
          </a:prstGeom>
          <a:noFill/>
          <a:ln/>
        </p:spPr>
        <p:txBody>
          <a:bodyPr wrap="square" lIns="0" tIns="0" rIns="0" bIns="0" rtlCol="0" anchor="t"/>
          <a:lstStyle/>
          <a:p>
            <a:pPr indent="0" marL="0">
              <a:buNone/>
            </a:pPr>
            <a:r>
              <a:rPr lang="en-US" sz="1300" dirty="0">
                <a:solidFill>
                  <a:schemeClr val="tx2"/>
                </a:solidFill>
              </a:rPr>
              <a:t>points lost vs the best policy, over 63 settings (lower is better)</a:t>
            </a:r>
            <a:endParaRPr lang="en-US" sz="1300" dirty="0"/>
          </a:p>
        </p:txBody>
      </p:sp>
      <p:sp>
        <p:nvSpPr>
          <p:cNvPr id="25" name="Text 23"/>
          <p:cNvSpPr txBox="1"/>
          <p:nvPr/>
        </p:nvSpPr>
        <p:spPr>
          <a:xfrm>
            <a:off x="8412480" y="3200400"/>
            <a:ext cx="3017520" cy="274320"/>
          </a:xfrm>
          <a:prstGeom prst="rect">
            <a:avLst/>
          </a:prstGeom>
          <a:noFill/>
          <a:ln/>
        </p:spPr>
        <p:txBody>
          <a:bodyPr wrap="square" lIns="0" tIns="0" rIns="0" bIns="0" rtlCol="0" anchor="ctr"/>
          <a:lstStyle/>
          <a:p>
            <a:pPr indent="0" marL="0">
              <a:buNone/>
            </a:pPr>
            <a:r>
              <a:rPr lang="en-US" sz="1400" dirty="0">
                <a:solidFill>
                  <a:schemeClr val="tx1"/>
                </a:solidFill>
              </a:rPr>
              <a:t>always think</a:t>
            </a:r>
            <a:endParaRPr lang="en-US" sz="1400" dirty="0"/>
          </a:p>
        </p:txBody>
      </p:sp>
      <p:sp>
        <p:nvSpPr>
          <p:cNvPr id="26" name="loss always think"/>
          <p:cNvSpPr/>
          <p:nvPr/>
        </p:nvSpPr>
        <p:spPr>
          <a:xfrm>
            <a:off x="8412480" y="3493008"/>
            <a:ext cx="2304288" cy="201168"/>
          </a:xfrm>
          <a:prstGeom prst="rect">
            <a:avLst/>
          </a:prstGeom>
          <a:solidFill>
            <a:srgbClr val="A5A5A5"/>
          </a:solidFill>
          <a:ln w="6350">
            <a:solidFill>
              <a:srgbClr val="A5A5A5"/>
            </a:solidFill>
            <a:prstDash val="solid"/>
          </a:ln>
        </p:spPr>
      </p:sp>
      <p:sp>
        <p:nvSpPr>
          <p:cNvPr id="27" name="Text 25"/>
          <p:cNvSpPr txBox="1"/>
          <p:nvPr/>
        </p:nvSpPr>
        <p:spPr>
          <a:xfrm>
            <a:off x="10808208" y="3429000"/>
            <a:ext cx="548640" cy="320040"/>
          </a:xfrm>
          <a:prstGeom prst="rect">
            <a:avLst/>
          </a:prstGeom>
          <a:noFill/>
          <a:ln/>
        </p:spPr>
        <p:txBody>
          <a:bodyPr wrap="square" lIns="0" tIns="0" rIns="0" bIns="0" rtlCol="0" anchor="ctr"/>
          <a:lstStyle/>
          <a:p>
            <a:pPr indent="0" marL="0">
              <a:buNone/>
            </a:pPr>
            <a:r>
              <a:rPr lang="en-US" sz="1400" b="1" dirty="0">
                <a:solidFill>
                  <a:srgbClr val="595959"/>
                </a:solidFill>
              </a:rPr>
              <a:t>8.4</a:t>
            </a:r>
            <a:endParaRPr lang="en-US" sz="1400" dirty="0"/>
          </a:p>
        </p:txBody>
      </p:sp>
      <p:sp>
        <p:nvSpPr>
          <p:cNvPr id="28" name="Text 26"/>
          <p:cNvSpPr txBox="1"/>
          <p:nvPr/>
        </p:nvSpPr>
        <p:spPr>
          <a:xfrm>
            <a:off x="8412480" y="3840480"/>
            <a:ext cx="3017520" cy="274320"/>
          </a:xfrm>
          <a:prstGeom prst="rect">
            <a:avLst/>
          </a:prstGeom>
          <a:noFill/>
          <a:ln/>
        </p:spPr>
        <p:txBody>
          <a:bodyPr wrap="square" lIns="0" tIns="0" rIns="0" bIns="0" rtlCol="0" anchor="ctr"/>
          <a:lstStyle/>
          <a:p>
            <a:pPr indent="0" marL="0">
              <a:buNone/>
            </a:pPr>
            <a:r>
              <a:rPr lang="en-US" sz="1400" dirty="0">
                <a:solidFill>
                  <a:schemeClr val="tx1"/>
                </a:solidFill>
              </a:rPr>
              <a:t>fact first (default)</a:t>
            </a:r>
            <a:endParaRPr lang="en-US" sz="1400" dirty="0"/>
          </a:p>
        </p:txBody>
      </p:sp>
      <p:sp>
        <p:nvSpPr>
          <p:cNvPr id="29" name="loss fact first (default)"/>
          <p:cNvSpPr/>
          <p:nvPr/>
        </p:nvSpPr>
        <p:spPr>
          <a:xfrm>
            <a:off x="8412480" y="4133088"/>
            <a:ext cx="384048" cy="201168"/>
          </a:xfrm>
          <a:prstGeom prst="rect">
            <a:avLst/>
          </a:prstGeom>
          <a:solidFill>
            <a:srgbClr val="4472C4"/>
          </a:solidFill>
          <a:ln w="6350">
            <a:solidFill>
              <a:srgbClr val="4472C4"/>
            </a:solidFill>
            <a:prstDash val="solid"/>
          </a:ln>
        </p:spPr>
      </p:sp>
      <p:sp>
        <p:nvSpPr>
          <p:cNvPr id="30" name="Text 28"/>
          <p:cNvSpPr txBox="1"/>
          <p:nvPr/>
        </p:nvSpPr>
        <p:spPr>
          <a:xfrm>
            <a:off x="8887968" y="406908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1.4</a:t>
            </a:r>
            <a:endParaRPr lang="en-US" sz="1400" dirty="0"/>
          </a:p>
        </p:txBody>
      </p:sp>
      <p:sp>
        <p:nvSpPr>
          <p:cNvPr id="31" name="Text 29"/>
          <p:cNvSpPr txBox="1"/>
          <p:nvPr/>
        </p:nvSpPr>
        <p:spPr>
          <a:xfrm>
            <a:off x="8412480" y="4480560"/>
            <a:ext cx="3017520" cy="274320"/>
          </a:xfrm>
          <a:prstGeom prst="rect">
            <a:avLst/>
          </a:prstGeom>
          <a:noFill/>
          <a:ln/>
        </p:spPr>
        <p:txBody>
          <a:bodyPr wrap="square" lIns="0" tIns="0" rIns="0" bIns="0" rtlCol="0" anchor="ctr"/>
          <a:lstStyle/>
          <a:p>
            <a:pPr indent="0" marL="0">
              <a:buNone/>
            </a:pPr>
            <a:r>
              <a:rPr lang="en-US" sz="1400" dirty="0">
                <a:solidFill>
                  <a:schemeClr val="tx1"/>
                </a:solidFill>
              </a:rPr>
              <a:t>pick on 30 labels</a:t>
            </a:r>
            <a:endParaRPr lang="en-US" sz="1400" dirty="0"/>
          </a:p>
        </p:txBody>
      </p:sp>
      <p:sp>
        <p:nvSpPr>
          <p:cNvPr id="32" name="loss pick on 30 labels"/>
          <p:cNvSpPr/>
          <p:nvPr/>
        </p:nvSpPr>
        <p:spPr>
          <a:xfrm>
            <a:off x="8412480" y="4773168"/>
            <a:ext cx="164592" cy="201168"/>
          </a:xfrm>
          <a:prstGeom prst="rect">
            <a:avLst/>
          </a:prstGeom>
          <a:solidFill>
            <a:srgbClr val="4472C4"/>
          </a:solidFill>
          <a:ln w="6350">
            <a:solidFill>
              <a:srgbClr val="4472C4"/>
            </a:solidFill>
            <a:prstDash val="solid"/>
          </a:ln>
        </p:spPr>
      </p:sp>
      <p:sp>
        <p:nvSpPr>
          <p:cNvPr id="33" name="Text 31"/>
          <p:cNvSpPr txBox="1"/>
          <p:nvPr/>
        </p:nvSpPr>
        <p:spPr>
          <a:xfrm>
            <a:off x="8668512" y="470916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0.6</a:t>
            </a:r>
            <a:endParaRPr lang="en-US" sz="1400" dirty="0"/>
          </a:p>
        </p:txBody>
      </p:sp>
      <p:sp>
        <p:nvSpPr>
          <p:cNvPr id="34" name="Text 3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Most accurate and among the cheapest on all 3 seeds: spend thinking where a check fails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Compared with published methods</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3566160"/>
                <a:gridCol w="2011680"/>
                <a:gridCol w="3383280"/>
              </a:tblGrid>
              <a:tr h="566928">
                <a:tc>
                  <a:txBody>
                    <a:bodyPr/>
                    <a:lstStyle/>
                    <a:p>
                      <a:pPr indent="0" marL="0">
                        <a:buNone/>
                      </a:pPr>
                      <a:r>
                        <a:rPr lang="en-US" sz="1500" b="1" dirty="0">
                          <a:solidFill>
                            <a:srgbClr val="FFFFFF"/>
                          </a:solidFill>
                        </a:rPr>
                        <a:t>Task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Published method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Its result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Ours (same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66928">
                <a:tc>
                  <a:txBody>
                    <a:bodyPr/>
                    <a:lstStyle/>
                    <a:p>
                      <a:pPr indent="0" marL="0">
                        <a:buNone/>
                      </a:pPr>
                      <a:r>
                        <a:rPr lang="en-US" sz="1500" dirty="0">
                          <a:solidFill>
                            <a:schemeClr val="tx1"/>
                          </a:solidFill>
                        </a:rPr>
                        <a:t>Where to spend thinking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think on the hardest-looking problems (Snell et al.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74% · 4.1k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fact first, think on failure: 87% · 2.5k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Contest geometry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always high effort (reasoning-model default)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66.2% · 30.1k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think only on a failed check: 66.3% · 24.7k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Pick 1 of 3 programs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CodeT: the model writes tests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96.0% (+340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symmetry check: 99.7% (0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Library documentation</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DRoC: decompose, retrieve per constraint (ICLR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72% · 2.1k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exact 5-line snippet: 77% · 1.7k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Unneeded tools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System 2 Attention / a "use only if needed" sentence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64% / 76%</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only the needed tools: 92%</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66928">
                <a:tc>
                  <a:txBody>
                    <a:bodyPr/>
                    <a:lstStyle/>
                    <a:p>
                      <a:pPr indent="0" marL="0">
                        <a:buNone/>
                      </a:pPr>
                      <a:r>
                        <a:rPr lang="en-US" sz="1500" dirty="0">
                          <a:solidFill>
                            <a:schemeClr val="tx1"/>
                          </a:solidFill>
                        </a:rPr>
                        <a:t>Daily routing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Dynamic Cheatsheet: the model's own notes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31–40%</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reuse a checked program: 94%</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Measured here with the same problems and models: the recipe is more accurate, cheaper, or both</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Where the recipe stops, and what is next</a:t>
            </a:r>
            <a:endParaRPr lang="en-US" sz="3600" dirty="0"/>
          </a:p>
        </p:txBody>
      </p:sp>
      <p:sp>
        <p:nvSpPr>
          <p:cNvPr id="3" name="Where it stops"/>
          <p:cNvSpPr/>
          <p:nvPr/>
        </p:nvSpPr>
        <p:spPr>
          <a:xfrm>
            <a:off x="548640" y="1417320"/>
            <a:ext cx="5440680" cy="3749040"/>
          </a:xfrm>
          <a:prstGeom prst="roundRect">
            <a:avLst>
              <a:gd name="adj" fmla="val 1951"/>
            </a:avLst>
          </a:prstGeom>
          <a:solidFill>
            <a:srgbClr val="F2F2F2"/>
          </a:solidFill>
          <a:ln w="9525">
            <a:solidFill>
              <a:srgbClr val="D9D9D9"/>
            </a:solidFill>
            <a:prstDash val="solid"/>
          </a:ln>
        </p:spPr>
      </p:sp>
      <p:sp>
        <p:nvSpPr>
          <p:cNvPr id="4" name="Text 2"/>
          <p:cNvSpPr txBox="1"/>
          <p:nvPr/>
        </p:nvSpPr>
        <p:spPr>
          <a:xfrm>
            <a:off x="822960" y="1554480"/>
            <a:ext cx="4892040" cy="548640"/>
          </a:xfrm>
          <a:prstGeom prst="rect">
            <a:avLst/>
          </a:prstGeom>
          <a:noFill/>
          <a:ln/>
        </p:spPr>
        <p:txBody>
          <a:bodyPr wrap="square" lIns="0" tIns="0" rIns="0" bIns="0" rtlCol="0" anchor="ctr"/>
          <a:lstStyle/>
          <a:p>
            <a:pPr indent="0" marL="0">
              <a:buNone/>
            </a:pPr>
            <a:r>
              <a:rPr lang="en-US" sz="2600" b="1" dirty="0">
                <a:solidFill>
                  <a:srgbClr val="C00000"/>
                </a:solidFill>
              </a:rPr>
              <a:t>Where it stops</a:t>
            </a:r>
            <a:endParaRPr lang="en-US" sz="2600" dirty="0"/>
          </a:p>
        </p:txBody>
      </p:sp>
      <p:sp>
        <p:nvSpPr>
          <p:cNvPr id="5" name="Text 3"/>
          <p:cNvSpPr txBox="1"/>
          <p:nvPr/>
        </p:nvSpPr>
        <p:spPr>
          <a:xfrm>
            <a:off x="82296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Proofs: a skill, not a fact (use a specialized prover)</a:t>
            </a:r>
            <a:endParaRPr lang="en-US" sz="1700" dirty="0"/>
          </a:p>
          <a:p>
            <a:pPr marL="342900" indent="-342900">
              <a:spcAft>
                <a:spcPts val="800"/>
              </a:spcAft>
              <a:buSzPct val="100000"/>
              <a:buChar char="•"/>
            </a:pPr>
            <a:r>
              <a:rPr lang="en-US" sz="1700" dirty="0">
                <a:solidFill>
                  <a:schemeClr val="tx1"/>
                </a:solidFill>
              </a:rPr>
              <a:t>Automatic facts only within one kind of problem</a:t>
            </a:r>
            <a:endParaRPr lang="en-US" sz="1700" dirty="0"/>
          </a:p>
          <a:p>
            <a:pPr marL="342900" indent="-342900">
              <a:spcAft>
                <a:spcPts val="800"/>
              </a:spcAft>
              <a:buSzPct val="100000"/>
              <a:buChar char="•"/>
            </a:pPr>
            <a:r>
              <a:rPr lang="en-US" sz="1700" dirty="0">
                <a:solidFill>
                  <a:schemeClr val="tx1"/>
                </a:solidFill>
              </a:rPr>
              <a:t>Checks leak: 24–37% of wrong contest programs pass the examples</a:t>
            </a:r>
            <a:endParaRPr lang="en-US" sz="1700" dirty="0"/>
          </a:p>
          <a:p>
            <a:pPr marL="342900" indent="-342900">
              <a:spcAft>
                <a:spcPts val="800"/>
              </a:spcAft>
              <a:buSzPct val="100000"/>
              <a:buChar char="•"/>
            </a:pPr>
            <a:r>
              <a:rPr lang="en-US" sz="1700" dirty="0">
                <a:solidFill>
                  <a:schemeClr val="tx1"/>
                </a:solidFill>
              </a:rPr>
              <a:t>Missing world knowledge: thinking adds 2–5 points at 70–200× tokens</a:t>
            </a:r>
            <a:endParaRPr lang="en-US" sz="1700" dirty="0"/>
          </a:p>
        </p:txBody>
      </p:sp>
      <p:sp>
        <p:nvSpPr>
          <p:cNvPr id="6" name="Next"/>
          <p:cNvSpPr/>
          <p:nvPr/>
        </p:nvSpPr>
        <p:spPr>
          <a:xfrm>
            <a:off x="6172200" y="1417320"/>
            <a:ext cx="5440680" cy="3749040"/>
          </a:xfrm>
          <a:prstGeom prst="roundRect">
            <a:avLst>
              <a:gd name="adj" fmla="val 1951"/>
            </a:avLst>
          </a:prstGeom>
          <a:solidFill>
            <a:srgbClr val="F2F2F2"/>
          </a:solidFill>
          <a:ln w="9525">
            <a:solidFill>
              <a:srgbClr val="D9D9D9"/>
            </a:solidFill>
            <a:prstDash val="solid"/>
          </a:ln>
        </p:spPr>
      </p:sp>
      <p:sp>
        <p:nvSpPr>
          <p:cNvPr id="7" name="Text 5"/>
          <p:cNvSpPr txBox="1"/>
          <p:nvPr/>
        </p:nvSpPr>
        <p:spPr>
          <a:xfrm>
            <a:off x="6446520" y="1554480"/>
            <a:ext cx="4892040" cy="548640"/>
          </a:xfrm>
          <a:prstGeom prst="rect">
            <a:avLst/>
          </a:prstGeom>
          <a:noFill/>
          <a:ln/>
        </p:spPr>
        <p:txBody>
          <a:bodyPr wrap="square" lIns="0" tIns="0" rIns="0" bIns="0" rtlCol="0" anchor="ctr"/>
          <a:lstStyle/>
          <a:p>
            <a:pPr indent="0" marL="0">
              <a:buNone/>
            </a:pPr>
            <a:r>
              <a:rPr lang="en-US" sz="2600" b="1" dirty="0">
                <a:solidFill>
                  <a:srgbClr val="4472C4"/>
                </a:solidFill>
              </a:rPr>
              <a:t>Next</a:t>
            </a:r>
            <a:endParaRPr lang="en-US" sz="2600" dirty="0"/>
          </a:p>
        </p:txBody>
      </p:sp>
      <p:sp>
        <p:nvSpPr>
          <p:cNvPr id="8" name="Text 6"/>
          <p:cNvSpPr txBox="1"/>
          <p:nvPr/>
        </p:nvSpPr>
        <p:spPr>
          <a:xfrm>
            <a:off x="644652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Repeat the held-out MAMO test for 3 more models (3 seeds)</a:t>
            </a:r>
            <a:endParaRPr lang="en-US" sz="1700" dirty="0"/>
          </a:p>
          <a:p>
            <a:pPr marL="342900" indent="-342900">
              <a:spcAft>
                <a:spcPts val="800"/>
              </a:spcAft>
              <a:buSzPct val="100000"/>
              <a:buChar char="•"/>
            </a:pPr>
            <a:r>
              <a:rPr lang="en-US" sz="1700" dirty="0">
                <a:solidFill>
                  <a:schemeClr val="tx1"/>
                </a:solidFill>
              </a:rPr>
              <a:t>Automatic facts for each problem type</a:t>
            </a:r>
            <a:endParaRPr lang="en-US" sz="1700" dirty="0"/>
          </a:p>
          <a:p>
            <a:pPr marL="342900" indent="-342900">
              <a:spcAft>
                <a:spcPts val="800"/>
              </a:spcAft>
              <a:buSzPct val="100000"/>
              <a:buChar char="•"/>
            </a:pPr>
            <a:r>
              <a:rPr lang="en-US" sz="1700" dirty="0">
                <a:solidFill>
                  <a:schemeClr val="tx1"/>
                </a:solidFill>
              </a:rPr>
              <a:t>Final report; a commercial model if available</a:t>
            </a:r>
            <a:endParaRPr lang="en-US" sz="1700" dirty="0"/>
          </a:p>
        </p:txBody>
      </p:sp>
      <p:sp>
        <p:nvSpPr>
          <p:cNvPr id="9" name="Text 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Every claim pre-registered and checked on 3 seeds; accuracy always reported with its token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Computational Math with LLMs, Accurately and Cheaply</dc:title>
  <dc:subject>PptxGenJS Presentation</dc:subject>
  <dc:creator>POSTECH graduate NLP course project</dc:creator>
  <cp:lastModifiedBy>POSTECH graduate NLP course project</cp:lastModifiedBy>
  <cp:revision>1</cp:revision>
  <dcterms:created xsi:type="dcterms:W3CDTF">2026-10-19T08:32:42Z</dcterms:created>
  <dcterms:modified xsi:type="dcterms:W3CDTF">2026-10-19T08:32:42Z</dcterms:modified>
</cp:coreProperties>
</file>