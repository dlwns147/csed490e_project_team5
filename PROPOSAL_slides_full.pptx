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207b7af8-0d45-fee9-54c1-6f536fee8b92}">
          <p14:sldIdLst>
            <p14:sldId id="256"/>
            <p14:sldId id="257"/>
            <p14:sldId id="258"/>
          </p14:sldIdLst>
        </p14:section>
        <p14:section name="Findings" id="{af3ebc8c-8186-11e9-ef29-0ab697cb3026}">
          <p14:sldIdLst>
            <p14:sldId id="259"/>
            <p14:sldId id="260"/>
            <p14:sldId id="261"/>
            <p14:sldId id="262"/>
            <p14:sldId id="263"/>
            <p14:sldId id="264"/>
            <p14:sldId id="265"/>
            <p14:sldId id="266"/>
          </p14:sldIdLst>
        </p14:section>
        <p14:section name="Method" id="{5fe8f486-2449-bfe1-1691-a50957c0b2ef}">
          <p14:sldIdLst>
            <p14:sldId id="267"/>
            <p14:sldId id="268"/>
            <p14:sldId id="269"/>
            <p14:sldId id="270"/>
            <p14:sldId id="271"/>
            <p14:sldId id="272"/>
          </p14:sldIdLst>
        </p14:section>
        <p14:section name="Next" id="{73034ec4-7a0a-0783-2d57-56f25331f5ab}">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whole manual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five lines showing the exact call it writes the right one. Thinking longer cannot supply a fact it does not have (3 of 100).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(624 problems);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Tools, Facts, and Checks</a:t>
            </a:r>
            <a:endParaRPr lang="en-US" sz="2200" dirty="0"/>
          </a:p>
          <a:p>
            <a:pPr algn="ctr" indent="0" marL="0">
              <a:buNone/>
            </a:pPr>
            <a:r>
              <a:rPr lang="en-US" sz="1600" dirty="0">
                <a:solidFill>
                  <a:srgbClr val="44546A"/>
                </a:solidFill>
              </a:rPr>
              <a:t>POSTECH CSED490E (Graduate NLP) · Team 5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3566160" y="1234440"/>
            <a:ext cx="8046720" cy="411480"/>
          </a:xfrm>
          <a:prstGeom prst="rect">
            <a:avLst/>
          </a:prstGeom>
          <a:noFill/>
          <a:ln/>
        </p:spPr>
        <p:txBody>
          <a:bodyPr wrap="square" lIns="0" tIns="0" rIns="0" bIns="0" rtlCol="0" anchor="ctr"/>
          <a:lstStyle/>
          <a:p>
            <a:pPr algn="ctr" indent="0" marL="0">
              <a:buNone/>
            </a:pPr>
            <a:r>
              <a:rPr lang="en-US" sz="1600" dirty="0">
                <a:solidFill>
                  <a:schemeClr val="tx1"/>
                </a:solidFill>
              </a:rPr>
              <a:t>Same shape moved, turned or flipped, so the right answer never changes: 436 (twice its area)</a:t>
            </a:r>
            <a:endParaRPr lang="en-US" sz="16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691640"/>
            <a:ext cx="8046720" cy="1737360"/>
          </a:xfrm>
          <a:prstGeom prst="rect">
            <a:avLst/>
          </a:prstGeom>
        </p:spPr>
      </p:pic>
      <p:sp>
        <p:nvSpPr>
          <p:cNvPr id="5" name="Text 2"/>
          <p:cNvSpPr txBox="1"/>
          <p:nvPr/>
        </p:nvSpPr>
        <p:spPr>
          <a:xfrm>
            <a:off x="356616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original</a:t>
            </a:r>
            <a:endParaRPr lang="en-US" sz="1600" dirty="0"/>
          </a:p>
        </p:txBody>
      </p:sp>
      <p:sp>
        <p:nvSpPr>
          <p:cNvPr id="6" name="Text 3"/>
          <p:cNvSpPr txBox="1"/>
          <p:nvPr/>
        </p:nvSpPr>
        <p:spPr>
          <a:xfrm>
            <a:off x="557784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moved</a:t>
            </a:r>
            <a:endParaRPr lang="en-US" sz="1600" dirty="0"/>
          </a:p>
        </p:txBody>
      </p:sp>
      <p:sp>
        <p:nvSpPr>
          <p:cNvPr id="7" name="Text 4"/>
          <p:cNvSpPr txBox="1"/>
          <p:nvPr/>
        </p:nvSpPr>
        <p:spPr>
          <a:xfrm>
            <a:off x="758952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turned</a:t>
            </a:r>
            <a:endParaRPr lang="en-US" sz="1600" dirty="0"/>
          </a:p>
        </p:txBody>
      </p:sp>
      <p:sp>
        <p:nvSpPr>
          <p:cNvPr id="8" name="Text 5"/>
          <p:cNvSpPr txBox="1"/>
          <p:nvPr/>
        </p:nvSpPr>
        <p:spPr>
          <a:xfrm>
            <a:off x="960120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flipped</a:t>
            </a:r>
            <a:endParaRPr lang="en-US" sz="1600" dirty="0"/>
          </a:p>
        </p:txBody>
      </p:sp>
      <p:sp>
        <p:nvSpPr>
          <p:cNvPr id="9" name="Text 6"/>
          <p:cNvSpPr txBox="1"/>
          <p:nvPr/>
        </p:nvSpPr>
        <p:spPr>
          <a:xfrm>
            <a:off x="548640" y="3840480"/>
            <a:ext cx="2926080" cy="731520"/>
          </a:xfrm>
          <a:prstGeom prst="rect">
            <a:avLst/>
          </a:prstGeom>
          <a:noFill/>
          <a:ln/>
        </p:spPr>
        <p:txBody>
          <a:bodyPr wrap="square" lIns="0" tIns="0" rIns="0" bIns="0" rtlCol="0" anchor="ctr"/>
          <a:lstStyle/>
          <a:p>
            <a:pPr indent="0" marL="0">
              <a:buNone/>
            </a:pPr>
            <a:r>
              <a:rPr lang="en-US" sz="2000" b="1" dirty="0">
                <a:solidFill>
                  <a:schemeClr val="tx1"/>
                </a:solidFill>
              </a:rPr>
              <a:t>Answer in words</a:t>
            </a:r>
            <a:endParaRPr lang="en-US" sz="2000" dirty="0"/>
          </a:p>
          <a:p>
            <a:pPr indent="0" marL="0">
              <a:buNone/>
            </a:pPr>
            <a:r>
              <a:rPr lang="en-US" sz="1400" dirty="0">
                <a:solidFill>
                  <a:srgbClr val="44546A"/>
                </a:solidFill>
              </a:rPr>
              <a:t>the model does the arithmetic itself</a:t>
            </a:r>
            <a:endParaRPr lang="en-US" sz="2000" dirty="0"/>
          </a:p>
        </p:txBody>
      </p:sp>
      <p:sp>
        <p:nvSpPr>
          <p:cNvPr id="10" name="answer 436 ✓"/>
          <p:cNvSpPr/>
          <p:nvPr/>
        </p:nvSpPr>
        <p:spPr>
          <a:xfrm>
            <a:off x="3794760" y="3931920"/>
            <a:ext cx="1554480" cy="548640"/>
          </a:xfrm>
          <a:prstGeom prst="roundRect">
            <a:avLst>
              <a:gd name="adj" fmla="val 16667"/>
            </a:avLst>
          </a:prstGeom>
          <a:solidFill>
            <a:srgbClr val="E2F0D9"/>
          </a:solidFill>
          <a:ln w="12700">
            <a:solidFill>
              <a:srgbClr val="70AD47"/>
            </a:solidFill>
            <a:prstDash val="solid"/>
          </a:ln>
        </p:spPr>
      </p:sp>
      <p:sp>
        <p:nvSpPr>
          <p:cNvPr id="11" name="Text 8"/>
          <p:cNvSpPr txBox="1"/>
          <p:nvPr/>
        </p:nvSpPr>
        <p:spPr>
          <a:xfrm>
            <a:off x="3794760" y="393192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2" name="answer 2944 ✗"/>
          <p:cNvSpPr/>
          <p:nvPr/>
        </p:nvSpPr>
        <p:spPr>
          <a:xfrm>
            <a:off x="5806440" y="393192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580644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4" name="answer 392 ✗"/>
          <p:cNvSpPr/>
          <p:nvPr/>
        </p:nvSpPr>
        <p:spPr>
          <a:xfrm>
            <a:off x="7818120" y="3931920"/>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81812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6" name="answer 728 ✗"/>
          <p:cNvSpPr/>
          <p:nvPr/>
        </p:nvSpPr>
        <p:spPr>
          <a:xfrm>
            <a:off x="9829800" y="3931920"/>
            <a:ext cx="1554480" cy="548640"/>
          </a:xfrm>
          <a:prstGeom prst="roundRect">
            <a:avLst>
              <a:gd name="adj" fmla="val 16667"/>
            </a:avLst>
          </a:prstGeom>
          <a:solidFill>
            <a:srgbClr val="FADBD8"/>
          </a:solidFill>
          <a:ln w="12700">
            <a:solidFill>
              <a:srgbClr val="C00000"/>
            </a:solidFill>
            <a:prstDash val="solid"/>
          </a:ln>
        </p:spPr>
      </p:sp>
      <p:sp>
        <p:nvSpPr>
          <p:cNvPr id="17" name="Text 14"/>
          <p:cNvSpPr txBox="1"/>
          <p:nvPr/>
        </p:nvSpPr>
        <p:spPr>
          <a:xfrm>
            <a:off x="982980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8" name="Text 15"/>
          <p:cNvSpPr txBox="1"/>
          <p:nvPr/>
        </p:nvSpPr>
        <p:spPr>
          <a:xfrm>
            <a:off x="548640" y="4617720"/>
            <a:ext cx="2926080" cy="731520"/>
          </a:xfrm>
          <a:prstGeom prst="rect">
            <a:avLst/>
          </a:prstGeom>
          <a:noFill/>
          <a:ln/>
        </p:spPr>
        <p:txBody>
          <a:bodyPr wrap="square" lIns="0" tIns="0" rIns="0" bIns="0" rtlCol="0" anchor="ctr"/>
          <a:lstStyle/>
          <a:p>
            <a:pPr indent="0" marL="0">
              <a:buNone/>
            </a:pPr>
            <a:r>
              <a:rPr lang="en-US" sz="2000" b="1" dirty="0">
                <a:solidFill>
                  <a:schemeClr val="tx1"/>
                </a:solidFill>
              </a:rPr>
              <a:t>Write a program</a:t>
            </a:r>
            <a:endParaRPr lang="en-US" sz="2000" dirty="0"/>
          </a:p>
          <a:p>
            <a:pPr indent="0" marL="0">
              <a:buNone/>
            </a:pPr>
            <a:r>
              <a:rPr lang="en-US" sz="1400" dirty="0">
                <a:solidFill>
                  <a:srgbClr val="44546A"/>
                </a:solidFill>
              </a:rPr>
              <a:t>the computer does the arithmetic</a:t>
            </a:r>
            <a:endParaRPr lang="en-US" sz="2000" dirty="0"/>
          </a:p>
        </p:txBody>
      </p:sp>
      <p:sp>
        <p:nvSpPr>
          <p:cNvPr id="19" name="answer 436 ✓"/>
          <p:cNvSpPr/>
          <p:nvPr/>
        </p:nvSpPr>
        <p:spPr>
          <a:xfrm>
            <a:off x="3794760" y="470916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379476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5806440" y="470916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580644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answer 436 ✓"/>
          <p:cNvSpPr/>
          <p:nvPr/>
        </p:nvSpPr>
        <p:spPr>
          <a:xfrm>
            <a:off x="7818120" y="4709160"/>
            <a:ext cx="1554480" cy="548640"/>
          </a:xfrm>
          <a:prstGeom prst="roundRect">
            <a:avLst>
              <a:gd name="adj" fmla="val 16667"/>
            </a:avLst>
          </a:prstGeom>
          <a:solidFill>
            <a:srgbClr val="E2F0D9"/>
          </a:solidFill>
          <a:ln w="12700">
            <a:solidFill>
              <a:srgbClr val="70AD47"/>
            </a:solidFill>
            <a:prstDash val="solid"/>
          </a:ln>
        </p:spPr>
      </p:sp>
      <p:sp>
        <p:nvSpPr>
          <p:cNvPr id="24" name="Text 21"/>
          <p:cNvSpPr txBox="1"/>
          <p:nvPr/>
        </p:nvSpPr>
        <p:spPr>
          <a:xfrm>
            <a:off x="781812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5" name="answer 436 ✓"/>
          <p:cNvSpPr/>
          <p:nvPr/>
        </p:nvSpPr>
        <p:spPr>
          <a:xfrm>
            <a:off x="9829800" y="4709160"/>
            <a:ext cx="1554480" cy="548640"/>
          </a:xfrm>
          <a:prstGeom prst="roundRect">
            <a:avLst>
              <a:gd name="adj" fmla="val 16667"/>
            </a:avLst>
          </a:prstGeom>
          <a:solidFill>
            <a:srgbClr val="E2F0D9"/>
          </a:solidFill>
          <a:ln w="12700">
            <a:solidFill>
              <a:srgbClr val="70AD47"/>
            </a:solidFill>
            <a:prstDash val="solid"/>
          </a:ln>
        </p:spPr>
      </p:sp>
      <p:sp>
        <p:nvSpPr>
          <p:cNvPr id="26" name="Text 23"/>
          <p:cNvSpPr txBox="1"/>
          <p:nvPr/>
        </p:nvSpPr>
        <p:spPr>
          <a:xfrm>
            <a:off x="982980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7" name="Text 2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But programs can be silently wrong, and thinking is expensive. Goal: right answers, lowest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whole manual</a:t>
            </a:r>
            <a:endParaRPr lang="en-US" sz="1300" dirty="0"/>
          </a:p>
        </p:txBody>
      </p:sp>
      <p:sp>
        <p:nvSpPr>
          <p:cNvPr id="13" name="Add the missing fact whole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5 exact lines</a:t>
            </a:r>
            <a:endParaRPr lang="en-US" sz="1300" dirty="0"/>
          </a:p>
        </p:txBody>
      </p:sp>
      <p:sp>
        <p:nvSpPr>
          <p:cNvPr id="16" name="Add the missing fact 5 exact lines"/>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high on failure</a:t>
            </a:r>
            <a:endParaRPr lang="en-US" sz="1300" dirty="0"/>
          </a:p>
        </p:txBody>
      </p:sp>
      <p:sp>
        <p:nvSpPr>
          <p:cNvPr id="49" name="Think only on failure high on failure"/>
          <p:cNvSpPr/>
          <p:nvPr/>
        </p:nvSpPr>
        <p:spPr>
          <a:xfrm>
            <a:off x="2029968" y="5212080"/>
            <a:ext cx="757809" cy="237744"/>
          </a:xfrm>
          <a:prstGeom prst="rect">
            <a:avLst/>
          </a:prstGeom>
          <a:solidFill>
            <a:srgbClr val="4472C4"/>
          </a:solidFill>
          <a:ln w="6350">
            <a:solidFill>
              <a:srgbClr val="4472C4"/>
            </a:solidFill>
            <a:prstDash val="solid"/>
          </a:ln>
        </p:spPr>
      </p:sp>
      <p:sp>
        <p:nvSpPr>
          <p:cNvPr id="50" name="Text 48"/>
          <p:cNvSpPr txBox="1"/>
          <p:nvPr/>
        </p:nvSpPr>
        <p:spPr>
          <a:xfrm>
            <a:off x="2842641" y="516636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1" name="Text 49"/>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2" name="Text 50"/>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3" name="Text 51"/>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4"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5" name="Text 53"/>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6" name="Text 54"/>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 (DC)</a:t>
            </a:r>
            <a:endParaRPr lang="en-US" sz="1300" dirty="0"/>
          </a:p>
        </p:txBody>
      </p:sp>
      <p:sp>
        <p:nvSpPr>
          <p:cNvPr id="57" name="Reuse a checked program own notes (DC)"/>
          <p:cNvSpPr/>
          <p:nvPr/>
        </p:nvSpPr>
        <p:spPr>
          <a:xfrm>
            <a:off x="5824728" y="5212080"/>
            <a:ext cx="411480" cy="237744"/>
          </a:xfrm>
          <a:prstGeom prst="rect">
            <a:avLst/>
          </a:prstGeom>
          <a:solidFill>
            <a:srgbClr val="A5A5A5"/>
          </a:solidFill>
          <a:ln w="6350">
            <a:solidFill>
              <a:srgbClr val="A5A5A5"/>
            </a:solidFill>
            <a:prstDash val="solid"/>
          </a:ln>
        </p:spPr>
      </p:sp>
      <p:sp>
        <p:nvSpPr>
          <p:cNvPr id="58" name="Text 56"/>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59" name="Text 57"/>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0"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1" name="Text 59"/>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2" name="Text 60"/>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3" name="Text 61"/>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624 problems, 3 models: % · tokens</a:t>
            </a:r>
            <a:endParaRPr lang="en-US" sz="1200" dirty="0"/>
          </a:p>
        </p:txBody>
      </p:sp>
      <p:sp>
        <p:nvSpPr>
          <p:cNvPr id="64" name="Text 62"/>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5"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6" name="Text 64"/>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67" name="Text 65"/>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68"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69" name="Text 67"/>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0" name="Text 68"/>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1"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2" name="Text 70"/>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5 lines of exact usage"/>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+ 5 lines of exact usage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Out of 100 routing problems, how many it solves best:</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5 exact lines</a:t>
            </a:r>
            <a:endParaRPr lang="en-US" sz="1600" dirty="0"/>
          </a:p>
        </p:txBody>
      </p:sp>
      <p:sp>
        <p:nvSpPr>
          <p:cNvPr id="27" name="bar 5 exact lines"/>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same 66% solved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on a failed check</a:t>
            </a:r>
            <a:endParaRPr lang="en-US" sz="1600" dirty="0"/>
          </a:p>
        </p:txBody>
      </p:sp>
      <p:sp>
        <p:nvSpPr>
          <p:cNvPr id="26" name="bar Think hard only on a failed check"/>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All 624 problems,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All 624 problems,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All 624 problems,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624 geometry and optimization problems,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only on a failed check: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5-line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5 exact lines beat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Repeat the held-out MAMO test for 3 more models (3 seeds)</a:t>
            </a:r>
            <a:endParaRPr lang="en-US" sz="1700" dirty="0"/>
          </a:p>
          <a:p>
            <a:pPr marL="342900" indent="-342900">
              <a:spcAft>
                <a:spcPts val="800"/>
              </a:spcAft>
              <a:buSzPct val="100000"/>
              <a:buChar char="•"/>
            </a:pPr>
            <a:r>
              <a:rPr lang="en-US" sz="1700" dirty="0">
                <a:solidFill>
                  <a:schemeClr val="tx1"/>
                </a:solidFill>
              </a:rPr>
              <a:t>Automatic facts for each problem type</a:t>
            </a:r>
            <a:endParaRPr lang="en-US" sz="1700" dirty="0"/>
          </a:p>
          <a:p>
            <a:pPr marL="342900" indent="-342900">
              <a:spcAft>
                <a:spcPts val="800"/>
              </a:spcAft>
              <a:buSzPct val="100000"/>
              <a:buChar char="•"/>
            </a:pPr>
            <a:r>
              <a:rPr lang="en-US" sz="1700" dirty="0">
                <a:solidFill>
                  <a:schemeClr val="tx1"/>
                </a:solidFill>
              </a:rPr>
              <a:t>Final report; a commercial model if available</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2026-10-19T11:20:48Z</dcterms:created>
  <dcterms:modified xsi:type="dcterms:W3CDTF">2026-10-19T11:20:48Z</dcterms:modified>
</cp:coreProperties>
</file>