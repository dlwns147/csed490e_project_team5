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2.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Lst>
  <p:notesMasterIdLst>
    <p:notesMasterId r:id="rId2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oblem" id="{d90ab1b4-d037-539a-8079-da0835bed749}">
          <p14:sldIdLst>
            <p14:sldId id="256"/>
            <p14:sldId id="257"/>
            <p14:sldId id="258"/>
            <p14:sldId id="259"/>
            <p14:sldId id="260"/>
          </p14:sldIdLst>
        </p14:section>
        <p14:section name="Findings" id="{eca1d984-57c2-2cc1-65bd-db7f60102b84}">
          <p14:sldIdLst>
            <p14:sldId id="261"/>
            <p14:sldId id="262"/>
            <p14:sldId id="263"/>
            <p14:sldId id="264"/>
            <p14:sldId id="265"/>
            <p14:sldId id="266"/>
            <p14:sldId id="267"/>
            <p14:sldId id="268"/>
          </p14:sldIdLst>
        </p14:section>
        <p14:section name="Method" id="{bd7fe09f-6be0-25a8-ba60-80b53f8d2e7b}">
          <p14:sldIdLst>
            <p14:sldId id="269"/>
            <p14:sldId id="270"/>
            <p14:sldId id="271"/>
            <p14:sldId id="272"/>
            <p14:sldId id="273"/>
            <p14:sldId id="274"/>
            <p14:sldId id="275"/>
          </p14:sldIdLst>
        </p14:section>
        <p14:section name="Next" id="{01218259-f38e-064a-c14e-1b75139513a9}">
          <p14:sldIdLst>
            <p14:sldId id="27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program only</c:v>
                </c:pt>
              </c:strCache>
            </c:strRef>
          </c:tx>
          <c:spPr>
            <a:solidFill>
              <a:srgbClr val="A5A5A5"/>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Sheet1!$B$2:$B$6</c:f>
              <c:numCache>
                <c:formatCode>General</c:formatCode>
                <c:ptCount val="5"/>
                <c:pt idx="0">
                  <c:v>0.1</c:v>
                </c:pt>
                <c:pt idx="1">
                  <c:v>14.7</c:v>
                </c:pt>
                <c:pt idx="2">
                  <c:v>34.3</c:v>
                </c:pt>
                <c:pt idx="3">
                  <c:v>58.1</c:v>
                </c:pt>
                <c:pt idx="4">
                  <c:v>65.4</c:v>
                </c:pt>
              </c:numCache>
            </c:numRef>
          </c:val>
        </c:ser>
        <c:ser>
          <c:idx val="1"/>
          <c:order val="1"/>
          <c:tx>
            <c:strRef>
              <c:f>Sheet1!$C$1</c:f>
              <c:strCache>
                <c:ptCount val="1"/>
                <c:pt idx="0">
                  <c:v>+ 6 lines of exact solver usage</c:v>
                </c:pt>
              </c:strCache>
            </c:strRef>
          </c:tx>
          <c:spPr>
            <a:solidFill>
              <a:srgbClr val="4472C4"/>
            </a:solidFill>
            <a:effectLst/>
          </c:spPr>
          <c:invertIfNegative val="0"/>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cat>
            <c:multiLvlStrRef>
              <c:f>Sheet1!$A$2:$A$6</c:f>
              <c:multiLvlStrCache>
                <c:ptCount val="5"/>
                <c:lvl>
                  <c:pt idx="0">
                    <c:v>Qwen3-1.7B</c:v>
                  </c:pt>
                  <c:pt idx="1">
                    <c:v>Qwen3-4B</c:v>
                  </c:pt>
                  <c:pt idx="2">
                    <c:v>Qwen3-8B</c:v>
                  </c:pt>
                  <c:pt idx="3">
                    <c:v>Qwen3-14B (4-bit)</c:v>
                  </c:pt>
                  <c:pt idx="4">
                    <c:v>Qwen3-32B (4-bit)</c:v>
                  </c:pt>
                </c:lvl>
              </c:multiLvlStrCache>
            </c:multiLvlStrRef>
          </c:cat>
          <c:val>
            <c:numRef>
              <c:f>Sheet1!$C$2:$C$6</c:f>
              <c:numCache>
                <c:formatCode>General</c:formatCode>
                <c:ptCount val="5"/>
                <c:pt idx="0">
                  <c:v>44.5</c:v>
                </c:pt>
                <c:pt idx="1">
                  <c:v>46</c:v>
                </c:pt>
                <c:pt idx="2">
                  <c:v>51.7</c:v>
                </c:pt>
                <c:pt idx="3">
                  <c:v>66</c:v>
                </c:pt>
                <c:pt idx="4">
                  <c:v>66.2</c:v>
                </c:pt>
              </c:numCache>
            </c:numRef>
          </c:val>
        </c:ser>
        <c:dLbls>
          <c:numFmt formatCode="0" sourceLinked="0"/>
          <c:txPr>
            <a:bodyPr/>
            <a:lstStyle/>
            <a:p>
              <a:pPr>
                <a:defRPr b="0" i="0" strike="noStrike" sz="12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3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300">
              <a:latin typeface="+mn-lt"/>
              <a:cs typeface="+mn-lt"/>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404040"/>
                </a:solidFill>
                <a:latin typeface="+mn-lt"/>
              </a:defRPr>
            </a:pPr>
            <a:r>
              <a:rPr sz="1300" b="0" i="0" u="none" strike="noStrike">
                <a:solidFill>
                  <a:srgbClr val="404040"/>
                </a:solidFill>
                <a:latin typeface="+mn-lt"/>
              </a:rPr>
              <a:t>MAMO, 863 problems never used before: % solved</a:t>
            </a:r>
          </a:p>
        </c:rich>
      </c:tx>
      <c:layout/>
      <c:overlay val="0"/>
    </c:title>
    <c:autoTitleDeleted val="0"/>
    <c:plotArea>
      <c:layout/>
      <c:barChart>
        <c:barDir val="col"/>
        <c:grouping val="clustered"/>
        <c:varyColors val="0"/>
        <c:ser>
          <c:idx val="0"/>
          <c:order val="0"/>
          <c:tx>
            <c:strRef>
              <c:f>Sheet1!$B$1</c:f>
              <c:strCache>
                <c:ptCount val="1"/>
                <c:pt idx="0">
                  <c:v>no fact</c:v>
                </c:pt>
              </c:strCache>
            </c:strRef>
          </c:tx>
          <c:spPr>
            <a:solidFill>
              <a:srgbClr val="A5A5A5"/>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Sheet1!$B$2:$B$4</c:f>
              <c:numCache>
                <c:formatCode>General</c:formatCode>
                <c:ptCount val="3"/>
                <c:pt idx="0">
                  <c:v>73.2</c:v>
                </c:pt>
                <c:pt idx="1">
                  <c:v>59.7</c:v>
                </c:pt>
                <c:pt idx="2">
                  <c:v>45.5</c:v>
                </c:pt>
              </c:numCache>
            </c:numRef>
          </c:val>
        </c:ser>
        <c:ser>
          <c:idx val="1"/>
          <c:order val="1"/>
          <c:tx>
            <c:strRef>
              <c:f>Sheet1!$C$1</c:f>
              <c:strCache>
                <c:ptCount val="1"/>
                <c:pt idx="0">
                  <c:v>hand-written</c:v>
                </c:pt>
              </c:strCache>
            </c:strRef>
          </c:tx>
          <c:spPr>
            <a:solidFill>
              <a:srgbClr val="7F7F7F"/>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Sheet1!$C$2:$C$4</c:f>
              <c:numCache>
                <c:formatCode>General</c:formatCode>
                <c:ptCount val="3"/>
                <c:pt idx="0">
                  <c:v>78.9</c:v>
                </c:pt>
                <c:pt idx="1">
                  <c:v>71.4</c:v>
                </c:pt>
                <c:pt idx="2">
                  <c:v>72</c:v>
                </c:pt>
              </c:numCache>
            </c:numRef>
          </c:val>
        </c:ser>
        <c:ser>
          <c:idx val="2"/>
          <c:order val="2"/>
          <c:tx>
            <c:strRef>
              <c:f>Sheet1!$D$1</c:f>
              <c:strCache>
                <c:ptCount val="1"/>
                <c:pt idx="0">
                  <c:v>automatic</c:v>
                </c:pt>
              </c:strCache>
            </c:strRef>
          </c:tx>
          <c:spPr>
            <a:solidFill>
              <a:srgbClr val="4472C4"/>
            </a:solidFill>
            <a:effectLst/>
          </c:spPr>
          <c:invertIfNegative val="0"/>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cat>
            <c:multiLvlStrRef>
              <c:f>Sheet1!$A$2:$A$4</c:f>
              <c:multiLvlStrCache>
                <c:ptCount val="3"/>
                <c:lvl>
                  <c:pt idx="0">
                    <c:v>gpt-oss-20b</c:v>
                  </c:pt>
                  <c:pt idx="1">
                    <c:v>Qwen3-14B</c:v>
                  </c:pt>
                  <c:pt idx="2">
                    <c:v>Qwen3-8B</c:v>
                  </c:pt>
                </c:lvl>
              </c:multiLvlStrCache>
            </c:multiLvlStrRef>
          </c:cat>
          <c:val>
            <c:numRef>
              <c:f>Sheet1!$D$2:$D$4</c:f>
              <c:numCache>
                <c:formatCode>General</c:formatCode>
                <c:ptCount val="3"/>
                <c:pt idx="0">
                  <c:v>78.8</c:v>
                </c:pt>
                <c:pt idx="1">
                  <c:v>71.7</c:v>
                </c:pt>
                <c:pt idx="2">
                  <c:v>71</c:v>
                </c:pt>
              </c:numCache>
            </c:numRef>
          </c:val>
        </c:ser>
        <c:dLbls>
          <c:numFmt formatCode="0" sourceLinked="0"/>
          <c:txPr>
            <a:bodyPr/>
            <a:lstStyle/>
            <a:p>
              <a:pPr>
                <a:defRPr b="0" i="0" strike="noStrike" sz="1100" u="none">
                  <a:solidFill>
                    <a:srgbClr val="000000"/>
                  </a:solidFill>
                  <a:latin typeface="+mn-lt"/>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404040"/>
                </a:solidFill>
                <a:latin typeface="+mn-lt"/>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9525" cap="flat">
              <a:solidFill>
                <a:srgbClr val="E7E6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95959"/>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200">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Computational math: geometry, optimization, contest problems, word problems whose answer must be computed exactly. We ask how to get them right with the fewest tokens and the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ways an LLM can solve a math problem: answer in words, write a program, write a program that calls a solver library (for optimization), or think longer first (reasoning mode, more tokens). Example, Qwen3-8B, real outputs. Asked to answer directly, it gives a different area for each copy of the same polygon (only the original is right). Asked for a program, it writes the shoelace formula and the computer gets all copies right. Programs still fail silently, and thinking longer is expensive: on 311 contest problems gpt-oss-120b goes from 57% to 66% for 4.4 times the tokens. Goal: effective (exactly right) and efficient (fewest tokens, smallest GPU).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hard, by well-known yardsticks. Contest problems: Codeforces ratings with the human rank at that level (Newbie up to 1199, Pupil 1200-1399, Specialist 1400-1599, Expert 1600-1899, Candidate Master 1900-2099, Master 2100-2299, International Master 2300-2399, Grandmaster 2400+); our median is 2200 (Master) and 142 of 311 are 2400+; 56 problems (18%) are solved by none of our 9 model settings. Routing: the Solomon VRPTW benchmark (1987); a simple greedy plan is valid on all 56 but 47.6% longer than the best known. Word problems: NL4OPT (a NeurIPS 2022 competition) is undergraduate OR-exercise level. Math: AIME invites at least the top 2.5% of AMC 10 and top 5% of AMC 12 takers. Proofs: on IMO-AG-30 an average IMO gold medallist solves 25.9 of 30 and an average participant 15.2 (AlphaGeometry paper). gpt-oss-120b at high effort solves 89% of the easiest contest band and 48% of the 2400+ band.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problems. (1) Programs fail silently: for the same task (how many corners does the rubber band around these 10 points have?) Qwen3-14B's program prints 6 with only the task, and 0 when the prompt also offers 8 unneeded helper functions, with no error message. Even the examples in a contest problem miss such bugs: a program for 'Find Color' passes all 3 and fails hidden test 11; 24-37% of gpt-oss-120b's wrong contest programs pass the examples. (2) Thinking longer is expensive: on 311 Codeforces geometry problems gpt-oss-120b uses 6.8k tokens per problem at medium effort (about 10 pages) and solves 57%, and 30k tokens at high effort (about 43 pages) for 66%: 4.4 times the tokens for 9 more points. Why it matters: agents already write route planners, schedulers and geometry code; tokens are cost and latency; most teams have one small GPU. Our question: where should extra effort go, a missing fact, a free check, or more thinking? We test each on geometry, routing, scheduling, contest problems, word problems, math and proofs, counting accuracy and tokens.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Plain definitions for the rest of the talk. Every result is reported as accuracy and tokens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panel per result. Add the fact: routing 23% to 77-90% (thinking longer 3%, long reference sheet 7%). Small models gain most: Qwen3-1.7B 0% to 45%, Qwen3-32B 65% to 66% (word problems). Compare two versions: 99% at 4.3k tokens vs always thinking 98% at 5.9k; with 8 extra tools 59%. Think only on a failed check (gpt-oss-120b, contest): 66.3% at 24.7k vs 66.2% at 30.1k. Reuse: 94% of 48 routing days vs 7% with a new program per day; Dynamic Cheatsheet (DC, the model's own notes) 31-40%. All together: fact first then think on failure 87% at 2.5k vs 74% at 4.1k for thinking on the hardest-looking problems (Snell-style) and 83% for choosing the fix by failure type.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model writes the program (the right side shows the line that matters). With a long reference sheet it guesses a plausible function name that does not exist and crashes; with the exact usage (11 lines) it writes the right one. Thinking longer cannot supply a fact it does not have (3%). On the 56 standard Solomon routing problems, three such facts together take gpt-oss-120b to a valid plan on every instance.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SIZE study. Without the snippet the 1.7B model invents OR-Tools attributes and almost never runs (0.1%); with six lines of exact usage it solves 44.5%. The gain shrinks as the model grows (+44, +31, +17, +8, +1 points). With the recipe (fact first, think only when the check fails), models that fit one 24 GB GPU match or beat Qwen3-32B: gpt-oss-20b 73.0% at 0.7k tokens vs Qwen3-32B with the fact and always thinking 72.0% at 5.5k; on the optimization suite Qwen3-14B (4-bit) 87-92% vs Qwen3-32B 79-85%. Below 14B the optimization suite stays at 47% or 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example (Qwen3-14B, real output): the only difference between the two prompts is the toolbox, eight correct helper functions that the task does not need. We run the two finished programs ourselves. Program A prints 6, the right answer; program B builds its method on polar_sort and prints 0. The bars (Qwen3-32B, 108 generated geometry problems, mean of 3 runs; tokens = output tokens per problem, both cheap programs counted for the last row): with the helpers 59%, task only 77%, always thinking 98% at 5.9k tokens, and writing both cheap programs and thinking only when their answers differ 99% at 4.3k (27% fewer tokens; the pair differs on 37-53% of problems). It does not help when both programs share the mistake (gpt-oss-120b on contest problems).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gpt-oss-120b runs on Codeforces geometry problems. The examples are a free check: if the quick (medium-effort) program gets them right we submit it; if not, we pay for high effort. Examples can miss bugs (Find Color passed all 3 examples and failed hidden test 11), so the full policy also runs a quick brute-force comparison on small inputs. Result: 66.3% at 24.7k tokens per problem vs 66.2% at 30.1k for always high effort.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Analogy for the 56 Solomon routing problems: each problem is like one day's orders. A: a new program per day is valid on 6 and 1 of 48 days in two runs (7%; drawn as 3), about 1.8k tokens each. B: draw 16 programs once, keep the one that gives valid plans on 8 practice days, reuse it: valid on 45 of 48 days (94%), 28k tokens in total. Reused programs also work on 200- and 400-customer problems; for a new rule (job-shop with release dates) editing the working program beats writing a new one (10% to 68-100%).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Qwen3-8B on MAMO easy-189 (gold 20000). Without a fact it writes solver.Objective().Minimize() and crashes (AttributeError). The fact is chosen automatically: its own shortest program from NL4OPT (a vans-and-trucks problem) that passed the label-free check (it runs and prints a value); no answers, no human. With it, both programs write solver.Minimize(10*x + 15*y + 20*z) and print 20000 (316 + 312 tokens), they agree, so no thinking is needed (thinking alone: 5,323 tokens). Chart: on the held-out MAMO the automatic fact matches the hand-written one (gpt-oss-20b within 1.2 points on 3 seeds). It stays within a problem family: a program of another problem type is 14-21 points below the hand-written fact on the optimization suite, and an introspected list of names hurts (Qwen3-32B 66.2 to 56.1%).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outputs. miniF2F mathd_numbertheory_34 (9^-1 mod 100 = 89). Qwen3-32B's 8 attempts all fail; they cite lemmas that do not exist, e.g. Nat.ModEq_iff_modEq. Goedel-Prover-V2-8B proves it by checking every x below 100 (interval_cases, then norm_num and omega). Specialized provers rarely invent names (6-7% of failed attempts vs 22-40%). For general models a verified proof of the most similar statement, thinking, or an inequality toolkit does not help; even for provers, revising from Lean's errors proves half as many as a fresh attempt (Goedel 11 vs 22 of 107). Geometry: AlphaGeometry's DD+AR engine alone proves 12 of IMO-AG-30 and 187 of JGEX-AG-231; LLM auxiliary points add 13 JGEX problems and only IMO 2014 P4 (d = midpoint of b 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step is a measured result, shown on the finding slides with an example. Step 1: the polygon. Step 2: delivery routing with OR-Tools (Qwen3-32B). Step 3: free checks (the problem's examples; two versions that should agree). Step 4: contest geometry with gpt-oss-120b. Step 5: reuse on the Solomon routing benchmark. Together (3 models, 624 geometry and optimization problems, 3 seeds): fact first and thinking only on a failed check solves 87% at 2.5k tokens per problem.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Real run (Qwen3-8B, MAMO easy-189, answer 20000). 1: without a fact the program calls Objective().Minimize(), which does not exist, and crashes. 2: the fact is the model's own earlier program for another problem (vans and trucks) that passed the check; with it the program writes solver.Minimize(10*x + 15*y + 20*z) and prints 20000 (316 tokens). 3: the free check, a second version, also prints 20000 (312 tokens): they agree. 4: so no thinking (thinking alone took 5,323 tokens). 5: the same kind of problem with new data reuses the checked program. Bottom: this problem 0.6k vs 5.3k tokens; over 624 geometry and optimization problems (Qwen3-8B, Qwen3-32B, Qwen3.6, 3 seeds) 87% at 2.5k vs 74% at 4.1k for thinking on the hardest-looking problems. The free check in each domain needs no answers: contest sample tests, geometry copies that must agree, routing plans that must obey every rule, word problems with two versions that must agree.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Right panel (MODEL, 63 model x task x seed cells; 0.5 points per 1k tokens): fact first, think on failure is the best fixed default (1.4 points from each cell's best policy; always thinking 8.4); choosing among 4 policies on 30 labelled problems of the new task cuts it to 0.6 (MAMO: 0.8-1.4). U1 / U1r / U2 (pre-registered). Qwen3-8B, Qwen3-32B and Qwen3.6 on the generated geometry and optimization suites, 624 problems, cure seed 1 shown; the order is the same on seeds 2 and 3. Thinking on the hardest-looking problems (difficulty-based allocation, as in compute-optimal scaling work) is even below thinking whenever the check fails. Giving the fact first and thinking only when the check fails is the most accurate and uses fewer tokens than any thinking policy; with automatically retrieved facts (BM25) it still reaches 84%.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baselines were run by us on our benchmarks. Models: U1 policies over Qwen3-8B / Qwen3-32B / Qwen3.6 (208 problems × 3 models); contest geometry gpt-oss-120b (311); selection Qwen3-8B (300 geometry instances, 3 candidates); documentation Qwen3-32B on CVRP; tools Qwen3-32B on 5 geometry tasks; daily routing gpt-oss-120b on 48 held-out Solomon instances. Tokens are output tokens per problem. ORLM-LLaMA-3-8B was run in our harness on MAMO (863 held-out word problems; greedy 80.5 / 35.5% on Easy / Complex, as reported). More rows (MBR-exec, majority vote, DeepConf, Self-Debugging, Mixture-of-Thought cascade, BM25 retrieval) are in PROPOSAL.md section 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Closest work per theme (details and how we differ: PROPOSAL.md section 6.1 and docs/notes/RELATED_WORK.md). Closest overall: OptiSkill (2609.22987) builds a skill bank from a strong teacher's programs validated against answers and routes it by problem type; our facts are the same small model's own programs chosen by a label-free check, and we show why routing by problem type is needed (a fact from another type costs 14-21 points). For when-to-think, Thinkless and AdaptThink train a switch with RL; we decide with an execution check after giving the fact; a same-backbone comparison with AdaptThink-7B is running.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Numbers as reported by the papers or model cards; our harness, prompts and graders differ (MAMO labels are noisy; reported ORLM numbers range 81.6-88.2% on Easy). ORLM-8B rerun in our harness gives 80.5 / 35.5%, close to its report. STORM-Qwen3-4B is being run in our harness. Goedel-Prover-V2-8B: 187 of 244 with 32 tries in our Lean setup vs 84.6% on its card. AlphaGeometry's DD+AR engine proves 12 of IMO-AG-30 here (14 in the paper; one problem does not parse in this engine version).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we test. Models: open models run locally (Qwen3 1.7B, 4B, 8B, 14B, 32B; Qwen3.6-35B-A3B; gpt-oss-20b and 120b; Goedel-Prover-V2-8B and DeepSeek-Prover-V2-7B for Lean). Benchmarks with exact answers. Every comparison changes one thing, is pre-registered (predictions written before the run, docs/prereg), replicated on 3 seeds, and reports output tokens per problem; published baselines are rerun in the same harness.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Updated 2026-10-19. Done since the last version: contest geometry and competition math on 24 GB GPUs, Qwen3.6 with the model card settings (headline unchanged), automatic facts and the held-out MAMO test, the policy model, proofs. Older notes: for Lean proofs an invented lemma stands for a missing proof step (similar-name feedback fixes 2.7%, a fresh try 3.2%); for PopQA thinking adds 1.8-5 points at 70-200 times the tokens, only for well-known facts. Checks leak, which caps every policy. Facts were hand-written; BM25 retrieval recovers most of the gain. Next: SIZE-CC (gpt-oss-20b on contest geometry with check-gated escalation), X1-SIZE (competition math for Qwen3-4B/8B/14B), automatic facts, a closed API model, final 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lstStyle>
            <a:lvl1pPr algn="ctr" indent="0" marL="0">
              <a:buNone/>
              <a:defRPr lang="en-US" sz="5400" dirty="0">
                <a:solidFill>
                  <a:schemeClr val="tx1"/>
                </a:solidFill>
              </a:defRPr>
            </a:lvl1pPr>
          </a:lstStyle>
          <a:p>
            <a:pPr algn="ctr" indent="0" marL="0">
              <a:buNone/>
            </a:pP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lstStyle>
            <a:lvl1pPr algn="ctr" indent="0" marL="0">
              <a:buNone/>
              <a:defRPr lang="en-US" sz="2200" dirty="0">
                <a:solidFill>
                  <a:schemeClr val="tx1"/>
                </a:solidFill>
              </a:defRPr>
            </a:lvl1pPr>
          </a:lstStyle>
          <a:p>
            <a:pPr algn="ctr"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Only">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lstStyle>
            <a:lvl1pPr algn="l" indent="0" marL="0">
              <a:buNone/>
              <a:defRPr lang="en-US" sz="3600" dirty="0">
                <a:solidFill>
                  <a:schemeClr val="tx1"/>
                </a:solidFill>
              </a:defRPr>
            </a:lvl1pPr>
          </a:lstStyle>
          <a:p>
            <a:pPr algn="l" indent="0" marL="0">
              <a:buNone/>
            </a:pPr>
            <a:endParaRPr lang="en-US" sz="3600" dirty="0"/>
          </a:p>
        </p:txBody>
      </p:sp>
      <p:sp>
        <p:nvSpPr>
          <p:cNvPr id="3" name="Text 0"/>
          <p:cNvSpPr/>
          <p:nvPr>
            <p:ph idx="101" type="body" hasCustomPrompt="1"/>
          </p:nvPr>
        </p:nvSpPr>
        <p:spPr>
          <a:xfrm>
            <a:off x="548640" y="1371600"/>
            <a:ext cx="11064240" cy="4846320"/>
          </a:xfrm>
          <a:prstGeom prst="rect">
            <a:avLst/>
          </a:prstGeom>
          <a:noFill/>
          <a:ln/>
        </p:spPr>
        <p:txBody>
          <a:bodyPr wrap="square" rtlCol="0"/>
          <a:lstStyle>
            <a:lvl1pPr indent="0" marL="0">
              <a:buNone/>
              <a:defRPr lang="en-US" sz="1800" dirty="0">
                <a:solidFill>
                  <a:schemeClr val="tx1"/>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slideLayout" Target="../slideLayouts/slideLayout3.xml"/><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3.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3.png"/><Relationship Id="rId5" Type="http://schemas.openxmlformats.org/officeDocument/2006/relationships/image" Target="../media/image-4-3.png"/><Relationship Id="rId6" Type="http://schemas.openxmlformats.org/officeDocument/2006/relationships/image" Target="../media/image-4-3.png"/><Relationship Id="rId7" Type="http://schemas.openxmlformats.org/officeDocument/2006/relationships/image" Target="../media/image-4-3.png"/><Relationship Id="rId8" Type="http://schemas.openxmlformats.org/officeDocument/2006/relationships/image" Target="../media/image-4-3.png"/><Relationship Id="rId9" Type="http://schemas.openxmlformats.org/officeDocument/2006/relationships/image" Target="../media/image-4-3.png"/><Relationship Id="rId10" Type="http://schemas.openxmlformats.org/officeDocument/2006/relationships/image" Target="../media/image-4-3.png"/><Relationship Id="rId11" Type="http://schemas.openxmlformats.org/officeDocument/2006/relationships/image" Target="../media/image-4-3.png"/><Relationship Id="rId12" Type="http://schemas.openxmlformats.org/officeDocument/2006/relationships/image" Target="../media/image-4-3.png"/><Relationship Id="rId13" Type="http://schemas.openxmlformats.org/officeDocument/2006/relationships/image" Target="../media/image-4-13.png"/><Relationship Id="rId14" Type="http://schemas.openxmlformats.org/officeDocument/2006/relationships/image" Target="../media/image-4-13.png"/><Relationship Id="rId15" Type="http://schemas.openxmlformats.org/officeDocument/2006/relationships/image" Target="../media/image-4-13.png"/><Relationship Id="rId16" Type="http://schemas.openxmlformats.org/officeDocument/2006/relationships/image" Target="../media/image-4-13.png"/><Relationship Id="rId17" Type="http://schemas.openxmlformats.org/officeDocument/2006/relationships/image" Target="../media/image-4-13.png"/><Relationship Id="rId18" Type="http://schemas.openxmlformats.org/officeDocument/2006/relationships/image" Target="../media/image-4-13.png"/><Relationship Id="rId19" Type="http://schemas.openxmlformats.org/officeDocument/2006/relationships/image" Target="../media/image-4-13.png"/><Relationship Id="rId20" Type="http://schemas.openxmlformats.org/officeDocument/2006/relationships/image" Target="../media/image-4-13.png"/><Relationship Id="rId21" Type="http://schemas.openxmlformats.org/officeDocument/2006/relationships/image" Target="../media/image-4-13.png"/><Relationship Id="rId22" Type="http://schemas.openxmlformats.org/officeDocument/2006/relationships/image" Target="../media/image-4-13.png"/><Relationship Id="rId23" Type="http://schemas.openxmlformats.org/officeDocument/2006/relationships/image" Target="../media/image-4-13.png"/><Relationship Id="rId24" Type="http://schemas.openxmlformats.org/officeDocument/2006/relationships/image" Target="../media/image-4-13.png"/><Relationship Id="rId25" Type="http://schemas.openxmlformats.org/officeDocument/2006/relationships/image" Target="../media/image-4-13.png"/><Relationship Id="rId26" Type="http://schemas.openxmlformats.org/officeDocument/2006/relationships/image" Target="../media/image-4-13.png"/><Relationship Id="rId27" Type="http://schemas.openxmlformats.org/officeDocument/2006/relationships/image" Target="../media/image-4-13.png"/><Relationship Id="rId28" Type="http://schemas.openxmlformats.org/officeDocument/2006/relationships/image" Target="../media/image-4-13.png"/><Relationship Id="rId29" Type="http://schemas.openxmlformats.org/officeDocument/2006/relationships/image" Target="../media/image-4-13.png"/><Relationship Id="rId30" Type="http://schemas.openxmlformats.org/officeDocument/2006/relationships/image" Target="../media/image-4-13.png"/><Relationship Id="rId31" Type="http://schemas.openxmlformats.org/officeDocument/2006/relationships/image" Target="../media/image-4-13.png"/><Relationship Id="rId32" Type="http://schemas.openxmlformats.org/officeDocument/2006/relationships/image" Target="../media/image-4-13.png"/><Relationship Id="rId33" Type="http://schemas.openxmlformats.org/officeDocument/2006/relationships/image" Target="../media/image-4-13.png"/><Relationship Id="rId34" Type="http://schemas.openxmlformats.org/officeDocument/2006/relationships/image" Target="../media/image-4-13.png"/><Relationship Id="rId35" Type="http://schemas.openxmlformats.org/officeDocument/2006/relationships/image" Target="../media/image-4-13.png"/><Relationship Id="rId36" Type="http://schemas.openxmlformats.org/officeDocument/2006/relationships/image" Target="../media/image-4-13.png"/><Relationship Id="rId37" Type="http://schemas.openxmlformats.org/officeDocument/2006/relationships/image" Target="../media/image-4-13.png"/><Relationship Id="rId38" Type="http://schemas.openxmlformats.org/officeDocument/2006/relationships/image" Target="../media/image-4-13.png"/><Relationship Id="rId39" Type="http://schemas.openxmlformats.org/officeDocument/2006/relationships/image" Target="../media/image-4-13.png"/><Relationship Id="rId40" Type="http://schemas.openxmlformats.org/officeDocument/2006/relationships/image" Target="../media/image-4-13.png"/><Relationship Id="rId41" Type="http://schemas.openxmlformats.org/officeDocument/2006/relationships/image" Target="../media/image-4-13.png"/><Relationship Id="rId42" Type="http://schemas.openxmlformats.org/officeDocument/2006/relationships/image" Target="../media/image-4-13.png"/><Relationship Id="rId43" Type="http://schemas.openxmlformats.org/officeDocument/2006/relationships/image" Target="../media/image-4-13.png"/><Relationship Id="rId44" Type="http://schemas.openxmlformats.org/officeDocument/2006/relationships/image" Target="../media/image-4-13.png"/><Relationship Id="rId45" Type="http://schemas.openxmlformats.org/officeDocument/2006/relationships/image" Target="../media/image-4-13.png"/><Relationship Id="rId46" Type="http://schemas.openxmlformats.org/officeDocument/2006/relationships/image" Target="../media/image-4-13.png"/><Relationship Id="rId47" Type="http://schemas.openxmlformats.org/officeDocument/2006/relationships/image" Target="../media/image-4-13.png"/><Relationship Id="rId48" Type="http://schemas.openxmlformats.org/officeDocument/2006/relationships/image" Target="../media/image-4-13.png"/><Relationship Id="rId49" Type="http://schemas.openxmlformats.org/officeDocument/2006/relationships/image" Target="../media/image-4-13.png"/><Relationship Id="rId50" Type="http://schemas.openxmlformats.org/officeDocument/2006/relationships/image" Target="../media/image-4-13.png"/><Relationship Id="rId51" Type="http://schemas.openxmlformats.org/officeDocument/2006/relationships/image" Target="../media/image-4-13.png"/><Relationship Id="rId52" Type="http://schemas.openxmlformats.org/officeDocument/2006/relationships/image" Target="../media/image-4-13.png"/><Relationship Id="rId53" Type="http://schemas.openxmlformats.org/officeDocument/2006/relationships/image" Target="../media/image-4-13.png"/><Relationship Id="rId54" Type="http://schemas.openxmlformats.org/officeDocument/2006/relationships/image" Target="../media/image-4-13.png"/><Relationship Id="rId55" Type="http://schemas.openxmlformats.org/officeDocument/2006/relationships/image" Target="../media/image-4-13.png"/><Relationship Id="rId56" Type="http://schemas.openxmlformats.org/officeDocument/2006/relationships/image" Target="../media/image-4-56.png"/><Relationship Id="rId57" Type="http://schemas.openxmlformats.org/officeDocument/2006/relationships/image" Target="../media/image-4-57.png"/><Relationship Id="rId58" Type="http://schemas.openxmlformats.org/officeDocument/2006/relationships/image" Target="../media/image-4-58.png"/><Relationship Id="rId59" Type="http://schemas.openxmlformats.org/officeDocument/2006/relationships/image" Target="../media/image-4-59.png"/><Relationship Id="rId60" Type="http://schemas.openxmlformats.org/officeDocument/2006/relationships/image" Target="../media/image-4-60.png"/><Relationship Id="rId61" Type="http://schemas.openxmlformats.org/officeDocument/2006/relationships/image" Target="../media/image-4-61.png"/><Relationship Id="rId62" Type="http://schemas.openxmlformats.org/officeDocument/2006/relationships/slideLayout" Target="../slideLayouts/slideLayout3.xml"/><Relationship Id="rId6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3.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3.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image" Target="../media/image-20-5.png"/><Relationship Id="rId6" Type="http://schemas.openxmlformats.org/officeDocument/2006/relationships/image" Target="../media/image-20-6.png"/><Relationship Id="rId7" Type="http://schemas.openxmlformats.org/officeDocument/2006/relationships/slideLayout" Target="../slideLayouts/slideLayout3.xml"/><Relationship Id="rId8"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1527048" y="1280160"/>
            <a:ext cx="9144000" cy="2194560"/>
          </a:xfrm>
          <a:prstGeom prst="rect">
            <a:avLst/>
          </a:prstGeom>
          <a:noFill/>
          <a:ln/>
        </p:spPr>
        <p:txBody>
          <a:bodyPr wrap="square" rtlCol="0" anchor="b"/>
          <a:lstStyle/>
          <a:p>
            <a:pPr algn="ctr" indent="0" marL="0">
              <a:buNone/>
            </a:pPr>
            <a:r>
              <a:rPr lang="en-US" sz="4400" dirty="0">
                <a:solidFill>
                  <a:schemeClr val="tx1"/>
                </a:solidFill>
              </a:rPr>
              <a:t>Solving Computational Math</a:t>
            </a:r>
            <a:endParaRPr lang="en-US" sz="5400" dirty="0"/>
          </a:p>
          <a:p>
            <a:pPr algn="ctr" indent="0" marL="0">
              <a:buNone/>
            </a:pPr>
            <a:r>
              <a:rPr lang="en-US" sz="4000" dirty="0">
                <a:solidFill>
                  <a:schemeClr val="tx1"/>
                </a:solidFill>
              </a:rPr>
              <a:t>with LLMs, Accurately and Cheaply</a:t>
            </a:r>
            <a:endParaRPr lang="en-US" sz="5400" dirty="0"/>
          </a:p>
        </p:txBody>
      </p:sp>
      <p:sp>
        <p:nvSpPr>
          <p:cNvPr id="3" name="Text 0"/>
          <p:cNvSpPr/>
          <p:nvPr>
            <p:ph idx="101" type="body" hasCustomPrompt="1"/>
          </p:nvPr>
        </p:nvSpPr>
        <p:spPr>
          <a:xfrm>
            <a:off x="1527048" y="3657600"/>
            <a:ext cx="9144000" cy="1554480"/>
          </a:xfrm>
          <a:prstGeom prst="rect">
            <a:avLst/>
          </a:prstGeom>
          <a:noFill/>
          <a:ln/>
        </p:spPr>
        <p:txBody>
          <a:bodyPr wrap="square" rtlCol="0" anchor="t"/>
          <a:lstStyle/>
          <a:p>
            <a:pPr algn="ctr" indent="0" marL="0">
              <a:buNone/>
            </a:pPr>
            <a:r>
              <a:rPr lang="en-US" sz="2200" dirty="0">
                <a:solidFill>
                  <a:schemeClr val="tx1"/>
                </a:solidFill>
              </a:rPr>
              <a:t>A fact, a check, or more thinking: where should the extra effort go?</a:t>
            </a:r>
            <a:endParaRPr lang="en-US" sz="2200" dirty="0"/>
          </a:p>
          <a:p>
            <a:pPr algn="ctr" indent="0" marL="0">
              <a:buNone/>
            </a:pPr>
            <a:r>
              <a:rPr lang="en-US" sz="1600" dirty="0">
                <a:solidFill>
                  <a:srgbClr val="44546A"/>
                </a:solidFill>
              </a:rPr>
              <a:t>Team 5: Sangjun Lee, Seongbin Park · POSTECH CSED490E (Graduate NLP) · October 2026</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How an LLM solves a math problem</a:t>
            </a:r>
            <a:endParaRPr lang="en-US" sz="3600" dirty="0"/>
          </a:p>
        </p:txBody>
      </p:sp>
      <p:sp>
        <p:nvSpPr>
          <p:cNvPr id="3" name="approach Answer in words"/>
          <p:cNvSpPr/>
          <p:nvPr/>
        </p:nvSpPr>
        <p:spPr>
          <a:xfrm>
            <a:off x="548640" y="1188720"/>
            <a:ext cx="2651760" cy="777240"/>
          </a:xfrm>
          <a:prstGeom prst="roundRect">
            <a:avLst>
              <a:gd name="adj" fmla="val 9412"/>
            </a:avLst>
          </a:prstGeom>
          <a:solidFill>
            <a:srgbClr val="F2F2F2"/>
          </a:solidFill>
          <a:ln w="9525">
            <a:solidFill>
              <a:srgbClr val="D9D9D9"/>
            </a:solidFill>
            <a:prstDash val="solid"/>
          </a:ln>
        </p:spPr>
      </p:sp>
      <p:pic>
        <p:nvPicPr>
          <p:cNvPr id="4" name="icon pen" descr="/NAS/SJ/POSTECH/nlp/figs/icons/pen.png">    </p:cNvPr>
          <p:cNvPicPr>
            <a:picLocks noChangeAspect="1"/>
          </p:cNvPicPr>
          <p:nvPr/>
        </p:nvPicPr>
        <p:blipFill>
          <a:blip r:embed="rId1"/>
          <a:stretch>
            <a:fillRect/>
          </a:stretch>
        </p:blipFill>
        <p:spPr>
          <a:xfrm>
            <a:off x="685800" y="1344168"/>
            <a:ext cx="457200" cy="457200"/>
          </a:xfrm>
          <a:prstGeom prst="rect">
            <a:avLst/>
          </a:prstGeom>
        </p:spPr>
      </p:pic>
      <p:sp>
        <p:nvSpPr>
          <p:cNvPr id="5" name="Text 2"/>
          <p:cNvSpPr txBox="1"/>
          <p:nvPr/>
        </p:nvSpPr>
        <p:spPr>
          <a:xfrm>
            <a:off x="123444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Answer in words</a:t>
            </a:r>
            <a:endParaRPr lang="en-US" sz="1600" dirty="0"/>
          </a:p>
          <a:p>
            <a:pPr indent="0" marL="0">
              <a:buNone/>
            </a:pPr>
            <a:r>
              <a:rPr lang="en-US" sz="1250" dirty="0">
                <a:solidFill>
                  <a:schemeClr val="tx2"/>
                </a:solidFill>
              </a:rPr>
              <a:t>it does the arithmetic itself</a:t>
            </a:r>
            <a:endParaRPr lang="en-US" sz="1600" dirty="0"/>
          </a:p>
        </p:txBody>
      </p:sp>
      <p:sp>
        <p:nvSpPr>
          <p:cNvPr id="6" name="approach Write a program"/>
          <p:cNvSpPr/>
          <p:nvPr/>
        </p:nvSpPr>
        <p:spPr>
          <a:xfrm>
            <a:off x="3337560" y="1188720"/>
            <a:ext cx="2651760" cy="777240"/>
          </a:xfrm>
          <a:prstGeom prst="roundRect">
            <a:avLst>
              <a:gd name="adj" fmla="val 9412"/>
            </a:avLst>
          </a:prstGeom>
          <a:solidFill>
            <a:srgbClr val="F2F2F2"/>
          </a:solidFill>
          <a:ln w="9525">
            <a:solidFill>
              <a:srgbClr val="D9D9D9"/>
            </a:solidFill>
            <a:prstDash val="solid"/>
          </a:ln>
        </p:spPr>
      </p:sp>
      <p:pic>
        <p:nvPicPr>
          <p:cNvPr id="7" name="icon code" descr="/NAS/SJ/POSTECH/nlp/figs/icons/code.png">    </p:cNvPr>
          <p:cNvPicPr>
            <a:picLocks noChangeAspect="1"/>
          </p:cNvPicPr>
          <p:nvPr/>
        </p:nvPicPr>
        <p:blipFill>
          <a:blip r:embed="rId2"/>
          <a:stretch>
            <a:fillRect/>
          </a:stretch>
        </p:blipFill>
        <p:spPr>
          <a:xfrm>
            <a:off x="3474720" y="1344168"/>
            <a:ext cx="457200" cy="457200"/>
          </a:xfrm>
          <a:prstGeom prst="rect">
            <a:avLst/>
          </a:prstGeom>
        </p:spPr>
      </p:pic>
      <p:sp>
        <p:nvSpPr>
          <p:cNvPr id="8" name="Text 4"/>
          <p:cNvSpPr txBox="1"/>
          <p:nvPr/>
        </p:nvSpPr>
        <p:spPr>
          <a:xfrm>
            <a:off x="402336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Write a program</a:t>
            </a:r>
            <a:endParaRPr lang="en-US" sz="1600" dirty="0"/>
          </a:p>
          <a:p>
            <a:pPr indent="0" marL="0">
              <a:buNone/>
            </a:pPr>
            <a:r>
              <a:rPr lang="en-US" sz="1250" dirty="0">
                <a:solidFill>
                  <a:schemeClr val="tx2"/>
                </a:solidFill>
              </a:rPr>
              <a:t>the computer computes the answer</a:t>
            </a:r>
            <a:endParaRPr lang="en-US" sz="1600" dirty="0"/>
          </a:p>
        </p:txBody>
      </p:sp>
      <p:sp>
        <p:nvSpPr>
          <p:cNvPr id="9" name="approach Call a solver library"/>
          <p:cNvSpPr/>
          <p:nvPr/>
        </p:nvSpPr>
        <p:spPr>
          <a:xfrm>
            <a:off x="6126480" y="1188720"/>
            <a:ext cx="2651760" cy="777240"/>
          </a:xfrm>
          <a:prstGeom prst="roundRect">
            <a:avLst>
              <a:gd name="adj" fmla="val 9412"/>
            </a:avLst>
          </a:prstGeom>
          <a:solidFill>
            <a:srgbClr val="F2F2F2"/>
          </a:solidFill>
          <a:ln w="9525">
            <a:solidFill>
              <a:srgbClr val="D9D9D9"/>
            </a:solidFill>
            <a:prstDash val="solid"/>
          </a:ln>
        </p:spPr>
      </p:sp>
      <p:pic>
        <p:nvPicPr>
          <p:cNvPr id="10" name="icon gears" descr="/NAS/SJ/POSTECH/nlp/figs/icons/gears.png">    </p:cNvPr>
          <p:cNvPicPr>
            <a:picLocks noChangeAspect="1"/>
          </p:cNvPicPr>
          <p:nvPr/>
        </p:nvPicPr>
        <p:blipFill>
          <a:blip r:embed="rId3"/>
          <a:stretch>
            <a:fillRect/>
          </a:stretch>
        </p:blipFill>
        <p:spPr>
          <a:xfrm>
            <a:off x="6263640" y="1344168"/>
            <a:ext cx="457200" cy="457200"/>
          </a:xfrm>
          <a:prstGeom prst="rect">
            <a:avLst/>
          </a:prstGeom>
        </p:spPr>
      </p:pic>
      <p:sp>
        <p:nvSpPr>
          <p:cNvPr id="11" name="Text 6"/>
          <p:cNvSpPr txBox="1"/>
          <p:nvPr/>
        </p:nvSpPr>
        <p:spPr>
          <a:xfrm>
            <a:off x="681228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Call a solver library</a:t>
            </a:r>
            <a:endParaRPr lang="en-US" sz="1600" dirty="0"/>
          </a:p>
          <a:p>
            <a:pPr indent="0" marL="0">
              <a:buNone/>
            </a:pPr>
            <a:r>
              <a:rPr lang="en-US" sz="1250" dirty="0">
                <a:solidFill>
                  <a:schemeClr val="tx2"/>
                </a:solidFill>
              </a:rPr>
              <a:t>e.g. OR-Tools finds the best routes</a:t>
            </a:r>
            <a:endParaRPr lang="en-US" sz="1600" dirty="0"/>
          </a:p>
        </p:txBody>
      </p:sp>
      <p:sp>
        <p:nvSpPr>
          <p:cNvPr id="12" name="approach Think longer first"/>
          <p:cNvSpPr/>
          <p:nvPr/>
        </p:nvSpPr>
        <p:spPr>
          <a:xfrm>
            <a:off x="8915400" y="1188720"/>
            <a:ext cx="2651760" cy="777240"/>
          </a:xfrm>
          <a:prstGeom prst="roundRect">
            <a:avLst>
              <a:gd name="adj" fmla="val 9412"/>
            </a:avLst>
          </a:prstGeom>
          <a:solidFill>
            <a:srgbClr val="F2F2F2"/>
          </a:solidFill>
          <a:ln w="9525">
            <a:solidFill>
              <a:srgbClr val="D9D9D9"/>
            </a:solidFill>
            <a:prstDash val="solid"/>
          </a:ln>
        </p:spPr>
      </p:sp>
      <p:pic>
        <p:nvPicPr>
          <p:cNvPr id="13" name="icon brain" descr="/NAS/SJ/POSTECH/nlp/figs/icons/brain.png">    </p:cNvPr>
          <p:cNvPicPr>
            <a:picLocks noChangeAspect="1"/>
          </p:cNvPicPr>
          <p:nvPr/>
        </p:nvPicPr>
        <p:blipFill>
          <a:blip r:embed="rId4"/>
          <a:stretch>
            <a:fillRect/>
          </a:stretch>
        </p:blipFill>
        <p:spPr>
          <a:xfrm>
            <a:off x="9052560" y="1344168"/>
            <a:ext cx="457200" cy="457200"/>
          </a:xfrm>
          <a:prstGeom prst="rect">
            <a:avLst/>
          </a:prstGeom>
        </p:spPr>
      </p:pic>
      <p:sp>
        <p:nvSpPr>
          <p:cNvPr id="14" name="Text 8"/>
          <p:cNvSpPr txBox="1"/>
          <p:nvPr/>
        </p:nvSpPr>
        <p:spPr>
          <a:xfrm>
            <a:off x="9601200" y="1188720"/>
            <a:ext cx="1920240" cy="777240"/>
          </a:xfrm>
          <a:prstGeom prst="rect">
            <a:avLst/>
          </a:prstGeom>
          <a:noFill/>
          <a:ln/>
        </p:spPr>
        <p:txBody>
          <a:bodyPr wrap="square" lIns="0" tIns="0" rIns="0" bIns="0" rtlCol="0" anchor="ctr"/>
          <a:lstStyle/>
          <a:p>
            <a:pPr indent="0" marL="0">
              <a:buNone/>
            </a:pPr>
            <a:r>
              <a:rPr lang="en-US" sz="1600" b="1" dirty="0">
                <a:solidFill>
                  <a:schemeClr val="tx1"/>
                </a:solidFill>
              </a:rPr>
              <a:t>Think longer first</a:t>
            </a:r>
            <a:endParaRPr lang="en-US" sz="1600" dirty="0"/>
          </a:p>
          <a:p>
            <a:pPr indent="0" marL="0">
              <a:buNone/>
            </a:pPr>
            <a:r>
              <a:rPr lang="en-US" sz="1250" dirty="0">
                <a:solidFill>
                  <a:schemeClr val="tx2"/>
                </a:solidFill>
              </a:rPr>
              <a:t>more hidden notes = more tokens</a:t>
            </a:r>
            <a:endParaRPr lang="en-US" sz="1600" dirty="0"/>
          </a:p>
        </p:txBody>
      </p:sp>
      <p:sp>
        <p:nvSpPr>
          <p:cNvPr id="15" name="Text 9"/>
          <p:cNvSpPr txBox="1"/>
          <p:nvPr/>
        </p:nvSpPr>
        <p:spPr>
          <a:xfrm>
            <a:off x="3566160" y="2148840"/>
            <a:ext cx="8046720" cy="365760"/>
          </a:xfrm>
          <a:prstGeom prst="rect">
            <a:avLst/>
          </a:prstGeom>
          <a:noFill/>
          <a:ln/>
        </p:spPr>
        <p:txBody>
          <a:bodyPr wrap="square" lIns="0" tIns="0" rIns="0" bIns="0" rtlCol="0" anchor="ctr"/>
          <a:lstStyle/>
          <a:p>
            <a:pPr algn="ctr" indent="0" marL="0">
              <a:buNone/>
            </a:pPr>
            <a:r>
              <a:rPr lang="en-US" sz="1500" dirty="0">
                <a:solidFill>
                  <a:schemeClr val="tx1"/>
                </a:solidFill>
              </a:rPr>
              <a:t>Example: one shape moved, turned or flipped, so the right answer never changes: 436 (twice its area)</a:t>
            </a:r>
            <a:endParaRPr lang="en-US" sz="1500" dirty="0"/>
          </a:p>
        </p:txBody>
      </p:sp>
      <p:pic>
        <p:nvPicPr>
          <p:cNvPr id="16" name="four copies of one polygon" descr="one polygon: original, moved, turned, flipped">    </p:cNvPr>
          <p:cNvPicPr>
            <a:picLocks noChangeAspect="1"/>
          </p:cNvPicPr>
          <p:nvPr/>
        </p:nvPicPr>
        <p:blipFill>
          <a:blip r:embed="rId5"/>
          <a:stretch>
            <a:fillRect/>
          </a:stretch>
        </p:blipFill>
        <p:spPr>
          <a:xfrm>
            <a:off x="4206240" y="2514600"/>
            <a:ext cx="6766560" cy="1463040"/>
          </a:xfrm>
          <a:prstGeom prst="rect">
            <a:avLst/>
          </a:prstGeom>
        </p:spPr>
      </p:pic>
      <p:sp>
        <p:nvSpPr>
          <p:cNvPr id="17" name="Text 10"/>
          <p:cNvSpPr txBox="1"/>
          <p:nvPr/>
        </p:nvSpPr>
        <p:spPr>
          <a:xfrm>
            <a:off x="356616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original</a:t>
            </a:r>
            <a:endParaRPr lang="en-US" sz="1400" dirty="0"/>
          </a:p>
        </p:txBody>
      </p:sp>
      <p:sp>
        <p:nvSpPr>
          <p:cNvPr id="18" name="Text 11"/>
          <p:cNvSpPr txBox="1"/>
          <p:nvPr/>
        </p:nvSpPr>
        <p:spPr>
          <a:xfrm>
            <a:off x="557784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moved</a:t>
            </a:r>
            <a:endParaRPr lang="en-US" sz="1400" dirty="0"/>
          </a:p>
        </p:txBody>
      </p:sp>
      <p:sp>
        <p:nvSpPr>
          <p:cNvPr id="19" name="Text 12"/>
          <p:cNvSpPr txBox="1"/>
          <p:nvPr/>
        </p:nvSpPr>
        <p:spPr>
          <a:xfrm>
            <a:off x="758952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turned</a:t>
            </a:r>
            <a:endParaRPr lang="en-US" sz="1400" dirty="0"/>
          </a:p>
        </p:txBody>
      </p:sp>
      <p:sp>
        <p:nvSpPr>
          <p:cNvPr id="20" name="Text 13"/>
          <p:cNvSpPr txBox="1"/>
          <p:nvPr/>
        </p:nvSpPr>
        <p:spPr>
          <a:xfrm>
            <a:off x="9601200" y="3886200"/>
            <a:ext cx="2011680" cy="274320"/>
          </a:xfrm>
          <a:prstGeom prst="rect">
            <a:avLst/>
          </a:prstGeom>
          <a:noFill/>
          <a:ln/>
        </p:spPr>
        <p:txBody>
          <a:bodyPr wrap="square" lIns="0" tIns="0" rIns="0" bIns="0" rtlCol="0" anchor="ctr"/>
          <a:lstStyle/>
          <a:p>
            <a:pPr algn="ctr" indent="0" marL="0">
              <a:buNone/>
            </a:pPr>
            <a:r>
              <a:rPr lang="en-US" sz="1400" dirty="0">
                <a:solidFill>
                  <a:schemeClr val="tx2"/>
                </a:solidFill>
              </a:rPr>
              <a:t>flipped</a:t>
            </a:r>
            <a:endParaRPr lang="en-US" sz="1400" dirty="0"/>
          </a:p>
        </p:txBody>
      </p:sp>
      <p:sp>
        <p:nvSpPr>
          <p:cNvPr id="21" name="Text 14"/>
          <p:cNvSpPr txBox="1"/>
          <p:nvPr/>
        </p:nvSpPr>
        <p:spPr>
          <a:xfrm>
            <a:off x="548640" y="42062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Answer in words</a:t>
            </a:r>
            <a:endParaRPr lang="en-US" sz="1900" dirty="0"/>
          </a:p>
          <a:p>
            <a:pPr indent="0" marL="0">
              <a:buNone/>
            </a:pPr>
            <a:r>
              <a:rPr lang="en-US" sz="1300" dirty="0">
                <a:solidFill>
                  <a:srgbClr val="44546A"/>
                </a:solidFill>
              </a:rPr>
              <a:t>the model does the arithmetic itself</a:t>
            </a:r>
            <a:endParaRPr lang="en-US" sz="1900" dirty="0"/>
          </a:p>
        </p:txBody>
      </p:sp>
      <p:sp>
        <p:nvSpPr>
          <p:cNvPr id="22" name="answer 436 ✓"/>
          <p:cNvSpPr/>
          <p:nvPr/>
        </p:nvSpPr>
        <p:spPr>
          <a:xfrm>
            <a:off x="3794760" y="4297680"/>
            <a:ext cx="1554480" cy="548640"/>
          </a:xfrm>
          <a:prstGeom prst="roundRect">
            <a:avLst>
              <a:gd name="adj" fmla="val 16667"/>
            </a:avLst>
          </a:prstGeom>
          <a:solidFill>
            <a:srgbClr val="E2F0D9"/>
          </a:solidFill>
          <a:ln w="12700">
            <a:solidFill>
              <a:srgbClr val="70AD47"/>
            </a:solidFill>
            <a:prstDash val="solid"/>
          </a:ln>
        </p:spPr>
      </p:sp>
      <p:sp>
        <p:nvSpPr>
          <p:cNvPr id="23" name="Text 16"/>
          <p:cNvSpPr txBox="1"/>
          <p:nvPr/>
        </p:nvSpPr>
        <p:spPr>
          <a:xfrm>
            <a:off x="3794760" y="42976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24" name="answer 2944 ✗"/>
          <p:cNvSpPr/>
          <p:nvPr/>
        </p:nvSpPr>
        <p:spPr>
          <a:xfrm>
            <a:off x="5806440" y="4297680"/>
            <a:ext cx="1554480" cy="548640"/>
          </a:xfrm>
          <a:prstGeom prst="roundRect">
            <a:avLst>
              <a:gd name="adj" fmla="val 16667"/>
            </a:avLst>
          </a:prstGeom>
          <a:solidFill>
            <a:srgbClr val="FADBD8"/>
          </a:solidFill>
          <a:ln w="12700">
            <a:solidFill>
              <a:srgbClr val="C00000"/>
            </a:solidFill>
            <a:prstDash val="solid"/>
          </a:ln>
        </p:spPr>
      </p:sp>
      <p:sp>
        <p:nvSpPr>
          <p:cNvPr id="25" name="Text 18"/>
          <p:cNvSpPr txBox="1"/>
          <p:nvPr/>
        </p:nvSpPr>
        <p:spPr>
          <a:xfrm>
            <a:off x="580644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2944 ✗</a:t>
            </a:r>
            <a:endParaRPr lang="en-US" sz="2200" dirty="0"/>
          </a:p>
        </p:txBody>
      </p:sp>
      <p:sp>
        <p:nvSpPr>
          <p:cNvPr id="26" name="answer 392 ✗"/>
          <p:cNvSpPr/>
          <p:nvPr/>
        </p:nvSpPr>
        <p:spPr>
          <a:xfrm>
            <a:off x="7818120" y="4297680"/>
            <a:ext cx="1554480" cy="548640"/>
          </a:xfrm>
          <a:prstGeom prst="roundRect">
            <a:avLst>
              <a:gd name="adj" fmla="val 16667"/>
            </a:avLst>
          </a:prstGeom>
          <a:solidFill>
            <a:srgbClr val="FADBD8"/>
          </a:solidFill>
          <a:ln w="12700">
            <a:solidFill>
              <a:srgbClr val="C00000"/>
            </a:solidFill>
            <a:prstDash val="solid"/>
          </a:ln>
        </p:spPr>
      </p:sp>
      <p:sp>
        <p:nvSpPr>
          <p:cNvPr id="27" name="Text 20"/>
          <p:cNvSpPr txBox="1"/>
          <p:nvPr/>
        </p:nvSpPr>
        <p:spPr>
          <a:xfrm>
            <a:off x="781812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392 ✗</a:t>
            </a:r>
            <a:endParaRPr lang="en-US" sz="2200" dirty="0"/>
          </a:p>
        </p:txBody>
      </p:sp>
      <p:sp>
        <p:nvSpPr>
          <p:cNvPr id="28" name="answer 728 ✗"/>
          <p:cNvSpPr/>
          <p:nvPr/>
        </p:nvSpPr>
        <p:spPr>
          <a:xfrm>
            <a:off x="9829800" y="4297680"/>
            <a:ext cx="1554480" cy="548640"/>
          </a:xfrm>
          <a:prstGeom prst="roundRect">
            <a:avLst>
              <a:gd name="adj" fmla="val 16667"/>
            </a:avLst>
          </a:prstGeom>
          <a:solidFill>
            <a:srgbClr val="FADBD8"/>
          </a:solidFill>
          <a:ln w="12700">
            <a:solidFill>
              <a:srgbClr val="C00000"/>
            </a:solidFill>
            <a:prstDash val="solid"/>
          </a:ln>
        </p:spPr>
      </p:sp>
      <p:sp>
        <p:nvSpPr>
          <p:cNvPr id="29" name="Text 22"/>
          <p:cNvSpPr txBox="1"/>
          <p:nvPr/>
        </p:nvSpPr>
        <p:spPr>
          <a:xfrm>
            <a:off x="9829800" y="4297680"/>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728 ✗</a:t>
            </a:r>
            <a:endParaRPr lang="en-US" sz="2200" dirty="0"/>
          </a:p>
        </p:txBody>
      </p:sp>
      <p:sp>
        <p:nvSpPr>
          <p:cNvPr id="30" name="Text 23"/>
          <p:cNvSpPr txBox="1"/>
          <p:nvPr/>
        </p:nvSpPr>
        <p:spPr>
          <a:xfrm>
            <a:off x="548640" y="4892040"/>
            <a:ext cx="2926080" cy="685800"/>
          </a:xfrm>
          <a:prstGeom prst="rect">
            <a:avLst/>
          </a:prstGeom>
          <a:noFill/>
          <a:ln/>
        </p:spPr>
        <p:txBody>
          <a:bodyPr wrap="square" lIns="0" tIns="0" rIns="0" bIns="0" rtlCol="0" anchor="ctr"/>
          <a:lstStyle/>
          <a:p>
            <a:pPr indent="0" marL="0">
              <a:buNone/>
            </a:pPr>
            <a:r>
              <a:rPr lang="en-US" sz="1900" b="1" dirty="0">
                <a:solidFill>
                  <a:schemeClr val="tx1"/>
                </a:solidFill>
              </a:rPr>
              <a:t>Write a program</a:t>
            </a:r>
            <a:endParaRPr lang="en-US" sz="1900" dirty="0"/>
          </a:p>
          <a:p>
            <a:pPr indent="0" marL="0">
              <a:buNone/>
            </a:pPr>
            <a:r>
              <a:rPr lang="en-US" sz="1300" dirty="0">
                <a:solidFill>
                  <a:srgbClr val="44546A"/>
                </a:solidFill>
              </a:rPr>
              <a:t>the computer does the arithmetic</a:t>
            </a:r>
            <a:endParaRPr lang="en-US" sz="1900" dirty="0"/>
          </a:p>
        </p:txBody>
      </p:sp>
      <p:sp>
        <p:nvSpPr>
          <p:cNvPr id="31" name="answer 436 ✓"/>
          <p:cNvSpPr/>
          <p:nvPr/>
        </p:nvSpPr>
        <p:spPr>
          <a:xfrm>
            <a:off x="3794760" y="4983480"/>
            <a:ext cx="1554480" cy="548640"/>
          </a:xfrm>
          <a:prstGeom prst="roundRect">
            <a:avLst>
              <a:gd name="adj" fmla="val 16667"/>
            </a:avLst>
          </a:prstGeom>
          <a:solidFill>
            <a:srgbClr val="E2F0D9"/>
          </a:solidFill>
          <a:ln w="12700">
            <a:solidFill>
              <a:srgbClr val="70AD47"/>
            </a:solidFill>
            <a:prstDash val="solid"/>
          </a:ln>
        </p:spPr>
      </p:sp>
      <p:sp>
        <p:nvSpPr>
          <p:cNvPr id="32" name="Text 25"/>
          <p:cNvSpPr txBox="1"/>
          <p:nvPr/>
        </p:nvSpPr>
        <p:spPr>
          <a:xfrm>
            <a:off x="379476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3" name="answer 436 ✓"/>
          <p:cNvSpPr/>
          <p:nvPr/>
        </p:nvSpPr>
        <p:spPr>
          <a:xfrm>
            <a:off x="5806440" y="4983480"/>
            <a:ext cx="1554480" cy="548640"/>
          </a:xfrm>
          <a:prstGeom prst="roundRect">
            <a:avLst>
              <a:gd name="adj" fmla="val 16667"/>
            </a:avLst>
          </a:prstGeom>
          <a:solidFill>
            <a:srgbClr val="E2F0D9"/>
          </a:solidFill>
          <a:ln w="12700">
            <a:solidFill>
              <a:srgbClr val="70AD47"/>
            </a:solidFill>
            <a:prstDash val="solid"/>
          </a:ln>
        </p:spPr>
      </p:sp>
      <p:sp>
        <p:nvSpPr>
          <p:cNvPr id="34" name="Text 27"/>
          <p:cNvSpPr txBox="1"/>
          <p:nvPr/>
        </p:nvSpPr>
        <p:spPr>
          <a:xfrm>
            <a:off x="580644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5" name="answer 436 ✓"/>
          <p:cNvSpPr/>
          <p:nvPr/>
        </p:nvSpPr>
        <p:spPr>
          <a:xfrm>
            <a:off x="7818120" y="4983480"/>
            <a:ext cx="1554480" cy="548640"/>
          </a:xfrm>
          <a:prstGeom prst="roundRect">
            <a:avLst>
              <a:gd name="adj" fmla="val 16667"/>
            </a:avLst>
          </a:prstGeom>
          <a:solidFill>
            <a:srgbClr val="E2F0D9"/>
          </a:solidFill>
          <a:ln w="12700">
            <a:solidFill>
              <a:srgbClr val="70AD47"/>
            </a:solidFill>
            <a:prstDash val="solid"/>
          </a:ln>
        </p:spPr>
      </p:sp>
      <p:sp>
        <p:nvSpPr>
          <p:cNvPr id="36" name="Text 29"/>
          <p:cNvSpPr txBox="1"/>
          <p:nvPr/>
        </p:nvSpPr>
        <p:spPr>
          <a:xfrm>
            <a:off x="781812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7" name="answer 436 ✓"/>
          <p:cNvSpPr/>
          <p:nvPr/>
        </p:nvSpPr>
        <p:spPr>
          <a:xfrm>
            <a:off x="9829800" y="4983480"/>
            <a:ext cx="1554480" cy="548640"/>
          </a:xfrm>
          <a:prstGeom prst="roundRect">
            <a:avLst>
              <a:gd name="adj" fmla="val 16667"/>
            </a:avLst>
          </a:prstGeom>
          <a:solidFill>
            <a:srgbClr val="E2F0D9"/>
          </a:solidFill>
          <a:ln w="12700">
            <a:solidFill>
              <a:srgbClr val="70AD47"/>
            </a:solidFill>
            <a:prstDash val="solid"/>
          </a:ln>
        </p:spPr>
      </p:sp>
      <p:sp>
        <p:nvSpPr>
          <p:cNvPr id="38" name="Text 31"/>
          <p:cNvSpPr txBox="1"/>
          <p:nvPr/>
        </p:nvSpPr>
        <p:spPr>
          <a:xfrm>
            <a:off x="9829800" y="498348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436 ✓</a:t>
            </a:r>
            <a:endParaRPr lang="en-US" sz="2200" dirty="0"/>
          </a:p>
        </p:txBody>
      </p:sp>
      <p:sp>
        <p:nvSpPr>
          <p:cNvPr id="39"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Programs get the arithmetic right, but they can be silently wrong, and thinking is expensive</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The problems we study, and how hard they are</a:t>
            </a:r>
            <a:endParaRPr lang="en-US" sz="3600" dirty="0"/>
          </a:p>
        </p:txBody>
      </p:sp>
      <p:sp>
        <p:nvSpPr>
          <p:cNvPr id="3" name="kind Geometry"/>
          <p:cNvSpPr/>
          <p:nvPr/>
        </p:nvSpPr>
        <p:spPr>
          <a:xfrm>
            <a:off x="548640" y="1188720"/>
            <a:ext cx="2103120" cy="2148840"/>
          </a:xfrm>
          <a:prstGeom prst="roundRect">
            <a:avLst>
              <a:gd name="adj" fmla="val 3478"/>
            </a:avLst>
          </a:prstGeom>
          <a:solidFill>
            <a:srgbClr val="F7F7F7"/>
          </a:solidFill>
          <a:ln w="9525">
            <a:solidFill>
              <a:srgbClr val="D9D9D9"/>
            </a:solidFill>
            <a:prstDash val="solid"/>
          </a:ln>
        </p:spPr>
      </p:sp>
      <p:pic>
        <p:nvPicPr>
          <p:cNvPr id="4" name="icon shapes" descr="/NAS/SJ/POSTECH/nlp/figs/icons/shapes.png">    </p:cNvPr>
          <p:cNvPicPr>
            <a:picLocks noChangeAspect="1"/>
          </p:cNvPicPr>
          <p:nvPr/>
        </p:nvPicPr>
        <p:blipFill>
          <a:blip r:embed="rId1"/>
          <a:stretch>
            <a:fillRect/>
          </a:stretch>
        </p:blipFill>
        <p:spPr>
          <a:xfrm>
            <a:off x="685800" y="1298448"/>
            <a:ext cx="438912" cy="438912"/>
          </a:xfrm>
          <a:prstGeom prst="rect">
            <a:avLst/>
          </a:prstGeom>
        </p:spPr>
      </p:pic>
      <p:sp>
        <p:nvSpPr>
          <p:cNvPr id="5" name="Text 2"/>
          <p:cNvSpPr txBox="1"/>
          <p:nvPr/>
        </p:nvSpPr>
        <p:spPr>
          <a:xfrm>
            <a:off x="118872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Geometry</a:t>
            </a:r>
            <a:endParaRPr lang="en-US" sz="1500" dirty="0"/>
          </a:p>
        </p:txBody>
      </p:sp>
      <p:sp>
        <p:nvSpPr>
          <p:cNvPr id="6" name="Text 3"/>
          <p:cNvSpPr txBox="1"/>
          <p:nvPr/>
        </p:nvSpPr>
        <p:spPr>
          <a:xfrm>
            <a:off x="68580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How many corners does the rubber band around 10 points have?</a:t>
            </a:r>
            <a:endParaRPr lang="en-US" sz="1300" dirty="0"/>
          </a:p>
        </p:txBody>
      </p:sp>
      <p:sp>
        <p:nvSpPr>
          <p:cNvPr id="7" name="tag Geometry"/>
          <p:cNvSpPr/>
          <p:nvPr/>
        </p:nvSpPr>
        <p:spPr>
          <a:xfrm>
            <a:off x="640080" y="2697480"/>
            <a:ext cx="1920240" cy="548640"/>
          </a:xfrm>
          <a:prstGeom prst="roundRect">
            <a:avLst>
              <a:gd name="adj" fmla="val 16667"/>
            </a:avLst>
          </a:prstGeom>
          <a:solidFill>
            <a:srgbClr val="FFFFFF"/>
          </a:solidFill>
          <a:ln w="12700">
            <a:solidFill>
              <a:srgbClr val="4472C4"/>
            </a:solidFill>
            <a:prstDash val="solid"/>
          </a:ln>
        </p:spPr>
      </p:sp>
      <p:sp>
        <p:nvSpPr>
          <p:cNvPr id="8" name="Text 5"/>
          <p:cNvSpPr txBox="1"/>
          <p:nvPr/>
        </p:nvSpPr>
        <p:spPr>
          <a:xfrm>
            <a:off x="685800" y="2697480"/>
            <a:ext cx="1828800" cy="548640"/>
          </a:xfrm>
          <a:prstGeom prst="rect">
            <a:avLst/>
          </a:prstGeom>
          <a:noFill/>
          <a:ln/>
        </p:spPr>
        <p:txBody>
          <a:bodyPr wrap="square" lIns="0" tIns="0" rIns="0" bIns="0" rtlCol="0" anchor="ctr"/>
          <a:lstStyle/>
          <a:p>
            <a:pPr algn="ctr" indent="0" marL="0">
              <a:buNone/>
            </a:pPr>
            <a:r>
              <a:rPr lang="en-US" sz="1250" b="1" dirty="0">
                <a:solidFill>
                  <a:srgbClr val="4472C4"/>
                </a:solidFill>
              </a:rPr>
              <a:t>textbook algorithms, exact on every copy</a:t>
            </a:r>
            <a:endParaRPr lang="en-US" sz="1250" dirty="0"/>
          </a:p>
        </p:txBody>
      </p:sp>
      <p:sp>
        <p:nvSpPr>
          <p:cNvPr id="9" name="kind Contest problems"/>
          <p:cNvSpPr/>
          <p:nvPr/>
        </p:nvSpPr>
        <p:spPr>
          <a:xfrm>
            <a:off x="2788920" y="1188720"/>
            <a:ext cx="2103120" cy="2148840"/>
          </a:xfrm>
          <a:prstGeom prst="roundRect">
            <a:avLst>
              <a:gd name="adj" fmla="val 3478"/>
            </a:avLst>
          </a:prstGeom>
          <a:solidFill>
            <a:srgbClr val="F7F7F7"/>
          </a:solidFill>
          <a:ln w="9525">
            <a:solidFill>
              <a:srgbClr val="D9D9D9"/>
            </a:solidFill>
            <a:prstDash val="solid"/>
          </a:ln>
        </p:spPr>
      </p:sp>
      <p:pic>
        <p:nvPicPr>
          <p:cNvPr id="10" name="icon trophy" descr="/NAS/SJ/POSTECH/nlp/figs/icons/trophy.png">    </p:cNvPr>
          <p:cNvPicPr>
            <a:picLocks noChangeAspect="1"/>
          </p:cNvPicPr>
          <p:nvPr/>
        </p:nvPicPr>
        <p:blipFill>
          <a:blip r:embed="rId2"/>
          <a:stretch>
            <a:fillRect/>
          </a:stretch>
        </p:blipFill>
        <p:spPr>
          <a:xfrm>
            <a:off x="2926080" y="1298448"/>
            <a:ext cx="438912" cy="438912"/>
          </a:xfrm>
          <a:prstGeom prst="rect">
            <a:avLst/>
          </a:prstGeom>
        </p:spPr>
      </p:pic>
      <p:sp>
        <p:nvSpPr>
          <p:cNvPr id="11" name="Text 7"/>
          <p:cNvSpPr txBox="1"/>
          <p:nvPr/>
        </p:nvSpPr>
        <p:spPr>
          <a:xfrm>
            <a:off x="342900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Contest problems</a:t>
            </a:r>
            <a:endParaRPr lang="en-US" sz="1500" dirty="0"/>
          </a:p>
        </p:txBody>
      </p:sp>
      <p:sp>
        <p:nvSpPr>
          <p:cNvPr id="12" name="Text 8"/>
          <p:cNvSpPr txBox="1"/>
          <p:nvPr/>
        </p:nvSpPr>
        <p:spPr>
          <a:xfrm>
            <a:off x="292608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311 Codeforces geometry problems, hidden tests</a:t>
            </a:r>
            <a:endParaRPr lang="en-US" sz="1300" dirty="0"/>
          </a:p>
        </p:txBody>
      </p:sp>
      <p:sp>
        <p:nvSpPr>
          <p:cNvPr id="13" name="tag Contest problems"/>
          <p:cNvSpPr/>
          <p:nvPr/>
        </p:nvSpPr>
        <p:spPr>
          <a:xfrm>
            <a:off x="2880360" y="2697480"/>
            <a:ext cx="1920240" cy="548640"/>
          </a:xfrm>
          <a:prstGeom prst="roundRect">
            <a:avLst>
              <a:gd name="adj" fmla="val 16667"/>
            </a:avLst>
          </a:prstGeom>
          <a:solidFill>
            <a:srgbClr val="FFFFFF"/>
          </a:solidFill>
          <a:ln w="12700">
            <a:solidFill>
              <a:srgbClr val="C00000"/>
            </a:solidFill>
            <a:prstDash val="solid"/>
          </a:ln>
        </p:spPr>
      </p:sp>
      <p:sp>
        <p:nvSpPr>
          <p:cNvPr id="14" name="Text 10"/>
          <p:cNvSpPr txBox="1"/>
          <p:nvPr/>
        </p:nvSpPr>
        <p:spPr>
          <a:xfrm>
            <a:off x="2926080" y="2697480"/>
            <a:ext cx="1828800" cy="548640"/>
          </a:xfrm>
          <a:prstGeom prst="rect">
            <a:avLst/>
          </a:prstGeom>
          <a:noFill/>
          <a:ln/>
        </p:spPr>
        <p:txBody>
          <a:bodyPr wrap="square" lIns="0" tIns="0" rIns="0" bIns="0" rtlCol="0" anchor="ctr"/>
          <a:lstStyle/>
          <a:p>
            <a:pPr algn="ctr" indent="0" marL="0">
              <a:buNone/>
            </a:pPr>
            <a:r>
              <a:rPr lang="en-US" sz="1250" b="1" dirty="0">
                <a:solidFill>
                  <a:srgbClr val="C00000"/>
                </a:solidFill>
              </a:rPr>
              <a:t>Codeforces Master to Grandmaster level</a:t>
            </a:r>
            <a:endParaRPr lang="en-US" sz="1250" dirty="0"/>
          </a:p>
        </p:txBody>
      </p:sp>
      <p:sp>
        <p:nvSpPr>
          <p:cNvPr id="15" name="kind Routing, scheduling"/>
          <p:cNvSpPr/>
          <p:nvPr/>
        </p:nvSpPr>
        <p:spPr>
          <a:xfrm>
            <a:off x="5029200" y="1188720"/>
            <a:ext cx="2103120" cy="2148840"/>
          </a:xfrm>
          <a:prstGeom prst="roundRect">
            <a:avLst>
              <a:gd name="adj" fmla="val 3478"/>
            </a:avLst>
          </a:prstGeom>
          <a:solidFill>
            <a:srgbClr val="F7F7F7"/>
          </a:solidFill>
          <a:ln w="9525">
            <a:solidFill>
              <a:srgbClr val="D9D9D9"/>
            </a:solidFill>
            <a:prstDash val="solid"/>
          </a:ln>
        </p:spPr>
      </p:sp>
      <p:pic>
        <p:nvPicPr>
          <p:cNvPr id="16" name="icon truck" descr="/NAS/SJ/POSTECH/nlp/figs/icons/truck.png">    </p:cNvPr>
          <p:cNvPicPr>
            <a:picLocks noChangeAspect="1"/>
          </p:cNvPicPr>
          <p:nvPr/>
        </p:nvPicPr>
        <p:blipFill>
          <a:blip r:embed="rId3"/>
          <a:stretch>
            <a:fillRect/>
          </a:stretch>
        </p:blipFill>
        <p:spPr>
          <a:xfrm>
            <a:off x="5166360" y="1298448"/>
            <a:ext cx="438912" cy="438912"/>
          </a:xfrm>
          <a:prstGeom prst="rect">
            <a:avLst/>
          </a:prstGeom>
        </p:spPr>
      </p:pic>
      <p:sp>
        <p:nvSpPr>
          <p:cNvPr id="17" name="Text 12"/>
          <p:cNvSpPr txBox="1"/>
          <p:nvPr/>
        </p:nvSpPr>
        <p:spPr>
          <a:xfrm>
            <a:off x="566928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Routing, scheduling</a:t>
            </a:r>
            <a:endParaRPr lang="en-US" sz="1500" dirty="0"/>
          </a:p>
        </p:txBody>
      </p:sp>
      <p:sp>
        <p:nvSpPr>
          <p:cNvPr id="18" name="Text 13"/>
          <p:cNvSpPr txBox="1"/>
          <p:nvPr/>
        </p:nvSpPr>
        <p:spPr>
          <a:xfrm>
            <a:off x="516636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routes for 100 customers with time windows</a:t>
            </a:r>
            <a:endParaRPr lang="en-US" sz="1300" dirty="0"/>
          </a:p>
        </p:txBody>
      </p:sp>
      <p:sp>
        <p:nvSpPr>
          <p:cNvPr id="19" name="tag Routing, scheduling"/>
          <p:cNvSpPr/>
          <p:nvPr/>
        </p:nvSpPr>
        <p:spPr>
          <a:xfrm>
            <a:off x="5120640" y="2697480"/>
            <a:ext cx="1920240" cy="548640"/>
          </a:xfrm>
          <a:prstGeom prst="roundRect">
            <a:avLst>
              <a:gd name="adj" fmla="val 16667"/>
            </a:avLst>
          </a:prstGeom>
          <a:solidFill>
            <a:srgbClr val="FFFFFF"/>
          </a:solidFill>
          <a:ln w="12700">
            <a:solidFill>
              <a:srgbClr val="ED7D31"/>
            </a:solidFill>
            <a:prstDash val="solid"/>
          </a:ln>
        </p:spPr>
      </p:sp>
      <p:sp>
        <p:nvSpPr>
          <p:cNvPr id="20" name="Text 15"/>
          <p:cNvSpPr txBox="1"/>
          <p:nvPr/>
        </p:nvSpPr>
        <p:spPr>
          <a:xfrm>
            <a:off x="5166360" y="2697480"/>
            <a:ext cx="1828800" cy="548640"/>
          </a:xfrm>
          <a:prstGeom prst="rect">
            <a:avLst/>
          </a:prstGeom>
          <a:noFill/>
          <a:ln/>
        </p:spPr>
        <p:txBody>
          <a:bodyPr wrap="square" lIns="0" tIns="0" rIns="0" bIns="0" rtlCol="0" anchor="ctr"/>
          <a:lstStyle/>
          <a:p>
            <a:pPr algn="ctr" indent="0" marL="0">
              <a:buNone/>
            </a:pPr>
            <a:r>
              <a:rPr lang="en-US" sz="1250" b="1" dirty="0">
                <a:solidFill>
                  <a:srgbClr val="ED7D31"/>
                </a:solidFill>
              </a:rPr>
              <a:t>classic OR benchmark: a greedy plan is 48% worse</a:t>
            </a:r>
            <a:endParaRPr lang="en-US" sz="1250" dirty="0"/>
          </a:p>
        </p:txBody>
      </p:sp>
      <p:sp>
        <p:nvSpPr>
          <p:cNvPr id="21" name="kind Word problems"/>
          <p:cNvSpPr/>
          <p:nvPr/>
        </p:nvSpPr>
        <p:spPr>
          <a:xfrm>
            <a:off x="7269480" y="1188720"/>
            <a:ext cx="2103120" cy="2148840"/>
          </a:xfrm>
          <a:prstGeom prst="roundRect">
            <a:avLst>
              <a:gd name="adj" fmla="val 3478"/>
            </a:avLst>
          </a:prstGeom>
          <a:solidFill>
            <a:srgbClr val="F7F7F7"/>
          </a:solidFill>
          <a:ln w="9525">
            <a:solidFill>
              <a:srgbClr val="D9D9D9"/>
            </a:solidFill>
            <a:prstDash val="solid"/>
          </a:ln>
        </p:spPr>
      </p:sp>
      <p:pic>
        <p:nvPicPr>
          <p:cNvPr id="22" name="icon calc" descr="/NAS/SJ/POSTECH/nlp/figs/icons/calc.png">    </p:cNvPr>
          <p:cNvPicPr>
            <a:picLocks noChangeAspect="1"/>
          </p:cNvPicPr>
          <p:nvPr/>
        </p:nvPicPr>
        <p:blipFill>
          <a:blip r:embed="rId4"/>
          <a:stretch>
            <a:fillRect/>
          </a:stretch>
        </p:blipFill>
        <p:spPr>
          <a:xfrm>
            <a:off x="7406640" y="1298448"/>
            <a:ext cx="438912" cy="438912"/>
          </a:xfrm>
          <a:prstGeom prst="rect">
            <a:avLst/>
          </a:prstGeom>
        </p:spPr>
      </p:pic>
      <p:sp>
        <p:nvSpPr>
          <p:cNvPr id="23" name="Text 17"/>
          <p:cNvSpPr txBox="1"/>
          <p:nvPr/>
        </p:nvSpPr>
        <p:spPr>
          <a:xfrm>
            <a:off x="790956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Word problems</a:t>
            </a:r>
            <a:endParaRPr lang="en-US" sz="1500" dirty="0"/>
          </a:p>
        </p:txBody>
      </p:sp>
      <p:sp>
        <p:nvSpPr>
          <p:cNvPr id="24" name="Text 18"/>
          <p:cNvSpPr txBox="1"/>
          <p:nvPr/>
        </p:nvSpPr>
        <p:spPr>
          <a:xfrm>
            <a:off x="740664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most coins from 500 gold and 300 wires?</a:t>
            </a:r>
            <a:endParaRPr lang="en-US" sz="1300" dirty="0"/>
          </a:p>
        </p:txBody>
      </p:sp>
      <p:sp>
        <p:nvSpPr>
          <p:cNvPr id="25" name="tag Word problems"/>
          <p:cNvSpPr/>
          <p:nvPr/>
        </p:nvSpPr>
        <p:spPr>
          <a:xfrm>
            <a:off x="7360920" y="2697480"/>
            <a:ext cx="1920240" cy="548640"/>
          </a:xfrm>
          <a:prstGeom prst="roundRect">
            <a:avLst>
              <a:gd name="adj" fmla="val 16667"/>
            </a:avLst>
          </a:prstGeom>
          <a:solidFill>
            <a:srgbClr val="FFFFFF"/>
          </a:solidFill>
          <a:ln w="12700">
            <a:solidFill>
              <a:srgbClr val="38761D"/>
            </a:solidFill>
            <a:prstDash val="solid"/>
          </a:ln>
        </p:spPr>
      </p:sp>
      <p:sp>
        <p:nvSpPr>
          <p:cNvPr id="26" name="Text 20"/>
          <p:cNvSpPr txBox="1"/>
          <p:nvPr/>
        </p:nvSpPr>
        <p:spPr>
          <a:xfrm>
            <a:off x="7406640" y="2697480"/>
            <a:ext cx="1828800" cy="548640"/>
          </a:xfrm>
          <a:prstGeom prst="rect">
            <a:avLst/>
          </a:prstGeom>
          <a:noFill/>
          <a:ln/>
        </p:spPr>
        <p:txBody>
          <a:bodyPr wrap="square" lIns="0" tIns="0" rIns="0" bIns="0" rtlCol="0" anchor="ctr"/>
          <a:lstStyle/>
          <a:p>
            <a:pPr algn="ctr" indent="0" marL="0">
              <a:buNone/>
            </a:pPr>
            <a:r>
              <a:rPr lang="en-US" sz="1250" b="1" dirty="0">
                <a:solidFill>
                  <a:srgbClr val="38761D"/>
                </a:solidFill>
              </a:rPr>
              <a:t>OR-course exercises (NL4OPT, NeurIPS 2022)</a:t>
            </a:r>
            <a:endParaRPr lang="en-US" sz="1250" dirty="0"/>
          </a:p>
        </p:txBody>
      </p:sp>
      <p:sp>
        <p:nvSpPr>
          <p:cNvPr id="27" name="kind Math and proofs"/>
          <p:cNvSpPr/>
          <p:nvPr/>
        </p:nvSpPr>
        <p:spPr>
          <a:xfrm>
            <a:off x="9509760" y="1188720"/>
            <a:ext cx="2103120" cy="2148840"/>
          </a:xfrm>
          <a:prstGeom prst="roundRect">
            <a:avLst>
              <a:gd name="adj" fmla="val 3478"/>
            </a:avLst>
          </a:prstGeom>
          <a:solidFill>
            <a:srgbClr val="F7F7F7"/>
          </a:solidFill>
          <a:ln w="9525">
            <a:solidFill>
              <a:srgbClr val="D9D9D9"/>
            </a:solidFill>
            <a:prstDash val="solid"/>
          </a:ln>
        </p:spPr>
      </p:sp>
      <p:pic>
        <p:nvPicPr>
          <p:cNvPr id="28" name="icon sqrt" descr="/NAS/SJ/POSTECH/nlp/figs/icons/sqrt.png">    </p:cNvPr>
          <p:cNvPicPr>
            <a:picLocks noChangeAspect="1"/>
          </p:cNvPicPr>
          <p:nvPr/>
        </p:nvPicPr>
        <p:blipFill>
          <a:blip r:embed="rId5"/>
          <a:stretch>
            <a:fillRect/>
          </a:stretch>
        </p:blipFill>
        <p:spPr>
          <a:xfrm>
            <a:off x="9646920" y="1298448"/>
            <a:ext cx="438912" cy="438912"/>
          </a:xfrm>
          <a:prstGeom prst="rect">
            <a:avLst/>
          </a:prstGeom>
        </p:spPr>
      </p:pic>
      <p:sp>
        <p:nvSpPr>
          <p:cNvPr id="29" name="Text 22"/>
          <p:cNvSpPr txBox="1"/>
          <p:nvPr/>
        </p:nvSpPr>
        <p:spPr>
          <a:xfrm>
            <a:off x="10149840" y="1280160"/>
            <a:ext cx="1417320" cy="502920"/>
          </a:xfrm>
          <a:prstGeom prst="rect">
            <a:avLst/>
          </a:prstGeom>
          <a:noFill/>
          <a:ln/>
        </p:spPr>
        <p:txBody>
          <a:bodyPr wrap="square" lIns="0" tIns="0" rIns="0" bIns="0" rtlCol="0" anchor="ctr"/>
          <a:lstStyle/>
          <a:p>
            <a:pPr indent="0" marL="0">
              <a:buNone/>
            </a:pPr>
            <a:r>
              <a:rPr lang="en-US" sz="1500" b="1" dirty="0">
                <a:solidFill>
                  <a:schemeClr val="tx1"/>
                </a:solidFill>
              </a:rPr>
              <a:t>Math and proofs</a:t>
            </a:r>
            <a:endParaRPr lang="en-US" sz="1500" dirty="0"/>
          </a:p>
        </p:txBody>
      </p:sp>
      <p:sp>
        <p:nvSpPr>
          <p:cNvPr id="30" name="Text 23"/>
          <p:cNvSpPr txBox="1"/>
          <p:nvPr/>
        </p:nvSpPr>
        <p:spPr>
          <a:xfrm>
            <a:off x="9646920" y="1828800"/>
            <a:ext cx="1828800" cy="822960"/>
          </a:xfrm>
          <a:prstGeom prst="rect">
            <a:avLst/>
          </a:prstGeom>
          <a:noFill/>
          <a:ln/>
        </p:spPr>
        <p:txBody>
          <a:bodyPr wrap="square" lIns="0" tIns="0" rIns="0" bIns="0" rtlCol="0" anchor="t"/>
          <a:lstStyle/>
          <a:p>
            <a:pPr indent="0" marL="0">
              <a:buNone/>
            </a:pPr>
            <a:r>
              <a:rPr lang="en-US" sz="1300" dirty="0">
                <a:solidFill>
                  <a:schemeClr val="tx1"/>
                </a:solidFill>
              </a:rPr>
              <a:t>AIME answers; Lean proofs of olympiad statements</a:t>
            </a:r>
            <a:endParaRPr lang="en-US" sz="1300" dirty="0"/>
          </a:p>
        </p:txBody>
      </p:sp>
      <p:sp>
        <p:nvSpPr>
          <p:cNvPr id="31" name="tag Math and proofs"/>
          <p:cNvSpPr/>
          <p:nvPr/>
        </p:nvSpPr>
        <p:spPr>
          <a:xfrm>
            <a:off x="9601200" y="2697480"/>
            <a:ext cx="1920240" cy="548640"/>
          </a:xfrm>
          <a:prstGeom prst="roundRect">
            <a:avLst>
              <a:gd name="adj" fmla="val 16667"/>
            </a:avLst>
          </a:prstGeom>
          <a:solidFill>
            <a:srgbClr val="FFFFFF"/>
          </a:solidFill>
          <a:ln w="12700">
            <a:solidFill>
              <a:srgbClr val="595959"/>
            </a:solidFill>
            <a:prstDash val="solid"/>
          </a:ln>
        </p:spPr>
      </p:sp>
      <p:sp>
        <p:nvSpPr>
          <p:cNvPr id="32" name="Text 25"/>
          <p:cNvSpPr txBox="1"/>
          <p:nvPr/>
        </p:nvSpPr>
        <p:spPr>
          <a:xfrm>
            <a:off x="9646920" y="2697480"/>
            <a:ext cx="1828800" cy="548640"/>
          </a:xfrm>
          <a:prstGeom prst="rect">
            <a:avLst/>
          </a:prstGeom>
          <a:noFill/>
          <a:ln/>
        </p:spPr>
        <p:txBody>
          <a:bodyPr wrap="square" lIns="0" tIns="0" rIns="0" bIns="0" rtlCol="0" anchor="ctr"/>
          <a:lstStyle/>
          <a:p>
            <a:pPr algn="ctr" indent="0" marL="0">
              <a:buNone/>
            </a:pPr>
            <a:r>
              <a:rPr lang="en-US" sz="1250" b="1" dirty="0">
                <a:solidFill>
                  <a:srgbClr val="595959"/>
                </a:solidFill>
              </a:rPr>
              <a:t>AIME: top ~5% of AMC; IMO gold: 25.9/30</a:t>
            </a:r>
            <a:endParaRPr lang="en-US" sz="1250" dirty="0"/>
          </a:p>
        </p:txBody>
      </p:sp>
      <p:sp>
        <p:nvSpPr>
          <p:cNvPr id="33" name="Text 26"/>
          <p:cNvSpPr txBox="1"/>
          <p:nvPr/>
        </p:nvSpPr>
        <p:spPr>
          <a:xfrm>
            <a:off x="548640" y="3474720"/>
            <a:ext cx="11064240" cy="365760"/>
          </a:xfrm>
          <a:prstGeom prst="rect">
            <a:avLst/>
          </a:prstGeom>
          <a:noFill/>
          <a:ln/>
        </p:spPr>
        <p:txBody>
          <a:bodyPr wrap="square" lIns="0" tIns="0" rIns="0" bIns="0" rtlCol="0" anchor="ctr"/>
          <a:lstStyle/>
          <a:p>
            <a:pPr indent="0" marL="0">
              <a:buNone/>
            </a:pPr>
            <a:r>
              <a:rPr lang="en-US" sz="1500" b="1" dirty="0">
                <a:solidFill>
                  <a:schemeClr val="tx1"/>
                </a:solidFill>
              </a:rPr>
              <a:t>Our 311 contest problems by Codeforces rating, with the human rank at that level</a:t>
            </a:r>
            <a:endParaRPr lang="en-US" sz="1500" dirty="0"/>
          </a:p>
        </p:txBody>
      </p:sp>
      <p:sp>
        <p:nvSpPr>
          <p:cNvPr id="34" name="zone Newbie"/>
          <p:cNvSpPr/>
          <p:nvPr/>
        </p:nvSpPr>
        <p:spPr>
          <a:xfrm>
            <a:off x="914400" y="4983480"/>
            <a:ext cx="1489166" cy="347472"/>
          </a:xfrm>
          <a:prstGeom prst="rect">
            <a:avLst/>
          </a:prstGeom>
          <a:solidFill>
            <a:srgbClr val="E2F0D9"/>
          </a:solidFill>
          <a:ln w="12700">
            <a:solidFill>
              <a:srgbClr val="FFFFFF"/>
            </a:solidFill>
            <a:prstDash val="solid"/>
          </a:ln>
        </p:spPr>
      </p:sp>
      <p:sp>
        <p:nvSpPr>
          <p:cNvPr id="35" name="Text 28"/>
          <p:cNvSpPr txBox="1"/>
          <p:nvPr/>
        </p:nvSpPr>
        <p:spPr>
          <a:xfrm>
            <a:off x="914400"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Newbie</a:t>
            </a:r>
            <a:endParaRPr lang="en-US" sz="1300" dirty="0"/>
          </a:p>
        </p:txBody>
      </p:sp>
      <p:sp>
        <p:nvSpPr>
          <p:cNvPr id="36" name="zone Pupil, Specialist"/>
          <p:cNvSpPr/>
          <p:nvPr/>
        </p:nvSpPr>
        <p:spPr>
          <a:xfrm>
            <a:off x="2403566" y="4983480"/>
            <a:ext cx="1489166" cy="347472"/>
          </a:xfrm>
          <a:prstGeom prst="rect">
            <a:avLst/>
          </a:prstGeom>
          <a:solidFill>
            <a:srgbClr val="FFF2CC"/>
          </a:solidFill>
          <a:ln w="12700">
            <a:solidFill>
              <a:srgbClr val="FFFFFF"/>
            </a:solidFill>
            <a:prstDash val="solid"/>
          </a:ln>
        </p:spPr>
      </p:sp>
      <p:sp>
        <p:nvSpPr>
          <p:cNvPr id="37" name="Text 30"/>
          <p:cNvSpPr txBox="1"/>
          <p:nvPr/>
        </p:nvSpPr>
        <p:spPr>
          <a:xfrm>
            <a:off x="2403566" y="4983480"/>
            <a:ext cx="1489166" cy="347472"/>
          </a:xfrm>
          <a:prstGeom prst="rect">
            <a:avLst/>
          </a:prstGeom>
          <a:noFill/>
          <a:ln/>
        </p:spPr>
        <p:txBody>
          <a:bodyPr wrap="square" lIns="0" tIns="0" rIns="0" bIns="0" rtlCol="0" anchor="ctr"/>
          <a:lstStyle/>
          <a:p>
            <a:pPr algn="ctr" indent="0" marL="0">
              <a:buNone/>
            </a:pPr>
            <a:r>
              <a:rPr lang="en-US" sz="1300" b="1" dirty="0">
                <a:solidFill>
                  <a:schemeClr val="tx1"/>
                </a:solidFill>
              </a:rPr>
              <a:t>Pupil, Specialist</a:t>
            </a:r>
            <a:endParaRPr lang="en-US" sz="1300" dirty="0"/>
          </a:p>
        </p:txBody>
      </p:sp>
      <p:sp>
        <p:nvSpPr>
          <p:cNvPr id="38" name="zone Expert, Cand. Master"/>
          <p:cNvSpPr/>
          <p:nvPr/>
        </p:nvSpPr>
        <p:spPr>
          <a:xfrm>
            <a:off x="3892731" y="4983480"/>
            <a:ext cx="1861457" cy="347472"/>
          </a:xfrm>
          <a:prstGeom prst="rect">
            <a:avLst/>
          </a:prstGeom>
          <a:solidFill>
            <a:srgbClr val="FCE4D6"/>
          </a:solidFill>
          <a:ln w="12700">
            <a:solidFill>
              <a:srgbClr val="FFFFFF"/>
            </a:solidFill>
            <a:prstDash val="solid"/>
          </a:ln>
        </p:spPr>
      </p:sp>
      <p:sp>
        <p:nvSpPr>
          <p:cNvPr id="39" name="Text 32"/>
          <p:cNvSpPr txBox="1"/>
          <p:nvPr/>
        </p:nvSpPr>
        <p:spPr>
          <a:xfrm>
            <a:off x="3892731" y="4983480"/>
            <a:ext cx="1861457" cy="347472"/>
          </a:xfrm>
          <a:prstGeom prst="rect">
            <a:avLst/>
          </a:prstGeom>
          <a:noFill/>
          <a:ln/>
        </p:spPr>
        <p:txBody>
          <a:bodyPr wrap="square" lIns="0" tIns="0" rIns="0" bIns="0" rtlCol="0" anchor="ctr"/>
          <a:lstStyle/>
          <a:p>
            <a:pPr algn="ctr" indent="0" marL="0">
              <a:buNone/>
            </a:pPr>
            <a:r>
              <a:rPr lang="en-US" sz="1300" b="1" dirty="0">
                <a:solidFill>
                  <a:schemeClr val="tx1"/>
                </a:solidFill>
              </a:rPr>
              <a:t>Expert, Cand. Master</a:t>
            </a:r>
            <a:endParaRPr lang="en-US" sz="1300" dirty="0"/>
          </a:p>
        </p:txBody>
      </p:sp>
      <p:sp>
        <p:nvSpPr>
          <p:cNvPr id="40" name="zone Master, Int. Master"/>
          <p:cNvSpPr/>
          <p:nvPr/>
        </p:nvSpPr>
        <p:spPr>
          <a:xfrm>
            <a:off x="5754189" y="4983480"/>
            <a:ext cx="1116874" cy="347472"/>
          </a:xfrm>
          <a:prstGeom prst="rect">
            <a:avLst/>
          </a:prstGeom>
          <a:solidFill>
            <a:srgbClr val="F8CBAD"/>
          </a:solidFill>
          <a:ln w="12700">
            <a:solidFill>
              <a:srgbClr val="FFFFFF"/>
            </a:solidFill>
            <a:prstDash val="solid"/>
          </a:ln>
        </p:spPr>
      </p:sp>
      <p:sp>
        <p:nvSpPr>
          <p:cNvPr id="41" name="Text 34"/>
          <p:cNvSpPr txBox="1"/>
          <p:nvPr/>
        </p:nvSpPr>
        <p:spPr>
          <a:xfrm>
            <a:off x="5754189" y="4983480"/>
            <a:ext cx="1116874" cy="347472"/>
          </a:xfrm>
          <a:prstGeom prst="rect">
            <a:avLst/>
          </a:prstGeom>
          <a:noFill/>
          <a:ln/>
        </p:spPr>
        <p:txBody>
          <a:bodyPr wrap="square" lIns="0" tIns="0" rIns="0" bIns="0" rtlCol="0" anchor="ctr"/>
          <a:lstStyle/>
          <a:p>
            <a:pPr algn="ctr" indent="0" marL="0">
              <a:buNone/>
            </a:pPr>
            <a:r>
              <a:rPr lang="en-US" sz="1300" b="1" dirty="0">
                <a:solidFill>
                  <a:schemeClr val="tx1"/>
                </a:solidFill>
              </a:rPr>
              <a:t>Master, Int. Master</a:t>
            </a:r>
            <a:endParaRPr lang="en-US" sz="1300" dirty="0"/>
          </a:p>
        </p:txBody>
      </p:sp>
      <p:sp>
        <p:nvSpPr>
          <p:cNvPr id="42" name="zone Grandmaster and above"/>
          <p:cNvSpPr/>
          <p:nvPr/>
        </p:nvSpPr>
        <p:spPr>
          <a:xfrm>
            <a:off x="6871063" y="4983480"/>
            <a:ext cx="4467497" cy="347472"/>
          </a:xfrm>
          <a:prstGeom prst="rect">
            <a:avLst/>
          </a:prstGeom>
          <a:solidFill>
            <a:srgbClr val="FADBD8"/>
          </a:solidFill>
          <a:ln w="12700">
            <a:solidFill>
              <a:srgbClr val="FFFFFF"/>
            </a:solidFill>
            <a:prstDash val="solid"/>
          </a:ln>
        </p:spPr>
      </p:sp>
      <p:sp>
        <p:nvSpPr>
          <p:cNvPr id="43" name="Text 36"/>
          <p:cNvSpPr txBox="1"/>
          <p:nvPr/>
        </p:nvSpPr>
        <p:spPr>
          <a:xfrm>
            <a:off x="6871063" y="4983480"/>
            <a:ext cx="4467497" cy="347472"/>
          </a:xfrm>
          <a:prstGeom prst="rect">
            <a:avLst/>
          </a:prstGeom>
          <a:noFill/>
          <a:ln/>
        </p:spPr>
        <p:txBody>
          <a:bodyPr wrap="square" lIns="0" tIns="0" rIns="0" bIns="0" rtlCol="0" anchor="ctr"/>
          <a:lstStyle/>
          <a:p>
            <a:pPr algn="ctr" indent="0" marL="0">
              <a:buNone/>
            </a:pPr>
            <a:r>
              <a:rPr lang="en-US" sz="1300" b="1" dirty="0">
                <a:solidFill>
                  <a:schemeClr val="tx1"/>
                </a:solidFill>
              </a:rPr>
              <a:t>Grandmaster and above</a:t>
            </a:r>
            <a:endParaRPr lang="en-US" sz="1300" dirty="0"/>
          </a:p>
        </p:txBody>
      </p:sp>
      <p:sp>
        <p:nvSpPr>
          <p:cNvPr id="44" name="rating 800"/>
          <p:cNvSpPr/>
          <p:nvPr/>
        </p:nvSpPr>
        <p:spPr>
          <a:xfrm>
            <a:off x="987552" y="4688183"/>
            <a:ext cx="1342862" cy="249577"/>
          </a:xfrm>
          <a:prstGeom prst="rect">
            <a:avLst/>
          </a:prstGeom>
          <a:solidFill>
            <a:srgbClr val="7F7F7F"/>
          </a:solidFill>
          <a:ln w="6350">
            <a:solidFill>
              <a:srgbClr val="FFFFFF"/>
            </a:solidFill>
            <a:prstDash val="solid"/>
          </a:ln>
        </p:spPr>
      </p:sp>
      <p:sp>
        <p:nvSpPr>
          <p:cNvPr id="45" name="Text 38"/>
          <p:cNvSpPr txBox="1"/>
          <p:nvPr/>
        </p:nvSpPr>
        <p:spPr>
          <a:xfrm>
            <a:off x="987552" y="441386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29</a:t>
            </a:r>
            <a:endParaRPr lang="en-US" sz="1300" dirty="0"/>
          </a:p>
        </p:txBody>
      </p:sp>
      <p:sp>
        <p:nvSpPr>
          <p:cNvPr id="46" name="Text 39"/>
          <p:cNvSpPr txBox="1"/>
          <p:nvPr/>
        </p:nvSpPr>
        <p:spPr>
          <a:xfrm>
            <a:off x="64008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800</a:t>
            </a:r>
            <a:endParaRPr lang="en-US" sz="1100" dirty="0"/>
          </a:p>
        </p:txBody>
      </p:sp>
      <p:sp>
        <p:nvSpPr>
          <p:cNvPr id="47" name="rating 1200"/>
          <p:cNvSpPr/>
          <p:nvPr/>
        </p:nvSpPr>
        <p:spPr>
          <a:xfrm>
            <a:off x="2476718" y="4731213"/>
            <a:ext cx="1342862" cy="206547"/>
          </a:xfrm>
          <a:prstGeom prst="rect">
            <a:avLst/>
          </a:prstGeom>
          <a:solidFill>
            <a:srgbClr val="7F7F7F"/>
          </a:solidFill>
          <a:ln w="6350">
            <a:solidFill>
              <a:srgbClr val="FFFFFF"/>
            </a:solidFill>
            <a:prstDash val="solid"/>
          </a:ln>
        </p:spPr>
      </p:sp>
      <p:sp>
        <p:nvSpPr>
          <p:cNvPr id="48" name="Text 41"/>
          <p:cNvSpPr txBox="1"/>
          <p:nvPr/>
        </p:nvSpPr>
        <p:spPr>
          <a:xfrm>
            <a:off x="2476718" y="4456893"/>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24</a:t>
            </a:r>
            <a:endParaRPr lang="en-US" sz="1300" dirty="0"/>
          </a:p>
        </p:txBody>
      </p:sp>
      <p:sp>
        <p:nvSpPr>
          <p:cNvPr id="49" name="Text 42"/>
          <p:cNvSpPr txBox="1"/>
          <p:nvPr/>
        </p:nvSpPr>
        <p:spPr>
          <a:xfrm>
            <a:off x="2129246"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1200</a:t>
            </a:r>
            <a:endParaRPr lang="en-US" sz="1100" dirty="0"/>
          </a:p>
        </p:txBody>
      </p:sp>
      <p:sp>
        <p:nvSpPr>
          <p:cNvPr id="50" name="rating 1600"/>
          <p:cNvSpPr/>
          <p:nvPr/>
        </p:nvSpPr>
        <p:spPr>
          <a:xfrm>
            <a:off x="3965883" y="4429999"/>
            <a:ext cx="1342862" cy="507761"/>
          </a:xfrm>
          <a:prstGeom prst="rect">
            <a:avLst/>
          </a:prstGeom>
          <a:solidFill>
            <a:srgbClr val="7F7F7F"/>
          </a:solidFill>
          <a:ln w="6350">
            <a:solidFill>
              <a:srgbClr val="FFFFFF"/>
            </a:solidFill>
            <a:prstDash val="solid"/>
          </a:ln>
        </p:spPr>
      </p:sp>
      <p:sp>
        <p:nvSpPr>
          <p:cNvPr id="51" name="Text 44"/>
          <p:cNvSpPr txBox="1"/>
          <p:nvPr/>
        </p:nvSpPr>
        <p:spPr>
          <a:xfrm>
            <a:off x="3965883" y="4155679"/>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59</a:t>
            </a:r>
            <a:endParaRPr lang="en-US" sz="1300" dirty="0"/>
          </a:p>
        </p:txBody>
      </p:sp>
      <p:sp>
        <p:nvSpPr>
          <p:cNvPr id="52" name="Text 45"/>
          <p:cNvSpPr txBox="1"/>
          <p:nvPr/>
        </p:nvSpPr>
        <p:spPr>
          <a:xfrm>
            <a:off x="3618411"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1600</a:t>
            </a:r>
            <a:endParaRPr lang="en-US" sz="1100" dirty="0"/>
          </a:p>
        </p:txBody>
      </p:sp>
      <p:sp>
        <p:nvSpPr>
          <p:cNvPr id="53" name="rating 2000"/>
          <p:cNvSpPr/>
          <p:nvPr/>
        </p:nvSpPr>
        <p:spPr>
          <a:xfrm>
            <a:off x="5455049" y="4481636"/>
            <a:ext cx="1342862" cy="456124"/>
          </a:xfrm>
          <a:prstGeom prst="rect">
            <a:avLst/>
          </a:prstGeom>
          <a:solidFill>
            <a:srgbClr val="7F7F7F"/>
          </a:solidFill>
          <a:ln w="6350">
            <a:solidFill>
              <a:srgbClr val="FFFFFF"/>
            </a:solidFill>
            <a:prstDash val="solid"/>
          </a:ln>
        </p:spPr>
      </p:sp>
      <p:sp>
        <p:nvSpPr>
          <p:cNvPr id="54" name="Text 47"/>
          <p:cNvSpPr txBox="1"/>
          <p:nvPr/>
        </p:nvSpPr>
        <p:spPr>
          <a:xfrm>
            <a:off x="5455049" y="4207316"/>
            <a:ext cx="1342862" cy="256032"/>
          </a:xfrm>
          <a:prstGeom prst="rect">
            <a:avLst/>
          </a:prstGeom>
          <a:noFill/>
          <a:ln/>
        </p:spPr>
        <p:txBody>
          <a:bodyPr wrap="square" lIns="0" tIns="0" rIns="0" bIns="0" rtlCol="0" anchor="ctr"/>
          <a:lstStyle/>
          <a:p>
            <a:pPr algn="ctr" indent="0" marL="0">
              <a:buNone/>
            </a:pPr>
            <a:r>
              <a:rPr lang="en-US" sz="1300" b="1" dirty="0">
                <a:solidFill>
                  <a:srgbClr val="404040"/>
                </a:solidFill>
              </a:rPr>
              <a:t>53</a:t>
            </a:r>
            <a:endParaRPr lang="en-US" sz="1300" dirty="0"/>
          </a:p>
        </p:txBody>
      </p:sp>
      <p:sp>
        <p:nvSpPr>
          <p:cNvPr id="55" name="Text 48"/>
          <p:cNvSpPr txBox="1"/>
          <p:nvPr/>
        </p:nvSpPr>
        <p:spPr>
          <a:xfrm>
            <a:off x="5107577"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2000</a:t>
            </a:r>
            <a:endParaRPr lang="en-US" sz="1100" dirty="0"/>
          </a:p>
        </p:txBody>
      </p:sp>
      <p:sp>
        <p:nvSpPr>
          <p:cNvPr id="56" name="rating 2400"/>
          <p:cNvSpPr/>
          <p:nvPr/>
        </p:nvSpPr>
        <p:spPr>
          <a:xfrm>
            <a:off x="6944215" y="4206240"/>
            <a:ext cx="1342862" cy="731520"/>
          </a:xfrm>
          <a:prstGeom prst="rect">
            <a:avLst/>
          </a:prstGeom>
          <a:solidFill>
            <a:srgbClr val="C00000"/>
          </a:solidFill>
          <a:ln w="6350">
            <a:solidFill>
              <a:srgbClr val="FFFFFF"/>
            </a:solidFill>
            <a:prstDash val="solid"/>
          </a:ln>
        </p:spPr>
      </p:sp>
      <p:sp>
        <p:nvSpPr>
          <p:cNvPr id="57" name="Text 50"/>
          <p:cNvSpPr txBox="1"/>
          <p:nvPr/>
        </p:nvSpPr>
        <p:spPr>
          <a:xfrm>
            <a:off x="6944215" y="3931920"/>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85</a:t>
            </a:r>
            <a:endParaRPr lang="en-US" sz="1300" dirty="0"/>
          </a:p>
        </p:txBody>
      </p:sp>
      <p:sp>
        <p:nvSpPr>
          <p:cNvPr id="58" name="Text 51"/>
          <p:cNvSpPr txBox="1"/>
          <p:nvPr/>
        </p:nvSpPr>
        <p:spPr>
          <a:xfrm>
            <a:off x="6596743"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2400</a:t>
            </a:r>
            <a:endParaRPr lang="en-US" sz="1100" dirty="0"/>
          </a:p>
        </p:txBody>
      </p:sp>
      <p:sp>
        <p:nvSpPr>
          <p:cNvPr id="59" name="rating 2800"/>
          <p:cNvSpPr/>
          <p:nvPr/>
        </p:nvSpPr>
        <p:spPr>
          <a:xfrm>
            <a:off x="8433381" y="4593515"/>
            <a:ext cx="1342862" cy="344245"/>
          </a:xfrm>
          <a:prstGeom prst="rect">
            <a:avLst/>
          </a:prstGeom>
          <a:solidFill>
            <a:srgbClr val="C00000"/>
          </a:solidFill>
          <a:ln w="6350">
            <a:solidFill>
              <a:srgbClr val="FFFFFF"/>
            </a:solidFill>
            <a:prstDash val="solid"/>
          </a:ln>
        </p:spPr>
      </p:sp>
      <p:sp>
        <p:nvSpPr>
          <p:cNvPr id="60" name="Text 53"/>
          <p:cNvSpPr txBox="1"/>
          <p:nvPr/>
        </p:nvSpPr>
        <p:spPr>
          <a:xfrm>
            <a:off x="8433381" y="4319195"/>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40</a:t>
            </a:r>
            <a:endParaRPr lang="en-US" sz="1300" dirty="0"/>
          </a:p>
        </p:txBody>
      </p:sp>
      <p:sp>
        <p:nvSpPr>
          <p:cNvPr id="61" name="Text 54"/>
          <p:cNvSpPr txBox="1"/>
          <p:nvPr/>
        </p:nvSpPr>
        <p:spPr>
          <a:xfrm>
            <a:off x="8085909"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2800</a:t>
            </a:r>
            <a:endParaRPr lang="en-US" sz="1100" dirty="0"/>
          </a:p>
        </p:txBody>
      </p:sp>
      <p:sp>
        <p:nvSpPr>
          <p:cNvPr id="62" name="rating 3200"/>
          <p:cNvSpPr/>
          <p:nvPr/>
        </p:nvSpPr>
        <p:spPr>
          <a:xfrm>
            <a:off x="9922546" y="4791456"/>
            <a:ext cx="1342862" cy="146304"/>
          </a:xfrm>
          <a:prstGeom prst="rect">
            <a:avLst/>
          </a:prstGeom>
          <a:solidFill>
            <a:srgbClr val="C00000"/>
          </a:solidFill>
          <a:ln w="6350">
            <a:solidFill>
              <a:srgbClr val="FFFFFF"/>
            </a:solidFill>
            <a:prstDash val="solid"/>
          </a:ln>
        </p:spPr>
      </p:sp>
      <p:sp>
        <p:nvSpPr>
          <p:cNvPr id="63" name="Text 56"/>
          <p:cNvSpPr txBox="1"/>
          <p:nvPr/>
        </p:nvSpPr>
        <p:spPr>
          <a:xfrm>
            <a:off x="9922546" y="4517136"/>
            <a:ext cx="1342862" cy="256032"/>
          </a:xfrm>
          <a:prstGeom prst="rect">
            <a:avLst/>
          </a:prstGeom>
          <a:noFill/>
          <a:ln/>
        </p:spPr>
        <p:txBody>
          <a:bodyPr wrap="square" lIns="0" tIns="0" rIns="0" bIns="0" rtlCol="0" anchor="ctr"/>
          <a:lstStyle/>
          <a:p>
            <a:pPr algn="ctr" indent="0" marL="0">
              <a:buNone/>
            </a:pPr>
            <a:r>
              <a:rPr lang="en-US" sz="1300" b="1" dirty="0">
                <a:solidFill>
                  <a:srgbClr val="C00000"/>
                </a:solidFill>
              </a:rPr>
              <a:t>17</a:t>
            </a:r>
            <a:endParaRPr lang="en-US" sz="1300" dirty="0"/>
          </a:p>
        </p:txBody>
      </p:sp>
      <p:sp>
        <p:nvSpPr>
          <p:cNvPr id="64" name="Text 57"/>
          <p:cNvSpPr txBox="1"/>
          <p:nvPr/>
        </p:nvSpPr>
        <p:spPr>
          <a:xfrm>
            <a:off x="9575074"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3200</a:t>
            </a:r>
            <a:endParaRPr lang="en-US" sz="1100" dirty="0"/>
          </a:p>
        </p:txBody>
      </p:sp>
      <p:sp>
        <p:nvSpPr>
          <p:cNvPr id="65" name="Text 58"/>
          <p:cNvSpPr txBox="1"/>
          <p:nvPr/>
        </p:nvSpPr>
        <p:spPr>
          <a:xfrm>
            <a:off x="11064240" y="5349240"/>
            <a:ext cx="548640" cy="228600"/>
          </a:xfrm>
          <a:prstGeom prst="rect">
            <a:avLst/>
          </a:prstGeom>
          <a:noFill/>
          <a:ln/>
        </p:spPr>
        <p:txBody>
          <a:bodyPr wrap="square" lIns="0" tIns="0" rIns="0" bIns="0" rtlCol="0" anchor="ctr"/>
          <a:lstStyle/>
          <a:p>
            <a:pPr algn="ctr" indent="0" marL="0">
              <a:buNone/>
            </a:pPr>
            <a:r>
              <a:rPr lang="en-US" sz="1100" dirty="0">
                <a:solidFill>
                  <a:schemeClr val="tx2"/>
                </a:solidFill>
              </a:rPr>
              <a:t>3600</a:t>
            </a:r>
            <a:endParaRPr lang="en-US" sz="1100" dirty="0"/>
          </a:p>
        </p:txBody>
      </p:sp>
      <p:sp>
        <p:nvSpPr>
          <p:cNvPr id="66" name="Text 59"/>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Median 2200 = Master; 46% at Grandmaster level, where even gpt-oss-120b solves only 48%</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What goes wrong, and what we do</a:t>
            </a:r>
            <a:endParaRPr lang="en-US" sz="3600" dirty="0"/>
          </a:p>
        </p:txBody>
      </p:sp>
      <p:sp>
        <p:nvSpPr>
          <p:cNvPr id="3" name="why 1. Programs fail silently"/>
          <p:cNvSpPr/>
          <p:nvPr/>
        </p:nvSpPr>
        <p:spPr>
          <a:xfrm>
            <a:off x="548640" y="1234440"/>
            <a:ext cx="5440680" cy="3017520"/>
          </a:xfrm>
          <a:prstGeom prst="roundRect">
            <a:avLst>
              <a:gd name="adj" fmla="val 2424"/>
            </a:avLst>
          </a:prstGeom>
          <a:solidFill>
            <a:srgbClr val="FDF2F1"/>
          </a:solidFill>
          <a:ln w="12700">
            <a:solidFill>
              <a:srgbClr val="C00000"/>
            </a:solidFill>
            <a:prstDash val="solid"/>
          </a:ln>
        </p:spPr>
      </p:sp>
      <p:sp>
        <p:nvSpPr>
          <p:cNvPr id="4" name="Text 2"/>
          <p:cNvSpPr txBox="1"/>
          <p:nvPr/>
        </p:nvSpPr>
        <p:spPr>
          <a:xfrm>
            <a:off x="777240" y="1307592"/>
            <a:ext cx="4983480" cy="457200"/>
          </a:xfrm>
          <a:prstGeom prst="rect">
            <a:avLst/>
          </a:prstGeom>
          <a:noFill/>
          <a:ln/>
        </p:spPr>
        <p:txBody>
          <a:bodyPr wrap="square" lIns="0" tIns="0" rIns="0" bIns="0" rtlCol="0" anchor="ctr"/>
          <a:lstStyle/>
          <a:p>
            <a:pPr indent="0" marL="0">
              <a:buNone/>
            </a:pPr>
            <a:r>
              <a:rPr lang="en-US" sz="2100" b="1" dirty="0">
                <a:solidFill>
                  <a:srgbClr val="C00000"/>
                </a:solidFill>
              </a:rPr>
              <a:t>1. Programs fail silently</a:t>
            </a:r>
            <a:endParaRPr lang="en-US" sz="2100" dirty="0"/>
          </a:p>
        </p:txBody>
      </p:sp>
      <p:pic>
        <p:nvPicPr>
          <p:cNvPr id="5" name="ten points and their hull" descr="10 points; the rubber band touches 6 of them">    </p:cNvPr>
          <p:cNvPicPr>
            <a:picLocks noChangeAspect="1"/>
          </p:cNvPicPr>
          <p:nvPr/>
        </p:nvPicPr>
        <p:blipFill>
          <a:blip r:embed="rId1"/>
          <a:stretch>
            <a:fillRect/>
          </a:stretch>
        </p:blipFill>
        <p:spPr>
          <a:xfrm>
            <a:off x="731520" y="1828800"/>
            <a:ext cx="1325880" cy="1325880"/>
          </a:xfrm>
          <a:prstGeom prst="rect">
            <a:avLst/>
          </a:prstGeom>
        </p:spPr>
      </p:pic>
      <p:sp>
        <p:nvSpPr>
          <p:cNvPr id="6" name="Text 3"/>
          <p:cNvSpPr txBox="1"/>
          <p:nvPr/>
        </p:nvSpPr>
        <p:spPr>
          <a:xfrm>
            <a:off x="594360" y="3154680"/>
            <a:ext cx="1600200" cy="274320"/>
          </a:xfrm>
          <a:prstGeom prst="rect">
            <a:avLst/>
          </a:prstGeom>
          <a:noFill/>
          <a:ln/>
        </p:spPr>
        <p:txBody>
          <a:bodyPr wrap="square" lIns="0" tIns="0" rIns="0" bIns="0" rtlCol="0" anchor="ctr"/>
          <a:lstStyle/>
          <a:p>
            <a:pPr algn="ctr" indent="0" marL="0">
              <a:buNone/>
            </a:pPr>
            <a:r>
              <a:rPr lang="en-US" sz="1200" b="1" dirty="0">
                <a:solidFill>
                  <a:srgbClr val="70AD47"/>
                </a:solidFill>
              </a:rPr>
              <a:t>10 points: 6 corners</a:t>
            </a:r>
            <a:endParaRPr lang="en-US" sz="1200" dirty="0"/>
          </a:p>
        </p:txBody>
      </p:sp>
      <p:sp>
        <p:nvSpPr>
          <p:cNvPr id="7" name="terminal"/>
          <p:cNvSpPr/>
          <p:nvPr/>
        </p:nvSpPr>
        <p:spPr>
          <a:xfrm>
            <a:off x="2240280" y="1828800"/>
            <a:ext cx="3611880" cy="1417320"/>
          </a:xfrm>
          <a:prstGeom prst="roundRect">
            <a:avLst>
              <a:gd name="adj" fmla="val 3226"/>
            </a:avLst>
          </a:prstGeom>
          <a:solidFill>
            <a:srgbClr val="262626"/>
          </a:solidFill>
          <a:ln w="12700">
            <a:solidFill>
              <a:srgbClr val="262626"/>
            </a:solidFill>
            <a:prstDash val="solid"/>
          </a:ln>
        </p:spPr>
      </p:sp>
      <p:sp>
        <p:nvSpPr>
          <p:cNvPr id="8" name="Text 5"/>
          <p:cNvSpPr txBox="1"/>
          <p:nvPr/>
        </p:nvSpPr>
        <p:spPr>
          <a:xfrm>
            <a:off x="2377440" y="1874520"/>
            <a:ext cx="3383280" cy="1325880"/>
          </a:xfrm>
          <a:prstGeom prst="rect">
            <a:avLst/>
          </a:prstGeom>
          <a:noFill/>
          <a:ln/>
        </p:spPr>
        <p:txBody>
          <a:bodyPr wrap="square" lIns="0" tIns="0" rIns="0" bIns="0" rtlCol="0" anchor="ctr"/>
          <a:lstStyle/>
          <a:p>
            <a:pPr indent="0" marL="0">
              <a:buNone/>
            </a:pPr>
            <a:r>
              <a:rPr lang="en-US" sz="1250" dirty="0">
                <a:solidFill>
                  <a:srgbClr val="BFBFBF"/>
                </a:solidFill>
                <a:latin typeface="Courier New" pitchFamily="34" charset="0"/>
                <a:ea typeface="Courier New" pitchFamily="34" charset="-122"/>
                <a:cs typeface="Courier New" pitchFamily="34" charset="-120"/>
              </a:rPr>
              <a:t>$ python hull_A.py   # task only</a:t>
            </a:r>
            <a:endParaRPr lang="en-US" sz="1250" dirty="0"/>
          </a:p>
          <a:p>
            <a:pPr indent="0" marL="0">
              <a:buNone/>
            </a:pPr>
            <a:r>
              <a:rPr lang="en-US" sz="1250" b="1" dirty="0">
                <a:solidFill>
                  <a:srgbClr val="8FD16A"/>
                </a:solidFill>
                <a:latin typeface="Courier New" pitchFamily="34" charset="0"/>
                <a:ea typeface="Courier New" pitchFamily="34" charset="-122"/>
                <a:cs typeface="Courier New" pitchFamily="34" charset="-120"/>
              </a:rPr>
              <a:t>6</a:t>
            </a:r>
            <a:endParaRPr lang="en-US" sz="1250" dirty="0"/>
          </a:p>
          <a:p>
            <a:pPr indent="0" marL="0">
              <a:buNone/>
            </a:pPr>
            <a:r>
              <a:rPr lang="en-US" sz="1250" dirty="0">
                <a:solidFill>
                  <a:srgbClr val="BFBFBF"/>
                </a:solidFill>
                <a:latin typeface="Courier New" pitchFamily="34" charset="0"/>
                <a:ea typeface="Courier New" pitchFamily="34" charset="-122"/>
                <a:cs typeface="Courier New" pitchFamily="34" charset="-120"/>
              </a:rPr>
              <a:t>$ python hull_B.py   # + 8 helpers</a:t>
            </a:r>
            <a:endParaRPr lang="en-US" sz="1250" dirty="0"/>
          </a:p>
          <a:p>
            <a:pPr indent="0" marL="0">
              <a:buNone/>
            </a:pPr>
            <a:r>
              <a:rPr lang="en-US" sz="1250" b="1" dirty="0">
                <a:solidFill>
                  <a:srgbClr val="FF7B7B"/>
                </a:solidFill>
                <a:latin typeface="Courier New" pitchFamily="34" charset="0"/>
                <a:ea typeface="Courier New" pitchFamily="34" charset="-122"/>
                <a:cs typeface="Courier New" pitchFamily="34" charset="-120"/>
              </a:rPr>
              <a:t>0    ← no error, just wrong</a:t>
            </a:r>
            <a:endParaRPr lang="en-US" sz="1250" dirty="0"/>
          </a:p>
        </p:txBody>
      </p:sp>
      <p:pic>
        <p:nvPicPr>
          <p:cNvPr id="9" name="warning icon" descr="/NAS/SJ/POSTECH/nlp/figs/icons/warn.png">    </p:cNvPr>
          <p:cNvPicPr>
            <a:picLocks noChangeAspect="1"/>
          </p:cNvPicPr>
          <p:nvPr/>
        </p:nvPicPr>
        <p:blipFill>
          <a:blip r:embed="rId2"/>
          <a:stretch>
            <a:fillRect/>
          </a:stretch>
        </p:blipFill>
        <p:spPr>
          <a:xfrm>
            <a:off x="777240" y="3593592"/>
            <a:ext cx="320040" cy="320040"/>
          </a:xfrm>
          <a:prstGeom prst="rect">
            <a:avLst/>
          </a:prstGeom>
        </p:spPr>
      </p:pic>
      <p:sp>
        <p:nvSpPr>
          <p:cNvPr id="10" name="Text 6"/>
          <p:cNvSpPr txBox="1"/>
          <p:nvPr/>
        </p:nvSpPr>
        <p:spPr>
          <a:xfrm>
            <a:off x="1188720" y="3520440"/>
            <a:ext cx="4663440" cy="548640"/>
          </a:xfrm>
          <a:prstGeom prst="rect">
            <a:avLst/>
          </a:prstGeom>
          <a:noFill/>
          <a:ln/>
        </p:spPr>
        <p:txBody>
          <a:bodyPr wrap="square" lIns="0" tIns="0" rIns="0" bIns="0" rtlCol="0" anchor="ctr"/>
          <a:lstStyle/>
          <a:p>
            <a:pPr indent="0" marL="0">
              <a:buNone/>
            </a:pPr>
            <a:r>
              <a:rPr lang="en-US" sz="1300" dirty="0">
                <a:solidFill>
                  <a:schemeClr val="tx1"/>
                </a:solidFill>
              </a:rPr>
              <a:t>The problem's own examples miss it too: "Find Color" passes all 3, then fails hidden test 11</a:t>
            </a:r>
            <a:endParaRPr lang="en-US" sz="1300" dirty="0"/>
          </a:p>
        </p:txBody>
      </p:sp>
      <p:sp>
        <p:nvSpPr>
          <p:cNvPr id="11" name="why 2. Thinking longer is expensive"/>
          <p:cNvSpPr/>
          <p:nvPr/>
        </p:nvSpPr>
        <p:spPr>
          <a:xfrm>
            <a:off x="6172200" y="1234440"/>
            <a:ext cx="5440680" cy="3017520"/>
          </a:xfrm>
          <a:prstGeom prst="roundRect">
            <a:avLst>
              <a:gd name="adj" fmla="val 2424"/>
            </a:avLst>
          </a:prstGeom>
          <a:solidFill>
            <a:srgbClr val="FDF0E6"/>
          </a:solidFill>
          <a:ln w="12700">
            <a:solidFill>
              <a:srgbClr val="ED7D31"/>
            </a:solidFill>
            <a:prstDash val="solid"/>
          </a:ln>
        </p:spPr>
      </p:sp>
      <p:sp>
        <p:nvSpPr>
          <p:cNvPr id="12" name="Text 8"/>
          <p:cNvSpPr txBox="1"/>
          <p:nvPr/>
        </p:nvSpPr>
        <p:spPr>
          <a:xfrm>
            <a:off x="6400800" y="1307592"/>
            <a:ext cx="4983480" cy="457200"/>
          </a:xfrm>
          <a:prstGeom prst="rect">
            <a:avLst/>
          </a:prstGeom>
          <a:noFill/>
          <a:ln/>
        </p:spPr>
        <p:txBody>
          <a:bodyPr wrap="square" lIns="0" tIns="0" rIns="0" bIns="0" rtlCol="0" anchor="ctr"/>
          <a:lstStyle/>
          <a:p>
            <a:pPr indent="0" marL="0">
              <a:buNone/>
            </a:pPr>
            <a:r>
              <a:rPr lang="en-US" sz="2100" b="1" dirty="0">
                <a:solidFill>
                  <a:srgbClr val="ED7D31"/>
                </a:solidFill>
              </a:rPr>
              <a:t>2. Thinking longer is expensive</a:t>
            </a:r>
            <a:endParaRPr lang="en-US" sz="2100" dirty="0"/>
          </a:p>
        </p:txBody>
      </p:sp>
      <p:sp>
        <p:nvSpPr>
          <p:cNvPr id="13" name="Text 9"/>
          <p:cNvSpPr txBox="1"/>
          <p:nvPr/>
        </p:nvSpPr>
        <p:spPr>
          <a:xfrm>
            <a:off x="6400800" y="1783080"/>
            <a:ext cx="5029200" cy="274320"/>
          </a:xfrm>
          <a:prstGeom prst="rect">
            <a:avLst/>
          </a:prstGeom>
          <a:noFill/>
          <a:ln/>
        </p:spPr>
        <p:txBody>
          <a:bodyPr wrap="square" lIns="0" tIns="0" rIns="0" bIns="0" rtlCol="0" anchor="ctr"/>
          <a:lstStyle/>
          <a:p>
            <a:pPr indent="0" marL="0">
              <a:buNone/>
            </a:pPr>
            <a:r>
              <a:rPr lang="en-US" sz="1250" dirty="0">
                <a:solidFill>
                  <a:schemeClr val="tx2"/>
                </a:solidFill>
              </a:rPr>
              <a:t>tokens per contest problem (gpt-oss-120b); one page ≈ 700 tokens</a:t>
            </a:r>
            <a:endParaRPr lang="en-US" sz="1250" dirty="0"/>
          </a:p>
        </p:txBody>
      </p:sp>
      <p:sp>
        <p:nvSpPr>
          <p:cNvPr id="14" name="Text 10"/>
          <p:cNvSpPr txBox="1"/>
          <p:nvPr/>
        </p:nvSpPr>
        <p:spPr>
          <a:xfrm>
            <a:off x="6400800" y="214884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medium effort</a:t>
            </a:r>
            <a:endParaRPr lang="en-US" sz="1300" dirty="0"/>
          </a:p>
          <a:p>
            <a:pPr indent="0" marL="0">
              <a:buNone/>
            </a:pPr>
            <a:r>
              <a:rPr lang="en-US" sz="1300" dirty="0">
                <a:solidFill>
                  <a:schemeClr val="tx1"/>
                </a:solidFill>
              </a:rPr>
              <a:t>57% solved</a:t>
            </a:r>
            <a:endParaRPr lang="en-US" sz="1300" dirty="0"/>
          </a:p>
        </p:txBody>
      </p:sp>
      <p:pic>
        <p:nvPicPr>
          <p:cNvPr id="15" name="medium effort page 0" descr="/NAS/SJ/POSTECH/nlp/figs/icons/page.png">    </p:cNvPr>
          <p:cNvPicPr>
            <a:picLocks noChangeAspect="1"/>
          </p:cNvPicPr>
          <p:nvPr/>
        </p:nvPicPr>
        <p:blipFill>
          <a:blip r:embed="rId3"/>
          <a:stretch>
            <a:fillRect/>
          </a:stretch>
        </p:blipFill>
        <p:spPr>
          <a:xfrm>
            <a:off x="7863840" y="2148840"/>
            <a:ext cx="173736" cy="201168"/>
          </a:xfrm>
          <a:prstGeom prst="rect">
            <a:avLst/>
          </a:prstGeom>
        </p:spPr>
      </p:pic>
      <p:pic>
        <p:nvPicPr>
          <p:cNvPr id="16" name="medium effort page 1" descr="/NAS/SJ/POSTECH/nlp/figs/icons/page.png">    </p:cNvPr>
          <p:cNvPicPr>
            <a:picLocks noChangeAspect="1"/>
          </p:cNvPicPr>
          <p:nvPr/>
        </p:nvPicPr>
        <p:blipFill>
          <a:blip r:embed="rId4"/>
          <a:stretch>
            <a:fillRect/>
          </a:stretch>
        </p:blipFill>
        <p:spPr>
          <a:xfrm>
            <a:off x="8042148" y="2148840"/>
            <a:ext cx="173736" cy="201168"/>
          </a:xfrm>
          <a:prstGeom prst="rect">
            <a:avLst/>
          </a:prstGeom>
        </p:spPr>
      </p:pic>
      <p:pic>
        <p:nvPicPr>
          <p:cNvPr id="17" name="medium effort page 2" descr="/NAS/SJ/POSTECH/nlp/figs/icons/page.png">    </p:cNvPr>
          <p:cNvPicPr>
            <a:picLocks noChangeAspect="1"/>
          </p:cNvPicPr>
          <p:nvPr/>
        </p:nvPicPr>
        <p:blipFill>
          <a:blip r:embed="rId5"/>
          <a:stretch>
            <a:fillRect/>
          </a:stretch>
        </p:blipFill>
        <p:spPr>
          <a:xfrm>
            <a:off x="8220456" y="2148840"/>
            <a:ext cx="173736" cy="201168"/>
          </a:xfrm>
          <a:prstGeom prst="rect">
            <a:avLst/>
          </a:prstGeom>
        </p:spPr>
      </p:pic>
      <p:pic>
        <p:nvPicPr>
          <p:cNvPr id="18" name="medium effort page 3" descr="/NAS/SJ/POSTECH/nlp/figs/icons/page.png">    </p:cNvPr>
          <p:cNvPicPr>
            <a:picLocks noChangeAspect="1"/>
          </p:cNvPicPr>
          <p:nvPr/>
        </p:nvPicPr>
        <p:blipFill>
          <a:blip r:embed="rId6"/>
          <a:stretch>
            <a:fillRect/>
          </a:stretch>
        </p:blipFill>
        <p:spPr>
          <a:xfrm>
            <a:off x="8398764" y="2148840"/>
            <a:ext cx="173736" cy="201168"/>
          </a:xfrm>
          <a:prstGeom prst="rect">
            <a:avLst/>
          </a:prstGeom>
        </p:spPr>
      </p:pic>
      <p:pic>
        <p:nvPicPr>
          <p:cNvPr id="19" name="medium effort page 4" descr="/NAS/SJ/POSTECH/nlp/figs/icons/page.png">    </p:cNvPr>
          <p:cNvPicPr>
            <a:picLocks noChangeAspect="1"/>
          </p:cNvPicPr>
          <p:nvPr/>
        </p:nvPicPr>
        <p:blipFill>
          <a:blip r:embed="rId7"/>
          <a:stretch>
            <a:fillRect/>
          </a:stretch>
        </p:blipFill>
        <p:spPr>
          <a:xfrm>
            <a:off x="8577072" y="2148840"/>
            <a:ext cx="173736" cy="201168"/>
          </a:xfrm>
          <a:prstGeom prst="rect">
            <a:avLst/>
          </a:prstGeom>
        </p:spPr>
      </p:pic>
      <p:pic>
        <p:nvPicPr>
          <p:cNvPr id="20" name="medium effort page 5" descr="/NAS/SJ/POSTECH/nlp/figs/icons/page.png">    </p:cNvPr>
          <p:cNvPicPr>
            <a:picLocks noChangeAspect="1"/>
          </p:cNvPicPr>
          <p:nvPr/>
        </p:nvPicPr>
        <p:blipFill>
          <a:blip r:embed="rId8"/>
          <a:stretch>
            <a:fillRect/>
          </a:stretch>
        </p:blipFill>
        <p:spPr>
          <a:xfrm>
            <a:off x="8755380" y="2148840"/>
            <a:ext cx="173736" cy="201168"/>
          </a:xfrm>
          <a:prstGeom prst="rect">
            <a:avLst/>
          </a:prstGeom>
        </p:spPr>
      </p:pic>
      <p:pic>
        <p:nvPicPr>
          <p:cNvPr id="21" name="medium effort page 6" descr="/NAS/SJ/POSTECH/nlp/figs/icons/page.png">    </p:cNvPr>
          <p:cNvPicPr>
            <a:picLocks noChangeAspect="1"/>
          </p:cNvPicPr>
          <p:nvPr/>
        </p:nvPicPr>
        <p:blipFill>
          <a:blip r:embed="rId9"/>
          <a:stretch>
            <a:fillRect/>
          </a:stretch>
        </p:blipFill>
        <p:spPr>
          <a:xfrm>
            <a:off x="8933688" y="2148840"/>
            <a:ext cx="173736" cy="201168"/>
          </a:xfrm>
          <a:prstGeom prst="rect">
            <a:avLst/>
          </a:prstGeom>
        </p:spPr>
      </p:pic>
      <p:pic>
        <p:nvPicPr>
          <p:cNvPr id="22" name="medium effort page 7" descr="/NAS/SJ/POSTECH/nlp/figs/icons/page.png">    </p:cNvPr>
          <p:cNvPicPr>
            <a:picLocks noChangeAspect="1"/>
          </p:cNvPicPr>
          <p:nvPr/>
        </p:nvPicPr>
        <p:blipFill>
          <a:blip r:embed="rId10"/>
          <a:stretch>
            <a:fillRect/>
          </a:stretch>
        </p:blipFill>
        <p:spPr>
          <a:xfrm>
            <a:off x="9111996" y="2148840"/>
            <a:ext cx="173736" cy="201168"/>
          </a:xfrm>
          <a:prstGeom prst="rect">
            <a:avLst/>
          </a:prstGeom>
        </p:spPr>
      </p:pic>
      <p:pic>
        <p:nvPicPr>
          <p:cNvPr id="23" name="medium effort page 8" descr="/NAS/SJ/POSTECH/nlp/figs/icons/page.png">    </p:cNvPr>
          <p:cNvPicPr>
            <a:picLocks noChangeAspect="1"/>
          </p:cNvPicPr>
          <p:nvPr/>
        </p:nvPicPr>
        <p:blipFill>
          <a:blip r:embed="rId11"/>
          <a:stretch>
            <a:fillRect/>
          </a:stretch>
        </p:blipFill>
        <p:spPr>
          <a:xfrm>
            <a:off x="9290304" y="2148840"/>
            <a:ext cx="173736" cy="201168"/>
          </a:xfrm>
          <a:prstGeom prst="rect">
            <a:avLst/>
          </a:prstGeom>
        </p:spPr>
      </p:pic>
      <p:pic>
        <p:nvPicPr>
          <p:cNvPr id="24" name="medium effort page 9" descr="/NAS/SJ/POSTECH/nlp/figs/icons/page.png">    </p:cNvPr>
          <p:cNvPicPr>
            <a:picLocks noChangeAspect="1"/>
          </p:cNvPicPr>
          <p:nvPr/>
        </p:nvPicPr>
        <p:blipFill>
          <a:blip r:embed="rId12"/>
          <a:stretch>
            <a:fillRect/>
          </a:stretch>
        </p:blipFill>
        <p:spPr>
          <a:xfrm>
            <a:off x="9468612" y="2148840"/>
            <a:ext cx="173736" cy="201168"/>
          </a:xfrm>
          <a:prstGeom prst="rect">
            <a:avLst/>
          </a:prstGeom>
        </p:spPr>
      </p:pic>
      <p:sp>
        <p:nvSpPr>
          <p:cNvPr id="25" name="Text 11"/>
          <p:cNvSpPr txBox="1"/>
          <p:nvPr/>
        </p:nvSpPr>
        <p:spPr>
          <a:xfrm>
            <a:off x="6400800" y="2651760"/>
            <a:ext cx="1417320" cy="457200"/>
          </a:xfrm>
          <a:prstGeom prst="rect">
            <a:avLst/>
          </a:prstGeom>
          <a:noFill/>
          <a:ln/>
        </p:spPr>
        <p:txBody>
          <a:bodyPr wrap="square" lIns="0" tIns="0" rIns="0" bIns="0" rtlCol="0" anchor="ctr"/>
          <a:lstStyle/>
          <a:p>
            <a:pPr indent="0" marL="0">
              <a:buNone/>
            </a:pPr>
            <a:r>
              <a:rPr lang="en-US" sz="1300" b="1" dirty="0">
                <a:solidFill>
                  <a:schemeClr val="tx1"/>
                </a:solidFill>
              </a:rPr>
              <a:t>high effort</a:t>
            </a:r>
            <a:endParaRPr lang="en-US" sz="1300" dirty="0"/>
          </a:p>
          <a:p>
            <a:pPr indent="0" marL="0">
              <a:buNone/>
            </a:pPr>
            <a:r>
              <a:rPr lang="en-US" sz="1300" dirty="0">
                <a:solidFill>
                  <a:schemeClr val="tx1"/>
                </a:solidFill>
              </a:rPr>
              <a:t>66% solved</a:t>
            </a:r>
            <a:endParaRPr lang="en-US" sz="1300" dirty="0"/>
          </a:p>
        </p:txBody>
      </p:sp>
      <p:pic>
        <p:nvPicPr>
          <p:cNvPr id="26" name="high effort page 0" descr="/NAS/SJ/POSTECH/nlp/figs/icons/pagehot.png">    </p:cNvPr>
          <p:cNvPicPr>
            <a:picLocks noChangeAspect="1"/>
          </p:cNvPicPr>
          <p:nvPr/>
        </p:nvPicPr>
        <p:blipFill>
          <a:blip r:embed="rId13"/>
          <a:stretch>
            <a:fillRect/>
          </a:stretch>
        </p:blipFill>
        <p:spPr>
          <a:xfrm>
            <a:off x="7863840" y="2651760"/>
            <a:ext cx="173736" cy="201168"/>
          </a:xfrm>
          <a:prstGeom prst="rect">
            <a:avLst/>
          </a:prstGeom>
        </p:spPr>
      </p:pic>
      <p:pic>
        <p:nvPicPr>
          <p:cNvPr id="27" name="high effort page 1" descr="/NAS/SJ/POSTECH/nlp/figs/icons/pagehot.png">    </p:cNvPr>
          <p:cNvPicPr>
            <a:picLocks noChangeAspect="1"/>
          </p:cNvPicPr>
          <p:nvPr/>
        </p:nvPicPr>
        <p:blipFill>
          <a:blip r:embed="rId14"/>
          <a:stretch>
            <a:fillRect/>
          </a:stretch>
        </p:blipFill>
        <p:spPr>
          <a:xfrm>
            <a:off x="8042148" y="2651760"/>
            <a:ext cx="173736" cy="201168"/>
          </a:xfrm>
          <a:prstGeom prst="rect">
            <a:avLst/>
          </a:prstGeom>
        </p:spPr>
      </p:pic>
      <p:pic>
        <p:nvPicPr>
          <p:cNvPr id="28" name="high effort page 2" descr="/NAS/SJ/POSTECH/nlp/figs/icons/pagehot.png">    </p:cNvPr>
          <p:cNvPicPr>
            <a:picLocks noChangeAspect="1"/>
          </p:cNvPicPr>
          <p:nvPr/>
        </p:nvPicPr>
        <p:blipFill>
          <a:blip r:embed="rId15"/>
          <a:stretch>
            <a:fillRect/>
          </a:stretch>
        </p:blipFill>
        <p:spPr>
          <a:xfrm>
            <a:off x="8220456" y="2651760"/>
            <a:ext cx="173736" cy="201168"/>
          </a:xfrm>
          <a:prstGeom prst="rect">
            <a:avLst/>
          </a:prstGeom>
        </p:spPr>
      </p:pic>
      <p:pic>
        <p:nvPicPr>
          <p:cNvPr id="29" name="high effort page 3" descr="/NAS/SJ/POSTECH/nlp/figs/icons/pagehot.png">    </p:cNvPr>
          <p:cNvPicPr>
            <a:picLocks noChangeAspect="1"/>
          </p:cNvPicPr>
          <p:nvPr/>
        </p:nvPicPr>
        <p:blipFill>
          <a:blip r:embed="rId16"/>
          <a:stretch>
            <a:fillRect/>
          </a:stretch>
        </p:blipFill>
        <p:spPr>
          <a:xfrm>
            <a:off x="8398764" y="2651760"/>
            <a:ext cx="173736" cy="201168"/>
          </a:xfrm>
          <a:prstGeom prst="rect">
            <a:avLst/>
          </a:prstGeom>
        </p:spPr>
      </p:pic>
      <p:pic>
        <p:nvPicPr>
          <p:cNvPr id="30" name="high effort page 4" descr="/NAS/SJ/POSTECH/nlp/figs/icons/pagehot.png">    </p:cNvPr>
          <p:cNvPicPr>
            <a:picLocks noChangeAspect="1"/>
          </p:cNvPicPr>
          <p:nvPr/>
        </p:nvPicPr>
        <p:blipFill>
          <a:blip r:embed="rId17"/>
          <a:stretch>
            <a:fillRect/>
          </a:stretch>
        </p:blipFill>
        <p:spPr>
          <a:xfrm>
            <a:off x="8577072" y="2651760"/>
            <a:ext cx="173736" cy="201168"/>
          </a:xfrm>
          <a:prstGeom prst="rect">
            <a:avLst/>
          </a:prstGeom>
        </p:spPr>
      </p:pic>
      <p:pic>
        <p:nvPicPr>
          <p:cNvPr id="31" name="high effort page 5" descr="/NAS/SJ/POSTECH/nlp/figs/icons/pagehot.png">    </p:cNvPr>
          <p:cNvPicPr>
            <a:picLocks noChangeAspect="1"/>
          </p:cNvPicPr>
          <p:nvPr/>
        </p:nvPicPr>
        <p:blipFill>
          <a:blip r:embed="rId18"/>
          <a:stretch>
            <a:fillRect/>
          </a:stretch>
        </p:blipFill>
        <p:spPr>
          <a:xfrm>
            <a:off x="8755380" y="2651760"/>
            <a:ext cx="173736" cy="201168"/>
          </a:xfrm>
          <a:prstGeom prst="rect">
            <a:avLst/>
          </a:prstGeom>
        </p:spPr>
      </p:pic>
      <p:pic>
        <p:nvPicPr>
          <p:cNvPr id="32" name="high effort page 6" descr="/NAS/SJ/POSTECH/nlp/figs/icons/pagehot.png">    </p:cNvPr>
          <p:cNvPicPr>
            <a:picLocks noChangeAspect="1"/>
          </p:cNvPicPr>
          <p:nvPr/>
        </p:nvPicPr>
        <p:blipFill>
          <a:blip r:embed="rId19"/>
          <a:stretch>
            <a:fillRect/>
          </a:stretch>
        </p:blipFill>
        <p:spPr>
          <a:xfrm>
            <a:off x="8933688" y="2651760"/>
            <a:ext cx="173736" cy="201168"/>
          </a:xfrm>
          <a:prstGeom prst="rect">
            <a:avLst/>
          </a:prstGeom>
        </p:spPr>
      </p:pic>
      <p:pic>
        <p:nvPicPr>
          <p:cNvPr id="33" name="high effort page 7" descr="/NAS/SJ/POSTECH/nlp/figs/icons/pagehot.png">    </p:cNvPr>
          <p:cNvPicPr>
            <a:picLocks noChangeAspect="1"/>
          </p:cNvPicPr>
          <p:nvPr/>
        </p:nvPicPr>
        <p:blipFill>
          <a:blip r:embed="rId20"/>
          <a:stretch>
            <a:fillRect/>
          </a:stretch>
        </p:blipFill>
        <p:spPr>
          <a:xfrm>
            <a:off x="9111996" y="2651760"/>
            <a:ext cx="173736" cy="201168"/>
          </a:xfrm>
          <a:prstGeom prst="rect">
            <a:avLst/>
          </a:prstGeom>
        </p:spPr>
      </p:pic>
      <p:pic>
        <p:nvPicPr>
          <p:cNvPr id="34" name="high effort page 8" descr="/NAS/SJ/POSTECH/nlp/figs/icons/pagehot.png">    </p:cNvPr>
          <p:cNvPicPr>
            <a:picLocks noChangeAspect="1"/>
          </p:cNvPicPr>
          <p:nvPr/>
        </p:nvPicPr>
        <p:blipFill>
          <a:blip r:embed="rId21"/>
          <a:stretch>
            <a:fillRect/>
          </a:stretch>
        </p:blipFill>
        <p:spPr>
          <a:xfrm>
            <a:off x="9290304" y="2651760"/>
            <a:ext cx="173736" cy="201168"/>
          </a:xfrm>
          <a:prstGeom prst="rect">
            <a:avLst/>
          </a:prstGeom>
        </p:spPr>
      </p:pic>
      <p:pic>
        <p:nvPicPr>
          <p:cNvPr id="35" name="high effort page 9" descr="/NAS/SJ/POSTECH/nlp/figs/icons/pagehot.png">    </p:cNvPr>
          <p:cNvPicPr>
            <a:picLocks noChangeAspect="1"/>
          </p:cNvPicPr>
          <p:nvPr/>
        </p:nvPicPr>
        <p:blipFill>
          <a:blip r:embed="rId22"/>
          <a:stretch>
            <a:fillRect/>
          </a:stretch>
        </p:blipFill>
        <p:spPr>
          <a:xfrm>
            <a:off x="9468612" y="2651760"/>
            <a:ext cx="173736" cy="201168"/>
          </a:xfrm>
          <a:prstGeom prst="rect">
            <a:avLst/>
          </a:prstGeom>
        </p:spPr>
      </p:pic>
      <p:pic>
        <p:nvPicPr>
          <p:cNvPr id="36" name="high effort page 10" descr="/NAS/SJ/POSTECH/nlp/figs/icons/pagehot.png">    </p:cNvPr>
          <p:cNvPicPr>
            <a:picLocks noChangeAspect="1"/>
          </p:cNvPicPr>
          <p:nvPr/>
        </p:nvPicPr>
        <p:blipFill>
          <a:blip r:embed="rId23"/>
          <a:stretch>
            <a:fillRect/>
          </a:stretch>
        </p:blipFill>
        <p:spPr>
          <a:xfrm>
            <a:off x="9646920" y="2651760"/>
            <a:ext cx="173736" cy="201168"/>
          </a:xfrm>
          <a:prstGeom prst="rect">
            <a:avLst/>
          </a:prstGeom>
        </p:spPr>
      </p:pic>
      <p:pic>
        <p:nvPicPr>
          <p:cNvPr id="37" name="high effort page 11" descr="/NAS/SJ/POSTECH/nlp/figs/icons/pagehot.png">    </p:cNvPr>
          <p:cNvPicPr>
            <a:picLocks noChangeAspect="1"/>
          </p:cNvPicPr>
          <p:nvPr/>
        </p:nvPicPr>
        <p:blipFill>
          <a:blip r:embed="rId24"/>
          <a:stretch>
            <a:fillRect/>
          </a:stretch>
        </p:blipFill>
        <p:spPr>
          <a:xfrm>
            <a:off x="9825228" y="2651760"/>
            <a:ext cx="173736" cy="201168"/>
          </a:xfrm>
          <a:prstGeom prst="rect">
            <a:avLst/>
          </a:prstGeom>
        </p:spPr>
      </p:pic>
      <p:pic>
        <p:nvPicPr>
          <p:cNvPr id="38" name="high effort page 12" descr="/NAS/SJ/POSTECH/nlp/figs/icons/pagehot.png">    </p:cNvPr>
          <p:cNvPicPr>
            <a:picLocks noChangeAspect="1"/>
          </p:cNvPicPr>
          <p:nvPr/>
        </p:nvPicPr>
        <p:blipFill>
          <a:blip r:embed="rId25"/>
          <a:stretch>
            <a:fillRect/>
          </a:stretch>
        </p:blipFill>
        <p:spPr>
          <a:xfrm>
            <a:off x="10003536" y="2651760"/>
            <a:ext cx="173736" cy="201168"/>
          </a:xfrm>
          <a:prstGeom prst="rect">
            <a:avLst/>
          </a:prstGeom>
        </p:spPr>
      </p:pic>
      <p:pic>
        <p:nvPicPr>
          <p:cNvPr id="39" name="high effort page 13" descr="/NAS/SJ/POSTECH/nlp/figs/icons/pagehot.png">    </p:cNvPr>
          <p:cNvPicPr>
            <a:picLocks noChangeAspect="1"/>
          </p:cNvPicPr>
          <p:nvPr/>
        </p:nvPicPr>
        <p:blipFill>
          <a:blip r:embed="rId26"/>
          <a:stretch>
            <a:fillRect/>
          </a:stretch>
        </p:blipFill>
        <p:spPr>
          <a:xfrm>
            <a:off x="10181844" y="2651760"/>
            <a:ext cx="173736" cy="201168"/>
          </a:xfrm>
          <a:prstGeom prst="rect">
            <a:avLst/>
          </a:prstGeom>
        </p:spPr>
      </p:pic>
      <p:pic>
        <p:nvPicPr>
          <p:cNvPr id="40" name="high effort page 14" descr="/NAS/SJ/POSTECH/nlp/figs/icons/pagehot.png">    </p:cNvPr>
          <p:cNvPicPr>
            <a:picLocks noChangeAspect="1"/>
          </p:cNvPicPr>
          <p:nvPr/>
        </p:nvPicPr>
        <p:blipFill>
          <a:blip r:embed="rId27"/>
          <a:stretch>
            <a:fillRect/>
          </a:stretch>
        </p:blipFill>
        <p:spPr>
          <a:xfrm>
            <a:off x="10360152" y="2651760"/>
            <a:ext cx="173736" cy="201168"/>
          </a:xfrm>
          <a:prstGeom prst="rect">
            <a:avLst/>
          </a:prstGeom>
        </p:spPr>
      </p:pic>
      <p:pic>
        <p:nvPicPr>
          <p:cNvPr id="41" name="high effort page 15" descr="/NAS/SJ/POSTECH/nlp/figs/icons/pagehot.png">    </p:cNvPr>
          <p:cNvPicPr>
            <a:picLocks noChangeAspect="1"/>
          </p:cNvPicPr>
          <p:nvPr/>
        </p:nvPicPr>
        <p:blipFill>
          <a:blip r:embed="rId28"/>
          <a:stretch>
            <a:fillRect/>
          </a:stretch>
        </p:blipFill>
        <p:spPr>
          <a:xfrm>
            <a:off x="10538460" y="2651760"/>
            <a:ext cx="173736" cy="201168"/>
          </a:xfrm>
          <a:prstGeom prst="rect">
            <a:avLst/>
          </a:prstGeom>
        </p:spPr>
      </p:pic>
      <p:pic>
        <p:nvPicPr>
          <p:cNvPr id="42" name="high effort page 16" descr="/NAS/SJ/POSTECH/nlp/figs/icons/pagehot.png">    </p:cNvPr>
          <p:cNvPicPr>
            <a:picLocks noChangeAspect="1"/>
          </p:cNvPicPr>
          <p:nvPr/>
        </p:nvPicPr>
        <p:blipFill>
          <a:blip r:embed="rId29"/>
          <a:stretch>
            <a:fillRect/>
          </a:stretch>
        </p:blipFill>
        <p:spPr>
          <a:xfrm>
            <a:off x="10716768" y="2651760"/>
            <a:ext cx="173736" cy="201168"/>
          </a:xfrm>
          <a:prstGeom prst="rect">
            <a:avLst/>
          </a:prstGeom>
        </p:spPr>
      </p:pic>
      <p:pic>
        <p:nvPicPr>
          <p:cNvPr id="43" name="high effort page 17" descr="/NAS/SJ/POSTECH/nlp/figs/icons/pagehot.png">    </p:cNvPr>
          <p:cNvPicPr>
            <a:picLocks noChangeAspect="1"/>
          </p:cNvPicPr>
          <p:nvPr/>
        </p:nvPicPr>
        <p:blipFill>
          <a:blip r:embed="rId30"/>
          <a:stretch>
            <a:fillRect/>
          </a:stretch>
        </p:blipFill>
        <p:spPr>
          <a:xfrm>
            <a:off x="10895076" y="2651760"/>
            <a:ext cx="173736" cy="201168"/>
          </a:xfrm>
          <a:prstGeom prst="rect">
            <a:avLst/>
          </a:prstGeom>
        </p:spPr>
      </p:pic>
      <p:pic>
        <p:nvPicPr>
          <p:cNvPr id="44" name="high effort page 18" descr="/NAS/SJ/POSTECH/nlp/figs/icons/pagehot.png">    </p:cNvPr>
          <p:cNvPicPr>
            <a:picLocks noChangeAspect="1"/>
          </p:cNvPicPr>
          <p:nvPr/>
        </p:nvPicPr>
        <p:blipFill>
          <a:blip r:embed="rId31"/>
          <a:stretch>
            <a:fillRect/>
          </a:stretch>
        </p:blipFill>
        <p:spPr>
          <a:xfrm>
            <a:off x="11073384" y="2651760"/>
            <a:ext cx="173736" cy="201168"/>
          </a:xfrm>
          <a:prstGeom prst="rect">
            <a:avLst/>
          </a:prstGeom>
        </p:spPr>
      </p:pic>
      <p:pic>
        <p:nvPicPr>
          <p:cNvPr id="45" name="high effort page 19" descr="/NAS/SJ/POSTECH/nlp/figs/icons/pagehot.png">    </p:cNvPr>
          <p:cNvPicPr>
            <a:picLocks noChangeAspect="1"/>
          </p:cNvPicPr>
          <p:nvPr/>
        </p:nvPicPr>
        <p:blipFill>
          <a:blip r:embed="rId32"/>
          <a:stretch>
            <a:fillRect/>
          </a:stretch>
        </p:blipFill>
        <p:spPr>
          <a:xfrm>
            <a:off x="11251692" y="2651760"/>
            <a:ext cx="173736" cy="201168"/>
          </a:xfrm>
          <a:prstGeom prst="rect">
            <a:avLst/>
          </a:prstGeom>
        </p:spPr>
      </p:pic>
      <p:pic>
        <p:nvPicPr>
          <p:cNvPr id="46" name="high effort page 20" descr="/NAS/SJ/POSTECH/nlp/figs/icons/pagehot.png">    </p:cNvPr>
          <p:cNvPicPr>
            <a:picLocks noChangeAspect="1"/>
          </p:cNvPicPr>
          <p:nvPr/>
        </p:nvPicPr>
        <p:blipFill>
          <a:blip r:embed="rId33"/>
          <a:stretch>
            <a:fillRect/>
          </a:stretch>
        </p:blipFill>
        <p:spPr>
          <a:xfrm>
            <a:off x="7863840" y="2871216"/>
            <a:ext cx="173736" cy="201168"/>
          </a:xfrm>
          <a:prstGeom prst="rect">
            <a:avLst/>
          </a:prstGeom>
        </p:spPr>
      </p:pic>
      <p:pic>
        <p:nvPicPr>
          <p:cNvPr id="47" name="high effort page 21" descr="/NAS/SJ/POSTECH/nlp/figs/icons/pagehot.png">    </p:cNvPr>
          <p:cNvPicPr>
            <a:picLocks noChangeAspect="1"/>
          </p:cNvPicPr>
          <p:nvPr/>
        </p:nvPicPr>
        <p:blipFill>
          <a:blip r:embed="rId34"/>
          <a:stretch>
            <a:fillRect/>
          </a:stretch>
        </p:blipFill>
        <p:spPr>
          <a:xfrm>
            <a:off x="8042148" y="2871216"/>
            <a:ext cx="173736" cy="201168"/>
          </a:xfrm>
          <a:prstGeom prst="rect">
            <a:avLst/>
          </a:prstGeom>
        </p:spPr>
      </p:pic>
      <p:pic>
        <p:nvPicPr>
          <p:cNvPr id="48" name="high effort page 22" descr="/NAS/SJ/POSTECH/nlp/figs/icons/pagehot.png">    </p:cNvPr>
          <p:cNvPicPr>
            <a:picLocks noChangeAspect="1"/>
          </p:cNvPicPr>
          <p:nvPr/>
        </p:nvPicPr>
        <p:blipFill>
          <a:blip r:embed="rId35"/>
          <a:stretch>
            <a:fillRect/>
          </a:stretch>
        </p:blipFill>
        <p:spPr>
          <a:xfrm>
            <a:off x="8220456" y="2871216"/>
            <a:ext cx="173736" cy="201168"/>
          </a:xfrm>
          <a:prstGeom prst="rect">
            <a:avLst/>
          </a:prstGeom>
        </p:spPr>
      </p:pic>
      <p:pic>
        <p:nvPicPr>
          <p:cNvPr id="49" name="high effort page 23" descr="/NAS/SJ/POSTECH/nlp/figs/icons/pagehot.png">    </p:cNvPr>
          <p:cNvPicPr>
            <a:picLocks noChangeAspect="1"/>
          </p:cNvPicPr>
          <p:nvPr/>
        </p:nvPicPr>
        <p:blipFill>
          <a:blip r:embed="rId36"/>
          <a:stretch>
            <a:fillRect/>
          </a:stretch>
        </p:blipFill>
        <p:spPr>
          <a:xfrm>
            <a:off x="8398764" y="2871216"/>
            <a:ext cx="173736" cy="201168"/>
          </a:xfrm>
          <a:prstGeom prst="rect">
            <a:avLst/>
          </a:prstGeom>
        </p:spPr>
      </p:pic>
      <p:pic>
        <p:nvPicPr>
          <p:cNvPr id="50" name="high effort page 24" descr="/NAS/SJ/POSTECH/nlp/figs/icons/pagehot.png">    </p:cNvPr>
          <p:cNvPicPr>
            <a:picLocks noChangeAspect="1"/>
          </p:cNvPicPr>
          <p:nvPr/>
        </p:nvPicPr>
        <p:blipFill>
          <a:blip r:embed="rId37"/>
          <a:stretch>
            <a:fillRect/>
          </a:stretch>
        </p:blipFill>
        <p:spPr>
          <a:xfrm>
            <a:off x="8577072" y="2871216"/>
            <a:ext cx="173736" cy="201168"/>
          </a:xfrm>
          <a:prstGeom prst="rect">
            <a:avLst/>
          </a:prstGeom>
        </p:spPr>
      </p:pic>
      <p:pic>
        <p:nvPicPr>
          <p:cNvPr id="51" name="high effort page 25" descr="/NAS/SJ/POSTECH/nlp/figs/icons/pagehot.png">    </p:cNvPr>
          <p:cNvPicPr>
            <a:picLocks noChangeAspect="1"/>
          </p:cNvPicPr>
          <p:nvPr/>
        </p:nvPicPr>
        <p:blipFill>
          <a:blip r:embed="rId38"/>
          <a:stretch>
            <a:fillRect/>
          </a:stretch>
        </p:blipFill>
        <p:spPr>
          <a:xfrm>
            <a:off x="8755380" y="2871216"/>
            <a:ext cx="173736" cy="201168"/>
          </a:xfrm>
          <a:prstGeom prst="rect">
            <a:avLst/>
          </a:prstGeom>
        </p:spPr>
      </p:pic>
      <p:pic>
        <p:nvPicPr>
          <p:cNvPr id="52" name="high effort page 26" descr="/NAS/SJ/POSTECH/nlp/figs/icons/pagehot.png">    </p:cNvPr>
          <p:cNvPicPr>
            <a:picLocks noChangeAspect="1"/>
          </p:cNvPicPr>
          <p:nvPr/>
        </p:nvPicPr>
        <p:blipFill>
          <a:blip r:embed="rId39"/>
          <a:stretch>
            <a:fillRect/>
          </a:stretch>
        </p:blipFill>
        <p:spPr>
          <a:xfrm>
            <a:off x="8933688" y="2871216"/>
            <a:ext cx="173736" cy="201168"/>
          </a:xfrm>
          <a:prstGeom prst="rect">
            <a:avLst/>
          </a:prstGeom>
        </p:spPr>
      </p:pic>
      <p:pic>
        <p:nvPicPr>
          <p:cNvPr id="53" name="high effort page 27" descr="/NAS/SJ/POSTECH/nlp/figs/icons/pagehot.png">    </p:cNvPr>
          <p:cNvPicPr>
            <a:picLocks noChangeAspect="1"/>
          </p:cNvPicPr>
          <p:nvPr/>
        </p:nvPicPr>
        <p:blipFill>
          <a:blip r:embed="rId40"/>
          <a:stretch>
            <a:fillRect/>
          </a:stretch>
        </p:blipFill>
        <p:spPr>
          <a:xfrm>
            <a:off x="9111996" y="2871216"/>
            <a:ext cx="173736" cy="201168"/>
          </a:xfrm>
          <a:prstGeom prst="rect">
            <a:avLst/>
          </a:prstGeom>
        </p:spPr>
      </p:pic>
      <p:pic>
        <p:nvPicPr>
          <p:cNvPr id="54" name="high effort page 28" descr="/NAS/SJ/POSTECH/nlp/figs/icons/pagehot.png">    </p:cNvPr>
          <p:cNvPicPr>
            <a:picLocks noChangeAspect="1"/>
          </p:cNvPicPr>
          <p:nvPr/>
        </p:nvPicPr>
        <p:blipFill>
          <a:blip r:embed="rId41"/>
          <a:stretch>
            <a:fillRect/>
          </a:stretch>
        </p:blipFill>
        <p:spPr>
          <a:xfrm>
            <a:off x="9290304" y="2871216"/>
            <a:ext cx="173736" cy="201168"/>
          </a:xfrm>
          <a:prstGeom prst="rect">
            <a:avLst/>
          </a:prstGeom>
        </p:spPr>
      </p:pic>
      <p:pic>
        <p:nvPicPr>
          <p:cNvPr id="55" name="high effort page 29" descr="/NAS/SJ/POSTECH/nlp/figs/icons/pagehot.png">    </p:cNvPr>
          <p:cNvPicPr>
            <a:picLocks noChangeAspect="1"/>
          </p:cNvPicPr>
          <p:nvPr/>
        </p:nvPicPr>
        <p:blipFill>
          <a:blip r:embed="rId42"/>
          <a:stretch>
            <a:fillRect/>
          </a:stretch>
        </p:blipFill>
        <p:spPr>
          <a:xfrm>
            <a:off x="9468612" y="2871216"/>
            <a:ext cx="173736" cy="201168"/>
          </a:xfrm>
          <a:prstGeom prst="rect">
            <a:avLst/>
          </a:prstGeom>
        </p:spPr>
      </p:pic>
      <p:pic>
        <p:nvPicPr>
          <p:cNvPr id="56" name="high effort page 30" descr="/NAS/SJ/POSTECH/nlp/figs/icons/pagehot.png">    </p:cNvPr>
          <p:cNvPicPr>
            <a:picLocks noChangeAspect="1"/>
          </p:cNvPicPr>
          <p:nvPr/>
        </p:nvPicPr>
        <p:blipFill>
          <a:blip r:embed="rId43"/>
          <a:stretch>
            <a:fillRect/>
          </a:stretch>
        </p:blipFill>
        <p:spPr>
          <a:xfrm>
            <a:off x="9646920" y="2871216"/>
            <a:ext cx="173736" cy="201168"/>
          </a:xfrm>
          <a:prstGeom prst="rect">
            <a:avLst/>
          </a:prstGeom>
        </p:spPr>
      </p:pic>
      <p:pic>
        <p:nvPicPr>
          <p:cNvPr id="57" name="high effort page 31" descr="/NAS/SJ/POSTECH/nlp/figs/icons/pagehot.png">    </p:cNvPr>
          <p:cNvPicPr>
            <a:picLocks noChangeAspect="1"/>
          </p:cNvPicPr>
          <p:nvPr/>
        </p:nvPicPr>
        <p:blipFill>
          <a:blip r:embed="rId44"/>
          <a:stretch>
            <a:fillRect/>
          </a:stretch>
        </p:blipFill>
        <p:spPr>
          <a:xfrm>
            <a:off x="9825228" y="2871216"/>
            <a:ext cx="173736" cy="201168"/>
          </a:xfrm>
          <a:prstGeom prst="rect">
            <a:avLst/>
          </a:prstGeom>
        </p:spPr>
      </p:pic>
      <p:pic>
        <p:nvPicPr>
          <p:cNvPr id="58" name="high effort page 32" descr="/NAS/SJ/POSTECH/nlp/figs/icons/pagehot.png">    </p:cNvPr>
          <p:cNvPicPr>
            <a:picLocks noChangeAspect="1"/>
          </p:cNvPicPr>
          <p:nvPr/>
        </p:nvPicPr>
        <p:blipFill>
          <a:blip r:embed="rId45"/>
          <a:stretch>
            <a:fillRect/>
          </a:stretch>
        </p:blipFill>
        <p:spPr>
          <a:xfrm>
            <a:off x="10003536" y="2871216"/>
            <a:ext cx="173736" cy="201168"/>
          </a:xfrm>
          <a:prstGeom prst="rect">
            <a:avLst/>
          </a:prstGeom>
        </p:spPr>
      </p:pic>
      <p:pic>
        <p:nvPicPr>
          <p:cNvPr id="59" name="high effort page 33" descr="/NAS/SJ/POSTECH/nlp/figs/icons/pagehot.png">    </p:cNvPr>
          <p:cNvPicPr>
            <a:picLocks noChangeAspect="1"/>
          </p:cNvPicPr>
          <p:nvPr/>
        </p:nvPicPr>
        <p:blipFill>
          <a:blip r:embed="rId46"/>
          <a:stretch>
            <a:fillRect/>
          </a:stretch>
        </p:blipFill>
        <p:spPr>
          <a:xfrm>
            <a:off x="10181844" y="2871216"/>
            <a:ext cx="173736" cy="201168"/>
          </a:xfrm>
          <a:prstGeom prst="rect">
            <a:avLst/>
          </a:prstGeom>
        </p:spPr>
      </p:pic>
      <p:pic>
        <p:nvPicPr>
          <p:cNvPr id="60" name="high effort page 34" descr="/NAS/SJ/POSTECH/nlp/figs/icons/pagehot.png">    </p:cNvPr>
          <p:cNvPicPr>
            <a:picLocks noChangeAspect="1"/>
          </p:cNvPicPr>
          <p:nvPr/>
        </p:nvPicPr>
        <p:blipFill>
          <a:blip r:embed="rId47"/>
          <a:stretch>
            <a:fillRect/>
          </a:stretch>
        </p:blipFill>
        <p:spPr>
          <a:xfrm>
            <a:off x="10360152" y="2871216"/>
            <a:ext cx="173736" cy="201168"/>
          </a:xfrm>
          <a:prstGeom prst="rect">
            <a:avLst/>
          </a:prstGeom>
        </p:spPr>
      </p:pic>
      <p:pic>
        <p:nvPicPr>
          <p:cNvPr id="61" name="high effort page 35" descr="/NAS/SJ/POSTECH/nlp/figs/icons/pagehot.png">    </p:cNvPr>
          <p:cNvPicPr>
            <a:picLocks noChangeAspect="1"/>
          </p:cNvPicPr>
          <p:nvPr/>
        </p:nvPicPr>
        <p:blipFill>
          <a:blip r:embed="rId48"/>
          <a:stretch>
            <a:fillRect/>
          </a:stretch>
        </p:blipFill>
        <p:spPr>
          <a:xfrm>
            <a:off x="10538460" y="2871216"/>
            <a:ext cx="173736" cy="201168"/>
          </a:xfrm>
          <a:prstGeom prst="rect">
            <a:avLst/>
          </a:prstGeom>
        </p:spPr>
      </p:pic>
      <p:pic>
        <p:nvPicPr>
          <p:cNvPr id="62" name="high effort page 36" descr="/NAS/SJ/POSTECH/nlp/figs/icons/pagehot.png">    </p:cNvPr>
          <p:cNvPicPr>
            <a:picLocks noChangeAspect="1"/>
          </p:cNvPicPr>
          <p:nvPr/>
        </p:nvPicPr>
        <p:blipFill>
          <a:blip r:embed="rId49"/>
          <a:stretch>
            <a:fillRect/>
          </a:stretch>
        </p:blipFill>
        <p:spPr>
          <a:xfrm>
            <a:off x="10716768" y="2871216"/>
            <a:ext cx="173736" cy="201168"/>
          </a:xfrm>
          <a:prstGeom prst="rect">
            <a:avLst/>
          </a:prstGeom>
        </p:spPr>
      </p:pic>
      <p:pic>
        <p:nvPicPr>
          <p:cNvPr id="63" name="high effort page 37" descr="/NAS/SJ/POSTECH/nlp/figs/icons/pagehot.png">    </p:cNvPr>
          <p:cNvPicPr>
            <a:picLocks noChangeAspect="1"/>
          </p:cNvPicPr>
          <p:nvPr/>
        </p:nvPicPr>
        <p:blipFill>
          <a:blip r:embed="rId50"/>
          <a:stretch>
            <a:fillRect/>
          </a:stretch>
        </p:blipFill>
        <p:spPr>
          <a:xfrm>
            <a:off x="10895076" y="2871216"/>
            <a:ext cx="173736" cy="201168"/>
          </a:xfrm>
          <a:prstGeom prst="rect">
            <a:avLst/>
          </a:prstGeom>
        </p:spPr>
      </p:pic>
      <p:pic>
        <p:nvPicPr>
          <p:cNvPr id="64" name="high effort page 38" descr="/NAS/SJ/POSTECH/nlp/figs/icons/pagehot.png">    </p:cNvPr>
          <p:cNvPicPr>
            <a:picLocks noChangeAspect="1"/>
          </p:cNvPicPr>
          <p:nvPr/>
        </p:nvPicPr>
        <p:blipFill>
          <a:blip r:embed="rId51"/>
          <a:stretch>
            <a:fillRect/>
          </a:stretch>
        </p:blipFill>
        <p:spPr>
          <a:xfrm>
            <a:off x="11073384" y="2871216"/>
            <a:ext cx="173736" cy="201168"/>
          </a:xfrm>
          <a:prstGeom prst="rect">
            <a:avLst/>
          </a:prstGeom>
        </p:spPr>
      </p:pic>
      <p:pic>
        <p:nvPicPr>
          <p:cNvPr id="65" name="high effort page 39" descr="/NAS/SJ/POSTECH/nlp/figs/icons/pagehot.png">    </p:cNvPr>
          <p:cNvPicPr>
            <a:picLocks noChangeAspect="1"/>
          </p:cNvPicPr>
          <p:nvPr/>
        </p:nvPicPr>
        <p:blipFill>
          <a:blip r:embed="rId52"/>
          <a:stretch>
            <a:fillRect/>
          </a:stretch>
        </p:blipFill>
        <p:spPr>
          <a:xfrm>
            <a:off x="11251692" y="2871216"/>
            <a:ext cx="173736" cy="201168"/>
          </a:xfrm>
          <a:prstGeom prst="rect">
            <a:avLst/>
          </a:prstGeom>
        </p:spPr>
      </p:pic>
      <p:pic>
        <p:nvPicPr>
          <p:cNvPr id="66" name="high effort page 40" descr="/NAS/SJ/POSTECH/nlp/figs/icons/pagehot.png">    </p:cNvPr>
          <p:cNvPicPr>
            <a:picLocks noChangeAspect="1"/>
          </p:cNvPicPr>
          <p:nvPr/>
        </p:nvPicPr>
        <p:blipFill>
          <a:blip r:embed="rId53"/>
          <a:stretch>
            <a:fillRect/>
          </a:stretch>
        </p:blipFill>
        <p:spPr>
          <a:xfrm>
            <a:off x="7863840" y="3090672"/>
            <a:ext cx="173736" cy="201168"/>
          </a:xfrm>
          <a:prstGeom prst="rect">
            <a:avLst/>
          </a:prstGeom>
        </p:spPr>
      </p:pic>
      <p:pic>
        <p:nvPicPr>
          <p:cNvPr id="67" name="high effort page 41" descr="/NAS/SJ/POSTECH/nlp/figs/icons/pagehot.png">    </p:cNvPr>
          <p:cNvPicPr>
            <a:picLocks noChangeAspect="1"/>
          </p:cNvPicPr>
          <p:nvPr/>
        </p:nvPicPr>
        <p:blipFill>
          <a:blip r:embed="rId54"/>
          <a:stretch>
            <a:fillRect/>
          </a:stretch>
        </p:blipFill>
        <p:spPr>
          <a:xfrm>
            <a:off x="8042148" y="3090672"/>
            <a:ext cx="173736" cy="201168"/>
          </a:xfrm>
          <a:prstGeom prst="rect">
            <a:avLst/>
          </a:prstGeom>
        </p:spPr>
      </p:pic>
      <p:pic>
        <p:nvPicPr>
          <p:cNvPr id="68" name="high effort page 42" descr="/NAS/SJ/POSTECH/nlp/figs/icons/pagehot.png">    </p:cNvPr>
          <p:cNvPicPr>
            <a:picLocks noChangeAspect="1"/>
          </p:cNvPicPr>
          <p:nvPr/>
        </p:nvPicPr>
        <p:blipFill>
          <a:blip r:embed="rId55"/>
          <a:stretch>
            <a:fillRect/>
          </a:stretch>
        </p:blipFill>
        <p:spPr>
          <a:xfrm>
            <a:off x="8220456" y="3090672"/>
            <a:ext cx="173736" cy="201168"/>
          </a:xfrm>
          <a:prstGeom prst="rect">
            <a:avLst/>
          </a:prstGeom>
        </p:spPr>
      </p:pic>
      <p:sp>
        <p:nvSpPr>
          <p:cNvPr id="69" name="Text 12"/>
          <p:cNvSpPr txBox="1"/>
          <p:nvPr/>
        </p:nvSpPr>
        <p:spPr>
          <a:xfrm>
            <a:off x="6400800" y="3520440"/>
            <a:ext cx="5029200" cy="548640"/>
          </a:xfrm>
          <a:prstGeom prst="rect">
            <a:avLst/>
          </a:prstGeom>
          <a:noFill/>
          <a:ln/>
        </p:spPr>
        <p:txBody>
          <a:bodyPr wrap="square" lIns="0" tIns="0" rIns="0" bIns="0" rtlCol="0" anchor="ctr"/>
          <a:lstStyle/>
          <a:p>
            <a:pPr indent="0" marL="0">
              <a:buNone/>
            </a:pPr>
            <a:r>
              <a:rPr lang="en-US" sz="2200" b="1" dirty="0">
                <a:solidFill>
                  <a:srgbClr val="ED7D31"/>
                </a:solidFill>
              </a:rPr>
              <a:t>4.4× the pages</a:t>
            </a:r>
            <a:pPr indent="0" marL="0">
              <a:buNone/>
            </a:pPr>
            <a:r>
              <a:rPr lang="en-US" sz="1500" dirty="0">
                <a:solidFill>
                  <a:schemeClr val="tx1"/>
                </a:solidFill>
              </a:rPr>
              <a:t>  for only 9 more points</a:t>
            </a:r>
            <a:endParaRPr lang="en-US" sz="1600" dirty="0"/>
          </a:p>
        </p:txBody>
      </p:sp>
      <p:sp>
        <p:nvSpPr>
          <p:cNvPr id="70" name="box "/>
          <p:cNvSpPr/>
          <p:nvPr/>
        </p:nvSpPr>
        <p:spPr>
          <a:xfrm>
            <a:off x="548640" y="4407408"/>
            <a:ext cx="3566160" cy="502920"/>
          </a:xfrm>
          <a:prstGeom prst="roundRect">
            <a:avLst>
              <a:gd name="adj" fmla="val 10909"/>
            </a:avLst>
          </a:prstGeom>
          <a:solidFill>
            <a:srgbClr val="F2F2F2"/>
          </a:solidFill>
          <a:ln w="9525">
            <a:solidFill>
              <a:srgbClr val="BFBFBF"/>
            </a:solidFill>
            <a:prstDash val="solid"/>
          </a:ln>
        </p:spPr>
      </p:sp>
      <p:sp>
        <p:nvSpPr>
          <p:cNvPr id="71" name="Text 14"/>
          <p:cNvSpPr txBox="1"/>
          <p:nvPr/>
        </p:nvSpPr>
        <p:spPr>
          <a:xfrm>
            <a:off x="62179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2" name="icon robot" descr="/NAS/SJ/POSTECH/nlp/figs/icons/robot.png">    </p:cNvPr>
          <p:cNvPicPr>
            <a:picLocks noChangeAspect="1"/>
          </p:cNvPicPr>
          <p:nvPr/>
        </p:nvPicPr>
        <p:blipFill>
          <a:blip r:embed="rId56"/>
          <a:stretch>
            <a:fillRect/>
          </a:stretch>
        </p:blipFill>
        <p:spPr>
          <a:xfrm>
            <a:off x="685800" y="4462272"/>
            <a:ext cx="384048" cy="384048"/>
          </a:xfrm>
          <a:prstGeom prst="rect">
            <a:avLst/>
          </a:prstGeom>
        </p:spPr>
      </p:pic>
      <p:sp>
        <p:nvSpPr>
          <p:cNvPr id="73" name="Text 15"/>
          <p:cNvSpPr txBox="1"/>
          <p:nvPr/>
        </p:nvSpPr>
        <p:spPr>
          <a:xfrm>
            <a:off x="118872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agents already write this code</a:t>
            </a:r>
            <a:endParaRPr lang="en-US" sz="1500" dirty="0"/>
          </a:p>
        </p:txBody>
      </p:sp>
      <p:sp>
        <p:nvSpPr>
          <p:cNvPr id="74" name="box "/>
          <p:cNvSpPr/>
          <p:nvPr/>
        </p:nvSpPr>
        <p:spPr>
          <a:xfrm>
            <a:off x="4297680" y="4407408"/>
            <a:ext cx="3566160" cy="502920"/>
          </a:xfrm>
          <a:prstGeom prst="roundRect">
            <a:avLst>
              <a:gd name="adj" fmla="val 10909"/>
            </a:avLst>
          </a:prstGeom>
          <a:solidFill>
            <a:srgbClr val="F2F2F2"/>
          </a:solidFill>
          <a:ln w="9525">
            <a:solidFill>
              <a:srgbClr val="BFBFBF"/>
            </a:solidFill>
            <a:prstDash val="solid"/>
          </a:ln>
        </p:spPr>
      </p:sp>
      <p:sp>
        <p:nvSpPr>
          <p:cNvPr id="75" name="Text 17"/>
          <p:cNvSpPr txBox="1"/>
          <p:nvPr/>
        </p:nvSpPr>
        <p:spPr>
          <a:xfrm>
            <a:off x="437083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76" name="icon coins" descr="/NAS/SJ/POSTECH/nlp/figs/icons/coins.png">    </p:cNvPr>
          <p:cNvPicPr>
            <a:picLocks noChangeAspect="1"/>
          </p:cNvPicPr>
          <p:nvPr/>
        </p:nvPicPr>
        <p:blipFill>
          <a:blip r:embed="rId57"/>
          <a:stretch>
            <a:fillRect/>
          </a:stretch>
        </p:blipFill>
        <p:spPr>
          <a:xfrm>
            <a:off x="4434840" y="4462272"/>
            <a:ext cx="384048" cy="384048"/>
          </a:xfrm>
          <a:prstGeom prst="rect">
            <a:avLst/>
          </a:prstGeom>
        </p:spPr>
      </p:pic>
      <p:sp>
        <p:nvSpPr>
          <p:cNvPr id="77" name="Text 18"/>
          <p:cNvSpPr txBox="1"/>
          <p:nvPr/>
        </p:nvSpPr>
        <p:spPr>
          <a:xfrm>
            <a:off x="493776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tokens cost money and time</a:t>
            </a:r>
            <a:endParaRPr lang="en-US" sz="1500" dirty="0"/>
          </a:p>
        </p:txBody>
      </p:sp>
      <p:sp>
        <p:nvSpPr>
          <p:cNvPr id="78" name="box "/>
          <p:cNvSpPr/>
          <p:nvPr/>
        </p:nvSpPr>
        <p:spPr>
          <a:xfrm>
            <a:off x="8046720" y="4407408"/>
            <a:ext cx="3566160" cy="502920"/>
          </a:xfrm>
          <a:prstGeom prst="roundRect">
            <a:avLst>
              <a:gd name="adj" fmla="val 10909"/>
            </a:avLst>
          </a:prstGeom>
          <a:solidFill>
            <a:srgbClr val="F2F2F2"/>
          </a:solidFill>
          <a:ln w="9525">
            <a:solidFill>
              <a:srgbClr val="BFBFBF"/>
            </a:solidFill>
            <a:prstDash val="solid"/>
          </a:ln>
        </p:spPr>
      </p:sp>
      <p:sp>
        <p:nvSpPr>
          <p:cNvPr id="79" name="Text 20"/>
          <p:cNvSpPr txBox="1"/>
          <p:nvPr/>
        </p:nvSpPr>
        <p:spPr>
          <a:xfrm>
            <a:off x="8119872" y="4407408"/>
            <a:ext cx="3419856" cy="502920"/>
          </a:xfrm>
          <a:prstGeom prst="rect">
            <a:avLst/>
          </a:prstGeom>
          <a:noFill/>
          <a:ln/>
        </p:spPr>
        <p:txBody>
          <a:bodyPr wrap="square" lIns="0" tIns="0" rIns="0" bIns="0" rtlCol="0" anchor="ctr"/>
          <a:lstStyle/>
          <a:p>
            <a:pPr algn="ctr" indent="0" marL="0">
              <a:buNone/>
            </a:pPr>
            <a:endParaRPr lang="en-US" sz="1500" dirty="0"/>
          </a:p>
        </p:txBody>
      </p:sp>
      <p:pic>
        <p:nvPicPr>
          <p:cNvPr id="80" name="icon gpu" descr="/NAS/SJ/POSTECH/nlp/figs/icons/gpu.png">    </p:cNvPr>
          <p:cNvPicPr>
            <a:picLocks noChangeAspect="1"/>
          </p:cNvPicPr>
          <p:nvPr/>
        </p:nvPicPr>
        <p:blipFill>
          <a:blip r:embed="rId58"/>
          <a:stretch>
            <a:fillRect/>
          </a:stretch>
        </p:blipFill>
        <p:spPr>
          <a:xfrm>
            <a:off x="8183880" y="4462272"/>
            <a:ext cx="384048" cy="384048"/>
          </a:xfrm>
          <a:prstGeom prst="rect">
            <a:avLst/>
          </a:prstGeom>
        </p:spPr>
      </p:pic>
      <p:sp>
        <p:nvSpPr>
          <p:cNvPr id="81" name="Text 21"/>
          <p:cNvSpPr txBox="1"/>
          <p:nvPr/>
        </p:nvSpPr>
        <p:spPr>
          <a:xfrm>
            <a:off x="8686800" y="4407408"/>
            <a:ext cx="2834640" cy="502920"/>
          </a:xfrm>
          <a:prstGeom prst="rect">
            <a:avLst/>
          </a:prstGeom>
          <a:noFill/>
          <a:ln/>
        </p:spPr>
        <p:txBody>
          <a:bodyPr wrap="square" lIns="0" tIns="0" rIns="0" bIns="0" rtlCol="0" anchor="ctr"/>
          <a:lstStyle/>
          <a:p>
            <a:pPr indent="0" marL="0">
              <a:buNone/>
            </a:pPr>
            <a:r>
              <a:rPr lang="en-US" sz="1500" dirty="0">
                <a:solidFill>
                  <a:schemeClr val="tx1"/>
                </a:solidFill>
              </a:rPr>
              <a:t>most teams have one 24 GB GPU</a:t>
            </a:r>
            <a:endParaRPr lang="en-US" sz="1500" dirty="0"/>
          </a:p>
        </p:txBody>
      </p:sp>
      <p:sp>
        <p:nvSpPr>
          <p:cNvPr id="82" name="our question"/>
          <p:cNvSpPr/>
          <p:nvPr/>
        </p:nvSpPr>
        <p:spPr>
          <a:xfrm>
            <a:off x="548640" y="5074920"/>
            <a:ext cx="11064240" cy="960120"/>
          </a:xfrm>
          <a:prstGeom prst="roundRect">
            <a:avLst>
              <a:gd name="adj" fmla="val 7619"/>
            </a:avLst>
          </a:prstGeom>
          <a:solidFill>
            <a:srgbClr val="DEEBF7"/>
          </a:solidFill>
          <a:ln w="9525">
            <a:solidFill>
              <a:srgbClr val="BDD7EE"/>
            </a:solidFill>
            <a:prstDash val="solid"/>
          </a:ln>
        </p:spPr>
      </p:sp>
      <p:sp>
        <p:nvSpPr>
          <p:cNvPr id="83" name="Text 23"/>
          <p:cNvSpPr txBox="1"/>
          <p:nvPr/>
        </p:nvSpPr>
        <p:spPr>
          <a:xfrm>
            <a:off x="777240" y="5120640"/>
            <a:ext cx="4023360" cy="868680"/>
          </a:xfrm>
          <a:prstGeom prst="rect">
            <a:avLst/>
          </a:prstGeom>
          <a:noFill/>
          <a:ln/>
        </p:spPr>
        <p:txBody>
          <a:bodyPr wrap="square" lIns="0" tIns="0" rIns="0" bIns="0" rtlCol="0" anchor="ctr"/>
          <a:lstStyle/>
          <a:p>
            <a:pPr indent="0" marL="0">
              <a:buNone/>
            </a:pPr>
            <a:r>
              <a:rPr lang="en-US" sz="2000" b="1" dirty="0">
                <a:solidFill>
                  <a:srgbClr val="4472C4"/>
                </a:solidFill>
              </a:rPr>
              <a:t>Where should extra effort go?</a:t>
            </a:r>
            <a:endParaRPr lang="en-US" sz="2000" dirty="0"/>
          </a:p>
        </p:txBody>
      </p:sp>
      <p:sp>
        <p:nvSpPr>
          <p:cNvPr id="84" name="option a missing fact"/>
          <p:cNvSpPr/>
          <p:nvPr/>
        </p:nvSpPr>
        <p:spPr>
          <a:xfrm>
            <a:off x="4846320" y="5303520"/>
            <a:ext cx="2103120" cy="502920"/>
          </a:xfrm>
          <a:prstGeom prst="roundRect">
            <a:avLst>
              <a:gd name="adj" fmla="val 36364"/>
            </a:avLst>
          </a:prstGeom>
          <a:solidFill>
            <a:srgbClr val="E2F0D9"/>
          </a:solidFill>
          <a:ln w="12700">
            <a:solidFill>
              <a:srgbClr val="38761D"/>
            </a:solidFill>
            <a:prstDash val="solid"/>
          </a:ln>
        </p:spPr>
      </p:sp>
      <p:pic>
        <p:nvPicPr>
          <p:cNvPr id="85" name="icon fact" descr="/NAS/SJ/POSTECH/nlp/figs/icons/fact.png">    </p:cNvPr>
          <p:cNvPicPr>
            <a:picLocks noChangeAspect="1"/>
          </p:cNvPicPr>
          <p:nvPr/>
        </p:nvPicPr>
        <p:blipFill>
          <a:blip r:embed="rId59"/>
          <a:stretch>
            <a:fillRect/>
          </a:stretch>
        </p:blipFill>
        <p:spPr>
          <a:xfrm>
            <a:off x="4974336" y="5385816"/>
            <a:ext cx="329184" cy="329184"/>
          </a:xfrm>
          <a:prstGeom prst="rect">
            <a:avLst/>
          </a:prstGeom>
        </p:spPr>
      </p:pic>
      <p:sp>
        <p:nvSpPr>
          <p:cNvPr id="86" name="Text 25"/>
          <p:cNvSpPr txBox="1"/>
          <p:nvPr/>
        </p:nvSpPr>
        <p:spPr>
          <a:xfrm>
            <a:off x="541324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missing fact</a:t>
            </a:r>
            <a:endParaRPr lang="en-US" sz="1600" dirty="0"/>
          </a:p>
        </p:txBody>
      </p:sp>
      <p:sp>
        <p:nvSpPr>
          <p:cNvPr id="87" name="option a free check"/>
          <p:cNvSpPr/>
          <p:nvPr/>
        </p:nvSpPr>
        <p:spPr>
          <a:xfrm>
            <a:off x="7086600" y="5303520"/>
            <a:ext cx="2103120" cy="502920"/>
          </a:xfrm>
          <a:prstGeom prst="roundRect">
            <a:avLst>
              <a:gd name="adj" fmla="val 36364"/>
            </a:avLst>
          </a:prstGeom>
          <a:solidFill>
            <a:srgbClr val="E2F0D9"/>
          </a:solidFill>
          <a:ln w="12700">
            <a:solidFill>
              <a:srgbClr val="38761D"/>
            </a:solidFill>
            <a:prstDash val="solid"/>
          </a:ln>
        </p:spPr>
      </p:sp>
      <p:pic>
        <p:nvPicPr>
          <p:cNvPr id="88" name="icon check" descr="/NAS/SJ/POSTECH/nlp/figs/icons/check.png">    </p:cNvPr>
          <p:cNvPicPr>
            <a:picLocks noChangeAspect="1"/>
          </p:cNvPicPr>
          <p:nvPr/>
        </p:nvPicPr>
        <p:blipFill>
          <a:blip r:embed="rId60"/>
          <a:stretch>
            <a:fillRect/>
          </a:stretch>
        </p:blipFill>
        <p:spPr>
          <a:xfrm>
            <a:off x="7214616" y="5385816"/>
            <a:ext cx="329184" cy="329184"/>
          </a:xfrm>
          <a:prstGeom prst="rect">
            <a:avLst/>
          </a:prstGeom>
        </p:spPr>
      </p:pic>
      <p:sp>
        <p:nvSpPr>
          <p:cNvPr id="89" name="Text 27"/>
          <p:cNvSpPr txBox="1"/>
          <p:nvPr/>
        </p:nvSpPr>
        <p:spPr>
          <a:xfrm>
            <a:off x="7653528" y="5303520"/>
            <a:ext cx="1508760" cy="502920"/>
          </a:xfrm>
          <a:prstGeom prst="rect">
            <a:avLst/>
          </a:prstGeom>
          <a:noFill/>
          <a:ln/>
        </p:spPr>
        <p:txBody>
          <a:bodyPr wrap="square" lIns="0" tIns="0" rIns="0" bIns="0" rtlCol="0" anchor="ctr"/>
          <a:lstStyle/>
          <a:p>
            <a:pPr indent="0" marL="0">
              <a:buNone/>
            </a:pPr>
            <a:r>
              <a:rPr lang="en-US" sz="1600" b="1" dirty="0">
                <a:solidFill>
                  <a:srgbClr val="38761D"/>
                </a:solidFill>
              </a:rPr>
              <a:t>a free check</a:t>
            </a:r>
            <a:endParaRPr lang="en-US" sz="1600" dirty="0"/>
          </a:p>
        </p:txBody>
      </p:sp>
      <p:sp>
        <p:nvSpPr>
          <p:cNvPr id="90" name="option more thinking"/>
          <p:cNvSpPr/>
          <p:nvPr/>
        </p:nvSpPr>
        <p:spPr>
          <a:xfrm>
            <a:off x="9326880" y="5303520"/>
            <a:ext cx="2103120" cy="502920"/>
          </a:xfrm>
          <a:prstGeom prst="roundRect">
            <a:avLst>
              <a:gd name="adj" fmla="val 36364"/>
            </a:avLst>
          </a:prstGeom>
          <a:solidFill>
            <a:srgbClr val="FADBD8"/>
          </a:solidFill>
          <a:ln w="12700">
            <a:solidFill>
              <a:srgbClr val="C00000"/>
            </a:solidFill>
            <a:prstDash val="solid"/>
          </a:ln>
        </p:spPr>
      </p:sp>
      <p:pic>
        <p:nvPicPr>
          <p:cNvPr id="91" name="icon brain" descr="/NAS/SJ/POSTECH/nlp/figs/icons/brain.png">    </p:cNvPr>
          <p:cNvPicPr>
            <a:picLocks noChangeAspect="1"/>
          </p:cNvPicPr>
          <p:nvPr/>
        </p:nvPicPr>
        <p:blipFill>
          <a:blip r:embed="rId61"/>
          <a:stretch>
            <a:fillRect/>
          </a:stretch>
        </p:blipFill>
        <p:spPr>
          <a:xfrm>
            <a:off x="9454896" y="5385816"/>
            <a:ext cx="329184" cy="329184"/>
          </a:xfrm>
          <a:prstGeom prst="rect">
            <a:avLst/>
          </a:prstGeom>
        </p:spPr>
      </p:pic>
      <p:sp>
        <p:nvSpPr>
          <p:cNvPr id="92" name="Text 29"/>
          <p:cNvSpPr txBox="1"/>
          <p:nvPr/>
        </p:nvSpPr>
        <p:spPr>
          <a:xfrm>
            <a:off x="9893808" y="5303520"/>
            <a:ext cx="1508760" cy="502920"/>
          </a:xfrm>
          <a:prstGeom prst="rect">
            <a:avLst/>
          </a:prstGeom>
          <a:noFill/>
          <a:ln/>
        </p:spPr>
        <p:txBody>
          <a:bodyPr wrap="square" lIns="0" tIns="0" rIns="0" bIns="0" rtlCol="0" anchor="ctr"/>
          <a:lstStyle/>
          <a:p>
            <a:pPr indent="0" marL="0">
              <a:buNone/>
            </a:pPr>
            <a:r>
              <a:rPr lang="en-US" sz="1600" b="1" dirty="0">
                <a:solidFill>
                  <a:srgbClr val="C00000"/>
                </a:solidFill>
              </a:rPr>
              <a:t>more thinking</a:t>
            </a:r>
            <a:endParaRPr lang="en-US" sz="16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Words we use</a:t>
            </a:r>
            <a:endParaRPr lang="en-US" sz="3600" dirty="0"/>
          </a:p>
        </p:txBody>
      </p:sp>
      <p:sp>
        <p:nvSpPr>
          <p:cNvPr id="3" name="term Program"/>
          <p:cNvSpPr/>
          <p:nvPr/>
        </p:nvSpPr>
        <p:spPr>
          <a:xfrm>
            <a:off x="548640" y="1417320"/>
            <a:ext cx="3520440" cy="2011680"/>
          </a:xfrm>
          <a:prstGeom prst="roundRect">
            <a:avLst>
              <a:gd name="adj" fmla="val 3636"/>
            </a:avLst>
          </a:prstGeom>
          <a:solidFill>
            <a:srgbClr val="F2F2F2"/>
          </a:solidFill>
          <a:ln w="9525">
            <a:solidFill>
              <a:srgbClr val="D9D9D9"/>
            </a:solidFill>
            <a:prstDash val="solid"/>
          </a:ln>
        </p:spPr>
      </p:sp>
      <p:sp>
        <p:nvSpPr>
          <p:cNvPr id="4" name="Text 2"/>
          <p:cNvSpPr txBox="1"/>
          <p:nvPr/>
        </p:nvSpPr>
        <p:spPr>
          <a:xfrm>
            <a:off x="77724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Program</a:t>
            </a:r>
            <a:endParaRPr lang="en-US" sz="2600" dirty="0"/>
          </a:p>
        </p:txBody>
      </p:sp>
      <p:sp>
        <p:nvSpPr>
          <p:cNvPr id="5" name="Text 3"/>
          <p:cNvSpPr txBox="1"/>
          <p:nvPr/>
        </p:nvSpPr>
        <p:spPr>
          <a:xfrm>
            <a:off x="77724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code the model writes; the computer runs it</a:t>
            </a:r>
            <a:endParaRPr lang="en-US" sz="1600" dirty="0"/>
          </a:p>
        </p:txBody>
      </p:sp>
      <p:sp>
        <p:nvSpPr>
          <p:cNvPr id="6" name="Text 4"/>
          <p:cNvSpPr txBox="1"/>
          <p:nvPr/>
        </p:nvSpPr>
        <p:spPr>
          <a:xfrm>
            <a:off x="77724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shoelace formula for an area</a:t>
            </a:r>
            <a:endParaRPr lang="en-US" sz="1400" dirty="0"/>
          </a:p>
        </p:txBody>
      </p:sp>
      <p:sp>
        <p:nvSpPr>
          <p:cNvPr id="7" name="term Tool"/>
          <p:cNvSpPr/>
          <p:nvPr/>
        </p:nvSpPr>
        <p:spPr>
          <a:xfrm>
            <a:off x="4343400" y="1417320"/>
            <a:ext cx="3520440" cy="2011680"/>
          </a:xfrm>
          <a:prstGeom prst="roundRect">
            <a:avLst>
              <a:gd name="adj" fmla="val 3636"/>
            </a:avLst>
          </a:prstGeom>
          <a:solidFill>
            <a:srgbClr val="F2F2F2"/>
          </a:solidFill>
          <a:ln w="9525">
            <a:solidFill>
              <a:srgbClr val="D9D9D9"/>
            </a:solidFill>
            <a:prstDash val="solid"/>
          </a:ln>
        </p:spPr>
      </p:sp>
      <p:sp>
        <p:nvSpPr>
          <p:cNvPr id="8" name="Text 6"/>
          <p:cNvSpPr txBox="1"/>
          <p:nvPr/>
        </p:nvSpPr>
        <p:spPr>
          <a:xfrm>
            <a:off x="457200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Tool</a:t>
            </a:r>
            <a:endParaRPr lang="en-US" sz="2600" dirty="0"/>
          </a:p>
        </p:txBody>
      </p:sp>
      <p:sp>
        <p:nvSpPr>
          <p:cNvPr id="9" name="Text 7"/>
          <p:cNvSpPr txBox="1"/>
          <p:nvPr/>
        </p:nvSpPr>
        <p:spPr>
          <a:xfrm>
            <a:off x="457200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ready-made code we put in the prompt</a:t>
            </a:r>
            <a:endParaRPr lang="en-US" sz="1600" dirty="0"/>
          </a:p>
        </p:txBody>
      </p:sp>
      <p:sp>
        <p:nvSpPr>
          <p:cNvPr id="10" name="Text 8"/>
          <p:cNvSpPr txBox="1"/>
          <p:nvPr/>
        </p:nvSpPr>
        <p:spPr>
          <a:xfrm>
            <a:off x="457200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orient(a, b, c); the OR-Tools route library</a:t>
            </a:r>
            <a:endParaRPr lang="en-US" sz="1400" dirty="0"/>
          </a:p>
        </p:txBody>
      </p:sp>
      <p:sp>
        <p:nvSpPr>
          <p:cNvPr id="11" name="term Fact"/>
          <p:cNvSpPr/>
          <p:nvPr/>
        </p:nvSpPr>
        <p:spPr>
          <a:xfrm>
            <a:off x="8138160" y="1417320"/>
            <a:ext cx="3520440" cy="2011680"/>
          </a:xfrm>
          <a:prstGeom prst="roundRect">
            <a:avLst>
              <a:gd name="adj" fmla="val 3636"/>
            </a:avLst>
          </a:prstGeom>
          <a:solidFill>
            <a:srgbClr val="F2F2F2"/>
          </a:solidFill>
          <a:ln w="9525">
            <a:solidFill>
              <a:srgbClr val="D9D9D9"/>
            </a:solidFill>
            <a:prstDash val="solid"/>
          </a:ln>
        </p:spPr>
      </p:sp>
      <p:sp>
        <p:nvSpPr>
          <p:cNvPr id="12" name="Text 10"/>
          <p:cNvSpPr txBox="1"/>
          <p:nvPr/>
        </p:nvSpPr>
        <p:spPr>
          <a:xfrm>
            <a:off x="8366760" y="155448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Fact</a:t>
            </a:r>
            <a:endParaRPr lang="en-US" sz="2600" dirty="0"/>
          </a:p>
        </p:txBody>
      </p:sp>
      <p:sp>
        <p:nvSpPr>
          <p:cNvPr id="13" name="Text 11"/>
          <p:cNvSpPr txBox="1"/>
          <p:nvPr/>
        </p:nvSpPr>
        <p:spPr>
          <a:xfrm>
            <a:off x="8366760" y="2130552"/>
            <a:ext cx="3063240" cy="640080"/>
          </a:xfrm>
          <a:prstGeom prst="rect">
            <a:avLst/>
          </a:prstGeom>
          <a:noFill/>
          <a:ln/>
        </p:spPr>
        <p:txBody>
          <a:bodyPr wrap="square" lIns="0" tIns="0" rIns="0" bIns="0" rtlCol="0" anchor="t"/>
          <a:lstStyle/>
          <a:p>
            <a:pPr indent="0" marL="0">
              <a:buNone/>
            </a:pPr>
            <a:r>
              <a:rPr lang="en-US" sz="1600" dirty="0">
                <a:solidFill>
                  <a:schemeClr val="tx1"/>
                </a:solidFill>
              </a:rPr>
              <a:t>know-how the model may lack</a:t>
            </a:r>
            <a:endParaRPr lang="en-US" sz="1600" dirty="0"/>
          </a:p>
        </p:txBody>
      </p:sp>
      <p:sp>
        <p:nvSpPr>
          <p:cNvPr id="14" name="Text 12"/>
          <p:cNvSpPr txBox="1"/>
          <p:nvPr/>
        </p:nvSpPr>
        <p:spPr>
          <a:xfrm>
            <a:off x="8366760" y="278892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the exact function name to call</a:t>
            </a:r>
            <a:endParaRPr lang="en-US" sz="1400" dirty="0"/>
          </a:p>
        </p:txBody>
      </p:sp>
      <p:sp>
        <p:nvSpPr>
          <p:cNvPr id="15" name="term Check"/>
          <p:cNvSpPr/>
          <p:nvPr/>
        </p:nvSpPr>
        <p:spPr>
          <a:xfrm>
            <a:off x="548640" y="3657600"/>
            <a:ext cx="3520440" cy="2011680"/>
          </a:xfrm>
          <a:prstGeom prst="roundRect">
            <a:avLst>
              <a:gd name="adj" fmla="val 3636"/>
            </a:avLst>
          </a:prstGeom>
          <a:solidFill>
            <a:srgbClr val="F2F2F2"/>
          </a:solidFill>
          <a:ln w="9525">
            <a:solidFill>
              <a:srgbClr val="D9D9D9"/>
            </a:solidFill>
            <a:prstDash val="solid"/>
          </a:ln>
        </p:spPr>
      </p:sp>
      <p:sp>
        <p:nvSpPr>
          <p:cNvPr id="16" name="Text 14"/>
          <p:cNvSpPr txBox="1"/>
          <p:nvPr/>
        </p:nvSpPr>
        <p:spPr>
          <a:xfrm>
            <a:off x="77724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Check</a:t>
            </a:r>
            <a:endParaRPr lang="en-US" sz="2600" dirty="0"/>
          </a:p>
        </p:txBody>
      </p:sp>
      <p:sp>
        <p:nvSpPr>
          <p:cNvPr id="17" name="Text 15"/>
          <p:cNvSpPr txBox="1"/>
          <p:nvPr/>
        </p:nvSpPr>
        <p:spPr>
          <a:xfrm>
            <a:off x="77724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cheap test, without knowing the answer</a:t>
            </a:r>
            <a:endParaRPr lang="en-US" sz="1600" dirty="0"/>
          </a:p>
        </p:txBody>
      </p:sp>
      <p:sp>
        <p:nvSpPr>
          <p:cNvPr id="18" name="Text 16"/>
          <p:cNvSpPr txBox="1"/>
          <p:nvPr/>
        </p:nvSpPr>
        <p:spPr>
          <a:xfrm>
            <a:off x="77724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run the examples printed in the problem</a:t>
            </a:r>
            <a:endParaRPr lang="en-US" sz="1400" dirty="0"/>
          </a:p>
        </p:txBody>
      </p:sp>
      <p:sp>
        <p:nvSpPr>
          <p:cNvPr id="19" name="term Thinking"/>
          <p:cNvSpPr/>
          <p:nvPr/>
        </p:nvSpPr>
        <p:spPr>
          <a:xfrm>
            <a:off x="4343400" y="3657600"/>
            <a:ext cx="3520440" cy="2011680"/>
          </a:xfrm>
          <a:prstGeom prst="roundRect">
            <a:avLst>
              <a:gd name="adj" fmla="val 3636"/>
            </a:avLst>
          </a:prstGeom>
          <a:solidFill>
            <a:srgbClr val="F2F2F2"/>
          </a:solidFill>
          <a:ln w="9525">
            <a:solidFill>
              <a:srgbClr val="D9D9D9"/>
            </a:solidFill>
            <a:prstDash val="solid"/>
          </a:ln>
        </p:spPr>
      </p:sp>
      <p:sp>
        <p:nvSpPr>
          <p:cNvPr id="20" name="Text 18"/>
          <p:cNvSpPr txBox="1"/>
          <p:nvPr/>
        </p:nvSpPr>
        <p:spPr>
          <a:xfrm>
            <a:off x="457200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Thinking</a:t>
            </a:r>
            <a:endParaRPr lang="en-US" sz="2600" dirty="0"/>
          </a:p>
        </p:txBody>
      </p:sp>
      <p:sp>
        <p:nvSpPr>
          <p:cNvPr id="21" name="Text 19"/>
          <p:cNvSpPr txBox="1"/>
          <p:nvPr/>
        </p:nvSpPr>
        <p:spPr>
          <a:xfrm>
            <a:off x="457200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hidden notes before answering; costs tokens</a:t>
            </a:r>
            <a:endParaRPr lang="en-US" sz="1600" dirty="0"/>
          </a:p>
        </p:txBody>
      </p:sp>
      <p:sp>
        <p:nvSpPr>
          <p:cNvPr id="22" name="Text 20"/>
          <p:cNvSpPr txBox="1"/>
          <p:nvPr/>
        </p:nvSpPr>
        <p:spPr>
          <a:xfrm>
            <a:off x="457200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low / medium / high effort</a:t>
            </a:r>
            <a:endParaRPr lang="en-US" sz="1400" dirty="0"/>
          </a:p>
        </p:txBody>
      </p:sp>
      <p:sp>
        <p:nvSpPr>
          <p:cNvPr id="23" name="term Token"/>
          <p:cNvSpPr/>
          <p:nvPr/>
        </p:nvSpPr>
        <p:spPr>
          <a:xfrm>
            <a:off x="8138160" y="3657600"/>
            <a:ext cx="3520440" cy="2011680"/>
          </a:xfrm>
          <a:prstGeom prst="roundRect">
            <a:avLst>
              <a:gd name="adj" fmla="val 3636"/>
            </a:avLst>
          </a:prstGeom>
          <a:solidFill>
            <a:srgbClr val="F2F2F2"/>
          </a:solidFill>
          <a:ln w="9525">
            <a:solidFill>
              <a:srgbClr val="D9D9D9"/>
            </a:solidFill>
            <a:prstDash val="solid"/>
          </a:ln>
        </p:spPr>
      </p:sp>
      <p:sp>
        <p:nvSpPr>
          <p:cNvPr id="24" name="Text 22"/>
          <p:cNvSpPr txBox="1"/>
          <p:nvPr/>
        </p:nvSpPr>
        <p:spPr>
          <a:xfrm>
            <a:off x="8366760" y="3794760"/>
            <a:ext cx="3063240" cy="548640"/>
          </a:xfrm>
          <a:prstGeom prst="rect">
            <a:avLst/>
          </a:prstGeom>
          <a:noFill/>
          <a:ln/>
        </p:spPr>
        <p:txBody>
          <a:bodyPr wrap="square" lIns="0" tIns="0" rIns="0" bIns="0" rtlCol="0" anchor="ctr"/>
          <a:lstStyle/>
          <a:p>
            <a:pPr indent="0" marL="0">
              <a:buNone/>
            </a:pPr>
            <a:r>
              <a:rPr lang="en-US" sz="2600" b="1" dirty="0">
                <a:solidFill>
                  <a:srgbClr val="4472C4"/>
                </a:solidFill>
              </a:rPr>
              <a:t>Token</a:t>
            </a:r>
            <a:endParaRPr lang="en-US" sz="2600" dirty="0"/>
          </a:p>
        </p:txBody>
      </p:sp>
      <p:sp>
        <p:nvSpPr>
          <p:cNvPr id="25" name="Text 23"/>
          <p:cNvSpPr txBox="1"/>
          <p:nvPr/>
        </p:nvSpPr>
        <p:spPr>
          <a:xfrm>
            <a:off x="8366760" y="4370832"/>
            <a:ext cx="3063240" cy="640080"/>
          </a:xfrm>
          <a:prstGeom prst="rect">
            <a:avLst/>
          </a:prstGeom>
          <a:noFill/>
          <a:ln/>
        </p:spPr>
        <p:txBody>
          <a:bodyPr wrap="square" lIns="0" tIns="0" rIns="0" bIns="0" rtlCol="0" anchor="t"/>
          <a:lstStyle/>
          <a:p>
            <a:pPr indent="0" marL="0">
              <a:buNone/>
            </a:pPr>
            <a:r>
              <a:rPr lang="en-US" sz="1600" dirty="0">
                <a:solidFill>
                  <a:schemeClr val="tx1"/>
                </a:solidFill>
              </a:rPr>
              <a:t>a piece of a word: the unit of cost</a:t>
            </a:r>
            <a:endParaRPr lang="en-US" sz="1600" dirty="0"/>
          </a:p>
        </p:txBody>
      </p:sp>
      <p:sp>
        <p:nvSpPr>
          <p:cNvPr id="26" name="Text 24"/>
          <p:cNvSpPr txBox="1"/>
          <p:nvPr/>
        </p:nvSpPr>
        <p:spPr>
          <a:xfrm>
            <a:off x="8366760" y="5029200"/>
            <a:ext cx="3063240" cy="502920"/>
          </a:xfrm>
          <a:prstGeom prst="rect">
            <a:avLst/>
          </a:prstGeom>
          <a:noFill/>
          <a:ln/>
        </p:spPr>
        <p:txBody>
          <a:bodyPr wrap="square" lIns="0" tIns="0" rIns="0" bIns="0" rtlCol="0" anchor="t"/>
          <a:lstStyle/>
          <a:p>
            <a:pPr indent="0" marL="0">
              <a:buNone/>
            </a:pPr>
            <a:r>
              <a:rPr lang="en-US" sz="1400" i="1" dirty="0">
                <a:solidFill>
                  <a:schemeClr val="tx2"/>
                </a:solidFill>
              </a:rPr>
              <a:t>e.g. a one-page answer ≈ 700 tokens</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Findings at a glance: same or better, for fewer tokens</a:t>
            </a:r>
            <a:endParaRPr lang="en-US" sz="3600" dirty="0"/>
          </a:p>
        </p:txBody>
      </p:sp>
      <p:sp>
        <p:nvSpPr>
          <p:cNvPr id="3" name="Text 1"/>
          <p:cNvSpPr txBox="1"/>
          <p:nvPr/>
        </p:nvSpPr>
        <p:spPr>
          <a:xfrm>
            <a:off x="548640" y="1188720"/>
            <a:ext cx="11064240" cy="320040"/>
          </a:xfrm>
          <a:prstGeom prst="rect">
            <a:avLst/>
          </a:prstGeom>
          <a:noFill/>
          <a:ln/>
        </p:spPr>
        <p:txBody>
          <a:bodyPr wrap="square" lIns="0" tIns="0" rIns="0" bIns="0" rtlCol="0" anchor="ctr"/>
          <a:lstStyle/>
          <a:p>
            <a:pPr indent="0" marL="0">
              <a:buNone/>
            </a:pPr>
            <a:r>
              <a:rPr lang="en-US" sz="1400" b="1" dirty="0">
                <a:solidFill>
                  <a:srgbClr val="4472C4"/>
                </a:solidFill>
              </a:rPr>
              <a:t>blue</a:t>
            </a:r>
            <a:pPr indent="0" marL="0">
              <a:buNone/>
            </a:pPr>
            <a:r>
              <a:rPr lang="en-US" sz="1400" dirty="0">
                <a:solidFill>
                  <a:schemeClr val="tx2"/>
                </a:solidFill>
              </a:rPr>
              <a:t> = the better way   ·   </a:t>
            </a:r>
            <a:pPr indent="0" marL="0">
              <a:buNone/>
            </a:pPr>
            <a:r>
              <a:rPr lang="en-US" sz="1400" b="1" dirty="0">
                <a:solidFill>
                  <a:srgbClr val="7F7F7F"/>
                </a:solidFill>
              </a:rPr>
              <a:t>grey</a:t>
            </a:r>
            <a:pPr indent="0" marL="0">
              <a:buNone/>
            </a:pPr>
            <a:r>
              <a:rPr lang="en-US" sz="1400" dirty="0">
                <a:solidFill>
                  <a:schemeClr val="tx2"/>
                </a:solidFill>
              </a:rPr>
              <a:t> = the usual way or a published method   ·   </a:t>
            </a:r>
            <a:pPr indent="0" marL="0">
              <a:buNone/>
            </a:pPr>
            <a:r>
              <a:rPr lang="en-US" sz="1400" b="1" dirty="0">
                <a:solidFill>
                  <a:srgbClr val="C00000"/>
                </a:solidFill>
              </a:rPr>
              <a:t>red</a:t>
            </a:r>
            <a:pPr indent="0" marL="0">
              <a:buNone/>
            </a:pPr>
            <a:r>
              <a:rPr lang="en-US" sz="1400" dirty="0">
                <a:solidFill>
                  <a:schemeClr val="tx2"/>
                </a:solidFill>
              </a:rPr>
              <a:t> = makes it worse</a:t>
            </a:r>
            <a:endParaRPr lang="en-US" sz="1400" dirty="0"/>
          </a:p>
        </p:txBody>
      </p:sp>
      <p:sp>
        <p:nvSpPr>
          <p:cNvPr id="4" name="Text 2"/>
          <p:cNvSpPr txBox="1"/>
          <p:nvPr/>
        </p:nvSpPr>
        <p:spPr>
          <a:xfrm>
            <a:off x="54864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Add the missing fact</a:t>
            </a:r>
            <a:endParaRPr lang="en-US" sz="1700" dirty="0"/>
          </a:p>
        </p:txBody>
      </p:sp>
      <p:sp>
        <p:nvSpPr>
          <p:cNvPr id="5" name="Text 3"/>
          <p:cNvSpPr txBox="1"/>
          <p:nvPr/>
        </p:nvSpPr>
        <p:spPr>
          <a:xfrm>
            <a:off x="54864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delivery routing, Qwen3-32B: % optimal</a:t>
            </a:r>
            <a:endParaRPr lang="en-US" sz="1200" dirty="0"/>
          </a:p>
        </p:txBody>
      </p:sp>
      <p:sp>
        <p:nvSpPr>
          <p:cNvPr id="6" name="Text 4"/>
          <p:cNvSpPr txBox="1"/>
          <p:nvPr/>
        </p:nvSpPr>
        <p:spPr>
          <a:xfrm>
            <a:off x="54864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task only</a:t>
            </a:r>
            <a:endParaRPr lang="en-US" sz="1300" dirty="0"/>
          </a:p>
        </p:txBody>
      </p:sp>
      <p:sp>
        <p:nvSpPr>
          <p:cNvPr id="7" name="Add the missing fact task only"/>
          <p:cNvSpPr/>
          <p:nvPr/>
        </p:nvSpPr>
        <p:spPr>
          <a:xfrm>
            <a:off x="2029968" y="2450592"/>
            <a:ext cx="262890" cy="237744"/>
          </a:xfrm>
          <a:prstGeom prst="rect">
            <a:avLst/>
          </a:prstGeom>
          <a:solidFill>
            <a:srgbClr val="A5A5A5"/>
          </a:solidFill>
          <a:ln w="6350">
            <a:solidFill>
              <a:srgbClr val="A5A5A5"/>
            </a:solidFill>
            <a:prstDash val="solid"/>
          </a:ln>
        </p:spPr>
      </p:sp>
      <p:sp>
        <p:nvSpPr>
          <p:cNvPr id="8" name="Text 6"/>
          <p:cNvSpPr txBox="1"/>
          <p:nvPr/>
        </p:nvSpPr>
        <p:spPr>
          <a:xfrm>
            <a:off x="2347722"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23%</a:t>
            </a:r>
            <a:endParaRPr lang="en-US" sz="1300" dirty="0"/>
          </a:p>
        </p:txBody>
      </p:sp>
      <p:sp>
        <p:nvSpPr>
          <p:cNvPr id="9" name="Text 7"/>
          <p:cNvSpPr txBox="1"/>
          <p:nvPr/>
        </p:nvSpPr>
        <p:spPr>
          <a:xfrm>
            <a:off x="54864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longer</a:t>
            </a:r>
            <a:endParaRPr lang="en-US" sz="1300" dirty="0"/>
          </a:p>
        </p:txBody>
      </p:sp>
      <p:sp>
        <p:nvSpPr>
          <p:cNvPr id="10" name="Add the missing fact think longer"/>
          <p:cNvSpPr/>
          <p:nvPr/>
        </p:nvSpPr>
        <p:spPr>
          <a:xfrm>
            <a:off x="2029968" y="2834640"/>
            <a:ext cx="34290" cy="237744"/>
          </a:xfrm>
          <a:prstGeom prst="rect">
            <a:avLst/>
          </a:prstGeom>
          <a:solidFill>
            <a:srgbClr val="C00000"/>
          </a:solidFill>
          <a:ln w="6350">
            <a:solidFill>
              <a:srgbClr val="C00000"/>
            </a:solidFill>
            <a:prstDash val="solid"/>
          </a:ln>
        </p:spPr>
      </p:sp>
      <p:sp>
        <p:nvSpPr>
          <p:cNvPr id="11" name="Text 9"/>
          <p:cNvSpPr txBox="1"/>
          <p:nvPr/>
        </p:nvSpPr>
        <p:spPr>
          <a:xfrm>
            <a:off x="2119122" y="2788920"/>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3%</a:t>
            </a:r>
            <a:endParaRPr lang="en-US" sz="1300" dirty="0"/>
          </a:p>
        </p:txBody>
      </p:sp>
      <p:sp>
        <p:nvSpPr>
          <p:cNvPr id="12" name="Text 10"/>
          <p:cNvSpPr txBox="1"/>
          <p:nvPr/>
        </p:nvSpPr>
        <p:spPr>
          <a:xfrm>
            <a:off x="54864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long manual</a:t>
            </a:r>
            <a:endParaRPr lang="en-US" sz="1300" dirty="0"/>
          </a:p>
        </p:txBody>
      </p:sp>
      <p:sp>
        <p:nvSpPr>
          <p:cNvPr id="13" name="Add the missing fact long manual"/>
          <p:cNvSpPr/>
          <p:nvPr/>
        </p:nvSpPr>
        <p:spPr>
          <a:xfrm>
            <a:off x="2029968" y="3218688"/>
            <a:ext cx="80010" cy="237744"/>
          </a:xfrm>
          <a:prstGeom prst="rect">
            <a:avLst/>
          </a:prstGeom>
          <a:solidFill>
            <a:srgbClr val="C00000"/>
          </a:solidFill>
          <a:ln w="6350">
            <a:solidFill>
              <a:srgbClr val="C00000"/>
            </a:solidFill>
            <a:prstDash val="solid"/>
          </a:ln>
        </p:spPr>
      </p:sp>
      <p:sp>
        <p:nvSpPr>
          <p:cNvPr id="14" name="Text 12"/>
          <p:cNvSpPr txBox="1"/>
          <p:nvPr/>
        </p:nvSpPr>
        <p:spPr>
          <a:xfrm>
            <a:off x="2164842" y="3172968"/>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7%</a:t>
            </a:r>
            <a:endParaRPr lang="en-US" sz="1300" dirty="0"/>
          </a:p>
        </p:txBody>
      </p:sp>
      <p:sp>
        <p:nvSpPr>
          <p:cNvPr id="15" name="Text 13"/>
          <p:cNvSpPr txBox="1"/>
          <p:nvPr/>
        </p:nvSpPr>
        <p:spPr>
          <a:xfrm>
            <a:off x="54864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exact usage</a:t>
            </a:r>
            <a:endParaRPr lang="en-US" sz="1300" dirty="0"/>
          </a:p>
        </p:txBody>
      </p:sp>
      <p:sp>
        <p:nvSpPr>
          <p:cNvPr id="16" name="Add the missing fact exact usage"/>
          <p:cNvSpPr/>
          <p:nvPr/>
        </p:nvSpPr>
        <p:spPr>
          <a:xfrm>
            <a:off x="2029968" y="3602736"/>
            <a:ext cx="948690" cy="237744"/>
          </a:xfrm>
          <a:prstGeom prst="rect">
            <a:avLst/>
          </a:prstGeom>
          <a:solidFill>
            <a:srgbClr val="4472C4"/>
          </a:solidFill>
          <a:ln w="6350">
            <a:solidFill>
              <a:srgbClr val="4472C4"/>
            </a:solidFill>
            <a:prstDash val="solid"/>
          </a:ln>
        </p:spPr>
      </p:sp>
      <p:sp>
        <p:nvSpPr>
          <p:cNvPr id="17" name="Text 15"/>
          <p:cNvSpPr txBox="1"/>
          <p:nvPr/>
        </p:nvSpPr>
        <p:spPr>
          <a:xfrm>
            <a:off x="3033522"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77–90%</a:t>
            </a:r>
            <a:endParaRPr lang="en-US" sz="1300" dirty="0"/>
          </a:p>
        </p:txBody>
      </p:sp>
      <p:sp>
        <p:nvSpPr>
          <p:cNvPr id="18" name="Text 16"/>
          <p:cNvSpPr txBox="1"/>
          <p:nvPr/>
        </p:nvSpPr>
        <p:spPr>
          <a:xfrm>
            <a:off x="434340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Small models gain most</a:t>
            </a:r>
            <a:endParaRPr lang="en-US" sz="1700" dirty="0"/>
          </a:p>
        </p:txBody>
      </p:sp>
      <p:sp>
        <p:nvSpPr>
          <p:cNvPr id="19" name="Text 17"/>
          <p:cNvSpPr txBox="1"/>
          <p:nvPr/>
        </p:nvSpPr>
        <p:spPr>
          <a:xfrm>
            <a:off x="434340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word problems: % solved</a:t>
            </a:r>
            <a:endParaRPr lang="en-US" sz="1200" dirty="0"/>
          </a:p>
        </p:txBody>
      </p:sp>
      <p:sp>
        <p:nvSpPr>
          <p:cNvPr id="20" name="Text 18"/>
          <p:cNvSpPr txBox="1"/>
          <p:nvPr/>
        </p:nvSpPr>
        <p:spPr>
          <a:xfrm>
            <a:off x="434340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Qwen3-1.7B</a:t>
            </a:r>
            <a:endParaRPr lang="en-US" sz="1300" dirty="0"/>
          </a:p>
        </p:txBody>
      </p:sp>
      <p:sp>
        <p:nvSpPr>
          <p:cNvPr id="21" name="Small models gain most Qwen3-1.7B"/>
          <p:cNvSpPr/>
          <p:nvPr/>
        </p:nvSpPr>
        <p:spPr>
          <a:xfrm>
            <a:off x="5824728" y="2450592"/>
            <a:ext cx="27432" cy="237744"/>
          </a:xfrm>
          <a:prstGeom prst="rect">
            <a:avLst/>
          </a:prstGeom>
          <a:solidFill>
            <a:srgbClr val="A5A5A5"/>
          </a:solidFill>
          <a:ln w="6350">
            <a:solidFill>
              <a:srgbClr val="A5A5A5"/>
            </a:solidFill>
            <a:prstDash val="solid"/>
          </a:ln>
        </p:spPr>
      </p:sp>
      <p:sp>
        <p:nvSpPr>
          <p:cNvPr id="22" name="Text 20"/>
          <p:cNvSpPr txBox="1"/>
          <p:nvPr/>
        </p:nvSpPr>
        <p:spPr>
          <a:xfrm>
            <a:off x="5880735" y="240487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0%</a:t>
            </a:r>
            <a:endParaRPr lang="en-US" sz="1300" dirty="0"/>
          </a:p>
        </p:txBody>
      </p:sp>
      <p:sp>
        <p:nvSpPr>
          <p:cNvPr id="23" name="Text 21"/>
          <p:cNvSpPr txBox="1"/>
          <p:nvPr/>
        </p:nvSpPr>
        <p:spPr>
          <a:xfrm>
            <a:off x="434340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1.7B + fact</a:t>
            </a:r>
            <a:endParaRPr lang="en-US" sz="1300" dirty="0"/>
          </a:p>
        </p:txBody>
      </p:sp>
      <p:sp>
        <p:nvSpPr>
          <p:cNvPr id="24" name="Small models gain most 1.7B + fact"/>
          <p:cNvSpPr/>
          <p:nvPr/>
        </p:nvSpPr>
        <p:spPr>
          <a:xfrm>
            <a:off x="5824728" y="2834640"/>
            <a:ext cx="508635" cy="237744"/>
          </a:xfrm>
          <a:prstGeom prst="rect">
            <a:avLst/>
          </a:prstGeom>
          <a:solidFill>
            <a:srgbClr val="4472C4"/>
          </a:solidFill>
          <a:ln w="6350">
            <a:solidFill>
              <a:srgbClr val="4472C4"/>
            </a:solidFill>
            <a:prstDash val="solid"/>
          </a:ln>
        </p:spPr>
      </p:sp>
      <p:sp>
        <p:nvSpPr>
          <p:cNvPr id="25" name="Text 23"/>
          <p:cNvSpPr txBox="1"/>
          <p:nvPr/>
        </p:nvSpPr>
        <p:spPr>
          <a:xfrm>
            <a:off x="6388227" y="2788920"/>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45%</a:t>
            </a:r>
            <a:endParaRPr lang="en-US" sz="1300" dirty="0"/>
          </a:p>
        </p:txBody>
      </p:sp>
      <p:sp>
        <p:nvSpPr>
          <p:cNvPr id="26" name="Text 24"/>
          <p:cNvSpPr txBox="1"/>
          <p:nvPr/>
        </p:nvSpPr>
        <p:spPr>
          <a:xfrm>
            <a:off x="434340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Qwen3-32B</a:t>
            </a:r>
            <a:endParaRPr lang="en-US" sz="1300" dirty="0"/>
          </a:p>
        </p:txBody>
      </p:sp>
      <p:sp>
        <p:nvSpPr>
          <p:cNvPr id="27" name="Small models gain most Qwen3-32B"/>
          <p:cNvSpPr/>
          <p:nvPr/>
        </p:nvSpPr>
        <p:spPr>
          <a:xfrm>
            <a:off x="5824728" y="3218688"/>
            <a:ext cx="747522" cy="237744"/>
          </a:xfrm>
          <a:prstGeom prst="rect">
            <a:avLst/>
          </a:prstGeom>
          <a:solidFill>
            <a:srgbClr val="A5A5A5"/>
          </a:solidFill>
          <a:ln w="6350">
            <a:solidFill>
              <a:srgbClr val="A5A5A5"/>
            </a:solidFill>
            <a:prstDash val="solid"/>
          </a:ln>
        </p:spPr>
      </p:sp>
      <p:sp>
        <p:nvSpPr>
          <p:cNvPr id="28" name="Text 26"/>
          <p:cNvSpPr txBox="1"/>
          <p:nvPr/>
        </p:nvSpPr>
        <p:spPr>
          <a:xfrm>
            <a:off x="6627114" y="3172968"/>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65%</a:t>
            </a:r>
            <a:endParaRPr lang="en-US" sz="1300" dirty="0"/>
          </a:p>
        </p:txBody>
      </p:sp>
      <p:sp>
        <p:nvSpPr>
          <p:cNvPr id="29" name="Text 27"/>
          <p:cNvSpPr txBox="1"/>
          <p:nvPr/>
        </p:nvSpPr>
        <p:spPr>
          <a:xfrm>
            <a:off x="4343400" y="3557016"/>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32B + fact</a:t>
            </a:r>
            <a:endParaRPr lang="en-US" sz="1300" dirty="0"/>
          </a:p>
        </p:txBody>
      </p:sp>
      <p:sp>
        <p:nvSpPr>
          <p:cNvPr id="30" name="Small models gain most 32B + fact"/>
          <p:cNvSpPr/>
          <p:nvPr/>
        </p:nvSpPr>
        <p:spPr>
          <a:xfrm>
            <a:off x="5824728" y="3602736"/>
            <a:ext cx="756666" cy="237744"/>
          </a:xfrm>
          <a:prstGeom prst="rect">
            <a:avLst/>
          </a:prstGeom>
          <a:solidFill>
            <a:srgbClr val="4472C4"/>
          </a:solidFill>
          <a:ln w="6350">
            <a:solidFill>
              <a:srgbClr val="4472C4"/>
            </a:solidFill>
            <a:prstDash val="solid"/>
          </a:ln>
        </p:spPr>
      </p:sp>
      <p:sp>
        <p:nvSpPr>
          <p:cNvPr id="31" name="Text 29"/>
          <p:cNvSpPr txBox="1"/>
          <p:nvPr/>
        </p:nvSpPr>
        <p:spPr>
          <a:xfrm>
            <a:off x="6636258" y="3557016"/>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a:t>
            </a:r>
            <a:endParaRPr lang="en-US" sz="1300" dirty="0"/>
          </a:p>
        </p:txBody>
      </p:sp>
      <p:sp>
        <p:nvSpPr>
          <p:cNvPr id="32" name="Text 30"/>
          <p:cNvSpPr txBox="1"/>
          <p:nvPr/>
        </p:nvSpPr>
        <p:spPr>
          <a:xfrm>
            <a:off x="8138160" y="169164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Compare two versions</a:t>
            </a:r>
            <a:endParaRPr lang="en-US" sz="1700" dirty="0"/>
          </a:p>
        </p:txBody>
      </p:sp>
      <p:sp>
        <p:nvSpPr>
          <p:cNvPr id="33" name="Text 31"/>
          <p:cNvSpPr txBox="1"/>
          <p:nvPr/>
        </p:nvSpPr>
        <p:spPr>
          <a:xfrm>
            <a:off x="8138160" y="2039112"/>
            <a:ext cx="3611880" cy="274320"/>
          </a:xfrm>
          <a:prstGeom prst="rect">
            <a:avLst/>
          </a:prstGeom>
          <a:noFill/>
          <a:ln/>
        </p:spPr>
        <p:txBody>
          <a:bodyPr wrap="square" lIns="0" tIns="0" rIns="0" bIns="0" rtlCol="0" anchor="ctr"/>
          <a:lstStyle/>
          <a:p>
            <a:pPr indent="0" marL="0">
              <a:buNone/>
            </a:pPr>
            <a:r>
              <a:rPr lang="en-US" sz="1200" dirty="0">
                <a:solidFill>
                  <a:schemeClr val="tx2"/>
                </a:solidFill>
              </a:rPr>
              <a:t>geometry, Qwen3-32B: % · tokens</a:t>
            </a:r>
            <a:endParaRPr lang="en-US" sz="1200" dirty="0"/>
          </a:p>
        </p:txBody>
      </p:sp>
      <p:sp>
        <p:nvSpPr>
          <p:cNvPr id="34" name="Text 32"/>
          <p:cNvSpPr txBox="1"/>
          <p:nvPr/>
        </p:nvSpPr>
        <p:spPr>
          <a:xfrm>
            <a:off x="8138160" y="240487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8 extra tools</a:t>
            </a:r>
            <a:endParaRPr lang="en-US" sz="1300" dirty="0"/>
          </a:p>
        </p:txBody>
      </p:sp>
      <p:sp>
        <p:nvSpPr>
          <p:cNvPr id="35" name="Compare two versions 8 extra tools"/>
          <p:cNvSpPr/>
          <p:nvPr/>
        </p:nvSpPr>
        <p:spPr>
          <a:xfrm>
            <a:off x="9619488" y="2450592"/>
            <a:ext cx="674370" cy="237744"/>
          </a:xfrm>
          <a:prstGeom prst="rect">
            <a:avLst/>
          </a:prstGeom>
          <a:solidFill>
            <a:srgbClr val="C00000"/>
          </a:solidFill>
          <a:ln w="6350">
            <a:solidFill>
              <a:srgbClr val="C00000"/>
            </a:solidFill>
            <a:prstDash val="solid"/>
          </a:ln>
        </p:spPr>
      </p:sp>
      <p:sp>
        <p:nvSpPr>
          <p:cNvPr id="36" name="Text 34"/>
          <p:cNvSpPr txBox="1"/>
          <p:nvPr/>
        </p:nvSpPr>
        <p:spPr>
          <a:xfrm>
            <a:off x="10348722" y="2404872"/>
            <a:ext cx="1051560" cy="329184"/>
          </a:xfrm>
          <a:prstGeom prst="rect">
            <a:avLst/>
          </a:prstGeom>
          <a:noFill/>
          <a:ln/>
        </p:spPr>
        <p:txBody>
          <a:bodyPr wrap="square" lIns="0" tIns="0" rIns="0" bIns="0" rtlCol="0" anchor="ctr"/>
          <a:lstStyle/>
          <a:p>
            <a:pPr indent="0" marL="0">
              <a:buNone/>
            </a:pPr>
            <a:r>
              <a:rPr lang="en-US" sz="1300" b="1" dirty="0">
                <a:solidFill>
                  <a:srgbClr val="C00000"/>
                </a:solidFill>
              </a:rPr>
              <a:t>59% · 0.6k</a:t>
            </a:r>
            <a:endParaRPr lang="en-US" sz="1300" dirty="0"/>
          </a:p>
        </p:txBody>
      </p:sp>
      <p:sp>
        <p:nvSpPr>
          <p:cNvPr id="37" name="Text 35"/>
          <p:cNvSpPr txBox="1"/>
          <p:nvPr/>
        </p:nvSpPr>
        <p:spPr>
          <a:xfrm>
            <a:off x="8138160" y="278892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think</a:t>
            </a:r>
            <a:endParaRPr lang="en-US" sz="1300" dirty="0"/>
          </a:p>
        </p:txBody>
      </p:sp>
      <p:sp>
        <p:nvSpPr>
          <p:cNvPr id="38" name="Compare two versions always think"/>
          <p:cNvSpPr/>
          <p:nvPr/>
        </p:nvSpPr>
        <p:spPr>
          <a:xfrm>
            <a:off x="9619488" y="2834640"/>
            <a:ext cx="1120140" cy="237744"/>
          </a:xfrm>
          <a:prstGeom prst="rect">
            <a:avLst/>
          </a:prstGeom>
          <a:solidFill>
            <a:srgbClr val="A5A5A5"/>
          </a:solidFill>
          <a:ln w="6350">
            <a:solidFill>
              <a:srgbClr val="A5A5A5"/>
            </a:solidFill>
            <a:prstDash val="solid"/>
          </a:ln>
        </p:spPr>
      </p:sp>
      <p:sp>
        <p:nvSpPr>
          <p:cNvPr id="39" name="Text 37"/>
          <p:cNvSpPr txBox="1"/>
          <p:nvPr/>
        </p:nvSpPr>
        <p:spPr>
          <a:xfrm>
            <a:off x="10794492" y="278892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98% · 5.9k</a:t>
            </a:r>
            <a:endParaRPr lang="en-US" sz="1300" dirty="0"/>
          </a:p>
        </p:txBody>
      </p:sp>
      <p:sp>
        <p:nvSpPr>
          <p:cNvPr id="40" name="Text 38"/>
          <p:cNvSpPr txBox="1"/>
          <p:nvPr/>
        </p:nvSpPr>
        <p:spPr>
          <a:xfrm>
            <a:off x="8138160" y="317296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if differ</a:t>
            </a:r>
            <a:endParaRPr lang="en-US" sz="1300" dirty="0"/>
          </a:p>
        </p:txBody>
      </p:sp>
      <p:sp>
        <p:nvSpPr>
          <p:cNvPr id="41" name="Compare two versions think if differ"/>
          <p:cNvSpPr/>
          <p:nvPr/>
        </p:nvSpPr>
        <p:spPr>
          <a:xfrm>
            <a:off x="9619488" y="3218688"/>
            <a:ext cx="1131570" cy="237744"/>
          </a:xfrm>
          <a:prstGeom prst="rect">
            <a:avLst/>
          </a:prstGeom>
          <a:solidFill>
            <a:srgbClr val="4472C4"/>
          </a:solidFill>
          <a:ln w="6350">
            <a:solidFill>
              <a:srgbClr val="4472C4"/>
            </a:solidFill>
            <a:prstDash val="solid"/>
          </a:ln>
        </p:spPr>
      </p:sp>
      <p:sp>
        <p:nvSpPr>
          <p:cNvPr id="42" name="Text 40"/>
          <p:cNvSpPr txBox="1"/>
          <p:nvPr/>
        </p:nvSpPr>
        <p:spPr>
          <a:xfrm>
            <a:off x="10805922" y="317296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99% · 4.3k</a:t>
            </a:r>
            <a:endParaRPr lang="en-US" sz="1300" dirty="0"/>
          </a:p>
        </p:txBody>
      </p:sp>
      <p:sp>
        <p:nvSpPr>
          <p:cNvPr id="43" name="Text 41"/>
          <p:cNvSpPr txBox="1"/>
          <p:nvPr/>
        </p:nvSpPr>
        <p:spPr>
          <a:xfrm>
            <a:off x="54864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Think only on failure</a:t>
            </a:r>
            <a:endParaRPr lang="en-US" sz="1700" dirty="0"/>
          </a:p>
        </p:txBody>
      </p:sp>
      <p:sp>
        <p:nvSpPr>
          <p:cNvPr id="44" name="Text 42"/>
          <p:cNvSpPr txBox="1"/>
          <p:nvPr/>
        </p:nvSpPr>
        <p:spPr>
          <a:xfrm>
            <a:off x="54864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311 contest problems: % · tokens</a:t>
            </a:r>
            <a:endParaRPr lang="en-US" sz="1200" dirty="0"/>
          </a:p>
        </p:txBody>
      </p:sp>
      <p:sp>
        <p:nvSpPr>
          <p:cNvPr id="45" name="Text 43"/>
          <p:cNvSpPr txBox="1"/>
          <p:nvPr/>
        </p:nvSpPr>
        <p:spPr>
          <a:xfrm>
            <a:off x="54864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always high</a:t>
            </a:r>
            <a:endParaRPr lang="en-US" sz="1300" dirty="0"/>
          </a:p>
        </p:txBody>
      </p:sp>
      <p:sp>
        <p:nvSpPr>
          <p:cNvPr id="46" name="Think only on failure always high"/>
          <p:cNvSpPr/>
          <p:nvPr/>
        </p:nvSpPr>
        <p:spPr>
          <a:xfrm>
            <a:off x="2029968" y="4828032"/>
            <a:ext cx="756666" cy="237744"/>
          </a:xfrm>
          <a:prstGeom prst="rect">
            <a:avLst/>
          </a:prstGeom>
          <a:solidFill>
            <a:srgbClr val="A5A5A5"/>
          </a:solidFill>
          <a:ln w="6350">
            <a:solidFill>
              <a:srgbClr val="A5A5A5"/>
            </a:solidFill>
            <a:prstDash val="solid"/>
          </a:ln>
        </p:spPr>
      </p:sp>
      <p:sp>
        <p:nvSpPr>
          <p:cNvPr id="47" name="Text 45"/>
          <p:cNvSpPr txBox="1"/>
          <p:nvPr/>
        </p:nvSpPr>
        <p:spPr>
          <a:xfrm>
            <a:off x="2841498"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66% · 30k</a:t>
            </a:r>
            <a:endParaRPr lang="en-US" sz="1300" dirty="0"/>
          </a:p>
        </p:txBody>
      </p:sp>
      <p:sp>
        <p:nvSpPr>
          <p:cNvPr id="48" name="Text 46"/>
          <p:cNvSpPr txBox="1"/>
          <p:nvPr/>
        </p:nvSpPr>
        <p:spPr>
          <a:xfrm>
            <a:off x="54864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examples fail</a:t>
            </a:r>
            <a:endParaRPr lang="en-US" sz="1300" dirty="0"/>
          </a:p>
        </p:txBody>
      </p:sp>
      <p:sp>
        <p:nvSpPr>
          <p:cNvPr id="49" name="Think only on failure examples fail"/>
          <p:cNvSpPr/>
          <p:nvPr/>
        </p:nvSpPr>
        <p:spPr>
          <a:xfrm>
            <a:off x="2029968" y="5212080"/>
            <a:ext cx="742950" cy="237744"/>
          </a:xfrm>
          <a:prstGeom prst="rect">
            <a:avLst/>
          </a:prstGeom>
          <a:solidFill>
            <a:srgbClr val="5B9BD5"/>
          </a:solidFill>
          <a:ln w="6350">
            <a:solidFill>
              <a:srgbClr val="5B9BD5"/>
            </a:solidFill>
            <a:prstDash val="solid"/>
          </a:ln>
        </p:spPr>
      </p:sp>
      <p:sp>
        <p:nvSpPr>
          <p:cNvPr id="50" name="Text 48"/>
          <p:cNvSpPr txBox="1"/>
          <p:nvPr/>
        </p:nvSpPr>
        <p:spPr>
          <a:xfrm>
            <a:off x="2827782" y="5166360"/>
            <a:ext cx="1051560" cy="329184"/>
          </a:xfrm>
          <a:prstGeom prst="rect">
            <a:avLst/>
          </a:prstGeom>
          <a:noFill/>
          <a:ln/>
        </p:spPr>
        <p:txBody>
          <a:bodyPr wrap="square" lIns="0" tIns="0" rIns="0" bIns="0" rtlCol="0" anchor="ctr"/>
          <a:lstStyle/>
          <a:p>
            <a:pPr indent="0" marL="0">
              <a:buNone/>
            </a:pPr>
            <a:r>
              <a:rPr lang="en-US" sz="1300" b="1" dirty="0">
                <a:solidFill>
                  <a:srgbClr val="5B9BD5"/>
                </a:solidFill>
              </a:rPr>
              <a:t>65% · 20k</a:t>
            </a:r>
            <a:endParaRPr lang="en-US" sz="1300" dirty="0"/>
          </a:p>
        </p:txBody>
      </p:sp>
      <p:sp>
        <p:nvSpPr>
          <p:cNvPr id="51" name="Text 49"/>
          <p:cNvSpPr txBox="1"/>
          <p:nvPr/>
        </p:nvSpPr>
        <p:spPr>
          <a:xfrm>
            <a:off x="54864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 brute force</a:t>
            </a:r>
            <a:endParaRPr lang="en-US" sz="1300" dirty="0"/>
          </a:p>
        </p:txBody>
      </p:sp>
      <p:sp>
        <p:nvSpPr>
          <p:cNvPr id="52" name="Think only on failure + brute force"/>
          <p:cNvSpPr/>
          <p:nvPr/>
        </p:nvSpPr>
        <p:spPr>
          <a:xfrm>
            <a:off x="2029968" y="5596128"/>
            <a:ext cx="757809" cy="237744"/>
          </a:xfrm>
          <a:prstGeom prst="rect">
            <a:avLst/>
          </a:prstGeom>
          <a:solidFill>
            <a:srgbClr val="4472C4"/>
          </a:solidFill>
          <a:ln w="6350">
            <a:solidFill>
              <a:srgbClr val="4472C4"/>
            </a:solidFill>
            <a:prstDash val="solid"/>
          </a:ln>
        </p:spPr>
      </p:sp>
      <p:sp>
        <p:nvSpPr>
          <p:cNvPr id="53" name="Text 51"/>
          <p:cNvSpPr txBox="1"/>
          <p:nvPr/>
        </p:nvSpPr>
        <p:spPr>
          <a:xfrm>
            <a:off x="2842641"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66% · 25k</a:t>
            </a:r>
            <a:endParaRPr lang="en-US" sz="1300" dirty="0"/>
          </a:p>
        </p:txBody>
      </p:sp>
      <p:sp>
        <p:nvSpPr>
          <p:cNvPr id="54" name="Text 52"/>
          <p:cNvSpPr txBox="1"/>
          <p:nvPr/>
        </p:nvSpPr>
        <p:spPr>
          <a:xfrm>
            <a:off x="434340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Reuse a checked program</a:t>
            </a:r>
            <a:endParaRPr lang="en-US" sz="1700" dirty="0"/>
          </a:p>
        </p:txBody>
      </p:sp>
      <p:sp>
        <p:nvSpPr>
          <p:cNvPr id="55" name="Text 53"/>
          <p:cNvSpPr txBox="1"/>
          <p:nvPr/>
        </p:nvSpPr>
        <p:spPr>
          <a:xfrm>
            <a:off x="434340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48 routing days: % valid · tokens</a:t>
            </a:r>
            <a:endParaRPr lang="en-US" sz="1200" dirty="0"/>
          </a:p>
        </p:txBody>
      </p:sp>
      <p:sp>
        <p:nvSpPr>
          <p:cNvPr id="56" name="Text 54"/>
          <p:cNvSpPr txBox="1"/>
          <p:nvPr/>
        </p:nvSpPr>
        <p:spPr>
          <a:xfrm>
            <a:off x="434340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new each day</a:t>
            </a:r>
            <a:endParaRPr lang="en-US" sz="1300" dirty="0"/>
          </a:p>
        </p:txBody>
      </p:sp>
      <p:sp>
        <p:nvSpPr>
          <p:cNvPr id="57" name="Reuse a checked program new each day"/>
          <p:cNvSpPr/>
          <p:nvPr/>
        </p:nvSpPr>
        <p:spPr>
          <a:xfrm>
            <a:off x="5824728" y="4828032"/>
            <a:ext cx="80010" cy="237744"/>
          </a:xfrm>
          <a:prstGeom prst="rect">
            <a:avLst/>
          </a:prstGeom>
          <a:solidFill>
            <a:srgbClr val="A5A5A5"/>
          </a:solidFill>
          <a:ln w="6350">
            <a:solidFill>
              <a:srgbClr val="A5A5A5"/>
            </a:solidFill>
            <a:prstDash val="solid"/>
          </a:ln>
        </p:spPr>
      </p:sp>
      <p:sp>
        <p:nvSpPr>
          <p:cNvPr id="58" name="Text 56"/>
          <p:cNvSpPr txBox="1"/>
          <p:nvPr/>
        </p:nvSpPr>
        <p:spPr>
          <a:xfrm>
            <a:off x="595960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 · 86k</a:t>
            </a:r>
            <a:endParaRPr lang="en-US" sz="1300" dirty="0"/>
          </a:p>
        </p:txBody>
      </p:sp>
      <p:sp>
        <p:nvSpPr>
          <p:cNvPr id="59" name="Text 57"/>
          <p:cNvSpPr txBox="1"/>
          <p:nvPr/>
        </p:nvSpPr>
        <p:spPr>
          <a:xfrm>
            <a:off x="434340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own notes</a:t>
            </a:r>
            <a:endParaRPr lang="en-US" sz="1300" dirty="0"/>
          </a:p>
        </p:txBody>
      </p:sp>
      <p:sp>
        <p:nvSpPr>
          <p:cNvPr id="60" name="Reuse a checked program own notes"/>
          <p:cNvSpPr/>
          <p:nvPr/>
        </p:nvSpPr>
        <p:spPr>
          <a:xfrm>
            <a:off x="5824728" y="5212080"/>
            <a:ext cx="411480" cy="237744"/>
          </a:xfrm>
          <a:prstGeom prst="rect">
            <a:avLst/>
          </a:prstGeom>
          <a:solidFill>
            <a:srgbClr val="A5A5A5"/>
          </a:solidFill>
          <a:ln w="6350">
            <a:solidFill>
              <a:srgbClr val="A5A5A5"/>
            </a:solidFill>
            <a:prstDash val="solid"/>
          </a:ln>
        </p:spPr>
      </p:sp>
      <p:sp>
        <p:nvSpPr>
          <p:cNvPr id="61" name="Text 59"/>
          <p:cNvSpPr txBox="1"/>
          <p:nvPr/>
        </p:nvSpPr>
        <p:spPr>
          <a:xfrm>
            <a:off x="629107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31–40%</a:t>
            </a:r>
            <a:endParaRPr lang="en-US" sz="1300" dirty="0"/>
          </a:p>
        </p:txBody>
      </p:sp>
      <p:sp>
        <p:nvSpPr>
          <p:cNvPr id="62" name="Text 60"/>
          <p:cNvSpPr txBox="1"/>
          <p:nvPr/>
        </p:nvSpPr>
        <p:spPr>
          <a:xfrm>
            <a:off x="434340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reuse one</a:t>
            </a:r>
            <a:endParaRPr lang="en-US" sz="1300" dirty="0"/>
          </a:p>
        </p:txBody>
      </p:sp>
      <p:sp>
        <p:nvSpPr>
          <p:cNvPr id="63" name="Reuse a checked program reuse one"/>
          <p:cNvSpPr/>
          <p:nvPr/>
        </p:nvSpPr>
        <p:spPr>
          <a:xfrm>
            <a:off x="5824728" y="5596128"/>
            <a:ext cx="1074420" cy="237744"/>
          </a:xfrm>
          <a:prstGeom prst="rect">
            <a:avLst/>
          </a:prstGeom>
          <a:solidFill>
            <a:srgbClr val="4472C4"/>
          </a:solidFill>
          <a:ln w="6350">
            <a:solidFill>
              <a:srgbClr val="4472C4"/>
            </a:solidFill>
            <a:prstDash val="solid"/>
          </a:ln>
        </p:spPr>
      </p:sp>
      <p:sp>
        <p:nvSpPr>
          <p:cNvPr id="64" name="Text 62"/>
          <p:cNvSpPr txBox="1"/>
          <p:nvPr/>
        </p:nvSpPr>
        <p:spPr>
          <a:xfrm>
            <a:off x="695401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94% · 28k</a:t>
            </a:r>
            <a:endParaRPr lang="en-US" sz="1300" dirty="0"/>
          </a:p>
        </p:txBody>
      </p:sp>
      <p:sp>
        <p:nvSpPr>
          <p:cNvPr id="65" name="Text 63"/>
          <p:cNvSpPr txBox="1"/>
          <p:nvPr/>
        </p:nvSpPr>
        <p:spPr>
          <a:xfrm>
            <a:off x="8138160" y="4069080"/>
            <a:ext cx="3611880" cy="347472"/>
          </a:xfrm>
          <a:prstGeom prst="rect">
            <a:avLst/>
          </a:prstGeom>
          <a:noFill/>
          <a:ln/>
        </p:spPr>
        <p:txBody>
          <a:bodyPr wrap="square" lIns="0" tIns="0" rIns="0" bIns="0" rtlCol="0" anchor="ctr"/>
          <a:lstStyle/>
          <a:p>
            <a:pPr indent="0" marL="0">
              <a:buNone/>
            </a:pPr>
            <a:r>
              <a:rPr lang="en-US" sz="1700" b="1" dirty="0">
                <a:solidFill>
                  <a:schemeClr val="tx1"/>
                </a:solidFill>
              </a:rPr>
              <a:t>All together</a:t>
            </a:r>
            <a:endParaRPr lang="en-US" sz="1700" dirty="0"/>
          </a:p>
        </p:txBody>
      </p:sp>
      <p:sp>
        <p:nvSpPr>
          <p:cNvPr id="66" name="Text 64"/>
          <p:cNvSpPr txBox="1"/>
          <p:nvPr/>
        </p:nvSpPr>
        <p:spPr>
          <a:xfrm>
            <a:off x="8138160" y="4416552"/>
            <a:ext cx="3611880" cy="274320"/>
          </a:xfrm>
          <a:prstGeom prst="rect">
            <a:avLst/>
          </a:prstGeom>
          <a:noFill/>
          <a:ln/>
        </p:spPr>
        <p:txBody>
          <a:bodyPr wrap="square" lIns="0" tIns="0" rIns="0" bIns="0" rtlCol="0" anchor="ctr"/>
          <a:lstStyle/>
          <a:p>
            <a:pPr indent="0" marL="0">
              <a:buNone/>
            </a:pPr>
            <a:r>
              <a:rPr lang="en-US" sz="1200" dirty="0">
                <a:solidFill>
                  <a:schemeClr val="tx2"/>
                </a:solidFill>
              </a:rPr>
              <a:t>208 problems × 3 models: % · tokens</a:t>
            </a:r>
            <a:endParaRPr lang="en-US" sz="1200" dirty="0"/>
          </a:p>
        </p:txBody>
      </p:sp>
      <p:sp>
        <p:nvSpPr>
          <p:cNvPr id="67" name="Text 65"/>
          <p:cNvSpPr txBox="1"/>
          <p:nvPr/>
        </p:nvSpPr>
        <p:spPr>
          <a:xfrm>
            <a:off x="8138160" y="4782312"/>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think on hardest</a:t>
            </a:r>
            <a:endParaRPr lang="en-US" sz="1300" dirty="0"/>
          </a:p>
        </p:txBody>
      </p:sp>
      <p:sp>
        <p:nvSpPr>
          <p:cNvPr id="68" name="All together think on hardest"/>
          <p:cNvSpPr/>
          <p:nvPr/>
        </p:nvSpPr>
        <p:spPr>
          <a:xfrm>
            <a:off x="9619488" y="4828032"/>
            <a:ext cx="845820" cy="237744"/>
          </a:xfrm>
          <a:prstGeom prst="rect">
            <a:avLst/>
          </a:prstGeom>
          <a:solidFill>
            <a:srgbClr val="A5A5A5"/>
          </a:solidFill>
          <a:ln w="6350">
            <a:solidFill>
              <a:srgbClr val="A5A5A5"/>
            </a:solidFill>
            <a:prstDash val="solid"/>
          </a:ln>
        </p:spPr>
      </p:sp>
      <p:sp>
        <p:nvSpPr>
          <p:cNvPr id="69" name="Text 67"/>
          <p:cNvSpPr txBox="1"/>
          <p:nvPr/>
        </p:nvSpPr>
        <p:spPr>
          <a:xfrm>
            <a:off x="10520172" y="4782312"/>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74% · 4.1k</a:t>
            </a:r>
            <a:endParaRPr lang="en-US" sz="1300" dirty="0"/>
          </a:p>
        </p:txBody>
      </p:sp>
      <p:sp>
        <p:nvSpPr>
          <p:cNvPr id="70" name="Text 68"/>
          <p:cNvSpPr txBox="1"/>
          <p:nvPr/>
        </p:nvSpPr>
        <p:spPr>
          <a:xfrm>
            <a:off x="8138160" y="5166360"/>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fix by type</a:t>
            </a:r>
            <a:endParaRPr lang="en-US" sz="1300" dirty="0"/>
          </a:p>
        </p:txBody>
      </p:sp>
      <p:sp>
        <p:nvSpPr>
          <p:cNvPr id="71" name="All together fix by type"/>
          <p:cNvSpPr/>
          <p:nvPr/>
        </p:nvSpPr>
        <p:spPr>
          <a:xfrm>
            <a:off x="9619488" y="5212080"/>
            <a:ext cx="948690" cy="237744"/>
          </a:xfrm>
          <a:prstGeom prst="rect">
            <a:avLst/>
          </a:prstGeom>
          <a:solidFill>
            <a:srgbClr val="A5A5A5"/>
          </a:solidFill>
          <a:ln w="6350">
            <a:solidFill>
              <a:srgbClr val="A5A5A5"/>
            </a:solidFill>
            <a:prstDash val="solid"/>
          </a:ln>
        </p:spPr>
      </p:sp>
      <p:sp>
        <p:nvSpPr>
          <p:cNvPr id="72" name="Text 70"/>
          <p:cNvSpPr txBox="1"/>
          <p:nvPr/>
        </p:nvSpPr>
        <p:spPr>
          <a:xfrm>
            <a:off x="10623042" y="5166360"/>
            <a:ext cx="1051560" cy="329184"/>
          </a:xfrm>
          <a:prstGeom prst="rect">
            <a:avLst/>
          </a:prstGeom>
          <a:noFill/>
          <a:ln/>
        </p:spPr>
        <p:txBody>
          <a:bodyPr wrap="square" lIns="0" tIns="0" rIns="0" bIns="0" rtlCol="0" anchor="ctr"/>
          <a:lstStyle/>
          <a:p>
            <a:pPr indent="0" marL="0">
              <a:buNone/>
            </a:pPr>
            <a:r>
              <a:rPr lang="en-US" sz="1300" b="1" dirty="0">
                <a:solidFill>
                  <a:srgbClr val="595959"/>
                </a:solidFill>
              </a:rPr>
              <a:t>83% · 4.2k</a:t>
            </a:r>
            <a:endParaRPr lang="en-US" sz="1300" dirty="0"/>
          </a:p>
        </p:txBody>
      </p:sp>
      <p:sp>
        <p:nvSpPr>
          <p:cNvPr id="73" name="Text 71"/>
          <p:cNvSpPr txBox="1"/>
          <p:nvPr/>
        </p:nvSpPr>
        <p:spPr>
          <a:xfrm>
            <a:off x="8138160" y="5550408"/>
            <a:ext cx="1417320" cy="329184"/>
          </a:xfrm>
          <a:prstGeom prst="rect">
            <a:avLst/>
          </a:prstGeom>
          <a:noFill/>
          <a:ln/>
        </p:spPr>
        <p:txBody>
          <a:bodyPr wrap="square" lIns="0" tIns="0" rIns="0" bIns="0" rtlCol="0" anchor="ctr"/>
          <a:lstStyle/>
          <a:p>
            <a:pPr algn="r" indent="0" marL="0">
              <a:buNone/>
            </a:pPr>
            <a:r>
              <a:rPr lang="en-US" sz="1300" dirty="0">
                <a:solidFill>
                  <a:schemeClr val="tx1"/>
                </a:solidFill>
              </a:rPr>
              <a:t>fact first</a:t>
            </a:r>
            <a:endParaRPr lang="en-US" sz="1300" dirty="0"/>
          </a:p>
        </p:txBody>
      </p:sp>
      <p:sp>
        <p:nvSpPr>
          <p:cNvPr id="74" name="All together fact first"/>
          <p:cNvSpPr/>
          <p:nvPr/>
        </p:nvSpPr>
        <p:spPr>
          <a:xfrm>
            <a:off x="9619488" y="5596128"/>
            <a:ext cx="994410" cy="237744"/>
          </a:xfrm>
          <a:prstGeom prst="rect">
            <a:avLst/>
          </a:prstGeom>
          <a:solidFill>
            <a:srgbClr val="4472C4"/>
          </a:solidFill>
          <a:ln w="6350">
            <a:solidFill>
              <a:srgbClr val="4472C4"/>
            </a:solidFill>
            <a:prstDash val="solid"/>
          </a:ln>
        </p:spPr>
      </p:sp>
      <p:sp>
        <p:nvSpPr>
          <p:cNvPr id="75" name="Text 73"/>
          <p:cNvSpPr txBox="1"/>
          <p:nvPr/>
        </p:nvSpPr>
        <p:spPr>
          <a:xfrm>
            <a:off x="10668762" y="5550408"/>
            <a:ext cx="1051560" cy="329184"/>
          </a:xfrm>
          <a:prstGeom prst="rect">
            <a:avLst/>
          </a:prstGeom>
          <a:noFill/>
          <a:ln/>
        </p:spPr>
        <p:txBody>
          <a:bodyPr wrap="square" lIns="0" tIns="0" rIns="0" bIns="0" rtlCol="0" anchor="ctr"/>
          <a:lstStyle/>
          <a:p>
            <a:pPr indent="0" marL="0">
              <a:buNone/>
            </a:pPr>
            <a:r>
              <a:rPr lang="en-US" sz="1300" b="1" dirty="0">
                <a:solidFill>
                  <a:srgbClr val="4472C4"/>
                </a:solidFill>
              </a:rPr>
              <a:t>87% · 2.5k</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1: give the fact, not the manual</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Task: plan delivery routes for trucks with a weight limit, using Google's OR-Tools library (Qwen3-32B)</a:t>
            </a:r>
            <a:endParaRPr lang="en-US" sz="1800" dirty="0"/>
          </a:p>
        </p:txBody>
      </p:sp>
      <p:sp>
        <p:nvSpPr>
          <p:cNvPr id="4" name="prompt Prompt A: task + a long OR-Tools reference sheet"/>
          <p:cNvSpPr/>
          <p:nvPr/>
        </p:nvSpPr>
        <p:spPr>
          <a:xfrm>
            <a:off x="548640" y="1783080"/>
            <a:ext cx="4572000" cy="1051560"/>
          </a:xfrm>
          <a:prstGeom prst="rect">
            <a:avLst/>
          </a:prstGeom>
          <a:solidFill>
            <a:srgbClr val="FCE4D6"/>
          </a:solidFill>
          <a:ln w="9525">
            <a:solidFill>
              <a:srgbClr val="BFBFBF"/>
            </a:solidFill>
            <a:prstDash val="solid"/>
          </a:ln>
        </p:spPr>
      </p:sp>
      <p:sp>
        <p:nvSpPr>
          <p:cNvPr id="5" name="Text 3"/>
          <p:cNvSpPr txBox="1"/>
          <p:nvPr/>
        </p:nvSpPr>
        <p:spPr>
          <a:xfrm>
            <a:off x="658368" y="183794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task + a long OR-Tools reference sheet</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RoutingModel: AddDimension(...), Solve(...),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SetArcCostEvaluator(...), ... (many functions)</a:t>
            </a:r>
            <a:endParaRPr lang="en-US" sz="1150" dirty="0"/>
          </a:p>
        </p:txBody>
      </p:sp>
      <p:sp>
        <p:nvSpPr>
          <p:cNvPr id="6" name="Shape 4"/>
          <p:cNvSpPr/>
          <p:nvPr/>
        </p:nvSpPr>
        <p:spPr>
          <a:xfrm>
            <a:off x="5120640" y="2304288"/>
            <a:ext cx="365760" cy="0"/>
          </a:xfrm>
          <a:prstGeom prst="line">
            <a:avLst/>
          </a:prstGeom>
          <a:noFill/>
          <a:ln w="25400">
            <a:solidFill>
              <a:srgbClr val="7F7F7F"/>
            </a:solidFill>
            <a:prstDash val="solid"/>
            <a:tailEnd type="triangle"/>
          </a:ln>
        </p:spPr>
      </p:sp>
      <p:sp>
        <p:nvSpPr>
          <p:cNvPr id="7" name="code RegisterUnaryLongLiv"/>
          <p:cNvSpPr/>
          <p:nvPr/>
        </p:nvSpPr>
        <p:spPr>
          <a:xfrm>
            <a:off x="5486400" y="2057400"/>
            <a:ext cx="4206240" cy="502920"/>
          </a:xfrm>
          <a:prstGeom prst="rect">
            <a:avLst/>
          </a:prstGeom>
          <a:solidFill>
            <a:srgbClr val="FFFFFF"/>
          </a:solidFill>
          <a:ln w="9525">
            <a:solidFill>
              <a:srgbClr val="BFBFBF"/>
            </a:solidFill>
            <a:prstDash val="solid"/>
          </a:ln>
        </p:spPr>
      </p:sp>
      <p:sp>
        <p:nvSpPr>
          <p:cNvPr id="8" name="Text 6"/>
          <p:cNvSpPr txBox="1"/>
          <p:nvPr/>
        </p:nvSpPr>
        <p:spPr>
          <a:xfrm>
            <a:off x="5596128" y="2057400"/>
            <a:ext cx="3986784" cy="502920"/>
          </a:xfrm>
          <a:prstGeom prst="rect">
            <a:avLst/>
          </a:prstGeom>
          <a:noFill/>
          <a:ln/>
        </p:spPr>
        <p:txBody>
          <a:bodyPr wrap="square" lIns="0" tIns="0" rIns="0" bIns="0" rtlCol="0" anchor="ctr"/>
          <a:lstStyle/>
          <a:p>
            <a:pPr indent="0" marL="0">
              <a:buNone/>
            </a:pPr>
            <a:r>
              <a:rPr lang="en-US" sz="1200" dirty="0">
                <a:solidFill>
                  <a:srgbClr val="C00000"/>
                </a:solidFill>
                <a:latin typeface="Courier New" pitchFamily="34" charset="0"/>
                <a:ea typeface="Courier New" pitchFamily="34" charset="-122"/>
                <a:cs typeface="Courier New" pitchFamily="34" charset="-120"/>
              </a:rPr>
              <a:t>RegisterUnaryLongLivingCallback(...)</a:t>
            </a:r>
            <a:endParaRPr lang="en-US" sz="1200" dirty="0"/>
          </a:p>
        </p:txBody>
      </p:sp>
      <p:sp>
        <p:nvSpPr>
          <p:cNvPr id="9" name="Text 7"/>
          <p:cNvSpPr txBox="1"/>
          <p:nvPr/>
        </p:nvSpPr>
        <p:spPr>
          <a:xfrm>
            <a:off x="9829800" y="1965960"/>
            <a:ext cx="1828800" cy="685800"/>
          </a:xfrm>
          <a:prstGeom prst="rect">
            <a:avLst/>
          </a:prstGeom>
          <a:noFill/>
          <a:ln/>
        </p:spPr>
        <p:txBody>
          <a:bodyPr wrap="square" lIns="0" tIns="0" rIns="0" bIns="0" rtlCol="0" anchor="ctr"/>
          <a:lstStyle/>
          <a:p>
            <a:pPr indent="0" marL="0">
              <a:buNone/>
            </a:pPr>
            <a:r>
              <a:rPr lang="en-US" sz="1500" b="1" dirty="0">
                <a:solidFill>
                  <a:srgbClr val="C00000"/>
                </a:solidFill>
              </a:rPr>
              <a:t>✗ crash: no such function</a:t>
            </a:r>
            <a:endParaRPr lang="en-US" sz="1500" dirty="0"/>
          </a:p>
        </p:txBody>
      </p:sp>
      <p:sp>
        <p:nvSpPr>
          <p:cNvPr id="10" name="prompt Prompt B: task + the exact usage (11 lines)"/>
          <p:cNvSpPr/>
          <p:nvPr/>
        </p:nvSpPr>
        <p:spPr>
          <a:xfrm>
            <a:off x="548640" y="3017520"/>
            <a:ext cx="4572000" cy="1051560"/>
          </a:xfrm>
          <a:prstGeom prst="rect">
            <a:avLst/>
          </a:prstGeom>
          <a:solidFill>
            <a:srgbClr val="E2F0D9"/>
          </a:solidFill>
          <a:ln w="9525">
            <a:solidFill>
              <a:srgbClr val="BFBFBF"/>
            </a:solidFill>
            <a:prstDash val="solid"/>
          </a:ln>
        </p:spPr>
      </p:sp>
      <p:sp>
        <p:nvSpPr>
          <p:cNvPr id="11" name="Text 9"/>
          <p:cNvSpPr txBox="1"/>
          <p:nvPr/>
        </p:nvSpPr>
        <p:spPr>
          <a:xfrm>
            <a:off x="658368" y="3072384"/>
            <a:ext cx="4352544" cy="94183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task + the exact usage (11 lines)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dcb = r.RegisterUnaryTransitCallback(demand)</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r.AddDimensionWithVehicleCapacity(dcb, ...)</a:t>
            </a:r>
            <a:endParaRPr lang="en-US" sz="1150" dirty="0"/>
          </a:p>
        </p:txBody>
      </p:sp>
      <p:sp>
        <p:nvSpPr>
          <p:cNvPr id="12" name="Shape 10"/>
          <p:cNvSpPr/>
          <p:nvPr/>
        </p:nvSpPr>
        <p:spPr>
          <a:xfrm>
            <a:off x="5120640" y="3538728"/>
            <a:ext cx="365760" cy="0"/>
          </a:xfrm>
          <a:prstGeom prst="line">
            <a:avLst/>
          </a:prstGeom>
          <a:noFill/>
          <a:ln w="25400">
            <a:solidFill>
              <a:srgbClr val="7F7F7F"/>
            </a:solidFill>
            <a:prstDash val="solid"/>
            <a:tailEnd type="triangle"/>
          </a:ln>
        </p:spPr>
      </p:sp>
      <p:sp>
        <p:nvSpPr>
          <p:cNvPr id="13" name="code RegisterUnaryTransit"/>
          <p:cNvSpPr/>
          <p:nvPr/>
        </p:nvSpPr>
        <p:spPr>
          <a:xfrm>
            <a:off x="5486400" y="3291840"/>
            <a:ext cx="4206240" cy="502920"/>
          </a:xfrm>
          <a:prstGeom prst="rect">
            <a:avLst/>
          </a:prstGeom>
          <a:solidFill>
            <a:srgbClr val="FFFFFF"/>
          </a:solidFill>
          <a:ln w="9525">
            <a:solidFill>
              <a:srgbClr val="BFBFBF"/>
            </a:solidFill>
            <a:prstDash val="solid"/>
          </a:ln>
        </p:spPr>
      </p:sp>
      <p:sp>
        <p:nvSpPr>
          <p:cNvPr id="14" name="Text 12"/>
          <p:cNvSpPr txBox="1"/>
          <p:nvPr/>
        </p:nvSpPr>
        <p:spPr>
          <a:xfrm>
            <a:off x="5596128" y="3291840"/>
            <a:ext cx="3986784" cy="50292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RegisterUnaryTransitCallback(...)</a:t>
            </a:r>
            <a:endParaRPr lang="en-US" sz="1200" dirty="0"/>
          </a:p>
        </p:txBody>
      </p:sp>
      <p:sp>
        <p:nvSpPr>
          <p:cNvPr id="15" name="Text 13"/>
          <p:cNvSpPr txBox="1"/>
          <p:nvPr/>
        </p:nvSpPr>
        <p:spPr>
          <a:xfrm>
            <a:off x="9829800" y="3200400"/>
            <a:ext cx="1828800" cy="685800"/>
          </a:xfrm>
          <a:prstGeom prst="rect">
            <a:avLst/>
          </a:prstGeom>
          <a:noFill/>
          <a:ln/>
        </p:spPr>
        <p:txBody>
          <a:bodyPr wrap="square" lIns="0" tIns="0" rIns="0" bIns="0" rtlCol="0" anchor="ctr"/>
          <a:lstStyle/>
          <a:p>
            <a:pPr indent="0" marL="0">
              <a:buNone/>
            </a:pPr>
            <a:r>
              <a:rPr lang="en-US" sz="1500" b="1" dirty="0">
                <a:solidFill>
                  <a:srgbClr val="70AD47"/>
                </a:solidFill>
              </a:rPr>
              <a:t>✓ runs, best route</a:t>
            </a:r>
            <a:endParaRPr lang="en-US" sz="1500" dirty="0"/>
          </a:p>
        </p:txBody>
      </p:sp>
      <p:sp>
        <p:nvSpPr>
          <p:cNvPr id="16" name="Text 14"/>
          <p:cNvSpPr txBox="1"/>
          <p:nvPr/>
        </p:nvSpPr>
        <p:spPr>
          <a:xfrm>
            <a:off x="548640" y="425196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 of 30 routing problems solved optimally:</a:t>
            </a:r>
            <a:endParaRPr lang="en-US" sz="1700" dirty="0"/>
          </a:p>
        </p:txBody>
      </p:sp>
      <p:sp>
        <p:nvSpPr>
          <p:cNvPr id="17" name="Text 15"/>
          <p:cNvSpPr txBox="1"/>
          <p:nvPr/>
        </p:nvSpPr>
        <p:spPr>
          <a:xfrm>
            <a:off x="548640" y="4617720"/>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Nothing extra</a:t>
            </a:r>
            <a:endParaRPr lang="en-US" sz="1600" dirty="0"/>
          </a:p>
        </p:txBody>
      </p:sp>
      <p:sp>
        <p:nvSpPr>
          <p:cNvPr id="18" name="bar Nothing extra"/>
          <p:cNvSpPr/>
          <p:nvPr/>
        </p:nvSpPr>
        <p:spPr>
          <a:xfrm>
            <a:off x="3429000" y="4669841"/>
            <a:ext cx="1556309" cy="173736"/>
          </a:xfrm>
          <a:prstGeom prst="rect">
            <a:avLst/>
          </a:prstGeom>
          <a:solidFill>
            <a:srgbClr val="7F7F7F"/>
          </a:solidFill>
          <a:ln w="6350">
            <a:solidFill>
              <a:srgbClr val="7F7F7F"/>
            </a:solidFill>
            <a:prstDash val="solid"/>
          </a:ln>
        </p:spPr>
      </p:sp>
      <p:sp>
        <p:nvSpPr>
          <p:cNvPr id="19" name="Text 17"/>
          <p:cNvSpPr txBox="1"/>
          <p:nvPr/>
        </p:nvSpPr>
        <p:spPr>
          <a:xfrm>
            <a:off x="5076749" y="4617720"/>
            <a:ext cx="1371600" cy="277978"/>
          </a:xfrm>
          <a:prstGeom prst="rect">
            <a:avLst/>
          </a:prstGeom>
          <a:noFill/>
          <a:ln/>
        </p:spPr>
        <p:txBody>
          <a:bodyPr wrap="square" lIns="0" tIns="0" rIns="0" bIns="0" rtlCol="0" anchor="ctr"/>
          <a:lstStyle/>
          <a:p>
            <a:pPr indent="0" marL="0">
              <a:buNone/>
            </a:pPr>
            <a:r>
              <a:rPr lang="en-US" sz="1800" b="1" dirty="0">
                <a:solidFill>
                  <a:srgbClr val="7F7F7F"/>
                </a:solidFill>
              </a:rPr>
              <a:t>23%</a:t>
            </a:r>
            <a:endParaRPr lang="en-US" sz="1800" dirty="0"/>
          </a:p>
        </p:txBody>
      </p:sp>
      <p:sp>
        <p:nvSpPr>
          <p:cNvPr id="20" name="Text 18"/>
          <p:cNvSpPr txBox="1"/>
          <p:nvPr/>
        </p:nvSpPr>
        <p:spPr>
          <a:xfrm>
            <a:off x="548640" y="4965192"/>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Think longer</a:t>
            </a:r>
            <a:endParaRPr lang="en-US" sz="1600" dirty="0"/>
          </a:p>
        </p:txBody>
      </p:sp>
      <p:sp>
        <p:nvSpPr>
          <p:cNvPr id="21" name="bar Think longer"/>
          <p:cNvSpPr/>
          <p:nvPr/>
        </p:nvSpPr>
        <p:spPr>
          <a:xfrm>
            <a:off x="3429000" y="5017313"/>
            <a:ext cx="202997" cy="173736"/>
          </a:xfrm>
          <a:prstGeom prst="rect">
            <a:avLst/>
          </a:prstGeom>
          <a:solidFill>
            <a:srgbClr val="C00000"/>
          </a:solidFill>
          <a:ln w="6350">
            <a:solidFill>
              <a:srgbClr val="C00000"/>
            </a:solidFill>
            <a:prstDash val="solid"/>
          </a:ln>
        </p:spPr>
      </p:sp>
      <p:sp>
        <p:nvSpPr>
          <p:cNvPr id="22" name="Text 20"/>
          <p:cNvSpPr txBox="1"/>
          <p:nvPr/>
        </p:nvSpPr>
        <p:spPr>
          <a:xfrm>
            <a:off x="3723437" y="4965192"/>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3%</a:t>
            </a:r>
            <a:endParaRPr lang="en-US" sz="1800" dirty="0"/>
          </a:p>
        </p:txBody>
      </p:sp>
      <p:sp>
        <p:nvSpPr>
          <p:cNvPr id="23" name="Text 21"/>
          <p:cNvSpPr txBox="1"/>
          <p:nvPr/>
        </p:nvSpPr>
        <p:spPr>
          <a:xfrm>
            <a:off x="548640" y="5312664"/>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Long reference sheet</a:t>
            </a:r>
            <a:endParaRPr lang="en-US" sz="1600" dirty="0"/>
          </a:p>
        </p:txBody>
      </p:sp>
      <p:sp>
        <p:nvSpPr>
          <p:cNvPr id="24" name="bar Long reference sheet"/>
          <p:cNvSpPr/>
          <p:nvPr/>
        </p:nvSpPr>
        <p:spPr>
          <a:xfrm>
            <a:off x="3429000" y="5364785"/>
            <a:ext cx="473659" cy="173736"/>
          </a:xfrm>
          <a:prstGeom prst="rect">
            <a:avLst/>
          </a:prstGeom>
          <a:solidFill>
            <a:srgbClr val="C00000"/>
          </a:solidFill>
          <a:ln w="6350">
            <a:solidFill>
              <a:srgbClr val="C00000"/>
            </a:solidFill>
            <a:prstDash val="solid"/>
          </a:ln>
        </p:spPr>
      </p:sp>
      <p:sp>
        <p:nvSpPr>
          <p:cNvPr id="25" name="Text 23"/>
          <p:cNvSpPr txBox="1"/>
          <p:nvPr/>
        </p:nvSpPr>
        <p:spPr>
          <a:xfrm>
            <a:off x="3994099" y="5312664"/>
            <a:ext cx="1371600" cy="277978"/>
          </a:xfrm>
          <a:prstGeom prst="rect">
            <a:avLst/>
          </a:prstGeom>
          <a:noFill/>
          <a:ln/>
        </p:spPr>
        <p:txBody>
          <a:bodyPr wrap="square" lIns="0" tIns="0" rIns="0" bIns="0" rtlCol="0" anchor="ctr"/>
          <a:lstStyle/>
          <a:p>
            <a:pPr indent="0" marL="0">
              <a:buNone/>
            </a:pPr>
            <a:r>
              <a:rPr lang="en-US" sz="1800" b="1" dirty="0">
                <a:solidFill>
                  <a:srgbClr val="C00000"/>
                </a:solidFill>
              </a:rPr>
              <a:t>7%</a:t>
            </a:r>
            <a:endParaRPr lang="en-US" sz="1800" dirty="0"/>
          </a:p>
        </p:txBody>
      </p:sp>
      <p:sp>
        <p:nvSpPr>
          <p:cNvPr id="26" name="Text 24"/>
          <p:cNvSpPr txBox="1"/>
          <p:nvPr/>
        </p:nvSpPr>
        <p:spPr>
          <a:xfrm>
            <a:off x="548640" y="5660136"/>
            <a:ext cx="2743200" cy="277978"/>
          </a:xfrm>
          <a:prstGeom prst="rect">
            <a:avLst/>
          </a:prstGeom>
          <a:noFill/>
          <a:ln/>
        </p:spPr>
        <p:txBody>
          <a:bodyPr wrap="square" lIns="0" tIns="0" rIns="0" bIns="0" rtlCol="0" anchor="ctr"/>
          <a:lstStyle/>
          <a:p>
            <a:pPr algn="r" indent="0" marL="0">
              <a:buNone/>
            </a:pPr>
            <a:r>
              <a:rPr lang="en-US" sz="1600" dirty="0">
                <a:solidFill>
                  <a:schemeClr val="tx1"/>
                </a:solidFill>
              </a:rPr>
              <a:t>Exact usage</a:t>
            </a:r>
            <a:endParaRPr lang="en-US" sz="1600" dirty="0"/>
          </a:p>
        </p:txBody>
      </p:sp>
      <p:sp>
        <p:nvSpPr>
          <p:cNvPr id="27" name="bar Exact usage"/>
          <p:cNvSpPr/>
          <p:nvPr/>
        </p:nvSpPr>
        <p:spPr>
          <a:xfrm>
            <a:off x="3429000" y="5712257"/>
            <a:ext cx="5616245" cy="173736"/>
          </a:xfrm>
          <a:prstGeom prst="rect">
            <a:avLst/>
          </a:prstGeom>
          <a:solidFill>
            <a:srgbClr val="70AD47"/>
          </a:solidFill>
          <a:ln w="6350">
            <a:solidFill>
              <a:srgbClr val="70AD47"/>
            </a:solidFill>
            <a:prstDash val="solid"/>
          </a:ln>
        </p:spPr>
      </p:sp>
      <p:sp>
        <p:nvSpPr>
          <p:cNvPr id="28" name="Text 26"/>
          <p:cNvSpPr txBox="1"/>
          <p:nvPr/>
        </p:nvSpPr>
        <p:spPr>
          <a:xfrm>
            <a:off x="9136685" y="5660136"/>
            <a:ext cx="1371600" cy="277978"/>
          </a:xfrm>
          <a:prstGeom prst="rect">
            <a:avLst/>
          </a:prstGeom>
          <a:noFill/>
          <a:ln/>
        </p:spPr>
        <p:txBody>
          <a:bodyPr wrap="square" lIns="0" tIns="0" rIns="0" bIns="0" rtlCol="0" anchor="ctr"/>
          <a:lstStyle/>
          <a:p>
            <a:pPr indent="0" marL="0">
              <a:buNone/>
            </a:pPr>
            <a:r>
              <a:rPr lang="en-US" sz="1800" b="1" dirty="0">
                <a:solidFill>
                  <a:srgbClr val="70AD47"/>
                </a:solidFill>
              </a:rPr>
              <a:t>77–90%</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2: one fact helps small models most</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Word problems → optimization programs (NL4OPT + IndustryOR, 345 problems, 3 runs): % solved</a:t>
            </a:r>
            <a:endParaRPr lang="en-US" sz="1800" dirty="0"/>
          </a:p>
        </p:txBody>
      </p:sp>
      <p:graphicFrame>
        <p:nvGraphicFramePr>
          <p:cNvPr id="4" name="fact gain by model size" descr=""/>
          <p:cNvGraphicFramePr/>
          <p:nvPr/>
        </p:nvGraphicFramePr>
        <p:xfrm>
          <a:off x="548640" y="1691640"/>
          <a:ext cx="7498080" cy="384048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412480" y="1783080"/>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+44</a:t>
            </a:r>
            <a:endParaRPr lang="en-US" sz="2200" dirty="0"/>
          </a:p>
        </p:txBody>
      </p:sp>
      <p:sp>
        <p:nvSpPr>
          <p:cNvPr id="6" name="Text 3"/>
          <p:cNvSpPr txBox="1"/>
          <p:nvPr/>
        </p:nvSpPr>
        <p:spPr>
          <a:xfrm>
            <a:off x="9464040" y="1783080"/>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Qwen3-1.7B</a:t>
            </a:r>
            <a:endParaRPr lang="en-US" sz="1500" dirty="0"/>
          </a:p>
        </p:txBody>
      </p:sp>
      <p:sp>
        <p:nvSpPr>
          <p:cNvPr id="7" name="Text 4"/>
          <p:cNvSpPr txBox="1"/>
          <p:nvPr/>
        </p:nvSpPr>
        <p:spPr>
          <a:xfrm>
            <a:off x="8412480" y="2350008"/>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+31</a:t>
            </a:r>
            <a:endParaRPr lang="en-US" sz="2200" dirty="0"/>
          </a:p>
        </p:txBody>
      </p:sp>
      <p:sp>
        <p:nvSpPr>
          <p:cNvPr id="8" name="Text 5"/>
          <p:cNvSpPr txBox="1"/>
          <p:nvPr/>
        </p:nvSpPr>
        <p:spPr>
          <a:xfrm>
            <a:off x="9464040" y="2350008"/>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Qwen3-4B</a:t>
            </a:r>
            <a:endParaRPr lang="en-US" sz="1500" dirty="0"/>
          </a:p>
        </p:txBody>
      </p:sp>
      <p:sp>
        <p:nvSpPr>
          <p:cNvPr id="9" name="Text 6"/>
          <p:cNvSpPr txBox="1"/>
          <p:nvPr/>
        </p:nvSpPr>
        <p:spPr>
          <a:xfrm>
            <a:off x="8412480" y="2916936"/>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+17</a:t>
            </a:r>
            <a:endParaRPr lang="en-US" sz="2200" dirty="0"/>
          </a:p>
        </p:txBody>
      </p:sp>
      <p:sp>
        <p:nvSpPr>
          <p:cNvPr id="10" name="Text 7"/>
          <p:cNvSpPr txBox="1"/>
          <p:nvPr/>
        </p:nvSpPr>
        <p:spPr>
          <a:xfrm>
            <a:off x="9464040" y="2916936"/>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Qwen3-8B</a:t>
            </a:r>
            <a:endParaRPr lang="en-US" sz="1500" dirty="0"/>
          </a:p>
        </p:txBody>
      </p:sp>
      <p:sp>
        <p:nvSpPr>
          <p:cNvPr id="11" name="Text 8"/>
          <p:cNvSpPr txBox="1"/>
          <p:nvPr/>
        </p:nvSpPr>
        <p:spPr>
          <a:xfrm>
            <a:off x="8412480" y="3483864"/>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+8</a:t>
            </a:r>
            <a:endParaRPr lang="en-US" sz="2200" dirty="0"/>
          </a:p>
        </p:txBody>
      </p:sp>
      <p:sp>
        <p:nvSpPr>
          <p:cNvPr id="12" name="Text 9"/>
          <p:cNvSpPr txBox="1"/>
          <p:nvPr/>
        </p:nvSpPr>
        <p:spPr>
          <a:xfrm>
            <a:off x="9464040" y="3483864"/>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Qwen3-14B</a:t>
            </a:r>
            <a:endParaRPr lang="en-US" sz="1500" dirty="0"/>
          </a:p>
        </p:txBody>
      </p:sp>
      <p:sp>
        <p:nvSpPr>
          <p:cNvPr id="13" name="Text 10"/>
          <p:cNvSpPr txBox="1"/>
          <p:nvPr/>
        </p:nvSpPr>
        <p:spPr>
          <a:xfrm>
            <a:off x="8412480" y="4050792"/>
            <a:ext cx="914400" cy="457200"/>
          </a:xfrm>
          <a:prstGeom prst="rect">
            <a:avLst/>
          </a:prstGeom>
          <a:noFill/>
          <a:ln/>
        </p:spPr>
        <p:txBody>
          <a:bodyPr wrap="square" lIns="0" tIns="0" rIns="0" bIns="0" rtlCol="0" anchor="ctr"/>
          <a:lstStyle/>
          <a:p>
            <a:pPr algn="r" indent="0" marL="0">
              <a:buNone/>
            </a:pPr>
            <a:r>
              <a:rPr lang="en-US" sz="2200" b="1" dirty="0">
                <a:solidFill>
                  <a:srgbClr val="4472C4"/>
                </a:solidFill>
              </a:rPr>
              <a:t>+1</a:t>
            </a:r>
            <a:endParaRPr lang="en-US" sz="2200" dirty="0"/>
          </a:p>
        </p:txBody>
      </p:sp>
      <p:sp>
        <p:nvSpPr>
          <p:cNvPr id="14" name="Text 11"/>
          <p:cNvSpPr txBox="1"/>
          <p:nvPr/>
        </p:nvSpPr>
        <p:spPr>
          <a:xfrm>
            <a:off x="9464040" y="4050792"/>
            <a:ext cx="2194560" cy="457200"/>
          </a:xfrm>
          <a:prstGeom prst="rect">
            <a:avLst/>
          </a:prstGeom>
          <a:noFill/>
          <a:ln/>
        </p:spPr>
        <p:txBody>
          <a:bodyPr wrap="square" lIns="0" tIns="0" rIns="0" bIns="0" rtlCol="0" anchor="ctr"/>
          <a:lstStyle/>
          <a:p>
            <a:pPr indent="0" marL="0">
              <a:buNone/>
            </a:pPr>
            <a:r>
              <a:rPr lang="en-US" sz="1500" dirty="0">
                <a:solidFill>
                  <a:schemeClr val="tx1"/>
                </a:solidFill>
              </a:rPr>
              <a:t>Qwen3-32B</a:t>
            </a:r>
            <a:endParaRPr lang="en-US" sz="1500" dirty="0"/>
          </a:p>
        </p:txBody>
      </p:sp>
      <p:sp>
        <p:nvSpPr>
          <p:cNvPr id="15" name="Text 12"/>
          <p:cNvSpPr txBox="1"/>
          <p:nvPr/>
        </p:nvSpPr>
        <p:spPr>
          <a:xfrm>
            <a:off x="8412480" y="4663440"/>
            <a:ext cx="3200400" cy="365760"/>
          </a:xfrm>
          <a:prstGeom prst="rect">
            <a:avLst/>
          </a:prstGeom>
          <a:noFill/>
          <a:ln/>
        </p:spPr>
        <p:txBody>
          <a:bodyPr wrap="square" lIns="0" tIns="0" rIns="0" bIns="0" rtlCol="0" anchor="ctr"/>
          <a:lstStyle/>
          <a:p>
            <a:pPr indent="0" marL="0">
              <a:buNone/>
            </a:pPr>
            <a:r>
              <a:rPr lang="en-US" sz="1300" dirty="0">
                <a:solidFill>
                  <a:schemeClr val="tx2"/>
                </a:solidFill>
              </a:rPr>
              <a:t>fact gain (points)</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With the fact, a model on one 24 GB GPU matches Qwen3-32B (73% vs 72%) at 1/8 of the tokens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3: two versions catch each other's mistakes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Extra tools can mislead the model. Write the program with and without them, and compare:</a:t>
            </a:r>
            <a:endParaRPr lang="en-US" sz="1800" dirty="0"/>
          </a:p>
        </p:txBody>
      </p:sp>
      <p:pic>
        <p:nvPicPr>
          <p:cNvPr id="4" name="ten points and their hull" descr="10 points; the rubber band touches 6 of them">    </p:cNvPr>
          <p:cNvPicPr>
            <a:picLocks noChangeAspect="1"/>
          </p:cNvPicPr>
          <p:nvPr/>
        </p:nvPicPr>
        <p:blipFill>
          <a:blip r:embed="rId1"/>
          <a:stretch>
            <a:fillRect/>
          </a:stretch>
        </p:blipFill>
        <p:spPr>
          <a:xfrm>
            <a:off x="685800" y="1783080"/>
            <a:ext cx="1874520" cy="1874520"/>
          </a:xfrm>
          <a:prstGeom prst="rect">
            <a:avLst/>
          </a:prstGeom>
        </p:spPr>
      </p:pic>
      <p:sp>
        <p:nvSpPr>
          <p:cNvPr id="5" name="Text 2"/>
          <p:cNvSpPr txBox="1"/>
          <p:nvPr/>
        </p:nvSpPr>
        <p:spPr>
          <a:xfrm>
            <a:off x="365760" y="3657600"/>
            <a:ext cx="2514600" cy="365760"/>
          </a:xfrm>
          <a:prstGeom prst="rect">
            <a:avLst/>
          </a:prstGeom>
          <a:noFill/>
          <a:ln/>
        </p:spPr>
        <p:txBody>
          <a:bodyPr wrap="square" lIns="0" tIns="0" rIns="0" bIns="0" rtlCol="0" anchor="ctr"/>
          <a:lstStyle/>
          <a:p>
            <a:pPr algn="ctr" indent="0" marL="0">
              <a:buNone/>
            </a:pPr>
            <a:r>
              <a:rPr lang="en-US" sz="1200" b="1" dirty="0">
                <a:solidFill>
                  <a:srgbClr val="70AD47"/>
                </a:solidFill>
              </a:rPr>
              <a:t>rubber band around 10 points: 6 corners</a:t>
            </a:r>
            <a:endParaRPr lang="en-US" sz="1200" dirty="0"/>
          </a:p>
        </p:txBody>
      </p:sp>
      <p:sp>
        <p:nvSpPr>
          <p:cNvPr id="6" name="prompt Prompt A: only the task"/>
          <p:cNvSpPr/>
          <p:nvPr/>
        </p:nvSpPr>
        <p:spPr>
          <a:xfrm>
            <a:off x="3246120" y="1783080"/>
            <a:ext cx="3749040" cy="914400"/>
          </a:xfrm>
          <a:prstGeom prst="rect">
            <a:avLst/>
          </a:prstGeom>
          <a:solidFill>
            <a:srgbClr val="FFFFFF"/>
          </a:solidFill>
          <a:ln w="9525">
            <a:solidFill>
              <a:srgbClr val="BFBFBF"/>
            </a:solidFill>
            <a:prstDash val="solid"/>
          </a:ln>
        </p:spPr>
      </p:sp>
      <p:sp>
        <p:nvSpPr>
          <p:cNvPr id="7" name="Text 4"/>
          <p:cNvSpPr txBox="1"/>
          <p:nvPr/>
        </p:nvSpPr>
        <p:spPr>
          <a:xfrm>
            <a:off x="3355848" y="1837944"/>
            <a:ext cx="3529584" cy="80467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A: only the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Points: (20,-40) (-26,-18) ...</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How many corners does the rubber</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band have? Write a Python program.</a:t>
            </a:r>
            <a:endParaRPr lang="en-US" sz="1150" dirty="0"/>
          </a:p>
        </p:txBody>
      </p:sp>
      <p:sp>
        <p:nvSpPr>
          <p:cNvPr id="8" name="Shape 5"/>
          <p:cNvSpPr/>
          <p:nvPr/>
        </p:nvSpPr>
        <p:spPr>
          <a:xfrm>
            <a:off x="6995160" y="2240280"/>
            <a:ext cx="411480" cy="0"/>
          </a:xfrm>
          <a:prstGeom prst="line">
            <a:avLst/>
          </a:prstGeom>
          <a:noFill/>
          <a:ln w="25400">
            <a:solidFill>
              <a:srgbClr val="7F7F7F"/>
            </a:solidFill>
            <a:prstDash val="solid"/>
            <a:tailEnd type="triangle"/>
          </a:ln>
        </p:spPr>
      </p:sp>
      <p:sp>
        <p:nvSpPr>
          <p:cNvPr id="9" name="answer 6 ✓"/>
          <p:cNvSpPr/>
          <p:nvPr/>
        </p:nvSpPr>
        <p:spPr>
          <a:xfrm>
            <a:off x="7452360" y="1965960"/>
            <a:ext cx="1554480" cy="548640"/>
          </a:xfrm>
          <a:prstGeom prst="roundRect">
            <a:avLst>
              <a:gd name="adj" fmla="val 16667"/>
            </a:avLst>
          </a:prstGeom>
          <a:solidFill>
            <a:srgbClr val="E2F0D9"/>
          </a:solidFill>
          <a:ln w="12700">
            <a:solidFill>
              <a:srgbClr val="70AD47"/>
            </a:solidFill>
            <a:prstDash val="solid"/>
          </a:ln>
        </p:spPr>
      </p:sp>
      <p:sp>
        <p:nvSpPr>
          <p:cNvPr id="10" name="Text 7"/>
          <p:cNvSpPr txBox="1"/>
          <p:nvPr/>
        </p:nvSpPr>
        <p:spPr>
          <a:xfrm>
            <a:off x="7452360" y="1965960"/>
            <a:ext cx="1554480" cy="548640"/>
          </a:xfrm>
          <a:prstGeom prst="rect">
            <a:avLst/>
          </a:prstGeom>
          <a:noFill/>
          <a:ln/>
        </p:spPr>
        <p:txBody>
          <a:bodyPr wrap="square" lIns="0" tIns="0" rIns="0" bIns="0" rtlCol="0" anchor="ctr"/>
          <a:lstStyle/>
          <a:p>
            <a:pPr algn="ctr" indent="0" marL="0">
              <a:buNone/>
            </a:pPr>
            <a:r>
              <a:rPr lang="en-US" sz="2200" b="1" dirty="0">
                <a:solidFill>
                  <a:srgbClr val="38761D"/>
                </a:solidFill>
              </a:rPr>
              <a:t>6 ✓</a:t>
            </a:r>
            <a:endParaRPr lang="en-US" sz="2200" dirty="0"/>
          </a:p>
        </p:txBody>
      </p:sp>
      <p:sp>
        <p:nvSpPr>
          <p:cNvPr id="11" name="prompt Prompt B: the task + 8 helpers"/>
          <p:cNvSpPr/>
          <p:nvPr/>
        </p:nvSpPr>
        <p:spPr>
          <a:xfrm>
            <a:off x="3246120" y="2834640"/>
            <a:ext cx="3749040" cy="1261872"/>
          </a:xfrm>
          <a:prstGeom prst="rect">
            <a:avLst/>
          </a:prstGeom>
          <a:solidFill>
            <a:srgbClr val="FCE4D6"/>
          </a:solidFill>
          <a:ln w="9525">
            <a:solidFill>
              <a:srgbClr val="BFBFBF"/>
            </a:solidFill>
            <a:prstDash val="solid"/>
          </a:ln>
        </p:spPr>
      </p:sp>
      <p:sp>
        <p:nvSpPr>
          <p:cNvPr id="12" name="Text 9"/>
          <p:cNvSpPr txBox="1"/>
          <p:nvPr/>
        </p:nvSpPr>
        <p:spPr>
          <a:xfrm>
            <a:off x="3355848" y="2889504"/>
            <a:ext cx="3529584" cy="1152144"/>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Prompt B: the task + 8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...same task...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You may use these helpers:</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orient(a, b, c)    # side of a line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polar_sort(pts, o) # sort by angle</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 and 6 more</a:t>
            </a:r>
            <a:endParaRPr lang="en-US" sz="1150" dirty="0"/>
          </a:p>
        </p:txBody>
      </p:sp>
      <p:sp>
        <p:nvSpPr>
          <p:cNvPr id="13" name="Shape 10"/>
          <p:cNvSpPr/>
          <p:nvPr/>
        </p:nvSpPr>
        <p:spPr>
          <a:xfrm>
            <a:off x="6995160" y="3401568"/>
            <a:ext cx="411480" cy="0"/>
          </a:xfrm>
          <a:prstGeom prst="line">
            <a:avLst/>
          </a:prstGeom>
          <a:noFill/>
          <a:ln w="25400">
            <a:solidFill>
              <a:srgbClr val="7F7F7F"/>
            </a:solidFill>
            <a:prstDash val="solid"/>
            <a:tailEnd type="triangle"/>
          </a:ln>
        </p:spPr>
      </p:sp>
      <p:sp>
        <p:nvSpPr>
          <p:cNvPr id="14" name="answer 0 ✗"/>
          <p:cNvSpPr/>
          <p:nvPr/>
        </p:nvSpPr>
        <p:spPr>
          <a:xfrm>
            <a:off x="7452360" y="3127248"/>
            <a:ext cx="1554480" cy="548640"/>
          </a:xfrm>
          <a:prstGeom prst="roundRect">
            <a:avLst>
              <a:gd name="adj" fmla="val 16667"/>
            </a:avLst>
          </a:prstGeom>
          <a:solidFill>
            <a:srgbClr val="FADBD8"/>
          </a:solidFill>
          <a:ln w="12700">
            <a:solidFill>
              <a:srgbClr val="C00000"/>
            </a:solidFill>
            <a:prstDash val="solid"/>
          </a:ln>
        </p:spPr>
      </p:sp>
      <p:sp>
        <p:nvSpPr>
          <p:cNvPr id="15" name="Text 12"/>
          <p:cNvSpPr txBox="1"/>
          <p:nvPr/>
        </p:nvSpPr>
        <p:spPr>
          <a:xfrm>
            <a:off x="7452360" y="3127248"/>
            <a:ext cx="1554480" cy="548640"/>
          </a:xfrm>
          <a:prstGeom prst="rect">
            <a:avLst/>
          </a:prstGeom>
          <a:noFill/>
          <a:ln/>
        </p:spPr>
        <p:txBody>
          <a:bodyPr wrap="square" lIns="0" tIns="0" rIns="0" bIns="0" rtlCol="0" anchor="ctr"/>
          <a:lstStyle/>
          <a:p>
            <a:pPr algn="ctr" indent="0" marL="0">
              <a:buNone/>
            </a:pPr>
            <a:r>
              <a:rPr lang="en-US" sz="2200" b="1" dirty="0">
                <a:solidFill>
                  <a:srgbClr val="C00000"/>
                </a:solidFill>
              </a:rPr>
              <a:t>0 ✗</a:t>
            </a:r>
            <a:endParaRPr lang="en-US" sz="2200" dirty="0"/>
          </a:p>
        </p:txBody>
      </p:sp>
      <p:sp>
        <p:nvSpPr>
          <p:cNvPr id="16" name="Text 13"/>
          <p:cNvSpPr txBox="1"/>
          <p:nvPr/>
        </p:nvSpPr>
        <p:spPr>
          <a:xfrm>
            <a:off x="7315200" y="3703320"/>
            <a:ext cx="2011680" cy="320040"/>
          </a:xfrm>
          <a:prstGeom prst="rect">
            <a:avLst/>
          </a:prstGeom>
          <a:noFill/>
          <a:ln/>
        </p:spPr>
        <p:txBody>
          <a:bodyPr wrap="square" lIns="0" tIns="0" rIns="0" bIns="0" rtlCol="0" anchor="ctr"/>
          <a:lstStyle/>
          <a:p>
            <a:pPr algn="ctr" indent="0" marL="0">
              <a:buNone/>
            </a:pPr>
            <a:r>
              <a:rPr lang="en-US" sz="1200" dirty="0">
                <a:solidFill>
                  <a:schemeClr val="tx2"/>
                </a:solidFill>
              </a:rPr>
              <a:t>used polar_sort: wrong method</a:t>
            </a:r>
            <a:endParaRPr lang="en-US" sz="1200" dirty="0"/>
          </a:p>
        </p:txBody>
      </p:sp>
      <p:sp>
        <p:nvSpPr>
          <p:cNvPr id="17" name="Shape 14"/>
          <p:cNvSpPr/>
          <p:nvPr/>
        </p:nvSpPr>
        <p:spPr>
          <a:xfrm>
            <a:off x="9052560" y="2240280"/>
            <a:ext cx="411480" cy="411480"/>
          </a:xfrm>
          <a:prstGeom prst="line">
            <a:avLst/>
          </a:prstGeom>
          <a:noFill/>
          <a:ln w="25400">
            <a:solidFill>
              <a:srgbClr val="7F7F7F"/>
            </a:solidFill>
            <a:prstDash val="solid"/>
            <a:tailEnd type="triangle"/>
          </a:ln>
        </p:spPr>
      </p:sp>
      <p:sp>
        <p:nvSpPr>
          <p:cNvPr id="18" name="Shape 15"/>
          <p:cNvSpPr/>
          <p:nvPr/>
        </p:nvSpPr>
        <p:spPr>
          <a:xfrm flipV="1">
            <a:off x="9052560" y="3017520"/>
            <a:ext cx="411480" cy="384048"/>
          </a:xfrm>
          <a:prstGeom prst="line">
            <a:avLst/>
          </a:prstGeom>
          <a:noFill/>
          <a:ln w="25400">
            <a:solidFill>
              <a:srgbClr val="7F7F7F"/>
            </a:solidFill>
            <a:prstDash val="solid"/>
            <a:tailEnd type="triangle"/>
          </a:ln>
        </p:spPr>
      </p:sp>
      <p:sp>
        <p:nvSpPr>
          <p:cNvPr id="19" name="box answers differ → thi"/>
          <p:cNvSpPr/>
          <p:nvPr/>
        </p:nvSpPr>
        <p:spPr>
          <a:xfrm>
            <a:off x="9464040" y="2240280"/>
            <a:ext cx="2148840" cy="1188720"/>
          </a:xfrm>
          <a:prstGeom prst="roundRect">
            <a:avLst>
              <a:gd name="adj" fmla="val 4615"/>
            </a:avLst>
          </a:prstGeom>
          <a:solidFill>
            <a:srgbClr val="DEEBF7"/>
          </a:solidFill>
          <a:ln w="9525">
            <a:solidFill>
              <a:srgbClr val="BFBFBF"/>
            </a:solidFill>
            <a:prstDash val="solid"/>
          </a:ln>
        </p:spPr>
      </p:sp>
      <p:sp>
        <p:nvSpPr>
          <p:cNvPr id="20" name="Text 17"/>
          <p:cNvSpPr txBox="1"/>
          <p:nvPr/>
        </p:nvSpPr>
        <p:spPr>
          <a:xfrm>
            <a:off x="9537192" y="2240280"/>
            <a:ext cx="2002536" cy="1188720"/>
          </a:xfrm>
          <a:prstGeom prst="rect">
            <a:avLst/>
          </a:prstGeom>
          <a:noFill/>
          <a:ln/>
        </p:spPr>
        <p:txBody>
          <a:bodyPr wrap="square" lIns="0" tIns="0" rIns="0" bIns="0" rtlCol="0" anchor="ctr"/>
          <a:lstStyle/>
          <a:p>
            <a:pPr algn="ctr" indent="0" marL="0">
              <a:buNone/>
            </a:pPr>
            <a:r>
              <a:rPr lang="en-US" sz="1500" dirty="0">
                <a:solidFill>
                  <a:schemeClr val="tx1"/>
                </a:solidFill>
              </a:rPr>
              <a:t>answers differ → think it through → 6 ✓</a:t>
            </a:r>
            <a:endParaRPr lang="en-US" sz="1500" dirty="0"/>
          </a:p>
        </p:txBody>
      </p:sp>
      <p:sp>
        <p:nvSpPr>
          <p:cNvPr id="21" name="Text 18"/>
          <p:cNvSpPr txBox="1"/>
          <p:nvPr/>
        </p:nvSpPr>
        <p:spPr>
          <a:xfrm>
            <a:off x="548640" y="4206240"/>
            <a:ext cx="11064240" cy="365760"/>
          </a:xfrm>
          <a:prstGeom prst="rect">
            <a:avLst/>
          </a:prstGeom>
          <a:noFill/>
          <a:ln/>
        </p:spPr>
        <p:txBody>
          <a:bodyPr wrap="square" lIns="0" tIns="0" rIns="0" bIns="0" rtlCol="0" anchor="ctr"/>
          <a:lstStyle/>
          <a:p>
            <a:pPr indent="0" marL="0">
              <a:buNone/>
            </a:pPr>
            <a:r>
              <a:rPr lang="en-US" sz="1700" b="1" dirty="0">
                <a:solidFill>
                  <a:schemeClr val="tx1"/>
                </a:solidFill>
              </a:rPr>
              <a:t>Over 108 geometry problems (Qwen3-32B, 3 runs): how often the answer is right, and tokens per problem</a:t>
            </a:r>
            <a:endParaRPr lang="en-US" sz="1700" dirty="0"/>
          </a:p>
        </p:txBody>
      </p:sp>
      <p:sp>
        <p:nvSpPr>
          <p:cNvPr id="22" name="Text 19"/>
          <p:cNvSpPr txBox="1"/>
          <p:nvPr/>
        </p:nvSpPr>
        <p:spPr>
          <a:xfrm>
            <a:off x="548640" y="457200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B (+ helpers)</a:t>
            </a:r>
            <a:endParaRPr lang="en-US" sz="1600" dirty="0"/>
          </a:p>
        </p:txBody>
      </p:sp>
      <p:sp>
        <p:nvSpPr>
          <p:cNvPr id="23" name="bar Always Prompt B (+ helpers)"/>
          <p:cNvSpPr/>
          <p:nvPr/>
        </p:nvSpPr>
        <p:spPr>
          <a:xfrm>
            <a:off x="4434840" y="4626864"/>
            <a:ext cx="3183026" cy="182880"/>
          </a:xfrm>
          <a:prstGeom prst="rect">
            <a:avLst/>
          </a:prstGeom>
          <a:solidFill>
            <a:srgbClr val="C00000"/>
          </a:solidFill>
          <a:ln w="6350">
            <a:solidFill>
              <a:srgbClr val="C00000"/>
            </a:solidFill>
            <a:prstDash val="solid"/>
          </a:ln>
        </p:spPr>
      </p:sp>
      <p:sp>
        <p:nvSpPr>
          <p:cNvPr id="24" name="Text 21"/>
          <p:cNvSpPr txBox="1"/>
          <p:nvPr/>
        </p:nvSpPr>
        <p:spPr>
          <a:xfrm>
            <a:off x="7709306" y="4572000"/>
            <a:ext cx="1737360" cy="292608"/>
          </a:xfrm>
          <a:prstGeom prst="rect">
            <a:avLst/>
          </a:prstGeom>
          <a:noFill/>
          <a:ln/>
        </p:spPr>
        <p:txBody>
          <a:bodyPr wrap="square" lIns="0" tIns="0" rIns="0" bIns="0" rtlCol="0" anchor="ctr"/>
          <a:lstStyle/>
          <a:p>
            <a:pPr indent="0" marL="0">
              <a:buNone/>
            </a:pPr>
            <a:r>
              <a:rPr lang="en-US" sz="1800" b="1" dirty="0">
                <a:solidFill>
                  <a:srgbClr val="C00000"/>
                </a:solidFill>
              </a:rPr>
              <a:t>59% · 0.6k</a:t>
            </a:r>
            <a:endParaRPr lang="en-US" sz="1800" dirty="0"/>
          </a:p>
        </p:txBody>
      </p:sp>
      <p:sp>
        <p:nvSpPr>
          <p:cNvPr id="25" name="Text 22"/>
          <p:cNvSpPr txBox="1"/>
          <p:nvPr/>
        </p:nvSpPr>
        <p:spPr>
          <a:xfrm>
            <a:off x="548640" y="493776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Prompt A (task only)</a:t>
            </a:r>
            <a:endParaRPr lang="en-US" sz="1600" dirty="0"/>
          </a:p>
        </p:txBody>
      </p:sp>
      <p:sp>
        <p:nvSpPr>
          <p:cNvPr id="26" name="bar Always Prompt A (task only)"/>
          <p:cNvSpPr/>
          <p:nvPr/>
        </p:nvSpPr>
        <p:spPr>
          <a:xfrm>
            <a:off x="4434840" y="4992624"/>
            <a:ext cx="4154119" cy="182880"/>
          </a:xfrm>
          <a:prstGeom prst="rect">
            <a:avLst/>
          </a:prstGeom>
          <a:solidFill>
            <a:srgbClr val="7F7F7F"/>
          </a:solidFill>
          <a:ln w="6350">
            <a:solidFill>
              <a:srgbClr val="7F7F7F"/>
            </a:solidFill>
            <a:prstDash val="solid"/>
          </a:ln>
        </p:spPr>
      </p:sp>
      <p:sp>
        <p:nvSpPr>
          <p:cNvPr id="27" name="Text 24"/>
          <p:cNvSpPr txBox="1"/>
          <p:nvPr/>
        </p:nvSpPr>
        <p:spPr>
          <a:xfrm>
            <a:off x="8680399" y="493776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77% · 0.4k</a:t>
            </a:r>
            <a:endParaRPr lang="en-US" sz="1800" dirty="0"/>
          </a:p>
        </p:txBody>
      </p:sp>
      <p:sp>
        <p:nvSpPr>
          <p:cNvPr id="28" name="Text 25"/>
          <p:cNvSpPr txBox="1"/>
          <p:nvPr/>
        </p:nvSpPr>
        <p:spPr>
          <a:xfrm>
            <a:off x="548640" y="530352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long</a:t>
            </a:r>
            <a:endParaRPr lang="en-US" sz="1600" dirty="0"/>
          </a:p>
        </p:txBody>
      </p:sp>
      <p:sp>
        <p:nvSpPr>
          <p:cNvPr id="29" name="bar Always think long"/>
          <p:cNvSpPr/>
          <p:nvPr/>
        </p:nvSpPr>
        <p:spPr>
          <a:xfrm>
            <a:off x="4434840" y="5358384"/>
            <a:ext cx="5287061" cy="182880"/>
          </a:xfrm>
          <a:prstGeom prst="rect">
            <a:avLst/>
          </a:prstGeom>
          <a:solidFill>
            <a:srgbClr val="7F7F7F"/>
          </a:solidFill>
          <a:ln w="6350">
            <a:solidFill>
              <a:srgbClr val="7F7F7F"/>
            </a:solidFill>
            <a:prstDash val="solid"/>
          </a:ln>
        </p:spPr>
      </p:sp>
      <p:sp>
        <p:nvSpPr>
          <p:cNvPr id="30" name="Text 27"/>
          <p:cNvSpPr txBox="1"/>
          <p:nvPr/>
        </p:nvSpPr>
        <p:spPr>
          <a:xfrm>
            <a:off x="9813341" y="5303520"/>
            <a:ext cx="1737360" cy="292608"/>
          </a:xfrm>
          <a:prstGeom prst="rect">
            <a:avLst/>
          </a:prstGeom>
          <a:noFill/>
          <a:ln/>
        </p:spPr>
        <p:txBody>
          <a:bodyPr wrap="square" lIns="0" tIns="0" rIns="0" bIns="0" rtlCol="0" anchor="ctr"/>
          <a:lstStyle/>
          <a:p>
            <a:pPr indent="0" marL="0">
              <a:buNone/>
            </a:pPr>
            <a:r>
              <a:rPr lang="en-US" sz="1800" b="1" dirty="0">
                <a:solidFill>
                  <a:srgbClr val="7F7F7F"/>
                </a:solidFill>
              </a:rPr>
              <a:t>98% · 5.9k</a:t>
            </a:r>
            <a:endParaRPr lang="en-US" sz="1800" dirty="0"/>
          </a:p>
        </p:txBody>
      </p:sp>
      <p:sp>
        <p:nvSpPr>
          <p:cNvPr id="31" name="Text 28"/>
          <p:cNvSpPr txBox="1"/>
          <p:nvPr/>
        </p:nvSpPr>
        <p:spPr>
          <a:xfrm>
            <a:off x="548640" y="5669280"/>
            <a:ext cx="3749040" cy="292608"/>
          </a:xfrm>
          <a:prstGeom prst="rect">
            <a:avLst/>
          </a:prstGeom>
          <a:noFill/>
          <a:ln/>
        </p:spPr>
        <p:txBody>
          <a:bodyPr wrap="square" lIns="0" tIns="0" rIns="0" bIns="0" rtlCol="0" anchor="ctr"/>
          <a:lstStyle/>
          <a:p>
            <a:pPr algn="r" indent="0" marL="0">
              <a:buNone/>
            </a:pPr>
            <a:r>
              <a:rPr lang="en-US" sz="1600" dirty="0">
                <a:solidFill>
                  <a:schemeClr val="tx1"/>
                </a:solidFill>
              </a:rPr>
              <a:t>Both prompts, think only if they differ</a:t>
            </a:r>
            <a:endParaRPr lang="en-US" sz="1600" dirty="0"/>
          </a:p>
        </p:txBody>
      </p:sp>
      <p:sp>
        <p:nvSpPr>
          <p:cNvPr id="32" name="bar Both prompts, think only if they differ"/>
          <p:cNvSpPr/>
          <p:nvPr/>
        </p:nvSpPr>
        <p:spPr>
          <a:xfrm>
            <a:off x="4434840" y="5724144"/>
            <a:ext cx="5341010" cy="182880"/>
          </a:xfrm>
          <a:prstGeom prst="rect">
            <a:avLst/>
          </a:prstGeom>
          <a:solidFill>
            <a:srgbClr val="4472C4"/>
          </a:solidFill>
          <a:ln w="6350">
            <a:solidFill>
              <a:srgbClr val="4472C4"/>
            </a:solidFill>
            <a:prstDash val="solid"/>
          </a:ln>
        </p:spPr>
      </p:sp>
      <p:sp>
        <p:nvSpPr>
          <p:cNvPr id="33" name="Text 30"/>
          <p:cNvSpPr txBox="1"/>
          <p:nvPr/>
        </p:nvSpPr>
        <p:spPr>
          <a:xfrm>
            <a:off x="9867290" y="5669280"/>
            <a:ext cx="1737360" cy="292608"/>
          </a:xfrm>
          <a:prstGeom prst="rect">
            <a:avLst/>
          </a:prstGeom>
          <a:noFill/>
          <a:ln/>
        </p:spPr>
        <p:txBody>
          <a:bodyPr wrap="square" lIns="0" tIns="0" rIns="0" bIns="0" rtlCol="0" anchor="ctr"/>
          <a:lstStyle/>
          <a:p>
            <a:pPr indent="0" marL="0">
              <a:buNone/>
            </a:pPr>
            <a:r>
              <a:rPr lang="en-US" sz="1800" b="1" dirty="0">
                <a:solidFill>
                  <a:srgbClr val="4472C4"/>
                </a:solidFill>
              </a:rPr>
              <a:t>99% · 4.3k</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4: think harder only when a check fails</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Every contest problem lists a few sample inputs with the correct outputs. Running the program on them costs nothing:</a:t>
            </a:r>
            <a:endParaRPr lang="en-US" sz="1800" dirty="0"/>
          </a:p>
        </p:txBody>
      </p:sp>
      <p:sp>
        <p:nvSpPr>
          <p:cNvPr id="4" name="box write a program quic"/>
          <p:cNvSpPr/>
          <p:nvPr/>
        </p:nvSpPr>
        <p:spPr>
          <a:xfrm>
            <a:off x="548640" y="2011680"/>
            <a:ext cx="2651760" cy="777240"/>
          </a:xfrm>
          <a:prstGeom prst="roundRect">
            <a:avLst>
              <a:gd name="adj" fmla="val 7059"/>
            </a:avLst>
          </a:prstGeom>
          <a:solidFill>
            <a:srgbClr val="FFFFFF"/>
          </a:solidFill>
          <a:ln w="9525">
            <a:solidFill>
              <a:srgbClr val="BFBFBF"/>
            </a:solidFill>
            <a:prstDash val="solid"/>
          </a:ln>
        </p:spPr>
      </p:sp>
      <p:sp>
        <p:nvSpPr>
          <p:cNvPr id="5" name="Text 3"/>
          <p:cNvSpPr txBox="1"/>
          <p:nvPr/>
        </p:nvSpPr>
        <p:spPr>
          <a:xfrm>
            <a:off x="621792" y="2011680"/>
            <a:ext cx="2505456" cy="777240"/>
          </a:xfrm>
          <a:prstGeom prst="rect">
            <a:avLst/>
          </a:prstGeom>
          <a:noFill/>
          <a:ln/>
        </p:spPr>
        <p:txBody>
          <a:bodyPr wrap="square" lIns="0" tIns="0" rIns="0" bIns="0" rtlCol="0" anchor="ctr"/>
          <a:lstStyle/>
          <a:p>
            <a:pPr algn="ctr" indent="0" marL="0">
              <a:buNone/>
            </a:pPr>
            <a:r>
              <a:rPr lang="en-US" sz="1500" dirty="0">
                <a:solidFill>
                  <a:schemeClr val="tx1"/>
                </a:solidFill>
              </a:rPr>
              <a:t>write a program quickly (medium effort)</a:t>
            </a:r>
            <a:endParaRPr lang="en-US" sz="1500" dirty="0"/>
          </a:p>
        </p:txBody>
      </p:sp>
      <p:sp>
        <p:nvSpPr>
          <p:cNvPr id="6" name="Shape 4"/>
          <p:cNvSpPr/>
          <p:nvPr/>
        </p:nvSpPr>
        <p:spPr>
          <a:xfrm>
            <a:off x="3200400" y="2395728"/>
            <a:ext cx="411480" cy="0"/>
          </a:xfrm>
          <a:prstGeom prst="line">
            <a:avLst/>
          </a:prstGeom>
          <a:noFill/>
          <a:ln w="25400">
            <a:solidFill>
              <a:srgbClr val="7F7F7F"/>
            </a:solidFill>
            <a:prstDash val="solid"/>
            <a:tailEnd type="triangle"/>
          </a:ln>
        </p:spPr>
      </p:sp>
      <p:sp>
        <p:nvSpPr>
          <p:cNvPr id="7" name="box run it on the exampl"/>
          <p:cNvSpPr/>
          <p:nvPr/>
        </p:nvSpPr>
        <p:spPr>
          <a:xfrm>
            <a:off x="3611880" y="2011680"/>
            <a:ext cx="2194560" cy="777240"/>
          </a:xfrm>
          <a:prstGeom prst="roundRect">
            <a:avLst>
              <a:gd name="adj" fmla="val 7059"/>
            </a:avLst>
          </a:prstGeom>
          <a:solidFill>
            <a:srgbClr val="DEEBF7"/>
          </a:solidFill>
          <a:ln w="9525">
            <a:solidFill>
              <a:srgbClr val="BFBFBF"/>
            </a:solidFill>
            <a:prstDash val="solid"/>
          </a:ln>
        </p:spPr>
      </p:sp>
      <p:sp>
        <p:nvSpPr>
          <p:cNvPr id="8" name="Text 6"/>
          <p:cNvSpPr txBox="1"/>
          <p:nvPr/>
        </p:nvSpPr>
        <p:spPr>
          <a:xfrm>
            <a:off x="3685032" y="2011680"/>
            <a:ext cx="2048256" cy="777240"/>
          </a:xfrm>
          <a:prstGeom prst="rect">
            <a:avLst/>
          </a:prstGeom>
          <a:noFill/>
          <a:ln/>
        </p:spPr>
        <p:txBody>
          <a:bodyPr wrap="square" lIns="0" tIns="0" rIns="0" bIns="0" rtlCol="0" anchor="ctr"/>
          <a:lstStyle/>
          <a:p>
            <a:pPr algn="ctr" indent="0" marL="0">
              <a:buNone/>
            </a:pPr>
            <a:r>
              <a:rPr lang="en-US" sz="1500" dirty="0">
                <a:solidFill>
                  <a:schemeClr val="tx1"/>
                </a:solidFill>
              </a:rPr>
              <a:t>run it on the examples</a:t>
            </a:r>
            <a:endParaRPr lang="en-US" sz="1500" dirty="0"/>
          </a:p>
        </p:txBody>
      </p:sp>
      <p:sp>
        <p:nvSpPr>
          <p:cNvPr id="9" name="Shape 7"/>
          <p:cNvSpPr/>
          <p:nvPr/>
        </p:nvSpPr>
        <p:spPr>
          <a:xfrm flipV="1">
            <a:off x="5806440" y="2057400"/>
            <a:ext cx="457200" cy="182880"/>
          </a:xfrm>
          <a:prstGeom prst="line">
            <a:avLst/>
          </a:prstGeom>
          <a:noFill/>
          <a:ln w="25400">
            <a:solidFill>
              <a:srgbClr val="7F7F7F"/>
            </a:solidFill>
            <a:prstDash val="solid"/>
            <a:tailEnd type="triangle"/>
          </a:ln>
        </p:spPr>
      </p:sp>
      <p:sp>
        <p:nvSpPr>
          <p:cNvPr id="10" name="Shape 8"/>
          <p:cNvSpPr/>
          <p:nvPr/>
        </p:nvSpPr>
        <p:spPr>
          <a:xfrm>
            <a:off x="5806440" y="2560320"/>
            <a:ext cx="457200" cy="246888"/>
          </a:xfrm>
          <a:prstGeom prst="line">
            <a:avLst/>
          </a:prstGeom>
          <a:noFill/>
          <a:ln w="25400">
            <a:solidFill>
              <a:srgbClr val="7F7F7F"/>
            </a:solidFill>
            <a:prstDash val="solid"/>
            <a:tailEnd type="triangle"/>
          </a:ln>
        </p:spPr>
      </p:sp>
      <p:sp>
        <p:nvSpPr>
          <p:cNvPr id="11" name="box all right → submit"/>
          <p:cNvSpPr/>
          <p:nvPr/>
        </p:nvSpPr>
        <p:spPr>
          <a:xfrm>
            <a:off x="6263640" y="1801368"/>
            <a:ext cx="2468880" cy="512064"/>
          </a:xfrm>
          <a:prstGeom prst="roundRect">
            <a:avLst>
              <a:gd name="adj" fmla="val 10714"/>
            </a:avLst>
          </a:prstGeom>
          <a:solidFill>
            <a:srgbClr val="E2F0D9"/>
          </a:solidFill>
          <a:ln w="9525">
            <a:solidFill>
              <a:srgbClr val="BFBFBF"/>
            </a:solidFill>
            <a:prstDash val="solid"/>
          </a:ln>
        </p:spPr>
      </p:sp>
      <p:sp>
        <p:nvSpPr>
          <p:cNvPr id="12" name="Text 10"/>
          <p:cNvSpPr txBox="1"/>
          <p:nvPr/>
        </p:nvSpPr>
        <p:spPr>
          <a:xfrm>
            <a:off x="6336792" y="1801368"/>
            <a:ext cx="2322576" cy="512064"/>
          </a:xfrm>
          <a:prstGeom prst="rect">
            <a:avLst/>
          </a:prstGeom>
          <a:noFill/>
          <a:ln/>
        </p:spPr>
        <p:txBody>
          <a:bodyPr wrap="square" lIns="0" tIns="0" rIns="0" bIns="0" rtlCol="0" anchor="ctr"/>
          <a:lstStyle/>
          <a:p>
            <a:pPr algn="ctr" indent="0" marL="0">
              <a:buNone/>
            </a:pPr>
            <a:r>
              <a:rPr lang="en-US" sz="1500" dirty="0">
                <a:solidFill>
                  <a:schemeClr val="tx1"/>
                </a:solidFill>
              </a:rPr>
              <a:t>all right → submit</a:t>
            </a:r>
            <a:endParaRPr lang="en-US" sz="1500" dirty="0"/>
          </a:p>
        </p:txBody>
      </p:sp>
      <p:sp>
        <p:nvSpPr>
          <p:cNvPr id="13" name="box one wrong → think ha"/>
          <p:cNvSpPr/>
          <p:nvPr/>
        </p:nvSpPr>
        <p:spPr>
          <a:xfrm>
            <a:off x="6263640" y="2532888"/>
            <a:ext cx="3840480" cy="548640"/>
          </a:xfrm>
          <a:prstGeom prst="roundRect">
            <a:avLst>
              <a:gd name="adj" fmla="val 10000"/>
            </a:avLst>
          </a:prstGeom>
          <a:solidFill>
            <a:srgbClr val="FADBD8"/>
          </a:solidFill>
          <a:ln w="9525">
            <a:solidFill>
              <a:srgbClr val="BFBFBF"/>
            </a:solidFill>
            <a:prstDash val="solid"/>
          </a:ln>
        </p:spPr>
      </p:sp>
      <p:sp>
        <p:nvSpPr>
          <p:cNvPr id="14" name="Text 12"/>
          <p:cNvSpPr txBox="1"/>
          <p:nvPr/>
        </p:nvSpPr>
        <p:spPr>
          <a:xfrm>
            <a:off x="6336792" y="2532888"/>
            <a:ext cx="3694176" cy="548640"/>
          </a:xfrm>
          <a:prstGeom prst="rect">
            <a:avLst/>
          </a:prstGeom>
          <a:noFill/>
          <a:ln/>
        </p:spPr>
        <p:txBody>
          <a:bodyPr wrap="square" lIns="0" tIns="0" rIns="0" bIns="0" rtlCol="0" anchor="ctr"/>
          <a:lstStyle/>
          <a:p>
            <a:pPr algn="ctr" indent="0" marL="0">
              <a:buNone/>
            </a:pPr>
            <a:r>
              <a:rPr lang="en-US" sz="1500" dirty="0">
                <a:solidFill>
                  <a:schemeClr val="tx1"/>
                </a:solidFill>
              </a:rPr>
              <a:t>one wrong → think harder (high effort), then submit</a:t>
            </a:r>
            <a:endParaRPr lang="en-US" sz="1500" dirty="0"/>
          </a:p>
        </p:txBody>
      </p:sp>
      <p:sp>
        <p:nvSpPr>
          <p:cNvPr id="15" name="case &quot;Make a triangle!&quot; (easy)"/>
          <p:cNvSpPr/>
          <p:nvPr/>
        </p:nvSpPr>
        <p:spPr>
          <a:xfrm>
            <a:off x="548640" y="3337560"/>
            <a:ext cx="5394960" cy="1371600"/>
          </a:xfrm>
          <a:prstGeom prst="roundRect">
            <a:avLst>
              <a:gd name="adj" fmla="val 5333"/>
            </a:avLst>
          </a:prstGeom>
          <a:solidFill>
            <a:srgbClr val="F3F9EF"/>
          </a:solidFill>
          <a:ln w="12700">
            <a:solidFill>
              <a:srgbClr val="70AD47"/>
            </a:solidFill>
            <a:prstDash val="solid"/>
          </a:ln>
        </p:spPr>
      </p:sp>
      <p:sp>
        <p:nvSpPr>
          <p:cNvPr id="16" name="Text 14"/>
          <p:cNvSpPr txBox="1"/>
          <p:nvPr/>
        </p:nvSpPr>
        <p:spPr>
          <a:xfrm>
            <a:off x="73152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"Make a triangle!" (easy)</a:t>
            </a:r>
            <a:endParaRPr lang="en-US" sz="1700" dirty="0"/>
          </a:p>
        </p:txBody>
      </p:sp>
      <p:sp>
        <p:nvSpPr>
          <p:cNvPr id="17" name="Text 15"/>
          <p:cNvSpPr txBox="1"/>
          <p:nvPr/>
        </p:nvSpPr>
        <p:spPr>
          <a:xfrm>
            <a:off x="73152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how many cm to add so 3 sticks make a triangle?</a:t>
            </a:r>
            <a:endParaRPr lang="en-US" sz="1500" dirty="0"/>
          </a:p>
          <a:p>
            <a:pPr indent="0" marL="0">
              <a:buNone/>
            </a:pPr>
            <a:r>
              <a:rPr lang="en-US" sz="1500" dirty="0">
                <a:solidFill>
                  <a:schemeClr val="tx1"/>
                </a:solidFill>
              </a:rPr>
              <a:t>samples (3,4,5) → 0 and (2,5,3) → 1: program agrees ✓</a:t>
            </a:r>
            <a:endParaRPr lang="en-US" sz="1500" dirty="0"/>
          </a:p>
          <a:p>
            <a:pPr indent="0" marL="0">
              <a:buNone/>
            </a:pPr>
            <a:r>
              <a:rPr lang="en-US" sz="1500" dirty="0">
                <a:solidFill>
                  <a:schemeClr val="tx1"/>
                </a:solidFill>
              </a:rPr>
              <a:t>→ submit; correct, no extra tokens</a:t>
            </a:r>
            <a:endParaRPr lang="en-US" sz="1500" dirty="0"/>
          </a:p>
        </p:txBody>
      </p:sp>
      <p:sp>
        <p:nvSpPr>
          <p:cNvPr id="18" name="case &quot;Arrow&quot; (hard)"/>
          <p:cNvSpPr/>
          <p:nvPr/>
        </p:nvSpPr>
        <p:spPr>
          <a:xfrm>
            <a:off x="6217920" y="3337560"/>
            <a:ext cx="5394960" cy="1371600"/>
          </a:xfrm>
          <a:prstGeom prst="roundRect">
            <a:avLst>
              <a:gd name="adj" fmla="val 5333"/>
            </a:avLst>
          </a:prstGeom>
          <a:solidFill>
            <a:srgbClr val="FDF2F1"/>
          </a:solidFill>
          <a:ln w="12700">
            <a:solidFill>
              <a:srgbClr val="C00000"/>
            </a:solidFill>
            <a:prstDash val="solid"/>
          </a:ln>
        </p:spPr>
      </p:sp>
      <p:sp>
        <p:nvSpPr>
          <p:cNvPr id="19" name="Text 17"/>
          <p:cNvSpPr txBox="1"/>
          <p:nvPr/>
        </p:nvSpPr>
        <p:spPr>
          <a:xfrm>
            <a:off x="6400800" y="3410712"/>
            <a:ext cx="5029200" cy="411480"/>
          </a:xfrm>
          <a:prstGeom prst="rect">
            <a:avLst/>
          </a:prstGeom>
          <a:noFill/>
          <a:ln/>
        </p:spPr>
        <p:txBody>
          <a:bodyPr wrap="square" lIns="0" tIns="0" rIns="0" bIns="0" rtlCol="0" anchor="ctr"/>
          <a:lstStyle/>
          <a:p>
            <a:pPr indent="0" marL="0">
              <a:buNone/>
            </a:pPr>
            <a:r>
              <a:rPr lang="en-US" sz="1700" b="1" dirty="0">
                <a:solidFill>
                  <a:schemeClr val="tx1"/>
                </a:solidFill>
              </a:rPr>
              <a:t>"Arrow" (hard)</a:t>
            </a:r>
            <a:endParaRPr lang="en-US" sz="1700" dirty="0"/>
          </a:p>
        </p:txBody>
      </p:sp>
      <p:sp>
        <p:nvSpPr>
          <p:cNvPr id="20" name="Text 18"/>
          <p:cNvSpPr txBox="1"/>
          <p:nvPr/>
        </p:nvSpPr>
        <p:spPr>
          <a:xfrm>
            <a:off x="6400800" y="3822192"/>
            <a:ext cx="5029200" cy="868680"/>
          </a:xfrm>
          <a:prstGeom prst="rect">
            <a:avLst/>
          </a:prstGeom>
          <a:noFill/>
          <a:ln/>
        </p:spPr>
        <p:txBody>
          <a:bodyPr wrap="square" lIns="0" tIns="0" rIns="0" bIns="0" rtlCol="0" anchor="t"/>
          <a:lstStyle/>
          <a:p>
            <a:pPr indent="0" marL="0">
              <a:buNone/>
            </a:pPr>
            <a:r>
              <a:rPr lang="en-US" sz="1500" dirty="0">
                <a:solidFill>
                  <a:schemeClr val="tx1"/>
                </a:solidFill>
              </a:rPr>
              <a:t>Q: print the 7 corners of an arrow shape</a:t>
            </a:r>
            <a:endParaRPr lang="en-US" sz="1500" dirty="0"/>
          </a:p>
          <a:p>
            <a:pPr indent="0" marL="0">
              <a:buNone/>
            </a:pPr>
            <a:r>
              <a:rPr lang="en-US" sz="1500" dirty="0">
                <a:solidFill>
                  <a:schemeClr val="tx1"/>
                </a:solidFill>
              </a:rPr>
              <a:t>program's corners ≠ the sample ✗ → think harder → correct ✓</a:t>
            </a:r>
            <a:endParaRPr lang="en-US" sz="1500" dirty="0"/>
          </a:p>
          <a:p>
            <a:pPr indent="0" marL="0">
              <a:buNone/>
            </a:pPr>
            <a:r>
              <a:rPr lang="en-US" sz="1500" dirty="0">
                <a:solidFill>
                  <a:schemeClr val="tx1"/>
                </a:solidFill>
              </a:rPr>
              <a:t>4k + 13k tokens, paid only because the check failed</a:t>
            </a:r>
            <a:endParaRPr lang="en-US" sz="1500" dirty="0"/>
          </a:p>
        </p:txBody>
      </p:sp>
      <p:sp>
        <p:nvSpPr>
          <p:cNvPr id="21" name="Text 19"/>
          <p:cNvSpPr txBox="1"/>
          <p:nvPr/>
        </p:nvSpPr>
        <p:spPr>
          <a:xfrm>
            <a:off x="548640" y="4892040"/>
            <a:ext cx="11064240" cy="411480"/>
          </a:xfrm>
          <a:prstGeom prst="rect">
            <a:avLst/>
          </a:prstGeom>
          <a:noFill/>
          <a:ln/>
        </p:spPr>
        <p:txBody>
          <a:bodyPr wrap="square" lIns="0" tIns="0" rIns="0" bIns="0" rtlCol="0" anchor="ctr"/>
          <a:lstStyle/>
          <a:p>
            <a:pPr indent="0" marL="0">
              <a:buNone/>
            </a:pPr>
            <a:r>
              <a:rPr lang="en-US" sz="1700" b="1" dirty="0">
                <a:solidFill>
                  <a:schemeClr val="tx1"/>
                </a:solidFill>
              </a:rPr>
              <a:t>Over 311 problems (gpt-oss-120b), with a quick brute-force check added: same 66% as always thinking hard, 18% fewer tokens</a:t>
            </a:r>
            <a:endParaRPr lang="en-US" sz="1700" dirty="0"/>
          </a:p>
        </p:txBody>
      </p:sp>
      <p:sp>
        <p:nvSpPr>
          <p:cNvPr id="22" name="Text 20"/>
          <p:cNvSpPr txBox="1"/>
          <p:nvPr/>
        </p:nvSpPr>
        <p:spPr>
          <a:xfrm>
            <a:off x="548640" y="530352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Always think hard</a:t>
            </a:r>
            <a:endParaRPr lang="en-US" sz="1600" dirty="0"/>
          </a:p>
        </p:txBody>
      </p:sp>
      <p:sp>
        <p:nvSpPr>
          <p:cNvPr id="23" name="bar Always think hard"/>
          <p:cNvSpPr/>
          <p:nvPr/>
        </p:nvSpPr>
        <p:spPr>
          <a:xfrm>
            <a:off x="3977640" y="5358384"/>
            <a:ext cx="3840480" cy="182880"/>
          </a:xfrm>
          <a:prstGeom prst="rect">
            <a:avLst/>
          </a:prstGeom>
          <a:solidFill>
            <a:srgbClr val="7F7F7F"/>
          </a:solidFill>
          <a:ln w="6350">
            <a:solidFill>
              <a:srgbClr val="7F7F7F"/>
            </a:solidFill>
            <a:prstDash val="solid"/>
          </a:ln>
        </p:spPr>
      </p:sp>
      <p:sp>
        <p:nvSpPr>
          <p:cNvPr id="24" name="Text 22"/>
          <p:cNvSpPr txBox="1"/>
          <p:nvPr/>
        </p:nvSpPr>
        <p:spPr>
          <a:xfrm>
            <a:off x="7909560" y="5303520"/>
            <a:ext cx="1371600" cy="292608"/>
          </a:xfrm>
          <a:prstGeom prst="rect">
            <a:avLst/>
          </a:prstGeom>
          <a:noFill/>
          <a:ln/>
        </p:spPr>
        <p:txBody>
          <a:bodyPr wrap="square" lIns="0" tIns="0" rIns="0" bIns="0" rtlCol="0" anchor="ctr"/>
          <a:lstStyle/>
          <a:p>
            <a:pPr indent="0" marL="0">
              <a:buNone/>
            </a:pPr>
            <a:r>
              <a:rPr lang="en-US" sz="1800" b="1" dirty="0">
                <a:solidFill>
                  <a:srgbClr val="7F7F7F"/>
                </a:solidFill>
              </a:rPr>
              <a:t>30k tokens</a:t>
            </a:r>
            <a:endParaRPr lang="en-US" sz="1800" dirty="0"/>
          </a:p>
        </p:txBody>
      </p:sp>
      <p:sp>
        <p:nvSpPr>
          <p:cNvPr id="25" name="Text 23"/>
          <p:cNvSpPr txBox="1"/>
          <p:nvPr/>
        </p:nvSpPr>
        <p:spPr>
          <a:xfrm>
            <a:off x="548640" y="5669280"/>
            <a:ext cx="3291840" cy="292608"/>
          </a:xfrm>
          <a:prstGeom prst="rect">
            <a:avLst/>
          </a:prstGeom>
          <a:noFill/>
          <a:ln/>
        </p:spPr>
        <p:txBody>
          <a:bodyPr wrap="square" lIns="0" tIns="0" rIns="0" bIns="0" rtlCol="0" anchor="ctr"/>
          <a:lstStyle/>
          <a:p>
            <a:pPr algn="r" indent="0" marL="0">
              <a:buNone/>
            </a:pPr>
            <a:r>
              <a:rPr lang="en-US" sz="1600" dirty="0">
                <a:solidFill>
                  <a:schemeClr val="tx1"/>
                </a:solidFill>
              </a:rPr>
              <a:t>Think hard only when a check fails</a:t>
            </a:r>
            <a:endParaRPr lang="en-US" sz="1600" dirty="0"/>
          </a:p>
        </p:txBody>
      </p:sp>
      <p:sp>
        <p:nvSpPr>
          <p:cNvPr id="26" name="bar Think hard only when a check fails"/>
          <p:cNvSpPr/>
          <p:nvPr/>
        </p:nvSpPr>
        <p:spPr>
          <a:xfrm>
            <a:off x="3977640" y="5724144"/>
            <a:ext cx="3149194" cy="182880"/>
          </a:xfrm>
          <a:prstGeom prst="rect">
            <a:avLst/>
          </a:prstGeom>
          <a:solidFill>
            <a:srgbClr val="4472C4"/>
          </a:solidFill>
          <a:ln w="6350">
            <a:solidFill>
              <a:srgbClr val="4472C4"/>
            </a:solidFill>
            <a:prstDash val="solid"/>
          </a:ln>
        </p:spPr>
      </p:sp>
      <p:sp>
        <p:nvSpPr>
          <p:cNvPr id="27" name="Text 25"/>
          <p:cNvSpPr txBox="1"/>
          <p:nvPr/>
        </p:nvSpPr>
        <p:spPr>
          <a:xfrm>
            <a:off x="7218274" y="5669280"/>
            <a:ext cx="1371600" cy="292608"/>
          </a:xfrm>
          <a:prstGeom prst="rect">
            <a:avLst/>
          </a:prstGeom>
          <a:noFill/>
          <a:ln/>
        </p:spPr>
        <p:txBody>
          <a:bodyPr wrap="square" lIns="0" tIns="0" rIns="0" bIns="0" rtlCol="0" anchor="ctr"/>
          <a:lstStyle/>
          <a:p>
            <a:pPr indent="0" marL="0">
              <a:buNone/>
            </a:pPr>
            <a:r>
              <a:rPr lang="en-US" sz="1800" b="1" dirty="0">
                <a:solidFill>
                  <a:srgbClr val="4472C4"/>
                </a:solidFill>
              </a:rPr>
              <a:t>25k tokens</a:t>
            </a:r>
            <a:endParaRPr lang="en-US" sz="18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5: repeated problems need one checked program</a:t>
            </a:r>
            <a:endParaRPr lang="en-US" sz="3600" dirty="0"/>
          </a:p>
        </p:txBody>
      </p:sp>
      <p:sp>
        <p:nvSpPr>
          <p:cNvPr id="3" name="Text 1"/>
          <p:cNvSpPr txBox="1"/>
          <p:nvPr/>
        </p:nvSpPr>
        <p:spPr>
          <a:xfrm>
            <a:off x="548640" y="1280160"/>
            <a:ext cx="11064240" cy="411480"/>
          </a:xfrm>
          <a:prstGeom prst="rect">
            <a:avLst/>
          </a:prstGeom>
          <a:noFill/>
          <a:ln/>
        </p:spPr>
        <p:txBody>
          <a:bodyPr wrap="square" lIns="0" tIns="0" rIns="0" bIns="0" rtlCol="0" anchor="ctr"/>
          <a:lstStyle/>
          <a:p>
            <a:pPr indent="0" marL="0">
              <a:buNone/>
            </a:pPr>
            <a:r>
              <a:rPr lang="en-US" sz="1800" dirty="0">
                <a:solidFill>
                  <a:schemeClr val="tx1"/>
                </a:solidFill>
              </a:rPr>
              <a:t>A delivery company plans routes every day: the same kind of problem, new customers each day (gpt-oss-120b)</a:t>
            </a:r>
            <a:endParaRPr lang="en-US" sz="1800" dirty="0"/>
          </a:p>
        </p:txBody>
      </p:sp>
      <p:sp>
        <p:nvSpPr>
          <p:cNvPr id="4" name="Text 2"/>
          <p:cNvSpPr txBox="1"/>
          <p:nvPr/>
        </p:nvSpPr>
        <p:spPr>
          <a:xfrm>
            <a:off x="548640" y="196596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A: ask for a new program every day</a:t>
            </a:r>
            <a:endParaRPr lang="en-US" sz="1700" dirty="0"/>
          </a:p>
        </p:txBody>
      </p:sp>
      <p:sp>
        <p:nvSpPr>
          <p:cNvPr id="5" name="A: ask for a new program every day day 0"/>
          <p:cNvSpPr/>
          <p:nvPr/>
        </p:nvSpPr>
        <p:spPr>
          <a:xfrm>
            <a:off x="3749040" y="1965960"/>
            <a:ext cx="246888" cy="310896"/>
          </a:xfrm>
          <a:prstGeom prst="rect">
            <a:avLst/>
          </a:prstGeom>
          <a:solidFill>
            <a:srgbClr val="70AD47"/>
          </a:solidFill>
          <a:ln w="6350">
            <a:solidFill>
              <a:srgbClr val="70AD47"/>
            </a:solidFill>
            <a:prstDash val="solid"/>
          </a:ln>
        </p:spPr>
      </p:sp>
      <p:sp>
        <p:nvSpPr>
          <p:cNvPr id="6" name="A: ask for a new program every day day 1"/>
          <p:cNvSpPr/>
          <p:nvPr/>
        </p:nvSpPr>
        <p:spPr>
          <a:xfrm>
            <a:off x="4050792" y="1965960"/>
            <a:ext cx="246888" cy="310896"/>
          </a:xfrm>
          <a:prstGeom prst="rect">
            <a:avLst/>
          </a:prstGeom>
          <a:solidFill>
            <a:srgbClr val="70AD47"/>
          </a:solidFill>
          <a:ln w="6350">
            <a:solidFill>
              <a:srgbClr val="70AD47"/>
            </a:solidFill>
            <a:prstDash val="solid"/>
          </a:ln>
        </p:spPr>
      </p:sp>
      <p:sp>
        <p:nvSpPr>
          <p:cNvPr id="7" name="A: ask for a new program every day day 2"/>
          <p:cNvSpPr/>
          <p:nvPr/>
        </p:nvSpPr>
        <p:spPr>
          <a:xfrm>
            <a:off x="4352544" y="1965960"/>
            <a:ext cx="246888" cy="310896"/>
          </a:xfrm>
          <a:prstGeom prst="rect">
            <a:avLst/>
          </a:prstGeom>
          <a:solidFill>
            <a:srgbClr val="70AD47"/>
          </a:solidFill>
          <a:ln w="6350">
            <a:solidFill>
              <a:srgbClr val="70AD47"/>
            </a:solidFill>
            <a:prstDash val="solid"/>
          </a:ln>
        </p:spPr>
      </p:sp>
      <p:sp>
        <p:nvSpPr>
          <p:cNvPr id="8" name="A: ask for a new program every day day 3"/>
          <p:cNvSpPr/>
          <p:nvPr/>
        </p:nvSpPr>
        <p:spPr>
          <a:xfrm>
            <a:off x="4654296" y="1965960"/>
            <a:ext cx="246888" cy="310896"/>
          </a:xfrm>
          <a:prstGeom prst="rect">
            <a:avLst/>
          </a:prstGeom>
          <a:solidFill>
            <a:srgbClr val="FADBD8"/>
          </a:solidFill>
          <a:ln w="6350">
            <a:solidFill>
              <a:srgbClr val="E6B8B7"/>
            </a:solidFill>
            <a:prstDash val="solid"/>
          </a:ln>
        </p:spPr>
      </p:sp>
      <p:sp>
        <p:nvSpPr>
          <p:cNvPr id="9" name="A: ask for a new program every day day 4"/>
          <p:cNvSpPr/>
          <p:nvPr/>
        </p:nvSpPr>
        <p:spPr>
          <a:xfrm>
            <a:off x="4956048" y="1965960"/>
            <a:ext cx="246888" cy="310896"/>
          </a:xfrm>
          <a:prstGeom prst="rect">
            <a:avLst/>
          </a:prstGeom>
          <a:solidFill>
            <a:srgbClr val="FADBD8"/>
          </a:solidFill>
          <a:ln w="6350">
            <a:solidFill>
              <a:srgbClr val="E6B8B7"/>
            </a:solidFill>
            <a:prstDash val="solid"/>
          </a:ln>
        </p:spPr>
      </p:sp>
      <p:sp>
        <p:nvSpPr>
          <p:cNvPr id="10" name="A: ask for a new program every day day 5"/>
          <p:cNvSpPr/>
          <p:nvPr/>
        </p:nvSpPr>
        <p:spPr>
          <a:xfrm>
            <a:off x="5257800" y="1965960"/>
            <a:ext cx="246888" cy="310896"/>
          </a:xfrm>
          <a:prstGeom prst="rect">
            <a:avLst/>
          </a:prstGeom>
          <a:solidFill>
            <a:srgbClr val="FADBD8"/>
          </a:solidFill>
          <a:ln w="6350">
            <a:solidFill>
              <a:srgbClr val="E6B8B7"/>
            </a:solidFill>
            <a:prstDash val="solid"/>
          </a:ln>
        </p:spPr>
      </p:sp>
      <p:sp>
        <p:nvSpPr>
          <p:cNvPr id="11" name="A: ask for a new program every day day 6"/>
          <p:cNvSpPr/>
          <p:nvPr/>
        </p:nvSpPr>
        <p:spPr>
          <a:xfrm>
            <a:off x="5559552" y="1965960"/>
            <a:ext cx="246888" cy="310896"/>
          </a:xfrm>
          <a:prstGeom prst="rect">
            <a:avLst/>
          </a:prstGeom>
          <a:solidFill>
            <a:srgbClr val="FADBD8"/>
          </a:solidFill>
          <a:ln w="6350">
            <a:solidFill>
              <a:srgbClr val="E6B8B7"/>
            </a:solidFill>
            <a:prstDash val="solid"/>
          </a:ln>
        </p:spPr>
      </p:sp>
      <p:sp>
        <p:nvSpPr>
          <p:cNvPr id="12" name="A: ask for a new program every day day 7"/>
          <p:cNvSpPr/>
          <p:nvPr/>
        </p:nvSpPr>
        <p:spPr>
          <a:xfrm>
            <a:off x="5861304" y="1965960"/>
            <a:ext cx="246888" cy="310896"/>
          </a:xfrm>
          <a:prstGeom prst="rect">
            <a:avLst/>
          </a:prstGeom>
          <a:solidFill>
            <a:srgbClr val="FADBD8"/>
          </a:solidFill>
          <a:ln w="6350">
            <a:solidFill>
              <a:srgbClr val="E6B8B7"/>
            </a:solidFill>
            <a:prstDash val="solid"/>
          </a:ln>
        </p:spPr>
      </p:sp>
      <p:sp>
        <p:nvSpPr>
          <p:cNvPr id="13" name="A: ask for a new program every day day 8"/>
          <p:cNvSpPr/>
          <p:nvPr/>
        </p:nvSpPr>
        <p:spPr>
          <a:xfrm>
            <a:off x="6163056" y="1965960"/>
            <a:ext cx="246888" cy="310896"/>
          </a:xfrm>
          <a:prstGeom prst="rect">
            <a:avLst/>
          </a:prstGeom>
          <a:solidFill>
            <a:srgbClr val="FADBD8"/>
          </a:solidFill>
          <a:ln w="6350">
            <a:solidFill>
              <a:srgbClr val="E6B8B7"/>
            </a:solidFill>
            <a:prstDash val="solid"/>
          </a:ln>
        </p:spPr>
      </p:sp>
      <p:sp>
        <p:nvSpPr>
          <p:cNvPr id="14" name="A: ask for a new program every day day 9"/>
          <p:cNvSpPr/>
          <p:nvPr/>
        </p:nvSpPr>
        <p:spPr>
          <a:xfrm>
            <a:off x="6464808" y="1965960"/>
            <a:ext cx="246888" cy="310896"/>
          </a:xfrm>
          <a:prstGeom prst="rect">
            <a:avLst/>
          </a:prstGeom>
          <a:solidFill>
            <a:srgbClr val="FADBD8"/>
          </a:solidFill>
          <a:ln w="6350">
            <a:solidFill>
              <a:srgbClr val="E6B8B7"/>
            </a:solidFill>
            <a:prstDash val="solid"/>
          </a:ln>
        </p:spPr>
      </p:sp>
      <p:sp>
        <p:nvSpPr>
          <p:cNvPr id="15" name="A: ask for a new program every day day 10"/>
          <p:cNvSpPr/>
          <p:nvPr/>
        </p:nvSpPr>
        <p:spPr>
          <a:xfrm>
            <a:off x="6766560" y="1965960"/>
            <a:ext cx="246888" cy="310896"/>
          </a:xfrm>
          <a:prstGeom prst="rect">
            <a:avLst/>
          </a:prstGeom>
          <a:solidFill>
            <a:srgbClr val="FADBD8"/>
          </a:solidFill>
          <a:ln w="6350">
            <a:solidFill>
              <a:srgbClr val="E6B8B7"/>
            </a:solidFill>
            <a:prstDash val="solid"/>
          </a:ln>
        </p:spPr>
      </p:sp>
      <p:sp>
        <p:nvSpPr>
          <p:cNvPr id="16" name="A: ask for a new program every day day 11"/>
          <p:cNvSpPr/>
          <p:nvPr/>
        </p:nvSpPr>
        <p:spPr>
          <a:xfrm>
            <a:off x="7068312" y="1965960"/>
            <a:ext cx="246888" cy="310896"/>
          </a:xfrm>
          <a:prstGeom prst="rect">
            <a:avLst/>
          </a:prstGeom>
          <a:solidFill>
            <a:srgbClr val="FADBD8"/>
          </a:solidFill>
          <a:ln w="6350">
            <a:solidFill>
              <a:srgbClr val="E6B8B7"/>
            </a:solidFill>
            <a:prstDash val="solid"/>
          </a:ln>
        </p:spPr>
      </p:sp>
      <p:sp>
        <p:nvSpPr>
          <p:cNvPr id="17" name="A: ask for a new program every day day 12"/>
          <p:cNvSpPr/>
          <p:nvPr/>
        </p:nvSpPr>
        <p:spPr>
          <a:xfrm>
            <a:off x="7370064" y="1965960"/>
            <a:ext cx="246888" cy="310896"/>
          </a:xfrm>
          <a:prstGeom prst="rect">
            <a:avLst/>
          </a:prstGeom>
          <a:solidFill>
            <a:srgbClr val="FADBD8"/>
          </a:solidFill>
          <a:ln w="6350">
            <a:solidFill>
              <a:srgbClr val="E6B8B7"/>
            </a:solidFill>
            <a:prstDash val="solid"/>
          </a:ln>
        </p:spPr>
      </p:sp>
      <p:sp>
        <p:nvSpPr>
          <p:cNvPr id="18" name="A: ask for a new program every day day 13"/>
          <p:cNvSpPr/>
          <p:nvPr/>
        </p:nvSpPr>
        <p:spPr>
          <a:xfrm>
            <a:off x="7671816" y="1965960"/>
            <a:ext cx="246888" cy="310896"/>
          </a:xfrm>
          <a:prstGeom prst="rect">
            <a:avLst/>
          </a:prstGeom>
          <a:solidFill>
            <a:srgbClr val="FADBD8"/>
          </a:solidFill>
          <a:ln w="6350">
            <a:solidFill>
              <a:srgbClr val="E6B8B7"/>
            </a:solidFill>
            <a:prstDash val="solid"/>
          </a:ln>
        </p:spPr>
      </p:sp>
      <p:sp>
        <p:nvSpPr>
          <p:cNvPr id="19" name="A: ask for a new program every day day 14"/>
          <p:cNvSpPr/>
          <p:nvPr/>
        </p:nvSpPr>
        <p:spPr>
          <a:xfrm>
            <a:off x="7973568" y="1965960"/>
            <a:ext cx="246888" cy="310896"/>
          </a:xfrm>
          <a:prstGeom prst="rect">
            <a:avLst/>
          </a:prstGeom>
          <a:solidFill>
            <a:srgbClr val="FADBD8"/>
          </a:solidFill>
          <a:ln w="6350">
            <a:solidFill>
              <a:srgbClr val="E6B8B7"/>
            </a:solidFill>
            <a:prstDash val="solid"/>
          </a:ln>
        </p:spPr>
      </p:sp>
      <p:sp>
        <p:nvSpPr>
          <p:cNvPr id="20" name="A: ask for a new program every day day 15"/>
          <p:cNvSpPr/>
          <p:nvPr/>
        </p:nvSpPr>
        <p:spPr>
          <a:xfrm>
            <a:off x="8275320" y="1965960"/>
            <a:ext cx="246888" cy="310896"/>
          </a:xfrm>
          <a:prstGeom prst="rect">
            <a:avLst/>
          </a:prstGeom>
          <a:solidFill>
            <a:srgbClr val="FADBD8"/>
          </a:solidFill>
          <a:ln w="6350">
            <a:solidFill>
              <a:srgbClr val="E6B8B7"/>
            </a:solidFill>
            <a:prstDash val="solid"/>
          </a:ln>
        </p:spPr>
      </p:sp>
      <p:sp>
        <p:nvSpPr>
          <p:cNvPr id="21" name="A: ask for a new program every day day 16"/>
          <p:cNvSpPr/>
          <p:nvPr/>
        </p:nvSpPr>
        <p:spPr>
          <a:xfrm>
            <a:off x="3749040" y="2350008"/>
            <a:ext cx="246888" cy="310896"/>
          </a:xfrm>
          <a:prstGeom prst="rect">
            <a:avLst/>
          </a:prstGeom>
          <a:solidFill>
            <a:srgbClr val="FADBD8"/>
          </a:solidFill>
          <a:ln w="6350">
            <a:solidFill>
              <a:srgbClr val="E6B8B7"/>
            </a:solidFill>
            <a:prstDash val="solid"/>
          </a:ln>
        </p:spPr>
      </p:sp>
      <p:sp>
        <p:nvSpPr>
          <p:cNvPr id="22" name="A: ask for a new program every day day 17"/>
          <p:cNvSpPr/>
          <p:nvPr/>
        </p:nvSpPr>
        <p:spPr>
          <a:xfrm>
            <a:off x="4050792" y="2350008"/>
            <a:ext cx="246888" cy="310896"/>
          </a:xfrm>
          <a:prstGeom prst="rect">
            <a:avLst/>
          </a:prstGeom>
          <a:solidFill>
            <a:srgbClr val="FADBD8"/>
          </a:solidFill>
          <a:ln w="6350">
            <a:solidFill>
              <a:srgbClr val="E6B8B7"/>
            </a:solidFill>
            <a:prstDash val="solid"/>
          </a:ln>
        </p:spPr>
      </p:sp>
      <p:sp>
        <p:nvSpPr>
          <p:cNvPr id="23" name="A: ask for a new program every day day 18"/>
          <p:cNvSpPr/>
          <p:nvPr/>
        </p:nvSpPr>
        <p:spPr>
          <a:xfrm>
            <a:off x="4352544" y="2350008"/>
            <a:ext cx="246888" cy="310896"/>
          </a:xfrm>
          <a:prstGeom prst="rect">
            <a:avLst/>
          </a:prstGeom>
          <a:solidFill>
            <a:srgbClr val="FADBD8"/>
          </a:solidFill>
          <a:ln w="6350">
            <a:solidFill>
              <a:srgbClr val="E6B8B7"/>
            </a:solidFill>
            <a:prstDash val="solid"/>
          </a:ln>
        </p:spPr>
      </p:sp>
      <p:sp>
        <p:nvSpPr>
          <p:cNvPr id="24" name="A: ask for a new program every day day 19"/>
          <p:cNvSpPr/>
          <p:nvPr/>
        </p:nvSpPr>
        <p:spPr>
          <a:xfrm>
            <a:off x="4654296" y="2350008"/>
            <a:ext cx="246888" cy="310896"/>
          </a:xfrm>
          <a:prstGeom prst="rect">
            <a:avLst/>
          </a:prstGeom>
          <a:solidFill>
            <a:srgbClr val="FADBD8"/>
          </a:solidFill>
          <a:ln w="6350">
            <a:solidFill>
              <a:srgbClr val="E6B8B7"/>
            </a:solidFill>
            <a:prstDash val="solid"/>
          </a:ln>
        </p:spPr>
      </p:sp>
      <p:sp>
        <p:nvSpPr>
          <p:cNvPr id="25" name="A: ask for a new program every day day 20"/>
          <p:cNvSpPr/>
          <p:nvPr/>
        </p:nvSpPr>
        <p:spPr>
          <a:xfrm>
            <a:off x="4956048" y="2350008"/>
            <a:ext cx="246888" cy="310896"/>
          </a:xfrm>
          <a:prstGeom prst="rect">
            <a:avLst/>
          </a:prstGeom>
          <a:solidFill>
            <a:srgbClr val="FADBD8"/>
          </a:solidFill>
          <a:ln w="6350">
            <a:solidFill>
              <a:srgbClr val="E6B8B7"/>
            </a:solidFill>
            <a:prstDash val="solid"/>
          </a:ln>
        </p:spPr>
      </p:sp>
      <p:sp>
        <p:nvSpPr>
          <p:cNvPr id="26" name="A: ask for a new program every day day 21"/>
          <p:cNvSpPr/>
          <p:nvPr/>
        </p:nvSpPr>
        <p:spPr>
          <a:xfrm>
            <a:off x="5257800" y="2350008"/>
            <a:ext cx="246888" cy="310896"/>
          </a:xfrm>
          <a:prstGeom prst="rect">
            <a:avLst/>
          </a:prstGeom>
          <a:solidFill>
            <a:srgbClr val="FADBD8"/>
          </a:solidFill>
          <a:ln w="6350">
            <a:solidFill>
              <a:srgbClr val="E6B8B7"/>
            </a:solidFill>
            <a:prstDash val="solid"/>
          </a:ln>
        </p:spPr>
      </p:sp>
      <p:sp>
        <p:nvSpPr>
          <p:cNvPr id="27" name="A: ask for a new program every day day 22"/>
          <p:cNvSpPr/>
          <p:nvPr/>
        </p:nvSpPr>
        <p:spPr>
          <a:xfrm>
            <a:off x="5559552" y="2350008"/>
            <a:ext cx="246888" cy="310896"/>
          </a:xfrm>
          <a:prstGeom prst="rect">
            <a:avLst/>
          </a:prstGeom>
          <a:solidFill>
            <a:srgbClr val="FADBD8"/>
          </a:solidFill>
          <a:ln w="6350">
            <a:solidFill>
              <a:srgbClr val="E6B8B7"/>
            </a:solidFill>
            <a:prstDash val="solid"/>
          </a:ln>
        </p:spPr>
      </p:sp>
      <p:sp>
        <p:nvSpPr>
          <p:cNvPr id="28" name="A: ask for a new program every day day 23"/>
          <p:cNvSpPr/>
          <p:nvPr/>
        </p:nvSpPr>
        <p:spPr>
          <a:xfrm>
            <a:off x="5861304" y="2350008"/>
            <a:ext cx="246888" cy="310896"/>
          </a:xfrm>
          <a:prstGeom prst="rect">
            <a:avLst/>
          </a:prstGeom>
          <a:solidFill>
            <a:srgbClr val="FADBD8"/>
          </a:solidFill>
          <a:ln w="6350">
            <a:solidFill>
              <a:srgbClr val="E6B8B7"/>
            </a:solidFill>
            <a:prstDash val="solid"/>
          </a:ln>
        </p:spPr>
      </p:sp>
      <p:sp>
        <p:nvSpPr>
          <p:cNvPr id="29" name="A: ask for a new program every day day 24"/>
          <p:cNvSpPr/>
          <p:nvPr/>
        </p:nvSpPr>
        <p:spPr>
          <a:xfrm>
            <a:off x="6163056" y="2350008"/>
            <a:ext cx="246888" cy="310896"/>
          </a:xfrm>
          <a:prstGeom prst="rect">
            <a:avLst/>
          </a:prstGeom>
          <a:solidFill>
            <a:srgbClr val="FADBD8"/>
          </a:solidFill>
          <a:ln w="6350">
            <a:solidFill>
              <a:srgbClr val="E6B8B7"/>
            </a:solidFill>
            <a:prstDash val="solid"/>
          </a:ln>
        </p:spPr>
      </p:sp>
      <p:sp>
        <p:nvSpPr>
          <p:cNvPr id="30" name="A: ask for a new program every day day 25"/>
          <p:cNvSpPr/>
          <p:nvPr/>
        </p:nvSpPr>
        <p:spPr>
          <a:xfrm>
            <a:off x="6464808" y="2350008"/>
            <a:ext cx="246888" cy="310896"/>
          </a:xfrm>
          <a:prstGeom prst="rect">
            <a:avLst/>
          </a:prstGeom>
          <a:solidFill>
            <a:srgbClr val="FADBD8"/>
          </a:solidFill>
          <a:ln w="6350">
            <a:solidFill>
              <a:srgbClr val="E6B8B7"/>
            </a:solidFill>
            <a:prstDash val="solid"/>
          </a:ln>
        </p:spPr>
      </p:sp>
      <p:sp>
        <p:nvSpPr>
          <p:cNvPr id="31" name="A: ask for a new program every day day 26"/>
          <p:cNvSpPr/>
          <p:nvPr/>
        </p:nvSpPr>
        <p:spPr>
          <a:xfrm>
            <a:off x="6766560" y="2350008"/>
            <a:ext cx="246888" cy="310896"/>
          </a:xfrm>
          <a:prstGeom prst="rect">
            <a:avLst/>
          </a:prstGeom>
          <a:solidFill>
            <a:srgbClr val="FADBD8"/>
          </a:solidFill>
          <a:ln w="6350">
            <a:solidFill>
              <a:srgbClr val="E6B8B7"/>
            </a:solidFill>
            <a:prstDash val="solid"/>
          </a:ln>
        </p:spPr>
      </p:sp>
      <p:sp>
        <p:nvSpPr>
          <p:cNvPr id="32" name="A: ask for a new program every day day 27"/>
          <p:cNvSpPr/>
          <p:nvPr/>
        </p:nvSpPr>
        <p:spPr>
          <a:xfrm>
            <a:off x="7068312" y="2350008"/>
            <a:ext cx="246888" cy="310896"/>
          </a:xfrm>
          <a:prstGeom prst="rect">
            <a:avLst/>
          </a:prstGeom>
          <a:solidFill>
            <a:srgbClr val="FADBD8"/>
          </a:solidFill>
          <a:ln w="6350">
            <a:solidFill>
              <a:srgbClr val="E6B8B7"/>
            </a:solidFill>
            <a:prstDash val="solid"/>
          </a:ln>
        </p:spPr>
      </p:sp>
      <p:sp>
        <p:nvSpPr>
          <p:cNvPr id="33" name="A: ask for a new program every day day 28"/>
          <p:cNvSpPr/>
          <p:nvPr/>
        </p:nvSpPr>
        <p:spPr>
          <a:xfrm>
            <a:off x="7370064" y="2350008"/>
            <a:ext cx="246888" cy="310896"/>
          </a:xfrm>
          <a:prstGeom prst="rect">
            <a:avLst/>
          </a:prstGeom>
          <a:solidFill>
            <a:srgbClr val="FADBD8"/>
          </a:solidFill>
          <a:ln w="6350">
            <a:solidFill>
              <a:srgbClr val="E6B8B7"/>
            </a:solidFill>
            <a:prstDash val="solid"/>
          </a:ln>
        </p:spPr>
      </p:sp>
      <p:sp>
        <p:nvSpPr>
          <p:cNvPr id="34" name="A: ask for a new program every day day 29"/>
          <p:cNvSpPr/>
          <p:nvPr/>
        </p:nvSpPr>
        <p:spPr>
          <a:xfrm>
            <a:off x="7671816" y="2350008"/>
            <a:ext cx="246888" cy="310896"/>
          </a:xfrm>
          <a:prstGeom prst="rect">
            <a:avLst/>
          </a:prstGeom>
          <a:solidFill>
            <a:srgbClr val="FADBD8"/>
          </a:solidFill>
          <a:ln w="6350">
            <a:solidFill>
              <a:srgbClr val="E6B8B7"/>
            </a:solidFill>
            <a:prstDash val="solid"/>
          </a:ln>
        </p:spPr>
      </p:sp>
      <p:sp>
        <p:nvSpPr>
          <p:cNvPr id="35" name="A: ask for a new program every day day 30"/>
          <p:cNvSpPr/>
          <p:nvPr/>
        </p:nvSpPr>
        <p:spPr>
          <a:xfrm>
            <a:off x="7973568" y="2350008"/>
            <a:ext cx="246888" cy="310896"/>
          </a:xfrm>
          <a:prstGeom prst="rect">
            <a:avLst/>
          </a:prstGeom>
          <a:solidFill>
            <a:srgbClr val="FADBD8"/>
          </a:solidFill>
          <a:ln w="6350">
            <a:solidFill>
              <a:srgbClr val="E6B8B7"/>
            </a:solidFill>
            <a:prstDash val="solid"/>
          </a:ln>
        </p:spPr>
      </p:sp>
      <p:sp>
        <p:nvSpPr>
          <p:cNvPr id="36" name="A: ask for a new program every day day 31"/>
          <p:cNvSpPr/>
          <p:nvPr/>
        </p:nvSpPr>
        <p:spPr>
          <a:xfrm>
            <a:off x="8275320" y="2350008"/>
            <a:ext cx="246888" cy="310896"/>
          </a:xfrm>
          <a:prstGeom prst="rect">
            <a:avLst/>
          </a:prstGeom>
          <a:solidFill>
            <a:srgbClr val="FADBD8"/>
          </a:solidFill>
          <a:ln w="6350">
            <a:solidFill>
              <a:srgbClr val="E6B8B7"/>
            </a:solidFill>
            <a:prstDash val="solid"/>
          </a:ln>
        </p:spPr>
      </p:sp>
      <p:sp>
        <p:nvSpPr>
          <p:cNvPr id="37" name="A: ask for a new program every day day 32"/>
          <p:cNvSpPr/>
          <p:nvPr/>
        </p:nvSpPr>
        <p:spPr>
          <a:xfrm>
            <a:off x="3749040" y="2734056"/>
            <a:ext cx="246888" cy="310896"/>
          </a:xfrm>
          <a:prstGeom prst="rect">
            <a:avLst/>
          </a:prstGeom>
          <a:solidFill>
            <a:srgbClr val="FADBD8"/>
          </a:solidFill>
          <a:ln w="6350">
            <a:solidFill>
              <a:srgbClr val="E6B8B7"/>
            </a:solidFill>
            <a:prstDash val="solid"/>
          </a:ln>
        </p:spPr>
      </p:sp>
      <p:sp>
        <p:nvSpPr>
          <p:cNvPr id="38" name="A: ask for a new program every day day 33"/>
          <p:cNvSpPr/>
          <p:nvPr/>
        </p:nvSpPr>
        <p:spPr>
          <a:xfrm>
            <a:off x="4050792" y="2734056"/>
            <a:ext cx="246888" cy="310896"/>
          </a:xfrm>
          <a:prstGeom prst="rect">
            <a:avLst/>
          </a:prstGeom>
          <a:solidFill>
            <a:srgbClr val="FADBD8"/>
          </a:solidFill>
          <a:ln w="6350">
            <a:solidFill>
              <a:srgbClr val="E6B8B7"/>
            </a:solidFill>
            <a:prstDash val="solid"/>
          </a:ln>
        </p:spPr>
      </p:sp>
      <p:sp>
        <p:nvSpPr>
          <p:cNvPr id="39" name="A: ask for a new program every day day 34"/>
          <p:cNvSpPr/>
          <p:nvPr/>
        </p:nvSpPr>
        <p:spPr>
          <a:xfrm>
            <a:off x="4352544" y="2734056"/>
            <a:ext cx="246888" cy="310896"/>
          </a:xfrm>
          <a:prstGeom prst="rect">
            <a:avLst/>
          </a:prstGeom>
          <a:solidFill>
            <a:srgbClr val="FADBD8"/>
          </a:solidFill>
          <a:ln w="6350">
            <a:solidFill>
              <a:srgbClr val="E6B8B7"/>
            </a:solidFill>
            <a:prstDash val="solid"/>
          </a:ln>
        </p:spPr>
      </p:sp>
      <p:sp>
        <p:nvSpPr>
          <p:cNvPr id="40" name="A: ask for a new program every day day 35"/>
          <p:cNvSpPr/>
          <p:nvPr/>
        </p:nvSpPr>
        <p:spPr>
          <a:xfrm>
            <a:off x="4654296" y="2734056"/>
            <a:ext cx="246888" cy="310896"/>
          </a:xfrm>
          <a:prstGeom prst="rect">
            <a:avLst/>
          </a:prstGeom>
          <a:solidFill>
            <a:srgbClr val="FADBD8"/>
          </a:solidFill>
          <a:ln w="6350">
            <a:solidFill>
              <a:srgbClr val="E6B8B7"/>
            </a:solidFill>
            <a:prstDash val="solid"/>
          </a:ln>
        </p:spPr>
      </p:sp>
      <p:sp>
        <p:nvSpPr>
          <p:cNvPr id="41" name="A: ask for a new program every day day 36"/>
          <p:cNvSpPr/>
          <p:nvPr/>
        </p:nvSpPr>
        <p:spPr>
          <a:xfrm>
            <a:off x="4956048" y="2734056"/>
            <a:ext cx="246888" cy="310896"/>
          </a:xfrm>
          <a:prstGeom prst="rect">
            <a:avLst/>
          </a:prstGeom>
          <a:solidFill>
            <a:srgbClr val="FADBD8"/>
          </a:solidFill>
          <a:ln w="6350">
            <a:solidFill>
              <a:srgbClr val="E6B8B7"/>
            </a:solidFill>
            <a:prstDash val="solid"/>
          </a:ln>
        </p:spPr>
      </p:sp>
      <p:sp>
        <p:nvSpPr>
          <p:cNvPr id="42" name="A: ask for a new program every day day 37"/>
          <p:cNvSpPr/>
          <p:nvPr/>
        </p:nvSpPr>
        <p:spPr>
          <a:xfrm>
            <a:off x="5257800" y="2734056"/>
            <a:ext cx="246888" cy="310896"/>
          </a:xfrm>
          <a:prstGeom prst="rect">
            <a:avLst/>
          </a:prstGeom>
          <a:solidFill>
            <a:srgbClr val="FADBD8"/>
          </a:solidFill>
          <a:ln w="6350">
            <a:solidFill>
              <a:srgbClr val="E6B8B7"/>
            </a:solidFill>
            <a:prstDash val="solid"/>
          </a:ln>
        </p:spPr>
      </p:sp>
      <p:sp>
        <p:nvSpPr>
          <p:cNvPr id="43" name="A: ask for a new program every day day 38"/>
          <p:cNvSpPr/>
          <p:nvPr/>
        </p:nvSpPr>
        <p:spPr>
          <a:xfrm>
            <a:off x="5559552" y="2734056"/>
            <a:ext cx="246888" cy="310896"/>
          </a:xfrm>
          <a:prstGeom prst="rect">
            <a:avLst/>
          </a:prstGeom>
          <a:solidFill>
            <a:srgbClr val="FADBD8"/>
          </a:solidFill>
          <a:ln w="6350">
            <a:solidFill>
              <a:srgbClr val="E6B8B7"/>
            </a:solidFill>
            <a:prstDash val="solid"/>
          </a:ln>
        </p:spPr>
      </p:sp>
      <p:sp>
        <p:nvSpPr>
          <p:cNvPr id="44" name="A: ask for a new program every day day 39"/>
          <p:cNvSpPr/>
          <p:nvPr/>
        </p:nvSpPr>
        <p:spPr>
          <a:xfrm>
            <a:off x="5861304" y="2734056"/>
            <a:ext cx="246888" cy="310896"/>
          </a:xfrm>
          <a:prstGeom prst="rect">
            <a:avLst/>
          </a:prstGeom>
          <a:solidFill>
            <a:srgbClr val="FADBD8"/>
          </a:solidFill>
          <a:ln w="6350">
            <a:solidFill>
              <a:srgbClr val="E6B8B7"/>
            </a:solidFill>
            <a:prstDash val="solid"/>
          </a:ln>
        </p:spPr>
      </p:sp>
      <p:sp>
        <p:nvSpPr>
          <p:cNvPr id="45" name="A: ask for a new program every day day 40"/>
          <p:cNvSpPr/>
          <p:nvPr/>
        </p:nvSpPr>
        <p:spPr>
          <a:xfrm>
            <a:off x="6163056" y="2734056"/>
            <a:ext cx="246888" cy="310896"/>
          </a:xfrm>
          <a:prstGeom prst="rect">
            <a:avLst/>
          </a:prstGeom>
          <a:solidFill>
            <a:srgbClr val="FADBD8"/>
          </a:solidFill>
          <a:ln w="6350">
            <a:solidFill>
              <a:srgbClr val="E6B8B7"/>
            </a:solidFill>
            <a:prstDash val="solid"/>
          </a:ln>
        </p:spPr>
      </p:sp>
      <p:sp>
        <p:nvSpPr>
          <p:cNvPr id="46" name="A: ask for a new program every day day 41"/>
          <p:cNvSpPr/>
          <p:nvPr/>
        </p:nvSpPr>
        <p:spPr>
          <a:xfrm>
            <a:off x="6464808" y="2734056"/>
            <a:ext cx="246888" cy="310896"/>
          </a:xfrm>
          <a:prstGeom prst="rect">
            <a:avLst/>
          </a:prstGeom>
          <a:solidFill>
            <a:srgbClr val="FADBD8"/>
          </a:solidFill>
          <a:ln w="6350">
            <a:solidFill>
              <a:srgbClr val="E6B8B7"/>
            </a:solidFill>
            <a:prstDash val="solid"/>
          </a:ln>
        </p:spPr>
      </p:sp>
      <p:sp>
        <p:nvSpPr>
          <p:cNvPr id="47" name="A: ask for a new program every day day 42"/>
          <p:cNvSpPr/>
          <p:nvPr/>
        </p:nvSpPr>
        <p:spPr>
          <a:xfrm>
            <a:off x="6766560" y="2734056"/>
            <a:ext cx="246888" cy="310896"/>
          </a:xfrm>
          <a:prstGeom prst="rect">
            <a:avLst/>
          </a:prstGeom>
          <a:solidFill>
            <a:srgbClr val="FADBD8"/>
          </a:solidFill>
          <a:ln w="6350">
            <a:solidFill>
              <a:srgbClr val="E6B8B7"/>
            </a:solidFill>
            <a:prstDash val="solid"/>
          </a:ln>
        </p:spPr>
      </p:sp>
      <p:sp>
        <p:nvSpPr>
          <p:cNvPr id="48" name="A: ask for a new program every day day 43"/>
          <p:cNvSpPr/>
          <p:nvPr/>
        </p:nvSpPr>
        <p:spPr>
          <a:xfrm>
            <a:off x="7068312" y="2734056"/>
            <a:ext cx="246888" cy="310896"/>
          </a:xfrm>
          <a:prstGeom prst="rect">
            <a:avLst/>
          </a:prstGeom>
          <a:solidFill>
            <a:srgbClr val="FADBD8"/>
          </a:solidFill>
          <a:ln w="6350">
            <a:solidFill>
              <a:srgbClr val="E6B8B7"/>
            </a:solidFill>
            <a:prstDash val="solid"/>
          </a:ln>
        </p:spPr>
      </p:sp>
      <p:sp>
        <p:nvSpPr>
          <p:cNvPr id="49" name="A: ask for a new program every day day 44"/>
          <p:cNvSpPr/>
          <p:nvPr/>
        </p:nvSpPr>
        <p:spPr>
          <a:xfrm>
            <a:off x="7370064" y="2734056"/>
            <a:ext cx="246888" cy="310896"/>
          </a:xfrm>
          <a:prstGeom prst="rect">
            <a:avLst/>
          </a:prstGeom>
          <a:solidFill>
            <a:srgbClr val="FADBD8"/>
          </a:solidFill>
          <a:ln w="6350">
            <a:solidFill>
              <a:srgbClr val="E6B8B7"/>
            </a:solidFill>
            <a:prstDash val="solid"/>
          </a:ln>
        </p:spPr>
      </p:sp>
      <p:sp>
        <p:nvSpPr>
          <p:cNvPr id="50" name="A: ask for a new program every day day 45"/>
          <p:cNvSpPr/>
          <p:nvPr/>
        </p:nvSpPr>
        <p:spPr>
          <a:xfrm>
            <a:off x="7671816" y="2734056"/>
            <a:ext cx="246888" cy="310896"/>
          </a:xfrm>
          <a:prstGeom prst="rect">
            <a:avLst/>
          </a:prstGeom>
          <a:solidFill>
            <a:srgbClr val="FADBD8"/>
          </a:solidFill>
          <a:ln w="6350">
            <a:solidFill>
              <a:srgbClr val="E6B8B7"/>
            </a:solidFill>
            <a:prstDash val="solid"/>
          </a:ln>
        </p:spPr>
      </p:sp>
      <p:sp>
        <p:nvSpPr>
          <p:cNvPr id="51" name="A: ask for a new program every day day 46"/>
          <p:cNvSpPr/>
          <p:nvPr/>
        </p:nvSpPr>
        <p:spPr>
          <a:xfrm>
            <a:off x="7973568" y="2734056"/>
            <a:ext cx="246888" cy="310896"/>
          </a:xfrm>
          <a:prstGeom prst="rect">
            <a:avLst/>
          </a:prstGeom>
          <a:solidFill>
            <a:srgbClr val="FADBD8"/>
          </a:solidFill>
          <a:ln w="6350">
            <a:solidFill>
              <a:srgbClr val="E6B8B7"/>
            </a:solidFill>
            <a:prstDash val="solid"/>
          </a:ln>
        </p:spPr>
      </p:sp>
      <p:sp>
        <p:nvSpPr>
          <p:cNvPr id="52" name="A: ask for a new program every day day 47"/>
          <p:cNvSpPr/>
          <p:nvPr/>
        </p:nvSpPr>
        <p:spPr>
          <a:xfrm>
            <a:off x="8275320" y="2734056"/>
            <a:ext cx="246888" cy="310896"/>
          </a:xfrm>
          <a:prstGeom prst="rect">
            <a:avLst/>
          </a:prstGeom>
          <a:solidFill>
            <a:srgbClr val="FADBD8"/>
          </a:solidFill>
          <a:ln w="6350">
            <a:solidFill>
              <a:srgbClr val="E6B8B7"/>
            </a:solidFill>
            <a:prstDash val="solid"/>
          </a:ln>
        </p:spPr>
      </p:sp>
      <p:sp>
        <p:nvSpPr>
          <p:cNvPr id="53" name="Text 51"/>
          <p:cNvSpPr txBox="1"/>
          <p:nvPr/>
        </p:nvSpPr>
        <p:spPr>
          <a:xfrm>
            <a:off x="8778240" y="1965960"/>
            <a:ext cx="2834640" cy="1188720"/>
          </a:xfrm>
          <a:prstGeom prst="rect">
            <a:avLst/>
          </a:prstGeom>
          <a:noFill/>
          <a:ln/>
        </p:spPr>
        <p:txBody>
          <a:bodyPr wrap="square" lIns="0" tIns="0" rIns="0" bIns="0" rtlCol="0" anchor="ctr"/>
          <a:lstStyle/>
          <a:p>
            <a:pPr indent="0" marL="0">
              <a:buNone/>
            </a:pPr>
            <a:r>
              <a:rPr lang="en-US" sz="1700" b="1" dirty="0">
                <a:solidFill>
                  <a:srgbClr val="C00000"/>
                </a:solidFill>
              </a:rPr>
              <a:t>valid on 7% of days</a:t>
            </a:r>
            <a:endParaRPr lang="en-US" sz="1700" dirty="0"/>
          </a:p>
          <a:p>
            <a:pPr indent="0" marL="0">
              <a:buNone/>
            </a:pPr>
            <a:r>
              <a:rPr lang="en-US" sz="1700" b="1" dirty="0">
                <a:solidFill>
                  <a:srgbClr val="C00000"/>
                </a:solidFill>
              </a:rPr>
              <a:t>≈ 86k tokens</a:t>
            </a:r>
            <a:endParaRPr lang="en-US" sz="1700" dirty="0"/>
          </a:p>
        </p:txBody>
      </p:sp>
      <p:sp>
        <p:nvSpPr>
          <p:cNvPr id="54" name="Text 52"/>
          <p:cNvSpPr txBox="1"/>
          <p:nvPr/>
        </p:nvSpPr>
        <p:spPr>
          <a:xfrm>
            <a:off x="548640" y="3520440"/>
            <a:ext cx="3108960" cy="1188720"/>
          </a:xfrm>
          <a:prstGeom prst="rect">
            <a:avLst/>
          </a:prstGeom>
          <a:noFill/>
          <a:ln/>
        </p:spPr>
        <p:txBody>
          <a:bodyPr wrap="square" lIns="0" tIns="0" rIns="0" bIns="0" rtlCol="0" anchor="ctr"/>
          <a:lstStyle/>
          <a:p>
            <a:pPr indent="0" marL="0">
              <a:buNone/>
            </a:pPr>
            <a:r>
              <a:rPr lang="en-US" sz="1700" b="1" dirty="0">
                <a:solidFill>
                  <a:schemeClr val="tx1"/>
                </a:solidFill>
              </a:rPr>
              <a:t>B: the model writes 16 programs; keep the one valid on 8 past days; reuse it</a:t>
            </a:r>
            <a:endParaRPr lang="en-US" sz="1700" dirty="0"/>
          </a:p>
        </p:txBody>
      </p:sp>
      <p:sp>
        <p:nvSpPr>
          <p:cNvPr id="55" name="B: the model writes 16 programs; keep the one valid on 8 past days; reuse it day 0"/>
          <p:cNvSpPr/>
          <p:nvPr/>
        </p:nvSpPr>
        <p:spPr>
          <a:xfrm>
            <a:off x="3749040" y="3520440"/>
            <a:ext cx="246888" cy="310896"/>
          </a:xfrm>
          <a:prstGeom prst="rect">
            <a:avLst/>
          </a:prstGeom>
          <a:solidFill>
            <a:srgbClr val="70AD47"/>
          </a:solidFill>
          <a:ln w="6350">
            <a:solidFill>
              <a:srgbClr val="70AD47"/>
            </a:solidFill>
            <a:prstDash val="solid"/>
          </a:ln>
        </p:spPr>
      </p:sp>
      <p:sp>
        <p:nvSpPr>
          <p:cNvPr id="56" name="B: the model writes 16 programs; keep the one valid on 8 past days; reuse it day 1"/>
          <p:cNvSpPr/>
          <p:nvPr/>
        </p:nvSpPr>
        <p:spPr>
          <a:xfrm>
            <a:off x="4050792" y="3520440"/>
            <a:ext cx="246888" cy="310896"/>
          </a:xfrm>
          <a:prstGeom prst="rect">
            <a:avLst/>
          </a:prstGeom>
          <a:solidFill>
            <a:srgbClr val="70AD47"/>
          </a:solidFill>
          <a:ln w="6350">
            <a:solidFill>
              <a:srgbClr val="70AD47"/>
            </a:solidFill>
            <a:prstDash val="solid"/>
          </a:ln>
        </p:spPr>
      </p:sp>
      <p:sp>
        <p:nvSpPr>
          <p:cNvPr id="57" name="B: the model writes 16 programs; keep the one valid on 8 past days; reuse it day 2"/>
          <p:cNvSpPr/>
          <p:nvPr/>
        </p:nvSpPr>
        <p:spPr>
          <a:xfrm>
            <a:off x="4352544" y="3520440"/>
            <a:ext cx="246888" cy="310896"/>
          </a:xfrm>
          <a:prstGeom prst="rect">
            <a:avLst/>
          </a:prstGeom>
          <a:solidFill>
            <a:srgbClr val="70AD47"/>
          </a:solidFill>
          <a:ln w="6350">
            <a:solidFill>
              <a:srgbClr val="70AD47"/>
            </a:solidFill>
            <a:prstDash val="solid"/>
          </a:ln>
        </p:spPr>
      </p:sp>
      <p:sp>
        <p:nvSpPr>
          <p:cNvPr id="58" name="B: the model writes 16 programs; keep the one valid on 8 past days; reuse it day 3"/>
          <p:cNvSpPr/>
          <p:nvPr/>
        </p:nvSpPr>
        <p:spPr>
          <a:xfrm>
            <a:off x="4654296" y="3520440"/>
            <a:ext cx="246888" cy="310896"/>
          </a:xfrm>
          <a:prstGeom prst="rect">
            <a:avLst/>
          </a:prstGeom>
          <a:solidFill>
            <a:srgbClr val="70AD47"/>
          </a:solidFill>
          <a:ln w="6350">
            <a:solidFill>
              <a:srgbClr val="70AD47"/>
            </a:solidFill>
            <a:prstDash val="solid"/>
          </a:ln>
        </p:spPr>
      </p:sp>
      <p:sp>
        <p:nvSpPr>
          <p:cNvPr id="59" name="B: the model writes 16 programs; keep the one valid on 8 past days; reuse it day 4"/>
          <p:cNvSpPr/>
          <p:nvPr/>
        </p:nvSpPr>
        <p:spPr>
          <a:xfrm>
            <a:off x="4956048" y="3520440"/>
            <a:ext cx="246888" cy="310896"/>
          </a:xfrm>
          <a:prstGeom prst="rect">
            <a:avLst/>
          </a:prstGeom>
          <a:solidFill>
            <a:srgbClr val="70AD47"/>
          </a:solidFill>
          <a:ln w="6350">
            <a:solidFill>
              <a:srgbClr val="70AD47"/>
            </a:solidFill>
            <a:prstDash val="solid"/>
          </a:ln>
        </p:spPr>
      </p:sp>
      <p:sp>
        <p:nvSpPr>
          <p:cNvPr id="60" name="B: the model writes 16 programs; keep the one valid on 8 past days; reuse it day 5"/>
          <p:cNvSpPr/>
          <p:nvPr/>
        </p:nvSpPr>
        <p:spPr>
          <a:xfrm>
            <a:off x="5257800" y="3520440"/>
            <a:ext cx="246888" cy="310896"/>
          </a:xfrm>
          <a:prstGeom prst="rect">
            <a:avLst/>
          </a:prstGeom>
          <a:solidFill>
            <a:srgbClr val="70AD47"/>
          </a:solidFill>
          <a:ln w="6350">
            <a:solidFill>
              <a:srgbClr val="70AD47"/>
            </a:solidFill>
            <a:prstDash val="solid"/>
          </a:ln>
        </p:spPr>
      </p:sp>
      <p:sp>
        <p:nvSpPr>
          <p:cNvPr id="61" name="B: the model writes 16 programs; keep the one valid on 8 past days; reuse it day 6"/>
          <p:cNvSpPr/>
          <p:nvPr/>
        </p:nvSpPr>
        <p:spPr>
          <a:xfrm>
            <a:off x="5559552" y="3520440"/>
            <a:ext cx="246888" cy="310896"/>
          </a:xfrm>
          <a:prstGeom prst="rect">
            <a:avLst/>
          </a:prstGeom>
          <a:solidFill>
            <a:srgbClr val="70AD47"/>
          </a:solidFill>
          <a:ln w="6350">
            <a:solidFill>
              <a:srgbClr val="70AD47"/>
            </a:solidFill>
            <a:prstDash val="solid"/>
          </a:ln>
        </p:spPr>
      </p:sp>
      <p:sp>
        <p:nvSpPr>
          <p:cNvPr id="62" name="B: the model writes 16 programs; keep the one valid on 8 past days; reuse it day 7"/>
          <p:cNvSpPr/>
          <p:nvPr/>
        </p:nvSpPr>
        <p:spPr>
          <a:xfrm>
            <a:off x="5861304" y="3520440"/>
            <a:ext cx="246888" cy="310896"/>
          </a:xfrm>
          <a:prstGeom prst="rect">
            <a:avLst/>
          </a:prstGeom>
          <a:solidFill>
            <a:srgbClr val="70AD47"/>
          </a:solidFill>
          <a:ln w="6350">
            <a:solidFill>
              <a:srgbClr val="70AD47"/>
            </a:solidFill>
            <a:prstDash val="solid"/>
          </a:ln>
        </p:spPr>
      </p:sp>
      <p:sp>
        <p:nvSpPr>
          <p:cNvPr id="63" name="B: the model writes 16 programs; keep the one valid on 8 past days; reuse it day 8"/>
          <p:cNvSpPr/>
          <p:nvPr/>
        </p:nvSpPr>
        <p:spPr>
          <a:xfrm>
            <a:off x="6163056" y="3520440"/>
            <a:ext cx="246888" cy="310896"/>
          </a:xfrm>
          <a:prstGeom prst="rect">
            <a:avLst/>
          </a:prstGeom>
          <a:solidFill>
            <a:srgbClr val="70AD47"/>
          </a:solidFill>
          <a:ln w="6350">
            <a:solidFill>
              <a:srgbClr val="70AD47"/>
            </a:solidFill>
            <a:prstDash val="solid"/>
          </a:ln>
        </p:spPr>
      </p:sp>
      <p:sp>
        <p:nvSpPr>
          <p:cNvPr id="64" name="B: the model writes 16 programs; keep the one valid on 8 past days; reuse it day 9"/>
          <p:cNvSpPr/>
          <p:nvPr/>
        </p:nvSpPr>
        <p:spPr>
          <a:xfrm>
            <a:off x="6464808" y="3520440"/>
            <a:ext cx="246888" cy="310896"/>
          </a:xfrm>
          <a:prstGeom prst="rect">
            <a:avLst/>
          </a:prstGeom>
          <a:solidFill>
            <a:srgbClr val="70AD47"/>
          </a:solidFill>
          <a:ln w="6350">
            <a:solidFill>
              <a:srgbClr val="70AD47"/>
            </a:solidFill>
            <a:prstDash val="solid"/>
          </a:ln>
        </p:spPr>
      </p:sp>
      <p:sp>
        <p:nvSpPr>
          <p:cNvPr id="65" name="B: the model writes 16 programs; keep the one valid on 8 past days; reuse it day 10"/>
          <p:cNvSpPr/>
          <p:nvPr/>
        </p:nvSpPr>
        <p:spPr>
          <a:xfrm>
            <a:off x="6766560" y="3520440"/>
            <a:ext cx="246888" cy="310896"/>
          </a:xfrm>
          <a:prstGeom prst="rect">
            <a:avLst/>
          </a:prstGeom>
          <a:solidFill>
            <a:srgbClr val="70AD47"/>
          </a:solidFill>
          <a:ln w="6350">
            <a:solidFill>
              <a:srgbClr val="70AD47"/>
            </a:solidFill>
            <a:prstDash val="solid"/>
          </a:ln>
        </p:spPr>
      </p:sp>
      <p:sp>
        <p:nvSpPr>
          <p:cNvPr id="66" name="B: the model writes 16 programs; keep the one valid on 8 past days; reuse it day 11"/>
          <p:cNvSpPr/>
          <p:nvPr/>
        </p:nvSpPr>
        <p:spPr>
          <a:xfrm>
            <a:off x="7068312" y="3520440"/>
            <a:ext cx="246888" cy="310896"/>
          </a:xfrm>
          <a:prstGeom prst="rect">
            <a:avLst/>
          </a:prstGeom>
          <a:solidFill>
            <a:srgbClr val="70AD47"/>
          </a:solidFill>
          <a:ln w="6350">
            <a:solidFill>
              <a:srgbClr val="70AD47"/>
            </a:solidFill>
            <a:prstDash val="solid"/>
          </a:ln>
        </p:spPr>
      </p:sp>
      <p:sp>
        <p:nvSpPr>
          <p:cNvPr id="67" name="B: the model writes 16 programs; keep the one valid on 8 past days; reuse it day 12"/>
          <p:cNvSpPr/>
          <p:nvPr/>
        </p:nvSpPr>
        <p:spPr>
          <a:xfrm>
            <a:off x="7370064" y="3520440"/>
            <a:ext cx="246888" cy="310896"/>
          </a:xfrm>
          <a:prstGeom prst="rect">
            <a:avLst/>
          </a:prstGeom>
          <a:solidFill>
            <a:srgbClr val="70AD47"/>
          </a:solidFill>
          <a:ln w="6350">
            <a:solidFill>
              <a:srgbClr val="70AD47"/>
            </a:solidFill>
            <a:prstDash val="solid"/>
          </a:ln>
        </p:spPr>
      </p:sp>
      <p:sp>
        <p:nvSpPr>
          <p:cNvPr id="68" name="B: the model writes 16 programs; keep the one valid on 8 past days; reuse it day 13"/>
          <p:cNvSpPr/>
          <p:nvPr/>
        </p:nvSpPr>
        <p:spPr>
          <a:xfrm>
            <a:off x="7671816" y="3520440"/>
            <a:ext cx="246888" cy="310896"/>
          </a:xfrm>
          <a:prstGeom prst="rect">
            <a:avLst/>
          </a:prstGeom>
          <a:solidFill>
            <a:srgbClr val="70AD47"/>
          </a:solidFill>
          <a:ln w="6350">
            <a:solidFill>
              <a:srgbClr val="70AD47"/>
            </a:solidFill>
            <a:prstDash val="solid"/>
          </a:ln>
        </p:spPr>
      </p:sp>
      <p:sp>
        <p:nvSpPr>
          <p:cNvPr id="69" name="B: the model writes 16 programs; keep the one valid on 8 past days; reuse it day 14"/>
          <p:cNvSpPr/>
          <p:nvPr/>
        </p:nvSpPr>
        <p:spPr>
          <a:xfrm>
            <a:off x="7973568" y="3520440"/>
            <a:ext cx="246888" cy="310896"/>
          </a:xfrm>
          <a:prstGeom prst="rect">
            <a:avLst/>
          </a:prstGeom>
          <a:solidFill>
            <a:srgbClr val="70AD47"/>
          </a:solidFill>
          <a:ln w="6350">
            <a:solidFill>
              <a:srgbClr val="70AD47"/>
            </a:solidFill>
            <a:prstDash val="solid"/>
          </a:ln>
        </p:spPr>
      </p:sp>
      <p:sp>
        <p:nvSpPr>
          <p:cNvPr id="70" name="B: the model writes 16 programs; keep the one valid on 8 past days; reuse it day 15"/>
          <p:cNvSpPr/>
          <p:nvPr/>
        </p:nvSpPr>
        <p:spPr>
          <a:xfrm>
            <a:off x="8275320" y="3520440"/>
            <a:ext cx="246888" cy="310896"/>
          </a:xfrm>
          <a:prstGeom prst="rect">
            <a:avLst/>
          </a:prstGeom>
          <a:solidFill>
            <a:srgbClr val="70AD47"/>
          </a:solidFill>
          <a:ln w="6350">
            <a:solidFill>
              <a:srgbClr val="70AD47"/>
            </a:solidFill>
            <a:prstDash val="solid"/>
          </a:ln>
        </p:spPr>
      </p:sp>
      <p:sp>
        <p:nvSpPr>
          <p:cNvPr id="71" name="B: the model writes 16 programs; keep the one valid on 8 past days; reuse it day 16"/>
          <p:cNvSpPr/>
          <p:nvPr/>
        </p:nvSpPr>
        <p:spPr>
          <a:xfrm>
            <a:off x="3749040" y="3904488"/>
            <a:ext cx="246888" cy="310896"/>
          </a:xfrm>
          <a:prstGeom prst="rect">
            <a:avLst/>
          </a:prstGeom>
          <a:solidFill>
            <a:srgbClr val="70AD47"/>
          </a:solidFill>
          <a:ln w="6350">
            <a:solidFill>
              <a:srgbClr val="70AD47"/>
            </a:solidFill>
            <a:prstDash val="solid"/>
          </a:ln>
        </p:spPr>
      </p:sp>
      <p:sp>
        <p:nvSpPr>
          <p:cNvPr id="72" name="B: the model writes 16 programs; keep the one valid on 8 past days; reuse it day 17"/>
          <p:cNvSpPr/>
          <p:nvPr/>
        </p:nvSpPr>
        <p:spPr>
          <a:xfrm>
            <a:off x="4050792" y="3904488"/>
            <a:ext cx="246888" cy="310896"/>
          </a:xfrm>
          <a:prstGeom prst="rect">
            <a:avLst/>
          </a:prstGeom>
          <a:solidFill>
            <a:srgbClr val="70AD47"/>
          </a:solidFill>
          <a:ln w="6350">
            <a:solidFill>
              <a:srgbClr val="70AD47"/>
            </a:solidFill>
            <a:prstDash val="solid"/>
          </a:ln>
        </p:spPr>
      </p:sp>
      <p:sp>
        <p:nvSpPr>
          <p:cNvPr id="73" name="B: the model writes 16 programs; keep the one valid on 8 past days; reuse it day 18"/>
          <p:cNvSpPr/>
          <p:nvPr/>
        </p:nvSpPr>
        <p:spPr>
          <a:xfrm>
            <a:off x="4352544" y="3904488"/>
            <a:ext cx="246888" cy="310896"/>
          </a:xfrm>
          <a:prstGeom prst="rect">
            <a:avLst/>
          </a:prstGeom>
          <a:solidFill>
            <a:srgbClr val="70AD47"/>
          </a:solidFill>
          <a:ln w="6350">
            <a:solidFill>
              <a:srgbClr val="70AD47"/>
            </a:solidFill>
            <a:prstDash val="solid"/>
          </a:ln>
        </p:spPr>
      </p:sp>
      <p:sp>
        <p:nvSpPr>
          <p:cNvPr id="74" name="B: the model writes 16 programs; keep the one valid on 8 past days; reuse it day 19"/>
          <p:cNvSpPr/>
          <p:nvPr/>
        </p:nvSpPr>
        <p:spPr>
          <a:xfrm>
            <a:off x="4654296" y="3904488"/>
            <a:ext cx="246888" cy="310896"/>
          </a:xfrm>
          <a:prstGeom prst="rect">
            <a:avLst/>
          </a:prstGeom>
          <a:solidFill>
            <a:srgbClr val="70AD47"/>
          </a:solidFill>
          <a:ln w="6350">
            <a:solidFill>
              <a:srgbClr val="70AD47"/>
            </a:solidFill>
            <a:prstDash val="solid"/>
          </a:ln>
        </p:spPr>
      </p:sp>
      <p:sp>
        <p:nvSpPr>
          <p:cNvPr id="75" name="B: the model writes 16 programs; keep the one valid on 8 past days; reuse it day 20"/>
          <p:cNvSpPr/>
          <p:nvPr/>
        </p:nvSpPr>
        <p:spPr>
          <a:xfrm>
            <a:off x="4956048" y="3904488"/>
            <a:ext cx="246888" cy="310896"/>
          </a:xfrm>
          <a:prstGeom prst="rect">
            <a:avLst/>
          </a:prstGeom>
          <a:solidFill>
            <a:srgbClr val="70AD47"/>
          </a:solidFill>
          <a:ln w="6350">
            <a:solidFill>
              <a:srgbClr val="70AD47"/>
            </a:solidFill>
            <a:prstDash val="solid"/>
          </a:ln>
        </p:spPr>
      </p:sp>
      <p:sp>
        <p:nvSpPr>
          <p:cNvPr id="76" name="B: the model writes 16 programs; keep the one valid on 8 past days; reuse it day 21"/>
          <p:cNvSpPr/>
          <p:nvPr/>
        </p:nvSpPr>
        <p:spPr>
          <a:xfrm>
            <a:off x="5257800" y="3904488"/>
            <a:ext cx="246888" cy="310896"/>
          </a:xfrm>
          <a:prstGeom prst="rect">
            <a:avLst/>
          </a:prstGeom>
          <a:solidFill>
            <a:srgbClr val="70AD47"/>
          </a:solidFill>
          <a:ln w="6350">
            <a:solidFill>
              <a:srgbClr val="70AD47"/>
            </a:solidFill>
            <a:prstDash val="solid"/>
          </a:ln>
        </p:spPr>
      </p:sp>
      <p:sp>
        <p:nvSpPr>
          <p:cNvPr id="77" name="B: the model writes 16 programs; keep the one valid on 8 past days; reuse it day 22"/>
          <p:cNvSpPr/>
          <p:nvPr/>
        </p:nvSpPr>
        <p:spPr>
          <a:xfrm>
            <a:off x="5559552" y="3904488"/>
            <a:ext cx="246888" cy="310896"/>
          </a:xfrm>
          <a:prstGeom prst="rect">
            <a:avLst/>
          </a:prstGeom>
          <a:solidFill>
            <a:srgbClr val="70AD47"/>
          </a:solidFill>
          <a:ln w="6350">
            <a:solidFill>
              <a:srgbClr val="70AD47"/>
            </a:solidFill>
            <a:prstDash val="solid"/>
          </a:ln>
        </p:spPr>
      </p:sp>
      <p:sp>
        <p:nvSpPr>
          <p:cNvPr id="78" name="B: the model writes 16 programs; keep the one valid on 8 past days; reuse it day 23"/>
          <p:cNvSpPr/>
          <p:nvPr/>
        </p:nvSpPr>
        <p:spPr>
          <a:xfrm>
            <a:off x="5861304" y="3904488"/>
            <a:ext cx="246888" cy="310896"/>
          </a:xfrm>
          <a:prstGeom prst="rect">
            <a:avLst/>
          </a:prstGeom>
          <a:solidFill>
            <a:srgbClr val="70AD47"/>
          </a:solidFill>
          <a:ln w="6350">
            <a:solidFill>
              <a:srgbClr val="70AD47"/>
            </a:solidFill>
            <a:prstDash val="solid"/>
          </a:ln>
        </p:spPr>
      </p:sp>
      <p:sp>
        <p:nvSpPr>
          <p:cNvPr id="79" name="B: the model writes 16 programs; keep the one valid on 8 past days; reuse it day 24"/>
          <p:cNvSpPr/>
          <p:nvPr/>
        </p:nvSpPr>
        <p:spPr>
          <a:xfrm>
            <a:off x="6163056" y="3904488"/>
            <a:ext cx="246888" cy="310896"/>
          </a:xfrm>
          <a:prstGeom prst="rect">
            <a:avLst/>
          </a:prstGeom>
          <a:solidFill>
            <a:srgbClr val="70AD47"/>
          </a:solidFill>
          <a:ln w="6350">
            <a:solidFill>
              <a:srgbClr val="70AD47"/>
            </a:solidFill>
            <a:prstDash val="solid"/>
          </a:ln>
        </p:spPr>
      </p:sp>
      <p:sp>
        <p:nvSpPr>
          <p:cNvPr id="80" name="B: the model writes 16 programs; keep the one valid on 8 past days; reuse it day 25"/>
          <p:cNvSpPr/>
          <p:nvPr/>
        </p:nvSpPr>
        <p:spPr>
          <a:xfrm>
            <a:off x="6464808" y="3904488"/>
            <a:ext cx="246888" cy="310896"/>
          </a:xfrm>
          <a:prstGeom prst="rect">
            <a:avLst/>
          </a:prstGeom>
          <a:solidFill>
            <a:srgbClr val="70AD47"/>
          </a:solidFill>
          <a:ln w="6350">
            <a:solidFill>
              <a:srgbClr val="70AD47"/>
            </a:solidFill>
            <a:prstDash val="solid"/>
          </a:ln>
        </p:spPr>
      </p:sp>
      <p:sp>
        <p:nvSpPr>
          <p:cNvPr id="81" name="B: the model writes 16 programs; keep the one valid on 8 past days; reuse it day 26"/>
          <p:cNvSpPr/>
          <p:nvPr/>
        </p:nvSpPr>
        <p:spPr>
          <a:xfrm>
            <a:off x="6766560" y="3904488"/>
            <a:ext cx="246888" cy="310896"/>
          </a:xfrm>
          <a:prstGeom prst="rect">
            <a:avLst/>
          </a:prstGeom>
          <a:solidFill>
            <a:srgbClr val="70AD47"/>
          </a:solidFill>
          <a:ln w="6350">
            <a:solidFill>
              <a:srgbClr val="70AD47"/>
            </a:solidFill>
            <a:prstDash val="solid"/>
          </a:ln>
        </p:spPr>
      </p:sp>
      <p:sp>
        <p:nvSpPr>
          <p:cNvPr id="82" name="B: the model writes 16 programs; keep the one valid on 8 past days; reuse it day 27"/>
          <p:cNvSpPr/>
          <p:nvPr/>
        </p:nvSpPr>
        <p:spPr>
          <a:xfrm>
            <a:off x="7068312" y="3904488"/>
            <a:ext cx="246888" cy="310896"/>
          </a:xfrm>
          <a:prstGeom prst="rect">
            <a:avLst/>
          </a:prstGeom>
          <a:solidFill>
            <a:srgbClr val="70AD47"/>
          </a:solidFill>
          <a:ln w="6350">
            <a:solidFill>
              <a:srgbClr val="70AD47"/>
            </a:solidFill>
            <a:prstDash val="solid"/>
          </a:ln>
        </p:spPr>
      </p:sp>
      <p:sp>
        <p:nvSpPr>
          <p:cNvPr id="83" name="B: the model writes 16 programs; keep the one valid on 8 past days; reuse it day 28"/>
          <p:cNvSpPr/>
          <p:nvPr/>
        </p:nvSpPr>
        <p:spPr>
          <a:xfrm>
            <a:off x="7370064" y="3904488"/>
            <a:ext cx="246888" cy="310896"/>
          </a:xfrm>
          <a:prstGeom prst="rect">
            <a:avLst/>
          </a:prstGeom>
          <a:solidFill>
            <a:srgbClr val="70AD47"/>
          </a:solidFill>
          <a:ln w="6350">
            <a:solidFill>
              <a:srgbClr val="70AD47"/>
            </a:solidFill>
            <a:prstDash val="solid"/>
          </a:ln>
        </p:spPr>
      </p:sp>
      <p:sp>
        <p:nvSpPr>
          <p:cNvPr id="84" name="B: the model writes 16 programs; keep the one valid on 8 past days; reuse it day 29"/>
          <p:cNvSpPr/>
          <p:nvPr/>
        </p:nvSpPr>
        <p:spPr>
          <a:xfrm>
            <a:off x="7671816" y="3904488"/>
            <a:ext cx="246888" cy="310896"/>
          </a:xfrm>
          <a:prstGeom prst="rect">
            <a:avLst/>
          </a:prstGeom>
          <a:solidFill>
            <a:srgbClr val="70AD47"/>
          </a:solidFill>
          <a:ln w="6350">
            <a:solidFill>
              <a:srgbClr val="70AD47"/>
            </a:solidFill>
            <a:prstDash val="solid"/>
          </a:ln>
        </p:spPr>
      </p:sp>
      <p:sp>
        <p:nvSpPr>
          <p:cNvPr id="85" name="B: the model writes 16 programs; keep the one valid on 8 past days; reuse it day 30"/>
          <p:cNvSpPr/>
          <p:nvPr/>
        </p:nvSpPr>
        <p:spPr>
          <a:xfrm>
            <a:off x="7973568" y="3904488"/>
            <a:ext cx="246888" cy="310896"/>
          </a:xfrm>
          <a:prstGeom prst="rect">
            <a:avLst/>
          </a:prstGeom>
          <a:solidFill>
            <a:srgbClr val="70AD47"/>
          </a:solidFill>
          <a:ln w="6350">
            <a:solidFill>
              <a:srgbClr val="70AD47"/>
            </a:solidFill>
            <a:prstDash val="solid"/>
          </a:ln>
        </p:spPr>
      </p:sp>
      <p:sp>
        <p:nvSpPr>
          <p:cNvPr id="86" name="B: the model writes 16 programs; keep the one valid on 8 past days; reuse it day 31"/>
          <p:cNvSpPr/>
          <p:nvPr/>
        </p:nvSpPr>
        <p:spPr>
          <a:xfrm>
            <a:off x="8275320" y="3904488"/>
            <a:ext cx="246888" cy="310896"/>
          </a:xfrm>
          <a:prstGeom prst="rect">
            <a:avLst/>
          </a:prstGeom>
          <a:solidFill>
            <a:srgbClr val="70AD47"/>
          </a:solidFill>
          <a:ln w="6350">
            <a:solidFill>
              <a:srgbClr val="70AD47"/>
            </a:solidFill>
            <a:prstDash val="solid"/>
          </a:ln>
        </p:spPr>
      </p:sp>
      <p:sp>
        <p:nvSpPr>
          <p:cNvPr id="87" name="B: the model writes 16 programs; keep the one valid on 8 past days; reuse it day 32"/>
          <p:cNvSpPr/>
          <p:nvPr/>
        </p:nvSpPr>
        <p:spPr>
          <a:xfrm>
            <a:off x="3749040" y="4288536"/>
            <a:ext cx="246888" cy="310896"/>
          </a:xfrm>
          <a:prstGeom prst="rect">
            <a:avLst/>
          </a:prstGeom>
          <a:solidFill>
            <a:srgbClr val="70AD47"/>
          </a:solidFill>
          <a:ln w="6350">
            <a:solidFill>
              <a:srgbClr val="70AD47"/>
            </a:solidFill>
            <a:prstDash val="solid"/>
          </a:ln>
        </p:spPr>
      </p:sp>
      <p:sp>
        <p:nvSpPr>
          <p:cNvPr id="88" name="B: the model writes 16 programs; keep the one valid on 8 past days; reuse it day 33"/>
          <p:cNvSpPr/>
          <p:nvPr/>
        </p:nvSpPr>
        <p:spPr>
          <a:xfrm>
            <a:off x="4050792" y="4288536"/>
            <a:ext cx="246888" cy="310896"/>
          </a:xfrm>
          <a:prstGeom prst="rect">
            <a:avLst/>
          </a:prstGeom>
          <a:solidFill>
            <a:srgbClr val="70AD47"/>
          </a:solidFill>
          <a:ln w="6350">
            <a:solidFill>
              <a:srgbClr val="70AD47"/>
            </a:solidFill>
            <a:prstDash val="solid"/>
          </a:ln>
        </p:spPr>
      </p:sp>
      <p:sp>
        <p:nvSpPr>
          <p:cNvPr id="89" name="B: the model writes 16 programs; keep the one valid on 8 past days; reuse it day 34"/>
          <p:cNvSpPr/>
          <p:nvPr/>
        </p:nvSpPr>
        <p:spPr>
          <a:xfrm>
            <a:off x="4352544" y="4288536"/>
            <a:ext cx="246888" cy="310896"/>
          </a:xfrm>
          <a:prstGeom prst="rect">
            <a:avLst/>
          </a:prstGeom>
          <a:solidFill>
            <a:srgbClr val="70AD47"/>
          </a:solidFill>
          <a:ln w="6350">
            <a:solidFill>
              <a:srgbClr val="70AD47"/>
            </a:solidFill>
            <a:prstDash val="solid"/>
          </a:ln>
        </p:spPr>
      </p:sp>
      <p:sp>
        <p:nvSpPr>
          <p:cNvPr id="90" name="B: the model writes 16 programs; keep the one valid on 8 past days; reuse it day 35"/>
          <p:cNvSpPr/>
          <p:nvPr/>
        </p:nvSpPr>
        <p:spPr>
          <a:xfrm>
            <a:off x="4654296" y="4288536"/>
            <a:ext cx="246888" cy="310896"/>
          </a:xfrm>
          <a:prstGeom prst="rect">
            <a:avLst/>
          </a:prstGeom>
          <a:solidFill>
            <a:srgbClr val="70AD47"/>
          </a:solidFill>
          <a:ln w="6350">
            <a:solidFill>
              <a:srgbClr val="70AD47"/>
            </a:solidFill>
            <a:prstDash val="solid"/>
          </a:ln>
        </p:spPr>
      </p:sp>
      <p:sp>
        <p:nvSpPr>
          <p:cNvPr id="91" name="B: the model writes 16 programs; keep the one valid on 8 past days; reuse it day 36"/>
          <p:cNvSpPr/>
          <p:nvPr/>
        </p:nvSpPr>
        <p:spPr>
          <a:xfrm>
            <a:off x="4956048" y="4288536"/>
            <a:ext cx="246888" cy="310896"/>
          </a:xfrm>
          <a:prstGeom prst="rect">
            <a:avLst/>
          </a:prstGeom>
          <a:solidFill>
            <a:srgbClr val="70AD47"/>
          </a:solidFill>
          <a:ln w="6350">
            <a:solidFill>
              <a:srgbClr val="70AD47"/>
            </a:solidFill>
            <a:prstDash val="solid"/>
          </a:ln>
        </p:spPr>
      </p:sp>
      <p:sp>
        <p:nvSpPr>
          <p:cNvPr id="92" name="B: the model writes 16 programs; keep the one valid on 8 past days; reuse it day 37"/>
          <p:cNvSpPr/>
          <p:nvPr/>
        </p:nvSpPr>
        <p:spPr>
          <a:xfrm>
            <a:off x="5257800" y="4288536"/>
            <a:ext cx="246888" cy="310896"/>
          </a:xfrm>
          <a:prstGeom prst="rect">
            <a:avLst/>
          </a:prstGeom>
          <a:solidFill>
            <a:srgbClr val="70AD47"/>
          </a:solidFill>
          <a:ln w="6350">
            <a:solidFill>
              <a:srgbClr val="70AD47"/>
            </a:solidFill>
            <a:prstDash val="solid"/>
          </a:ln>
        </p:spPr>
      </p:sp>
      <p:sp>
        <p:nvSpPr>
          <p:cNvPr id="93" name="B: the model writes 16 programs; keep the one valid on 8 past days; reuse it day 38"/>
          <p:cNvSpPr/>
          <p:nvPr/>
        </p:nvSpPr>
        <p:spPr>
          <a:xfrm>
            <a:off x="5559552" y="4288536"/>
            <a:ext cx="246888" cy="310896"/>
          </a:xfrm>
          <a:prstGeom prst="rect">
            <a:avLst/>
          </a:prstGeom>
          <a:solidFill>
            <a:srgbClr val="70AD47"/>
          </a:solidFill>
          <a:ln w="6350">
            <a:solidFill>
              <a:srgbClr val="70AD47"/>
            </a:solidFill>
            <a:prstDash val="solid"/>
          </a:ln>
        </p:spPr>
      </p:sp>
      <p:sp>
        <p:nvSpPr>
          <p:cNvPr id="94" name="B: the model writes 16 programs; keep the one valid on 8 past days; reuse it day 39"/>
          <p:cNvSpPr/>
          <p:nvPr/>
        </p:nvSpPr>
        <p:spPr>
          <a:xfrm>
            <a:off x="5861304" y="4288536"/>
            <a:ext cx="246888" cy="310896"/>
          </a:xfrm>
          <a:prstGeom prst="rect">
            <a:avLst/>
          </a:prstGeom>
          <a:solidFill>
            <a:srgbClr val="70AD47"/>
          </a:solidFill>
          <a:ln w="6350">
            <a:solidFill>
              <a:srgbClr val="70AD47"/>
            </a:solidFill>
            <a:prstDash val="solid"/>
          </a:ln>
        </p:spPr>
      </p:sp>
      <p:sp>
        <p:nvSpPr>
          <p:cNvPr id="95" name="B: the model writes 16 programs; keep the one valid on 8 past days; reuse it day 40"/>
          <p:cNvSpPr/>
          <p:nvPr/>
        </p:nvSpPr>
        <p:spPr>
          <a:xfrm>
            <a:off x="6163056" y="4288536"/>
            <a:ext cx="246888" cy="310896"/>
          </a:xfrm>
          <a:prstGeom prst="rect">
            <a:avLst/>
          </a:prstGeom>
          <a:solidFill>
            <a:srgbClr val="70AD47"/>
          </a:solidFill>
          <a:ln w="6350">
            <a:solidFill>
              <a:srgbClr val="70AD47"/>
            </a:solidFill>
            <a:prstDash val="solid"/>
          </a:ln>
        </p:spPr>
      </p:sp>
      <p:sp>
        <p:nvSpPr>
          <p:cNvPr id="96" name="B: the model writes 16 programs; keep the one valid on 8 past days; reuse it day 41"/>
          <p:cNvSpPr/>
          <p:nvPr/>
        </p:nvSpPr>
        <p:spPr>
          <a:xfrm>
            <a:off x="6464808" y="4288536"/>
            <a:ext cx="246888" cy="310896"/>
          </a:xfrm>
          <a:prstGeom prst="rect">
            <a:avLst/>
          </a:prstGeom>
          <a:solidFill>
            <a:srgbClr val="70AD47"/>
          </a:solidFill>
          <a:ln w="6350">
            <a:solidFill>
              <a:srgbClr val="70AD47"/>
            </a:solidFill>
            <a:prstDash val="solid"/>
          </a:ln>
        </p:spPr>
      </p:sp>
      <p:sp>
        <p:nvSpPr>
          <p:cNvPr id="97" name="B: the model writes 16 programs; keep the one valid on 8 past days; reuse it day 42"/>
          <p:cNvSpPr/>
          <p:nvPr/>
        </p:nvSpPr>
        <p:spPr>
          <a:xfrm>
            <a:off x="6766560" y="4288536"/>
            <a:ext cx="246888" cy="310896"/>
          </a:xfrm>
          <a:prstGeom prst="rect">
            <a:avLst/>
          </a:prstGeom>
          <a:solidFill>
            <a:srgbClr val="70AD47"/>
          </a:solidFill>
          <a:ln w="6350">
            <a:solidFill>
              <a:srgbClr val="70AD47"/>
            </a:solidFill>
            <a:prstDash val="solid"/>
          </a:ln>
        </p:spPr>
      </p:sp>
      <p:sp>
        <p:nvSpPr>
          <p:cNvPr id="98" name="B: the model writes 16 programs; keep the one valid on 8 past days; reuse it day 43"/>
          <p:cNvSpPr/>
          <p:nvPr/>
        </p:nvSpPr>
        <p:spPr>
          <a:xfrm>
            <a:off x="7068312" y="4288536"/>
            <a:ext cx="246888" cy="310896"/>
          </a:xfrm>
          <a:prstGeom prst="rect">
            <a:avLst/>
          </a:prstGeom>
          <a:solidFill>
            <a:srgbClr val="70AD47"/>
          </a:solidFill>
          <a:ln w="6350">
            <a:solidFill>
              <a:srgbClr val="70AD47"/>
            </a:solidFill>
            <a:prstDash val="solid"/>
          </a:ln>
        </p:spPr>
      </p:sp>
      <p:sp>
        <p:nvSpPr>
          <p:cNvPr id="99" name="B: the model writes 16 programs; keep the one valid on 8 past days; reuse it day 44"/>
          <p:cNvSpPr/>
          <p:nvPr/>
        </p:nvSpPr>
        <p:spPr>
          <a:xfrm>
            <a:off x="7370064" y="4288536"/>
            <a:ext cx="246888" cy="310896"/>
          </a:xfrm>
          <a:prstGeom prst="rect">
            <a:avLst/>
          </a:prstGeom>
          <a:solidFill>
            <a:srgbClr val="70AD47"/>
          </a:solidFill>
          <a:ln w="6350">
            <a:solidFill>
              <a:srgbClr val="70AD47"/>
            </a:solidFill>
            <a:prstDash val="solid"/>
          </a:ln>
        </p:spPr>
      </p:sp>
      <p:sp>
        <p:nvSpPr>
          <p:cNvPr id="100" name="B: the model writes 16 programs; keep the one valid on 8 past days; reuse it day 45"/>
          <p:cNvSpPr/>
          <p:nvPr/>
        </p:nvSpPr>
        <p:spPr>
          <a:xfrm>
            <a:off x="7671816" y="4288536"/>
            <a:ext cx="246888" cy="310896"/>
          </a:xfrm>
          <a:prstGeom prst="rect">
            <a:avLst/>
          </a:prstGeom>
          <a:solidFill>
            <a:srgbClr val="FADBD8"/>
          </a:solidFill>
          <a:ln w="6350">
            <a:solidFill>
              <a:srgbClr val="E6B8B7"/>
            </a:solidFill>
            <a:prstDash val="solid"/>
          </a:ln>
        </p:spPr>
      </p:sp>
      <p:sp>
        <p:nvSpPr>
          <p:cNvPr id="101" name="B: the model writes 16 programs; keep the one valid on 8 past days; reuse it day 46"/>
          <p:cNvSpPr/>
          <p:nvPr/>
        </p:nvSpPr>
        <p:spPr>
          <a:xfrm>
            <a:off x="7973568" y="4288536"/>
            <a:ext cx="246888" cy="310896"/>
          </a:xfrm>
          <a:prstGeom prst="rect">
            <a:avLst/>
          </a:prstGeom>
          <a:solidFill>
            <a:srgbClr val="FADBD8"/>
          </a:solidFill>
          <a:ln w="6350">
            <a:solidFill>
              <a:srgbClr val="E6B8B7"/>
            </a:solidFill>
            <a:prstDash val="solid"/>
          </a:ln>
        </p:spPr>
      </p:sp>
      <p:sp>
        <p:nvSpPr>
          <p:cNvPr id="102" name="B: the model writes 16 programs; keep the one valid on 8 past days; reuse it day 47"/>
          <p:cNvSpPr/>
          <p:nvPr/>
        </p:nvSpPr>
        <p:spPr>
          <a:xfrm>
            <a:off x="8275320" y="4288536"/>
            <a:ext cx="246888" cy="310896"/>
          </a:xfrm>
          <a:prstGeom prst="rect">
            <a:avLst/>
          </a:prstGeom>
          <a:solidFill>
            <a:srgbClr val="FADBD8"/>
          </a:solidFill>
          <a:ln w="6350">
            <a:solidFill>
              <a:srgbClr val="E6B8B7"/>
            </a:solidFill>
            <a:prstDash val="solid"/>
          </a:ln>
        </p:spPr>
      </p:sp>
      <p:sp>
        <p:nvSpPr>
          <p:cNvPr id="103" name="Text 101"/>
          <p:cNvSpPr txBox="1"/>
          <p:nvPr/>
        </p:nvSpPr>
        <p:spPr>
          <a:xfrm>
            <a:off x="8778240" y="3520440"/>
            <a:ext cx="2834640" cy="1188720"/>
          </a:xfrm>
          <a:prstGeom prst="rect">
            <a:avLst/>
          </a:prstGeom>
          <a:noFill/>
          <a:ln/>
        </p:spPr>
        <p:txBody>
          <a:bodyPr wrap="square" lIns="0" tIns="0" rIns="0" bIns="0" rtlCol="0" anchor="ctr"/>
          <a:lstStyle/>
          <a:p>
            <a:pPr indent="0" marL="0">
              <a:buNone/>
            </a:pPr>
            <a:r>
              <a:rPr lang="en-US" sz="1700" b="1" dirty="0">
                <a:solidFill>
                  <a:srgbClr val="38761D"/>
                </a:solidFill>
              </a:rPr>
              <a:t>valid on 94% of days</a:t>
            </a:r>
            <a:endParaRPr lang="en-US" sz="1700" dirty="0"/>
          </a:p>
          <a:p>
            <a:pPr indent="0" marL="0">
              <a:buNone/>
            </a:pPr>
            <a:r>
              <a:rPr lang="en-US" sz="1700" b="1" dirty="0">
                <a:solidFill>
                  <a:srgbClr val="38761D"/>
                </a:solidFill>
              </a:rPr>
              <a:t>28k tokens in total</a:t>
            </a:r>
            <a:endParaRPr lang="en-US" sz="1700" dirty="0"/>
          </a:p>
        </p:txBody>
      </p:sp>
      <p:sp>
        <p:nvSpPr>
          <p:cNvPr id="104" name="Text 102"/>
          <p:cNvSpPr txBox="1"/>
          <p:nvPr/>
        </p:nvSpPr>
        <p:spPr>
          <a:xfrm>
            <a:off x="3749040" y="4800600"/>
            <a:ext cx="7863840" cy="365760"/>
          </a:xfrm>
          <a:prstGeom prst="rect">
            <a:avLst/>
          </a:prstGeom>
          <a:noFill/>
          <a:ln/>
        </p:spPr>
        <p:txBody>
          <a:bodyPr wrap="square" lIns="0" tIns="0" rIns="0" bIns="0" rtlCol="0" anchor="ctr"/>
          <a:lstStyle/>
          <a:p>
            <a:pPr indent="0" marL="0">
              <a:buNone/>
            </a:pPr>
            <a:r>
              <a:rPr lang="en-US" sz="1400" dirty="0">
                <a:solidFill>
                  <a:schemeClr val="tx2"/>
                </a:solidFill>
              </a:rPr>
              <a:t>each square = one of 48 new days · green = a valid route plan</a:t>
            </a:r>
            <a:endParaRPr lang="en-US" sz="1400" dirty="0"/>
          </a:p>
        </p:txBody>
      </p:sp>
      <p:sp>
        <p:nvSpPr>
          <p:cNvPr id="105" name="Text 103"/>
          <p:cNvSpPr txBox="1"/>
          <p:nvPr/>
        </p:nvSpPr>
        <p:spPr>
          <a:xfrm>
            <a:off x="548640" y="5349240"/>
            <a:ext cx="11064240" cy="548640"/>
          </a:xfrm>
          <a:prstGeom prst="rect">
            <a:avLst/>
          </a:prstGeom>
          <a:noFill/>
          <a:ln/>
        </p:spPr>
        <p:txBody>
          <a:bodyPr wrap="square" lIns="0" tIns="0" rIns="0" bIns="0" rtlCol="0" anchor="ctr"/>
          <a:lstStyle/>
          <a:p>
            <a:pPr indent="0" marL="0">
              <a:buNone/>
            </a:pPr>
            <a:r>
              <a:rPr lang="en-US" sz="1700" dirty="0">
                <a:solidFill>
                  <a:schemeClr val="tx1"/>
                </a:solidFill>
              </a:rPr>
              <a:t>Only the data change, so one checked program keeps working (also on 4× bigger days). New rule? Ask the model to edit it.</a:t>
            </a:r>
            <a:endParaRPr lang="en-US" sz="17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6: the fact can be found without a human</a:t>
            </a:r>
            <a:endParaRPr lang="en-US" sz="3600" dirty="0"/>
          </a:p>
        </p:txBody>
      </p:sp>
      <p:sp>
        <p:nvSpPr>
          <p:cNvPr id="3" name="Text 1"/>
          <p:cNvSpPr txBox="1"/>
          <p:nvPr/>
        </p:nvSpPr>
        <p:spPr>
          <a:xfrm>
            <a:off x="548640" y="1188720"/>
            <a:ext cx="11064240" cy="411480"/>
          </a:xfrm>
          <a:prstGeom prst="rect">
            <a:avLst/>
          </a:prstGeom>
          <a:noFill/>
          <a:ln/>
        </p:spPr>
        <p:txBody>
          <a:bodyPr wrap="square" lIns="0" tIns="0" rIns="0" bIns="0" rtlCol="0" anchor="ctr"/>
          <a:lstStyle/>
          <a:p>
            <a:pPr indent="0" marL="0">
              <a:buNone/>
            </a:pPr>
            <a:r>
              <a:rPr lang="en-US" sz="1600" dirty="0">
                <a:solidFill>
                  <a:schemeClr val="tx1"/>
                </a:solidFill>
              </a:rPr>
              <a:t>Example (Qwen3-8B, MAMO): products X, Y, Z cost $10, $15, $20; X+Y ≤ 5000, Y+Z ≤ 4000, X+Z ≥ 2000. Minimum cost? (20000)</a:t>
            </a:r>
            <a:endParaRPr lang="en-US" sz="1600" dirty="0"/>
          </a:p>
        </p:txBody>
      </p:sp>
      <p:sp>
        <p:nvSpPr>
          <p:cNvPr id="4" name="Text 2"/>
          <p:cNvSpPr txBox="1"/>
          <p:nvPr/>
        </p:nvSpPr>
        <p:spPr>
          <a:xfrm>
            <a:off x="548640" y="169164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No fact</a:t>
            </a:r>
            <a:endParaRPr lang="en-US" sz="1500" dirty="0"/>
          </a:p>
        </p:txBody>
      </p:sp>
      <p:sp>
        <p:nvSpPr>
          <p:cNvPr id="5" name="code solver.Objective().M"/>
          <p:cNvSpPr/>
          <p:nvPr/>
        </p:nvSpPr>
        <p:spPr>
          <a:xfrm>
            <a:off x="548640" y="2011680"/>
            <a:ext cx="4023360" cy="457200"/>
          </a:xfrm>
          <a:prstGeom prst="rect">
            <a:avLst/>
          </a:prstGeom>
          <a:solidFill>
            <a:srgbClr val="FFFFFF"/>
          </a:solidFill>
          <a:ln w="9525">
            <a:solidFill>
              <a:srgbClr val="BFBFBF"/>
            </a:solidFill>
            <a:prstDash val="solid"/>
          </a:ln>
        </p:spPr>
      </p:sp>
      <p:sp>
        <p:nvSpPr>
          <p:cNvPr id="6" name="Text 4"/>
          <p:cNvSpPr txBox="1"/>
          <p:nvPr/>
        </p:nvSpPr>
        <p:spPr>
          <a:xfrm>
            <a:off x="658368" y="2011680"/>
            <a:ext cx="380390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solver.Objective().Minimize()</a:t>
            </a:r>
            <a:endParaRPr lang="en-US" sz="1300" dirty="0"/>
          </a:p>
        </p:txBody>
      </p:sp>
      <p:sp>
        <p:nvSpPr>
          <p:cNvPr id="7" name="Text 5"/>
          <p:cNvSpPr txBox="1"/>
          <p:nvPr/>
        </p:nvSpPr>
        <p:spPr>
          <a:xfrm>
            <a:off x="4709160" y="2011680"/>
            <a:ext cx="2011680" cy="457200"/>
          </a:xfrm>
          <a:prstGeom prst="rect">
            <a:avLst/>
          </a:prstGeom>
          <a:noFill/>
          <a:ln/>
        </p:spPr>
        <p:txBody>
          <a:bodyPr wrap="square" lIns="0" tIns="0" rIns="0" bIns="0" rtlCol="0" anchor="ctr"/>
          <a:lstStyle/>
          <a:p>
            <a:pPr indent="0" marL="0">
              <a:buNone/>
            </a:pPr>
            <a:r>
              <a:rPr lang="en-US" sz="1400" b="1" dirty="0">
                <a:solidFill>
                  <a:srgbClr val="C00000"/>
                </a:solidFill>
              </a:rPr>
              <a:t>✗ crash: no such method</a:t>
            </a:r>
            <a:endParaRPr lang="en-US" sz="1400" dirty="0"/>
          </a:p>
        </p:txBody>
      </p:sp>
      <p:sp>
        <p:nvSpPr>
          <p:cNvPr id="8" name="prompt The fact: its own program for another problem (vans and trucks) that passed the free check"/>
          <p:cNvSpPr/>
          <p:nvPr/>
        </p:nvSpPr>
        <p:spPr>
          <a:xfrm>
            <a:off x="548640" y="2651760"/>
            <a:ext cx="6126480" cy="1325880"/>
          </a:xfrm>
          <a:prstGeom prst="rect">
            <a:avLst/>
          </a:prstGeom>
          <a:solidFill>
            <a:srgbClr val="E2F0D9"/>
          </a:solidFill>
          <a:ln w="9525">
            <a:solidFill>
              <a:srgbClr val="BFBFBF"/>
            </a:solidFill>
            <a:prstDash val="solid"/>
          </a:ln>
        </p:spPr>
      </p:sp>
      <p:sp>
        <p:nvSpPr>
          <p:cNvPr id="9" name="Text 7"/>
          <p:cNvSpPr txBox="1"/>
          <p:nvPr/>
        </p:nvSpPr>
        <p:spPr>
          <a:xfrm>
            <a:off x="658368" y="2706624"/>
            <a:ext cx="5907024" cy="1216152"/>
          </a:xfrm>
          <a:prstGeom prst="rect">
            <a:avLst/>
          </a:prstGeom>
          <a:noFill/>
          <a:ln/>
        </p:spPr>
        <p:txBody>
          <a:bodyPr wrap="square" lIns="0" tIns="0" rIns="0" bIns="0" rtlCol="0" anchor="t"/>
          <a:lstStyle/>
          <a:p>
            <a:pPr indent="0" marL="0">
              <a:buNone/>
            </a:pPr>
            <a:r>
              <a:rPr lang="en-US" sz="1400" b="1" dirty="0">
                <a:solidFill>
                  <a:schemeClr val="tx1"/>
                </a:solidFill>
                <a:latin typeface="Calibri" pitchFamily="34" charset="0"/>
                <a:ea typeface="Calibri" pitchFamily="34" charset="-122"/>
                <a:cs typeface="Calibri" pitchFamily="34" charset="-120"/>
              </a:rPr>
              <a:t>The fact: its own program for another problem (vans and trucks) that passed the free check</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 = pywraplp.Solver.CreateSolver('SCIP')</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v = solver.IntVar(0, solver.infinity(), 'v')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solver.Minimize(v)</a:t>
            </a:r>
            <a:endParaRPr lang="en-US" sz="1150" dirty="0"/>
          </a:p>
          <a:p>
            <a:pPr indent="0" marL="0">
              <a:buNone/>
            </a:pPr>
            <a:r>
              <a:rPr lang="en-US" sz="1150" dirty="0">
                <a:solidFill>
                  <a:schemeClr val="tx1"/>
                </a:solidFill>
                <a:latin typeface="Courier New" pitchFamily="34" charset="0"/>
                <a:ea typeface="Courier New" pitchFamily="34" charset="-122"/>
                <a:cs typeface="Courier New" pitchFamily="34" charset="-120"/>
              </a:rPr>
              <a:t>status = solver.Solve()</a:t>
            </a:r>
            <a:endParaRPr lang="en-US" sz="1150" dirty="0"/>
          </a:p>
        </p:txBody>
      </p:sp>
      <p:sp>
        <p:nvSpPr>
          <p:cNvPr id="10" name="Text 8"/>
          <p:cNvSpPr txBox="1"/>
          <p:nvPr/>
        </p:nvSpPr>
        <p:spPr>
          <a:xfrm>
            <a:off x="548640" y="4114800"/>
            <a:ext cx="6126480" cy="320040"/>
          </a:xfrm>
          <a:prstGeom prst="rect">
            <a:avLst/>
          </a:prstGeom>
          <a:noFill/>
          <a:ln/>
        </p:spPr>
        <p:txBody>
          <a:bodyPr wrap="square" lIns="0" tIns="0" rIns="0" bIns="0" rtlCol="0" anchor="ctr"/>
          <a:lstStyle/>
          <a:p>
            <a:pPr indent="0" marL="0">
              <a:buNone/>
            </a:pPr>
            <a:r>
              <a:rPr lang="en-US" sz="1500" b="1" dirty="0">
                <a:solidFill>
                  <a:schemeClr val="tx1"/>
                </a:solidFill>
              </a:rPr>
              <a:t>With the fact (written twice; both agree, so no thinking)</a:t>
            </a:r>
            <a:endParaRPr lang="en-US" sz="1500" dirty="0"/>
          </a:p>
        </p:txBody>
      </p:sp>
      <p:sp>
        <p:nvSpPr>
          <p:cNvPr id="11" name="code solver.Minimize(10*x"/>
          <p:cNvSpPr/>
          <p:nvPr/>
        </p:nvSpPr>
        <p:spPr>
          <a:xfrm>
            <a:off x="548640" y="4434840"/>
            <a:ext cx="4023360" cy="457200"/>
          </a:xfrm>
          <a:prstGeom prst="rect">
            <a:avLst/>
          </a:prstGeom>
          <a:solidFill>
            <a:srgbClr val="FFFFFF"/>
          </a:solidFill>
          <a:ln w="9525">
            <a:solidFill>
              <a:srgbClr val="BFBFBF"/>
            </a:solidFill>
            <a:prstDash val="solid"/>
          </a:ln>
        </p:spPr>
      </p:sp>
      <p:sp>
        <p:nvSpPr>
          <p:cNvPr id="12" name="Text 10"/>
          <p:cNvSpPr txBox="1"/>
          <p:nvPr/>
        </p:nvSpPr>
        <p:spPr>
          <a:xfrm>
            <a:off x="658368" y="4434840"/>
            <a:ext cx="3803904" cy="457200"/>
          </a:xfrm>
          <a:prstGeom prst="rect">
            <a:avLst/>
          </a:prstGeom>
          <a:noFill/>
          <a:ln/>
        </p:spPr>
        <p:txBody>
          <a:bodyPr wrap="square" lIns="0" tIns="0" rIns="0" bIns="0" rtlCol="0" anchor="ctr"/>
          <a:lstStyle/>
          <a:p>
            <a:pPr indent="0" marL="0">
              <a:buNone/>
            </a:pPr>
            <a:r>
              <a:rPr lang="en-US" sz="1300" dirty="0">
                <a:solidFill>
                  <a:srgbClr val="70AD47"/>
                </a:solidFill>
                <a:latin typeface="Courier New" pitchFamily="34" charset="0"/>
                <a:ea typeface="Courier New" pitchFamily="34" charset="-122"/>
                <a:cs typeface="Courier New" pitchFamily="34" charset="-120"/>
              </a:rPr>
              <a:t>solver.Minimize(10*x + 15*y + 20*z)</a:t>
            </a:r>
            <a:endParaRPr lang="en-US" sz="1300" dirty="0"/>
          </a:p>
        </p:txBody>
      </p:sp>
      <p:sp>
        <p:nvSpPr>
          <p:cNvPr id="13" name="Text 11"/>
          <p:cNvSpPr txBox="1"/>
          <p:nvPr/>
        </p:nvSpPr>
        <p:spPr>
          <a:xfrm>
            <a:off x="4709160" y="4434840"/>
            <a:ext cx="2194560" cy="457200"/>
          </a:xfrm>
          <a:prstGeom prst="rect">
            <a:avLst/>
          </a:prstGeom>
          <a:noFill/>
          <a:ln/>
        </p:spPr>
        <p:txBody>
          <a:bodyPr wrap="square" lIns="0" tIns="0" rIns="0" bIns="0" rtlCol="0" anchor="ctr"/>
          <a:lstStyle/>
          <a:p>
            <a:pPr indent="0" marL="0">
              <a:buNone/>
            </a:pPr>
            <a:r>
              <a:rPr lang="en-US" sz="1300" b="1" dirty="0">
                <a:solidFill>
                  <a:srgbClr val="70AD47"/>
                </a:solidFill>
              </a:rPr>
              <a:t>✓ 20000 · 0.6k tokens (thinking: 5.3k)</a:t>
            </a:r>
            <a:endParaRPr lang="en-US" sz="1300" dirty="0"/>
          </a:p>
        </p:txBody>
      </p:sp>
      <p:graphicFrame>
        <p:nvGraphicFramePr>
          <p:cNvPr id="14" name="automatic fact on held-out MAMO" descr=""/>
          <p:cNvGraphicFramePr/>
          <p:nvPr/>
        </p:nvGraphicFramePr>
        <p:xfrm>
          <a:off x="7040880" y="1691640"/>
          <a:ext cx="4572000" cy="3291840"/>
        </p:xfrm>
        <a:graphic xmlns:a="http://schemas.openxmlformats.org/drawingml/2006/main">
          <a:graphicData uri="http://schemas.openxmlformats.org/drawingml/2006/chart">
            <c:chart xmlns:c="http://schemas.openxmlformats.org/drawingml/2006/chart" r:id="rId1"/>
          </a:graphicData>
        </a:graphic>
      </p:graphicFrame>
      <p:sp>
        <p:nvSpPr>
          <p:cNvPr id="15" name="Text 12"/>
          <p:cNvSpPr txBox="1"/>
          <p:nvPr/>
        </p:nvSpPr>
        <p:spPr>
          <a:xfrm>
            <a:off x="7040880" y="5029200"/>
            <a:ext cx="4572000" cy="548640"/>
          </a:xfrm>
          <a:prstGeom prst="rect">
            <a:avLst/>
          </a:prstGeom>
          <a:noFill/>
          <a:ln/>
        </p:spPr>
        <p:txBody>
          <a:bodyPr wrap="square" lIns="0" tIns="0" rIns="0" bIns="0" rtlCol="0" anchor="t"/>
          <a:lstStyle/>
          <a:p>
            <a:pPr indent="0" marL="0">
              <a:buNone/>
            </a:pPr>
            <a:r>
              <a:rPr lang="en-US" sz="1300" dirty="0">
                <a:solidFill>
                  <a:srgbClr val="C00000"/>
                </a:solidFill>
              </a:rPr>
              <a:t>Does not work: a program of a different problem type (−14 to −21 points); a list of the library's names (66% → 56%)</a:t>
            </a:r>
            <a:endParaRPr lang="en-US" sz="1300" dirty="0"/>
          </a:p>
        </p:txBody>
      </p:sp>
      <p:sp>
        <p:nvSpPr>
          <p:cNvPr id="16" name="Text 13"/>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No human writes the fact: the model's own checked program shows the right call</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Finding 7: proofs need a specialized model, not a fact</a:t>
            </a:r>
            <a:endParaRPr lang="en-US" sz="3600" dirty="0"/>
          </a:p>
        </p:txBody>
      </p:sp>
      <p:sp>
        <p:nvSpPr>
          <p:cNvPr id="3" name="Text 1"/>
          <p:cNvSpPr txBox="1"/>
          <p:nvPr/>
        </p:nvSpPr>
        <p:spPr>
          <a:xfrm>
            <a:off x="548640" y="1188720"/>
            <a:ext cx="6035040" cy="411480"/>
          </a:xfrm>
          <a:prstGeom prst="rect">
            <a:avLst/>
          </a:prstGeom>
          <a:noFill/>
          <a:ln/>
        </p:spPr>
        <p:txBody>
          <a:bodyPr wrap="square" lIns="0" tIns="0" rIns="0" bIns="0" rtlCol="0" anchor="ctr"/>
          <a:lstStyle/>
          <a:p>
            <a:pPr indent="0" marL="0">
              <a:buNone/>
            </a:pPr>
            <a:r>
              <a:rPr lang="en-US" sz="1600" dirty="0">
                <a:solidFill>
                  <a:schemeClr val="tx1"/>
                </a:solidFill>
              </a:rPr>
              <a:t>Example (miniF2F): show that if x &lt; 100 and 9x mod 100 = 1, then x = 89</a:t>
            </a:r>
            <a:endParaRPr lang="en-US" sz="1600" dirty="0"/>
          </a:p>
        </p:txBody>
      </p:sp>
      <p:sp>
        <p:nvSpPr>
          <p:cNvPr id="4" name="code theorem (x : ℕ) (h₀ "/>
          <p:cNvSpPr/>
          <p:nvPr/>
        </p:nvSpPr>
        <p:spPr>
          <a:xfrm>
            <a:off x="548640" y="1645920"/>
            <a:ext cx="6035040" cy="457200"/>
          </a:xfrm>
          <a:prstGeom prst="rect">
            <a:avLst/>
          </a:prstGeom>
          <a:solidFill>
            <a:srgbClr val="FFFFFF"/>
          </a:solidFill>
          <a:ln w="9525">
            <a:solidFill>
              <a:srgbClr val="BFBFBF"/>
            </a:solidFill>
            <a:prstDash val="solid"/>
          </a:ln>
        </p:spPr>
      </p:sp>
      <p:sp>
        <p:nvSpPr>
          <p:cNvPr id="5" name="Text 3"/>
          <p:cNvSpPr txBox="1"/>
          <p:nvPr/>
        </p:nvSpPr>
        <p:spPr>
          <a:xfrm>
            <a:off x="658368" y="1645920"/>
            <a:ext cx="5815584" cy="457200"/>
          </a:xfrm>
          <a:prstGeom prst="rect">
            <a:avLst/>
          </a:prstGeom>
          <a:noFill/>
          <a:ln/>
        </p:spPr>
        <p:txBody>
          <a:bodyPr wrap="square" lIns="0" tIns="0" rIns="0" bIns="0" rtlCol="0" anchor="ctr"/>
          <a:lstStyle/>
          <a:p>
            <a:pPr indent="0" marL="0">
              <a:buNone/>
            </a:pPr>
            <a:r>
              <a:rPr lang="en-US" sz="1200" dirty="0">
                <a:solidFill>
                  <a:schemeClr val="tx1"/>
                </a:solidFill>
                <a:latin typeface="Courier New" pitchFamily="34" charset="0"/>
                <a:ea typeface="Courier New" pitchFamily="34" charset="-122"/>
                <a:cs typeface="Courier New" pitchFamily="34" charset="-120"/>
              </a:rPr>
              <a:t>theorem (x : ℕ) (h₀ : x &lt; 100) (h₁ : x * 9 % 100 = 1) : x = 89</a:t>
            </a:r>
            <a:endParaRPr lang="en-US" sz="1200" dirty="0"/>
          </a:p>
        </p:txBody>
      </p:sp>
      <p:sp>
        <p:nvSpPr>
          <p:cNvPr id="6" name="Text 4"/>
          <p:cNvSpPr txBox="1"/>
          <p:nvPr/>
        </p:nvSpPr>
        <p:spPr>
          <a:xfrm>
            <a:off x="548640" y="22402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General model (Qwen3-32B)</a:t>
            </a:r>
            <a:endParaRPr lang="en-US" sz="1500" dirty="0"/>
          </a:p>
        </p:txBody>
      </p:sp>
      <p:sp>
        <p:nvSpPr>
          <p:cNvPr id="7" name="code ... Nat.ModEq_iff_mo"/>
          <p:cNvSpPr/>
          <p:nvPr/>
        </p:nvSpPr>
        <p:spPr>
          <a:xfrm>
            <a:off x="548640" y="2560320"/>
            <a:ext cx="3291840" cy="457200"/>
          </a:xfrm>
          <a:prstGeom prst="rect">
            <a:avLst/>
          </a:prstGeom>
          <a:solidFill>
            <a:srgbClr val="FFFFFF"/>
          </a:solidFill>
          <a:ln w="9525">
            <a:solidFill>
              <a:srgbClr val="BFBFBF"/>
            </a:solidFill>
            <a:prstDash val="solid"/>
          </a:ln>
        </p:spPr>
      </p:sp>
      <p:sp>
        <p:nvSpPr>
          <p:cNvPr id="8" name="Text 6"/>
          <p:cNvSpPr txBox="1"/>
          <p:nvPr/>
        </p:nvSpPr>
        <p:spPr>
          <a:xfrm>
            <a:off x="658368" y="2560320"/>
            <a:ext cx="3072384" cy="457200"/>
          </a:xfrm>
          <a:prstGeom prst="rect">
            <a:avLst/>
          </a:prstGeom>
          <a:noFill/>
          <a:ln/>
        </p:spPr>
        <p:txBody>
          <a:bodyPr wrap="square" lIns="0" tIns="0" rIns="0" bIns="0" rtlCol="0" anchor="ctr"/>
          <a:lstStyle/>
          <a:p>
            <a:pPr indent="0" marL="0">
              <a:buNone/>
            </a:pPr>
            <a:r>
              <a:rPr lang="en-US" sz="1300" dirty="0">
                <a:solidFill>
                  <a:srgbClr val="C00000"/>
                </a:solidFill>
                <a:latin typeface="Courier New" pitchFamily="34" charset="0"/>
                <a:ea typeface="Courier New" pitchFamily="34" charset="-122"/>
                <a:cs typeface="Courier New" pitchFamily="34" charset="-120"/>
              </a:rPr>
              <a:t>... Nat.ModEq_iff_modEq ...</a:t>
            </a:r>
            <a:endParaRPr lang="en-US" sz="1300" dirty="0"/>
          </a:p>
        </p:txBody>
      </p:sp>
      <p:sp>
        <p:nvSpPr>
          <p:cNvPr id="9" name="Text 7"/>
          <p:cNvSpPr txBox="1"/>
          <p:nvPr/>
        </p:nvSpPr>
        <p:spPr>
          <a:xfrm>
            <a:off x="3977640" y="2560320"/>
            <a:ext cx="2651760" cy="457200"/>
          </a:xfrm>
          <a:prstGeom prst="rect">
            <a:avLst/>
          </a:prstGeom>
          <a:noFill/>
          <a:ln/>
        </p:spPr>
        <p:txBody>
          <a:bodyPr wrap="square" lIns="0" tIns="0" rIns="0" bIns="0" rtlCol="0" anchor="ctr"/>
          <a:lstStyle/>
          <a:p>
            <a:pPr indent="0" marL="0">
              <a:buNone/>
            </a:pPr>
            <a:r>
              <a:rPr lang="en-US" sz="1400" b="1" dirty="0">
                <a:solidFill>
                  <a:srgbClr val="C00000"/>
                </a:solidFill>
              </a:rPr>
              <a:t>✗ no such lemma in the library</a:t>
            </a:r>
            <a:endParaRPr lang="en-US" sz="1400" dirty="0"/>
          </a:p>
        </p:txBody>
      </p:sp>
      <p:sp>
        <p:nvSpPr>
          <p:cNvPr id="10" name="Text 8"/>
          <p:cNvSpPr txBox="1"/>
          <p:nvPr/>
        </p:nvSpPr>
        <p:spPr>
          <a:xfrm>
            <a:off x="548640" y="3154680"/>
            <a:ext cx="6035040" cy="320040"/>
          </a:xfrm>
          <a:prstGeom prst="rect">
            <a:avLst/>
          </a:prstGeom>
          <a:noFill/>
          <a:ln/>
        </p:spPr>
        <p:txBody>
          <a:bodyPr wrap="square" lIns="0" tIns="0" rIns="0" bIns="0" rtlCol="0" anchor="ctr"/>
          <a:lstStyle/>
          <a:p>
            <a:pPr indent="0" marL="0">
              <a:buNone/>
            </a:pPr>
            <a:r>
              <a:rPr lang="en-US" sz="1500" b="1" dirty="0">
                <a:solidFill>
                  <a:schemeClr val="tx1"/>
                </a:solidFill>
              </a:rPr>
              <a:t>Specialized prover (Goedel-Prover-V2-8B)</a:t>
            </a:r>
            <a:endParaRPr lang="en-US" sz="1500" dirty="0"/>
          </a:p>
        </p:txBody>
      </p:sp>
      <p:sp>
        <p:nvSpPr>
          <p:cNvPr id="11" name="code interval_cases x &lt;;&gt;"/>
          <p:cNvSpPr/>
          <p:nvPr/>
        </p:nvSpPr>
        <p:spPr>
          <a:xfrm>
            <a:off x="548640" y="3474720"/>
            <a:ext cx="4754880" cy="457200"/>
          </a:xfrm>
          <a:prstGeom prst="rect">
            <a:avLst/>
          </a:prstGeom>
          <a:solidFill>
            <a:srgbClr val="FFFFFF"/>
          </a:solidFill>
          <a:ln w="9525">
            <a:solidFill>
              <a:srgbClr val="BFBFBF"/>
            </a:solidFill>
            <a:prstDash val="solid"/>
          </a:ln>
        </p:spPr>
      </p:sp>
      <p:sp>
        <p:nvSpPr>
          <p:cNvPr id="12" name="Text 10"/>
          <p:cNvSpPr txBox="1"/>
          <p:nvPr/>
        </p:nvSpPr>
        <p:spPr>
          <a:xfrm>
            <a:off x="658368" y="3474720"/>
            <a:ext cx="4535424" cy="457200"/>
          </a:xfrm>
          <a:prstGeom prst="rect">
            <a:avLst/>
          </a:prstGeom>
          <a:noFill/>
          <a:ln/>
        </p:spPr>
        <p:txBody>
          <a:bodyPr wrap="square" lIns="0" tIns="0" rIns="0" bIns="0" rtlCol="0" anchor="ctr"/>
          <a:lstStyle/>
          <a:p>
            <a:pPr indent="0" marL="0">
              <a:buNone/>
            </a:pPr>
            <a:r>
              <a:rPr lang="en-US" sz="1200" dirty="0">
                <a:solidFill>
                  <a:srgbClr val="70AD47"/>
                </a:solidFill>
                <a:latin typeface="Courier New" pitchFamily="34" charset="0"/>
                <a:ea typeface="Courier New" pitchFamily="34" charset="-122"/>
                <a:cs typeface="Courier New" pitchFamily="34" charset="-120"/>
              </a:rPr>
              <a:t>interval_cases x &lt;;&gt; norm_num at h₁ ⊢ &lt;;&gt; omega</a:t>
            </a:r>
            <a:endParaRPr lang="en-US" sz="1200" dirty="0"/>
          </a:p>
        </p:txBody>
      </p:sp>
      <p:sp>
        <p:nvSpPr>
          <p:cNvPr id="13" name="Text 11"/>
          <p:cNvSpPr txBox="1"/>
          <p:nvPr/>
        </p:nvSpPr>
        <p:spPr>
          <a:xfrm>
            <a:off x="5394960" y="3474720"/>
            <a:ext cx="1371600" cy="457200"/>
          </a:xfrm>
          <a:prstGeom prst="rect">
            <a:avLst/>
          </a:prstGeom>
          <a:noFill/>
          <a:ln/>
        </p:spPr>
        <p:txBody>
          <a:bodyPr wrap="square" lIns="0" tIns="0" rIns="0" bIns="0" rtlCol="0" anchor="ctr"/>
          <a:lstStyle/>
          <a:p>
            <a:pPr indent="0" marL="0">
              <a:buNone/>
            </a:pPr>
            <a:r>
              <a:rPr lang="en-US" sz="1400" b="1" dirty="0">
                <a:solidFill>
                  <a:srgbClr val="70AD47"/>
                </a:solidFill>
              </a:rPr>
              <a:t>✓ tries all 100 x</a:t>
            </a:r>
            <a:endParaRPr lang="en-US" sz="1400" dirty="0"/>
          </a:p>
        </p:txBody>
      </p:sp>
      <p:sp>
        <p:nvSpPr>
          <p:cNvPr id="14" name="Text 12"/>
          <p:cNvSpPr txBox="1"/>
          <p:nvPr/>
        </p:nvSpPr>
        <p:spPr>
          <a:xfrm>
            <a:off x="6949440" y="1188720"/>
            <a:ext cx="4663440" cy="411480"/>
          </a:xfrm>
          <a:prstGeom prst="rect">
            <a:avLst/>
          </a:prstGeom>
          <a:noFill/>
          <a:ln/>
        </p:spPr>
        <p:txBody>
          <a:bodyPr wrap="square" lIns="0" tIns="0" rIns="0" bIns="0" rtlCol="0" anchor="ctr"/>
          <a:lstStyle/>
          <a:p>
            <a:pPr indent="0" marL="0">
              <a:buNone/>
            </a:pPr>
            <a:r>
              <a:rPr lang="en-US" sz="1500" b="1" dirty="0">
                <a:solidFill>
                  <a:schemeClr val="tx1"/>
                </a:solidFill>
              </a:rPr>
              <a:t>244 statements, 8 tries each: % proved</a:t>
            </a:r>
            <a:endParaRPr lang="en-US" sz="1500" dirty="0"/>
          </a:p>
        </p:txBody>
      </p:sp>
      <p:sp>
        <p:nvSpPr>
          <p:cNvPr id="15" name="Text 13"/>
          <p:cNvSpPr txBox="1"/>
          <p:nvPr/>
        </p:nvSpPr>
        <p:spPr>
          <a:xfrm>
            <a:off x="6949440" y="16459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Qwen3-32B</a:t>
            </a:r>
            <a:endParaRPr lang="en-US" sz="1600" dirty="0"/>
          </a:p>
        </p:txBody>
      </p:sp>
      <p:sp>
        <p:nvSpPr>
          <p:cNvPr id="16" name="bar Qwen3-32B"/>
          <p:cNvSpPr/>
          <p:nvPr/>
        </p:nvSpPr>
        <p:spPr>
          <a:xfrm>
            <a:off x="8915400" y="1714500"/>
            <a:ext cx="249677" cy="228600"/>
          </a:xfrm>
          <a:prstGeom prst="rect">
            <a:avLst/>
          </a:prstGeom>
          <a:solidFill>
            <a:srgbClr val="A5A5A5"/>
          </a:solidFill>
          <a:ln w="6350">
            <a:solidFill>
              <a:srgbClr val="A5A5A5"/>
            </a:solidFill>
            <a:prstDash val="solid"/>
          </a:ln>
        </p:spPr>
      </p:sp>
      <p:sp>
        <p:nvSpPr>
          <p:cNvPr id="17" name="Text 15"/>
          <p:cNvSpPr txBox="1"/>
          <p:nvPr/>
        </p:nvSpPr>
        <p:spPr>
          <a:xfrm>
            <a:off x="9256517" y="16459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13%</a:t>
            </a:r>
            <a:endParaRPr lang="en-US" sz="1800" dirty="0"/>
          </a:p>
        </p:txBody>
      </p:sp>
      <p:sp>
        <p:nvSpPr>
          <p:cNvPr id="18" name="Text 16"/>
          <p:cNvSpPr txBox="1"/>
          <p:nvPr/>
        </p:nvSpPr>
        <p:spPr>
          <a:xfrm>
            <a:off x="6949440" y="21031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gpt-oss-20b</a:t>
            </a:r>
            <a:endParaRPr lang="en-US" sz="1600" dirty="0"/>
          </a:p>
        </p:txBody>
      </p:sp>
      <p:sp>
        <p:nvSpPr>
          <p:cNvPr id="19" name="bar gpt-oss-20b"/>
          <p:cNvSpPr/>
          <p:nvPr/>
        </p:nvSpPr>
        <p:spPr>
          <a:xfrm>
            <a:off x="8915400" y="2171700"/>
            <a:ext cx="530809" cy="228600"/>
          </a:xfrm>
          <a:prstGeom prst="rect">
            <a:avLst/>
          </a:prstGeom>
          <a:solidFill>
            <a:srgbClr val="A5A5A5"/>
          </a:solidFill>
          <a:ln w="6350">
            <a:solidFill>
              <a:srgbClr val="A5A5A5"/>
            </a:solidFill>
            <a:prstDash val="solid"/>
          </a:ln>
        </p:spPr>
      </p:sp>
      <p:sp>
        <p:nvSpPr>
          <p:cNvPr id="20" name="Text 18"/>
          <p:cNvSpPr txBox="1"/>
          <p:nvPr/>
        </p:nvSpPr>
        <p:spPr>
          <a:xfrm>
            <a:off x="9537649" y="21031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27%</a:t>
            </a:r>
            <a:endParaRPr lang="en-US" sz="1800" dirty="0"/>
          </a:p>
        </p:txBody>
      </p:sp>
      <p:sp>
        <p:nvSpPr>
          <p:cNvPr id="21" name="Text 19"/>
          <p:cNvSpPr txBox="1"/>
          <p:nvPr/>
        </p:nvSpPr>
        <p:spPr>
          <a:xfrm>
            <a:off x="6949440" y="25603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Qwen3.6-35B</a:t>
            </a:r>
            <a:endParaRPr lang="en-US" sz="1600" dirty="0"/>
          </a:p>
        </p:txBody>
      </p:sp>
      <p:sp>
        <p:nvSpPr>
          <p:cNvPr id="22" name="bar Qwen3.6-35B"/>
          <p:cNvSpPr/>
          <p:nvPr/>
        </p:nvSpPr>
        <p:spPr>
          <a:xfrm>
            <a:off x="8915400" y="2628900"/>
            <a:ext cx="1071448" cy="228600"/>
          </a:xfrm>
          <a:prstGeom prst="rect">
            <a:avLst/>
          </a:prstGeom>
          <a:solidFill>
            <a:srgbClr val="A5A5A5"/>
          </a:solidFill>
          <a:ln w="6350">
            <a:solidFill>
              <a:srgbClr val="A5A5A5"/>
            </a:solidFill>
            <a:prstDash val="solid"/>
          </a:ln>
        </p:spPr>
      </p:sp>
      <p:sp>
        <p:nvSpPr>
          <p:cNvPr id="23" name="Text 21"/>
          <p:cNvSpPr txBox="1"/>
          <p:nvPr/>
        </p:nvSpPr>
        <p:spPr>
          <a:xfrm>
            <a:off x="10078288" y="2560320"/>
            <a:ext cx="685800" cy="365760"/>
          </a:xfrm>
          <a:prstGeom prst="rect">
            <a:avLst/>
          </a:prstGeom>
          <a:noFill/>
          <a:ln/>
        </p:spPr>
        <p:txBody>
          <a:bodyPr wrap="square" lIns="0" tIns="0" rIns="0" bIns="0" rtlCol="0" anchor="ctr"/>
          <a:lstStyle/>
          <a:p>
            <a:pPr indent="0" marL="0">
              <a:buNone/>
            </a:pPr>
            <a:r>
              <a:rPr lang="en-US" sz="1800" b="1" dirty="0">
                <a:solidFill>
                  <a:srgbClr val="A5A5A5"/>
                </a:solidFill>
              </a:rPr>
              <a:t>55%</a:t>
            </a:r>
            <a:endParaRPr lang="en-US" sz="1800" dirty="0"/>
          </a:p>
        </p:txBody>
      </p:sp>
      <p:sp>
        <p:nvSpPr>
          <p:cNvPr id="24" name="Text 22"/>
          <p:cNvSpPr txBox="1"/>
          <p:nvPr/>
        </p:nvSpPr>
        <p:spPr>
          <a:xfrm>
            <a:off x="6949440" y="30175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DeepSeek-Prover-7B</a:t>
            </a:r>
            <a:endParaRPr lang="en-US" sz="1600" dirty="0"/>
          </a:p>
        </p:txBody>
      </p:sp>
      <p:sp>
        <p:nvSpPr>
          <p:cNvPr id="25" name="bar DeepSeek-Prover-7B"/>
          <p:cNvSpPr/>
          <p:nvPr/>
        </p:nvSpPr>
        <p:spPr>
          <a:xfrm>
            <a:off x="8915400" y="3086100"/>
            <a:ext cx="1328989" cy="228600"/>
          </a:xfrm>
          <a:prstGeom prst="rect">
            <a:avLst/>
          </a:prstGeom>
          <a:solidFill>
            <a:srgbClr val="5B9BD5"/>
          </a:solidFill>
          <a:ln w="6350">
            <a:solidFill>
              <a:srgbClr val="5B9BD5"/>
            </a:solidFill>
            <a:prstDash val="solid"/>
          </a:ln>
        </p:spPr>
      </p:sp>
      <p:sp>
        <p:nvSpPr>
          <p:cNvPr id="26" name="Text 24"/>
          <p:cNvSpPr txBox="1"/>
          <p:nvPr/>
        </p:nvSpPr>
        <p:spPr>
          <a:xfrm>
            <a:off x="10335829" y="3017520"/>
            <a:ext cx="685800" cy="365760"/>
          </a:xfrm>
          <a:prstGeom prst="rect">
            <a:avLst/>
          </a:prstGeom>
          <a:noFill/>
          <a:ln/>
        </p:spPr>
        <p:txBody>
          <a:bodyPr wrap="square" lIns="0" tIns="0" rIns="0" bIns="0" rtlCol="0" anchor="ctr"/>
          <a:lstStyle/>
          <a:p>
            <a:pPr indent="0" marL="0">
              <a:buNone/>
            </a:pPr>
            <a:r>
              <a:rPr lang="en-US" sz="1800" b="1" dirty="0">
                <a:solidFill>
                  <a:srgbClr val="5B9BD5"/>
                </a:solidFill>
              </a:rPr>
              <a:t>68%</a:t>
            </a:r>
            <a:endParaRPr lang="en-US" sz="1800" dirty="0"/>
          </a:p>
        </p:txBody>
      </p:sp>
      <p:sp>
        <p:nvSpPr>
          <p:cNvPr id="27" name="Text 25"/>
          <p:cNvSpPr txBox="1"/>
          <p:nvPr/>
        </p:nvSpPr>
        <p:spPr>
          <a:xfrm>
            <a:off x="6949440" y="3474720"/>
            <a:ext cx="1828800" cy="365760"/>
          </a:xfrm>
          <a:prstGeom prst="rect">
            <a:avLst/>
          </a:prstGeom>
          <a:noFill/>
          <a:ln/>
        </p:spPr>
        <p:txBody>
          <a:bodyPr wrap="square" lIns="0" tIns="0" rIns="0" bIns="0" rtlCol="0" anchor="ctr"/>
          <a:lstStyle/>
          <a:p>
            <a:pPr algn="r" indent="0" marL="0">
              <a:buNone/>
            </a:pPr>
            <a:r>
              <a:rPr lang="en-US" sz="1600" dirty="0">
                <a:solidFill>
                  <a:schemeClr val="tx1"/>
                </a:solidFill>
              </a:rPr>
              <a:t>Goedel-Prover-8B</a:t>
            </a:r>
            <a:endParaRPr lang="en-US" sz="1600" dirty="0"/>
          </a:p>
        </p:txBody>
      </p:sp>
      <p:sp>
        <p:nvSpPr>
          <p:cNvPr id="28" name="bar Goedel-Prover-8B"/>
          <p:cNvSpPr/>
          <p:nvPr/>
        </p:nvSpPr>
        <p:spPr>
          <a:xfrm>
            <a:off x="8915400" y="3543300"/>
            <a:ext cx="1450878" cy="228600"/>
          </a:xfrm>
          <a:prstGeom prst="rect">
            <a:avLst/>
          </a:prstGeom>
          <a:solidFill>
            <a:srgbClr val="4472C4"/>
          </a:solidFill>
          <a:ln w="6350">
            <a:solidFill>
              <a:srgbClr val="4472C4"/>
            </a:solidFill>
            <a:prstDash val="solid"/>
          </a:ln>
        </p:spPr>
      </p:sp>
      <p:sp>
        <p:nvSpPr>
          <p:cNvPr id="29" name="Text 27"/>
          <p:cNvSpPr txBox="1"/>
          <p:nvPr/>
        </p:nvSpPr>
        <p:spPr>
          <a:xfrm>
            <a:off x="10457718" y="3474720"/>
            <a:ext cx="685800" cy="365760"/>
          </a:xfrm>
          <a:prstGeom prst="rect">
            <a:avLst/>
          </a:prstGeom>
          <a:noFill/>
          <a:ln/>
        </p:spPr>
        <p:txBody>
          <a:bodyPr wrap="square" lIns="0" tIns="0" rIns="0" bIns="0" rtlCol="0" anchor="ctr"/>
          <a:lstStyle/>
          <a:p>
            <a:pPr indent="0" marL="0">
              <a:buNone/>
            </a:pPr>
            <a:r>
              <a:rPr lang="en-US" sz="1800" b="1" dirty="0">
                <a:solidFill>
                  <a:srgbClr val="4472C4"/>
                </a:solidFill>
              </a:rPr>
              <a:t>74%</a:t>
            </a:r>
            <a:endParaRPr lang="en-US" sz="1800" dirty="0"/>
          </a:p>
        </p:txBody>
      </p:sp>
      <p:sp>
        <p:nvSpPr>
          <p:cNvPr id="30" name="Text 28"/>
          <p:cNvSpPr txBox="1"/>
          <p:nvPr/>
        </p:nvSpPr>
        <p:spPr>
          <a:xfrm>
            <a:off x="548640" y="42062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For general models no step helps: a similar verified proof 133 → 133 · thinking 133 → 129 · an inequality fact sheet 24 → 21; fixing a proof from Lean's errors works half as well as a fresh try</a:t>
            </a:r>
            <a:endParaRPr lang="en-US" sz="1500" dirty="0"/>
          </a:p>
        </p:txBody>
      </p:sp>
      <p:sp>
        <p:nvSpPr>
          <p:cNvPr id="31" name="Text 29"/>
          <p:cNvSpPr txBox="1"/>
          <p:nvPr/>
        </p:nvSpPr>
        <p:spPr>
          <a:xfrm>
            <a:off x="548640" y="4892040"/>
            <a:ext cx="11064240" cy="640080"/>
          </a:xfrm>
          <a:prstGeom prst="rect">
            <a:avLst/>
          </a:prstGeom>
          <a:noFill/>
          <a:ln/>
        </p:spPr>
        <p:txBody>
          <a:bodyPr wrap="square" lIns="0" tIns="0" rIns="0" bIns="0" rtlCol="0" anchor="ctr"/>
          <a:lstStyle/>
          <a:p>
            <a:pPr indent="0" marL="0">
              <a:buNone/>
            </a:pPr>
            <a:r>
              <a:rPr lang="en-US" sz="1500" dirty="0">
                <a:solidFill>
                  <a:schemeClr val="tx1"/>
                </a:solidFill>
              </a:rPr>
              <a:t>Geometry proofs (AlphaGeometry's solver + LLM-proposed points): IMO 12 → 13 of 30 (only 2014 P4: "take the midpoint of BC"); easier JGEX 187 → 200 of 231</a:t>
            </a:r>
            <a:endParaRPr lang="en-US" sz="15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The missing piece is a skill, not a fact: use a specialized 8B prover (fits one 24 GB GPU)</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a recipe built from the findings</a:t>
            </a:r>
            <a:endParaRPr lang="en-US" sz="3600" dirty="0"/>
          </a:p>
        </p:txBody>
      </p:sp>
      <p:sp>
        <p:nvSpPr>
          <p:cNvPr id="3" name="step 1"/>
          <p:cNvSpPr/>
          <p:nvPr/>
        </p:nvSpPr>
        <p:spPr>
          <a:xfrm>
            <a:off x="548640" y="1554480"/>
            <a:ext cx="2651760" cy="1234440"/>
          </a:xfrm>
          <a:prstGeom prst="roundRect">
            <a:avLst>
              <a:gd name="adj" fmla="val 5926"/>
            </a:avLst>
          </a:prstGeom>
          <a:solidFill>
            <a:srgbClr val="DEEBF7"/>
          </a:solidFill>
          <a:ln w="9525">
            <a:solidFill>
              <a:srgbClr val="BDD7EE"/>
            </a:solidFill>
            <a:prstDash val="solid"/>
          </a:ln>
        </p:spPr>
      </p:sp>
      <p:sp>
        <p:nvSpPr>
          <p:cNvPr id="4" name="badge 1"/>
          <p:cNvSpPr/>
          <p:nvPr/>
        </p:nvSpPr>
        <p:spPr>
          <a:xfrm>
            <a:off x="685800" y="1828800"/>
            <a:ext cx="640080" cy="640080"/>
          </a:xfrm>
          <a:prstGeom prst="ellipse">
            <a:avLst/>
          </a:prstGeom>
          <a:solidFill>
            <a:srgbClr val="4472C4"/>
          </a:solidFill>
          <a:ln w="12700">
            <a:solidFill>
              <a:srgbClr val="4472C4"/>
            </a:solidFill>
            <a:prstDash val="solid"/>
          </a:ln>
        </p:spPr>
      </p:sp>
      <p:sp>
        <p:nvSpPr>
          <p:cNvPr id="5" name="Text 3"/>
          <p:cNvSpPr txBox="1"/>
          <p:nvPr/>
        </p:nvSpPr>
        <p:spPr>
          <a:xfrm>
            <a:off x="68580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1</a:t>
            </a:r>
            <a:endParaRPr lang="en-US" sz="2400" dirty="0"/>
          </a:p>
        </p:txBody>
      </p:sp>
      <p:sp>
        <p:nvSpPr>
          <p:cNvPr id="6" name="Text 4"/>
          <p:cNvSpPr txBox="1"/>
          <p:nvPr/>
        </p:nvSpPr>
        <p:spPr>
          <a:xfrm>
            <a:off x="141732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Write a program</a:t>
            </a:r>
            <a:endParaRPr lang="en-US" sz="1800" dirty="0"/>
          </a:p>
        </p:txBody>
      </p:sp>
      <p:sp>
        <p:nvSpPr>
          <p:cNvPr id="7" name="Text 5"/>
          <p:cNvSpPr txBox="1"/>
          <p:nvPr/>
        </p:nvSpPr>
        <p:spPr>
          <a:xfrm>
            <a:off x="54864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right on 8 of 8 copies (slide 2)</a:t>
            </a:r>
            <a:endParaRPr lang="en-US" sz="1400" dirty="0"/>
          </a:p>
        </p:txBody>
      </p:sp>
      <p:sp>
        <p:nvSpPr>
          <p:cNvPr id="8" name="Shape 6"/>
          <p:cNvSpPr/>
          <p:nvPr/>
        </p:nvSpPr>
        <p:spPr>
          <a:xfrm>
            <a:off x="3200400" y="2167128"/>
            <a:ext cx="365760" cy="0"/>
          </a:xfrm>
          <a:prstGeom prst="line">
            <a:avLst/>
          </a:prstGeom>
          <a:noFill/>
          <a:ln w="25400">
            <a:solidFill>
              <a:srgbClr val="7F7F7F"/>
            </a:solidFill>
            <a:prstDash val="solid"/>
            <a:tailEnd type="triangle"/>
          </a:ln>
        </p:spPr>
      </p:sp>
      <p:sp>
        <p:nvSpPr>
          <p:cNvPr id="9" name="step 2"/>
          <p:cNvSpPr/>
          <p:nvPr/>
        </p:nvSpPr>
        <p:spPr>
          <a:xfrm>
            <a:off x="3566160" y="1554480"/>
            <a:ext cx="2743200" cy="1234440"/>
          </a:xfrm>
          <a:prstGeom prst="roundRect">
            <a:avLst>
              <a:gd name="adj" fmla="val 5926"/>
            </a:avLst>
          </a:prstGeom>
          <a:solidFill>
            <a:srgbClr val="DEEBF7"/>
          </a:solidFill>
          <a:ln w="9525">
            <a:solidFill>
              <a:srgbClr val="BDD7EE"/>
            </a:solidFill>
            <a:prstDash val="solid"/>
          </a:ln>
        </p:spPr>
      </p:sp>
      <p:sp>
        <p:nvSpPr>
          <p:cNvPr id="10" name="badge 2"/>
          <p:cNvSpPr/>
          <p:nvPr/>
        </p:nvSpPr>
        <p:spPr>
          <a:xfrm>
            <a:off x="3703320" y="1828800"/>
            <a:ext cx="640080" cy="640080"/>
          </a:xfrm>
          <a:prstGeom prst="ellipse">
            <a:avLst/>
          </a:prstGeom>
          <a:solidFill>
            <a:srgbClr val="4472C4"/>
          </a:solidFill>
          <a:ln w="12700">
            <a:solidFill>
              <a:srgbClr val="4472C4"/>
            </a:solidFill>
            <a:prstDash val="solid"/>
          </a:ln>
        </p:spPr>
      </p:sp>
      <p:sp>
        <p:nvSpPr>
          <p:cNvPr id="11" name="Text 9"/>
          <p:cNvSpPr txBox="1"/>
          <p:nvPr/>
        </p:nvSpPr>
        <p:spPr>
          <a:xfrm>
            <a:off x="370332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2</a:t>
            </a:r>
            <a:endParaRPr lang="en-US" sz="2400" dirty="0"/>
          </a:p>
        </p:txBody>
      </p:sp>
      <p:sp>
        <p:nvSpPr>
          <p:cNvPr id="12" name="Text 10"/>
          <p:cNvSpPr txBox="1"/>
          <p:nvPr/>
        </p:nvSpPr>
        <p:spPr>
          <a:xfrm>
            <a:off x="4434840" y="1645920"/>
            <a:ext cx="1783080" cy="1051560"/>
          </a:xfrm>
          <a:prstGeom prst="rect">
            <a:avLst/>
          </a:prstGeom>
          <a:noFill/>
          <a:ln/>
        </p:spPr>
        <p:txBody>
          <a:bodyPr wrap="square" lIns="0" tIns="0" rIns="0" bIns="0" rtlCol="0" anchor="ctr"/>
          <a:lstStyle/>
          <a:p>
            <a:pPr indent="0" marL="0">
              <a:buNone/>
            </a:pPr>
            <a:r>
              <a:rPr lang="en-US" sz="1800" b="1" dirty="0">
                <a:solidFill>
                  <a:schemeClr val="tx1"/>
                </a:solidFill>
              </a:rPr>
              <a:t>Add the missing fact</a:t>
            </a:r>
            <a:endParaRPr lang="en-US" sz="1800" dirty="0"/>
          </a:p>
        </p:txBody>
      </p:sp>
      <p:sp>
        <p:nvSpPr>
          <p:cNvPr id="13" name="Text 11"/>
          <p:cNvSpPr txBox="1"/>
          <p:nvPr/>
        </p:nvSpPr>
        <p:spPr>
          <a:xfrm>
            <a:off x="3566160" y="2852928"/>
            <a:ext cx="2743200" cy="685800"/>
          </a:xfrm>
          <a:prstGeom prst="rect">
            <a:avLst/>
          </a:prstGeom>
          <a:noFill/>
          <a:ln/>
        </p:spPr>
        <p:txBody>
          <a:bodyPr wrap="square" lIns="0" tIns="0" rIns="0" bIns="0" rtlCol="0" anchor="t"/>
          <a:lstStyle/>
          <a:p>
            <a:pPr algn="ctr" indent="0" marL="0">
              <a:buNone/>
            </a:pPr>
            <a:r>
              <a:rPr lang="en-US" sz="1400" dirty="0">
                <a:solidFill>
                  <a:schemeClr val="tx2"/>
                </a:solidFill>
              </a:rPr>
              <a:t>23% → 77–90%; can be automatic (findings 1, 2, 6)</a:t>
            </a:r>
            <a:endParaRPr lang="en-US" sz="1400" dirty="0"/>
          </a:p>
        </p:txBody>
      </p:sp>
      <p:sp>
        <p:nvSpPr>
          <p:cNvPr id="14" name="Shape 12"/>
          <p:cNvSpPr/>
          <p:nvPr/>
        </p:nvSpPr>
        <p:spPr>
          <a:xfrm>
            <a:off x="6309360" y="2167128"/>
            <a:ext cx="365760" cy="0"/>
          </a:xfrm>
          <a:prstGeom prst="line">
            <a:avLst/>
          </a:prstGeom>
          <a:noFill/>
          <a:ln w="25400">
            <a:solidFill>
              <a:srgbClr val="7F7F7F"/>
            </a:solidFill>
            <a:prstDash val="solid"/>
            <a:tailEnd type="triangle"/>
          </a:ln>
        </p:spPr>
      </p:sp>
      <p:sp>
        <p:nvSpPr>
          <p:cNvPr id="15" name="step 3"/>
          <p:cNvSpPr/>
          <p:nvPr/>
        </p:nvSpPr>
        <p:spPr>
          <a:xfrm>
            <a:off x="6675120" y="1554480"/>
            <a:ext cx="2651760" cy="1234440"/>
          </a:xfrm>
          <a:prstGeom prst="roundRect">
            <a:avLst>
              <a:gd name="adj" fmla="val 5926"/>
            </a:avLst>
          </a:prstGeom>
          <a:solidFill>
            <a:srgbClr val="DEEBF7"/>
          </a:solidFill>
          <a:ln w="9525">
            <a:solidFill>
              <a:srgbClr val="BDD7EE"/>
            </a:solidFill>
            <a:prstDash val="solid"/>
          </a:ln>
        </p:spPr>
      </p:sp>
      <p:sp>
        <p:nvSpPr>
          <p:cNvPr id="16" name="badge 3"/>
          <p:cNvSpPr/>
          <p:nvPr/>
        </p:nvSpPr>
        <p:spPr>
          <a:xfrm>
            <a:off x="6812280" y="1828800"/>
            <a:ext cx="640080" cy="640080"/>
          </a:xfrm>
          <a:prstGeom prst="ellipse">
            <a:avLst/>
          </a:prstGeom>
          <a:solidFill>
            <a:srgbClr val="4472C4"/>
          </a:solidFill>
          <a:ln w="12700">
            <a:solidFill>
              <a:srgbClr val="4472C4"/>
            </a:solidFill>
            <a:prstDash val="solid"/>
          </a:ln>
        </p:spPr>
      </p:sp>
      <p:sp>
        <p:nvSpPr>
          <p:cNvPr id="17" name="Text 15"/>
          <p:cNvSpPr txBox="1"/>
          <p:nvPr/>
        </p:nvSpPr>
        <p:spPr>
          <a:xfrm>
            <a:off x="6812280" y="182880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3</a:t>
            </a:r>
            <a:endParaRPr lang="en-US" sz="2400" dirty="0"/>
          </a:p>
        </p:txBody>
      </p:sp>
      <p:sp>
        <p:nvSpPr>
          <p:cNvPr id="18" name="Text 16"/>
          <p:cNvSpPr txBox="1"/>
          <p:nvPr/>
        </p:nvSpPr>
        <p:spPr>
          <a:xfrm>
            <a:off x="7543800" y="1645920"/>
            <a:ext cx="1691640" cy="1051560"/>
          </a:xfrm>
          <a:prstGeom prst="rect">
            <a:avLst/>
          </a:prstGeom>
          <a:noFill/>
          <a:ln/>
        </p:spPr>
        <p:txBody>
          <a:bodyPr wrap="square" lIns="0" tIns="0" rIns="0" bIns="0" rtlCol="0" anchor="ctr"/>
          <a:lstStyle/>
          <a:p>
            <a:pPr indent="0" marL="0">
              <a:buNone/>
            </a:pPr>
            <a:r>
              <a:rPr lang="en-US" sz="1800" b="1" dirty="0">
                <a:solidFill>
                  <a:schemeClr val="tx1"/>
                </a:solidFill>
              </a:rPr>
              <a:t>Run a free check</a:t>
            </a:r>
            <a:endParaRPr lang="en-US" sz="1800" dirty="0"/>
          </a:p>
        </p:txBody>
      </p:sp>
      <p:sp>
        <p:nvSpPr>
          <p:cNvPr id="19" name="Text 17"/>
          <p:cNvSpPr txBox="1"/>
          <p:nvPr/>
        </p:nvSpPr>
        <p:spPr>
          <a:xfrm>
            <a:off x="6675120" y="2852928"/>
            <a:ext cx="2651760" cy="685800"/>
          </a:xfrm>
          <a:prstGeom prst="rect">
            <a:avLst/>
          </a:prstGeom>
          <a:noFill/>
          <a:ln/>
        </p:spPr>
        <p:txBody>
          <a:bodyPr wrap="square" lIns="0" tIns="0" rIns="0" bIns="0" rtlCol="0" anchor="t"/>
          <a:lstStyle/>
          <a:p>
            <a:pPr algn="ctr" indent="0" marL="0">
              <a:buNone/>
            </a:pPr>
            <a:r>
              <a:rPr lang="en-US" sz="1400" dirty="0">
                <a:solidFill>
                  <a:schemeClr val="tx2"/>
                </a:solidFill>
              </a:rPr>
              <a:t>examples, or two versions agree (finding 3)</a:t>
            </a:r>
            <a:endParaRPr lang="en-US" sz="1400" dirty="0"/>
          </a:p>
        </p:txBody>
      </p:sp>
      <p:sp>
        <p:nvSpPr>
          <p:cNvPr id="20" name="Shape 18"/>
          <p:cNvSpPr/>
          <p:nvPr/>
        </p:nvSpPr>
        <p:spPr>
          <a:xfrm flipV="1">
            <a:off x="9326880" y="1691640"/>
            <a:ext cx="365760" cy="228600"/>
          </a:xfrm>
          <a:prstGeom prst="line">
            <a:avLst/>
          </a:prstGeom>
          <a:noFill/>
          <a:ln w="25400">
            <a:solidFill>
              <a:srgbClr val="7F7F7F"/>
            </a:solidFill>
            <a:prstDash val="solid"/>
            <a:tailEnd type="triangle"/>
          </a:ln>
        </p:spPr>
      </p:sp>
      <p:sp>
        <p:nvSpPr>
          <p:cNvPr id="21" name="Shape 19"/>
          <p:cNvSpPr/>
          <p:nvPr/>
        </p:nvSpPr>
        <p:spPr>
          <a:xfrm>
            <a:off x="9326880" y="2423160"/>
            <a:ext cx="365760" cy="274320"/>
          </a:xfrm>
          <a:prstGeom prst="line">
            <a:avLst/>
          </a:prstGeom>
          <a:noFill/>
          <a:ln w="25400">
            <a:solidFill>
              <a:srgbClr val="7F7F7F"/>
            </a:solidFill>
            <a:prstDash val="solid"/>
            <a:tailEnd type="triangle"/>
          </a:ln>
        </p:spPr>
      </p:sp>
      <p:sp>
        <p:nvSpPr>
          <p:cNvPr id="22" name="box pass → done"/>
          <p:cNvSpPr/>
          <p:nvPr/>
        </p:nvSpPr>
        <p:spPr>
          <a:xfrm>
            <a:off x="9692640" y="1417320"/>
            <a:ext cx="1920240" cy="548640"/>
          </a:xfrm>
          <a:prstGeom prst="roundRect">
            <a:avLst>
              <a:gd name="adj" fmla="val 10000"/>
            </a:avLst>
          </a:prstGeom>
          <a:solidFill>
            <a:srgbClr val="E2F0D9"/>
          </a:solidFill>
          <a:ln w="9525">
            <a:solidFill>
              <a:srgbClr val="BFBFBF"/>
            </a:solidFill>
            <a:prstDash val="solid"/>
          </a:ln>
        </p:spPr>
      </p:sp>
      <p:sp>
        <p:nvSpPr>
          <p:cNvPr id="23" name="Text 21"/>
          <p:cNvSpPr txBox="1"/>
          <p:nvPr/>
        </p:nvSpPr>
        <p:spPr>
          <a:xfrm>
            <a:off x="9765792" y="1417320"/>
            <a:ext cx="1773936" cy="548640"/>
          </a:xfrm>
          <a:prstGeom prst="rect">
            <a:avLst/>
          </a:prstGeom>
          <a:noFill/>
          <a:ln/>
        </p:spPr>
        <p:txBody>
          <a:bodyPr wrap="square" lIns="0" tIns="0" rIns="0" bIns="0" rtlCol="0" anchor="ctr"/>
          <a:lstStyle/>
          <a:p>
            <a:pPr algn="ctr" indent="0" marL="0">
              <a:buNone/>
            </a:pPr>
            <a:r>
              <a:rPr lang="en-US" sz="1600" b="1" dirty="0">
                <a:solidFill>
                  <a:schemeClr val="tx1"/>
                </a:solidFill>
              </a:rPr>
              <a:t>pass → done</a:t>
            </a:r>
            <a:endParaRPr lang="en-US" sz="1600" dirty="0"/>
          </a:p>
        </p:txBody>
      </p:sp>
      <p:sp>
        <p:nvSpPr>
          <p:cNvPr id="24" name="box fail → 4. think hard"/>
          <p:cNvSpPr/>
          <p:nvPr/>
        </p:nvSpPr>
        <p:spPr>
          <a:xfrm>
            <a:off x="9692640" y="2423160"/>
            <a:ext cx="1920240" cy="685800"/>
          </a:xfrm>
          <a:prstGeom prst="roundRect">
            <a:avLst>
              <a:gd name="adj" fmla="val 8000"/>
            </a:avLst>
          </a:prstGeom>
          <a:solidFill>
            <a:srgbClr val="FADBD8"/>
          </a:solidFill>
          <a:ln w="9525">
            <a:solidFill>
              <a:srgbClr val="BFBFBF"/>
            </a:solidFill>
            <a:prstDash val="solid"/>
          </a:ln>
        </p:spPr>
      </p:sp>
      <p:sp>
        <p:nvSpPr>
          <p:cNvPr id="25" name="Text 23"/>
          <p:cNvSpPr txBox="1"/>
          <p:nvPr/>
        </p:nvSpPr>
        <p:spPr>
          <a:xfrm>
            <a:off x="9765792" y="2423160"/>
            <a:ext cx="1773936" cy="685800"/>
          </a:xfrm>
          <a:prstGeom prst="rect">
            <a:avLst/>
          </a:prstGeom>
          <a:noFill/>
          <a:ln/>
        </p:spPr>
        <p:txBody>
          <a:bodyPr wrap="square" lIns="0" tIns="0" rIns="0" bIns="0" rtlCol="0" anchor="ctr"/>
          <a:lstStyle/>
          <a:p>
            <a:pPr algn="ctr" indent="0" marL="0">
              <a:buNone/>
            </a:pPr>
            <a:r>
              <a:rPr lang="en-US" sz="1600" b="1" dirty="0">
                <a:solidFill>
                  <a:schemeClr val="tx1"/>
                </a:solidFill>
              </a:rPr>
              <a:t>fail → 4. think harder</a:t>
            </a:r>
            <a:endParaRPr lang="en-US" sz="1600" dirty="0"/>
          </a:p>
        </p:txBody>
      </p:sp>
      <p:sp>
        <p:nvSpPr>
          <p:cNvPr id="26" name="Text 24"/>
          <p:cNvSpPr txBox="1"/>
          <p:nvPr/>
        </p:nvSpPr>
        <p:spPr>
          <a:xfrm>
            <a:off x="9509760" y="3154680"/>
            <a:ext cx="2286000" cy="548640"/>
          </a:xfrm>
          <a:prstGeom prst="rect">
            <a:avLst/>
          </a:prstGeom>
          <a:noFill/>
          <a:ln/>
        </p:spPr>
        <p:txBody>
          <a:bodyPr wrap="square" lIns="0" tIns="0" rIns="0" bIns="0" rtlCol="0" anchor="t"/>
          <a:lstStyle/>
          <a:p>
            <a:pPr algn="ctr" indent="0" marL="0">
              <a:buNone/>
            </a:pPr>
            <a:r>
              <a:rPr lang="en-US" sz="1400" dirty="0">
                <a:solidFill>
                  <a:schemeClr val="tx2"/>
                </a:solidFill>
              </a:rPr>
              <a:t>same 66%, 18% fewer tokens (finding 4)</a:t>
            </a:r>
            <a:endParaRPr lang="en-US" sz="1400" dirty="0"/>
          </a:p>
        </p:txBody>
      </p:sp>
      <p:sp>
        <p:nvSpPr>
          <p:cNvPr id="27" name="step 5"/>
          <p:cNvSpPr/>
          <p:nvPr/>
        </p:nvSpPr>
        <p:spPr>
          <a:xfrm>
            <a:off x="3566160" y="3931920"/>
            <a:ext cx="5760720" cy="1234440"/>
          </a:xfrm>
          <a:prstGeom prst="roundRect">
            <a:avLst>
              <a:gd name="adj" fmla="val 5926"/>
            </a:avLst>
          </a:prstGeom>
          <a:solidFill>
            <a:srgbClr val="DEEBF7"/>
          </a:solidFill>
          <a:ln w="9525">
            <a:solidFill>
              <a:srgbClr val="BDD7EE"/>
            </a:solidFill>
            <a:prstDash val="solid"/>
          </a:ln>
        </p:spPr>
      </p:sp>
      <p:sp>
        <p:nvSpPr>
          <p:cNvPr id="28" name="badge 5"/>
          <p:cNvSpPr/>
          <p:nvPr/>
        </p:nvSpPr>
        <p:spPr>
          <a:xfrm>
            <a:off x="3703320" y="4206240"/>
            <a:ext cx="640080" cy="640080"/>
          </a:xfrm>
          <a:prstGeom prst="ellipse">
            <a:avLst/>
          </a:prstGeom>
          <a:solidFill>
            <a:srgbClr val="4472C4"/>
          </a:solidFill>
          <a:ln w="12700">
            <a:solidFill>
              <a:srgbClr val="4472C4"/>
            </a:solidFill>
            <a:prstDash val="solid"/>
          </a:ln>
        </p:spPr>
      </p:sp>
      <p:sp>
        <p:nvSpPr>
          <p:cNvPr id="29" name="Text 27"/>
          <p:cNvSpPr txBox="1"/>
          <p:nvPr/>
        </p:nvSpPr>
        <p:spPr>
          <a:xfrm>
            <a:off x="3703320" y="4206240"/>
            <a:ext cx="640080" cy="640080"/>
          </a:xfrm>
          <a:prstGeom prst="rect">
            <a:avLst/>
          </a:prstGeom>
          <a:noFill/>
          <a:ln/>
        </p:spPr>
        <p:txBody>
          <a:bodyPr wrap="square" lIns="0" tIns="0" rIns="0" bIns="0" rtlCol="0" anchor="ctr"/>
          <a:lstStyle/>
          <a:p>
            <a:pPr algn="ctr" indent="0" marL="0">
              <a:buNone/>
            </a:pPr>
            <a:r>
              <a:rPr lang="en-US" sz="2400" b="1" dirty="0">
                <a:solidFill>
                  <a:srgbClr val="FFFFFF"/>
                </a:solidFill>
              </a:rPr>
              <a:t>5</a:t>
            </a:r>
            <a:endParaRPr lang="en-US" sz="2400" dirty="0"/>
          </a:p>
        </p:txBody>
      </p:sp>
      <p:sp>
        <p:nvSpPr>
          <p:cNvPr id="30" name="Text 28"/>
          <p:cNvSpPr txBox="1"/>
          <p:nvPr/>
        </p:nvSpPr>
        <p:spPr>
          <a:xfrm>
            <a:off x="4434840" y="4023360"/>
            <a:ext cx="4800600" cy="1051560"/>
          </a:xfrm>
          <a:prstGeom prst="rect">
            <a:avLst/>
          </a:prstGeom>
          <a:noFill/>
          <a:ln/>
        </p:spPr>
        <p:txBody>
          <a:bodyPr wrap="square" lIns="0" tIns="0" rIns="0" bIns="0" rtlCol="0" anchor="ctr"/>
          <a:lstStyle/>
          <a:p>
            <a:pPr indent="0" marL="0">
              <a:buNone/>
            </a:pPr>
            <a:r>
              <a:rPr lang="en-US" sz="1800" b="1" dirty="0">
                <a:solidFill>
                  <a:schemeClr val="tx1"/>
                </a:solidFill>
              </a:rPr>
              <a:t>Same problem again? Reuse the checked program</a:t>
            </a:r>
            <a:endParaRPr lang="en-US" sz="1800" dirty="0"/>
          </a:p>
        </p:txBody>
      </p:sp>
      <p:sp>
        <p:nvSpPr>
          <p:cNvPr id="31" name="Text 29"/>
          <p:cNvSpPr txBox="1"/>
          <p:nvPr/>
        </p:nvSpPr>
        <p:spPr>
          <a:xfrm>
            <a:off x="3566160" y="5230368"/>
            <a:ext cx="5760720" cy="685800"/>
          </a:xfrm>
          <a:prstGeom prst="rect">
            <a:avLst/>
          </a:prstGeom>
          <a:noFill/>
          <a:ln/>
        </p:spPr>
        <p:txBody>
          <a:bodyPr wrap="square" lIns="0" tIns="0" rIns="0" bIns="0" rtlCol="0" anchor="t"/>
          <a:lstStyle/>
          <a:p>
            <a:pPr algn="ctr" indent="0" marL="0">
              <a:buNone/>
            </a:pPr>
            <a:r>
              <a:rPr lang="en-US" sz="1400" dirty="0">
                <a:solidFill>
                  <a:schemeClr val="tx2"/>
                </a:solidFill>
              </a:rPr>
              <a:t>valid plans 7% → 94% (finding 5)</a:t>
            </a:r>
            <a:endParaRPr lang="en-US" sz="1400" dirty="0"/>
          </a:p>
        </p:txBody>
      </p:sp>
      <p:sp>
        <p:nvSpPr>
          <p:cNvPr id="32" name="Text 30"/>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Together: 87% solved at 2.5k tokens, vs 74% at 4.1k for "think longer on hard problems"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Our method on one real problem</a:t>
            </a:r>
            <a:endParaRPr lang="en-US" sz="3600" dirty="0"/>
          </a:p>
        </p:txBody>
      </p:sp>
      <p:sp>
        <p:nvSpPr>
          <p:cNvPr id="3" name="Text 1"/>
          <p:cNvSpPr txBox="1"/>
          <p:nvPr/>
        </p:nvSpPr>
        <p:spPr>
          <a:xfrm>
            <a:off x="548640" y="1170432"/>
            <a:ext cx="11064240" cy="365760"/>
          </a:xfrm>
          <a:prstGeom prst="rect">
            <a:avLst/>
          </a:prstGeom>
          <a:noFill/>
          <a:ln/>
        </p:spPr>
        <p:txBody>
          <a:bodyPr wrap="square" lIns="0" tIns="0" rIns="0" bIns="0" rtlCol="0" anchor="ctr"/>
          <a:lstStyle/>
          <a:p>
            <a:pPr indent="0" marL="0">
              <a:buNone/>
            </a:pPr>
            <a:r>
              <a:rPr lang="en-US" sz="1600" dirty="0">
                <a:solidFill>
                  <a:schemeClr val="tx1"/>
                </a:solidFill>
              </a:rPr>
              <a:t>One real problem (Qwen3-8B): products X, Y, Z cost $10, $15, $20 under three limits. Minimum cost? → 20000</a:t>
            </a:r>
            <a:endParaRPr lang="en-US" sz="1600" dirty="0"/>
          </a:p>
        </p:txBody>
      </p:sp>
      <p:sp>
        <p:nvSpPr>
          <p:cNvPr id="4" name="method badge 1"/>
          <p:cNvSpPr/>
          <p:nvPr/>
        </p:nvSpPr>
        <p:spPr>
          <a:xfrm>
            <a:off x="548640" y="1673352"/>
            <a:ext cx="457200" cy="457200"/>
          </a:xfrm>
          <a:prstGeom prst="ellipse">
            <a:avLst/>
          </a:prstGeom>
          <a:solidFill>
            <a:srgbClr val="4472C4"/>
          </a:solidFill>
          <a:ln w="12700">
            <a:solidFill>
              <a:srgbClr val="4472C4"/>
            </a:solidFill>
            <a:prstDash val="solid"/>
          </a:ln>
        </p:spPr>
      </p:sp>
      <p:sp>
        <p:nvSpPr>
          <p:cNvPr id="5" name="Text 3"/>
          <p:cNvSpPr txBox="1"/>
          <p:nvPr/>
        </p:nvSpPr>
        <p:spPr>
          <a:xfrm>
            <a:off x="54864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1</a:t>
            </a:r>
            <a:endParaRPr lang="en-US" sz="1800" dirty="0"/>
          </a:p>
        </p:txBody>
      </p:sp>
      <p:sp>
        <p:nvSpPr>
          <p:cNvPr id="6" name="Text 4"/>
          <p:cNvSpPr txBox="1"/>
          <p:nvPr/>
        </p:nvSpPr>
        <p:spPr>
          <a:xfrm>
            <a:off x="109728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Write a program</a:t>
            </a:r>
            <a:endParaRPr lang="en-US" sz="1700" dirty="0"/>
          </a:p>
        </p:txBody>
      </p:sp>
      <p:sp>
        <p:nvSpPr>
          <p:cNvPr id="7" name="method step Write a program"/>
          <p:cNvSpPr/>
          <p:nvPr/>
        </p:nvSpPr>
        <p:spPr>
          <a:xfrm>
            <a:off x="548640" y="2240280"/>
            <a:ext cx="2103120" cy="1188720"/>
          </a:xfrm>
          <a:prstGeom prst="roundRect">
            <a:avLst>
              <a:gd name="adj" fmla="val 6154"/>
            </a:avLst>
          </a:prstGeom>
          <a:solidFill>
            <a:srgbClr val="FADBD8"/>
          </a:solidFill>
          <a:ln w="12700">
            <a:solidFill>
              <a:srgbClr val="C00000"/>
            </a:solidFill>
            <a:prstDash val="solid"/>
          </a:ln>
        </p:spPr>
      </p:sp>
      <p:sp>
        <p:nvSpPr>
          <p:cNvPr id="8" name="Text 6"/>
          <p:cNvSpPr txBox="1"/>
          <p:nvPr/>
        </p:nvSpPr>
        <p:spPr>
          <a:xfrm>
            <a:off x="640080" y="2286000"/>
            <a:ext cx="1920240" cy="457200"/>
          </a:xfrm>
          <a:prstGeom prst="rect">
            <a:avLst/>
          </a:prstGeom>
          <a:noFill/>
          <a:ln/>
        </p:spPr>
        <p:txBody>
          <a:bodyPr wrap="square" lIns="0" tIns="0" rIns="0" bIns="0" rtlCol="0" anchor="ctr"/>
          <a:lstStyle/>
          <a:p>
            <a:pPr algn="ctr" indent="0" marL="0">
              <a:buNone/>
            </a:pPr>
            <a:r>
              <a:rPr lang="en-US" sz="1050" b="1" dirty="0">
                <a:solidFill>
                  <a:srgbClr val="C00000"/>
                </a:solidFill>
                <a:latin typeface="Courier New" pitchFamily="34" charset="0"/>
                <a:ea typeface="Courier New" pitchFamily="34" charset="-122"/>
                <a:cs typeface="Courier New" pitchFamily="34" charset="-120"/>
              </a:rPr>
              <a:t>Objective().Minimize()</a:t>
            </a:r>
            <a:endParaRPr lang="en-US" sz="1050" dirty="0"/>
          </a:p>
        </p:txBody>
      </p:sp>
      <p:sp>
        <p:nvSpPr>
          <p:cNvPr id="9" name="Text 7"/>
          <p:cNvSpPr txBox="1"/>
          <p:nvPr/>
        </p:nvSpPr>
        <p:spPr>
          <a:xfrm>
            <a:off x="64008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 crash: no such method</a:t>
            </a:r>
            <a:endParaRPr lang="en-US" sz="1300" dirty="0"/>
          </a:p>
        </p:txBody>
      </p:sp>
      <p:sp>
        <p:nvSpPr>
          <p:cNvPr id="10" name="Text 8"/>
          <p:cNvSpPr txBox="1"/>
          <p:nvPr/>
        </p:nvSpPr>
        <p:spPr>
          <a:xfrm>
            <a:off x="54864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without a fact</a:t>
            </a:r>
            <a:endParaRPr lang="en-US" sz="1400" dirty="0"/>
          </a:p>
        </p:txBody>
      </p:sp>
      <p:sp>
        <p:nvSpPr>
          <p:cNvPr id="11" name="Shape 9"/>
          <p:cNvSpPr/>
          <p:nvPr/>
        </p:nvSpPr>
        <p:spPr>
          <a:xfrm>
            <a:off x="2651760" y="2807208"/>
            <a:ext cx="137160" cy="0"/>
          </a:xfrm>
          <a:prstGeom prst="line">
            <a:avLst/>
          </a:prstGeom>
          <a:noFill/>
          <a:ln w="25400">
            <a:solidFill>
              <a:srgbClr val="7F7F7F"/>
            </a:solidFill>
            <a:prstDash val="solid"/>
            <a:tailEnd type="triangle"/>
          </a:ln>
        </p:spPr>
      </p:sp>
      <p:sp>
        <p:nvSpPr>
          <p:cNvPr id="12" name="method badge 2"/>
          <p:cNvSpPr/>
          <p:nvPr/>
        </p:nvSpPr>
        <p:spPr>
          <a:xfrm>
            <a:off x="2788920" y="1673352"/>
            <a:ext cx="457200" cy="457200"/>
          </a:xfrm>
          <a:prstGeom prst="ellipse">
            <a:avLst/>
          </a:prstGeom>
          <a:solidFill>
            <a:srgbClr val="4472C4"/>
          </a:solidFill>
          <a:ln w="12700">
            <a:solidFill>
              <a:srgbClr val="4472C4"/>
            </a:solidFill>
            <a:prstDash val="solid"/>
          </a:ln>
        </p:spPr>
      </p:sp>
      <p:sp>
        <p:nvSpPr>
          <p:cNvPr id="13" name="Text 11"/>
          <p:cNvSpPr txBox="1"/>
          <p:nvPr/>
        </p:nvSpPr>
        <p:spPr>
          <a:xfrm>
            <a:off x="278892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2</a:t>
            </a:r>
            <a:endParaRPr lang="en-US" sz="1800" dirty="0"/>
          </a:p>
        </p:txBody>
      </p:sp>
      <p:sp>
        <p:nvSpPr>
          <p:cNvPr id="14" name="Text 12"/>
          <p:cNvSpPr txBox="1"/>
          <p:nvPr/>
        </p:nvSpPr>
        <p:spPr>
          <a:xfrm>
            <a:off x="333756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Add the fact</a:t>
            </a:r>
            <a:endParaRPr lang="en-US" sz="1700" dirty="0"/>
          </a:p>
        </p:txBody>
      </p:sp>
      <p:sp>
        <p:nvSpPr>
          <p:cNvPr id="15" name="method step Add the fact"/>
          <p:cNvSpPr/>
          <p:nvPr/>
        </p:nvSpPr>
        <p:spPr>
          <a:xfrm>
            <a:off x="2788920" y="2240280"/>
            <a:ext cx="2103120" cy="1188720"/>
          </a:xfrm>
          <a:prstGeom prst="roundRect">
            <a:avLst>
              <a:gd name="adj" fmla="val 6154"/>
            </a:avLst>
          </a:prstGeom>
          <a:solidFill>
            <a:srgbClr val="E2F0D9"/>
          </a:solidFill>
          <a:ln w="12700">
            <a:solidFill>
              <a:srgbClr val="38761D"/>
            </a:solidFill>
            <a:prstDash val="solid"/>
          </a:ln>
        </p:spPr>
      </p:sp>
      <p:sp>
        <p:nvSpPr>
          <p:cNvPr id="16" name="Text 14"/>
          <p:cNvSpPr txBox="1"/>
          <p:nvPr/>
        </p:nvSpPr>
        <p:spPr>
          <a:xfrm>
            <a:off x="2880360" y="2286000"/>
            <a:ext cx="1920240" cy="457200"/>
          </a:xfrm>
          <a:prstGeom prst="rect">
            <a:avLst/>
          </a:prstGeom>
          <a:noFill/>
          <a:ln/>
        </p:spPr>
        <p:txBody>
          <a:bodyPr wrap="square" lIns="0" tIns="0" rIns="0" bIns="0" rtlCol="0" anchor="ctr"/>
          <a:lstStyle/>
          <a:p>
            <a:pPr algn="ctr" indent="0" marL="0">
              <a:buNone/>
            </a:pPr>
            <a:r>
              <a:rPr lang="en-US" sz="1300" b="1" dirty="0">
                <a:solidFill>
                  <a:srgbClr val="38761D"/>
                </a:solidFill>
                <a:latin typeface="Courier New" pitchFamily="34" charset="0"/>
                <a:ea typeface="Courier New" pitchFamily="34" charset="-122"/>
                <a:cs typeface="Courier New" pitchFamily="34" charset="-120"/>
              </a:rPr>
              <a:t>solver.Minimize(v)</a:t>
            </a:r>
            <a:endParaRPr lang="en-US" sz="1300" dirty="0"/>
          </a:p>
        </p:txBody>
      </p:sp>
      <p:sp>
        <p:nvSpPr>
          <p:cNvPr id="17" name="Text 15"/>
          <p:cNvSpPr txBox="1"/>
          <p:nvPr/>
        </p:nvSpPr>
        <p:spPr>
          <a:xfrm>
            <a:off x="288036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the call, from its own checked program → prints 20000 ✓</a:t>
            </a:r>
            <a:endParaRPr lang="en-US" sz="1300" dirty="0"/>
          </a:p>
        </p:txBody>
      </p:sp>
      <p:sp>
        <p:nvSpPr>
          <p:cNvPr id="18" name="Text 16"/>
          <p:cNvSpPr txBox="1"/>
          <p:nvPr/>
        </p:nvSpPr>
        <p:spPr>
          <a:xfrm>
            <a:off x="278892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316 tokens</a:t>
            </a:r>
            <a:endParaRPr lang="en-US" sz="1400" dirty="0"/>
          </a:p>
        </p:txBody>
      </p:sp>
      <p:sp>
        <p:nvSpPr>
          <p:cNvPr id="19" name="Shape 17"/>
          <p:cNvSpPr/>
          <p:nvPr/>
        </p:nvSpPr>
        <p:spPr>
          <a:xfrm>
            <a:off x="4892040" y="2807208"/>
            <a:ext cx="137160" cy="0"/>
          </a:xfrm>
          <a:prstGeom prst="line">
            <a:avLst/>
          </a:prstGeom>
          <a:noFill/>
          <a:ln w="25400">
            <a:solidFill>
              <a:srgbClr val="7F7F7F"/>
            </a:solidFill>
            <a:prstDash val="solid"/>
            <a:tailEnd type="triangle"/>
          </a:ln>
        </p:spPr>
      </p:sp>
      <p:sp>
        <p:nvSpPr>
          <p:cNvPr id="20" name="method badge 3"/>
          <p:cNvSpPr/>
          <p:nvPr/>
        </p:nvSpPr>
        <p:spPr>
          <a:xfrm>
            <a:off x="5029200" y="1673352"/>
            <a:ext cx="457200" cy="457200"/>
          </a:xfrm>
          <a:prstGeom prst="ellipse">
            <a:avLst/>
          </a:prstGeom>
          <a:solidFill>
            <a:srgbClr val="4472C4"/>
          </a:solidFill>
          <a:ln w="12700">
            <a:solidFill>
              <a:srgbClr val="4472C4"/>
            </a:solidFill>
            <a:prstDash val="solid"/>
          </a:ln>
        </p:spPr>
      </p:sp>
      <p:sp>
        <p:nvSpPr>
          <p:cNvPr id="21" name="Text 19"/>
          <p:cNvSpPr txBox="1"/>
          <p:nvPr/>
        </p:nvSpPr>
        <p:spPr>
          <a:xfrm>
            <a:off x="502920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3</a:t>
            </a:r>
            <a:endParaRPr lang="en-US" sz="1800" dirty="0"/>
          </a:p>
        </p:txBody>
      </p:sp>
      <p:sp>
        <p:nvSpPr>
          <p:cNvPr id="22" name="Text 20"/>
          <p:cNvSpPr txBox="1"/>
          <p:nvPr/>
        </p:nvSpPr>
        <p:spPr>
          <a:xfrm>
            <a:off x="557784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Free check</a:t>
            </a:r>
            <a:endParaRPr lang="en-US" sz="1700" dirty="0"/>
          </a:p>
        </p:txBody>
      </p:sp>
      <p:sp>
        <p:nvSpPr>
          <p:cNvPr id="23" name="method step Free check"/>
          <p:cNvSpPr/>
          <p:nvPr/>
        </p:nvSpPr>
        <p:spPr>
          <a:xfrm>
            <a:off x="5029200" y="2240280"/>
            <a:ext cx="2103120" cy="1188720"/>
          </a:xfrm>
          <a:prstGeom prst="roundRect">
            <a:avLst>
              <a:gd name="adj" fmla="val 6154"/>
            </a:avLst>
          </a:prstGeom>
          <a:solidFill>
            <a:srgbClr val="E2F0D9"/>
          </a:solidFill>
          <a:ln w="12700">
            <a:solidFill>
              <a:srgbClr val="38761D"/>
            </a:solidFill>
            <a:prstDash val="solid"/>
          </a:ln>
        </p:spPr>
      </p:sp>
      <p:sp>
        <p:nvSpPr>
          <p:cNvPr id="24" name="Text 22"/>
          <p:cNvSpPr txBox="1"/>
          <p:nvPr/>
        </p:nvSpPr>
        <p:spPr>
          <a:xfrm>
            <a:off x="5120640" y="2286000"/>
            <a:ext cx="1920240" cy="457200"/>
          </a:xfrm>
          <a:prstGeom prst="rect">
            <a:avLst/>
          </a:prstGeom>
          <a:noFill/>
          <a:ln/>
        </p:spPr>
        <p:txBody>
          <a:bodyPr wrap="square" lIns="0" tIns="0" rIns="0" bIns="0" rtlCol="0" anchor="ctr"/>
          <a:lstStyle/>
          <a:p>
            <a:pPr algn="ctr" indent="0" marL="0">
              <a:buNone/>
            </a:pPr>
            <a:r>
              <a:rPr lang="en-US" sz="1800" b="1" dirty="0">
                <a:solidFill>
                  <a:srgbClr val="38761D"/>
                </a:solidFill>
                <a:latin typeface="Calibri" pitchFamily="34" charset="0"/>
                <a:ea typeface="Calibri" pitchFamily="34" charset="-122"/>
                <a:cs typeface="Calibri" pitchFamily="34" charset="-120"/>
              </a:rPr>
              <a:t>20000 = 20000</a:t>
            </a:r>
            <a:endParaRPr lang="en-US" sz="1800" dirty="0"/>
          </a:p>
        </p:txBody>
      </p:sp>
      <p:sp>
        <p:nvSpPr>
          <p:cNvPr id="25" name="Text 23"/>
          <p:cNvSpPr txBox="1"/>
          <p:nvPr/>
        </p:nvSpPr>
        <p:spPr>
          <a:xfrm>
            <a:off x="512064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a 2nd version agrees ✓</a:t>
            </a:r>
            <a:endParaRPr lang="en-US" sz="1300" dirty="0"/>
          </a:p>
        </p:txBody>
      </p:sp>
      <p:sp>
        <p:nvSpPr>
          <p:cNvPr id="26" name="Text 24"/>
          <p:cNvSpPr txBox="1"/>
          <p:nvPr/>
        </p:nvSpPr>
        <p:spPr>
          <a:xfrm>
            <a:off x="502920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+312 tokens</a:t>
            </a:r>
            <a:endParaRPr lang="en-US" sz="1400" dirty="0"/>
          </a:p>
        </p:txBody>
      </p:sp>
      <p:sp>
        <p:nvSpPr>
          <p:cNvPr id="27" name="Shape 25"/>
          <p:cNvSpPr/>
          <p:nvPr/>
        </p:nvSpPr>
        <p:spPr>
          <a:xfrm>
            <a:off x="7132320" y="2807208"/>
            <a:ext cx="137160" cy="0"/>
          </a:xfrm>
          <a:prstGeom prst="line">
            <a:avLst/>
          </a:prstGeom>
          <a:noFill/>
          <a:ln w="25400">
            <a:solidFill>
              <a:srgbClr val="7F7F7F"/>
            </a:solidFill>
            <a:prstDash val="solid"/>
            <a:tailEnd type="triangle"/>
          </a:ln>
        </p:spPr>
      </p:sp>
      <p:sp>
        <p:nvSpPr>
          <p:cNvPr id="28" name="method badge 4"/>
          <p:cNvSpPr/>
          <p:nvPr/>
        </p:nvSpPr>
        <p:spPr>
          <a:xfrm>
            <a:off x="7269480" y="1673352"/>
            <a:ext cx="457200" cy="457200"/>
          </a:xfrm>
          <a:prstGeom prst="ellipse">
            <a:avLst/>
          </a:prstGeom>
          <a:solidFill>
            <a:srgbClr val="4472C4"/>
          </a:solidFill>
          <a:ln w="12700">
            <a:solidFill>
              <a:srgbClr val="4472C4"/>
            </a:solidFill>
            <a:prstDash val="solid"/>
          </a:ln>
        </p:spPr>
      </p:sp>
      <p:sp>
        <p:nvSpPr>
          <p:cNvPr id="29" name="Text 27"/>
          <p:cNvSpPr txBox="1"/>
          <p:nvPr/>
        </p:nvSpPr>
        <p:spPr>
          <a:xfrm>
            <a:off x="726948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4</a:t>
            </a:r>
            <a:endParaRPr lang="en-US" sz="1800" dirty="0"/>
          </a:p>
        </p:txBody>
      </p:sp>
      <p:sp>
        <p:nvSpPr>
          <p:cNvPr id="30" name="Text 28"/>
          <p:cNvSpPr txBox="1"/>
          <p:nvPr/>
        </p:nvSpPr>
        <p:spPr>
          <a:xfrm>
            <a:off x="781812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Think harder?</a:t>
            </a:r>
            <a:endParaRPr lang="en-US" sz="1700" dirty="0"/>
          </a:p>
        </p:txBody>
      </p:sp>
      <p:sp>
        <p:nvSpPr>
          <p:cNvPr id="31" name="method step Think harder?"/>
          <p:cNvSpPr/>
          <p:nvPr/>
        </p:nvSpPr>
        <p:spPr>
          <a:xfrm>
            <a:off x="7269480" y="2240280"/>
            <a:ext cx="2103120" cy="1188720"/>
          </a:xfrm>
          <a:prstGeom prst="roundRect">
            <a:avLst>
              <a:gd name="adj" fmla="val 6154"/>
            </a:avLst>
          </a:prstGeom>
          <a:solidFill>
            <a:srgbClr val="F2F2F2"/>
          </a:solidFill>
          <a:ln w="12700">
            <a:solidFill>
              <a:srgbClr val="7F7F7F"/>
            </a:solidFill>
            <a:prstDash val="solid"/>
          </a:ln>
        </p:spPr>
      </p:sp>
      <p:sp>
        <p:nvSpPr>
          <p:cNvPr id="32" name="Text 30"/>
          <p:cNvSpPr txBox="1"/>
          <p:nvPr/>
        </p:nvSpPr>
        <p:spPr>
          <a:xfrm>
            <a:off x="7360920" y="2286000"/>
            <a:ext cx="1920240" cy="457200"/>
          </a:xfrm>
          <a:prstGeom prst="rect">
            <a:avLst/>
          </a:prstGeom>
          <a:noFill/>
          <a:ln/>
        </p:spPr>
        <p:txBody>
          <a:bodyPr wrap="square" lIns="0" tIns="0" rIns="0" bIns="0" rtlCol="0" anchor="ctr"/>
          <a:lstStyle/>
          <a:p>
            <a:pPr algn="ctr" indent="0" marL="0">
              <a:buNone/>
            </a:pPr>
            <a:r>
              <a:rPr lang="en-US" sz="1800" b="1" dirty="0">
                <a:solidFill>
                  <a:srgbClr val="7F7F7F"/>
                </a:solidFill>
                <a:latin typeface="Calibri" pitchFamily="34" charset="0"/>
                <a:ea typeface="Calibri" pitchFamily="34" charset="-122"/>
                <a:cs typeface="Calibri" pitchFamily="34" charset="-120"/>
              </a:rPr>
              <a:t>skipped</a:t>
            </a:r>
            <a:endParaRPr lang="en-US" sz="1800" dirty="0"/>
          </a:p>
        </p:txBody>
      </p:sp>
      <p:sp>
        <p:nvSpPr>
          <p:cNvPr id="33" name="Text 31"/>
          <p:cNvSpPr txBox="1"/>
          <p:nvPr/>
        </p:nvSpPr>
        <p:spPr>
          <a:xfrm>
            <a:off x="736092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only if the versions differ or crash</a:t>
            </a:r>
            <a:endParaRPr lang="en-US" sz="1300" dirty="0"/>
          </a:p>
        </p:txBody>
      </p:sp>
      <p:sp>
        <p:nvSpPr>
          <p:cNvPr id="34" name="Text 32"/>
          <p:cNvSpPr txBox="1"/>
          <p:nvPr/>
        </p:nvSpPr>
        <p:spPr>
          <a:xfrm>
            <a:off x="726948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0 tokens</a:t>
            </a:r>
            <a:endParaRPr lang="en-US" sz="1400" dirty="0"/>
          </a:p>
        </p:txBody>
      </p:sp>
      <p:sp>
        <p:nvSpPr>
          <p:cNvPr id="35" name="Shape 33"/>
          <p:cNvSpPr/>
          <p:nvPr/>
        </p:nvSpPr>
        <p:spPr>
          <a:xfrm>
            <a:off x="9372600" y="2807208"/>
            <a:ext cx="137160" cy="0"/>
          </a:xfrm>
          <a:prstGeom prst="line">
            <a:avLst/>
          </a:prstGeom>
          <a:noFill/>
          <a:ln w="25400">
            <a:solidFill>
              <a:srgbClr val="7F7F7F"/>
            </a:solidFill>
            <a:prstDash val="solid"/>
            <a:tailEnd type="triangle"/>
          </a:ln>
        </p:spPr>
      </p:sp>
      <p:sp>
        <p:nvSpPr>
          <p:cNvPr id="36" name="method badge 5"/>
          <p:cNvSpPr/>
          <p:nvPr/>
        </p:nvSpPr>
        <p:spPr>
          <a:xfrm>
            <a:off x="9509760" y="1673352"/>
            <a:ext cx="457200" cy="457200"/>
          </a:xfrm>
          <a:prstGeom prst="ellipse">
            <a:avLst/>
          </a:prstGeom>
          <a:solidFill>
            <a:srgbClr val="4472C4"/>
          </a:solidFill>
          <a:ln w="12700">
            <a:solidFill>
              <a:srgbClr val="4472C4"/>
            </a:solidFill>
            <a:prstDash val="solid"/>
          </a:ln>
        </p:spPr>
      </p:sp>
      <p:sp>
        <p:nvSpPr>
          <p:cNvPr id="37" name="Text 35"/>
          <p:cNvSpPr txBox="1"/>
          <p:nvPr/>
        </p:nvSpPr>
        <p:spPr>
          <a:xfrm>
            <a:off x="9509760" y="1673352"/>
            <a:ext cx="457200" cy="457200"/>
          </a:xfrm>
          <a:prstGeom prst="rect">
            <a:avLst/>
          </a:prstGeom>
          <a:noFill/>
          <a:ln/>
        </p:spPr>
        <p:txBody>
          <a:bodyPr wrap="square" lIns="0" tIns="0" rIns="0" bIns="0" rtlCol="0" anchor="ctr"/>
          <a:lstStyle/>
          <a:p>
            <a:pPr algn="ctr" indent="0" marL="0">
              <a:buNone/>
            </a:pPr>
            <a:r>
              <a:rPr lang="en-US" sz="1800" b="1" dirty="0">
                <a:solidFill>
                  <a:srgbClr val="FFFFFF"/>
                </a:solidFill>
              </a:rPr>
              <a:t>5</a:t>
            </a:r>
            <a:endParaRPr lang="en-US" sz="1800" dirty="0"/>
          </a:p>
        </p:txBody>
      </p:sp>
      <p:sp>
        <p:nvSpPr>
          <p:cNvPr id="38" name="Text 36"/>
          <p:cNvSpPr txBox="1"/>
          <p:nvPr/>
        </p:nvSpPr>
        <p:spPr>
          <a:xfrm>
            <a:off x="10058400" y="1673352"/>
            <a:ext cx="1600200" cy="457200"/>
          </a:xfrm>
          <a:prstGeom prst="rect">
            <a:avLst/>
          </a:prstGeom>
          <a:noFill/>
          <a:ln/>
        </p:spPr>
        <p:txBody>
          <a:bodyPr wrap="square" lIns="0" tIns="0" rIns="0" bIns="0" rtlCol="0" anchor="ctr"/>
          <a:lstStyle/>
          <a:p>
            <a:pPr indent="0" marL="0">
              <a:buNone/>
            </a:pPr>
            <a:r>
              <a:rPr lang="en-US" sz="1700" b="1" dirty="0">
                <a:solidFill>
                  <a:schemeClr val="tx1"/>
                </a:solidFill>
              </a:rPr>
              <a:t>Reuse</a:t>
            </a:r>
            <a:endParaRPr lang="en-US" sz="1700" dirty="0"/>
          </a:p>
        </p:txBody>
      </p:sp>
      <p:sp>
        <p:nvSpPr>
          <p:cNvPr id="39" name="method step Reuse"/>
          <p:cNvSpPr/>
          <p:nvPr/>
        </p:nvSpPr>
        <p:spPr>
          <a:xfrm>
            <a:off x="9509760" y="2240280"/>
            <a:ext cx="2103120" cy="1188720"/>
          </a:xfrm>
          <a:prstGeom prst="roundRect">
            <a:avLst>
              <a:gd name="adj" fmla="val 6154"/>
            </a:avLst>
          </a:prstGeom>
          <a:solidFill>
            <a:srgbClr val="DEEBF7"/>
          </a:solidFill>
          <a:ln w="12700">
            <a:solidFill>
              <a:srgbClr val="4472C4"/>
            </a:solidFill>
            <a:prstDash val="solid"/>
          </a:ln>
        </p:spPr>
      </p:sp>
      <p:sp>
        <p:nvSpPr>
          <p:cNvPr id="40" name="Text 38"/>
          <p:cNvSpPr txBox="1"/>
          <p:nvPr/>
        </p:nvSpPr>
        <p:spPr>
          <a:xfrm>
            <a:off x="9601200" y="2286000"/>
            <a:ext cx="1920240" cy="457200"/>
          </a:xfrm>
          <a:prstGeom prst="rect">
            <a:avLst/>
          </a:prstGeom>
          <a:noFill/>
          <a:ln/>
        </p:spPr>
        <p:txBody>
          <a:bodyPr wrap="square" lIns="0" tIns="0" rIns="0" bIns="0" rtlCol="0" anchor="ctr"/>
          <a:lstStyle/>
          <a:p>
            <a:pPr algn="ctr" indent="0" marL="0">
              <a:buNone/>
            </a:pPr>
            <a:r>
              <a:rPr lang="en-US" sz="1800" b="1" dirty="0">
                <a:solidFill>
                  <a:srgbClr val="4472C4"/>
                </a:solidFill>
                <a:latin typeface="Calibri" pitchFamily="34" charset="0"/>
                <a:ea typeface="Calibri" pitchFamily="34" charset="-122"/>
                <a:cs typeface="Calibri" pitchFamily="34" charset="-120"/>
              </a:rPr>
              <a:t>same program</a:t>
            </a:r>
            <a:endParaRPr lang="en-US" sz="1800" dirty="0"/>
          </a:p>
        </p:txBody>
      </p:sp>
      <p:sp>
        <p:nvSpPr>
          <p:cNvPr id="41" name="Text 39"/>
          <p:cNvSpPr txBox="1"/>
          <p:nvPr/>
        </p:nvSpPr>
        <p:spPr>
          <a:xfrm>
            <a:off x="9601200" y="2761488"/>
            <a:ext cx="1920240" cy="621792"/>
          </a:xfrm>
          <a:prstGeom prst="rect">
            <a:avLst/>
          </a:prstGeom>
          <a:noFill/>
          <a:ln/>
        </p:spPr>
        <p:txBody>
          <a:bodyPr wrap="square" lIns="0" tIns="0" rIns="0" bIns="0" rtlCol="0" anchor="t"/>
          <a:lstStyle/>
          <a:p>
            <a:pPr algn="ctr" indent="0" marL="0">
              <a:buNone/>
            </a:pPr>
            <a:r>
              <a:rPr lang="en-US" sz="1300" dirty="0">
                <a:solidFill>
                  <a:schemeClr val="tx1"/>
                </a:solidFill>
              </a:rPr>
              <a:t>same kind of problem, new data</a:t>
            </a:r>
            <a:endParaRPr lang="en-US" sz="1300" dirty="0"/>
          </a:p>
        </p:txBody>
      </p:sp>
      <p:sp>
        <p:nvSpPr>
          <p:cNvPr id="42" name="Text 40"/>
          <p:cNvSpPr txBox="1"/>
          <p:nvPr/>
        </p:nvSpPr>
        <p:spPr>
          <a:xfrm>
            <a:off x="9509760" y="3474720"/>
            <a:ext cx="2103120" cy="274320"/>
          </a:xfrm>
          <a:prstGeom prst="rect">
            <a:avLst/>
          </a:prstGeom>
          <a:noFill/>
          <a:ln/>
        </p:spPr>
        <p:txBody>
          <a:bodyPr wrap="square" lIns="0" tIns="0" rIns="0" bIns="0" rtlCol="0" anchor="ctr"/>
          <a:lstStyle/>
          <a:p>
            <a:pPr algn="ctr" indent="0" marL="0">
              <a:buNone/>
            </a:pPr>
            <a:r>
              <a:rPr lang="en-US" sz="1400" b="1" dirty="0">
                <a:solidFill>
                  <a:schemeClr val="tx2"/>
                </a:solidFill>
              </a:rPr>
              <a:t>≈ 0 tokens</a:t>
            </a:r>
            <a:endParaRPr lang="en-US" sz="1400" dirty="0"/>
          </a:p>
        </p:txBody>
      </p:sp>
      <p:sp>
        <p:nvSpPr>
          <p:cNvPr id="43" name="Text 41"/>
          <p:cNvSpPr txBox="1"/>
          <p:nvPr/>
        </p:nvSpPr>
        <p:spPr>
          <a:xfrm>
            <a:off x="54864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This problem: tokens (both answers right)</a:t>
            </a:r>
            <a:endParaRPr lang="en-US" sz="1500" dirty="0"/>
          </a:p>
        </p:txBody>
      </p:sp>
      <p:sp>
        <p:nvSpPr>
          <p:cNvPr id="44" name="Text 42"/>
          <p:cNvSpPr txBox="1"/>
          <p:nvPr/>
        </p:nvSpPr>
        <p:spPr>
          <a:xfrm>
            <a:off x="54864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always think</a:t>
            </a:r>
            <a:endParaRPr lang="en-US" sz="1400" dirty="0"/>
          </a:p>
        </p:txBody>
      </p:sp>
      <p:sp>
        <p:nvSpPr>
          <p:cNvPr id="45" name="This problem: tokens (both answers right) always think"/>
          <p:cNvSpPr/>
          <p:nvPr/>
        </p:nvSpPr>
        <p:spPr>
          <a:xfrm>
            <a:off x="2743200" y="4389120"/>
            <a:ext cx="2194560" cy="237744"/>
          </a:xfrm>
          <a:prstGeom prst="rect">
            <a:avLst/>
          </a:prstGeom>
          <a:solidFill>
            <a:srgbClr val="7F7F7F"/>
          </a:solidFill>
          <a:ln w="6350">
            <a:solidFill>
              <a:srgbClr val="7F7F7F"/>
            </a:solidFill>
            <a:prstDash val="solid"/>
          </a:ln>
        </p:spPr>
      </p:sp>
      <p:sp>
        <p:nvSpPr>
          <p:cNvPr id="46" name="Text 44"/>
          <p:cNvSpPr txBox="1"/>
          <p:nvPr/>
        </p:nvSpPr>
        <p:spPr>
          <a:xfrm>
            <a:off x="5029200"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5.3k</a:t>
            </a:r>
            <a:endParaRPr lang="en-US" sz="1400" dirty="0"/>
          </a:p>
        </p:txBody>
      </p:sp>
      <p:sp>
        <p:nvSpPr>
          <p:cNvPr id="47" name="Text 45"/>
          <p:cNvSpPr txBox="1"/>
          <p:nvPr/>
        </p:nvSpPr>
        <p:spPr>
          <a:xfrm>
            <a:off x="54864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48" name="This problem: tokens (both answers right) our method"/>
          <p:cNvSpPr/>
          <p:nvPr/>
        </p:nvSpPr>
        <p:spPr>
          <a:xfrm>
            <a:off x="2743200" y="4828032"/>
            <a:ext cx="263347" cy="237744"/>
          </a:xfrm>
          <a:prstGeom prst="rect">
            <a:avLst/>
          </a:prstGeom>
          <a:solidFill>
            <a:srgbClr val="4472C4"/>
          </a:solidFill>
          <a:ln w="6350">
            <a:solidFill>
              <a:srgbClr val="4472C4"/>
            </a:solidFill>
            <a:prstDash val="solid"/>
          </a:ln>
        </p:spPr>
      </p:sp>
      <p:sp>
        <p:nvSpPr>
          <p:cNvPr id="49" name="Text 47"/>
          <p:cNvSpPr txBox="1"/>
          <p:nvPr/>
        </p:nvSpPr>
        <p:spPr>
          <a:xfrm>
            <a:off x="30979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0.6k</a:t>
            </a:r>
            <a:endParaRPr lang="en-US" sz="1400" dirty="0"/>
          </a:p>
        </p:txBody>
      </p:sp>
      <p:sp>
        <p:nvSpPr>
          <p:cNvPr id="50" name="Text 48"/>
          <p:cNvSpPr txBox="1"/>
          <p:nvPr/>
        </p:nvSpPr>
        <p:spPr>
          <a:xfrm>
            <a:off x="6217920" y="3886200"/>
            <a:ext cx="5394960" cy="365760"/>
          </a:xfrm>
          <a:prstGeom prst="rect">
            <a:avLst/>
          </a:prstGeom>
          <a:noFill/>
          <a:ln/>
        </p:spPr>
        <p:txBody>
          <a:bodyPr wrap="square" lIns="0" tIns="0" rIns="0" bIns="0" rtlCol="0" anchor="ctr"/>
          <a:lstStyle/>
          <a:p>
            <a:pPr indent="0" marL="0">
              <a:buNone/>
            </a:pPr>
            <a:r>
              <a:rPr lang="en-US" sz="1500" b="1" dirty="0">
                <a:solidFill>
                  <a:schemeClr val="tx1"/>
                </a:solidFill>
              </a:rPr>
              <a:t>208 problems × 3 models: % solved · tokens</a:t>
            </a:r>
            <a:endParaRPr lang="en-US" sz="1500" dirty="0"/>
          </a:p>
        </p:txBody>
      </p:sp>
      <p:sp>
        <p:nvSpPr>
          <p:cNvPr id="51" name="Text 49"/>
          <p:cNvSpPr txBox="1"/>
          <p:nvPr/>
        </p:nvSpPr>
        <p:spPr>
          <a:xfrm>
            <a:off x="6217920" y="4315968"/>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think on hardest</a:t>
            </a:r>
            <a:endParaRPr lang="en-US" sz="1400" dirty="0"/>
          </a:p>
        </p:txBody>
      </p:sp>
      <p:sp>
        <p:nvSpPr>
          <p:cNvPr id="52" name="208 problems × 3 models: % solved · tokens think on hardest"/>
          <p:cNvSpPr/>
          <p:nvPr/>
        </p:nvSpPr>
        <p:spPr>
          <a:xfrm>
            <a:off x="8412480" y="4389120"/>
            <a:ext cx="1623974" cy="237744"/>
          </a:xfrm>
          <a:prstGeom prst="rect">
            <a:avLst/>
          </a:prstGeom>
          <a:solidFill>
            <a:srgbClr val="7F7F7F"/>
          </a:solidFill>
          <a:ln w="6350">
            <a:solidFill>
              <a:srgbClr val="7F7F7F"/>
            </a:solidFill>
            <a:prstDash val="solid"/>
          </a:ln>
        </p:spPr>
      </p:sp>
      <p:sp>
        <p:nvSpPr>
          <p:cNvPr id="53" name="Text 51"/>
          <p:cNvSpPr txBox="1"/>
          <p:nvPr/>
        </p:nvSpPr>
        <p:spPr>
          <a:xfrm>
            <a:off x="10127894" y="4315968"/>
            <a:ext cx="1188720" cy="365760"/>
          </a:xfrm>
          <a:prstGeom prst="rect">
            <a:avLst/>
          </a:prstGeom>
          <a:noFill/>
          <a:ln/>
        </p:spPr>
        <p:txBody>
          <a:bodyPr wrap="square" lIns="0" tIns="0" rIns="0" bIns="0" rtlCol="0" anchor="ctr"/>
          <a:lstStyle/>
          <a:p>
            <a:pPr indent="0" marL="0">
              <a:buNone/>
            </a:pPr>
            <a:r>
              <a:rPr lang="en-US" sz="1400" b="1" dirty="0">
                <a:solidFill>
                  <a:srgbClr val="7F7F7F"/>
                </a:solidFill>
              </a:rPr>
              <a:t>74% · 4.1k</a:t>
            </a:r>
            <a:endParaRPr lang="en-US" sz="1400" dirty="0"/>
          </a:p>
        </p:txBody>
      </p:sp>
      <p:sp>
        <p:nvSpPr>
          <p:cNvPr id="54" name="Text 52"/>
          <p:cNvSpPr txBox="1"/>
          <p:nvPr/>
        </p:nvSpPr>
        <p:spPr>
          <a:xfrm>
            <a:off x="6217920" y="4754880"/>
            <a:ext cx="2103120" cy="365760"/>
          </a:xfrm>
          <a:prstGeom prst="rect">
            <a:avLst/>
          </a:prstGeom>
          <a:noFill/>
          <a:ln/>
        </p:spPr>
        <p:txBody>
          <a:bodyPr wrap="square" lIns="0" tIns="0" rIns="0" bIns="0" rtlCol="0" anchor="ctr"/>
          <a:lstStyle/>
          <a:p>
            <a:pPr algn="r" indent="0" marL="0">
              <a:buNone/>
            </a:pPr>
            <a:r>
              <a:rPr lang="en-US" sz="1400" dirty="0">
                <a:solidFill>
                  <a:schemeClr val="tx1"/>
                </a:solidFill>
              </a:rPr>
              <a:t>our method</a:t>
            </a:r>
            <a:endParaRPr lang="en-US" sz="1400" dirty="0"/>
          </a:p>
        </p:txBody>
      </p:sp>
      <p:sp>
        <p:nvSpPr>
          <p:cNvPr id="55" name="208 problems × 3 models: % solved · tokens our method"/>
          <p:cNvSpPr/>
          <p:nvPr/>
        </p:nvSpPr>
        <p:spPr>
          <a:xfrm>
            <a:off x="8412480" y="4828032"/>
            <a:ext cx="1909267" cy="237744"/>
          </a:xfrm>
          <a:prstGeom prst="rect">
            <a:avLst/>
          </a:prstGeom>
          <a:solidFill>
            <a:srgbClr val="4472C4"/>
          </a:solidFill>
          <a:ln w="6350">
            <a:solidFill>
              <a:srgbClr val="4472C4"/>
            </a:solidFill>
            <a:prstDash val="solid"/>
          </a:ln>
        </p:spPr>
      </p:sp>
      <p:sp>
        <p:nvSpPr>
          <p:cNvPr id="56" name="Text 54"/>
          <p:cNvSpPr txBox="1"/>
          <p:nvPr/>
        </p:nvSpPr>
        <p:spPr>
          <a:xfrm>
            <a:off x="10413187" y="4754880"/>
            <a:ext cx="1188720" cy="365760"/>
          </a:xfrm>
          <a:prstGeom prst="rect">
            <a:avLst/>
          </a:prstGeom>
          <a:noFill/>
          <a:ln/>
        </p:spPr>
        <p:txBody>
          <a:bodyPr wrap="square" lIns="0" tIns="0" rIns="0" bIns="0" rtlCol="0" anchor="ctr"/>
          <a:lstStyle/>
          <a:p>
            <a:pPr indent="0" marL="0">
              <a:buNone/>
            </a:pPr>
            <a:r>
              <a:rPr lang="en-US" sz="1400" b="1" dirty="0">
                <a:solidFill>
                  <a:srgbClr val="4472C4"/>
                </a:solidFill>
              </a:rPr>
              <a:t>87% · 2.5k</a:t>
            </a:r>
            <a:endParaRPr lang="en-US" sz="1400" dirty="0"/>
          </a:p>
        </p:txBody>
      </p:sp>
      <p:sp>
        <p:nvSpPr>
          <p:cNvPr id="57" name="Text 55"/>
          <p:cNvSpPr txBox="1"/>
          <p:nvPr/>
        </p:nvSpPr>
        <p:spPr>
          <a:xfrm>
            <a:off x="548640" y="5349240"/>
            <a:ext cx="2834640" cy="411480"/>
          </a:xfrm>
          <a:prstGeom prst="rect">
            <a:avLst/>
          </a:prstGeom>
          <a:noFill/>
          <a:ln/>
        </p:spPr>
        <p:txBody>
          <a:bodyPr wrap="square" lIns="0" tIns="0" rIns="0" bIns="0" rtlCol="0" anchor="ctr"/>
          <a:lstStyle/>
          <a:p>
            <a:pPr indent="0" marL="0">
              <a:buNone/>
            </a:pPr>
            <a:r>
              <a:rPr lang="en-US" sz="1400" b="1" dirty="0">
                <a:solidFill>
                  <a:schemeClr val="tx1"/>
                </a:solidFill>
              </a:rPr>
              <a:t>Free check, no answers needed:</a:t>
            </a:r>
            <a:endParaRPr lang="en-US" sz="1400" dirty="0"/>
          </a:p>
        </p:txBody>
      </p:sp>
      <p:sp>
        <p:nvSpPr>
          <p:cNvPr id="58" name="box "/>
          <p:cNvSpPr/>
          <p:nvPr/>
        </p:nvSpPr>
        <p:spPr>
          <a:xfrm>
            <a:off x="3383280" y="5330952"/>
            <a:ext cx="1984248" cy="457200"/>
          </a:xfrm>
          <a:prstGeom prst="roundRect">
            <a:avLst>
              <a:gd name="adj" fmla="val 12000"/>
            </a:avLst>
          </a:prstGeom>
          <a:solidFill>
            <a:srgbClr val="F2F2F2"/>
          </a:solidFill>
          <a:ln w="9525">
            <a:solidFill>
              <a:srgbClr val="BFBFBF"/>
            </a:solidFill>
            <a:prstDash val="solid"/>
          </a:ln>
        </p:spPr>
      </p:sp>
      <p:sp>
        <p:nvSpPr>
          <p:cNvPr id="59" name="Text 57"/>
          <p:cNvSpPr txBox="1"/>
          <p:nvPr/>
        </p:nvSpPr>
        <p:spPr>
          <a:xfrm>
            <a:off x="3456432"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0" name="Text 58"/>
          <p:cNvSpPr txBox="1"/>
          <p:nvPr/>
        </p:nvSpPr>
        <p:spPr>
          <a:xfrm>
            <a:off x="3429000"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contest: </a:t>
            </a:r>
            <a:pPr algn="ctr" indent="0" marL="0">
              <a:buNone/>
            </a:pPr>
            <a:r>
              <a:rPr lang="en-US" sz="1300" dirty="0">
                <a:solidFill>
                  <a:schemeClr val="tx1"/>
                </a:solidFill>
              </a:rPr>
              <a:t>sample tests pass</a:t>
            </a:r>
            <a:endParaRPr lang="en-US" sz="1300" dirty="0"/>
          </a:p>
        </p:txBody>
      </p:sp>
      <p:sp>
        <p:nvSpPr>
          <p:cNvPr id="61" name="box "/>
          <p:cNvSpPr/>
          <p:nvPr/>
        </p:nvSpPr>
        <p:spPr>
          <a:xfrm>
            <a:off x="5458968" y="5330952"/>
            <a:ext cx="1984248" cy="457200"/>
          </a:xfrm>
          <a:prstGeom prst="roundRect">
            <a:avLst>
              <a:gd name="adj" fmla="val 12000"/>
            </a:avLst>
          </a:prstGeom>
          <a:solidFill>
            <a:srgbClr val="F2F2F2"/>
          </a:solidFill>
          <a:ln w="9525">
            <a:solidFill>
              <a:srgbClr val="BFBFBF"/>
            </a:solidFill>
            <a:prstDash val="solid"/>
          </a:ln>
        </p:spPr>
      </p:sp>
      <p:sp>
        <p:nvSpPr>
          <p:cNvPr id="62" name="Text 60"/>
          <p:cNvSpPr txBox="1"/>
          <p:nvPr/>
        </p:nvSpPr>
        <p:spPr>
          <a:xfrm>
            <a:off x="5532120"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3" name="Text 61"/>
          <p:cNvSpPr txBox="1"/>
          <p:nvPr/>
        </p:nvSpPr>
        <p:spPr>
          <a:xfrm>
            <a:off x="5504688"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geometry: </a:t>
            </a:r>
            <a:pPr algn="ctr" indent="0" marL="0">
              <a:buNone/>
            </a:pPr>
            <a:r>
              <a:rPr lang="en-US" sz="1300" dirty="0">
                <a:solidFill>
                  <a:schemeClr val="tx1"/>
                </a:solidFill>
              </a:rPr>
              <a:t>moved copies agree</a:t>
            </a:r>
            <a:endParaRPr lang="en-US" sz="1300" dirty="0"/>
          </a:p>
        </p:txBody>
      </p:sp>
      <p:sp>
        <p:nvSpPr>
          <p:cNvPr id="64" name="box "/>
          <p:cNvSpPr/>
          <p:nvPr/>
        </p:nvSpPr>
        <p:spPr>
          <a:xfrm>
            <a:off x="7534656" y="5330952"/>
            <a:ext cx="1984248" cy="457200"/>
          </a:xfrm>
          <a:prstGeom prst="roundRect">
            <a:avLst>
              <a:gd name="adj" fmla="val 12000"/>
            </a:avLst>
          </a:prstGeom>
          <a:solidFill>
            <a:srgbClr val="F2F2F2"/>
          </a:solidFill>
          <a:ln w="9525">
            <a:solidFill>
              <a:srgbClr val="BFBFBF"/>
            </a:solidFill>
            <a:prstDash val="solid"/>
          </a:ln>
        </p:spPr>
      </p:sp>
      <p:sp>
        <p:nvSpPr>
          <p:cNvPr id="65" name="Text 63"/>
          <p:cNvSpPr txBox="1"/>
          <p:nvPr/>
        </p:nvSpPr>
        <p:spPr>
          <a:xfrm>
            <a:off x="7607808"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6" name="Text 64"/>
          <p:cNvSpPr txBox="1"/>
          <p:nvPr/>
        </p:nvSpPr>
        <p:spPr>
          <a:xfrm>
            <a:off x="7580376"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routing: </a:t>
            </a:r>
            <a:pPr algn="ctr" indent="0" marL="0">
              <a:buNone/>
            </a:pPr>
            <a:r>
              <a:rPr lang="en-US" sz="1300" dirty="0">
                <a:solidFill>
                  <a:schemeClr val="tx1"/>
                </a:solidFill>
              </a:rPr>
              <a:t>plan obeys rules</a:t>
            </a:r>
            <a:endParaRPr lang="en-US" sz="1300" dirty="0"/>
          </a:p>
        </p:txBody>
      </p:sp>
      <p:sp>
        <p:nvSpPr>
          <p:cNvPr id="67" name="box "/>
          <p:cNvSpPr/>
          <p:nvPr/>
        </p:nvSpPr>
        <p:spPr>
          <a:xfrm>
            <a:off x="9610344" y="5330952"/>
            <a:ext cx="1984248" cy="457200"/>
          </a:xfrm>
          <a:prstGeom prst="roundRect">
            <a:avLst>
              <a:gd name="adj" fmla="val 12000"/>
            </a:avLst>
          </a:prstGeom>
          <a:solidFill>
            <a:srgbClr val="F2F2F2"/>
          </a:solidFill>
          <a:ln w="9525">
            <a:solidFill>
              <a:srgbClr val="BFBFBF"/>
            </a:solidFill>
            <a:prstDash val="solid"/>
          </a:ln>
        </p:spPr>
      </p:sp>
      <p:sp>
        <p:nvSpPr>
          <p:cNvPr id="68" name="Text 66"/>
          <p:cNvSpPr txBox="1"/>
          <p:nvPr/>
        </p:nvSpPr>
        <p:spPr>
          <a:xfrm>
            <a:off x="9683496" y="5330952"/>
            <a:ext cx="1837944" cy="457200"/>
          </a:xfrm>
          <a:prstGeom prst="rect">
            <a:avLst/>
          </a:prstGeom>
          <a:noFill/>
          <a:ln/>
        </p:spPr>
        <p:txBody>
          <a:bodyPr wrap="square" lIns="0" tIns="0" rIns="0" bIns="0" rtlCol="0" anchor="ctr"/>
          <a:lstStyle/>
          <a:p>
            <a:pPr algn="ctr" indent="0" marL="0">
              <a:buNone/>
            </a:pPr>
            <a:endParaRPr lang="en-US" sz="1500" dirty="0"/>
          </a:p>
        </p:txBody>
      </p:sp>
      <p:sp>
        <p:nvSpPr>
          <p:cNvPr id="69" name="Text 67"/>
          <p:cNvSpPr txBox="1"/>
          <p:nvPr/>
        </p:nvSpPr>
        <p:spPr>
          <a:xfrm>
            <a:off x="9656064" y="5330952"/>
            <a:ext cx="1892808" cy="457200"/>
          </a:xfrm>
          <a:prstGeom prst="rect">
            <a:avLst/>
          </a:prstGeom>
          <a:noFill/>
          <a:ln/>
        </p:spPr>
        <p:txBody>
          <a:bodyPr wrap="square" lIns="0" tIns="0" rIns="0" bIns="0" rtlCol="0" anchor="ctr"/>
          <a:lstStyle/>
          <a:p>
            <a:pPr algn="ctr" indent="0" marL="0">
              <a:buNone/>
            </a:pPr>
            <a:r>
              <a:rPr lang="en-US" sz="1300" b="1" dirty="0">
                <a:solidFill>
                  <a:schemeClr val="tx1"/>
                </a:solidFill>
              </a:rPr>
              <a:t>word problems: </a:t>
            </a:r>
            <a:pPr algn="ctr" indent="0" marL="0">
              <a:buNone/>
            </a:pPr>
            <a:r>
              <a:rPr lang="en-US" sz="1300" dirty="0">
                <a:solidFill>
                  <a:schemeClr val="tx1"/>
                </a:solidFill>
              </a:rPr>
              <a:t>two versions agree</a:t>
            </a:r>
            <a:endParaRPr lang="en-US" sz="13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All together: facts first, think only on failure</a:t>
            </a:r>
            <a:endParaRPr lang="en-US" sz="3600" dirty="0"/>
          </a:p>
        </p:txBody>
      </p:sp>
      <p:sp>
        <p:nvSpPr>
          <p:cNvPr id="3" name="Text 1"/>
          <p:cNvSpPr txBox="1"/>
          <p:nvPr/>
        </p:nvSpPr>
        <p:spPr>
          <a:xfrm>
            <a:off x="548640" y="1234440"/>
            <a:ext cx="11064240" cy="411480"/>
          </a:xfrm>
          <a:prstGeom prst="rect">
            <a:avLst/>
          </a:prstGeom>
          <a:noFill/>
          <a:ln/>
        </p:spPr>
        <p:txBody>
          <a:bodyPr wrap="square" lIns="0" tIns="0" rIns="0" bIns="0" rtlCol="0" anchor="ctr"/>
          <a:lstStyle/>
          <a:p>
            <a:pPr indent="0" marL="0">
              <a:buNone/>
            </a:pPr>
            <a:r>
              <a:rPr lang="en-US" sz="1800" dirty="0">
                <a:solidFill>
                  <a:schemeClr val="tx1"/>
                </a:solidFill>
              </a:rPr>
              <a:t>Same 208 geometry and optimization problems × 3 models: % solved · tokens per problem</a:t>
            </a:r>
            <a:endParaRPr lang="en-US" sz="1800" dirty="0"/>
          </a:p>
        </p:txBody>
      </p:sp>
      <p:sp>
        <p:nvSpPr>
          <p:cNvPr id="4" name="Text 2"/>
          <p:cNvSpPr txBox="1"/>
          <p:nvPr/>
        </p:nvSpPr>
        <p:spPr>
          <a:xfrm>
            <a:off x="548640" y="178308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First program, no help</a:t>
            </a:r>
            <a:endParaRPr lang="en-US" sz="1600" dirty="0"/>
          </a:p>
        </p:txBody>
      </p:sp>
      <p:sp>
        <p:nvSpPr>
          <p:cNvPr id="5" name="bar First program, no help"/>
          <p:cNvSpPr/>
          <p:nvPr/>
        </p:nvSpPr>
        <p:spPr>
          <a:xfrm>
            <a:off x="3337560" y="1868119"/>
            <a:ext cx="1958645" cy="283464"/>
          </a:xfrm>
          <a:prstGeom prst="rect">
            <a:avLst/>
          </a:prstGeom>
          <a:solidFill>
            <a:srgbClr val="A5A5A5"/>
          </a:solidFill>
          <a:ln w="6350">
            <a:solidFill>
              <a:srgbClr val="A5A5A5"/>
            </a:solidFill>
            <a:prstDash val="solid"/>
          </a:ln>
        </p:spPr>
      </p:sp>
      <p:sp>
        <p:nvSpPr>
          <p:cNvPr id="6" name="Text 4"/>
          <p:cNvSpPr txBox="1"/>
          <p:nvPr/>
        </p:nvSpPr>
        <p:spPr>
          <a:xfrm>
            <a:off x="5387645" y="1783080"/>
            <a:ext cx="1554480" cy="453542"/>
          </a:xfrm>
          <a:prstGeom prst="rect">
            <a:avLst/>
          </a:prstGeom>
          <a:noFill/>
          <a:ln/>
        </p:spPr>
        <p:txBody>
          <a:bodyPr wrap="square" lIns="0" tIns="0" rIns="0" bIns="0" rtlCol="0" anchor="ctr"/>
          <a:lstStyle/>
          <a:p>
            <a:pPr indent="0" marL="0">
              <a:buNone/>
            </a:pPr>
            <a:r>
              <a:rPr lang="en-US" sz="1800" b="1" dirty="0">
                <a:solidFill>
                  <a:srgbClr val="A5A5A5"/>
                </a:solidFill>
              </a:rPr>
              <a:t>63% · 0.7k</a:t>
            </a:r>
            <a:endParaRPr lang="en-US" sz="1800" dirty="0"/>
          </a:p>
        </p:txBody>
      </p:sp>
      <p:sp>
        <p:nvSpPr>
          <p:cNvPr id="7" name="Text 5"/>
          <p:cNvSpPr txBox="1"/>
          <p:nvPr/>
        </p:nvSpPr>
        <p:spPr>
          <a:xfrm>
            <a:off x="548640" y="2350008"/>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on hardest-looking</a:t>
            </a:r>
            <a:endParaRPr lang="en-US" sz="1600" dirty="0"/>
          </a:p>
        </p:txBody>
      </p:sp>
      <p:sp>
        <p:nvSpPr>
          <p:cNvPr id="8" name="bar Think on hardest-looking"/>
          <p:cNvSpPr/>
          <p:nvPr/>
        </p:nvSpPr>
        <p:spPr>
          <a:xfrm>
            <a:off x="3337560" y="2435047"/>
            <a:ext cx="2300630" cy="283464"/>
          </a:xfrm>
          <a:prstGeom prst="rect">
            <a:avLst/>
          </a:prstGeom>
          <a:solidFill>
            <a:srgbClr val="7F7F7F"/>
          </a:solidFill>
          <a:ln w="6350">
            <a:solidFill>
              <a:srgbClr val="7F7F7F"/>
            </a:solidFill>
            <a:prstDash val="solid"/>
          </a:ln>
        </p:spPr>
      </p:sp>
      <p:sp>
        <p:nvSpPr>
          <p:cNvPr id="9" name="Text 7"/>
          <p:cNvSpPr txBox="1"/>
          <p:nvPr/>
        </p:nvSpPr>
        <p:spPr>
          <a:xfrm>
            <a:off x="5729630" y="2350008"/>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74% · 4.1k</a:t>
            </a:r>
            <a:endParaRPr lang="en-US" sz="1800" dirty="0"/>
          </a:p>
        </p:txBody>
      </p:sp>
      <p:sp>
        <p:nvSpPr>
          <p:cNvPr id="10" name="Text 8"/>
          <p:cNvSpPr txBox="1"/>
          <p:nvPr/>
        </p:nvSpPr>
        <p:spPr>
          <a:xfrm>
            <a:off x="548640" y="2916936"/>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Think when check fails</a:t>
            </a:r>
            <a:endParaRPr lang="en-US" sz="1600" dirty="0"/>
          </a:p>
        </p:txBody>
      </p:sp>
      <p:sp>
        <p:nvSpPr>
          <p:cNvPr id="11" name="bar Think when check fails"/>
          <p:cNvSpPr/>
          <p:nvPr/>
        </p:nvSpPr>
        <p:spPr>
          <a:xfrm>
            <a:off x="3337560" y="3001975"/>
            <a:ext cx="2393899" cy="283464"/>
          </a:xfrm>
          <a:prstGeom prst="rect">
            <a:avLst/>
          </a:prstGeom>
          <a:solidFill>
            <a:srgbClr val="7F7F7F"/>
          </a:solidFill>
          <a:ln w="6350">
            <a:solidFill>
              <a:srgbClr val="7F7F7F"/>
            </a:solidFill>
            <a:prstDash val="solid"/>
          </a:ln>
        </p:spPr>
      </p:sp>
      <p:sp>
        <p:nvSpPr>
          <p:cNvPr id="12" name="Text 10"/>
          <p:cNvSpPr txBox="1"/>
          <p:nvPr/>
        </p:nvSpPr>
        <p:spPr>
          <a:xfrm>
            <a:off x="5822899" y="2916936"/>
            <a:ext cx="1554480" cy="453542"/>
          </a:xfrm>
          <a:prstGeom prst="rect">
            <a:avLst/>
          </a:prstGeom>
          <a:noFill/>
          <a:ln/>
        </p:spPr>
        <p:txBody>
          <a:bodyPr wrap="square" lIns="0" tIns="0" rIns="0" bIns="0" rtlCol="0" anchor="ctr"/>
          <a:lstStyle/>
          <a:p>
            <a:pPr indent="0" marL="0">
              <a:buNone/>
            </a:pPr>
            <a:r>
              <a:rPr lang="en-US" sz="1800" b="1" dirty="0">
                <a:solidFill>
                  <a:srgbClr val="7F7F7F"/>
                </a:solidFill>
              </a:rPr>
              <a:t>77% · 4.2k</a:t>
            </a:r>
            <a:endParaRPr lang="en-US" sz="1800" dirty="0"/>
          </a:p>
        </p:txBody>
      </p:sp>
      <p:sp>
        <p:nvSpPr>
          <p:cNvPr id="13" name="Text 11"/>
          <p:cNvSpPr txBox="1"/>
          <p:nvPr/>
        </p:nvSpPr>
        <p:spPr>
          <a:xfrm>
            <a:off x="548640" y="3483864"/>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Fix by failure type</a:t>
            </a:r>
            <a:endParaRPr lang="en-US" sz="1600" dirty="0"/>
          </a:p>
        </p:txBody>
      </p:sp>
      <p:sp>
        <p:nvSpPr>
          <p:cNvPr id="14" name="bar Fix by failure type"/>
          <p:cNvSpPr/>
          <p:nvPr/>
        </p:nvSpPr>
        <p:spPr>
          <a:xfrm>
            <a:off x="3337560" y="3568903"/>
            <a:ext cx="2580437" cy="283464"/>
          </a:xfrm>
          <a:prstGeom prst="rect">
            <a:avLst/>
          </a:prstGeom>
          <a:solidFill>
            <a:srgbClr val="ED7D31"/>
          </a:solidFill>
          <a:ln w="6350">
            <a:solidFill>
              <a:srgbClr val="ED7D31"/>
            </a:solidFill>
            <a:prstDash val="solid"/>
          </a:ln>
        </p:spPr>
      </p:sp>
      <p:sp>
        <p:nvSpPr>
          <p:cNvPr id="15" name="Text 13"/>
          <p:cNvSpPr txBox="1"/>
          <p:nvPr/>
        </p:nvSpPr>
        <p:spPr>
          <a:xfrm>
            <a:off x="6009437" y="3483864"/>
            <a:ext cx="1554480" cy="453542"/>
          </a:xfrm>
          <a:prstGeom prst="rect">
            <a:avLst/>
          </a:prstGeom>
          <a:noFill/>
          <a:ln/>
        </p:spPr>
        <p:txBody>
          <a:bodyPr wrap="square" lIns="0" tIns="0" rIns="0" bIns="0" rtlCol="0" anchor="ctr"/>
          <a:lstStyle/>
          <a:p>
            <a:pPr indent="0" marL="0">
              <a:buNone/>
            </a:pPr>
            <a:r>
              <a:rPr lang="en-US" sz="1800" b="1" dirty="0">
                <a:solidFill>
                  <a:srgbClr val="ED7D31"/>
                </a:solidFill>
              </a:rPr>
              <a:t>83% · 4.2k</a:t>
            </a:r>
            <a:endParaRPr lang="en-US" sz="1800" dirty="0"/>
          </a:p>
        </p:txBody>
      </p:sp>
      <p:sp>
        <p:nvSpPr>
          <p:cNvPr id="16" name="Text 14"/>
          <p:cNvSpPr txBox="1"/>
          <p:nvPr/>
        </p:nvSpPr>
        <p:spPr>
          <a:xfrm>
            <a:off x="548640" y="4050792"/>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Retrieved fact, then think</a:t>
            </a:r>
            <a:endParaRPr lang="en-US" sz="1600" dirty="0"/>
          </a:p>
        </p:txBody>
      </p:sp>
      <p:sp>
        <p:nvSpPr>
          <p:cNvPr id="17" name="bar Retrieved fact, then think"/>
          <p:cNvSpPr/>
          <p:nvPr/>
        </p:nvSpPr>
        <p:spPr>
          <a:xfrm>
            <a:off x="3337560" y="4135831"/>
            <a:ext cx="2611526" cy="283464"/>
          </a:xfrm>
          <a:prstGeom prst="rect">
            <a:avLst/>
          </a:prstGeom>
          <a:solidFill>
            <a:srgbClr val="5B9BD5"/>
          </a:solidFill>
          <a:ln w="6350">
            <a:solidFill>
              <a:srgbClr val="5B9BD5"/>
            </a:solidFill>
            <a:prstDash val="solid"/>
          </a:ln>
        </p:spPr>
      </p:sp>
      <p:sp>
        <p:nvSpPr>
          <p:cNvPr id="18" name="Text 16"/>
          <p:cNvSpPr txBox="1"/>
          <p:nvPr/>
        </p:nvSpPr>
        <p:spPr>
          <a:xfrm>
            <a:off x="6040526" y="4050792"/>
            <a:ext cx="1554480" cy="453542"/>
          </a:xfrm>
          <a:prstGeom prst="rect">
            <a:avLst/>
          </a:prstGeom>
          <a:noFill/>
          <a:ln/>
        </p:spPr>
        <p:txBody>
          <a:bodyPr wrap="square" lIns="0" tIns="0" rIns="0" bIns="0" rtlCol="0" anchor="ctr"/>
          <a:lstStyle/>
          <a:p>
            <a:pPr indent="0" marL="0">
              <a:buNone/>
            </a:pPr>
            <a:r>
              <a:rPr lang="en-US" sz="1800" b="1" dirty="0">
                <a:solidFill>
                  <a:srgbClr val="5B9BD5"/>
                </a:solidFill>
              </a:rPr>
              <a:t>84% · 3.3k</a:t>
            </a:r>
            <a:endParaRPr lang="en-US" sz="1800" dirty="0"/>
          </a:p>
        </p:txBody>
      </p:sp>
      <p:sp>
        <p:nvSpPr>
          <p:cNvPr id="19" name="Text 17"/>
          <p:cNvSpPr txBox="1"/>
          <p:nvPr/>
        </p:nvSpPr>
        <p:spPr>
          <a:xfrm>
            <a:off x="548640" y="4617720"/>
            <a:ext cx="2651760" cy="453542"/>
          </a:xfrm>
          <a:prstGeom prst="rect">
            <a:avLst/>
          </a:prstGeom>
          <a:noFill/>
          <a:ln/>
        </p:spPr>
        <p:txBody>
          <a:bodyPr wrap="square" lIns="0" tIns="0" rIns="0" bIns="0" rtlCol="0" anchor="ctr"/>
          <a:lstStyle/>
          <a:p>
            <a:pPr algn="r" indent="0" marL="0">
              <a:buNone/>
            </a:pPr>
            <a:r>
              <a:rPr lang="en-US" sz="1600" dirty="0">
                <a:solidFill>
                  <a:schemeClr val="tx1"/>
                </a:solidFill>
              </a:rPr>
              <a:t>Fact first, then think</a:t>
            </a:r>
            <a:endParaRPr lang="en-US" sz="1600" dirty="0"/>
          </a:p>
        </p:txBody>
      </p:sp>
      <p:sp>
        <p:nvSpPr>
          <p:cNvPr id="20" name="bar Fact first, then think"/>
          <p:cNvSpPr/>
          <p:nvPr/>
        </p:nvSpPr>
        <p:spPr>
          <a:xfrm>
            <a:off x="3337560" y="4702759"/>
            <a:ext cx="2704795" cy="283464"/>
          </a:xfrm>
          <a:prstGeom prst="rect">
            <a:avLst/>
          </a:prstGeom>
          <a:solidFill>
            <a:srgbClr val="4472C4"/>
          </a:solidFill>
          <a:ln w="6350">
            <a:solidFill>
              <a:srgbClr val="4472C4"/>
            </a:solidFill>
            <a:prstDash val="solid"/>
          </a:ln>
        </p:spPr>
      </p:sp>
      <p:sp>
        <p:nvSpPr>
          <p:cNvPr id="21" name="Text 19"/>
          <p:cNvSpPr txBox="1"/>
          <p:nvPr/>
        </p:nvSpPr>
        <p:spPr>
          <a:xfrm>
            <a:off x="6133795" y="4617720"/>
            <a:ext cx="1554480" cy="453542"/>
          </a:xfrm>
          <a:prstGeom prst="rect">
            <a:avLst/>
          </a:prstGeom>
          <a:noFill/>
          <a:ln/>
        </p:spPr>
        <p:txBody>
          <a:bodyPr wrap="square" lIns="0" tIns="0" rIns="0" bIns="0" rtlCol="0" anchor="ctr"/>
          <a:lstStyle/>
          <a:p>
            <a:pPr indent="0" marL="0">
              <a:buNone/>
            </a:pPr>
            <a:r>
              <a:rPr lang="en-US" sz="1800" b="1" dirty="0">
                <a:solidFill>
                  <a:srgbClr val="4472C4"/>
                </a:solidFill>
              </a:rPr>
              <a:t>87% · 2.5k</a:t>
            </a:r>
            <a:endParaRPr lang="en-US" sz="1800" dirty="0"/>
          </a:p>
        </p:txBody>
      </p:sp>
      <p:sp>
        <p:nvSpPr>
          <p:cNvPr id="22" name="new task"/>
          <p:cNvSpPr/>
          <p:nvPr/>
        </p:nvSpPr>
        <p:spPr>
          <a:xfrm>
            <a:off x="8229600" y="1737360"/>
            <a:ext cx="3383280" cy="3566160"/>
          </a:xfrm>
          <a:prstGeom prst="roundRect">
            <a:avLst>
              <a:gd name="adj" fmla="val 2162"/>
            </a:avLst>
          </a:prstGeom>
          <a:solidFill>
            <a:srgbClr val="F2F2F2"/>
          </a:solidFill>
          <a:ln w="9525">
            <a:solidFill>
              <a:srgbClr val="D9D9D9"/>
            </a:solidFill>
            <a:prstDash val="solid"/>
          </a:ln>
        </p:spPr>
      </p:sp>
      <p:sp>
        <p:nvSpPr>
          <p:cNvPr id="23" name="Text 21"/>
          <p:cNvSpPr txBox="1"/>
          <p:nvPr/>
        </p:nvSpPr>
        <p:spPr>
          <a:xfrm>
            <a:off x="8412480" y="1828800"/>
            <a:ext cx="3017520" cy="685800"/>
          </a:xfrm>
          <a:prstGeom prst="rect">
            <a:avLst/>
          </a:prstGeom>
          <a:noFill/>
          <a:ln/>
        </p:spPr>
        <p:txBody>
          <a:bodyPr wrap="square" lIns="0" tIns="0" rIns="0" bIns="0" rtlCol="0" anchor="t"/>
          <a:lstStyle/>
          <a:p>
            <a:pPr indent="0" marL="0">
              <a:buNone/>
            </a:pPr>
            <a:r>
              <a:rPr lang="en-US" sz="1700" b="1" dirty="0">
                <a:solidFill>
                  <a:schemeClr val="tx1"/>
                </a:solidFill>
              </a:rPr>
              <a:t>A new task? Label 30 problems</a:t>
            </a:r>
            <a:endParaRPr lang="en-US" sz="1700" dirty="0"/>
          </a:p>
        </p:txBody>
      </p:sp>
      <p:sp>
        <p:nvSpPr>
          <p:cNvPr id="24" name="Text 22"/>
          <p:cNvSpPr txBox="1"/>
          <p:nvPr/>
        </p:nvSpPr>
        <p:spPr>
          <a:xfrm>
            <a:off x="8412480" y="2514600"/>
            <a:ext cx="3017520" cy="548640"/>
          </a:xfrm>
          <a:prstGeom prst="rect">
            <a:avLst/>
          </a:prstGeom>
          <a:noFill/>
          <a:ln/>
        </p:spPr>
        <p:txBody>
          <a:bodyPr wrap="square" lIns="0" tIns="0" rIns="0" bIns="0" rtlCol="0" anchor="t"/>
          <a:lstStyle/>
          <a:p>
            <a:pPr indent="0" marL="0">
              <a:buNone/>
            </a:pPr>
            <a:r>
              <a:rPr lang="en-US" sz="1300" dirty="0">
                <a:solidFill>
                  <a:schemeClr val="tx2"/>
                </a:solidFill>
              </a:rPr>
              <a:t>points lost vs the best policy, over 63 settings (lower is better)</a:t>
            </a:r>
            <a:endParaRPr lang="en-US" sz="1300" dirty="0"/>
          </a:p>
        </p:txBody>
      </p:sp>
      <p:sp>
        <p:nvSpPr>
          <p:cNvPr id="25" name="Text 23"/>
          <p:cNvSpPr txBox="1"/>
          <p:nvPr/>
        </p:nvSpPr>
        <p:spPr>
          <a:xfrm>
            <a:off x="8412480" y="3200400"/>
            <a:ext cx="3017520" cy="274320"/>
          </a:xfrm>
          <a:prstGeom prst="rect">
            <a:avLst/>
          </a:prstGeom>
          <a:noFill/>
          <a:ln/>
        </p:spPr>
        <p:txBody>
          <a:bodyPr wrap="square" lIns="0" tIns="0" rIns="0" bIns="0" rtlCol="0" anchor="ctr"/>
          <a:lstStyle/>
          <a:p>
            <a:pPr indent="0" marL="0">
              <a:buNone/>
            </a:pPr>
            <a:r>
              <a:rPr lang="en-US" sz="1400" dirty="0">
                <a:solidFill>
                  <a:schemeClr val="tx1"/>
                </a:solidFill>
              </a:rPr>
              <a:t>always think</a:t>
            </a:r>
            <a:endParaRPr lang="en-US" sz="1400" dirty="0"/>
          </a:p>
        </p:txBody>
      </p:sp>
      <p:sp>
        <p:nvSpPr>
          <p:cNvPr id="26" name="loss always think"/>
          <p:cNvSpPr/>
          <p:nvPr/>
        </p:nvSpPr>
        <p:spPr>
          <a:xfrm>
            <a:off x="8412480" y="3493008"/>
            <a:ext cx="2304288" cy="201168"/>
          </a:xfrm>
          <a:prstGeom prst="rect">
            <a:avLst/>
          </a:prstGeom>
          <a:solidFill>
            <a:srgbClr val="A5A5A5"/>
          </a:solidFill>
          <a:ln w="6350">
            <a:solidFill>
              <a:srgbClr val="A5A5A5"/>
            </a:solidFill>
            <a:prstDash val="solid"/>
          </a:ln>
        </p:spPr>
      </p:sp>
      <p:sp>
        <p:nvSpPr>
          <p:cNvPr id="27" name="Text 25"/>
          <p:cNvSpPr txBox="1"/>
          <p:nvPr/>
        </p:nvSpPr>
        <p:spPr>
          <a:xfrm>
            <a:off x="10808208" y="3429000"/>
            <a:ext cx="548640" cy="320040"/>
          </a:xfrm>
          <a:prstGeom prst="rect">
            <a:avLst/>
          </a:prstGeom>
          <a:noFill/>
          <a:ln/>
        </p:spPr>
        <p:txBody>
          <a:bodyPr wrap="square" lIns="0" tIns="0" rIns="0" bIns="0" rtlCol="0" anchor="ctr"/>
          <a:lstStyle/>
          <a:p>
            <a:pPr indent="0" marL="0">
              <a:buNone/>
            </a:pPr>
            <a:r>
              <a:rPr lang="en-US" sz="1400" b="1" dirty="0">
                <a:solidFill>
                  <a:srgbClr val="595959"/>
                </a:solidFill>
              </a:rPr>
              <a:t>8.4</a:t>
            </a:r>
            <a:endParaRPr lang="en-US" sz="1400" dirty="0"/>
          </a:p>
        </p:txBody>
      </p:sp>
      <p:sp>
        <p:nvSpPr>
          <p:cNvPr id="28" name="Text 26"/>
          <p:cNvSpPr txBox="1"/>
          <p:nvPr/>
        </p:nvSpPr>
        <p:spPr>
          <a:xfrm>
            <a:off x="8412480" y="3840480"/>
            <a:ext cx="3017520" cy="274320"/>
          </a:xfrm>
          <a:prstGeom prst="rect">
            <a:avLst/>
          </a:prstGeom>
          <a:noFill/>
          <a:ln/>
        </p:spPr>
        <p:txBody>
          <a:bodyPr wrap="square" lIns="0" tIns="0" rIns="0" bIns="0" rtlCol="0" anchor="ctr"/>
          <a:lstStyle/>
          <a:p>
            <a:pPr indent="0" marL="0">
              <a:buNone/>
            </a:pPr>
            <a:r>
              <a:rPr lang="en-US" sz="1400" dirty="0">
                <a:solidFill>
                  <a:schemeClr val="tx1"/>
                </a:solidFill>
              </a:rPr>
              <a:t>fact first (default)</a:t>
            </a:r>
            <a:endParaRPr lang="en-US" sz="1400" dirty="0"/>
          </a:p>
        </p:txBody>
      </p:sp>
      <p:sp>
        <p:nvSpPr>
          <p:cNvPr id="29" name="loss fact first (default)"/>
          <p:cNvSpPr/>
          <p:nvPr/>
        </p:nvSpPr>
        <p:spPr>
          <a:xfrm>
            <a:off x="8412480" y="4133088"/>
            <a:ext cx="384048" cy="201168"/>
          </a:xfrm>
          <a:prstGeom prst="rect">
            <a:avLst/>
          </a:prstGeom>
          <a:solidFill>
            <a:srgbClr val="4472C4"/>
          </a:solidFill>
          <a:ln w="6350">
            <a:solidFill>
              <a:srgbClr val="4472C4"/>
            </a:solidFill>
            <a:prstDash val="solid"/>
          </a:ln>
        </p:spPr>
      </p:sp>
      <p:sp>
        <p:nvSpPr>
          <p:cNvPr id="30" name="Text 28"/>
          <p:cNvSpPr txBox="1"/>
          <p:nvPr/>
        </p:nvSpPr>
        <p:spPr>
          <a:xfrm>
            <a:off x="8887968" y="406908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1.4</a:t>
            </a:r>
            <a:endParaRPr lang="en-US" sz="1400" dirty="0"/>
          </a:p>
        </p:txBody>
      </p:sp>
      <p:sp>
        <p:nvSpPr>
          <p:cNvPr id="31" name="Text 29"/>
          <p:cNvSpPr txBox="1"/>
          <p:nvPr/>
        </p:nvSpPr>
        <p:spPr>
          <a:xfrm>
            <a:off x="8412480" y="4480560"/>
            <a:ext cx="3017520" cy="274320"/>
          </a:xfrm>
          <a:prstGeom prst="rect">
            <a:avLst/>
          </a:prstGeom>
          <a:noFill/>
          <a:ln/>
        </p:spPr>
        <p:txBody>
          <a:bodyPr wrap="square" lIns="0" tIns="0" rIns="0" bIns="0" rtlCol="0" anchor="ctr"/>
          <a:lstStyle/>
          <a:p>
            <a:pPr indent="0" marL="0">
              <a:buNone/>
            </a:pPr>
            <a:r>
              <a:rPr lang="en-US" sz="1400" dirty="0">
                <a:solidFill>
                  <a:schemeClr val="tx1"/>
                </a:solidFill>
              </a:rPr>
              <a:t>pick on 30 labels</a:t>
            </a:r>
            <a:endParaRPr lang="en-US" sz="1400" dirty="0"/>
          </a:p>
        </p:txBody>
      </p:sp>
      <p:sp>
        <p:nvSpPr>
          <p:cNvPr id="32" name="loss pick on 30 labels"/>
          <p:cNvSpPr/>
          <p:nvPr/>
        </p:nvSpPr>
        <p:spPr>
          <a:xfrm>
            <a:off x="8412480" y="4773168"/>
            <a:ext cx="164592" cy="201168"/>
          </a:xfrm>
          <a:prstGeom prst="rect">
            <a:avLst/>
          </a:prstGeom>
          <a:solidFill>
            <a:srgbClr val="4472C4"/>
          </a:solidFill>
          <a:ln w="6350">
            <a:solidFill>
              <a:srgbClr val="4472C4"/>
            </a:solidFill>
            <a:prstDash val="solid"/>
          </a:ln>
        </p:spPr>
      </p:sp>
      <p:sp>
        <p:nvSpPr>
          <p:cNvPr id="33" name="Text 31"/>
          <p:cNvSpPr txBox="1"/>
          <p:nvPr/>
        </p:nvSpPr>
        <p:spPr>
          <a:xfrm>
            <a:off x="8668512" y="4709160"/>
            <a:ext cx="548640" cy="320040"/>
          </a:xfrm>
          <a:prstGeom prst="rect">
            <a:avLst/>
          </a:prstGeom>
          <a:noFill/>
          <a:ln/>
        </p:spPr>
        <p:txBody>
          <a:bodyPr wrap="square" lIns="0" tIns="0" rIns="0" bIns="0" rtlCol="0" anchor="ctr"/>
          <a:lstStyle/>
          <a:p>
            <a:pPr indent="0" marL="0">
              <a:buNone/>
            </a:pPr>
            <a:r>
              <a:rPr lang="en-US" sz="1400" b="1" dirty="0">
                <a:solidFill>
                  <a:srgbClr val="4472C4"/>
                </a:solidFill>
              </a:rPr>
              <a:t>0.6</a:t>
            </a:r>
            <a:endParaRPr lang="en-US" sz="1400" dirty="0"/>
          </a:p>
        </p:txBody>
      </p:sp>
      <p:sp>
        <p:nvSpPr>
          <p:cNvPr id="34" name="Text 32"/>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Most accurate and among the cheapest on all 3 seeds: spend thinking where a check fails</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Compared with published methods</a:t>
            </a:r>
            <a:endParaRPr lang="en-US" sz="3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11064240" cy="914400"/>
        </p:xfrm>
        <a:graphic>
          <a:graphicData uri="http://schemas.openxmlformats.org/drawingml/2006/table">
            <a:tbl>
              <a:tblPr/>
              <a:tblGrid>
                <a:gridCol w="2103120"/>
                <a:gridCol w="3566160"/>
                <a:gridCol w="2011680"/>
                <a:gridCol w="3383280"/>
              </a:tblGrid>
              <a:tr h="521208">
                <a:tc>
                  <a:txBody>
                    <a:bodyPr/>
                    <a:lstStyle/>
                    <a:p>
                      <a:pPr indent="0" marL="0">
                        <a:buNone/>
                      </a:pPr>
                      <a:r>
                        <a:rPr lang="en-US" sz="1500" b="1" dirty="0">
                          <a:solidFill>
                            <a:srgbClr val="FFFFFF"/>
                          </a:solidFill>
                        </a:rPr>
                        <a:t>Task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Published method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Its result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 (same problems)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500" dirty="0">
                          <a:solidFill>
                            <a:schemeClr val="tx1"/>
                          </a:solidFill>
                        </a:rPr>
                        <a:t>Where to spend thinking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think on the hardest-looking problems (Snell et al.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74% · 4.1k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fact first, think on failure: 87% · 2.5k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Contest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always high effort (reasoning-model default)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66.2% · 30.1k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think when the examples or a brute-force check fail: 66.3% · 24.7k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Pick 1 of 3 programs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CodeT: the model writes tests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96.0% (+340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symmetry check: 99.7% (0 tokens)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Library documentation</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DRoC: decompose, retrieve per constraint (ICLR 2025)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72% · 2.1k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exact snippet: 77% · 1.7k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Unneeded tools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System 2 Attention / a "use only if needed" sentence</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64% / 76%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only the needed tools: 92%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Daily routing</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Dynamic Cheatsheet: the model's own notes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31–40%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reuse a checked program: 94%</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500" dirty="0">
                          <a:solidFill>
                            <a:schemeClr val="tx1"/>
                          </a:solidFill>
                        </a:rPr>
                        <a:t>Word problems (held-out MAMO)</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ORLM-8B: a fine-tuned modeling specialist</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69.5% · 1.1k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Qwen3-8B, no training: 69.5% · 1.0k; gpt-oss-20b 78.8%</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Measured here with the same problems and models: the recipe is more accurate, cheaper, or both</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this work sits in related research</a:t>
            </a:r>
            <a:endParaRPr lang="en-US" sz="3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234440"/>
          <a:ext cx="11064240" cy="914400"/>
        </p:xfrm>
        <a:graphic>
          <a:graphicData uri="http://schemas.openxmlformats.org/drawingml/2006/table">
            <a:tbl>
              <a:tblPr/>
              <a:tblGrid>
                <a:gridCol w="2377440"/>
                <a:gridCol w="4480560"/>
                <a:gridCol w="4206240"/>
              </a:tblGrid>
              <a:tr h="521208">
                <a:tc>
                  <a:txBody>
                    <a:bodyPr/>
                    <a:lstStyle/>
                    <a:p>
                      <a:pPr indent="0" marL="0">
                        <a:buNone/>
                      </a:pPr>
                      <a:r>
                        <a:rPr lang="en-US" sz="1300" b="1" dirty="0">
                          <a:solidFill>
                            <a:srgbClr val="FFFFFF"/>
                          </a:solidFill>
                        </a:rPr>
                        <a:t>Theme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Closest work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300" b="1" dirty="0">
                          <a:solidFill>
                            <a:srgbClr val="FFFFFF"/>
                          </a:solidFill>
                        </a:rPr>
                        <a:t>What we add</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521208">
                <a:tc>
                  <a:txBody>
                    <a:bodyPr/>
                    <a:lstStyle/>
                    <a:p>
                      <a:pPr indent="0" marL="0">
                        <a:buNone/>
                      </a:pPr>
                      <a:r>
                        <a:rPr lang="en-US" sz="1300" dirty="0">
                          <a:solidFill>
                            <a:schemeClr val="tx1"/>
                          </a:solidFill>
                        </a:rPr>
                        <a:t>Programs instead of 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PAL, Program-of-Thoughts, Mixture-of-Thought (ICLR 2024)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when a program helps; text vs program as a free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Library facts for code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DRoC (ICLR 2025), CP-Bench, CloudAPIBench, DRAFT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an exact snippet beats the manual and thinking; facts mined without a human</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Misleading context</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Invisible Lottery (2606.04057), unneeded tools (2609.14157), CodeCrash, S2A</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the harm on exact geometry, turned into a check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Choosing a program</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CodeT, MBR-exec, AlphaCode's example filter, DeepConf</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symmetry check of one program: 99.7% vs CodeT 96.0%</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Spending test-time compute</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Snell et al. 2025, FrugalGPT, DART, Thinkless, AdaptThink</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 + execution check, no training: 87% vs 74%</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Optimization modeling</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ORLM, STORM, EVOM, OR-R1 (trained); OptiMUS, OptiSkill (agents)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training-free, no answers; matches fine-tuned ORLM-8B</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One program, many instances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FunSearch, HeuriGym, ARS, 2605.14141</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measured 7% → 94%; edit a verified program for new rules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21208">
                <a:tc>
                  <a:txBody>
                    <a:bodyPr/>
                    <a:lstStyle/>
                    <a:p>
                      <a:pPr indent="0" marL="0">
                        <a:buNone/>
                      </a:pPr>
                      <a:r>
                        <a:rPr lang="en-US" sz="1300" dirty="0">
                          <a:solidFill>
                            <a:schemeClr val="tx1"/>
                          </a:solidFill>
                        </a:rPr>
                        <a:t>Proofs</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chemeClr val="tx1"/>
                          </a:solidFill>
                        </a:rPr>
                        <a:t>Goedel-Prover-V2, DeepSeek-Prover-V2, AlphaGeometry</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300" dirty="0">
                          <a:solidFill>
                            <a:srgbClr val="38761D"/>
                          </a:solidFill>
                        </a:rPr>
                        <a:t>facts and checks do not carry over: use a specialized prover</a:t>
                      </a:r>
                      <a:endParaRPr lang="en-US" sz="13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Numbers reported in papers, next to ours</a:t>
            </a:r>
            <a:endParaRPr lang="en-US" sz="3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4572000"/>
                <a:gridCol w="4297680"/>
              </a:tblGrid>
              <a:tr h="457200">
                <a:tc>
                  <a:txBody>
                    <a:bodyPr/>
                    <a:lstStyle/>
                    <a:p>
                      <a:pPr indent="0" marL="0">
                        <a:buNone/>
                      </a:pPr>
                      <a:r>
                        <a:rPr lang="en-US" sz="1500" b="1" dirty="0">
                          <a:solidFill>
                            <a:srgbClr val="FFFFFF"/>
                          </a:solidFill>
                        </a:rPr>
                        <a:t>Benchmark</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Reported in the paper or model card</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c>
                  <a:txBody>
                    <a:bodyPr/>
                    <a:lstStyle/>
                    <a:p>
                      <a:pPr indent="0" marL="0">
                        <a:buNone/>
                      </a:pPr>
                      <a:r>
                        <a:rPr lang="en-US" sz="1500" b="1" dirty="0">
                          <a:solidFill>
                            <a:srgbClr val="FFFFFF"/>
                          </a:solidFill>
                        </a:rPr>
                        <a:t>Ours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solidFill>
                      <a:srgbClr val="4472C4"/>
                    </a:solidFill>
                  </a:tcPr>
                </a:tc>
              </a:tr>
              <a:tr h="1188720">
                <a:tc>
                  <a:txBody>
                    <a:bodyPr/>
                    <a:lstStyle/>
                    <a:p>
                      <a:pPr indent="0" marL="0">
                        <a:buNone/>
                      </a:pPr>
                      <a:r>
                        <a:rPr lang="en-US" sz="1500" dirty="0">
                          <a:solidFill>
                            <a:schemeClr val="tx1"/>
                          </a:solidFill>
                        </a:rPr>
                        <a:t>MAMO Easy / Complex</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ORLM-LLaMA-3-8B 82.3 / 37.4% (fine-tuned)</a:t>
                      </a:r>
                      <a:endParaRPr lang="en-US" sz="1500" dirty="0"/>
                    </a:p>
                    <a:p>
                      <a:pPr indent="0" marL="0">
                        <a:buNone/>
                      </a:pPr>
                      <a:r>
                        <a:rPr lang="en-US" sz="1500" dirty="0">
                          <a:solidFill>
                            <a:schemeClr val="tx1"/>
                          </a:solidFill>
                        </a:rPr>
                        <a:t>STORM-Qwen3-4B 86.3 / 70.3% (SFT + RL)</a:t>
                      </a:r>
                      <a:endParaRPr lang="en-US" sz="1500" dirty="0"/>
                    </a:p>
                    <a:p>
                      <a:pPr indent="0" marL="0">
                        <a:buNone/>
                      </a:pPr>
                      <a:r>
                        <a:rPr lang="en-US" sz="1500" dirty="0">
                          <a:solidFill>
                            <a:schemeClr val="tx1"/>
                          </a:solidFill>
                        </a:rPr>
                        <a:t>OptiSkill with frontier models 90.8–94.3 / 56.8–64.0%</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no training: Qwen3-14B 82.8 / 37.4%, gpt-oss-20b 85.6 / 57.8%</a:t>
                      </a:r>
                      <a:endParaRPr lang="en-US" sz="1500" dirty="0"/>
                    </a:p>
                    <a:p>
                      <a:pPr indent="0" marL="0">
                        <a:buNone/>
                      </a:pPr>
                      <a:r>
                        <a:rPr lang="en-US" sz="1500" b="1" dirty="0">
                          <a:solidFill>
                            <a:srgbClr val="38761D"/>
                          </a:solidFill>
                        </a:rPr>
                        <a:t>ORLM-8B in our harness: 80.5 / 35.5%</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548640">
                <a:tc>
                  <a:txBody>
                    <a:bodyPr/>
                    <a:lstStyle/>
                    <a:p>
                      <a:pPr indent="0" marL="0">
                        <a:buNone/>
                      </a:pPr>
                      <a:r>
                        <a:rPr lang="en-US" sz="1500" dirty="0">
                          <a:solidFill>
                            <a:schemeClr val="tx1"/>
                          </a:solidFill>
                        </a:rPr>
                        <a:t>miniF2F, 32 tries</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Goedel-Prover-V2-8B 84.6%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the same model in our harness: 76.6%</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r h="822960">
                <a:tc>
                  <a:txBody>
                    <a:bodyPr/>
                    <a:lstStyle/>
                    <a:p>
                      <a:pPr indent="0" marL="0">
                        <a:buNone/>
                      </a:pPr>
                      <a:r>
                        <a:rPr lang="en-US" sz="1500" dirty="0">
                          <a:solidFill>
                            <a:schemeClr val="tx1"/>
                          </a:solidFill>
                        </a:rPr>
                        <a:t>IMO-AG-30 geometry</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dirty="0">
                          <a:solidFill>
                            <a:schemeClr val="tx1"/>
                          </a:solidFill>
                        </a:rPr>
                        <a:t>AlphaGeometry 25 of 30; its symbolic engine alone 14; average IMO gold medallist 25.9, average participant 15.2</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c>
                  <a:txBody>
                    <a:bodyPr/>
                    <a:lstStyle/>
                    <a:p>
                      <a:pPr indent="0" marL="0">
                        <a:buNone/>
                      </a:pPr>
                      <a:r>
                        <a:rPr lang="en-US" sz="1500" b="1" dirty="0">
                          <a:solidFill>
                            <a:srgbClr val="38761D"/>
                          </a:solidFill>
                        </a:rPr>
                        <a:t>engine alone 12 in our setup; with our models' points 13</a:t>
                      </a:r>
                      <a:endParaRPr lang="en-US" sz="1500" dirty="0"/>
                    </a:p>
                  </a:txBody>
                  <a:tcPr marL="54864" marR="54864" marT="54864" marB="54864" anchor="ctr">
                    <a:lnL w="9525" cap="flat" cmpd="sng" algn="ctr">
                      <a:solidFill>
                        <a:srgbClr val="BFBFBF"/>
                      </a:solidFill>
                      <a:prstDash val="solid"/>
                      <a:round/>
                      <a:headEnd type="none" w="med" len="med"/>
                      <a:tailEnd type="none" w="med" len="med"/>
                    </a:lnL>
                    <a:lnR w="9525" cap="flat" cmpd="sng" algn="ctr">
                      <a:solidFill>
                        <a:srgbClr val="BFBFBF"/>
                      </a:solidFill>
                      <a:prstDash val="solid"/>
                      <a:round/>
                      <a:headEnd type="none" w="med" len="med"/>
                      <a:tailEnd type="none" w="med" len="med"/>
                    </a:lnR>
                    <a:lnT w="9525" cap="flat" cmpd="sng" algn="ctr">
                      <a:solidFill>
                        <a:srgbClr val="BFBFBF"/>
                      </a:solidFill>
                      <a:prstDash val="solid"/>
                      <a:round/>
                      <a:headEnd type="none" w="med" len="med"/>
                      <a:tailEnd type="none" w="med" len="med"/>
                    </a:lnT>
                    <a:lnB w="9525" cap="flat" cmpd="sng" algn="ctr">
                      <a:solidFill>
                        <a:srgbClr val="BFBFBF"/>
                      </a:solidFill>
                      <a:prstDash val="solid"/>
                      <a:round/>
                      <a:headEnd type="none" w="med" len="med"/>
                      <a:tailEnd type="none" w="med" len="med"/>
                    </a:lnB>
                  </a:tcPr>
                </a:tc>
              </a:tr>
            </a:tbl>
          </a:graphicData>
        </a:graphic>
      </p:graphicFrame>
      <p:sp>
        <p:nvSpPr>
          <p:cNvPr id="4" name="Text 1"/>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Different harnesses and graders: for orientation only</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Setup and fairness</a:t>
            </a:r>
            <a:endParaRPr lang="en-US" sz="3600" dirty="0"/>
          </a:p>
        </p:txBody>
      </p:sp>
      <p:sp>
        <p:nvSpPr>
          <p:cNvPr id="3" name="Models"/>
          <p:cNvSpPr/>
          <p:nvPr/>
        </p:nvSpPr>
        <p:spPr>
          <a:xfrm>
            <a:off x="548640" y="1280160"/>
            <a:ext cx="5440680" cy="1463040"/>
          </a:xfrm>
          <a:prstGeom prst="roundRect">
            <a:avLst>
              <a:gd name="adj" fmla="val 5000"/>
            </a:avLst>
          </a:prstGeom>
          <a:solidFill>
            <a:srgbClr val="F2F2F2"/>
          </a:solidFill>
          <a:ln w="9525">
            <a:solidFill>
              <a:srgbClr val="D9D9D9"/>
            </a:solidFill>
            <a:prstDash val="solid"/>
          </a:ln>
        </p:spPr>
      </p:sp>
      <p:pic>
        <p:nvPicPr>
          <p:cNvPr id="4" name="icon robot" descr="/NAS/SJ/POSTECH/nlp/figs/icons/robot.png">    </p:cNvPr>
          <p:cNvPicPr>
            <a:picLocks noChangeAspect="1"/>
          </p:cNvPicPr>
          <p:nvPr/>
        </p:nvPicPr>
        <p:blipFill>
          <a:blip r:embed="rId1"/>
          <a:stretch>
            <a:fillRect/>
          </a:stretch>
        </p:blipFill>
        <p:spPr>
          <a:xfrm>
            <a:off x="731520" y="1463040"/>
            <a:ext cx="457200" cy="457200"/>
          </a:xfrm>
          <a:prstGeom prst="rect">
            <a:avLst/>
          </a:prstGeom>
        </p:spPr>
      </p:pic>
      <p:sp>
        <p:nvSpPr>
          <p:cNvPr id="5" name="Text 2"/>
          <p:cNvSpPr txBox="1"/>
          <p:nvPr/>
        </p:nvSpPr>
        <p:spPr>
          <a:xfrm>
            <a:off x="132588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Models</a:t>
            </a:r>
            <a:endParaRPr lang="en-US" sz="1800" dirty="0"/>
          </a:p>
        </p:txBody>
      </p:sp>
      <p:sp>
        <p:nvSpPr>
          <p:cNvPr id="6" name="Text 3"/>
          <p:cNvSpPr txBox="1"/>
          <p:nvPr/>
        </p:nvSpPr>
        <p:spPr>
          <a:xfrm>
            <a:off x="132588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open models run locally: Qwen3 1.7B–32B, Qwen3.6-35B, gpt-oss-20b and 120b; Goedel- and DeepSeek-Prover for proofs</a:t>
            </a:r>
            <a:endParaRPr lang="en-US" sz="1400" dirty="0"/>
          </a:p>
        </p:txBody>
      </p:sp>
      <p:sp>
        <p:nvSpPr>
          <p:cNvPr id="7" name="Benchmarks"/>
          <p:cNvSpPr/>
          <p:nvPr/>
        </p:nvSpPr>
        <p:spPr>
          <a:xfrm>
            <a:off x="6172200" y="1280160"/>
            <a:ext cx="5440680" cy="1463040"/>
          </a:xfrm>
          <a:prstGeom prst="roundRect">
            <a:avLst>
              <a:gd name="adj" fmla="val 5000"/>
            </a:avLst>
          </a:prstGeom>
          <a:solidFill>
            <a:srgbClr val="F2F2F2"/>
          </a:solidFill>
          <a:ln w="9525">
            <a:solidFill>
              <a:srgbClr val="D9D9D9"/>
            </a:solidFill>
            <a:prstDash val="solid"/>
          </a:ln>
        </p:spPr>
      </p:sp>
      <p:pic>
        <p:nvPicPr>
          <p:cNvPr id="8" name="icon shapes" descr="/NAS/SJ/POSTECH/nlp/figs/icons/shapes.png">    </p:cNvPr>
          <p:cNvPicPr>
            <a:picLocks noChangeAspect="1"/>
          </p:cNvPicPr>
          <p:nvPr/>
        </p:nvPicPr>
        <p:blipFill>
          <a:blip r:embed="rId2"/>
          <a:stretch>
            <a:fillRect/>
          </a:stretch>
        </p:blipFill>
        <p:spPr>
          <a:xfrm>
            <a:off x="6355080" y="1463040"/>
            <a:ext cx="457200" cy="457200"/>
          </a:xfrm>
          <a:prstGeom prst="rect">
            <a:avLst/>
          </a:prstGeom>
        </p:spPr>
      </p:pic>
      <p:sp>
        <p:nvSpPr>
          <p:cNvPr id="9" name="Text 5"/>
          <p:cNvSpPr txBox="1"/>
          <p:nvPr/>
        </p:nvSpPr>
        <p:spPr>
          <a:xfrm>
            <a:off x="6949440" y="14173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Benchmarks</a:t>
            </a:r>
            <a:endParaRPr lang="en-US" sz="1800" dirty="0"/>
          </a:p>
        </p:txBody>
      </p:sp>
      <p:sp>
        <p:nvSpPr>
          <p:cNvPr id="10" name="Text 6"/>
          <p:cNvSpPr txBox="1"/>
          <p:nvPr/>
        </p:nvSpPr>
        <p:spPr>
          <a:xfrm>
            <a:off x="6949440" y="1874520"/>
            <a:ext cx="4526280" cy="822960"/>
          </a:xfrm>
          <a:prstGeom prst="rect">
            <a:avLst/>
          </a:prstGeom>
          <a:noFill/>
          <a:ln/>
        </p:spPr>
        <p:txBody>
          <a:bodyPr wrap="square" lIns="0" tIns="0" rIns="0" bIns="0" rtlCol="0" anchor="t"/>
          <a:lstStyle/>
          <a:p>
            <a:pPr indent="0" marL="0">
              <a:buNone/>
            </a:pPr>
            <a:r>
              <a:rPr lang="en-US" sz="1400" dirty="0">
                <a:solidFill>
                  <a:schemeClr val="tx1"/>
                </a:solidFill>
              </a:rPr>
              <a:t>13 geometry and 8 optimization tasks (generated); 311 Codeforces geometry; 56 Solomon routing; 82 job-shop; 1,208 word problems (NL4OPT, IndustryOR, MAMO); MATH-500 + AIME; miniF2F</a:t>
            </a:r>
            <a:endParaRPr lang="en-US" sz="1400" dirty="0"/>
          </a:p>
        </p:txBody>
      </p:sp>
      <p:sp>
        <p:nvSpPr>
          <p:cNvPr id="11" name="Exact scoring"/>
          <p:cNvSpPr/>
          <p:nvPr/>
        </p:nvSpPr>
        <p:spPr>
          <a:xfrm>
            <a:off x="548640" y="2880360"/>
            <a:ext cx="5440680" cy="1463040"/>
          </a:xfrm>
          <a:prstGeom prst="roundRect">
            <a:avLst>
              <a:gd name="adj" fmla="val 5000"/>
            </a:avLst>
          </a:prstGeom>
          <a:solidFill>
            <a:srgbClr val="F2F2F2"/>
          </a:solidFill>
          <a:ln w="9525">
            <a:solidFill>
              <a:srgbClr val="D9D9D9"/>
            </a:solidFill>
            <a:prstDash val="solid"/>
          </a:ln>
        </p:spPr>
      </p:sp>
      <p:pic>
        <p:nvPicPr>
          <p:cNvPr id="12" name="icon check" descr="/NAS/SJ/POSTECH/nlp/figs/icons/check.png">    </p:cNvPr>
          <p:cNvPicPr>
            <a:picLocks noChangeAspect="1"/>
          </p:cNvPicPr>
          <p:nvPr/>
        </p:nvPicPr>
        <p:blipFill>
          <a:blip r:embed="rId3"/>
          <a:stretch>
            <a:fillRect/>
          </a:stretch>
        </p:blipFill>
        <p:spPr>
          <a:xfrm>
            <a:off x="731520" y="3063240"/>
            <a:ext cx="457200" cy="457200"/>
          </a:xfrm>
          <a:prstGeom prst="rect">
            <a:avLst/>
          </a:prstGeom>
        </p:spPr>
      </p:pic>
      <p:sp>
        <p:nvSpPr>
          <p:cNvPr id="13" name="Text 8"/>
          <p:cNvSpPr txBox="1"/>
          <p:nvPr/>
        </p:nvSpPr>
        <p:spPr>
          <a:xfrm>
            <a:off x="132588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Exact scoring</a:t>
            </a:r>
            <a:endParaRPr lang="en-US" sz="1800" dirty="0"/>
          </a:p>
        </p:txBody>
      </p:sp>
      <p:sp>
        <p:nvSpPr>
          <p:cNvPr id="14" name="Text 9"/>
          <p:cNvSpPr txBox="1"/>
          <p:nvPr/>
        </p:nvSpPr>
        <p:spPr>
          <a:xfrm>
            <a:off x="132588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geometry right on all 8 moved copies; plans obey every rule; contest programs pass all official tests; math and word problems by exact answer</a:t>
            </a:r>
            <a:endParaRPr lang="en-US" sz="1400" dirty="0"/>
          </a:p>
        </p:txBody>
      </p:sp>
      <p:sp>
        <p:nvSpPr>
          <p:cNvPr id="15" name="Fair comparisons"/>
          <p:cNvSpPr/>
          <p:nvPr/>
        </p:nvSpPr>
        <p:spPr>
          <a:xfrm>
            <a:off x="6172200" y="2880360"/>
            <a:ext cx="5440680" cy="1463040"/>
          </a:xfrm>
          <a:prstGeom prst="roundRect">
            <a:avLst>
              <a:gd name="adj" fmla="val 5000"/>
            </a:avLst>
          </a:prstGeom>
          <a:solidFill>
            <a:srgbClr val="F2F2F2"/>
          </a:solidFill>
          <a:ln w="9525">
            <a:solidFill>
              <a:srgbClr val="D9D9D9"/>
            </a:solidFill>
            <a:prstDash val="solid"/>
          </a:ln>
        </p:spPr>
      </p:sp>
      <p:pic>
        <p:nvPicPr>
          <p:cNvPr id="16" name="icon fact" descr="/NAS/SJ/POSTECH/nlp/figs/icons/fact.png">    </p:cNvPr>
          <p:cNvPicPr>
            <a:picLocks noChangeAspect="1"/>
          </p:cNvPicPr>
          <p:nvPr/>
        </p:nvPicPr>
        <p:blipFill>
          <a:blip r:embed="rId4"/>
          <a:stretch>
            <a:fillRect/>
          </a:stretch>
        </p:blipFill>
        <p:spPr>
          <a:xfrm>
            <a:off x="6355080" y="3063240"/>
            <a:ext cx="457200" cy="457200"/>
          </a:xfrm>
          <a:prstGeom prst="rect">
            <a:avLst/>
          </a:prstGeom>
        </p:spPr>
      </p:pic>
      <p:sp>
        <p:nvSpPr>
          <p:cNvPr id="17" name="Text 11"/>
          <p:cNvSpPr txBox="1"/>
          <p:nvPr/>
        </p:nvSpPr>
        <p:spPr>
          <a:xfrm>
            <a:off x="6949440" y="30175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Fair comparisons</a:t>
            </a:r>
            <a:endParaRPr lang="en-US" sz="1800" dirty="0"/>
          </a:p>
        </p:txBody>
      </p:sp>
      <p:sp>
        <p:nvSpPr>
          <p:cNvPr id="18" name="Text 12"/>
          <p:cNvSpPr txBox="1"/>
          <p:nvPr/>
        </p:nvSpPr>
        <p:spPr>
          <a:xfrm>
            <a:off x="6949440" y="34747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change at a time; predictions written before each run; every claim on 3 seeds; baselines run in our own harness</a:t>
            </a:r>
            <a:endParaRPr lang="en-US" sz="1400" dirty="0"/>
          </a:p>
        </p:txBody>
      </p:sp>
      <p:sp>
        <p:nvSpPr>
          <p:cNvPr id="19" name="Cost"/>
          <p:cNvSpPr/>
          <p:nvPr/>
        </p:nvSpPr>
        <p:spPr>
          <a:xfrm>
            <a:off x="548640" y="4480560"/>
            <a:ext cx="5440680" cy="1463040"/>
          </a:xfrm>
          <a:prstGeom prst="roundRect">
            <a:avLst>
              <a:gd name="adj" fmla="val 5000"/>
            </a:avLst>
          </a:prstGeom>
          <a:solidFill>
            <a:srgbClr val="F2F2F2"/>
          </a:solidFill>
          <a:ln w="9525">
            <a:solidFill>
              <a:srgbClr val="D9D9D9"/>
            </a:solidFill>
            <a:prstDash val="solid"/>
          </a:ln>
        </p:spPr>
      </p:sp>
      <p:pic>
        <p:nvPicPr>
          <p:cNvPr id="20" name="icon coins" descr="/NAS/SJ/POSTECH/nlp/figs/icons/coins.png">    </p:cNvPr>
          <p:cNvPicPr>
            <a:picLocks noChangeAspect="1"/>
          </p:cNvPicPr>
          <p:nvPr/>
        </p:nvPicPr>
        <p:blipFill>
          <a:blip r:embed="rId5"/>
          <a:stretch>
            <a:fillRect/>
          </a:stretch>
        </p:blipFill>
        <p:spPr>
          <a:xfrm>
            <a:off x="731520" y="4663440"/>
            <a:ext cx="457200" cy="457200"/>
          </a:xfrm>
          <a:prstGeom prst="rect">
            <a:avLst/>
          </a:prstGeom>
        </p:spPr>
      </p:pic>
      <p:sp>
        <p:nvSpPr>
          <p:cNvPr id="21" name="Text 14"/>
          <p:cNvSpPr txBox="1"/>
          <p:nvPr/>
        </p:nvSpPr>
        <p:spPr>
          <a:xfrm>
            <a:off x="132588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Cost</a:t>
            </a:r>
            <a:endParaRPr lang="en-US" sz="1800" dirty="0"/>
          </a:p>
        </p:txBody>
      </p:sp>
      <p:sp>
        <p:nvSpPr>
          <p:cNvPr id="22" name="Text 15"/>
          <p:cNvSpPr txBox="1"/>
          <p:nvPr/>
        </p:nvSpPr>
        <p:spPr>
          <a:xfrm>
            <a:off x="132588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every result reported with its output tokens per problem</a:t>
            </a:r>
            <a:endParaRPr lang="en-US" sz="1400" dirty="0"/>
          </a:p>
        </p:txBody>
      </p:sp>
      <p:sp>
        <p:nvSpPr>
          <p:cNvPr id="23" name="Hardware"/>
          <p:cNvSpPr/>
          <p:nvPr/>
        </p:nvSpPr>
        <p:spPr>
          <a:xfrm>
            <a:off x="6172200" y="4480560"/>
            <a:ext cx="5440680" cy="1463040"/>
          </a:xfrm>
          <a:prstGeom prst="roundRect">
            <a:avLst>
              <a:gd name="adj" fmla="val 5000"/>
            </a:avLst>
          </a:prstGeom>
          <a:solidFill>
            <a:srgbClr val="F2F2F2"/>
          </a:solidFill>
          <a:ln w="9525">
            <a:solidFill>
              <a:srgbClr val="D9D9D9"/>
            </a:solidFill>
            <a:prstDash val="solid"/>
          </a:ln>
        </p:spPr>
      </p:sp>
      <p:pic>
        <p:nvPicPr>
          <p:cNvPr id="24" name="icon gpu" descr="/NAS/SJ/POSTECH/nlp/figs/icons/gpu.png">    </p:cNvPr>
          <p:cNvPicPr>
            <a:picLocks noChangeAspect="1"/>
          </p:cNvPicPr>
          <p:nvPr/>
        </p:nvPicPr>
        <p:blipFill>
          <a:blip r:embed="rId6"/>
          <a:stretch>
            <a:fillRect/>
          </a:stretch>
        </p:blipFill>
        <p:spPr>
          <a:xfrm>
            <a:off x="6355080" y="4663440"/>
            <a:ext cx="457200" cy="457200"/>
          </a:xfrm>
          <a:prstGeom prst="rect">
            <a:avLst/>
          </a:prstGeom>
        </p:spPr>
      </p:pic>
      <p:sp>
        <p:nvSpPr>
          <p:cNvPr id="25" name="Text 17"/>
          <p:cNvSpPr txBox="1"/>
          <p:nvPr/>
        </p:nvSpPr>
        <p:spPr>
          <a:xfrm>
            <a:off x="6949440" y="4617720"/>
            <a:ext cx="4480560" cy="457200"/>
          </a:xfrm>
          <a:prstGeom prst="rect">
            <a:avLst/>
          </a:prstGeom>
          <a:noFill/>
          <a:ln/>
        </p:spPr>
        <p:txBody>
          <a:bodyPr wrap="square" lIns="0" tIns="0" rIns="0" bIns="0" rtlCol="0" anchor="ctr"/>
          <a:lstStyle/>
          <a:p>
            <a:pPr indent="0" marL="0">
              <a:buNone/>
            </a:pPr>
            <a:r>
              <a:rPr lang="en-US" sz="1800" b="1" dirty="0">
                <a:solidFill>
                  <a:schemeClr val="tx1"/>
                </a:solidFill>
              </a:rPr>
              <a:t>Hardware</a:t>
            </a:r>
            <a:endParaRPr lang="en-US" sz="1800" dirty="0"/>
          </a:p>
        </p:txBody>
      </p:sp>
      <p:sp>
        <p:nvSpPr>
          <p:cNvPr id="26" name="Text 18"/>
          <p:cNvSpPr txBox="1"/>
          <p:nvPr/>
        </p:nvSpPr>
        <p:spPr>
          <a:xfrm>
            <a:off x="6949440" y="5074920"/>
            <a:ext cx="4526280" cy="822960"/>
          </a:xfrm>
          <a:prstGeom prst="rect">
            <a:avLst/>
          </a:prstGeom>
          <a:noFill/>
          <a:ln/>
        </p:spPr>
        <p:txBody>
          <a:bodyPr wrap="square" lIns="0" tIns="0" rIns="0" bIns="0" rtlCol="0" anchor="t"/>
          <a:lstStyle/>
          <a:p>
            <a:pPr indent="0" marL="0">
              <a:buNone/>
            </a:pPr>
            <a:r>
              <a:rPr lang="en-US" sz="1400" dirty="0">
                <a:solidFill>
                  <a:schemeClr val="tx1"/>
                </a:solidFill>
              </a:rPr>
              <a:t>one model per GPU (RTX PRO 6000, 96 GB); the small models fit one 24 GB GPU</a:t>
            </a:r>
            <a:endParaRPr lang="en-US" sz="14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274320"/>
            <a:ext cx="11064240" cy="914400"/>
          </a:xfrm>
          <a:prstGeom prst="rect">
            <a:avLst/>
          </a:prstGeom>
          <a:noFill/>
          <a:ln/>
        </p:spPr>
        <p:txBody>
          <a:bodyPr wrap="square" rtlCol="0" anchor="ctr"/>
          <a:lstStyle/>
          <a:p>
            <a:pPr algn="l" indent="0" marL="0">
              <a:buNone/>
            </a:pPr>
            <a:r>
              <a:rPr lang="en-US" sz="3600" dirty="0">
                <a:solidFill>
                  <a:schemeClr val="tx1"/>
                </a:solidFill>
              </a:rPr>
              <a:t>Where the recipe stops, and what is next</a:t>
            </a:r>
            <a:endParaRPr lang="en-US" sz="3600" dirty="0"/>
          </a:p>
        </p:txBody>
      </p:sp>
      <p:sp>
        <p:nvSpPr>
          <p:cNvPr id="3" name="Where it stops"/>
          <p:cNvSpPr/>
          <p:nvPr/>
        </p:nvSpPr>
        <p:spPr>
          <a:xfrm>
            <a:off x="548640" y="1417320"/>
            <a:ext cx="5440680" cy="3749040"/>
          </a:xfrm>
          <a:prstGeom prst="roundRect">
            <a:avLst>
              <a:gd name="adj" fmla="val 1951"/>
            </a:avLst>
          </a:prstGeom>
          <a:solidFill>
            <a:srgbClr val="F2F2F2"/>
          </a:solidFill>
          <a:ln w="9525">
            <a:solidFill>
              <a:srgbClr val="D9D9D9"/>
            </a:solidFill>
            <a:prstDash val="solid"/>
          </a:ln>
        </p:spPr>
      </p:sp>
      <p:sp>
        <p:nvSpPr>
          <p:cNvPr id="4" name="Text 2"/>
          <p:cNvSpPr txBox="1"/>
          <p:nvPr/>
        </p:nvSpPr>
        <p:spPr>
          <a:xfrm>
            <a:off x="822960" y="1554480"/>
            <a:ext cx="4892040" cy="548640"/>
          </a:xfrm>
          <a:prstGeom prst="rect">
            <a:avLst/>
          </a:prstGeom>
          <a:noFill/>
          <a:ln/>
        </p:spPr>
        <p:txBody>
          <a:bodyPr wrap="square" lIns="0" tIns="0" rIns="0" bIns="0" rtlCol="0" anchor="ctr"/>
          <a:lstStyle/>
          <a:p>
            <a:pPr indent="0" marL="0">
              <a:buNone/>
            </a:pPr>
            <a:r>
              <a:rPr lang="en-US" sz="2600" b="1" dirty="0">
                <a:solidFill>
                  <a:srgbClr val="C00000"/>
                </a:solidFill>
              </a:rPr>
              <a:t>Where it stops</a:t>
            </a:r>
            <a:endParaRPr lang="en-US" sz="2600" dirty="0"/>
          </a:p>
        </p:txBody>
      </p:sp>
      <p:sp>
        <p:nvSpPr>
          <p:cNvPr id="5" name="Text 3"/>
          <p:cNvSpPr txBox="1"/>
          <p:nvPr/>
        </p:nvSpPr>
        <p:spPr>
          <a:xfrm>
            <a:off x="82296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Proofs: a skill, not a fact (use a specialized prover)</a:t>
            </a:r>
            <a:endParaRPr lang="en-US" sz="1700" dirty="0"/>
          </a:p>
          <a:p>
            <a:pPr marL="342900" indent="-342900">
              <a:spcAft>
                <a:spcPts val="800"/>
              </a:spcAft>
              <a:buSzPct val="100000"/>
              <a:buChar char="•"/>
            </a:pPr>
            <a:r>
              <a:rPr lang="en-US" sz="1700" dirty="0">
                <a:solidFill>
                  <a:schemeClr val="tx1"/>
                </a:solidFill>
              </a:rPr>
              <a:t>Automatic facts only within one kind of problem</a:t>
            </a:r>
            <a:endParaRPr lang="en-US" sz="1700" dirty="0"/>
          </a:p>
          <a:p>
            <a:pPr marL="342900" indent="-342900">
              <a:spcAft>
                <a:spcPts val="800"/>
              </a:spcAft>
              <a:buSzPct val="100000"/>
              <a:buChar char="•"/>
            </a:pPr>
            <a:r>
              <a:rPr lang="en-US" sz="1700" dirty="0">
                <a:solidFill>
                  <a:schemeClr val="tx1"/>
                </a:solidFill>
              </a:rPr>
              <a:t>Checks leak: 24–37% of wrong contest programs pass the examples</a:t>
            </a:r>
            <a:endParaRPr lang="en-US" sz="1700" dirty="0"/>
          </a:p>
          <a:p>
            <a:pPr marL="342900" indent="-342900">
              <a:spcAft>
                <a:spcPts val="800"/>
              </a:spcAft>
              <a:buSzPct val="100000"/>
              <a:buChar char="•"/>
            </a:pPr>
            <a:r>
              <a:rPr lang="en-US" sz="1700" dirty="0">
                <a:solidFill>
                  <a:schemeClr val="tx1"/>
                </a:solidFill>
              </a:rPr>
              <a:t>Missing world knowledge: thinking adds 2–5 points at 70–200× tokens</a:t>
            </a:r>
            <a:endParaRPr lang="en-US" sz="1700" dirty="0"/>
          </a:p>
        </p:txBody>
      </p:sp>
      <p:sp>
        <p:nvSpPr>
          <p:cNvPr id="6" name="Next"/>
          <p:cNvSpPr/>
          <p:nvPr/>
        </p:nvSpPr>
        <p:spPr>
          <a:xfrm>
            <a:off x="6172200" y="1417320"/>
            <a:ext cx="5440680" cy="3749040"/>
          </a:xfrm>
          <a:prstGeom prst="roundRect">
            <a:avLst>
              <a:gd name="adj" fmla="val 1951"/>
            </a:avLst>
          </a:prstGeom>
          <a:solidFill>
            <a:srgbClr val="F2F2F2"/>
          </a:solidFill>
          <a:ln w="9525">
            <a:solidFill>
              <a:srgbClr val="D9D9D9"/>
            </a:solidFill>
            <a:prstDash val="solid"/>
          </a:ln>
        </p:spPr>
      </p:sp>
      <p:sp>
        <p:nvSpPr>
          <p:cNvPr id="7" name="Text 5"/>
          <p:cNvSpPr txBox="1"/>
          <p:nvPr/>
        </p:nvSpPr>
        <p:spPr>
          <a:xfrm>
            <a:off x="6446520" y="1554480"/>
            <a:ext cx="4892040" cy="548640"/>
          </a:xfrm>
          <a:prstGeom prst="rect">
            <a:avLst/>
          </a:prstGeom>
          <a:noFill/>
          <a:ln/>
        </p:spPr>
        <p:txBody>
          <a:bodyPr wrap="square" lIns="0" tIns="0" rIns="0" bIns="0" rtlCol="0" anchor="ctr"/>
          <a:lstStyle/>
          <a:p>
            <a:pPr indent="0" marL="0">
              <a:buNone/>
            </a:pPr>
            <a:r>
              <a:rPr lang="en-US" sz="2600" b="1" dirty="0">
                <a:solidFill>
                  <a:srgbClr val="4472C4"/>
                </a:solidFill>
              </a:rPr>
              <a:t>Next</a:t>
            </a:r>
            <a:endParaRPr lang="en-US" sz="2600" dirty="0"/>
          </a:p>
        </p:txBody>
      </p:sp>
      <p:sp>
        <p:nvSpPr>
          <p:cNvPr id="8" name="Text 6"/>
          <p:cNvSpPr txBox="1"/>
          <p:nvPr/>
        </p:nvSpPr>
        <p:spPr>
          <a:xfrm>
            <a:off x="6446520" y="2194560"/>
            <a:ext cx="4892040" cy="283464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chemeClr val="tx1"/>
                </a:solidFill>
              </a:rPr>
              <a:t>Finish the held-out MAMO test (more models, 3 seeds)</a:t>
            </a:r>
            <a:endParaRPr lang="en-US" sz="1700" dirty="0"/>
          </a:p>
          <a:p>
            <a:pPr marL="342900" indent="-342900">
              <a:spcAft>
                <a:spcPts val="800"/>
              </a:spcAft>
              <a:buSzPct val="100000"/>
              <a:buChar char="•"/>
            </a:pPr>
            <a:r>
              <a:rPr lang="en-US" sz="1700" dirty="0">
                <a:solidFill>
                  <a:schemeClr val="tx1"/>
                </a:solidFill>
              </a:rPr>
              <a:t>Errors no check catches: a perfect check adds only 1–3 points on word problems; the rest run but model the problem wrong</a:t>
            </a:r>
            <a:endParaRPr lang="en-US" sz="1700" dirty="0"/>
          </a:p>
          <a:p>
            <a:pPr marL="342900" indent="-342900">
              <a:spcAft>
                <a:spcPts val="800"/>
              </a:spcAft>
              <a:buSzPct val="100000"/>
              <a:buChar char="•"/>
            </a:pPr>
            <a:r>
              <a:rPr lang="en-US" sz="1700" dirty="0">
                <a:solidFill>
                  <a:schemeClr val="tx1"/>
                </a:solidFill>
              </a:rPr>
              <a:t>Automatic facts for each problem type; final report</a:t>
            </a:r>
            <a:endParaRPr lang="en-US" sz="1700" dirty="0"/>
          </a:p>
        </p:txBody>
      </p:sp>
      <p:sp>
        <p:nvSpPr>
          <p:cNvPr id="9" name="Text 7"/>
          <p:cNvSpPr txBox="1"/>
          <p:nvPr/>
        </p:nvSpPr>
        <p:spPr>
          <a:xfrm>
            <a:off x="548640" y="5669280"/>
            <a:ext cx="11064240" cy="548640"/>
          </a:xfrm>
          <a:prstGeom prst="rect">
            <a:avLst/>
          </a:prstGeom>
          <a:noFill/>
          <a:ln/>
        </p:spPr>
        <p:txBody>
          <a:bodyPr wrap="square" lIns="0" tIns="0" rIns="0" bIns="0" rtlCol="0" anchor="ctr"/>
          <a:lstStyle/>
          <a:p>
            <a:pPr algn="ctr" indent="0" marL="0">
              <a:buNone/>
            </a:pPr>
            <a:r>
              <a:rPr lang="en-US" sz="2000" dirty="0">
                <a:solidFill>
                  <a:schemeClr val="tx1"/>
                </a:solidFill>
              </a:rPr>
              <a:t>Every claim pre-registered and checked on 3 seeds; accuracy always reported with its token cost</a:t>
            </a:r>
            <a:endParaRPr lang="en-US" sz="2000" dirty="0"/>
          </a:p>
        </p:txBody>
      </p:sp>
      <p:sp>
        <p:nvSpPr>
          <p:cNvPr id="25" name="Slide Number Placeholder 0"/>
          <p:cNvSpPr>
            <a:spLocks noGrp="1"/>
          </p:cNvSpPr>
          <p:nvPr>
            <p:ph type="sldNum" sz="quarter" idx="4294967295"/>
          </p:nvPr>
        </p:nvSpPr>
        <p:spPr>
          <a:xfrm>
            <a:off x="11155680" y="6355080"/>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8C8C8C"/>
                </a:solidFill>
              </a:defRPr>
            </a:lvl1pPr>
          </a:lstStyle>
          <a:p>
            <a:pPr algn="r"/>
            <a:fld id="{F7021451-1387-4CA6-816F-3879F97B5CBC}" type="slidenum">
              <a:rPr b="0" lang="en-US"/>
              <a:t>21</a:t>
            </a:fld>
            <a:endParaRPr lang="en-US"/>
          </a:p>
        </p:txBody>
      </p:sp>
    </p:spTree>
  </p:cSld>
  <p:clrMapOvr>
    <a:masterClrMapping/>
  </p:clrMapOvr>
</p:sld>
</file>

<file path=ppt/theme/theme1.xml><?xml version="1.0" encoding="utf-8"?>
<a:theme xmlns:a="http://schemas.openxmlformats.org/drawingml/2006/main" name="Office Theme">
  <a:themeElements>
    <a:clrScheme name="Office Them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Theme">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21</Slides>
  <Notes>21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21</vt:i4>
      </vt:variant>
    </vt:vector>
  </HeadingPairs>
  <TitlesOfParts>
    <vt:vector size="2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Solving Computational Math with LLMs, Accurately and Cheaply</dc:title>
  <dc:subject>PptxGenJS Presentation</dc:subject>
  <dc:creator>POSTECH graduate NLP course project</dc:creator>
  <cp:lastModifiedBy>POSTECH graduate NLP course project</cp:lastModifiedBy>
  <cp:revision>1</cp:revision>
  <dcterms:created xsi:type="dcterms:W3CDTF">2026-10-19T19:49:27Z</dcterms:created>
  <dcterms:modified xsi:type="dcterms:W3CDTF">2026-10-19T19:49:27Z</dcterms:modified>
</cp:coreProperties>
</file>