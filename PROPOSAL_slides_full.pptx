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f31403b-c504-ece9-7d79-2ac06a00f5fe}">
          <p14:sldIdLst>
            <p14:sldId id="256"/>
            <p14:sldId id="257"/>
            <p14:sldId id="258"/>
            <p14:sldId id="259"/>
            <p14:sldId id="260"/>
          </p14:sldIdLst>
        </p14:section>
        <p14:section name="Findings" id="{d1fca138-3c5a-fc9f-c45f-2435f210136f}">
          <p14:sldIdLst>
            <p14:sldId id="261"/>
            <p14:sldId id="262"/>
            <p14:sldId id="263"/>
            <p14:sldId id="264"/>
            <p14:sldId id="265"/>
            <p14:sldId id="266"/>
            <p14:sldId id="267"/>
            <p14:sldId id="268"/>
          </p14:sldIdLst>
        </p14:section>
        <p14:section name="Method" id="{ea780a00-806f-0f52-711b-99dce0616fe3}">
          <p14:sldIdLst>
            <p14:sldId id="269"/>
            <p14:sldId id="270"/>
            <p14:sldId id="271"/>
            <p14:sldId id="272"/>
            <p14:sldId id="273"/>
            <p14:sldId id="274"/>
            <p14:sldId id="275"/>
          </p14:sldIdLst>
        </p14:section>
        <p14:section name="Next" id="{4cf18475-c252-ad80-10e8-8163d1a64914}">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problems are: exact geometry from coordinates; real contest problems (CodeContests, Codeforces geometry, official hidden tests); routing and scheduling benchmarks (Solomon, OR-Library) that need a solver library and have no LeetCode equivalent; optimization word problems (NL4OPT, IndustryOR, MAMO); and competition math (MATH-500, AIME) and Lean proofs (miniF2F). LeetCode comparison is a rough community rule of thumb (Easy about Codeforces 800-1200, Medium 1200-1800, Hard 1800-2300). Our contest set: median rating 2200, 142 of 311 at 2400 or more (4 unrated not shown). gpt-oss-120b at high effort solves 89% of the easiest band and 48% of the 2400+ band; the generated geometry tasks resemble LeetCode 812 (Easy, triangle area) and 587 (Hard, convex hull) but must be exactly right on moved, turned and mirrored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00" b="1" dirty="0">
                <a:solidFill>
                  <a:srgbClr val="4472C4"/>
                </a:solidFill>
              </a:rPr>
              <a:t>≈ LeetCode Easy–Hard (#812, #587)</a:t>
            </a:r>
            <a:endParaRPr lang="en-US" sz="120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00" b="1" dirty="0">
                <a:solidFill>
                  <a:srgbClr val="C00000"/>
                </a:solidFill>
              </a:rPr>
              <a:t>mostly LeetCode Hard or harder</a:t>
            </a:r>
            <a:endParaRPr lang="en-US" sz="120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00" b="1" dirty="0">
                <a:solidFill>
                  <a:srgbClr val="ED7D31"/>
                </a:solidFill>
              </a:rPr>
              <a:t>no LeetCode match: needs a solver</a:t>
            </a:r>
            <a:endParaRPr lang="en-US" sz="120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00" b="1" dirty="0">
                <a:solidFill>
                  <a:srgbClr val="38761D"/>
                </a:solidFill>
              </a:rPr>
              <a:t>school level, but the solver API is hard</a:t>
            </a:r>
            <a:endParaRPr lang="en-US" sz="120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00" b="1" dirty="0">
                <a:solidFill>
                  <a:srgbClr val="595959"/>
                </a:solidFill>
              </a:rPr>
              <a:t>not a coding test</a:t>
            </a:r>
            <a:endParaRPr lang="en-US" sz="120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on the LeetCode scale (Codeforces rating; rough rule of thumb)</a:t>
            </a:r>
            <a:endParaRPr lang="en-US" sz="1500" dirty="0"/>
          </a:p>
        </p:txBody>
      </p:sp>
      <p:sp>
        <p:nvSpPr>
          <p:cNvPr id="34" name="zone LeetCode Easy"/>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LeetCode Easy</a:t>
            </a:r>
            <a:endParaRPr lang="en-US" sz="1300" dirty="0"/>
          </a:p>
        </p:txBody>
      </p:sp>
      <p:sp>
        <p:nvSpPr>
          <p:cNvPr id="36" name="zone Medium"/>
          <p:cNvSpPr/>
          <p:nvPr/>
        </p:nvSpPr>
        <p:spPr>
          <a:xfrm>
            <a:off x="2403566" y="4983480"/>
            <a:ext cx="2233749"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2233749" cy="347472"/>
          </a:xfrm>
          <a:prstGeom prst="rect">
            <a:avLst/>
          </a:prstGeom>
          <a:noFill/>
          <a:ln/>
        </p:spPr>
        <p:txBody>
          <a:bodyPr wrap="square" lIns="0" tIns="0" rIns="0" bIns="0" rtlCol="0" anchor="ctr"/>
          <a:lstStyle/>
          <a:p>
            <a:pPr algn="ctr" indent="0" marL="0">
              <a:buNone/>
            </a:pPr>
            <a:r>
              <a:rPr lang="en-US" sz="1300" b="1" dirty="0">
                <a:solidFill>
                  <a:schemeClr val="tx1"/>
                </a:solidFill>
              </a:rPr>
              <a:t>Medium</a:t>
            </a:r>
            <a:endParaRPr lang="en-US" sz="1300" dirty="0"/>
          </a:p>
        </p:txBody>
      </p:sp>
      <p:sp>
        <p:nvSpPr>
          <p:cNvPr id="38" name="zone Hard"/>
          <p:cNvSpPr/>
          <p:nvPr/>
        </p:nvSpPr>
        <p:spPr>
          <a:xfrm>
            <a:off x="4637314"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4637314"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Hard</a:t>
            </a:r>
            <a:endParaRPr lang="en-US" sz="1300" dirty="0"/>
          </a:p>
        </p:txBody>
      </p:sp>
      <p:sp>
        <p:nvSpPr>
          <p:cNvPr id="40" name="zone harder than LeetCode"/>
          <p:cNvSpPr/>
          <p:nvPr/>
        </p:nvSpPr>
        <p:spPr>
          <a:xfrm>
            <a:off x="6498771" y="4983480"/>
            <a:ext cx="4839789" cy="347472"/>
          </a:xfrm>
          <a:prstGeom prst="rect">
            <a:avLst/>
          </a:prstGeom>
          <a:solidFill>
            <a:srgbClr val="FADBD8"/>
          </a:solidFill>
          <a:ln w="12700">
            <a:solidFill>
              <a:srgbClr val="FFFFFF"/>
            </a:solidFill>
            <a:prstDash val="solid"/>
          </a:ln>
        </p:spPr>
      </p:sp>
      <p:sp>
        <p:nvSpPr>
          <p:cNvPr id="41" name="Text 34"/>
          <p:cNvSpPr txBox="1"/>
          <p:nvPr/>
        </p:nvSpPr>
        <p:spPr>
          <a:xfrm>
            <a:off x="6498771" y="4983480"/>
            <a:ext cx="4839789" cy="347472"/>
          </a:xfrm>
          <a:prstGeom prst="rect">
            <a:avLst/>
          </a:prstGeom>
          <a:noFill/>
          <a:ln/>
        </p:spPr>
        <p:txBody>
          <a:bodyPr wrap="square" lIns="0" tIns="0" rIns="0" bIns="0" rtlCol="0" anchor="ctr"/>
          <a:lstStyle/>
          <a:p>
            <a:pPr algn="ctr" indent="0" marL="0">
              <a:buNone/>
            </a:pPr>
            <a:r>
              <a:rPr lang="en-US" sz="1300" b="1" dirty="0">
                <a:solidFill>
                  <a:schemeClr val="tx1"/>
                </a:solidFill>
              </a:rPr>
              <a:t>harder than LeetCode</a:t>
            </a:r>
            <a:endParaRPr lang="en-US" sz="1300" dirty="0"/>
          </a:p>
        </p:txBody>
      </p:sp>
      <p:sp>
        <p:nvSpPr>
          <p:cNvPr id="42"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3" name="Text 36"/>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4" name="Text 37"/>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5"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6" name="Text 39"/>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7" name="Text 40"/>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8"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9" name="Text 42"/>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0" name="Text 43"/>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1"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2" name="Text 45"/>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3" name="Text 46"/>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4"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5" name="Text 48"/>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6" name="Text 49"/>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7"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8" name="Text 51"/>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9" name="Text 52"/>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0"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1" name="Text 54"/>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2" name="Text 55"/>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3" name="Text 56"/>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4" name="Text 5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(LeetCode Hard); 46% are 2400+,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2026-10-19T12:49:32Z</dcterms:created>
  <dcterms:modified xsi:type="dcterms:W3CDTF">2026-10-19T12:49:32Z</dcterms:modified>
</cp:coreProperties>
</file>