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charts/chart3.xml" ContentType="application/vnd.openxmlformats-officedocument.drawingml.chart+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4.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Talk" id="{a0739146-e50c-9417-10c5-72f6444c1a94}">
          <p14:sldIdLst>
            <p14:sldId id="256"/>
            <p14:sldId id="257"/>
            <p14:sldId id="258"/>
            <p14:sldId id="259"/>
            <p14:sldId id="260"/>
            <p14:sldId id="261"/>
            <p14:sldId id="262"/>
            <p14:sldId id="263"/>
            <p14:sldId id="264"/>
          </p14:sldIdLst>
        </p14:section>
        <p14:section name="Extra pages" id="{f81be13e-5b73-fb5f-f47a-eed46820a24e}">
          <p14:sldIdLst>
            <p14:sldId id="265"/>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hint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(10초) 안녕하세요, 5조입니다. 저희는 답을 정확히 계산해야 하는 수학 문제를 LLM이 프로그램을 짜서 푸는 경우에 집중합니다. 목표는 더 적은 토큰으로 맞는 답을 얻는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저희가 푸는 문제는 네 종류입니다. 기하와 Codeforces 경시 문제는 맞는 알고리즘이, 배송 경로와 최적화 문장제는 솔버를 맞게 부르는 법이 필요합니다. 경시 문제의 중앙값은 Codeforces Master 수준입니다. 답이 정확히 하나라 코드로 채점할 수 있고, 필요한 것이 서로 달라서 추가 노력을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(15초) LLM은 말로 답할 수도, 프로그램을 짤 수도 있습니다. 같은 도형을 옮기고 돌리면 말로 한 답은 매번 바뀌지만, 프로그램은 항상 436입니다. 그래서 계산은 프로그램에 맡깁니다.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(25초) 하지만 두 가지가 문제입니다. 첫째, 프로그램은 조용히 틀립니다. 같은 문제에 보조 코드만 더하면 6 대신 0을 내고 에러도 없습니다. 없는 함수를 불러 죽기도 합니다. 둘째, 오래 생각하면 비쌉니다. gpt-oss-120b는 토큰을 4.4배 써서 9점을 더 얻습니다. 그래서 추가 노력을 힌트, 공짜 검사, 생각 중 어디에 쓸지가 저희 질문입니다.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(30초) 첫 번째 발견입니다. 매뉴얼이 아니라 짧은 힌트를 주세요. 트럭 경로를 짜는 과제에 OR-Tools 사용법 열한 줄을 붙이면, Qwen3-32B가 맞는 함수를 불러 최적 경로를 찾습니다. 긴 참조 문서를 주면 없는 함수를 지어내 죽습니다. 30문제에서 아무것도 안 주면 23%, 오래 생각하면 3%, 짧은 힌트는 83%입니다. 이 힌트를 사람 없이 고르는 방법은 뒤의 방법 슬라이드에서 보여 드립니다.
[참고, 읽지 않음] 모델은 답을 무작위로 뽑기 때문에 같은 실험도 돌릴 때마다 조금씩 다릅니다. 짧은 힌트 막대는 같은 실험을 세 번 돌린 평균입니다(77, 83, 90%). 나머지 막대는 한 번씩 돌린 결과입니다.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두 번째 발견입니다. 공짜 검사가 실패할 때만 생각하게 하세요. 공짜 검사란 프로그램을 실행해서 이미 아는 것과 비교해 보는 것으로, 정답도 추가 생각도 필요 없습니다. 문제에 '막대 3, 4, 5면 답 0'이라는 예제가 있으면, 모델 없이 우리 프로그램을 3, 4, 5로 돌려 봅니다. 0이 나오면 그대로 내고, 다르면 그 문제만 더 생각합니다. 예제가 없으면 프로그램을 두 번 짜서 비교합니다. 그러면 경시 문제에서 66%, 기하에서 99%로, 항상 생각할 때와 같은 정확도를 18에서 27% 적은 토큰에 얻습니다.
[참고, 읽지 않음] 경시 66.3%는 예제와, 작은 입력을 전부 따져 보는 느린 프로그램, 두 검사를 함께 쓴 결과입니다. 예제만 쓰면 20k 토큰에 65.0%입니다.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둘을 합친 것이 저희 방법입니다. 힌트를 붙여 쓰고, 검사하고, 실패할 때만 생각하고, 같은 종류가 다시 오면 재사용합니다. 힌트는 사람 없이 이렇게 고릅니다. 모델이 같은 종류의 문제에 짰던 프로그램 중 검사를 통과한 것을 모으고, 가장 짧은 것을 힌트로 씁니다. 실제 문제 하나에서는 힌트 없이 죽던 프로그램이 힌트로 바로 20000을 맞혀, 5.3k 대신 0.6k 토큰을 썼습니다. 기하와 최적화 208문제를 세 모델로 풀면, 답이 갈리는 문제에 생각을 몰아주는 기존 방식은 74%, 저희는 87%이고 토큰도 적습니다.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(40초) 새로운 점은 세 가지입니다. 학습 없이 공짜 검사로 생각할 때를 정하고, 정답 없이 모델 자신의 프로그램을 힌트로 쓰며, 파인튜닝한 특화 모델 ORLM-8B와 같은 69.5%를 학습하지 않은 8B 모델로 냅니다. 다음으로는 힌트와 검사를 더 정확하고 싸게 만들겠습니다. 문제 종류마다 힌트를 자동으로 고르고, 토큰 없이 더 많은 실수를 잡는 검사를 찾고, 더 많은 모델에서 확인해 보고서와 코드로 내겠습니다. 정리하면, 짧은 힌트를 먼저 주고, 공짜 검사가 실패한 곳에서만 생각하게 하자는 것입니다.
[더 자세히: 질문이 나오거나 시간이 남을 때]
첫째 줄, 생각을 어디에 쓸지. 기존 방법은 어려워 보이는 문제에 계산을 더 쓰는 Snell 등의 방식과, 언제 생각할지를 강화학습으로 가르치는 Thinkless, AdaptThink입니다. 저희는 정답 없이 돌리는 공짜 검사가 실패한 문제에만 생각을 씁니다. 기하와 최적화 208문제를 세 모델로 풀면 74%가 87%로 오르고, 토큰은 문제당 4.1k에서 2.5k로 줄었습니다. 87%는 사람이 쓴 힌트를 쓴 결과이고, 검색으로 찾은 힌트로도 84%입니다.
둘째 줄, 모델에게 무엇을 주는지. 기존에는 매뉴얼 전체를 주거나, 더 큰 교사 모델이 짜서 정답으로 확인한 프로그램 모음을 줍니다. 저희 힌트는 모델이 다른 문제에서 짜서 공짜 검사를 통과한 자기 프로그램입니다. 끝까지 남겨 둔 MAMO 벤치마크에서 사람이 쓴 힌트와 같은 79%를 냈습니다.
셋째 줄, 비용. ORLM-8B는 최적화 문장제용으로 파인튜닝한 공개 모델이고, 모델 카드의 형식과 솔버, 그리디 디코딩으로 저희 채점기에서 돌렸습니다: MAMO 69.5%, 문제당 1.1k 토큰(샘플링하면 64~66%). Qwen3-8B는 학습 없이 자기 힌트를 붙여 프로그램을 한 번 짜고 실행이 안 될 때만 생각하게 해서 69.5%, 1.0k 토큰입니다. 두 버전 검사까지 쓰면 71%(3.1k), gpt-oss-20b는 78.8%입니다.
다음 계획. 하나, 힌트: 지금은 같은 종류의 문제 안에서만 자동 힌트가 통하므로, 새 문제의 종류를 먼저 알아내고 종류마다 힌트를 자동으로 고릅니다. 둘, 검사: MAMO에서 남은 오류의 절반쯤은 정답 라벨이 의심스러운 문제이고, 나머지는 실행도 되고 두 버전이 일치하지만 문제를 잘못 수식으로 옮긴 경우입니다. 이런 실수를 다른 관점으로 잡는 값싼 검사를 찾습니다. 셋, MAMO 검증을 Qwen3-32B와 Qwen3.6까지 세 번씩 마치고, 최종 보고서와 코드를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(5초) 감사합니다. 질문 받겠습니다.
[발표자용] 예상 질문 → 보충 슬라이드 번호 (슬라이드 쇼에서 번호를 누르고 Enter):
10: Why these problems? How do they differ? (slide 2)
11: Do the findings cover every kind? (slide 2)
12: How hard are the problems? (slide 2)
13: Why does helper code change the answer? (slide 4)
14: What exactly is the hint? Isn't it the answer? (slide 5)
15, 24: How do we get the exact hint? (slide 5)
16, 17: How do we get a hint that works, cheaply? (slide 5)
18: Can retrieval (RAG) find the hint? (slide 5)
19: Why can thinking make it worse? (slide 5)
20: What if a wrong program passes the check? (slide 6)
21: Is there always a free check? (slide 6)
22, 23: How do we check well, and cheaply? (slide 6)
24: Who writes the hint? (slide 7)
25: Is 'think on the hardest' a weak baseline? (slide 7)
34: What if the same problem repeats? (slide 7)
11: Why no hint for contest problems? (slide 7)
33: Where does the recipe stop? (slide 7)
26, 27, 28: What is new vs PAL and cascades? (slide 8)
29: Why not majority voting? (slide 8)
30, 35: Is the comparison fair? (slide 8)
31: Does it hold for smaller models? (slide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 이유입니다. 답이 정확히 하나라 코드로 채점할 수 있고, 정답 없이 쓸 수 있는 검사가 있으며, 실제 코딩 에이전트가 이미 경로 계획, 스케줄러, 기하 코드를 씁니다. 그리고 종류마다 필요한 것이 다릅니다. 기하와 경시는 맞는 알고리즘이 필요하고, 둘의 차이는 난이도입니다. 경로와 문장제는 솔버 라이브러리를 맞게 부르는 힌트가 필요하고, 문장제는 글을 수식으로 옮기는 단계가 더 있습니다. 그래서 추가 노력을 힌트, 검사, 생각 중 어디에 쓸지 비교하기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아니요, 모든 단계를 네 종류 전부에 쓰지는 않습니다. 경시 문제는 라이브러리 없이 알고리즘만 짜는 문제라 힌트로 채울 빈칸이 없고, 실패 원인은 추론입니다. 가장 가까운 힌트로 관련 기하 함수 8개를 줘 봤는데, Qwen3-32B는 12.1%에서 13.7%로 차이가 없었고 gpt-oss-20b는 37.7%에서 33.4%로 오히려 떨어졌습니다. 함수를 받으면 덜 생각하고 다른 오답을 썼습니다. 문제마다 알고리즘을 알려 주는 힌트는 사실상 풀이의 일부라 싸지도 자동도 아닙니다. 그래서 경시에는 검사와 생각만 써서, 항상 생각할 때와 같은 66%를 18% 적은 토큰에 얻습니다. 재사용도 매번 새 문제라 맞지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 기준으로 보면, 경시 문제 311개의 Codeforces 레이팅 중앙값은 2200으로 Master 수준이고, 46%는 Grandmaster 수준인 2400 이상입니다. 그 구간에서는 gpt-oss-120b도 48%만 풉니다. 경로 문제는 단순한 탐욕 계획이 최선보다 48% 길고, 문장제는 대학 OR 수업 연습문제 수준입니다.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보조 코드를 주면 모델이 그 함수에 맞춰 방법을 짭니다. 이 예에서는 필요 없는 polar_sort로 각도 정렬을 하다가 0을 출력했습니다. 기하 108문제에서 보조 코드가 있으면 59%, 없으면 77%입니다. 두 버전을 모두 짜서 답이 다를 때만 생각하면 99%를 4.3k 토큰에 얻습니다.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라이브러리를 어떻게 부르는지, 즉 함수 이름과 인자를 보여 주는 11줄짜리 코드 조각입니다. 같은 종류의 30문제에 똑같이 붙이고, 경로나 숫자나 정답은 들어 있지 않습니다. 긴 참조 문서가 아무것도 안 준 것보다 나쁜 이유는, 경로 설명은 있지만 용량 규칙이 없어서 모델이 빈 곳을 없는 함수로 채우기 때문입니다. 10개 프로그램이 RegisterUnaryLongLivingCallback을 불렀습니다.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힌트는 문제마다가 아니라 문제 종류마다 하나이고, 과제 앞에 붙여 줍니다. 그 종류에 필요한 호출만 보여 줍니다. 얻는 방법은 세 가지입니다. 첫째, 사람이 종류마다 한 번 씁니다. 트럭 경로라면 OR-Tools 사용법 11줄입니다. 둘째, 제목이 붙은 코드 조각 라이브러리에서 BM25로 검색해 맨 위 하나를 씁니다. 손으로 쓴 것과 거의 같지만, 비슷하지만 다른 문서가 섞이면 크게 떨어집니다. 셋째, 모델이 같은 종류의 다른 문제에서 짠 프로그램 중 공짜 검사를 통과한 가장 짧은 것을 씁니다. 처음 쓰는 MAMO에서 사람이 쓴 힌트와 같은 정확도였습니다. 다만 같은 종류 안에서만 통하고, 다른 종류의 프로그램을 주면 14에서 21점 떨어집니다. 필요한 것만 주는 것도 중요해서, 기하에서 도우미 함수를 다 주면 75%, 필요한 것만 주면 92%였습니다.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좋은 힌트의 조건은 네 가지입니다. 그 종류에 필요한 정확한 호출, 필요한 것만, 짧게, 같은 종류에서. 경로 문제는 23%에서 83%, 기하는 도우미 함수를 다 주면 75%, 필요한 것만 주면 92%입니다. 반대로 규칙 하나가 빠진 긴 매뉴얼은 7%, 비슷하지만 다른 문서가 섞이면 83%에서 57%, 다른 종류의 프로그램은 14에서 21점 손해, 함수 이름 목록만 주면 66%에서 56%로 떨어집니다. 고르는 순서는 이렇습니다. 같은 종류의 지난 프로그램과 공짜 검사가 있으면 통과한 것 중 가장 짧은 것을 씁니다. 없으면 제목이 붙은 코드 조각 문서에서 맨 위 하나만 검색하고, 그것도 없으면 사람이 종류마다 한 번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힌트의 비용은 입력 토큰입니다. 최적화 문제에서 힌트 없이 488토큰이던 프롬프트가 정확한 코드 조각을 붙이면 701토큰으로 213토큰 늘고, 긴 참조 문서는 901, 검색 상위 3개는 1,138토큰입니다. 입력 토큰은 출력보다 싸고 같은 종류 문제끼리 캐시됩니다. 대신 생각에 쓰는 출력 토큰이 크게 줍니다. 문장제에서 힌트를 주고 항상 생각하면 5.5k, 힌트를 먼저 주고 실패할 때만 생각하면 1.3k로 정확도는 같습니다. 208문제 전체에서는 힌트 없이 4.1k에 74%, 힌트 먼저로 2.5k에 87%입니다. 한 번 드는 비용은 종류마다 사람의 시간, 코드 조각 문서, 또는 지난 문제들을 한 번 풀어 보는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제목이 붙은 코드 조각 라이브러리에서 BM25로 찾으면, 최적화 6문제에서 손으로 쓴 힌트와 같은 수준입니다. 97% 대 96%입니다. 다만 비슷하지만 다른 문서가 섞이면 손해가 큽니다. 경로 문제에서 TSP 문서가 함께 들어오면 83%에서 57%로 떨어집니다. 문서가 아예 없으면 모델 자신의 검사된 프로그램을 힌트로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모르는 함수를 생각하는 동안 지어내기 때문입니다. Qwen3-32B는 문장제에서 생각을 켜면 65.4%에서 52.0%로 떨어지는데, 존재하지 않는 Objective().SetMaximize를 부릅니다. 정확한 사용법을 먼저 주면 생각이 도움이 되어 72%가 되고, 실패할 때만 생각하면 같은 정확도를 1.3k 토큰에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생깁니다. 경시 문제에서는 틀린 프로그램의 24에서 37%가 예제를 통과하고, 문장제에서는 12에서 16%가 두 프로그램이 같은 오답을 냅니다. 하지만 이런 문제를 완벽한 검사로 모두 생각에 보내도 생각이 7에서 16%만 고치기 때문에, 14B 이상 모델에서는 1에서 3점밖에 오르지 않습니다. 일부는 정답 레이블 자체가 틀렸습니다. 그래서 다음 목표는 실행은 되지만 문제를 잘못 모델링한 프로그램입니다.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저희가 다룬 네 종류에는 모두 정답 없이 쓸 수 있는 검사가 있습니다. 경시는 예제와 모든 경우를 따지는 짧은 프로그램, 기하는 입력을 옮기거나 돌려도 답이 같아야 한다는 검사나 두 버전의 일치, 경로는 계획이 모든 규칙을 지키는지 코드로 확인, 문장제는 두 프로그램의 일치입니다. 검사가 얼마나 잡아내느냐가 생각을 얼마나 아낄지를 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검사가 잘 잡으려면 두 번째 관점이 다른 실수를 해야 합니다. 입력을 옮기고 돌린 복사본에서 같은 답이 나오는지 보면 맞는 프로그램을 99.7% 골라냅니다. 도우미 함수가 있는 버전과 없는 버전을 비교하면 99%로 항상 생각할 때의 98%와 같고, 경시 문제는 예제에 느린 완전 탐색 프로그램을 더하면 65.0%가 66.3%가 됩니다. 글 답과 프로그램을 비교하면 같이 틀리는 경우가 17%에서 10%로 줄어듭니다. 반대로 같은 모델에게 다시 물어 다수결을 하면 4.3%를 잘못 고르고, 같은 실수를 공유하는 두 버전은 토큰만 더 씁니다. 그리고 검사를 완벽하게 해도 14B 이상 모델에서 1에서 3점밖에 오르지 않습니다. 그런 문제는 생각해도 7에서 16%만 고쳐지기 때문입니다. 그 다음은 검사보다 푸는 쪽을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예제, 옮긴 복사본, 경로 계획의 규칙 확인은 CPU에서 돌기 때문에 토큰이 들지 않습니다. 모델이 테스트를 쓰는 CodeT는 문제당 340토큰, 두 번째 버전은 프로그램 하나만큼, 느린 완전 탐색 프로그램은 경시에서 문제당 약 4.5k 토큰이 더 듭니다. 경시 문제에서 항상 생각하면 66.2%에 30k, 예제만 쓰면 65.0%에 20k, 완전 탐색을 더하면 66.3%에 25k, 다른 모델의 의견을 더하면 65.5%에 25k입니다. 그래서 순서는 토큰이 들지 않는 검사부터 쓰고, 조용히 틀리는 곳에만 다른 두 번째 버전을 더하고, 더 좋은 검사가 1에서 3점밖에 못 줄 때는 멈추는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사람이 쓰지 않습니다. 모델이 다른 문제에서 짜서 공짜 검사를 통과한 자기 프로그램 중 가장 짧은 것을 힌트로 붙입니다. 끝까지 쓰지 않고 남겨 둔 MAMO 863문제에서 세 모델 모두 사람이 쓴 힌트와 약 2점 안에 들었습니다. 단, 다른 종류의 문제에서 가져온 프로그램은 오히려 14에서 21점 손해이고, 라이브러리 이름 목록만 주면 66%에서 56%로 떨어집니다.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오히려 강한 기준선을 만들어 봤습니다. 각 문제의 실제 Codeforces 레이팅을 알려 주고 어려운 문제만 높은 노력으로 보내도 예제 검사보다 못합니다. 레이팅 2600 이상만 보내면 61.4%, 1800 이상이면 65.3%인데 토큰이 27.8k로, 예제 검사의 65.0%, 20.2k보다 비쌉니다. 이 분석은 탐색적이라 사전 등록은 하지 않았습니다. 기하와 최적화에서도 난이도 기준 배분은 74%, 저희 방법은 87%입니다.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문제와 같은 모델로 기존 방법을 직접 돌려 비교했습니다. 난이도별 생각 배분은 74%, 4.1k 대 저희 87%, 2.5k이고, 항상 높은 노력은 66.2%, 30.1k 대 66.3%, 24.7k이고, 모델이 테스트를 쓰는 CodeT는 96.0% 대 대칭 검사 99.7%입니다. 특화 모델 ORLM-8B의 69.5%는 학습 없는 Qwen3-8B도 같은 69.5%입니다. 저희 방법은 더 정확하거나, 더 싸거나, 둘 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관련 연구는 일곱 갈래입니다. 텍스트 대신 프로그램, 코드용 라이브러리 문서, 오도하는 문맥, 프로그램 고르기, 테스트 시간 계산 배분, 최적화 모델링, 한 프로그램 재사용입니다. 저희가 더하는 것은 실패 원인에 맞춰 힌트와 공짜 검사를 먼저 쓰고, 학습도 정답도 없이 생각을 아끼는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논문 수치와 나란히 놓으면, MAMO Easy에서 학습 없는 Qwen3-14B가 82.8%로 파인튜닝한 ORLM의 82.3%와 비슷하고, gpt-oss-20b는 85.6%입니다. 프런티어 모델을 쓰는 OptiSkill의 90.8에서 94.3%보다는 낮습니다. 평가 환경이 달라서 참고용입니다.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다수결은 많이 나온 답을 고르고, 검사는 맞는 답을 고릅니다. 기하에서 세 프로그램 중 하나를 고를 때 다수결은 4.3% 틀리고, 대칭 검사는 0.3%만 틀립니다. 문장제에서 생각 세 번의 다수결은 79.4%로 저희보다 7점 높지만, 토큰이 16.4k로 12배입니다.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세 가지를 확인했습니다. 첫째, 입력 토큰입니다. 힌트 조각은 입력을 213토큰 늘리고, 입력은 출력보다 싸고 캐시되므로 결론이 바뀌지 않습니다. 다만 프로그램을 돌리는 CPU 시간은 세지 않았습니다. 둘째, 암기입니다. 같은 난이도에서 오래된 대회와 최근 대회의 정답률이 81% 대 83%로 차이가 없고, MAMO는 끝까지 쓰지 않았으며, 모든 방법이 같은 모델을 씁니다. 셋째, 작은 차이는 '더 낫다'가 아니라 '같은 정확도에 더 적은 토큰'이라고만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네, 작은 모델일수록 효과가 큽니다. 문장제 345문제에서 힌트 하나로 Qwen3-1.7B는 44점, 4B는 31점 오르고, 32B는 1점 오릅니다. 그래서 24GB GPU 한 장에 들어가는 gpt-oss-20b가 힌트와 함께 73%로, Qwen3-32B의 72%를 토큰 8분의 1로 따라잡습니다.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기하와 최적화 208문제를 세 모델로 푼 정책 비교입니다. 힌트를 먼저 주고 실패할 때만 생각하는 정책이 87%, 2.5k로 가장 정확하고 가장 싼 편입니다. 새 과제라면 30문제만 라벨링해서 네 정책 중 고르면, 63개 설정에서 최선 대비 손실이 0.6점입니다. 이 정책을 기본값으로 쓰면 1.4점, 항상 생각하면 8.4점 손해입니다.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방법이 멈추는 곳은 세 가지입니다. 다른 종류의 문제 사이의 자동 힌트, 예제를 통과하는 틀린 프로그램, 그리고 세계 지식이 필요한 문제입니다. 다음으로는 MAMO 검증을 더 많은 모델로 마치고, 검사로 못 잡는 문제 모델링 오류를 다루고, 문제 종류마다 자동 힌트를 찾겠습니다.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같은 종류의 문제가 데이터만 바뀌어 반복되면, 검사된 프로그램 하나를 재사용합니다. 배송 경로 48일 동안 매일 새 프로그램을 쓰면 7%의 날만 유효하고 86k 토큰이 듭니다. 16개 프로그램을 한 번 쓰고 지난 8일에 유효한 것을 재사용하면 94%의 날이 유효하고 모두 28k 토큰입니다. 4배 큰 입력에서도 통했고, 규칙이 바뀌면 모델에게 고치게 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(답변) 모델은 Qwen3 1.7B에서 32B, Qwen3.6-35B, gpt-oss-20b와 120b이고 모두 직접 돌렸습니다. 채점은 정확히 맞았는지만 보고, 모든 결과에 토큰 비용을 함께 적습니다. 예측을 먼저 적고 한 번에 하나만 바꾸며 3개 시드로 확인했습니다. GPU는 96GB 한 장이고, 작은 모델은 24GB 한 장에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3.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2.png"/><Relationship Id="rId4" Type="http://schemas.openxmlformats.org/officeDocument/2006/relationships/image" Target="../media/image-4-2.png"/><Relationship Id="rId5" Type="http://schemas.openxmlformats.org/officeDocument/2006/relationships/image" Target="../media/image-4-2.png"/><Relationship Id="rId6" Type="http://schemas.openxmlformats.org/officeDocument/2006/relationships/image" Target="../media/image-4-2.png"/><Relationship Id="rId7" Type="http://schemas.openxmlformats.org/officeDocument/2006/relationships/image" Target="../media/image-4-2.png"/><Relationship Id="rId8" Type="http://schemas.openxmlformats.org/officeDocument/2006/relationships/image" Target="../media/image-4-2.png"/><Relationship Id="rId9" Type="http://schemas.openxmlformats.org/officeDocument/2006/relationships/image" Target="../media/image-4-2.png"/><Relationship Id="rId10" Type="http://schemas.openxmlformats.org/officeDocument/2006/relationships/image" Target="../media/image-4-2.png"/><Relationship Id="rId11" Type="http://schemas.openxmlformats.org/officeDocument/2006/relationships/image" Target="../media/image-4-2.png"/><Relationship Id="rId12" Type="http://schemas.openxmlformats.org/officeDocument/2006/relationships/image" Target="../media/image-4-12.png"/><Relationship Id="rId13" Type="http://schemas.openxmlformats.org/officeDocument/2006/relationships/image" Target="../media/image-4-12.png"/><Relationship Id="rId14" Type="http://schemas.openxmlformats.org/officeDocument/2006/relationships/image" Target="../media/image-4-12.png"/><Relationship Id="rId15" Type="http://schemas.openxmlformats.org/officeDocument/2006/relationships/image" Target="../media/image-4-12.png"/><Relationship Id="rId16" Type="http://schemas.openxmlformats.org/officeDocument/2006/relationships/image" Target="../media/image-4-12.png"/><Relationship Id="rId17" Type="http://schemas.openxmlformats.org/officeDocument/2006/relationships/image" Target="../media/image-4-12.png"/><Relationship Id="rId18" Type="http://schemas.openxmlformats.org/officeDocument/2006/relationships/image" Target="../media/image-4-12.png"/><Relationship Id="rId19" Type="http://schemas.openxmlformats.org/officeDocument/2006/relationships/image" Target="../media/image-4-12.png"/><Relationship Id="rId20" Type="http://schemas.openxmlformats.org/officeDocument/2006/relationships/image" Target="../media/image-4-12.png"/><Relationship Id="rId21" Type="http://schemas.openxmlformats.org/officeDocument/2006/relationships/image" Target="../media/image-4-12.png"/><Relationship Id="rId22" Type="http://schemas.openxmlformats.org/officeDocument/2006/relationships/image" Target="../media/image-4-12.png"/><Relationship Id="rId23" Type="http://schemas.openxmlformats.org/officeDocument/2006/relationships/image" Target="../media/image-4-12.png"/><Relationship Id="rId24" Type="http://schemas.openxmlformats.org/officeDocument/2006/relationships/image" Target="../media/image-4-12.png"/><Relationship Id="rId25" Type="http://schemas.openxmlformats.org/officeDocument/2006/relationships/image" Target="../media/image-4-12.png"/><Relationship Id="rId26" Type="http://schemas.openxmlformats.org/officeDocument/2006/relationships/image" Target="../media/image-4-12.png"/><Relationship Id="rId27" Type="http://schemas.openxmlformats.org/officeDocument/2006/relationships/image" Target="../media/image-4-12.png"/><Relationship Id="rId28" Type="http://schemas.openxmlformats.org/officeDocument/2006/relationships/image" Target="../media/image-4-12.png"/><Relationship Id="rId29" Type="http://schemas.openxmlformats.org/officeDocument/2006/relationships/image" Target="../media/image-4-12.png"/><Relationship Id="rId30" Type="http://schemas.openxmlformats.org/officeDocument/2006/relationships/image" Target="../media/image-4-12.png"/><Relationship Id="rId31" Type="http://schemas.openxmlformats.org/officeDocument/2006/relationships/image" Target="../media/image-4-12.png"/><Relationship Id="rId32" Type="http://schemas.openxmlformats.org/officeDocument/2006/relationships/image" Target="../media/image-4-12.png"/><Relationship Id="rId33" Type="http://schemas.openxmlformats.org/officeDocument/2006/relationships/image" Target="../media/image-4-12.png"/><Relationship Id="rId34" Type="http://schemas.openxmlformats.org/officeDocument/2006/relationships/image" Target="../media/image-4-12.png"/><Relationship Id="rId35" Type="http://schemas.openxmlformats.org/officeDocument/2006/relationships/image" Target="../media/image-4-12.png"/><Relationship Id="rId36" Type="http://schemas.openxmlformats.org/officeDocument/2006/relationships/image" Target="../media/image-4-12.png"/><Relationship Id="rId37" Type="http://schemas.openxmlformats.org/officeDocument/2006/relationships/image" Target="../media/image-4-12.png"/><Relationship Id="rId38" Type="http://schemas.openxmlformats.org/officeDocument/2006/relationships/image" Target="../media/image-4-12.png"/><Relationship Id="rId39" Type="http://schemas.openxmlformats.org/officeDocument/2006/relationships/image" Target="../media/image-4-12.png"/><Relationship Id="rId40" Type="http://schemas.openxmlformats.org/officeDocument/2006/relationships/image" Target="../media/image-4-12.png"/><Relationship Id="rId41" Type="http://schemas.openxmlformats.org/officeDocument/2006/relationships/image" Target="../media/image-4-12.png"/><Relationship Id="rId42" Type="http://schemas.openxmlformats.org/officeDocument/2006/relationships/image" Target="../media/image-4-12.png"/><Relationship Id="rId43" Type="http://schemas.openxmlformats.org/officeDocument/2006/relationships/image" Target="../media/image-4-12.png"/><Relationship Id="rId44" Type="http://schemas.openxmlformats.org/officeDocument/2006/relationships/image" Target="../media/image-4-12.png"/><Relationship Id="rId45" Type="http://schemas.openxmlformats.org/officeDocument/2006/relationships/image" Target="../media/image-4-12.png"/><Relationship Id="rId46" Type="http://schemas.openxmlformats.org/officeDocument/2006/relationships/image" Target="../media/image-4-12.png"/><Relationship Id="rId47" Type="http://schemas.openxmlformats.org/officeDocument/2006/relationships/image" Target="../media/image-4-12.png"/><Relationship Id="rId48" Type="http://schemas.openxmlformats.org/officeDocument/2006/relationships/image" Target="../media/image-4-12.png"/><Relationship Id="rId49" Type="http://schemas.openxmlformats.org/officeDocument/2006/relationships/image" Target="../media/image-4-12.png"/><Relationship Id="rId50" Type="http://schemas.openxmlformats.org/officeDocument/2006/relationships/image" Target="../media/image-4-12.png"/><Relationship Id="rId51" Type="http://schemas.openxmlformats.org/officeDocument/2006/relationships/image" Target="../media/image-4-12.png"/><Relationship Id="rId52" Type="http://schemas.openxmlformats.org/officeDocument/2006/relationships/image" Target="../media/image-4-12.png"/><Relationship Id="rId53" Type="http://schemas.openxmlformats.org/officeDocument/2006/relationships/image" Target="../media/image-4-12.png"/><Relationship Id="rId54" Type="http://schemas.openxmlformats.org/officeDocument/2006/relationships/image" Target="../media/image-4-12.png"/><Relationship Id="rId55" Type="http://schemas.openxmlformats.org/officeDocument/2006/relationships/image" Target="../media/image-4-55.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slideLayout" Target="../slideLayouts/slideLayout3.xml"/><Relationship Id="rId59"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3.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3.png"/><Relationship Id="rId8" Type="http://schemas.openxmlformats.org/officeDocument/2006/relationships/image" Target="../media/image-7-4.png"/><Relationship Id="rId9" Type="http://schemas.openxmlformats.org/officeDocument/2006/relationships/image" Target="../media/image-7-5.png"/><Relationship Id="rId10" Type="http://schemas.openxmlformats.org/officeDocument/2006/relationships/image" Target="../media/image-7-6.png"/><Relationship Id="rId11" Type="http://schemas.openxmlformats.org/officeDocument/2006/relationships/image" Target="../media/image-7-3.png"/><Relationship Id="rId12" Type="http://schemas.openxmlformats.org/officeDocument/2006/relationships/image" Target="../media/image-7-4.png"/><Relationship Id="rId13" Type="http://schemas.openxmlformats.org/officeDocument/2006/relationships/image" Target="../media/image-7-5.png"/><Relationship Id="rId14" Type="http://schemas.openxmlformats.org/officeDocument/2006/relationships/image" Target="../media/image-7-6.png"/><Relationship Id="rId15" Type="http://schemas.openxmlformats.org/officeDocument/2006/relationships/image" Target="../media/image-7-3.png"/><Relationship Id="rId16" Type="http://schemas.openxmlformats.org/officeDocument/2006/relationships/image" Target="../media/image-7-4.png"/><Relationship Id="rId17" Type="http://schemas.openxmlformats.org/officeDocument/2006/relationships/image" Target="../media/image-7-5.png"/><Relationship Id="rId18" Type="http://schemas.openxmlformats.org/officeDocument/2006/relationships/image" Target="../media/image-7-6.png"/><Relationship Id="rId19" Type="http://schemas.openxmlformats.org/officeDocument/2006/relationships/slideLayout" Target="../slideLayouts/slideLayout3.xml"/><Relationship Id="rId2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4.png"/><Relationship Id="rId8" Type="http://schemas.openxmlformats.org/officeDocument/2006/relationships/image" Target="../media/image-8-2.png"/><Relationship Id="rId9" Type="http://schemas.openxmlformats.org/officeDocument/2006/relationships/image" Target="../media/image-8-9.png"/><Relationship Id="rId10" Type="http://schemas.openxmlformats.org/officeDocument/2006/relationships/slideLayout" Target="../slideLayouts/slideLayout3.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3.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3.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slideLayout" Target="../slideLayouts/slideLayout3.xml"/><Relationship Id="rId8"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Focus: math with an exact answer, solved by programs an LLM writes</a:t>
            </a:r>
            <a:endParaRPr lang="en-US" sz="2200" dirty="0"/>
          </a:p>
          <a:p>
            <a:pPr algn="ctr" indent="0" marL="0">
              <a:buNone/>
            </a:pPr>
            <a:r>
              <a:rPr lang="en-US" sz="1600" dirty="0">
                <a:solidFill>
                  <a:srgbClr val="44546A"/>
                </a:solidFill>
              </a:rPr>
              <a:t>Team 5: Sangjun Lee, Seongbin Park · POSTECH CSED490E</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we solve, and how hard it is</a:t>
            </a:r>
            <a:endParaRPr lang="en-US" sz="3600" dirty="0"/>
          </a:p>
        </p:txBody>
      </p:sp>
      <p:sp>
        <p:nvSpPr>
          <p:cNvPr id="3" name="family needs the right algorithm"/>
          <p:cNvSpPr/>
          <p:nvPr/>
        </p:nvSpPr>
        <p:spPr>
          <a:xfrm>
            <a:off x="548640" y="1234440"/>
            <a:ext cx="5449824" cy="384048"/>
          </a:xfrm>
          <a:prstGeom prst="roundRect">
            <a:avLst>
              <a:gd name="adj" fmla="val 19048"/>
            </a:avLst>
          </a:prstGeom>
          <a:solidFill>
            <a:srgbClr val="4472C4"/>
          </a:solidFill>
          <a:ln w="12700">
            <a:solidFill>
              <a:srgbClr val="4472C4"/>
            </a:solidFill>
            <a:prstDash val="solid"/>
          </a:ln>
        </p:spPr>
      </p:sp>
      <p:sp>
        <p:nvSpPr>
          <p:cNvPr id="4" name="Text 2"/>
          <p:cNvSpPr txBox="1"/>
          <p:nvPr/>
        </p:nvSpPr>
        <p:spPr>
          <a:xfrm>
            <a:off x="548640"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algorithm</a:t>
            </a:r>
            <a:endParaRPr lang="en-US" sz="1600" dirty="0"/>
          </a:p>
        </p:txBody>
      </p:sp>
      <p:sp>
        <p:nvSpPr>
          <p:cNvPr id="5" name="family needs the right solver call"/>
          <p:cNvSpPr/>
          <p:nvPr/>
        </p:nvSpPr>
        <p:spPr>
          <a:xfrm>
            <a:off x="6163056" y="1234440"/>
            <a:ext cx="5449824" cy="384048"/>
          </a:xfrm>
          <a:prstGeom prst="roundRect">
            <a:avLst>
              <a:gd name="adj" fmla="val 19048"/>
            </a:avLst>
          </a:prstGeom>
          <a:solidFill>
            <a:srgbClr val="38761D"/>
          </a:solidFill>
          <a:ln w="12700">
            <a:solidFill>
              <a:srgbClr val="38761D"/>
            </a:solidFill>
            <a:prstDash val="solid"/>
          </a:ln>
        </p:spPr>
      </p:sp>
      <p:sp>
        <p:nvSpPr>
          <p:cNvPr id="6" name="Text 4"/>
          <p:cNvSpPr txBox="1"/>
          <p:nvPr/>
        </p:nvSpPr>
        <p:spPr>
          <a:xfrm>
            <a:off x="6163056" y="1234440"/>
            <a:ext cx="5449824" cy="384048"/>
          </a:xfrm>
          <a:prstGeom prst="rect">
            <a:avLst/>
          </a:prstGeom>
          <a:noFill/>
          <a:ln/>
        </p:spPr>
        <p:txBody>
          <a:bodyPr wrap="square" lIns="0" tIns="0" rIns="0" bIns="0" rtlCol="0" anchor="ctr"/>
          <a:lstStyle/>
          <a:p>
            <a:pPr algn="ctr" indent="0" marL="0">
              <a:buNone/>
            </a:pPr>
            <a:r>
              <a:rPr lang="en-US" sz="1600" b="1" dirty="0">
                <a:solidFill>
                  <a:srgbClr val="FFFFFF"/>
                </a:solidFill>
              </a:rPr>
              <a:t>needs the right solver call</a:t>
            </a:r>
            <a:endParaRPr lang="en-US" sz="1600" dirty="0"/>
          </a:p>
        </p:txBody>
      </p:sp>
      <p:sp>
        <p:nvSpPr>
          <p:cNvPr id="7" name="kind Geometry"/>
          <p:cNvSpPr/>
          <p:nvPr/>
        </p:nvSpPr>
        <p:spPr>
          <a:xfrm>
            <a:off x="548640" y="1737360"/>
            <a:ext cx="2651760" cy="3611880"/>
          </a:xfrm>
          <a:prstGeom prst="roundRect">
            <a:avLst>
              <a:gd name="adj" fmla="val 2759"/>
            </a:avLst>
          </a:prstGeom>
          <a:solidFill>
            <a:srgbClr val="F7F7F7"/>
          </a:solidFill>
          <a:ln w="9525">
            <a:solidFill>
              <a:srgbClr val="D9D9D9"/>
            </a:solidFill>
            <a:prstDash val="solid"/>
          </a:ln>
        </p:spPr>
      </p:sp>
      <p:pic>
        <p:nvPicPr>
          <p:cNvPr id="8" name="icon shapes" descr="/NAS/SJ/POSTECH/nlp/figs/icons/shapes.png">    </p:cNvPr>
          <p:cNvPicPr>
            <a:picLocks noChangeAspect="1"/>
          </p:cNvPicPr>
          <p:nvPr/>
        </p:nvPicPr>
        <p:blipFill>
          <a:blip r:embed="rId1"/>
          <a:stretch>
            <a:fillRect/>
          </a:stretch>
        </p:blipFill>
        <p:spPr>
          <a:xfrm>
            <a:off x="1508760" y="1874520"/>
            <a:ext cx="731520" cy="731520"/>
          </a:xfrm>
          <a:prstGeom prst="rect">
            <a:avLst/>
          </a:prstGeom>
        </p:spPr>
      </p:pic>
      <p:sp>
        <p:nvSpPr>
          <p:cNvPr id="9" name="Text 6"/>
          <p:cNvSpPr txBox="1"/>
          <p:nvPr/>
        </p:nvSpPr>
        <p:spPr>
          <a:xfrm>
            <a:off x="640080"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Geometry</a:t>
            </a:r>
            <a:endParaRPr lang="en-US" sz="1900" dirty="0"/>
          </a:p>
        </p:txBody>
      </p:sp>
      <p:sp>
        <p:nvSpPr>
          <p:cNvPr id="10" name="Text 7"/>
          <p:cNvSpPr txBox="1"/>
          <p:nvPr/>
        </p:nvSpPr>
        <p:spPr>
          <a:xfrm>
            <a:off x="731520"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corners of the rubber band around 10 points</a:t>
            </a:r>
            <a:endParaRPr lang="en-US" sz="1500" dirty="0"/>
          </a:p>
        </p:txBody>
      </p:sp>
      <p:sp>
        <p:nvSpPr>
          <p:cNvPr id="11" name="tag Geometry"/>
          <p:cNvSpPr/>
          <p:nvPr/>
        </p:nvSpPr>
        <p:spPr>
          <a:xfrm>
            <a:off x="685800" y="4297680"/>
            <a:ext cx="2377440" cy="868680"/>
          </a:xfrm>
          <a:prstGeom prst="roundRect">
            <a:avLst>
              <a:gd name="adj" fmla="val 10526"/>
            </a:avLst>
          </a:prstGeom>
          <a:solidFill>
            <a:srgbClr val="FFFFFF"/>
          </a:solidFill>
          <a:ln w="15875">
            <a:solidFill>
              <a:srgbClr val="4472C4"/>
            </a:solidFill>
            <a:prstDash val="solid"/>
          </a:ln>
        </p:spPr>
      </p:sp>
      <p:sp>
        <p:nvSpPr>
          <p:cNvPr id="12" name="Text 9"/>
          <p:cNvSpPr txBox="1"/>
          <p:nvPr/>
        </p:nvSpPr>
        <p:spPr>
          <a:xfrm>
            <a:off x="731520" y="4297680"/>
            <a:ext cx="2286000" cy="868680"/>
          </a:xfrm>
          <a:prstGeom prst="rect">
            <a:avLst/>
          </a:prstGeom>
          <a:noFill/>
          <a:ln/>
        </p:spPr>
        <p:txBody>
          <a:bodyPr wrap="square" lIns="0" tIns="0" rIns="0" bIns="0" rtlCol="0" anchor="ctr"/>
          <a:lstStyle/>
          <a:p>
            <a:pPr algn="ctr" indent="0" marL="0">
              <a:buNone/>
            </a:pPr>
            <a:r>
              <a:rPr lang="en-US" sz="1500" b="1" dirty="0">
                <a:solidFill>
                  <a:srgbClr val="4472C4"/>
                </a:solidFill>
              </a:rPr>
              <a:t>textbook algorithms, exact on every copy</a:t>
            </a:r>
            <a:endParaRPr lang="en-US" sz="1500" dirty="0"/>
          </a:p>
        </p:txBody>
      </p:sp>
      <p:sp>
        <p:nvSpPr>
          <p:cNvPr id="13" name="kind Contest problems"/>
          <p:cNvSpPr/>
          <p:nvPr/>
        </p:nvSpPr>
        <p:spPr>
          <a:xfrm>
            <a:off x="3355848" y="1737360"/>
            <a:ext cx="2651760" cy="3611880"/>
          </a:xfrm>
          <a:prstGeom prst="roundRect">
            <a:avLst>
              <a:gd name="adj" fmla="val 2759"/>
            </a:avLst>
          </a:prstGeom>
          <a:solidFill>
            <a:srgbClr val="F7F7F7"/>
          </a:solidFill>
          <a:ln w="9525">
            <a:solidFill>
              <a:srgbClr val="D9D9D9"/>
            </a:solidFill>
            <a:prstDash val="solid"/>
          </a:ln>
        </p:spPr>
      </p:sp>
      <p:pic>
        <p:nvPicPr>
          <p:cNvPr id="14" name="icon trophy" descr="/NAS/SJ/POSTECH/nlp/figs/icons/trophy.png">    </p:cNvPr>
          <p:cNvPicPr>
            <a:picLocks noChangeAspect="1"/>
          </p:cNvPicPr>
          <p:nvPr/>
        </p:nvPicPr>
        <p:blipFill>
          <a:blip r:embed="rId2"/>
          <a:stretch>
            <a:fillRect/>
          </a:stretch>
        </p:blipFill>
        <p:spPr>
          <a:xfrm>
            <a:off x="4315968" y="1874520"/>
            <a:ext cx="731520" cy="731520"/>
          </a:xfrm>
          <a:prstGeom prst="rect">
            <a:avLst/>
          </a:prstGeom>
        </p:spPr>
      </p:pic>
      <p:sp>
        <p:nvSpPr>
          <p:cNvPr id="15" name="Text 11"/>
          <p:cNvSpPr txBox="1"/>
          <p:nvPr/>
        </p:nvSpPr>
        <p:spPr>
          <a:xfrm>
            <a:off x="3447288"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Contest problems</a:t>
            </a:r>
            <a:endParaRPr lang="en-US" sz="1900" dirty="0"/>
          </a:p>
        </p:txBody>
      </p:sp>
      <p:sp>
        <p:nvSpPr>
          <p:cNvPr id="16" name="Text 12"/>
          <p:cNvSpPr txBox="1"/>
          <p:nvPr/>
        </p:nvSpPr>
        <p:spPr>
          <a:xfrm>
            <a:off x="3538728"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311 Codeforces geometry problems</a:t>
            </a:r>
            <a:endParaRPr lang="en-US" sz="1500" dirty="0"/>
          </a:p>
        </p:txBody>
      </p:sp>
      <p:sp>
        <p:nvSpPr>
          <p:cNvPr id="17" name="tag Contest problems"/>
          <p:cNvSpPr/>
          <p:nvPr/>
        </p:nvSpPr>
        <p:spPr>
          <a:xfrm>
            <a:off x="3493008" y="4297680"/>
            <a:ext cx="2377440" cy="868680"/>
          </a:xfrm>
          <a:prstGeom prst="roundRect">
            <a:avLst>
              <a:gd name="adj" fmla="val 10526"/>
            </a:avLst>
          </a:prstGeom>
          <a:solidFill>
            <a:srgbClr val="FFFFFF"/>
          </a:solidFill>
          <a:ln w="15875">
            <a:solidFill>
              <a:srgbClr val="C00000"/>
            </a:solidFill>
            <a:prstDash val="solid"/>
          </a:ln>
        </p:spPr>
      </p:sp>
      <p:sp>
        <p:nvSpPr>
          <p:cNvPr id="18" name="Text 14"/>
          <p:cNvSpPr txBox="1"/>
          <p:nvPr/>
        </p:nvSpPr>
        <p:spPr>
          <a:xfrm>
            <a:off x="3538728" y="4297680"/>
            <a:ext cx="2286000" cy="868680"/>
          </a:xfrm>
          <a:prstGeom prst="rect">
            <a:avLst/>
          </a:prstGeom>
          <a:noFill/>
          <a:ln/>
        </p:spPr>
        <p:txBody>
          <a:bodyPr wrap="square" lIns="0" tIns="0" rIns="0" bIns="0" rtlCol="0" anchor="ctr"/>
          <a:lstStyle/>
          <a:p>
            <a:pPr algn="ctr" indent="0" marL="0">
              <a:buNone/>
            </a:pPr>
            <a:r>
              <a:rPr lang="en-US" sz="1500" b="1" dirty="0">
                <a:solidFill>
                  <a:srgbClr val="C00000"/>
                </a:solidFill>
              </a:rPr>
              <a:t>Codeforces Master to Grandmaster level</a:t>
            </a:r>
            <a:endParaRPr lang="en-US" sz="1500" dirty="0"/>
          </a:p>
        </p:txBody>
      </p:sp>
      <p:sp>
        <p:nvSpPr>
          <p:cNvPr id="19" name="kind Routing, scheduling"/>
          <p:cNvSpPr/>
          <p:nvPr/>
        </p:nvSpPr>
        <p:spPr>
          <a:xfrm>
            <a:off x="6163056" y="1737360"/>
            <a:ext cx="2651760" cy="3611880"/>
          </a:xfrm>
          <a:prstGeom prst="roundRect">
            <a:avLst>
              <a:gd name="adj" fmla="val 2759"/>
            </a:avLst>
          </a:prstGeom>
          <a:solidFill>
            <a:srgbClr val="F7F7F7"/>
          </a:solidFill>
          <a:ln w="9525">
            <a:solidFill>
              <a:srgbClr val="D9D9D9"/>
            </a:solidFill>
            <a:prstDash val="solid"/>
          </a:ln>
        </p:spPr>
      </p:sp>
      <p:pic>
        <p:nvPicPr>
          <p:cNvPr id="20" name="icon truck" descr="/NAS/SJ/POSTECH/nlp/figs/icons/truck.png">    </p:cNvPr>
          <p:cNvPicPr>
            <a:picLocks noChangeAspect="1"/>
          </p:cNvPicPr>
          <p:nvPr/>
        </p:nvPicPr>
        <p:blipFill>
          <a:blip r:embed="rId3"/>
          <a:stretch>
            <a:fillRect/>
          </a:stretch>
        </p:blipFill>
        <p:spPr>
          <a:xfrm>
            <a:off x="7123176" y="1874520"/>
            <a:ext cx="731520" cy="731520"/>
          </a:xfrm>
          <a:prstGeom prst="rect">
            <a:avLst/>
          </a:prstGeom>
        </p:spPr>
      </p:pic>
      <p:sp>
        <p:nvSpPr>
          <p:cNvPr id="21" name="Text 16"/>
          <p:cNvSpPr txBox="1"/>
          <p:nvPr/>
        </p:nvSpPr>
        <p:spPr>
          <a:xfrm>
            <a:off x="6254496"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Routing, scheduling</a:t>
            </a:r>
            <a:endParaRPr lang="en-US" sz="1900" dirty="0"/>
          </a:p>
        </p:txBody>
      </p:sp>
      <p:sp>
        <p:nvSpPr>
          <p:cNvPr id="22" name="Text 17"/>
          <p:cNvSpPr txBox="1"/>
          <p:nvPr/>
        </p:nvSpPr>
        <p:spPr>
          <a:xfrm>
            <a:off x="6345936"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routes for 100 customers with time windows</a:t>
            </a:r>
            <a:endParaRPr lang="en-US" sz="1500" dirty="0"/>
          </a:p>
        </p:txBody>
      </p:sp>
      <p:sp>
        <p:nvSpPr>
          <p:cNvPr id="23" name="tag Routing, scheduling"/>
          <p:cNvSpPr/>
          <p:nvPr/>
        </p:nvSpPr>
        <p:spPr>
          <a:xfrm>
            <a:off x="6300216" y="4297680"/>
            <a:ext cx="2377440" cy="868680"/>
          </a:xfrm>
          <a:prstGeom prst="roundRect">
            <a:avLst>
              <a:gd name="adj" fmla="val 10526"/>
            </a:avLst>
          </a:prstGeom>
          <a:solidFill>
            <a:srgbClr val="FFFFFF"/>
          </a:solidFill>
          <a:ln w="15875">
            <a:solidFill>
              <a:srgbClr val="ED7D31"/>
            </a:solidFill>
            <a:prstDash val="solid"/>
          </a:ln>
        </p:spPr>
      </p:sp>
      <p:sp>
        <p:nvSpPr>
          <p:cNvPr id="24" name="Text 19"/>
          <p:cNvSpPr txBox="1"/>
          <p:nvPr/>
        </p:nvSpPr>
        <p:spPr>
          <a:xfrm>
            <a:off x="6345936" y="4297680"/>
            <a:ext cx="2286000" cy="868680"/>
          </a:xfrm>
          <a:prstGeom prst="rect">
            <a:avLst/>
          </a:prstGeom>
          <a:noFill/>
          <a:ln/>
        </p:spPr>
        <p:txBody>
          <a:bodyPr wrap="square" lIns="0" tIns="0" rIns="0" bIns="0" rtlCol="0" anchor="ctr"/>
          <a:lstStyle/>
          <a:p>
            <a:pPr algn="ctr" indent="0" marL="0">
              <a:buNone/>
            </a:pPr>
            <a:r>
              <a:rPr lang="en-US" sz="1500" b="1" dirty="0">
                <a:solidFill>
                  <a:srgbClr val="ED7D31"/>
                </a:solidFill>
              </a:rPr>
              <a:t>a simple plan drives 48% farther</a:t>
            </a:r>
            <a:endParaRPr lang="en-US" sz="1500" dirty="0"/>
          </a:p>
        </p:txBody>
      </p:sp>
      <p:sp>
        <p:nvSpPr>
          <p:cNvPr id="25" name="kind Word problems"/>
          <p:cNvSpPr/>
          <p:nvPr/>
        </p:nvSpPr>
        <p:spPr>
          <a:xfrm>
            <a:off x="8970264" y="1737360"/>
            <a:ext cx="2651760" cy="3611880"/>
          </a:xfrm>
          <a:prstGeom prst="roundRect">
            <a:avLst>
              <a:gd name="adj" fmla="val 2759"/>
            </a:avLst>
          </a:prstGeom>
          <a:solidFill>
            <a:srgbClr val="F7F7F7"/>
          </a:solidFill>
          <a:ln w="9525">
            <a:solidFill>
              <a:srgbClr val="D9D9D9"/>
            </a:solidFill>
            <a:prstDash val="solid"/>
          </a:ln>
        </p:spPr>
      </p:sp>
      <p:pic>
        <p:nvPicPr>
          <p:cNvPr id="26" name="icon calc" descr="/NAS/SJ/POSTECH/nlp/figs/icons/calc.png">    </p:cNvPr>
          <p:cNvPicPr>
            <a:picLocks noChangeAspect="1"/>
          </p:cNvPicPr>
          <p:nvPr/>
        </p:nvPicPr>
        <p:blipFill>
          <a:blip r:embed="rId4"/>
          <a:stretch>
            <a:fillRect/>
          </a:stretch>
        </p:blipFill>
        <p:spPr>
          <a:xfrm>
            <a:off x="9930384" y="1874520"/>
            <a:ext cx="731520" cy="731520"/>
          </a:xfrm>
          <a:prstGeom prst="rect">
            <a:avLst/>
          </a:prstGeom>
        </p:spPr>
      </p:pic>
      <p:sp>
        <p:nvSpPr>
          <p:cNvPr id="27" name="Text 21"/>
          <p:cNvSpPr txBox="1"/>
          <p:nvPr/>
        </p:nvSpPr>
        <p:spPr>
          <a:xfrm>
            <a:off x="9061704" y="2697480"/>
            <a:ext cx="2468880" cy="457200"/>
          </a:xfrm>
          <a:prstGeom prst="rect">
            <a:avLst/>
          </a:prstGeom>
          <a:noFill/>
          <a:ln/>
        </p:spPr>
        <p:txBody>
          <a:bodyPr wrap="square" lIns="0" tIns="0" rIns="0" bIns="0" rtlCol="0" anchor="ctr"/>
          <a:lstStyle/>
          <a:p>
            <a:pPr algn="ctr" indent="0" marL="0">
              <a:buNone/>
            </a:pPr>
            <a:r>
              <a:rPr lang="en-US" sz="1900" b="1" dirty="0">
                <a:solidFill>
                  <a:schemeClr val="tx1"/>
                </a:solidFill>
              </a:rPr>
              <a:t>Word problems</a:t>
            </a:r>
            <a:endParaRPr lang="en-US" sz="1900" dirty="0"/>
          </a:p>
        </p:txBody>
      </p:sp>
      <p:sp>
        <p:nvSpPr>
          <p:cNvPr id="28" name="Text 22"/>
          <p:cNvSpPr txBox="1"/>
          <p:nvPr/>
        </p:nvSpPr>
        <p:spPr>
          <a:xfrm>
            <a:off x="9153144" y="3200400"/>
            <a:ext cx="2286000" cy="914400"/>
          </a:xfrm>
          <a:prstGeom prst="rect">
            <a:avLst/>
          </a:prstGeom>
          <a:noFill/>
          <a:ln/>
        </p:spPr>
        <p:txBody>
          <a:bodyPr wrap="square" lIns="0" tIns="0" rIns="0" bIns="0" rtlCol="0" anchor="t"/>
          <a:lstStyle/>
          <a:p>
            <a:pPr algn="ctr" indent="0" marL="0">
              <a:buNone/>
            </a:pPr>
            <a:r>
              <a:rPr lang="en-US" sz="1500" dirty="0">
                <a:solidFill>
                  <a:schemeClr val="tx1"/>
                </a:solidFill>
              </a:rPr>
              <a:t>most coins from 500 gold and 300 wires?</a:t>
            </a:r>
            <a:endParaRPr lang="en-US" sz="1500" dirty="0"/>
          </a:p>
        </p:txBody>
      </p:sp>
      <p:sp>
        <p:nvSpPr>
          <p:cNvPr id="29" name="tag Word problems"/>
          <p:cNvSpPr/>
          <p:nvPr/>
        </p:nvSpPr>
        <p:spPr>
          <a:xfrm>
            <a:off x="9107424" y="4297680"/>
            <a:ext cx="2377440" cy="868680"/>
          </a:xfrm>
          <a:prstGeom prst="roundRect">
            <a:avLst>
              <a:gd name="adj" fmla="val 10526"/>
            </a:avLst>
          </a:prstGeom>
          <a:solidFill>
            <a:srgbClr val="FFFFFF"/>
          </a:solidFill>
          <a:ln w="15875">
            <a:solidFill>
              <a:srgbClr val="38761D"/>
            </a:solidFill>
            <a:prstDash val="solid"/>
          </a:ln>
        </p:spPr>
      </p:sp>
      <p:sp>
        <p:nvSpPr>
          <p:cNvPr id="30" name="Text 24"/>
          <p:cNvSpPr txBox="1"/>
          <p:nvPr/>
        </p:nvSpPr>
        <p:spPr>
          <a:xfrm>
            <a:off x="9153144" y="4297680"/>
            <a:ext cx="2286000" cy="868680"/>
          </a:xfrm>
          <a:prstGeom prst="rect">
            <a:avLst/>
          </a:prstGeom>
          <a:noFill/>
          <a:ln/>
        </p:spPr>
        <p:txBody>
          <a:bodyPr wrap="square" lIns="0" tIns="0" rIns="0" bIns="0" rtlCol="0" anchor="ctr"/>
          <a:lstStyle/>
          <a:p>
            <a:pPr algn="ctr" indent="0" marL="0">
              <a:buNone/>
            </a:pPr>
            <a:r>
              <a:rPr lang="en-US" sz="1500" b="1" dirty="0">
                <a:solidFill>
                  <a:srgbClr val="38761D"/>
                </a:solidFill>
              </a:rPr>
              <a:t>university operations-research exercises</a:t>
            </a:r>
            <a:endParaRPr lang="en-US" sz="1500" dirty="0"/>
          </a:p>
        </p:txBody>
      </p:sp>
      <p:sp>
        <p:nvSpPr>
          <p:cNvPr id="31" name="Text 2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Why these: exact answers that code can grade, and each kind needs something different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Let the computer do the math</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algn="ctr" indent="0" marL="0">
              <a:buNone/>
            </a:pPr>
            <a:r>
              <a:rPr lang="en-US" sz="1800" dirty="0">
                <a:solidFill>
                  <a:schemeClr val="tx1"/>
                </a:solidFill>
              </a:rPr>
              <a:t>Qwen3-8B, asked for twice the area of one shape: moved, turned or flipped, it is always 436</a:t>
            </a:r>
            <a:endParaRPr lang="en-US" sz="1800" dirty="0"/>
          </a:p>
        </p:txBody>
      </p:sp>
      <p:pic>
        <p:nvPicPr>
          <p:cNvPr id="4" name="four copies of one polygon" descr="one polygon: original, moved, turned, flipped">    </p:cNvPr>
          <p:cNvPicPr>
            <a:picLocks noChangeAspect="1"/>
          </p:cNvPicPr>
          <p:nvPr/>
        </p:nvPicPr>
        <p:blipFill>
          <a:blip r:embed="rId1"/>
          <a:stretch>
            <a:fillRect/>
          </a:stretch>
        </p:blipFill>
        <p:spPr>
          <a:xfrm>
            <a:off x="3566160" y="1783080"/>
            <a:ext cx="8046720" cy="1737360"/>
          </a:xfrm>
          <a:prstGeom prst="rect">
            <a:avLst/>
          </a:prstGeom>
        </p:spPr>
      </p:pic>
      <p:sp>
        <p:nvSpPr>
          <p:cNvPr id="5" name="Text 2"/>
          <p:cNvSpPr txBox="1"/>
          <p:nvPr/>
        </p:nvSpPr>
        <p:spPr>
          <a:xfrm>
            <a:off x="548640" y="388620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Answer in words</a:t>
            </a:r>
            <a:endParaRPr lang="en-US" sz="2200" dirty="0"/>
          </a:p>
        </p:txBody>
      </p:sp>
      <p:sp>
        <p:nvSpPr>
          <p:cNvPr id="6" name="answer 436 ✓"/>
          <p:cNvSpPr/>
          <p:nvPr/>
        </p:nvSpPr>
        <p:spPr>
          <a:xfrm>
            <a:off x="3794760" y="3886200"/>
            <a:ext cx="1554480" cy="548640"/>
          </a:xfrm>
          <a:prstGeom prst="roundRect">
            <a:avLst>
              <a:gd name="adj" fmla="val 16667"/>
            </a:avLst>
          </a:prstGeom>
          <a:solidFill>
            <a:srgbClr val="E2F0D9"/>
          </a:solidFill>
          <a:ln w="12700">
            <a:solidFill>
              <a:srgbClr val="70AD47"/>
            </a:solidFill>
            <a:prstDash val="solid"/>
          </a:ln>
        </p:spPr>
      </p:sp>
      <p:sp>
        <p:nvSpPr>
          <p:cNvPr id="7" name="Text 4"/>
          <p:cNvSpPr txBox="1"/>
          <p:nvPr/>
        </p:nvSpPr>
        <p:spPr>
          <a:xfrm>
            <a:off x="3794760" y="388620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8" name="answer 2944 ✗"/>
          <p:cNvSpPr/>
          <p:nvPr/>
        </p:nvSpPr>
        <p:spPr>
          <a:xfrm>
            <a:off x="5806440" y="3886200"/>
            <a:ext cx="1554480" cy="548640"/>
          </a:xfrm>
          <a:prstGeom prst="roundRect">
            <a:avLst>
              <a:gd name="adj" fmla="val 16667"/>
            </a:avLst>
          </a:prstGeom>
          <a:solidFill>
            <a:srgbClr val="FADBD8"/>
          </a:solidFill>
          <a:ln w="12700">
            <a:solidFill>
              <a:srgbClr val="C00000"/>
            </a:solidFill>
            <a:prstDash val="solid"/>
          </a:ln>
        </p:spPr>
      </p:sp>
      <p:sp>
        <p:nvSpPr>
          <p:cNvPr id="9" name="Text 6"/>
          <p:cNvSpPr txBox="1"/>
          <p:nvPr/>
        </p:nvSpPr>
        <p:spPr>
          <a:xfrm>
            <a:off x="580644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10" name="answer 392 ✗"/>
          <p:cNvSpPr/>
          <p:nvPr/>
        </p:nvSpPr>
        <p:spPr>
          <a:xfrm>
            <a:off x="7818120" y="3886200"/>
            <a:ext cx="1554480" cy="548640"/>
          </a:xfrm>
          <a:prstGeom prst="roundRect">
            <a:avLst>
              <a:gd name="adj" fmla="val 16667"/>
            </a:avLst>
          </a:prstGeom>
          <a:solidFill>
            <a:srgbClr val="FADBD8"/>
          </a:solidFill>
          <a:ln w="12700">
            <a:solidFill>
              <a:srgbClr val="C00000"/>
            </a:solidFill>
            <a:prstDash val="solid"/>
          </a:ln>
        </p:spPr>
      </p:sp>
      <p:sp>
        <p:nvSpPr>
          <p:cNvPr id="11" name="Text 8"/>
          <p:cNvSpPr txBox="1"/>
          <p:nvPr/>
        </p:nvSpPr>
        <p:spPr>
          <a:xfrm>
            <a:off x="781812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12" name="answer 728 ✗"/>
          <p:cNvSpPr/>
          <p:nvPr/>
        </p:nvSpPr>
        <p:spPr>
          <a:xfrm>
            <a:off x="9829800" y="3886200"/>
            <a:ext cx="1554480" cy="548640"/>
          </a:xfrm>
          <a:prstGeom prst="roundRect">
            <a:avLst>
              <a:gd name="adj" fmla="val 16667"/>
            </a:avLst>
          </a:prstGeom>
          <a:solidFill>
            <a:srgbClr val="FADBD8"/>
          </a:solidFill>
          <a:ln w="12700">
            <a:solidFill>
              <a:srgbClr val="C00000"/>
            </a:solidFill>
            <a:prstDash val="solid"/>
          </a:ln>
        </p:spPr>
      </p:sp>
      <p:sp>
        <p:nvSpPr>
          <p:cNvPr id="13" name="Text 10"/>
          <p:cNvSpPr txBox="1"/>
          <p:nvPr/>
        </p:nvSpPr>
        <p:spPr>
          <a:xfrm>
            <a:off x="9829800" y="388620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14" name="Text 11"/>
          <p:cNvSpPr txBox="1"/>
          <p:nvPr/>
        </p:nvSpPr>
        <p:spPr>
          <a:xfrm>
            <a:off x="548640" y="4663440"/>
            <a:ext cx="2926080" cy="548640"/>
          </a:xfrm>
          <a:prstGeom prst="rect">
            <a:avLst/>
          </a:prstGeom>
          <a:noFill/>
          <a:ln/>
        </p:spPr>
        <p:txBody>
          <a:bodyPr wrap="square" lIns="0" tIns="0" rIns="0" bIns="0" rtlCol="0" anchor="ctr"/>
          <a:lstStyle/>
          <a:p>
            <a:pPr indent="0" marL="0">
              <a:buNone/>
            </a:pPr>
            <a:r>
              <a:rPr lang="en-US" sz="2200" b="1" dirty="0">
                <a:solidFill>
                  <a:schemeClr val="tx1"/>
                </a:solidFill>
              </a:rPr>
              <a:t>Write a program</a:t>
            </a:r>
            <a:endParaRPr lang="en-US" sz="2200" dirty="0"/>
          </a:p>
        </p:txBody>
      </p:sp>
      <p:sp>
        <p:nvSpPr>
          <p:cNvPr id="15" name="answer 436 ✓"/>
          <p:cNvSpPr/>
          <p:nvPr/>
        </p:nvSpPr>
        <p:spPr>
          <a:xfrm>
            <a:off x="3794760" y="4663440"/>
            <a:ext cx="1554480" cy="548640"/>
          </a:xfrm>
          <a:prstGeom prst="roundRect">
            <a:avLst>
              <a:gd name="adj" fmla="val 16667"/>
            </a:avLst>
          </a:prstGeom>
          <a:solidFill>
            <a:srgbClr val="E2F0D9"/>
          </a:solidFill>
          <a:ln w="12700">
            <a:solidFill>
              <a:srgbClr val="70AD47"/>
            </a:solidFill>
            <a:prstDash val="solid"/>
          </a:ln>
        </p:spPr>
      </p:sp>
      <p:sp>
        <p:nvSpPr>
          <p:cNvPr id="16" name="Text 13"/>
          <p:cNvSpPr txBox="1"/>
          <p:nvPr/>
        </p:nvSpPr>
        <p:spPr>
          <a:xfrm>
            <a:off x="379476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7" name="answer 436 ✓"/>
          <p:cNvSpPr/>
          <p:nvPr/>
        </p:nvSpPr>
        <p:spPr>
          <a:xfrm>
            <a:off x="5806440" y="4663440"/>
            <a:ext cx="1554480" cy="548640"/>
          </a:xfrm>
          <a:prstGeom prst="roundRect">
            <a:avLst>
              <a:gd name="adj" fmla="val 16667"/>
            </a:avLst>
          </a:prstGeom>
          <a:solidFill>
            <a:srgbClr val="E2F0D9"/>
          </a:solidFill>
          <a:ln w="12700">
            <a:solidFill>
              <a:srgbClr val="70AD47"/>
            </a:solidFill>
            <a:prstDash val="solid"/>
          </a:ln>
        </p:spPr>
      </p:sp>
      <p:sp>
        <p:nvSpPr>
          <p:cNvPr id="18" name="Text 15"/>
          <p:cNvSpPr txBox="1"/>
          <p:nvPr/>
        </p:nvSpPr>
        <p:spPr>
          <a:xfrm>
            <a:off x="580644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19" name="answer 436 ✓"/>
          <p:cNvSpPr/>
          <p:nvPr/>
        </p:nvSpPr>
        <p:spPr>
          <a:xfrm>
            <a:off x="7818120" y="4663440"/>
            <a:ext cx="1554480" cy="548640"/>
          </a:xfrm>
          <a:prstGeom prst="roundRect">
            <a:avLst>
              <a:gd name="adj" fmla="val 16667"/>
            </a:avLst>
          </a:prstGeom>
          <a:solidFill>
            <a:srgbClr val="E2F0D9"/>
          </a:solidFill>
          <a:ln w="12700">
            <a:solidFill>
              <a:srgbClr val="70AD47"/>
            </a:solidFill>
            <a:prstDash val="solid"/>
          </a:ln>
        </p:spPr>
      </p:sp>
      <p:sp>
        <p:nvSpPr>
          <p:cNvPr id="20" name="Text 17"/>
          <p:cNvSpPr txBox="1"/>
          <p:nvPr/>
        </p:nvSpPr>
        <p:spPr>
          <a:xfrm>
            <a:off x="781812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1" name="answer 436 ✓"/>
          <p:cNvSpPr/>
          <p:nvPr/>
        </p:nvSpPr>
        <p:spPr>
          <a:xfrm>
            <a:off x="9829800" y="4663440"/>
            <a:ext cx="1554480" cy="548640"/>
          </a:xfrm>
          <a:prstGeom prst="roundRect">
            <a:avLst>
              <a:gd name="adj" fmla="val 16667"/>
            </a:avLst>
          </a:prstGeom>
          <a:solidFill>
            <a:srgbClr val="E2F0D9"/>
          </a:solidFill>
          <a:ln w="12700">
            <a:solidFill>
              <a:srgbClr val="70AD47"/>
            </a:solidFill>
            <a:prstDash val="solid"/>
          </a:ln>
        </p:spPr>
      </p:sp>
      <p:sp>
        <p:nvSpPr>
          <p:cNvPr id="22" name="Text 19"/>
          <p:cNvSpPr txBox="1"/>
          <p:nvPr/>
        </p:nvSpPr>
        <p:spPr>
          <a:xfrm>
            <a:off x="9829800" y="466344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3" name="Text 2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For computation, a program is the right tool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But two things go wrong</a:t>
            </a:r>
            <a:endParaRPr lang="en-US" sz="3600" dirty="0"/>
          </a:p>
        </p:txBody>
      </p:sp>
      <p:sp>
        <p:nvSpPr>
          <p:cNvPr id="3" name="pane 1. Programs fail, often silently"/>
          <p:cNvSpPr/>
          <p:nvPr/>
        </p:nvSpPr>
        <p:spPr>
          <a:xfrm>
            <a:off x="548640" y="1234440"/>
            <a:ext cx="5440680" cy="3794760"/>
          </a:xfrm>
          <a:prstGeom prst="roundRect">
            <a:avLst>
              <a:gd name="adj" fmla="val 1928"/>
            </a:avLst>
          </a:prstGeom>
          <a:solidFill>
            <a:srgbClr val="FDF2F1"/>
          </a:solidFill>
          <a:ln w="12700">
            <a:solidFill>
              <a:srgbClr val="C00000"/>
            </a:solidFill>
            <a:prstDash val="solid"/>
          </a:ln>
        </p:spPr>
      </p:sp>
      <p:sp>
        <p:nvSpPr>
          <p:cNvPr id="4" name="Text 2"/>
          <p:cNvSpPr txBox="1"/>
          <p:nvPr/>
        </p:nvSpPr>
        <p:spPr>
          <a:xfrm>
            <a:off x="777240" y="1325880"/>
            <a:ext cx="4983480" cy="502920"/>
          </a:xfrm>
          <a:prstGeom prst="rect">
            <a:avLst/>
          </a:prstGeom>
          <a:noFill/>
          <a:ln/>
        </p:spPr>
        <p:txBody>
          <a:bodyPr wrap="square" lIns="0" tIns="0" rIns="0" bIns="0" rtlCol="0" anchor="ctr"/>
          <a:lstStyle/>
          <a:p>
            <a:pPr indent="0" marL="0">
              <a:buNone/>
            </a:pPr>
            <a:r>
              <a:rPr lang="en-US" sz="2200" b="1" dirty="0">
                <a:solidFill>
                  <a:srgbClr val="C00000"/>
                </a:solidFill>
              </a:rPr>
              <a:t>1. Programs fail, often silently</a:t>
            </a:r>
            <a:endParaRPr lang="en-US" sz="2200" dirty="0"/>
          </a:p>
        </p:txBody>
      </p:sp>
      <p:sp>
        <p:nvSpPr>
          <p:cNvPr id="5" name="Text 3"/>
          <p:cNvSpPr txBox="1"/>
          <p:nvPr/>
        </p:nvSpPr>
        <p:spPr>
          <a:xfrm>
            <a:off x="77724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How many corners does the rubber band have?</a:t>
            </a:r>
            <a:endParaRPr lang="en-US" sz="1500" dirty="0"/>
          </a:p>
        </p:txBody>
      </p:sp>
      <p:pic>
        <p:nvPicPr>
          <p:cNvPr id="6" name="ten points and their hull" descr="10 points; the rubber band touches 6 of them">    </p:cNvPr>
          <p:cNvPicPr>
            <a:picLocks noChangeAspect="1"/>
          </p:cNvPicPr>
          <p:nvPr/>
        </p:nvPicPr>
        <p:blipFill>
          <a:blip r:embed="rId1"/>
          <a:stretch>
            <a:fillRect/>
          </a:stretch>
        </p:blipFill>
        <p:spPr>
          <a:xfrm>
            <a:off x="868680" y="2286000"/>
            <a:ext cx="1828800" cy="1828800"/>
          </a:xfrm>
          <a:prstGeom prst="rect">
            <a:avLst/>
          </a:prstGeom>
        </p:spPr>
      </p:pic>
      <p:sp>
        <p:nvSpPr>
          <p:cNvPr id="7" name="Text 4"/>
          <p:cNvSpPr txBox="1"/>
          <p:nvPr/>
        </p:nvSpPr>
        <p:spPr>
          <a:xfrm>
            <a:off x="685800" y="4114800"/>
            <a:ext cx="2194560" cy="320040"/>
          </a:xfrm>
          <a:prstGeom prst="rect">
            <a:avLst/>
          </a:prstGeom>
          <a:noFill/>
          <a:ln/>
        </p:spPr>
        <p:txBody>
          <a:bodyPr wrap="square" lIns="0" tIns="0" rIns="0" bIns="0" rtlCol="0" anchor="ctr"/>
          <a:lstStyle/>
          <a:p>
            <a:pPr algn="ctr" indent="0" marL="0">
              <a:buNone/>
            </a:pPr>
            <a:r>
              <a:rPr lang="en-US" sz="1500" b="1" dirty="0">
                <a:solidFill>
                  <a:srgbClr val="70AD47"/>
                </a:solidFill>
              </a:rPr>
              <a:t>answer: 6 corners</a:t>
            </a:r>
            <a:endParaRPr lang="en-US" sz="1500" dirty="0"/>
          </a:p>
        </p:txBody>
      </p:sp>
      <p:sp>
        <p:nvSpPr>
          <p:cNvPr id="8" name="terminal"/>
          <p:cNvSpPr/>
          <p:nvPr/>
        </p:nvSpPr>
        <p:spPr>
          <a:xfrm>
            <a:off x="2971800" y="2331720"/>
            <a:ext cx="2834640" cy="1417320"/>
          </a:xfrm>
          <a:prstGeom prst="roundRect">
            <a:avLst>
              <a:gd name="adj" fmla="val 3226"/>
            </a:avLst>
          </a:prstGeom>
          <a:solidFill>
            <a:srgbClr val="262626"/>
          </a:solidFill>
          <a:ln w="12700">
            <a:solidFill>
              <a:srgbClr val="262626"/>
            </a:solidFill>
            <a:prstDash val="solid"/>
          </a:ln>
        </p:spPr>
      </p:sp>
      <p:sp>
        <p:nvSpPr>
          <p:cNvPr id="9" name="Text 6"/>
          <p:cNvSpPr txBox="1"/>
          <p:nvPr/>
        </p:nvSpPr>
        <p:spPr>
          <a:xfrm>
            <a:off x="3154680" y="2331720"/>
            <a:ext cx="2560320" cy="1417320"/>
          </a:xfrm>
          <a:prstGeom prst="rect">
            <a:avLst/>
          </a:prstGeom>
          <a:noFill/>
          <a:ln/>
        </p:spPr>
        <p:txBody>
          <a:bodyPr wrap="square" lIns="0" tIns="0" rIns="0" bIns="0" rtlCol="0" anchor="ctr"/>
          <a:lstStyle/>
          <a:p>
            <a:pPr indent="0" marL="0">
              <a:buNone/>
            </a:pPr>
            <a:r>
              <a:rPr lang="en-US" sz="1800" b="1" dirty="0">
                <a:solidFill>
                  <a:srgbClr val="8FD16A"/>
                </a:solidFill>
                <a:latin typeface="Courier New" pitchFamily="34" charset="0"/>
                <a:ea typeface="Courier New" pitchFamily="34" charset="-122"/>
                <a:cs typeface="Courier New" pitchFamily="34" charset="-120"/>
              </a:rPr>
              <a:t>program A  → 6</a:t>
            </a:r>
            <a:endParaRPr lang="en-US" sz="1800" dirty="0"/>
          </a:p>
          <a:p>
            <a:pPr indent="0" marL="0">
              <a:buNone/>
            </a:pPr>
            <a:r>
              <a:rPr lang="en-US" sz="1800" b="1" dirty="0">
                <a:solidFill>
                  <a:srgbClr val="FF7B7B"/>
                </a:solidFill>
                <a:latin typeface="Courier New" pitchFamily="34" charset="0"/>
                <a:ea typeface="Courier New" pitchFamily="34" charset="-122"/>
                <a:cs typeface="Courier New" pitchFamily="34" charset="-120"/>
              </a:rPr>
              <a:t>program B  → 0</a:t>
            </a:r>
            <a:endParaRPr lang="en-US" sz="1800" dirty="0"/>
          </a:p>
          <a:p>
            <a:pPr indent="0" marL="0">
              <a:buNone/>
            </a:pPr>
            <a:r>
              <a:rPr lang="en-US" sz="1800" dirty="0">
                <a:solidFill>
                  <a:srgbClr val="BFBFBF"/>
                </a:solidFill>
                <a:latin typeface="Courier New" pitchFamily="34" charset="0"/>
                <a:ea typeface="Courier New" pitchFamily="34" charset="-122"/>
                <a:cs typeface="Courier New" pitchFamily="34" charset="-120"/>
              </a:rPr>
              <a:t>no error message</a:t>
            </a:r>
            <a:endParaRPr lang="en-US" sz="1800" dirty="0"/>
          </a:p>
        </p:txBody>
      </p:sp>
      <p:sp>
        <p:nvSpPr>
          <p:cNvPr id="10" name="Text 7"/>
          <p:cNvSpPr txBox="1"/>
          <p:nvPr/>
        </p:nvSpPr>
        <p:spPr>
          <a:xfrm>
            <a:off x="2971800" y="3794760"/>
            <a:ext cx="2834640" cy="548640"/>
          </a:xfrm>
          <a:prstGeom prst="rect">
            <a:avLst/>
          </a:prstGeom>
          <a:noFill/>
          <a:ln/>
        </p:spPr>
        <p:txBody>
          <a:bodyPr wrap="square" lIns="0" tIns="0" rIns="0" bIns="0" rtlCol="0" anchor="t"/>
          <a:lstStyle/>
          <a:p>
            <a:pPr indent="0" marL="0">
              <a:buNone/>
            </a:pPr>
            <a:r>
              <a:rPr lang="en-US" sz="1400" dirty="0">
                <a:solidFill>
                  <a:schemeClr val="tx2"/>
                </a:solidFill>
              </a:rPr>
              <a:t>B's prompt only added helper code (Qwen3-14B)</a:t>
            </a:r>
            <a:endParaRPr lang="en-US" sz="1400" dirty="0"/>
          </a:p>
        </p:txBody>
      </p:sp>
      <p:sp>
        <p:nvSpPr>
          <p:cNvPr id="11" name="Text 8"/>
          <p:cNvSpPr txBox="1"/>
          <p:nvPr/>
        </p:nvSpPr>
        <p:spPr>
          <a:xfrm>
            <a:off x="777240" y="4526280"/>
            <a:ext cx="5029200" cy="365760"/>
          </a:xfrm>
          <a:prstGeom prst="rect">
            <a:avLst/>
          </a:prstGeom>
          <a:noFill/>
          <a:ln/>
        </p:spPr>
        <p:txBody>
          <a:bodyPr wrap="square" lIns="0" tIns="0" rIns="0" bIns="0" rtlCol="0" anchor="ctr"/>
          <a:lstStyle/>
          <a:p>
            <a:pPr indent="0" marL="0">
              <a:buNone/>
            </a:pPr>
            <a:r>
              <a:rPr lang="en-US" sz="1500" b="1" dirty="0">
                <a:solidFill>
                  <a:srgbClr val="C00000"/>
                </a:solidFill>
              </a:rPr>
              <a:t>✗ or it crashes on a library function that does not exist</a:t>
            </a:r>
            <a:endParaRPr lang="en-US" sz="1500" dirty="0"/>
          </a:p>
        </p:txBody>
      </p:sp>
      <p:sp>
        <p:nvSpPr>
          <p:cNvPr id="12" name="pane 2. Thinking longer is expensive"/>
          <p:cNvSpPr/>
          <p:nvPr/>
        </p:nvSpPr>
        <p:spPr>
          <a:xfrm>
            <a:off x="6172200" y="1234440"/>
            <a:ext cx="5440680" cy="3794760"/>
          </a:xfrm>
          <a:prstGeom prst="roundRect">
            <a:avLst>
              <a:gd name="adj" fmla="val 1928"/>
            </a:avLst>
          </a:prstGeom>
          <a:solidFill>
            <a:srgbClr val="FDF0E6"/>
          </a:solidFill>
          <a:ln w="12700">
            <a:solidFill>
              <a:srgbClr val="ED7D31"/>
            </a:solidFill>
            <a:prstDash val="solid"/>
          </a:ln>
        </p:spPr>
      </p:sp>
      <p:sp>
        <p:nvSpPr>
          <p:cNvPr id="13" name="Text 10"/>
          <p:cNvSpPr txBox="1"/>
          <p:nvPr/>
        </p:nvSpPr>
        <p:spPr>
          <a:xfrm>
            <a:off x="6400800" y="1325880"/>
            <a:ext cx="4983480" cy="502920"/>
          </a:xfrm>
          <a:prstGeom prst="rect">
            <a:avLst/>
          </a:prstGeom>
          <a:noFill/>
          <a:ln/>
        </p:spPr>
        <p:txBody>
          <a:bodyPr wrap="square" lIns="0" tIns="0" rIns="0" bIns="0" rtlCol="0" anchor="ctr"/>
          <a:lstStyle/>
          <a:p>
            <a:pPr indent="0" marL="0">
              <a:buNone/>
            </a:pPr>
            <a:r>
              <a:rPr lang="en-US" sz="2200" b="1" dirty="0">
                <a:solidFill>
                  <a:srgbClr val="ED7D31"/>
                </a:solidFill>
              </a:rPr>
              <a:t>2. Thinking longer is expensive</a:t>
            </a:r>
            <a:endParaRPr lang="en-US" sz="2200" dirty="0"/>
          </a:p>
        </p:txBody>
      </p:sp>
      <p:sp>
        <p:nvSpPr>
          <p:cNvPr id="14" name="Text 11"/>
          <p:cNvSpPr txBox="1"/>
          <p:nvPr/>
        </p:nvSpPr>
        <p:spPr>
          <a:xfrm>
            <a:off x="6400800" y="1874520"/>
            <a:ext cx="5029200" cy="365760"/>
          </a:xfrm>
          <a:prstGeom prst="rect">
            <a:avLst/>
          </a:prstGeom>
          <a:noFill/>
          <a:ln/>
        </p:spPr>
        <p:txBody>
          <a:bodyPr wrap="square" lIns="0" tIns="0" rIns="0" bIns="0" rtlCol="0" anchor="ctr"/>
          <a:lstStyle/>
          <a:p>
            <a:pPr indent="0" marL="0">
              <a:buNone/>
            </a:pPr>
            <a:r>
              <a:rPr lang="en-US" sz="1500" dirty="0">
                <a:solidFill>
                  <a:schemeClr val="tx1"/>
                </a:solidFill>
              </a:rPr>
              <a:t>311 contest problems, gpt-oss-120b · 1 page ≈ 700 tokens</a:t>
            </a:r>
            <a:endParaRPr lang="en-US" sz="1500" dirty="0"/>
          </a:p>
        </p:txBody>
      </p:sp>
      <p:sp>
        <p:nvSpPr>
          <p:cNvPr id="15" name="Text 12"/>
          <p:cNvSpPr txBox="1"/>
          <p:nvPr/>
        </p:nvSpPr>
        <p:spPr>
          <a:xfrm>
            <a:off x="6400800" y="23774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normal</a:t>
            </a:r>
            <a:endParaRPr lang="en-US" sz="1500" dirty="0"/>
          </a:p>
          <a:p>
            <a:pPr indent="0" marL="0">
              <a:buNone/>
            </a:pPr>
            <a:r>
              <a:rPr lang="en-US" sz="1500" dirty="0">
                <a:solidFill>
                  <a:schemeClr val="tx1"/>
                </a:solidFill>
              </a:rPr>
              <a:t>57% solved</a:t>
            </a:r>
            <a:endParaRPr lang="en-US" sz="1500" dirty="0"/>
          </a:p>
        </p:txBody>
      </p:sp>
      <p:pic>
        <p:nvPicPr>
          <p:cNvPr id="16" name="normal page 0" descr="/NAS/SJ/POSTECH/nlp/figs/icons/page.png">    </p:cNvPr>
          <p:cNvPicPr>
            <a:picLocks noChangeAspect="1"/>
          </p:cNvPicPr>
          <p:nvPr/>
        </p:nvPicPr>
        <p:blipFill>
          <a:blip r:embed="rId2"/>
          <a:stretch>
            <a:fillRect/>
          </a:stretch>
        </p:blipFill>
        <p:spPr>
          <a:xfrm>
            <a:off x="7909560" y="2395728"/>
            <a:ext cx="182880" cy="201168"/>
          </a:xfrm>
          <a:prstGeom prst="rect">
            <a:avLst/>
          </a:prstGeom>
        </p:spPr>
      </p:pic>
      <p:pic>
        <p:nvPicPr>
          <p:cNvPr id="17" name="normal page 1" descr="/NAS/SJ/POSTECH/nlp/figs/icons/page.png">    </p:cNvPr>
          <p:cNvPicPr>
            <a:picLocks noChangeAspect="1"/>
          </p:cNvPicPr>
          <p:nvPr/>
        </p:nvPicPr>
        <p:blipFill>
          <a:blip r:embed="rId3"/>
          <a:stretch>
            <a:fillRect/>
          </a:stretch>
        </p:blipFill>
        <p:spPr>
          <a:xfrm>
            <a:off x="8101584" y="2395728"/>
            <a:ext cx="182880" cy="201168"/>
          </a:xfrm>
          <a:prstGeom prst="rect">
            <a:avLst/>
          </a:prstGeom>
        </p:spPr>
      </p:pic>
      <p:pic>
        <p:nvPicPr>
          <p:cNvPr id="18" name="normal page 2" descr="/NAS/SJ/POSTECH/nlp/figs/icons/page.png">    </p:cNvPr>
          <p:cNvPicPr>
            <a:picLocks noChangeAspect="1"/>
          </p:cNvPicPr>
          <p:nvPr/>
        </p:nvPicPr>
        <p:blipFill>
          <a:blip r:embed="rId4"/>
          <a:stretch>
            <a:fillRect/>
          </a:stretch>
        </p:blipFill>
        <p:spPr>
          <a:xfrm>
            <a:off x="8293608" y="2395728"/>
            <a:ext cx="182880" cy="201168"/>
          </a:xfrm>
          <a:prstGeom prst="rect">
            <a:avLst/>
          </a:prstGeom>
        </p:spPr>
      </p:pic>
      <p:pic>
        <p:nvPicPr>
          <p:cNvPr id="19" name="normal page 3" descr="/NAS/SJ/POSTECH/nlp/figs/icons/page.png">    </p:cNvPr>
          <p:cNvPicPr>
            <a:picLocks noChangeAspect="1"/>
          </p:cNvPicPr>
          <p:nvPr/>
        </p:nvPicPr>
        <p:blipFill>
          <a:blip r:embed="rId5"/>
          <a:stretch>
            <a:fillRect/>
          </a:stretch>
        </p:blipFill>
        <p:spPr>
          <a:xfrm>
            <a:off x="8485632" y="2395728"/>
            <a:ext cx="182880" cy="201168"/>
          </a:xfrm>
          <a:prstGeom prst="rect">
            <a:avLst/>
          </a:prstGeom>
        </p:spPr>
      </p:pic>
      <p:pic>
        <p:nvPicPr>
          <p:cNvPr id="20" name="normal page 4" descr="/NAS/SJ/POSTECH/nlp/figs/icons/page.png">    </p:cNvPr>
          <p:cNvPicPr>
            <a:picLocks noChangeAspect="1"/>
          </p:cNvPicPr>
          <p:nvPr/>
        </p:nvPicPr>
        <p:blipFill>
          <a:blip r:embed="rId6"/>
          <a:stretch>
            <a:fillRect/>
          </a:stretch>
        </p:blipFill>
        <p:spPr>
          <a:xfrm>
            <a:off x="8677656" y="2395728"/>
            <a:ext cx="182880" cy="201168"/>
          </a:xfrm>
          <a:prstGeom prst="rect">
            <a:avLst/>
          </a:prstGeom>
        </p:spPr>
      </p:pic>
      <p:pic>
        <p:nvPicPr>
          <p:cNvPr id="21" name="normal page 5" descr="/NAS/SJ/POSTECH/nlp/figs/icons/page.png">    </p:cNvPr>
          <p:cNvPicPr>
            <a:picLocks noChangeAspect="1"/>
          </p:cNvPicPr>
          <p:nvPr/>
        </p:nvPicPr>
        <p:blipFill>
          <a:blip r:embed="rId7"/>
          <a:stretch>
            <a:fillRect/>
          </a:stretch>
        </p:blipFill>
        <p:spPr>
          <a:xfrm>
            <a:off x="8869680" y="2395728"/>
            <a:ext cx="182880" cy="201168"/>
          </a:xfrm>
          <a:prstGeom prst="rect">
            <a:avLst/>
          </a:prstGeom>
        </p:spPr>
      </p:pic>
      <p:pic>
        <p:nvPicPr>
          <p:cNvPr id="22" name="normal page 6" descr="/NAS/SJ/POSTECH/nlp/figs/icons/page.png">    </p:cNvPr>
          <p:cNvPicPr>
            <a:picLocks noChangeAspect="1"/>
          </p:cNvPicPr>
          <p:nvPr/>
        </p:nvPicPr>
        <p:blipFill>
          <a:blip r:embed="rId8"/>
          <a:stretch>
            <a:fillRect/>
          </a:stretch>
        </p:blipFill>
        <p:spPr>
          <a:xfrm>
            <a:off x="9061704" y="2395728"/>
            <a:ext cx="182880" cy="201168"/>
          </a:xfrm>
          <a:prstGeom prst="rect">
            <a:avLst/>
          </a:prstGeom>
        </p:spPr>
      </p:pic>
      <p:pic>
        <p:nvPicPr>
          <p:cNvPr id="23" name="normal page 7" descr="/NAS/SJ/POSTECH/nlp/figs/icons/page.png">    </p:cNvPr>
          <p:cNvPicPr>
            <a:picLocks noChangeAspect="1"/>
          </p:cNvPicPr>
          <p:nvPr/>
        </p:nvPicPr>
        <p:blipFill>
          <a:blip r:embed="rId9"/>
          <a:stretch>
            <a:fillRect/>
          </a:stretch>
        </p:blipFill>
        <p:spPr>
          <a:xfrm>
            <a:off x="9253728" y="2395728"/>
            <a:ext cx="182880" cy="201168"/>
          </a:xfrm>
          <a:prstGeom prst="rect">
            <a:avLst/>
          </a:prstGeom>
        </p:spPr>
      </p:pic>
      <p:pic>
        <p:nvPicPr>
          <p:cNvPr id="24" name="normal page 8" descr="/NAS/SJ/POSTECH/nlp/figs/icons/page.png">    </p:cNvPr>
          <p:cNvPicPr>
            <a:picLocks noChangeAspect="1"/>
          </p:cNvPicPr>
          <p:nvPr/>
        </p:nvPicPr>
        <p:blipFill>
          <a:blip r:embed="rId10"/>
          <a:stretch>
            <a:fillRect/>
          </a:stretch>
        </p:blipFill>
        <p:spPr>
          <a:xfrm>
            <a:off x="9445752" y="2395728"/>
            <a:ext cx="182880" cy="201168"/>
          </a:xfrm>
          <a:prstGeom prst="rect">
            <a:avLst/>
          </a:prstGeom>
        </p:spPr>
      </p:pic>
      <p:pic>
        <p:nvPicPr>
          <p:cNvPr id="25" name="normal page 9" descr="/NAS/SJ/POSTECH/nlp/figs/icons/page.png">    </p:cNvPr>
          <p:cNvPicPr>
            <a:picLocks noChangeAspect="1"/>
          </p:cNvPicPr>
          <p:nvPr/>
        </p:nvPicPr>
        <p:blipFill>
          <a:blip r:embed="rId11"/>
          <a:stretch>
            <a:fillRect/>
          </a:stretch>
        </p:blipFill>
        <p:spPr>
          <a:xfrm>
            <a:off x="9637776" y="2395728"/>
            <a:ext cx="182880" cy="201168"/>
          </a:xfrm>
          <a:prstGeom prst="rect">
            <a:avLst/>
          </a:prstGeom>
        </p:spPr>
      </p:pic>
      <p:sp>
        <p:nvSpPr>
          <p:cNvPr id="26" name="Text 13"/>
          <p:cNvSpPr txBox="1"/>
          <p:nvPr/>
        </p:nvSpPr>
        <p:spPr>
          <a:xfrm>
            <a:off x="6400800" y="3063240"/>
            <a:ext cx="1463040" cy="594360"/>
          </a:xfrm>
          <a:prstGeom prst="rect">
            <a:avLst/>
          </a:prstGeom>
          <a:noFill/>
          <a:ln/>
        </p:spPr>
        <p:txBody>
          <a:bodyPr wrap="square" lIns="0" tIns="0" rIns="0" bIns="0" rtlCol="0" anchor="ctr"/>
          <a:lstStyle/>
          <a:p>
            <a:pPr indent="0" marL="0">
              <a:buNone/>
            </a:pPr>
            <a:r>
              <a:rPr lang="en-US" sz="1500" b="1" dirty="0">
                <a:solidFill>
                  <a:schemeClr val="tx1"/>
                </a:solidFill>
              </a:rPr>
              <a:t>think hard</a:t>
            </a:r>
            <a:endParaRPr lang="en-US" sz="1500" dirty="0"/>
          </a:p>
          <a:p>
            <a:pPr indent="0" marL="0">
              <a:buNone/>
            </a:pPr>
            <a:r>
              <a:rPr lang="en-US" sz="1500" dirty="0">
                <a:solidFill>
                  <a:schemeClr val="tx1"/>
                </a:solidFill>
              </a:rPr>
              <a:t>66% solved</a:t>
            </a:r>
            <a:endParaRPr lang="en-US" sz="1500" dirty="0"/>
          </a:p>
        </p:txBody>
      </p:sp>
      <p:pic>
        <p:nvPicPr>
          <p:cNvPr id="27" name="think hard page 0" descr="/NAS/SJ/POSTECH/nlp/figs/icons/pagehot.png">    </p:cNvPr>
          <p:cNvPicPr>
            <a:picLocks noChangeAspect="1"/>
          </p:cNvPicPr>
          <p:nvPr/>
        </p:nvPicPr>
        <p:blipFill>
          <a:blip r:embed="rId12"/>
          <a:stretch>
            <a:fillRect/>
          </a:stretch>
        </p:blipFill>
        <p:spPr>
          <a:xfrm>
            <a:off x="7909560" y="3081528"/>
            <a:ext cx="182880" cy="201168"/>
          </a:xfrm>
          <a:prstGeom prst="rect">
            <a:avLst/>
          </a:prstGeom>
        </p:spPr>
      </p:pic>
      <p:pic>
        <p:nvPicPr>
          <p:cNvPr id="28" name="think hard page 1" descr="/NAS/SJ/POSTECH/nlp/figs/icons/pagehot.png">    </p:cNvPr>
          <p:cNvPicPr>
            <a:picLocks noChangeAspect="1"/>
          </p:cNvPicPr>
          <p:nvPr/>
        </p:nvPicPr>
        <p:blipFill>
          <a:blip r:embed="rId13"/>
          <a:stretch>
            <a:fillRect/>
          </a:stretch>
        </p:blipFill>
        <p:spPr>
          <a:xfrm>
            <a:off x="8101584" y="3081528"/>
            <a:ext cx="182880" cy="201168"/>
          </a:xfrm>
          <a:prstGeom prst="rect">
            <a:avLst/>
          </a:prstGeom>
        </p:spPr>
      </p:pic>
      <p:pic>
        <p:nvPicPr>
          <p:cNvPr id="29" name="think hard page 2" descr="/NAS/SJ/POSTECH/nlp/figs/icons/pagehot.png">    </p:cNvPr>
          <p:cNvPicPr>
            <a:picLocks noChangeAspect="1"/>
          </p:cNvPicPr>
          <p:nvPr/>
        </p:nvPicPr>
        <p:blipFill>
          <a:blip r:embed="rId14"/>
          <a:stretch>
            <a:fillRect/>
          </a:stretch>
        </p:blipFill>
        <p:spPr>
          <a:xfrm>
            <a:off x="8293608" y="3081528"/>
            <a:ext cx="182880" cy="201168"/>
          </a:xfrm>
          <a:prstGeom prst="rect">
            <a:avLst/>
          </a:prstGeom>
        </p:spPr>
      </p:pic>
      <p:pic>
        <p:nvPicPr>
          <p:cNvPr id="30" name="think hard page 3" descr="/NAS/SJ/POSTECH/nlp/figs/icons/pagehot.png">    </p:cNvPr>
          <p:cNvPicPr>
            <a:picLocks noChangeAspect="1"/>
          </p:cNvPicPr>
          <p:nvPr/>
        </p:nvPicPr>
        <p:blipFill>
          <a:blip r:embed="rId15"/>
          <a:stretch>
            <a:fillRect/>
          </a:stretch>
        </p:blipFill>
        <p:spPr>
          <a:xfrm>
            <a:off x="8485632" y="3081528"/>
            <a:ext cx="182880" cy="201168"/>
          </a:xfrm>
          <a:prstGeom prst="rect">
            <a:avLst/>
          </a:prstGeom>
        </p:spPr>
      </p:pic>
      <p:pic>
        <p:nvPicPr>
          <p:cNvPr id="31" name="think hard page 4" descr="/NAS/SJ/POSTECH/nlp/figs/icons/pagehot.png">    </p:cNvPr>
          <p:cNvPicPr>
            <a:picLocks noChangeAspect="1"/>
          </p:cNvPicPr>
          <p:nvPr/>
        </p:nvPicPr>
        <p:blipFill>
          <a:blip r:embed="rId16"/>
          <a:stretch>
            <a:fillRect/>
          </a:stretch>
        </p:blipFill>
        <p:spPr>
          <a:xfrm>
            <a:off x="8677656" y="3081528"/>
            <a:ext cx="182880" cy="201168"/>
          </a:xfrm>
          <a:prstGeom prst="rect">
            <a:avLst/>
          </a:prstGeom>
        </p:spPr>
      </p:pic>
      <p:pic>
        <p:nvPicPr>
          <p:cNvPr id="32" name="think hard page 5" descr="/NAS/SJ/POSTECH/nlp/figs/icons/pagehot.png">    </p:cNvPr>
          <p:cNvPicPr>
            <a:picLocks noChangeAspect="1"/>
          </p:cNvPicPr>
          <p:nvPr/>
        </p:nvPicPr>
        <p:blipFill>
          <a:blip r:embed="rId17"/>
          <a:stretch>
            <a:fillRect/>
          </a:stretch>
        </p:blipFill>
        <p:spPr>
          <a:xfrm>
            <a:off x="8869680" y="3081528"/>
            <a:ext cx="182880" cy="201168"/>
          </a:xfrm>
          <a:prstGeom prst="rect">
            <a:avLst/>
          </a:prstGeom>
        </p:spPr>
      </p:pic>
      <p:pic>
        <p:nvPicPr>
          <p:cNvPr id="33" name="think hard page 6" descr="/NAS/SJ/POSTECH/nlp/figs/icons/pagehot.png">    </p:cNvPr>
          <p:cNvPicPr>
            <a:picLocks noChangeAspect="1"/>
          </p:cNvPicPr>
          <p:nvPr/>
        </p:nvPicPr>
        <p:blipFill>
          <a:blip r:embed="rId18"/>
          <a:stretch>
            <a:fillRect/>
          </a:stretch>
        </p:blipFill>
        <p:spPr>
          <a:xfrm>
            <a:off x="9061704" y="3081528"/>
            <a:ext cx="182880" cy="201168"/>
          </a:xfrm>
          <a:prstGeom prst="rect">
            <a:avLst/>
          </a:prstGeom>
        </p:spPr>
      </p:pic>
      <p:pic>
        <p:nvPicPr>
          <p:cNvPr id="34" name="think hard page 7" descr="/NAS/SJ/POSTECH/nlp/figs/icons/pagehot.png">    </p:cNvPr>
          <p:cNvPicPr>
            <a:picLocks noChangeAspect="1"/>
          </p:cNvPicPr>
          <p:nvPr/>
        </p:nvPicPr>
        <p:blipFill>
          <a:blip r:embed="rId19"/>
          <a:stretch>
            <a:fillRect/>
          </a:stretch>
        </p:blipFill>
        <p:spPr>
          <a:xfrm>
            <a:off x="9253728" y="3081528"/>
            <a:ext cx="182880" cy="201168"/>
          </a:xfrm>
          <a:prstGeom prst="rect">
            <a:avLst/>
          </a:prstGeom>
        </p:spPr>
      </p:pic>
      <p:pic>
        <p:nvPicPr>
          <p:cNvPr id="35" name="think hard page 8" descr="/NAS/SJ/POSTECH/nlp/figs/icons/pagehot.png">    </p:cNvPr>
          <p:cNvPicPr>
            <a:picLocks noChangeAspect="1"/>
          </p:cNvPicPr>
          <p:nvPr/>
        </p:nvPicPr>
        <p:blipFill>
          <a:blip r:embed="rId20"/>
          <a:stretch>
            <a:fillRect/>
          </a:stretch>
        </p:blipFill>
        <p:spPr>
          <a:xfrm>
            <a:off x="9445752" y="3081528"/>
            <a:ext cx="182880" cy="201168"/>
          </a:xfrm>
          <a:prstGeom prst="rect">
            <a:avLst/>
          </a:prstGeom>
        </p:spPr>
      </p:pic>
      <p:pic>
        <p:nvPicPr>
          <p:cNvPr id="36" name="think hard page 9" descr="/NAS/SJ/POSTECH/nlp/figs/icons/pagehot.png">    </p:cNvPr>
          <p:cNvPicPr>
            <a:picLocks noChangeAspect="1"/>
          </p:cNvPicPr>
          <p:nvPr/>
        </p:nvPicPr>
        <p:blipFill>
          <a:blip r:embed="rId21"/>
          <a:stretch>
            <a:fillRect/>
          </a:stretch>
        </p:blipFill>
        <p:spPr>
          <a:xfrm>
            <a:off x="9637776" y="3081528"/>
            <a:ext cx="182880" cy="201168"/>
          </a:xfrm>
          <a:prstGeom prst="rect">
            <a:avLst/>
          </a:prstGeom>
        </p:spPr>
      </p:pic>
      <p:pic>
        <p:nvPicPr>
          <p:cNvPr id="37" name="think hard page 10" descr="/NAS/SJ/POSTECH/nlp/figs/icons/pagehot.png">    </p:cNvPr>
          <p:cNvPicPr>
            <a:picLocks noChangeAspect="1"/>
          </p:cNvPicPr>
          <p:nvPr/>
        </p:nvPicPr>
        <p:blipFill>
          <a:blip r:embed="rId22"/>
          <a:stretch>
            <a:fillRect/>
          </a:stretch>
        </p:blipFill>
        <p:spPr>
          <a:xfrm>
            <a:off x="9829800" y="3081528"/>
            <a:ext cx="182880" cy="201168"/>
          </a:xfrm>
          <a:prstGeom prst="rect">
            <a:avLst/>
          </a:prstGeom>
        </p:spPr>
      </p:pic>
      <p:pic>
        <p:nvPicPr>
          <p:cNvPr id="38" name="think hard page 11" descr="/NAS/SJ/POSTECH/nlp/figs/icons/pagehot.png">    </p:cNvPr>
          <p:cNvPicPr>
            <a:picLocks noChangeAspect="1"/>
          </p:cNvPicPr>
          <p:nvPr/>
        </p:nvPicPr>
        <p:blipFill>
          <a:blip r:embed="rId23"/>
          <a:stretch>
            <a:fillRect/>
          </a:stretch>
        </p:blipFill>
        <p:spPr>
          <a:xfrm>
            <a:off x="10021824" y="3081528"/>
            <a:ext cx="182880" cy="201168"/>
          </a:xfrm>
          <a:prstGeom prst="rect">
            <a:avLst/>
          </a:prstGeom>
        </p:spPr>
      </p:pic>
      <p:pic>
        <p:nvPicPr>
          <p:cNvPr id="39" name="think hard page 12" descr="/NAS/SJ/POSTECH/nlp/figs/icons/pagehot.png">    </p:cNvPr>
          <p:cNvPicPr>
            <a:picLocks noChangeAspect="1"/>
          </p:cNvPicPr>
          <p:nvPr/>
        </p:nvPicPr>
        <p:blipFill>
          <a:blip r:embed="rId24"/>
          <a:stretch>
            <a:fillRect/>
          </a:stretch>
        </p:blipFill>
        <p:spPr>
          <a:xfrm>
            <a:off x="10213848" y="3081528"/>
            <a:ext cx="182880" cy="201168"/>
          </a:xfrm>
          <a:prstGeom prst="rect">
            <a:avLst/>
          </a:prstGeom>
        </p:spPr>
      </p:pic>
      <p:pic>
        <p:nvPicPr>
          <p:cNvPr id="40" name="think hard page 13" descr="/NAS/SJ/POSTECH/nlp/figs/icons/pagehot.png">    </p:cNvPr>
          <p:cNvPicPr>
            <a:picLocks noChangeAspect="1"/>
          </p:cNvPicPr>
          <p:nvPr/>
        </p:nvPicPr>
        <p:blipFill>
          <a:blip r:embed="rId25"/>
          <a:stretch>
            <a:fillRect/>
          </a:stretch>
        </p:blipFill>
        <p:spPr>
          <a:xfrm>
            <a:off x="10405872" y="3081528"/>
            <a:ext cx="182880" cy="201168"/>
          </a:xfrm>
          <a:prstGeom prst="rect">
            <a:avLst/>
          </a:prstGeom>
        </p:spPr>
      </p:pic>
      <p:pic>
        <p:nvPicPr>
          <p:cNvPr id="41" name="think hard page 14" descr="/NAS/SJ/POSTECH/nlp/figs/icons/pagehot.png">    </p:cNvPr>
          <p:cNvPicPr>
            <a:picLocks noChangeAspect="1"/>
          </p:cNvPicPr>
          <p:nvPr/>
        </p:nvPicPr>
        <p:blipFill>
          <a:blip r:embed="rId26"/>
          <a:stretch>
            <a:fillRect/>
          </a:stretch>
        </p:blipFill>
        <p:spPr>
          <a:xfrm>
            <a:off x="10597896" y="3081528"/>
            <a:ext cx="182880" cy="201168"/>
          </a:xfrm>
          <a:prstGeom prst="rect">
            <a:avLst/>
          </a:prstGeom>
        </p:spPr>
      </p:pic>
      <p:pic>
        <p:nvPicPr>
          <p:cNvPr id="42" name="think hard page 15" descr="/NAS/SJ/POSTECH/nlp/figs/icons/pagehot.png">    </p:cNvPr>
          <p:cNvPicPr>
            <a:picLocks noChangeAspect="1"/>
          </p:cNvPicPr>
          <p:nvPr/>
        </p:nvPicPr>
        <p:blipFill>
          <a:blip r:embed="rId27"/>
          <a:stretch>
            <a:fillRect/>
          </a:stretch>
        </p:blipFill>
        <p:spPr>
          <a:xfrm>
            <a:off x="10789920" y="3081528"/>
            <a:ext cx="182880" cy="201168"/>
          </a:xfrm>
          <a:prstGeom prst="rect">
            <a:avLst/>
          </a:prstGeom>
        </p:spPr>
      </p:pic>
      <p:pic>
        <p:nvPicPr>
          <p:cNvPr id="43" name="think hard page 16" descr="/NAS/SJ/POSTECH/nlp/figs/icons/pagehot.png">    </p:cNvPr>
          <p:cNvPicPr>
            <a:picLocks noChangeAspect="1"/>
          </p:cNvPicPr>
          <p:nvPr/>
        </p:nvPicPr>
        <p:blipFill>
          <a:blip r:embed="rId28"/>
          <a:stretch>
            <a:fillRect/>
          </a:stretch>
        </p:blipFill>
        <p:spPr>
          <a:xfrm>
            <a:off x="10981944" y="3081528"/>
            <a:ext cx="182880" cy="201168"/>
          </a:xfrm>
          <a:prstGeom prst="rect">
            <a:avLst/>
          </a:prstGeom>
        </p:spPr>
      </p:pic>
      <p:pic>
        <p:nvPicPr>
          <p:cNvPr id="44" name="think hard page 17" descr="/NAS/SJ/POSTECH/nlp/figs/icons/pagehot.png">    </p:cNvPr>
          <p:cNvPicPr>
            <a:picLocks noChangeAspect="1"/>
          </p:cNvPicPr>
          <p:nvPr/>
        </p:nvPicPr>
        <p:blipFill>
          <a:blip r:embed="rId29"/>
          <a:stretch>
            <a:fillRect/>
          </a:stretch>
        </p:blipFill>
        <p:spPr>
          <a:xfrm>
            <a:off x="11173968" y="3081528"/>
            <a:ext cx="182880" cy="201168"/>
          </a:xfrm>
          <a:prstGeom prst="rect">
            <a:avLst/>
          </a:prstGeom>
        </p:spPr>
      </p:pic>
      <p:pic>
        <p:nvPicPr>
          <p:cNvPr id="45" name="think hard page 18" descr="/NAS/SJ/POSTECH/nlp/figs/icons/pagehot.png">    </p:cNvPr>
          <p:cNvPicPr>
            <a:picLocks noChangeAspect="1"/>
          </p:cNvPicPr>
          <p:nvPr/>
        </p:nvPicPr>
        <p:blipFill>
          <a:blip r:embed="rId30"/>
          <a:stretch>
            <a:fillRect/>
          </a:stretch>
        </p:blipFill>
        <p:spPr>
          <a:xfrm>
            <a:off x="7909560" y="3300984"/>
            <a:ext cx="182880" cy="201168"/>
          </a:xfrm>
          <a:prstGeom prst="rect">
            <a:avLst/>
          </a:prstGeom>
        </p:spPr>
      </p:pic>
      <p:pic>
        <p:nvPicPr>
          <p:cNvPr id="46" name="think hard page 19" descr="/NAS/SJ/POSTECH/nlp/figs/icons/pagehot.png">    </p:cNvPr>
          <p:cNvPicPr>
            <a:picLocks noChangeAspect="1"/>
          </p:cNvPicPr>
          <p:nvPr/>
        </p:nvPicPr>
        <p:blipFill>
          <a:blip r:embed="rId31"/>
          <a:stretch>
            <a:fillRect/>
          </a:stretch>
        </p:blipFill>
        <p:spPr>
          <a:xfrm>
            <a:off x="8101584" y="3300984"/>
            <a:ext cx="182880" cy="201168"/>
          </a:xfrm>
          <a:prstGeom prst="rect">
            <a:avLst/>
          </a:prstGeom>
        </p:spPr>
      </p:pic>
      <p:pic>
        <p:nvPicPr>
          <p:cNvPr id="47" name="think hard page 20" descr="/NAS/SJ/POSTECH/nlp/figs/icons/pagehot.png">    </p:cNvPr>
          <p:cNvPicPr>
            <a:picLocks noChangeAspect="1"/>
          </p:cNvPicPr>
          <p:nvPr/>
        </p:nvPicPr>
        <p:blipFill>
          <a:blip r:embed="rId32"/>
          <a:stretch>
            <a:fillRect/>
          </a:stretch>
        </p:blipFill>
        <p:spPr>
          <a:xfrm>
            <a:off x="8293608" y="3300984"/>
            <a:ext cx="182880" cy="201168"/>
          </a:xfrm>
          <a:prstGeom prst="rect">
            <a:avLst/>
          </a:prstGeom>
        </p:spPr>
      </p:pic>
      <p:pic>
        <p:nvPicPr>
          <p:cNvPr id="48" name="think hard page 21" descr="/NAS/SJ/POSTECH/nlp/figs/icons/pagehot.png">    </p:cNvPr>
          <p:cNvPicPr>
            <a:picLocks noChangeAspect="1"/>
          </p:cNvPicPr>
          <p:nvPr/>
        </p:nvPicPr>
        <p:blipFill>
          <a:blip r:embed="rId33"/>
          <a:stretch>
            <a:fillRect/>
          </a:stretch>
        </p:blipFill>
        <p:spPr>
          <a:xfrm>
            <a:off x="8485632" y="3300984"/>
            <a:ext cx="182880" cy="201168"/>
          </a:xfrm>
          <a:prstGeom prst="rect">
            <a:avLst/>
          </a:prstGeom>
        </p:spPr>
      </p:pic>
      <p:pic>
        <p:nvPicPr>
          <p:cNvPr id="49" name="think hard page 22" descr="/NAS/SJ/POSTECH/nlp/figs/icons/pagehot.png">    </p:cNvPr>
          <p:cNvPicPr>
            <a:picLocks noChangeAspect="1"/>
          </p:cNvPicPr>
          <p:nvPr/>
        </p:nvPicPr>
        <p:blipFill>
          <a:blip r:embed="rId34"/>
          <a:stretch>
            <a:fillRect/>
          </a:stretch>
        </p:blipFill>
        <p:spPr>
          <a:xfrm>
            <a:off x="8677656" y="3300984"/>
            <a:ext cx="182880" cy="201168"/>
          </a:xfrm>
          <a:prstGeom prst="rect">
            <a:avLst/>
          </a:prstGeom>
        </p:spPr>
      </p:pic>
      <p:pic>
        <p:nvPicPr>
          <p:cNvPr id="50" name="think hard page 23" descr="/NAS/SJ/POSTECH/nlp/figs/icons/pagehot.png">    </p:cNvPr>
          <p:cNvPicPr>
            <a:picLocks noChangeAspect="1"/>
          </p:cNvPicPr>
          <p:nvPr/>
        </p:nvPicPr>
        <p:blipFill>
          <a:blip r:embed="rId35"/>
          <a:stretch>
            <a:fillRect/>
          </a:stretch>
        </p:blipFill>
        <p:spPr>
          <a:xfrm>
            <a:off x="8869680" y="3300984"/>
            <a:ext cx="182880" cy="201168"/>
          </a:xfrm>
          <a:prstGeom prst="rect">
            <a:avLst/>
          </a:prstGeom>
        </p:spPr>
      </p:pic>
      <p:pic>
        <p:nvPicPr>
          <p:cNvPr id="51" name="think hard page 24" descr="/NAS/SJ/POSTECH/nlp/figs/icons/pagehot.png">    </p:cNvPr>
          <p:cNvPicPr>
            <a:picLocks noChangeAspect="1"/>
          </p:cNvPicPr>
          <p:nvPr/>
        </p:nvPicPr>
        <p:blipFill>
          <a:blip r:embed="rId36"/>
          <a:stretch>
            <a:fillRect/>
          </a:stretch>
        </p:blipFill>
        <p:spPr>
          <a:xfrm>
            <a:off x="9061704" y="3300984"/>
            <a:ext cx="182880" cy="201168"/>
          </a:xfrm>
          <a:prstGeom prst="rect">
            <a:avLst/>
          </a:prstGeom>
        </p:spPr>
      </p:pic>
      <p:pic>
        <p:nvPicPr>
          <p:cNvPr id="52" name="think hard page 25" descr="/NAS/SJ/POSTECH/nlp/figs/icons/pagehot.png">    </p:cNvPr>
          <p:cNvPicPr>
            <a:picLocks noChangeAspect="1"/>
          </p:cNvPicPr>
          <p:nvPr/>
        </p:nvPicPr>
        <p:blipFill>
          <a:blip r:embed="rId37"/>
          <a:stretch>
            <a:fillRect/>
          </a:stretch>
        </p:blipFill>
        <p:spPr>
          <a:xfrm>
            <a:off x="9253728" y="3300984"/>
            <a:ext cx="182880" cy="201168"/>
          </a:xfrm>
          <a:prstGeom prst="rect">
            <a:avLst/>
          </a:prstGeom>
        </p:spPr>
      </p:pic>
      <p:pic>
        <p:nvPicPr>
          <p:cNvPr id="53" name="think hard page 26" descr="/NAS/SJ/POSTECH/nlp/figs/icons/pagehot.png">    </p:cNvPr>
          <p:cNvPicPr>
            <a:picLocks noChangeAspect="1"/>
          </p:cNvPicPr>
          <p:nvPr/>
        </p:nvPicPr>
        <p:blipFill>
          <a:blip r:embed="rId38"/>
          <a:stretch>
            <a:fillRect/>
          </a:stretch>
        </p:blipFill>
        <p:spPr>
          <a:xfrm>
            <a:off x="9445752" y="3300984"/>
            <a:ext cx="182880" cy="201168"/>
          </a:xfrm>
          <a:prstGeom prst="rect">
            <a:avLst/>
          </a:prstGeom>
        </p:spPr>
      </p:pic>
      <p:pic>
        <p:nvPicPr>
          <p:cNvPr id="54" name="think hard page 27" descr="/NAS/SJ/POSTECH/nlp/figs/icons/pagehot.png">    </p:cNvPr>
          <p:cNvPicPr>
            <a:picLocks noChangeAspect="1"/>
          </p:cNvPicPr>
          <p:nvPr/>
        </p:nvPicPr>
        <p:blipFill>
          <a:blip r:embed="rId39"/>
          <a:stretch>
            <a:fillRect/>
          </a:stretch>
        </p:blipFill>
        <p:spPr>
          <a:xfrm>
            <a:off x="9637776" y="3300984"/>
            <a:ext cx="182880" cy="201168"/>
          </a:xfrm>
          <a:prstGeom prst="rect">
            <a:avLst/>
          </a:prstGeom>
        </p:spPr>
      </p:pic>
      <p:pic>
        <p:nvPicPr>
          <p:cNvPr id="55" name="think hard page 28" descr="/NAS/SJ/POSTECH/nlp/figs/icons/pagehot.png">    </p:cNvPr>
          <p:cNvPicPr>
            <a:picLocks noChangeAspect="1"/>
          </p:cNvPicPr>
          <p:nvPr/>
        </p:nvPicPr>
        <p:blipFill>
          <a:blip r:embed="rId40"/>
          <a:stretch>
            <a:fillRect/>
          </a:stretch>
        </p:blipFill>
        <p:spPr>
          <a:xfrm>
            <a:off x="9829800" y="3300984"/>
            <a:ext cx="182880" cy="201168"/>
          </a:xfrm>
          <a:prstGeom prst="rect">
            <a:avLst/>
          </a:prstGeom>
        </p:spPr>
      </p:pic>
      <p:pic>
        <p:nvPicPr>
          <p:cNvPr id="56" name="think hard page 29" descr="/NAS/SJ/POSTECH/nlp/figs/icons/pagehot.png">    </p:cNvPr>
          <p:cNvPicPr>
            <a:picLocks noChangeAspect="1"/>
          </p:cNvPicPr>
          <p:nvPr/>
        </p:nvPicPr>
        <p:blipFill>
          <a:blip r:embed="rId41"/>
          <a:stretch>
            <a:fillRect/>
          </a:stretch>
        </p:blipFill>
        <p:spPr>
          <a:xfrm>
            <a:off x="10021824" y="3300984"/>
            <a:ext cx="182880" cy="201168"/>
          </a:xfrm>
          <a:prstGeom prst="rect">
            <a:avLst/>
          </a:prstGeom>
        </p:spPr>
      </p:pic>
      <p:pic>
        <p:nvPicPr>
          <p:cNvPr id="57" name="think hard page 30" descr="/NAS/SJ/POSTECH/nlp/figs/icons/pagehot.png">    </p:cNvPr>
          <p:cNvPicPr>
            <a:picLocks noChangeAspect="1"/>
          </p:cNvPicPr>
          <p:nvPr/>
        </p:nvPicPr>
        <p:blipFill>
          <a:blip r:embed="rId42"/>
          <a:stretch>
            <a:fillRect/>
          </a:stretch>
        </p:blipFill>
        <p:spPr>
          <a:xfrm>
            <a:off x="10213848" y="3300984"/>
            <a:ext cx="182880" cy="201168"/>
          </a:xfrm>
          <a:prstGeom prst="rect">
            <a:avLst/>
          </a:prstGeom>
        </p:spPr>
      </p:pic>
      <p:pic>
        <p:nvPicPr>
          <p:cNvPr id="58" name="think hard page 31" descr="/NAS/SJ/POSTECH/nlp/figs/icons/pagehot.png">    </p:cNvPr>
          <p:cNvPicPr>
            <a:picLocks noChangeAspect="1"/>
          </p:cNvPicPr>
          <p:nvPr/>
        </p:nvPicPr>
        <p:blipFill>
          <a:blip r:embed="rId43"/>
          <a:stretch>
            <a:fillRect/>
          </a:stretch>
        </p:blipFill>
        <p:spPr>
          <a:xfrm>
            <a:off x="10405872" y="3300984"/>
            <a:ext cx="182880" cy="201168"/>
          </a:xfrm>
          <a:prstGeom prst="rect">
            <a:avLst/>
          </a:prstGeom>
        </p:spPr>
      </p:pic>
      <p:pic>
        <p:nvPicPr>
          <p:cNvPr id="59" name="think hard page 32" descr="/NAS/SJ/POSTECH/nlp/figs/icons/pagehot.png">    </p:cNvPr>
          <p:cNvPicPr>
            <a:picLocks noChangeAspect="1"/>
          </p:cNvPicPr>
          <p:nvPr/>
        </p:nvPicPr>
        <p:blipFill>
          <a:blip r:embed="rId44"/>
          <a:stretch>
            <a:fillRect/>
          </a:stretch>
        </p:blipFill>
        <p:spPr>
          <a:xfrm>
            <a:off x="10597896" y="3300984"/>
            <a:ext cx="182880" cy="201168"/>
          </a:xfrm>
          <a:prstGeom prst="rect">
            <a:avLst/>
          </a:prstGeom>
        </p:spPr>
      </p:pic>
      <p:pic>
        <p:nvPicPr>
          <p:cNvPr id="60" name="think hard page 33" descr="/NAS/SJ/POSTECH/nlp/figs/icons/pagehot.png">    </p:cNvPr>
          <p:cNvPicPr>
            <a:picLocks noChangeAspect="1"/>
          </p:cNvPicPr>
          <p:nvPr/>
        </p:nvPicPr>
        <p:blipFill>
          <a:blip r:embed="rId45"/>
          <a:stretch>
            <a:fillRect/>
          </a:stretch>
        </p:blipFill>
        <p:spPr>
          <a:xfrm>
            <a:off x="10789920" y="3300984"/>
            <a:ext cx="182880" cy="201168"/>
          </a:xfrm>
          <a:prstGeom prst="rect">
            <a:avLst/>
          </a:prstGeom>
        </p:spPr>
      </p:pic>
      <p:pic>
        <p:nvPicPr>
          <p:cNvPr id="61" name="think hard page 34" descr="/NAS/SJ/POSTECH/nlp/figs/icons/pagehot.png">    </p:cNvPr>
          <p:cNvPicPr>
            <a:picLocks noChangeAspect="1"/>
          </p:cNvPicPr>
          <p:nvPr/>
        </p:nvPicPr>
        <p:blipFill>
          <a:blip r:embed="rId46"/>
          <a:stretch>
            <a:fillRect/>
          </a:stretch>
        </p:blipFill>
        <p:spPr>
          <a:xfrm>
            <a:off x="10981944" y="3300984"/>
            <a:ext cx="182880" cy="201168"/>
          </a:xfrm>
          <a:prstGeom prst="rect">
            <a:avLst/>
          </a:prstGeom>
        </p:spPr>
      </p:pic>
      <p:pic>
        <p:nvPicPr>
          <p:cNvPr id="62" name="think hard page 35" descr="/NAS/SJ/POSTECH/nlp/figs/icons/pagehot.png">    </p:cNvPr>
          <p:cNvPicPr>
            <a:picLocks noChangeAspect="1"/>
          </p:cNvPicPr>
          <p:nvPr/>
        </p:nvPicPr>
        <p:blipFill>
          <a:blip r:embed="rId47"/>
          <a:stretch>
            <a:fillRect/>
          </a:stretch>
        </p:blipFill>
        <p:spPr>
          <a:xfrm>
            <a:off x="11173968" y="3300984"/>
            <a:ext cx="182880" cy="201168"/>
          </a:xfrm>
          <a:prstGeom prst="rect">
            <a:avLst/>
          </a:prstGeom>
        </p:spPr>
      </p:pic>
      <p:pic>
        <p:nvPicPr>
          <p:cNvPr id="63" name="think hard page 36" descr="/NAS/SJ/POSTECH/nlp/figs/icons/pagehot.png">    </p:cNvPr>
          <p:cNvPicPr>
            <a:picLocks noChangeAspect="1"/>
          </p:cNvPicPr>
          <p:nvPr/>
        </p:nvPicPr>
        <p:blipFill>
          <a:blip r:embed="rId48"/>
          <a:stretch>
            <a:fillRect/>
          </a:stretch>
        </p:blipFill>
        <p:spPr>
          <a:xfrm>
            <a:off x="7909560" y="3520440"/>
            <a:ext cx="182880" cy="201168"/>
          </a:xfrm>
          <a:prstGeom prst="rect">
            <a:avLst/>
          </a:prstGeom>
        </p:spPr>
      </p:pic>
      <p:pic>
        <p:nvPicPr>
          <p:cNvPr id="64" name="think hard page 37" descr="/NAS/SJ/POSTECH/nlp/figs/icons/pagehot.png">    </p:cNvPr>
          <p:cNvPicPr>
            <a:picLocks noChangeAspect="1"/>
          </p:cNvPicPr>
          <p:nvPr/>
        </p:nvPicPr>
        <p:blipFill>
          <a:blip r:embed="rId49"/>
          <a:stretch>
            <a:fillRect/>
          </a:stretch>
        </p:blipFill>
        <p:spPr>
          <a:xfrm>
            <a:off x="8101584" y="3520440"/>
            <a:ext cx="182880" cy="201168"/>
          </a:xfrm>
          <a:prstGeom prst="rect">
            <a:avLst/>
          </a:prstGeom>
        </p:spPr>
      </p:pic>
      <p:pic>
        <p:nvPicPr>
          <p:cNvPr id="65" name="think hard page 38" descr="/NAS/SJ/POSTECH/nlp/figs/icons/pagehot.png">    </p:cNvPr>
          <p:cNvPicPr>
            <a:picLocks noChangeAspect="1"/>
          </p:cNvPicPr>
          <p:nvPr/>
        </p:nvPicPr>
        <p:blipFill>
          <a:blip r:embed="rId50"/>
          <a:stretch>
            <a:fillRect/>
          </a:stretch>
        </p:blipFill>
        <p:spPr>
          <a:xfrm>
            <a:off x="8293608" y="3520440"/>
            <a:ext cx="182880" cy="201168"/>
          </a:xfrm>
          <a:prstGeom prst="rect">
            <a:avLst/>
          </a:prstGeom>
        </p:spPr>
      </p:pic>
      <p:pic>
        <p:nvPicPr>
          <p:cNvPr id="66" name="think hard page 39" descr="/NAS/SJ/POSTECH/nlp/figs/icons/pagehot.png">    </p:cNvPr>
          <p:cNvPicPr>
            <a:picLocks noChangeAspect="1"/>
          </p:cNvPicPr>
          <p:nvPr/>
        </p:nvPicPr>
        <p:blipFill>
          <a:blip r:embed="rId51"/>
          <a:stretch>
            <a:fillRect/>
          </a:stretch>
        </p:blipFill>
        <p:spPr>
          <a:xfrm>
            <a:off x="8485632" y="3520440"/>
            <a:ext cx="182880" cy="201168"/>
          </a:xfrm>
          <a:prstGeom prst="rect">
            <a:avLst/>
          </a:prstGeom>
        </p:spPr>
      </p:pic>
      <p:pic>
        <p:nvPicPr>
          <p:cNvPr id="67" name="think hard page 40" descr="/NAS/SJ/POSTECH/nlp/figs/icons/pagehot.png">    </p:cNvPr>
          <p:cNvPicPr>
            <a:picLocks noChangeAspect="1"/>
          </p:cNvPicPr>
          <p:nvPr/>
        </p:nvPicPr>
        <p:blipFill>
          <a:blip r:embed="rId52"/>
          <a:stretch>
            <a:fillRect/>
          </a:stretch>
        </p:blipFill>
        <p:spPr>
          <a:xfrm>
            <a:off x="8677656" y="3520440"/>
            <a:ext cx="182880" cy="201168"/>
          </a:xfrm>
          <a:prstGeom prst="rect">
            <a:avLst/>
          </a:prstGeom>
        </p:spPr>
      </p:pic>
      <p:pic>
        <p:nvPicPr>
          <p:cNvPr id="68" name="think hard page 41" descr="/NAS/SJ/POSTECH/nlp/figs/icons/pagehot.png">    </p:cNvPr>
          <p:cNvPicPr>
            <a:picLocks noChangeAspect="1"/>
          </p:cNvPicPr>
          <p:nvPr/>
        </p:nvPicPr>
        <p:blipFill>
          <a:blip r:embed="rId53"/>
          <a:stretch>
            <a:fillRect/>
          </a:stretch>
        </p:blipFill>
        <p:spPr>
          <a:xfrm>
            <a:off x="8869680" y="3520440"/>
            <a:ext cx="182880" cy="201168"/>
          </a:xfrm>
          <a:prstGeom prst="rect">
            <a:avLst/>
          </a:prstGeom>
        </p:spPr>
      </p:pic>
      <p:pic>
        <p:nvPicPr>
          <p:cNvPr id="69" name="think hard page 42" descr="/NAS/SJ/POSTECH/nlp/figs/icons/pagehot.png">    </p:cNvPr>
          <p:cNvPicPr>
            <a:picLocks noChangeAspect="1"/>
          </p:cNvPicPr>
          <p:nvPr/>
        </p:nvPicPr>
        <p:blipFill>
          <a:blip r:embed="rId54"/>
          <a:stretch>
            <a:fillRect/>
          </a:stretch>
        </p:blipFill>
        <p:spPr>
          <a:xfrm>
            <a:off x="9061704" y="3520440"/>
            <a:ext cx="182880" cy="201168"/>
          </a:xfrm>
          <a:prstGeom prst="rect">
            <a:avLst/>
          </a:prstGeom>
        </p:spPr>
      </p:pic>
      <p:sp>
        <p:nvSpPr>
          <p:cNvPr id="70" name="Text 14"/>
          <p:cNvSpPr txBox="1"/>
          <p:nvPr/>
        </p:nvSpPr>
        <p:spPr>
          <a:xfrm>
            <a:off x="6400800" y="4251960"/>
            <a:ext cx="5120640" cy="548640"/>
          </a:xfrm>
          <a:prstGeom prst="rect">
            <a:avLst/>
          </a:prstGeom>
          <a:noFill/>
          <a:ln/>
        </p:spPr>
        <p:txBody>
          <a:bodyPr wrap="square" lIns="0" tIns="0" rIns="0" bIns="0" rtlCol="0" anchor="ctr"/>
          <a:lstStyle/>
          <a:p>
            <a:pPr indent="0" marL="0">
              <a:buNone/>
            </a:pPr>
            <a:r>
              <a:rPr lang="en-US" sz="2400" b="1" dirty="0">
                <a:solidFill>
                  <a:srgbClr val="ED7D31"/>
                </a:solidFill>
              </a:rPr>
              <a:t>4.4× the pages</a:t>
            </a:r>
            <a:pPr indent="0" marL="0">
              <a:buNone/>
            </a:pPr>
            <a:r>
              <a:rPr lang="en-US" sz="1700" dirty="0">
                <a:solidFill>
                  <a:schemeClr val="tx1"/>
                </a:solidFill>
              </a:rPr>
              <a:t>  for 9 more points</a:t>
            </a:r>
            <a:endParaRPr lang="en-US" sz="1600" dirty="0"/>
          </a:p>
        </p:txBody>
      </p:sp>
      <p:sp>
        <p:nvSpPr>
          <p:cNvPr id="71" name="our question"/>
          <p:cNvSpPr/>
          <p:nvPr/>
        </p:nvSpPr>
        <p:spPr>
          <a:xfrm>
            <a:off x="548640" y="5257800"/>
            <a:ext cx="11064240" cy="822960"/>
          </a:xfrm>
          <a:prstGeom prst="roundRect">
            <a:avLst>
              <a:gd name="adj" fmla="val 8889"/>
            </a:avLst>
          </a:prstGeom>
          <a:solidFill>
            <a:srgbClr val="DEEBF7"/>
          </a:solidFill>
          <a:ln w="9525">
            <a:solidFill>
              <a:srgbClr val="BDD7EE"/>
            </a:solidFill>
            <a:prstDash val="solid"/>
          </a:ln>
        </p:spPr>
      </p:sp>
      <p:sp>
        <p:nvSpPr>
          <p:cNvPr id="72" name="Text 16"/>
          <p:cNvSpPr txBox="1"/>
          <p:nvPr/>
        </p:nvSpPr>
        <p:spPr>
          <a:xfrm>
            <a:off x="777240" y="5257800"/>
            <a:ext cx="5029200" cy="822960"/>
          </a:xfrm>
          <a:prstGeom prst="rect">
            <a:avLst/>
          </a:prstGeom>
          <a:noFill/>
          <a:ln/>
        </p:spPr>
        <p:txBody>
          <a:bodyPr wrap="square" lIns="0" tIns="0" rIns="0" bIns="0" rtlCol="0" anchor="ctr"/>
          <a:lstStyle/>
          <a:p>
            <a:pPr indent="0" marL="0">
              <a:buNone/>
            </a:pPr>
            <a:r>
              <a:rPr lang="en-US" sz="1900" b="1" dirty="0">
                <a:solidFill>
                  <a:srgbClr val="4472C4"/>
                </a:solidFill>
              </a:rPr>
              <a:t>Our question: where should the extra effort go?</a:t>
            </a:r>
            <a:endParaRPr lang="en-US" sz="1900" dirty="0"/>
          </a:p>
        </p:txBody>
      </p:sp>
      <p:sp>
        <p:nvSpPr>
          <p:cNvPr id="73" name="choice a missing fact"/>
          <p:cNvSpPr/>
          <p:nvPr/>
        </p:nvSpPr>
        <p:spPr>
          <a:xfrm>
            <a:off x="5715000" y="5413248"/>
            <a:ext cx="1874520" cy="502920"/>
          </a:xfrm>
          <a:prstGeom prst="roundRect">
            <a:avLst>
              <a:gd name="adj" fmla="val 36364"/>
            </a:avLst>
          </a:prstGeom>
          <a:solidFill>
            <a:srgbClr val="E2F0D9"/>
          </a:solidFill>
          <a:ln w="12700">
            <a:solidFill>
              <a:srgbClr val="38761D"/>
            </a:solidFill>
            <a:prstDash val="solid"/>
          </a:ln>
        </p:spPr>
      </p:sp>
      <p:pic>
        <p:nvPicPr>
          <p:cNvPr id="74" name="choice icon fact" descr="/NAS/SJ/POSTECH/nlp/figs/icons/fact.png">    </p:cNvPr>
          <p:cNvPicPr>
            <a:picLocks noChangeAspect="1"/>
          </p:cNvPicPr>
          <p:nvPr/>
        </p:nvPicPr>
        <p:blipFill>
          <a:blip r:embed="rId55"/>
          <a:stretch>
            <a:fillRect/>
          </a:stretch>
        </p:blipFill>
        <p:spPr>
          <a:xfrm>
            <a:off x="5824728" y="5500116"/>
            <a:ext cx="329184" cy="329184"/>
          </a:xfrm>
          <a:prstGeom prst="rect">
            <a:avLst/>
          </a:prstGeom>
        </p:spPr>
      </p:pic>
      <p:sp>
        <p:nvSpPr>
          <p:cNvPr id="75" name="Text 18"/>
          <p:cNvSpPr txBox="1"/>
          <p:nvPr/>
        </p:nvSpPr>
        <p:spPr>
          <a:xfrm>
            <a:off x="621792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code hint</a:t>
            </a:r>
            <a:endParaRPr lang="en-US" sz="1500" dirty="0"/>
          </a:p>
        </p:txBody>
      </p:sp>
      <p:sp>
        <p:nvSpPr>
          <p:cNvPr id="76" name="choice a free check"/>
          <p:cNvSpPr/>
          <p:nvPr/>
        </p:nvSpPr>
        <p:spPr>
          <a:xfrm>
            <a:off x="7680960" y="5413248"/>
            <a:ext cx="1874520" cy="502920"/>
          </a:xfrm>
          <a:prstGeom prst="roundRect">
            <a:avLst>
              <a:gd name="adj" fmla="val 36364"/>
            </a:avLst>
          </a:prstGeom>
          <a:solidFill>
            <a:srgbClr val="E2F0D9"/>
          </a:solidFill>
          <a:ln w="12700">
            <a:solidFill>
              <a:srgbClr val="38761D"/>
            </a:solidFill>
            <a:prstDash val="solid"/>
          </a:ln>
        </p:spPr>
      </p:sp>
      <p:pic>
        <p:nvPicPr>
          <p:cNvPr id="77" name="choice icon check" descr="/NAS/SJ/POSTECH/nlp/figs/icons/check.png">    </p:cNvPr>
          <p:cNvPicPr>
            <a:picLocks noChangeAspect="1"/>
          </p:cNvPicPr>
          <p:nvPr/>
        </p:nvPicPr>
        <p:blipFill>
          <a:blip r:embed="rId56"/>
          <a:stretch>
            <a:fillRect/>
          </a:stretch>
        </p:blipFill>
        <p:spPr>
          <a:xfrm>
            <a:off x="7790688" y="5500116"/>
            <a:ext cx="329184" cy="329184"/>
          </a:xfrm>
          <a:prstGeom prst="rect">
            <a:avLst/>
          </a:prstGeom>
        </p:spPr>
      </p:pic>
      <p:sp>
        <p:nvSpPr>
          <p:cNvPr id="78" name="Text 20"/>
          <p:cNvSpPr txBox="1"/>
          <p:nvPr/>
        </p:nvSpPr>
        <p:spPr>
          <a:xfrm>
            <a:off x="8183880" y="5413248"/>
            <a:ext cx="1371600" cy="502920"/>
          </a:xfrm>
          <a:prstGeom prst="rect">
            <a:avLst/>
          </a:prstGeom>
          <a:noFill/>
          <a:ln/>
        </p:spPr>
        <p:txBody>
          <a:bodyPr wrap="square" lIns="0" tIns="0" rIns="0" bIns="0" rtlCol="0" anchor="ctr"/>
          <a:lstStyle/>
          <a:p>
            <a:pPr indent="0" marL="0">
              <a:buNone/>
            </a:pPr>
            <a:r>
              <a:rPr lang="en-US" sz="1500" b="1" dirty="0">
                <a:solidFill>
                  <a:srgbClr val="38761D"/>
                </a:solidFill>
              </a:rPr>
              <a:t>a free check</a:t>
            </a:r>
            <a:endParaRPr lang="en-US" sz="1500" dirty="0"/>
          </a:p>
        </p:txBody>
      </p:sp>
      <p:sp>
        <p:nvSpPr>
          <p:cNvPr id="79" name="choice more thinking"/>
          <p:cNvSpPr/>
          <p:nvPr/>
        </p:nvSpPr>
        <p:spPr>
          <a:xfrm>
            <a:off x="9646920" y="5413248"/>
            <a:ext cx="1874520" cy="502920"/>
          </a:xfrm>
          <a:prstGeom prst="roundRect">
            <a:avLst>
              <a:gd name="adj" fmla="val 36364"/>
            </a:avLst>
          </a:prstGeom>
          <a:solidFill>
            <a:srgbClr val="FADBD8"/>
          </a:solidFill>
          <a:ln w="12700">
            <a:solidFill>
              <a:srgbClr val="C00000"/>
            </a:solidFill>
            <a:prstDash val="solid"/>
          </a:ln>
        </p:spPr>
      </p:sp>
      <p:pic>
        <p:nvPicPr>
          <p:cNvPr id="80" name="choice icon brain" descr="/NAS/SJ/POSTECH/nlp/figs/icons/brain.png">    </p:cNvPr>
          <p:cNvPicPr>
            <a:picLocks noChangeAspect="1"/>
          </p:cNvPicPr>
          <p:nvPr/>
        </p:nvPicPr>
        <p:blipFill>
          <a:blip r:embed="rId57"/>
          <a:stretch>
            <a:fillRect/>
          </a:stretch>
        </p:blipFill>
        <p:spPr>
          <a:xfrm>
            <a:off x="9756648" y="5500116"/>
            <a:ext cx="329184" cy="329184"/>
          </a:xfrm>
          <a:prstGeom prst="rect">
            <a:avLst/>
          </a:prstGeom>
        </p:spPr>
      </p:pic>
      <p:sp>
        <p:nvSpPr>
          <p:cNvPr id="81" name="Text 22"/>
          <p:cNvSpPr txBox="1"/>
          <p:nvPr/>
        </p:nvSpPr>
        <p:spPr>
          <a:xfrm>
            <a:off x="10149840" y="5413248"/>
            <a:ext cx="1371600" cy="502920"/>
          </a:xfrm>
          <a:prstGeom prst="rect">
            <a:avLst/>
          </a:prstGeom>
          <a:noFill/>
          <a:ln/>
        </p:spPr>
        <p:txBody>
          <a:bodyPr wrap="square" lIns="0" tIns="0" rIns="0" bIns="0" rtlCol="0" anchor="ctr"/>
          <a:lstStyle/>
          <a:p>
            <a:pPr indent="0" marL="0">
              <a:buNone/>
            </a:pPr>
            <a:r>
              <a:rPr lang="en-US" sz="1500" b="1" dirty="0">
                <a:solidFill>
                  <a:srgbClr val="C00000"/>
                </a:solidFill>
              </a:rPr>
              <a:t>more thinking</a:t>
            </a:r>
            <a:endParaRPr lang="en-US" sz="15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a short hint, not the manual</a:t>
            </a:r>
            <a:endParaRPr lang="en-US" sz="3600" dirty="0"/>
          </a:p>
        </p:txBody>
      </p:sp>
      <p:sp>
        <p:nvSpPr>
          <p:cNvPr id="3" name="choice a missing fact"/>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not shown on trophy" descr="/NAS/SJ/POSTECH/nlp/figs/icons/trophy.png">    </p:cNvPr>
          <p:cNvPicPr>
            <a:picLocks noChangeAspect="1"/>
          </p:cNvPicPr>
          <p:nvPr/>
        </p:nvPicPr>
        <p:blipFill>
          <a:blip r:embed="rId3">
            <a:alphaModFix amt="18000"/>
          </a:blip>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the hint is given"/>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384048"/>
          </a:xfrm>
          <a:prstGeom prst="rect">
            <a:avLst/>
          </a:prstGeom>
          <a:noFill/>
          <a:ln/>
        </p:spPr>
        <p:txBody>
          <a:bodyPr wrap="square" lIns="0" tIns="0" rIns="0" bIns="0" rtlCol="0" anchor="ctr"/>
          <a:lstStyle/>
          <a:p>
            <a:pPr indent="0" marL="0">
              <a:buNone/>
            </a:pPr>
            <a:r>
              <a:rPr lang="en-US" sz="1800" b="1" dirty="0">
                <a:solidFill>
                  <a:srgbClr val="4472C4"/>
                </a:solidFill>
              </a:rPr>
              <a:t>How the hint is given (Qwen3-32B, OR-Tools)</a:t>
            </a:r>
            <a:endParaRPr lang="en-US" sz="1800" dirty="0"/>
          </a:p>
        </p:txBody>
      </p:sp>
      <p:sp>
        <p:nvSpPr>
          <p:cNvPr id="13" name="box Task: plan routes fo"/>
          <p:cNvSpPr/>
          <p:nvPr/>
        </p:nvSpPr>
        <p:spPr>
          <a:xfrm>
            <a:off x="777240" y="1874520"/>
            <a:ext cx="4892040" cy="457200"/>
          </a:xfrm>
          <a:prstGeom prst="roundRect">
            <a:avLst>
              <a:gd name="adj" fmla="val 12000"/>
            </a:avLst>
          </a:prstGeom>
          <a:solidFill>
            <a:srgbClr val="FFFFFF"/>
          </a:solidFill>
          <a:ln w="9525">
            <a:solidFill>
              <a:srgbClr val="BFBFBF"/>
            </a:solidFill>
            <a:prstDash val="solid"/>
          </a:ln>
        </p:spPr>
      </p:sp>
      <p:sp>
        <p:nvSpPr>
          <p:cNvPr id="14" name="Text 7"/>
          <p:cNvSpPr txBox="1"/>
          <p:nvPr/>
        </p:nvSpPr>
        <p:spPr>
          <a:xfrm>
            <a:off x="850392" y="1874520"/>
            <a:ext cx="4745736" cy="457200"/>
          </a:xfrm>
          <a:prstGeom prst="rect">
            <a:avLst/>
          </a:prstGeom>
          <a:noFill/>
          <a:ln/>
        </p:spPr>
        <p:txBody>
          <a:bodyPr wrap="square" lIns="0" tIns="0" rIns="0" bIns="0" rtlCol="0" anchor="ctr"/>
          <a:lstStyle/>
          <a:p>
            <a:pPr algn="ctr" indent="0" marL="0">
              <a:buNone/>
            </a:pPr>
            <a:r>
              <a:rPr lang="en-US" sz="1500" dirty="0">
                <a:solidFill>
                  <a:schemeClr val="tx1"/>
                </a:solidFill>
              </a:rPr>
              <a:t>Task: plan routes for trucks with a weight limit</a:t>
            </a:r>
            <a:endParaRPr lang="en-US" sz="1500" dirty="0"/>
          </a:p>
        </p:txBody>
      </p:sp>
      <p:sp>
        <p:nvSpPr>
          <p:cNvPr id="15" name="Text 8"/>
          <p:cNvSpPr txBox="1"/>
          <p:nvPr/>
        </p:nvSpPr>
        <p:spPr>
          <a:xfrm>
            <a:off x="3108960" y="2331720"/>
            <a:ext cx="274320" cy="228600"/>
          </a:xfrm>
          <a:prstGeom prst="rect">
            <a:avLst/>
          </a:prstGeom>
          <a:noFill/>
          <a:ln/>
        </p:spPr>
        <p:txBody>
          <a:bodyPr wrap="square" lIns="0" tIns="0" rIns="0" bIns="0" rtlCol="0" anchor="ctr"/>
          <a:lstStyle/>
          <a:p>
            <a:pPr algn="ctr" indent="0" marL="0">
              <a:buNone/>
            </a:pPr>
            <a:r>
              <a:rPr lang="en-US" sz="1600" b="1" dirty="0">
                <a:solidFill>
                  <a:schemeClr val="tx1"/>
                </a:solidFill>
              </a:rPr>
              <a:t>+</a:t>
            </a:r>
            <a:endParaRPr lang="en-US" sz="1600" dirty="0"/>
          </a:p>
        </p:txBody>
      </p:sp>
      <p:sp>
        <p:nvSpPr>
          <p:cNvPr id="16" name="the hint"/>
          <p:cNvSpPr/>
          <p:nvPr/>
        </p:nvSpPr>
        <p:spPr>
          <a:xfrm>
            <a:off x="777240" y="2560320"/>
            <a:ext cx="4892040" cy="960120"/>
          </a:xfrm>
          <a:prstGeom prst="roundRect">
            <a:avLst>
              <a:gd name="adj" fmla="val 5714"/>
            </a:avLst>
          </a:prstGeom>
          <a:solidFill>
            <a:srgbClr val="E2F0D9"/>
          </a:solidFill>
          <a:ln w="12700">
            <a:solidFill>
              <a:srgbClr val="38761D"/>
            </a:solidFill>
            <a:prstDash val="solid"/>
          </a:ln>
        </p:spPr>
      </p:sp>
      <p:sp>
        <p:nvSpPr>
          <p:cNvPr id="17" name="Text 10"/>
          <p:cNvSpPr txBox="1"/>
          <p:nvPr/>
        </p:nvSpPr>
        <p:spPr>
          <a:xfrm>
            <a:off x="914400" y="2578608"/>
            <a:ext cx="4663440" cy="914400"/>
          </a:xfrm>
          <a:prstGeom prst="rect">
            <a:avLst/>
          </a:prstGeom>
          <a:noFill/>
          <a:ln/>
        </p:spPr>
        <p:txBody>
          <a:bodyPr wrap="square" lIns="0" tIns="0" rIns="0" bIns="0" rtlCol="0" anchor="ctr"/>
          <a:lstStyle/>
          <a:p>
            <a:pPr indent="0" marL="0">
              <a:buNone/>
            </a:pPr>
            <a:r>
              <a:rPr lang="en-US" sz="1400" b="1" dirty="0">
                <a:solidFill>
                  <a:srgbClr val="38761D"/>
                </a:solidFill>
                <a:latin typeface="Calibri" pitchFamily="34" charset="0"/>
                <a:ea typeface="Calibri" pitchFamily="34" charset="-122"/>
                <a:cs typeface="Calibri" pitchFamily="34" charset="-120"/>
              </a:rPr>
              <a:t>Hint: the exact usage, 11 lines, e.g.</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r.RegisterUnaryTransitCallback(demand)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r.AddDimensionWithVehicleCapacity(...)</a:t>
            </a:r>
            <a:endParaRPr lang="en-US" sz="1400" dirty="0"/>
          </a:p>
        </p:txBody>
      </p:sp>
      <p:sp>
        <p:nvSpPr>
          <p:cNvPr id="18" name="Shape 11"/>
          <p:cNvSpPr/>
          <p:nvPr/>
        </p:nvSpPr>
        <p:spPr>
          <a:xfrm>
            <a:off x="3218688" y="3520440"/>
            <a:ext cx="0" cy="182880"/>
          </a:xfrm>
          <a:prstGeom prst="line">
            <a:avLst/>
          </a:prstGeom>
          <a:noFill/>
          <a:ln w="25400">
            <a:solidFill>
              <a:srgbClr val="7F7F7F"/>
            </a:solidFill>
            <a:prstDash val="solid"/>
            <a:tailEnd type="triangle"/>
          </a:ln>
        </p:spPr>
      </p:sp>
      <p:sp>
        <p:nvSpPr>
          <p:cNvPr id="19" name="box ✓ the program runs: "/>
          <p:cNvSpPr/>
          <p:nvPr/>
        </p:nvSpPr>
        <p:spPr>
          <a:xfrm>
            <a:off x="777240" y="3703320"/>
            <a:ext cx="4892040" cy="411480"/>
          </a:xfrm>
          <a:prstGeom prst="roundRect">
            <a:avLst>
              <a:gd name="adj" fmla="val 13333"/>
            </a:avLst>
          </a:prstGeom>
          <a:solidFill>
            <a:srgbClr val="E2F0D9"/>
          </a:solidFill>
          <a:ln w="9525">
            <a:solidFill>
              <a:srgbClr val="BFBFBF"/>
            </a:solidFill>
            <a:prstDash val="solid"/>
          </a:ln>
        </p:spPr>
      </p:sp>
      <p:sp>
        <p:nvSpPr>
          <p:cNvPr id="20" name="Text 13"/>
          <p:cNvSpPr txBox="1"/>
          <p:nvPr/>
        </p:nvSpPr>
        <p:spPr>
          <a:xfrm>
            <a:off x="850392" y="3703320"/>
            <a:ext cx="4745736" cy="411480"/>
          </a:xfrm>
          <a:prstGeom prst="rect">
            <a:avLst/>
          </a:prstGeom>
          <a:noFill/>
          <a:ln/>
        </p:spPr>
        <p:txBody>
          <a:bodyPr wrap="square" lIns="0" tIns="0" rIns="0" bIns="0" rtlCol="0" anchor="ctr"/>
          <a:lstStyle/>
          <a:p>
            <a:pPr algn="ctr" indent="0" marL="0">
              <a:buNone/>
            </a:pPr>
            <a:r>
              <a:rPr lang="en-US" sz="1500" b="1" dirty="0">
                <a:solidFill>
                  <a:srgbClr val="38761D"/>
                </a:solidFill>
              </a:rPr>
              <a:t>✓ the program runs: best route</a:t>
            </a:r>
            <a:endParaRPr lang="en-US" sz="1500" dirty="0"/>
          </a:p>
        </p:txBody>
      </p:sp>
      <p:sp>
        <p:nvSpPr>
          <p:cNvPr id="21" name="Text 14"/>
          <p:cNvSpPr txBox="1"/>
          <p:nvPr/>
        </p:nvSpPr>
        <p:spPr>
          <a:xfrm>
            <a:off x="777240" y="4224528"/>
            <a:ext cx="4892040" cy="320040"/>
          </a:xfrm>
          <a:prstGeom prst="rect">
            <a:avLst/>
          </a:prstGeom>
          <a:noFill/>
          <a:ln/>
        </p:spPr>
        <p:txBody>
          <a:bodyPr wrap="square" lIns="0" tIns="0" rIns="0" bIns="0" rtlCol="0" anchor="ctr"/>
          <a:lstStyle/>
          <a:p>
            <a:pPr indent="0" marL="0">
              <a:buNone/>
            </a:pPr>
            <a:r>
              <a:rPr lang="en-US" sz="1500" b="1" dirty="0">
                <a:solidFill>
                  <a:schemeClr val="tx1"/>
                </a:solidFill>
              </a:rPr>
              <a:t>A long reference sheet instead (no weight rule in it):</a:t>
            </a:r>
            <a:endParaRPr lang="en-US" sz="1500" dirty="0"/>
          </a:p>
        </p:txBody>
      </p:sp>
      <p:sp>
        <p:nvSpPr>
          <p:cNvPr id="22" name="invented call"/>
          <p:cNvSpPr/>
          <p:nvPr/>
        </p:nvSpPr>
        <p:spPr>
          <a:xfrm>
            <a:off x="777240" y="4572000"/>
            <a:ext cx="4892040" cy="777240"/>
          </a:xfrm>
          <a:prstGeom prst="roundRect">
            <a:avLst>
              <a:gd name="adj" fmla="val 7059"/>
            </a:avLst>
          </a:prstGeom>
          <a:solidFill>
            <a:srgbClr val="FADBD8"/>
          </a:solidFill>
          <a:ln w="12700">
            <a:solidFill>
              <a:srgbClr val="C00000"/>
            </a:solidFill>
            <a:prstDash val="solid"/>
          </a:ln>
        </p:spPr>
      </p:sp>
      <p:sp>
        <p:nvSpPr>
          <p:cNvPr id="23" name="Text 16"/>
          <p:cNvSpPr txBox="1"/>
          <p:nvPr/>
        </p:nvSpPr>
        <p:spPr>
          <a:xfrm>
            <a:off x="914400" y="4572000"/>
            <a:ext cx="4663440" cy="777240"/>
          </a:xfrm>
          <a:prstGeom prst="rect">
            <a:avLst/>
          </a:prstGeom>
          <a:noFill/>
          <a:ln/>
        </p:spPr>
        <p:txBody>
          <a:bodyPr wrap="square" lIns="0" tIns="0" rIns="0" bIns="0" rtlCol="0" anchor="ctr"/>
          <a:lstStyle/>
          <a:p>
            <a:pPr indent="0" marL="0">
              <a:buNone/>
            </a:pPr>
            <a:r>
              <a:rPr lang="en-US" sz="1400" dirty="0">
                <a:solidFill>
                  <a:srgbClr val="C00000"/>
                </a:solidFill>
                <a:latin typeface="Courier New" pitchFamily="34" charset="0"/>
                <a:ea typeface="Courier New" pitchFamily="34" charset="-122"/>
                <a:cs typeface="Courier New" pitchFamily="34" charset="-120"/>
              </a:rPr>
              <a:t>RegisterUnaryLongLivingCallback()</a:t>
            </a:r>
            <a:endParaRPr lang="en-US" sz="1400" dirty="0"/>
          </a:p>
          <a:p>
            <a:pPr indent="0" marL="0">
              <a:buNone/>
            </a:pPr>
            <a:r>
              <a:rPr lang="en-US" sz="1400" b="1" dirty="0">
                <a:solidFill>
                  <a:srgbClr val="C00000"/>
                </a:solidFill>
              </a:rPr>
              <a:t>✗ invented, does not exist: crash</a:t>
            </a:r>
            <a:endParaRPr lang="en-US" sz="1400" dirty="0"/>
          </a:p>
        </p:txBody>
      </p:sp>
      <p:sp>
        <p:nvSpPr>
          <p:cNvPr id="24"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25" name="Text 18"/>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30 routing problems solved optimally</a:t>
            </a:r>
            <a:endParaRPr lang="en-US" sz="1800" dirty="0"/>
          </a:p>
        </p:txBody>
      </p:sp>
      <p:sp>
        <p:nvSpPr>
          <p:cNvPr id="26" name="Text 19"/>
          <p:cNvSpPr txBox="1"/>
          <p:nvPr/>
        </p:nvSpPr>
        <p:spPr>
          <a:xfrm>
            <a:off x="6400800" y="20574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task only</a:t>
            </a:r>
            <a:endParaRPr lang="en-US" sz="1600" dirty="0"/>
          </a:p>
        </p:txBody>
      </p:sp>
      <p:sp>
        <p:nvSpPr>
          <p:cNvPr id="27" name="bar task only"/>
          <p:cNvSpPr/>
          <p:nvPr/>
        </p:nvSpPr>
        <p:spPr>
          <a:xfrm>
            <a:off x="8138160" y="2160270"/>
            <a:ext cx="525780" cy="342900"/>
          </a:xfrm>
          <a:prstGeom prst="rect">
            <a:avLst/>
          </a:prstGeom>
          <a:solidFill>
            <a:srgbClr val="7F7F7F"/>
          </a:solidFill>
          <a:ln w="6350">
            <a:solidFill>
              <a:srgbClr val="7F7F7F"/>
            </a:solidFill>
            <a:prstDash val="solid"/>
          </a:ln>
        </p:spPr>
      </p:sp>
      <p:sp>
        <p:nvSpPr>
          <p:cNvPr id="28" name="Text 21"/>
          <p:cNvSpPr txBox="1"/>
          <p:nvPr/>
        </p:nvSpPr>
        <p:spPr>
          <a:xfrm>
            <a:off x="8755380" y="2057400"/>
            <a:ext cx="914400" cy="548640"/>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9" name="Text 22"/>
          <p:cNvSpPr txBox="1"/>
          <p:nvPr/>
        </p:nvSpPr>
        <p:spPr>
          <a:xfrm>
            <a:off x="6400800" y="27432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think longer</a:t>
            </a:r>
            <a:endParaRPr lang="en-US" sz="1600" dirty="0"/>
          </a:p>
        </p:txBody>
      </p:sp>
      <p:sp>
        <p:nvSpPr>
          <p:cNvPr id="30" name="bar + think longer"/>
          <p:cNvSpPr/>
          <p:nvPr/>
        </p:nvSpPr>
        <p:spPr>
          <a:xfrm>
            <a:off x="8138160" y="2846070"/>
            <a:ext cx="68580" cy="342900"/>
          </a:xfrm>
          <a:prstGeom prst="rect">
            <a:avLst/>
          </a:prstGeom>
          <a:solidFill>
            <a:srgbClr val="C00000"/>
          </a:solidFill>
          <a:ln w="6350">
            <a:solidFill>
              <a:srgbClr val="C00000"/>
            </a:solidFill>
            <a:prstDash val="solid"/>
          </a:ln>
        </p:spPr>
      </p:sp>
      <p:sp>
        <p:nvSpPr>
          <p:cNvPr id="31" name="Text 24"/>
          <p:cNvSpPr txBox="1"/>
          <p:nvPr/>
        </p:nvSpPr>
        <p:spPr>
          <a:xfrm>
            <a:off x="8298180" y="27432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32" name="Text 25"/>
          <p:cNvSpPr txBox="1"/>
          <p:nvPr/>
        </p:nvSpPr>
        <p:spPr>
          <a:xfrm>
            <a:off x="6400800" y="34290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long sheet</a:t>
            </a:r>
            <a:endParaRPr lang="en-US" sz="1600" dirty="0"/>
          </a:p>
        </p:txBody>
      </p:sp>
      <p:sp>
        <p:nvSpPr>
          <p:cNvPr id="33" name="bar + long sheet"/>
          <p:cNvSpPr/>
          <p:nvPr/>
        </p:nvSpPr>
        <p:spPr>
          <a:xfrm>
            <a:off x="8138160" y="3531870"/>
            <a:ext cx="160020" cy="342900"/>
          </a:xfrm>
          <a:prstGeom prst="rect">
            <a:avLst/>
          </a:prstGeom>
          <a:solidFill>
            <a:srgbClr val="C00000"/>
          </a:solidFill>
          <a:ln w="6350">
            <a:solidFill>
              <a:srgbClr val="C00000"/>
            </a:solidFill>
            <a:prstDash val="solid"/>
          </a:ln>
        </p:spPr>
      </p:sp>
      <p:sp>
        <p:nvSpPr>
          <p:cNvPr id="34" name="Text 27"/>
          <p:cNvSpPr txBox="1"/>
          <p:nvPr/>
        </p:nvSpPr>
        <p:spPr>
          <a:xfrm>
            <a:off x="8389620" y="3429000"/>
            <a:ext cx="914400" cy="548640"/>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35" name="Text 28"/>
          <p:cNvSpPr txBox="1"/>
          <p:nvPr/>
        </p:nvSpPr>
        <p:spPr>
          <a:xfrm>
            <a:off x="6400800" y="4114800"/>
            <a:ext cx="1600200" cy="548640"/>
          </a:xfrm>
          <a:prstGeom prst="rect">
            <a:avLst/>
          </a:prstGeom>
          <a:noFill/>
          <a:ln/>
        </p:spPr>
        <p:txBody>
          <a:bodyPr wrap="square" lIns="0" tIns="0" rIns="0" bIns="0" rtlCol="0" anchor="ctr"/>
          <a:lstStyle/>
          <a:p>
            <a:pPr algn="r" indent="0" marL="0">
              <a:buNone/>
            </a:pPr>
            <a:r>
              <a:rPr lang="en-US" sz="1600" dirty="0">
                <a:solidFill>
                  <a:schemeClr val="tx1"/>
                </a:solidFill>
              </a:rPr>
              <a:t>+ short hint</a:t>
            </a:r>
            <a:endParaRPr lang="en-US" sz="1600" dirty="0"/>
          </a:p>
        </p:txBody>
      </p:sp>
      <p:sp>
        <p:nvSpPr>
          <p:cNvPr id="36" name="bar + short hint"/>
          <p:cNvSpPr/>
          <p:nvPr/>
        </p:nvSpPr>
        <p:spPr>
          <a:xfrm>
            <a:off x="8138160" y="4217670"/>
            <a:ext cx="1897380" cy="342900"/>
          </a:xfrm>
          <a:prstGeom prst="rect">
            <a:avLst/>
          </a:prstGeom>
          <a:solidFill>
            <a:srgbClr val="4472C4"/>
          </a:solidFill>
          <a:ln w="6350">
            <a:solidFill>
              <a:srgbClr val="4472C4"/>
            </a:solidFill>
            <a:prstDash val="solid"/>
          </a:ln>
        </p:spPr>
      </p:sp>
      <p:sp>
        <p:nvSpPr>
          <p:cNvPr id="37" name="Text 30"/>
          <p:cNvSpPr txBox="1"/>
          <p:nvPr/>
        </p:nvSpPr>
        <p:spPr>
          <a:xfrm>
            <a:off x="10126980" y="4114800"/>
            <a:ext cx="914400" cy="548640"/>
          </a:xfrm>
          <a:prstGeom prst="rect">
            <a:avLst/>
          </a:prstGeom>
          <a:noFill/>
          <a:ln/>
        </p:spPr>
        <p:txBody>
          <a:bodyPr wrap="square" lIns="0" tIns="0" rIns="0" bIns="0" rtlCol="0" anchor="ctr"/>
          <a:lstStyle/>
          <a:p>
            <a:pPr indent="0" marL="0">
              <a:buNone/>
            </a:pPr>
            <a:r>
              <a:rPr lang="en-US" sz="1800" b="1" dirty="0">
                <a:solidFill>
                  <a:srgbClr val="4472C4"/>
                </a:solidFill>
              </a:rPr>
              <a:t>83%</a:t>
            </a:r>
            <a:endParaRPr lang="en-US" sz="1800" dirty="0"/>
          </a:p>
        </p:txBody>
      </p:sp>
      <p:sp>
        <p:nvSpPr>
          <p:cNvPr id="38" name="Text 31"/>
          <p:cNvSpPr txBox="1"/>
          <p:nvPr/>
        </p:nvSpPr>
        <p:spPr>
          <a:xfrm>
            <a:off x="6400800" y="4937760"/>
            <a:ext cx="4983480" cy="411480"/>
          </a:xfrm>
          <a:prstGeom prst="rect">
            <a:avLst/>
          </a:prstGeom>
          <a:noFill/>
          <a:ln/>
        </p:spPr>
        <p:txBody>
          <a:bodyPr wrap="square" lIns="0" tIns="0" rIns="0" bIns="0" rtlCol="0" anchor="ctr"/>
          <a:lstStyle/>
          <a:p>
            <a:pPr indent="0" marL="0">
              <a:buNone/>
            </a:pPr>
            <a:r>
              <a:rPr lang="en-US" sz="1400" dirty="0">
                <a:solidFill>
                  <a:schemeClr val="tx2"/>
                </a:solidFill>
              </a:rPr>
              <a:t>How we pick the hint without a human: see our method</a:t>
            </a:r>
            <a:endParaRPr lang="en-US" sz="14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supply what the model does not know: give it the hint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think only when a free check fails</a:t>
            </a:r>
            <a:endParaRPr lang="en-US" sz="3600" dirty="0"/>
          </a:p>
        </p:txBody>
      </p:sp>
      <p:sp>
        <p:nvSpPr>
          <p:cNvPr id="3"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check" descr="/NAS/SJ/POSTECH/nlp/figs/icons/check.png">    </p:cNvPr>
          <p:cNvPicPr>
            <a:picLocks noChangeAspect="1"/>
          </p:cNvPicPr>
          <p:nvPr/>
        </p:nvPicPr>
        <p:blipFill>
          <a:blip r:embed="rId1"/>
          <a:stretch>
            <a:fillRect/>
          </a:stretch>
        </p:blipFill>
        <p:spPr>
          <a:xfrm>
            <a:off x="9756648" y="562356"/>
            <a:ext cx="329184" cy="329184"/>
          </a:xfrm>
          <a:prstGeom prst="rect">
            <a:avLst/>
          </a:prstGeom>
        </p:spPr>
      </p:pic>
      <p:sp>
        <p:nvSpPr>
          <p:cNvPr id="5" name="Text 2"/>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6" name="Text 3"/>
          <p:cNvSpPr txBox="1"/>
          <p:nvPr/>
        </p:nvSpPr>
        <p:spPr>
          <a:xfrm>
            <a:off x="8778240" y="987552"/>
            <a:ext cx="1143000" cy="274320"/>
          </a:xfrm>
          <a:prstGeom prst="rect">
            <a:avLst/>
          </a:prstGeom>
          <a:noFill/>
          <a:ln/>
        </p:spPr>
        <p:txBody>
          <a:bodyPr wrap="square" lIns="0" tIns="0" rIns="0" bIns="0" rtlCol="0" anchor="ctr"/>
          <a:lstStyle/>
          <a:p>
            <a:pPr algn="r" indent="0" marL="0">
              <a:buNone/>
            </a:pPr>
            <a:r>
              <a:rPr lang="en-US" sz="1400" dirty="0">
                <a:solidFill>
                  <a:srgbClr val="7F7F7F"/>
                </a:solidFill>
              </a:rPr>
              <a:t>holds on</a:t>
            </a:r>
            <a:endParaRPr lang="en-US" sz="1400" dirty="0"/>
          </a:p>
        </p:txBody>
      </p:sp>
      <p:pic>
        <p:nvPicPr>
          <p:cNvPr id="7" name="holds on shapes" descr="/NAS/SJ/POSTECH/nlp/figs/icons/shapes.png">    </p:cNvPr>
          <p:cNvPicPr>
            <a:picLocks noChangeAspect="1"/>
          </p:cNvPicPr>
          <p:nvPr/>
        </p:nvPicPr>
        <p:blipFill>
          <a:blip r:embed="rId2"/>
          <a:stretch>
            <a:fillRect/>
          </a:stretch>
        </p:blipFill>
        <p:spPr>
          <a:xfrm>
            <a:off x="10058400" y="978408"/>
            <a:ext cx="274320" cy="274320"/>
          </a:xfrm>
          <a:prstGeom prst="rect">
            <a:avLst/>
          </a:prstGeom>
        </p:spPr>
      </p:pic>
      <p:pic>
        <p:nvPicPr>
          <p:cNvPr id="8" name="holds on trophy" descr="/NAS/SJ/POSTECH/nlp/figs/icons/trophy.png">    </p:cNvPr>
          <p:cNvPicPr>
            <a:picLocks noChangeAspect="1"/>
          </p:cNvPicPr>
          <p:nvPr/>
        </p:nvPicPr>
        <p:blipFill>
          <a:blip r:embed="rId3"/>
          <a:stretch>
            <a:fillRect/>
          </a:stretch>
        </p:blipFill>
        <p:spPr>
          <a:xfrm>
            <a:off x="10442448" y="978408"/>
            <a:ext cx="274320" cy="274320"/>
          </a:xfrm>
          <a:prstGeom prst="rect">
            <a:avLst/>
          </a:prstGeom>
        </p:spPr>
      </p:pic>
      <p:pic>
        <p:nvPicPr>
          <p:cNvPr id="9" name="holds on truck" descr="/NAS/SJ/POSTECH/nlp/figs/icons/truck.png">    </p:cNvPr>
          <p:cNvPicPr>
            <a:picLocks noChangeAspect="1"/>
          </p:cNvPicPr>
          <p:nvPr/>
        </p:nvPicPr>
        <p:blipFill>
          <a:blip r:embed="rId4"/>
          <a:stretch>
            <a:fillRect/>
          </a:stretch>
        </p:blipFill>
        <p:spPr>
          <a:xfrm>
            <a:off x="10826496" y="978408"/>
            <a:ext cx="274320" cy="274320"/>
          </a:xfrm>
          <a:prstGeom prst="rect">
            <a:avLst/>
          </a:prstGeom>
        </p:spPr>
      </p:pic>
      <p:pic>
        <p:nvPicPr>
          <p:cNvPr id="10" name="holds on calc" descr="/NAS/SJ/POSTECH/nlp/figs/icons/calc.png">    </p:cNvPr>
          <p:cNvPicPr>
            <a:picLocks noChangeAspect="1"/>
          </p:cNvPicPr>
          <p:nvPr/>
        </p:nvPicPr>
        <p:blipFill>
          <a:blip r:embed="rId5"/>
          <a:stretch>
            <a:fillRect/>
          </a:stretch>
        </p:blipFill>
        <p:spPr>
          <a:xfrm>
            <a:off x="11210544" y="978408"/>
            <a:ext cx="274320" cy="274320"/>
          </a:xfrm>
          <a:prstGeom prst="rect">
            <a:avLst/>
          </a:prstGeom>
        </p:spPr>
      </p:pic>
      <p:sp>
        <p:nvSpPr>
          <p:cNvPr id="11" name="how a free check works"/>
          <p:cNvSpPr/>
          <p:nvPr/>
        </p:nvSpPr>
        <p:spPr>
          <a:xfrm>
            <a:off x="548640" y="1371600"/>
            <a:ext cx="5349240" cy="4160520"/>
          </a:xfrm>
          <a:prstGeom prst="roundRect">
            <a:avLst>
              <a:gd name="adj" fmla="val 1758"/>
            </a:avLst>
          </a:prstGeom>
          <a:solidFill>
            <a:srgbClr val="F2F2F2"/>
          </a:solidFill>
          <a:ln w="9525">
            <a:solidFill>
              <a:srgbClr val="D9D9D9"/>
            </a:solidFill>
            <a:prstDash val="solid"/>
          </a:ln>
        </p:spPr>
      </p:sp>
      <p:sp>
        <p:nvSpPr>
          <p:cNvPr id="12" name="Text 5"/>
          <p:cNvSpPr txBox="1"/>
          <p:nvPr/>
        </p:nvSpPr>
        <p:spPr>
          <a:xfrm>
            <a:off x="777240" y="1444752"/>
            <a:ext cx="4937760" cy="640080"/>
          </a:xfrm>
          <a:prstGeom prst="rect">
            <a:avLst/>
          </a:prstGeom>
          <a:noFill/>
          <a:ln/>
        </p:spPr>
        <p:txBody>
          <a:bodyPr wrap="square" lIns="0" tIns="0" rIns="0" bIns="0" rtlCol="0" anchor="t"/>
          <a:lstStyle/>
          <a:p>
            <a:pPr indent="0" marL="0">
              <a:buNone/>
            </a:pPr>
            <a:r>
              <a:rPr lang="en-US" sz="1600" b="1" dirty="0">
                <a:solidFill>
                  <a:srgbClr val="4472C4"/>
                </a:solidFill>
              </a:rPr>
              <a:t>Free check</a:t>
            </a:r>
            <a:pPr indent="0" marL="0">
              <a:buNone/>
            </a:pPr>
            <a:r>
              <a:rPr lang="en-US" sz="1600" dirty="0">
                <a:solidFill>
                  <a:schemeClr val="tx1"/>
                </a:solidFill>
              </a:rPr>
              <a:t>: run the program and compare with something we already know. No answer key, almost no cost.</a:t>
            </a:r>
            <a:endParaRPr lang="en-US" sz="1600" dirty="0"/>
          </a:p>
        </p:txBody>
      </p:sp>
      <p:sp>
        <p:nvSpPr>
          <p:cNvPr id="13" name="box The problem shows an"/>
          <p:cNvSpPr/>
          <p:nvPr/>
        </p:nvSpPr>
        <p:spPr>
          <a:xfrm>
            <a:off x="777240" y="2148840"/>
            <a:ext cx="4892040" cy="530352"/>
          </a:xfrm>
          <a:prstGeom prst="roundRect">
            <a:avLst>
              <a:gd name="adj" fmla="val 10345"/>
            </a:avLst>
          </a:prstGeom>
          <a:solidFill>
            <a:srgbClr val="FFFFFF"/>
          </a:solidFill>
          <a:ln w="9525">
            <a:solidFill>
              <a:srgbClr val="BFBFBF"/>
            </a:solidFill>
            <a:prstDash val="solid"/>
          </a:ln>
        </p:spPr>
      </p:sp>
      <p:sp>
        <p:nvSpPr>
          <p:cNvPr id="14" name="Text 7"/>
          <p:cNvSpPr txBox="1"/>
          <p:nvPr/>
        </p:nvSpPr>
        <p:spPr>
          <a:xfrm>
            <a:off x="850392" y="2148840"/>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The problem shows an example: sticks 3 4 5 → answer 0</a:t>
            </a:r>
            <a:endParaRPr lang="en-US" sz="1500" dirty="0"/>
          </a:p>
        </p:txBody>
      </p:sp>
      <p:sp>
        <p:nvSpPr>
          <p:cNvPr id="15" name="Shape 8"/>
          <p:cNvSpPr/>
          <p:nvPr/>
        </p:nvSpPr>
        <p:spPr>
          <a:xfrm>
            <a:off x="3218688" y="2679192"/>
            <a:ext cx="0" cy="182880"/>
          </a:xfrm>
          <a:prstGeom prst="line">
            <a:avLst/>
          </a:prstGeom>
          <a:noFill/>
          <a:ln w="25400">
            <a:solidFill>
              <a:srgbClr val="7F7F7F"/>
            </a:solidFill>
            <a:prstDash val="solid"/>
            <a:tailEnd type="triangle"/>
          </a:ln>
        </p:spPr>
      </p:sp>
      <p:sp>
        <p:nvSpPr>
          <p:cNvPr id="16" name="box Run our program on 3"/>
          <p:cNvSpPr/>
          <p:nvPr/>
        </p:nvSpPr>
        <p:spPr>
          <a:xfrm>
            <a:off x="777240" y="2862072"/>
            <a:ext cx="4892040" cy="530352"/>
          </a:xfrm>
          <a:prstGeom prst="roundRect">
            <a:avLst>
              <a:gd name="adj" fmla="val 10345"/>
            </a:avLst>
          </a:prstGeom>
          <a:solidFill>
            <a:srgbClr val="FFFFFF"/>
          </a:solidFill>
          <a:ln w="9525">
            <a:solidFill>
              <a:srgbClr val="BFBFBF"/>
            </a:solidFill>
            <a:prstDash val="solid"/>
          </a:ln>
        </p:spPr>
      </p:sp>
      <p:sp>
        <p:nvSpPr>
          <p:cNvPr id="17" name="Text 10"/>
          <p:cNvSpPr txBox="1"/>
          <p:nvPr/>
        </p:nvSpPr>
        <p:spPr>
          <a:xfrm>
            <a:off x="850392" y="2862072"/>
            <a:ext cx="4745736" cy="530352"/>
          </a:xfrm>
          <a:prstGeom prst="rect">
            <a:avLst/>
          </a:prstGeom>
          <a:noFill/>
          <a:ln/>
        </p:spPr>
        <p:txBody>
          <a:bodyPr wrap="square" lIns="0" tIns="0" rIns="0" bIns="0" rtlCol="0" anchor="ctr"/>
          <a:lstStyle/>
          <a:p>
            <a:pPr algn="ctr" indent="0" marL="0">
              <a:buNone/>
            </a:pPr>
            <a:r>
              <a:rPr lang="en-US" sz="1500" dirty="0">
                <a:solidFill>
                  <a:schemeClr val="tx1"/>
                </a:solidFill>
              </a:rPr>
              <a:t>Run our program on 3 4 5 (no model needed): it prints 0</a:t>
            </a:r>
            <a:endParaRPr lang="en-US" sz="1500" dirty="0"/>
          </a:p>
        </p:txBody>
      </p:sp>
      <p:sp>
        <p:nvSpPr>
          <p:cNvPr id="18" name="Shape 11"/>
          <p:cNvSpPr/>
          <p:nvPr/>
        </p:nvSpPr>
        <p:spPr>
          <a:xfrm>
            <a:off x="1920240" y="3392424"/>
            <a:ext cx="182880" cy="201168"/>
          </a:xfrm>
          <a:prstGeom prst="line">
            <a:avLst/>
          </a:prstGeom>
          <a:noFill/>
          <a:ln w="25400">
            <a:solidFill>
              <a:srgbClr val="7F7F7F"/>
            </a:solidFill>
            <a:prstDash val="solid"/>
            <a:tailEnd type="triangle"/>
          </a:ln>
        </p:spPr>
      </p:sp>
      <p:sp>
        <p:nvSpPr>
          <p:cNvPr id="19" name="Shape 12"/>
          <p:cNvSpPr/>
          <p:nvPr/>
        </p:nvSpPr>
        <p:spPr>
          <a:xfrm>
            <a:off x="4343400" y="3392424"/>
            <a:ext cx="182880" cy="201168"/>
          </a:xfrm>
          <a:prstGeom prst="line">
            <a:avLst/>
          </a:prstGeom>
          <a:noFill/>
          <a:ln w="25400">
            <a:solidFill>
              <a:srgbClr val="7F7F7F"/>
            </a:solidFill>
            <a:prstDash val="solid"/>
            <a:tailEnd type="triangle"/>
          </a:ln>
        </p:spPr>
      </p:sp>
      <p:sp>
        <p:nvSpPr>
          <p:cNvPr id="20" name="box ✓ same → submit (no "/>
          <p:cNvSpPr/>
          <p:nvPr/>
        </p:nvSpPr>
        <p:spPr>
          <a:xfrm>
            <a:off x="777240" y="3593592"/>
            <a:ext cx="2377440" cy="603504"/>
          </a:xfrm>
          <a:prstGeom prst="roundRect">
            <a:avLst>
              <a:gd name="adj" fmla="val 9091"/>
            </a:avLst>
          </a:prstGeom>
          <a:solidFill>
            <a:srgbClr val="E2F0D9"/>
          </a:solidFill>
          <a:ln w="9525">
            <a:solidFill>
              <a:srgbClr val="BFBFBF"/>
            </a:solidFill>
            <a:prstDash val="solid"/>
          </a:ln>
        </p:spPr>
      </p:sp>
      <p:sp>
        <p:nvSpPr>
          <p:cNvPr id="21" name="Text 14"/>
          <p:cNvSpPr txBox="1"/>
          <p:nvPr/>
        </p:nvSpPr>
        <p:spPr>
          <a:xfrm>
            <a:off x="850392" y="3593592"/>
            <a:ext cx="2231136" cy="603504"/>
          </a:xfrm>
          <a:prstGeom prst="rect">
            <a:avLst/>
          </a:prstGeom>
          <a:noFill/>
          <a:ln/>
        </p:spPr>
        <p:txBody>
          <a:bodyPr wrap="square" lIns="0" tIns="0" rIns="0" bIns="0" rtlCol="0" anchor="ctr"/>
          <a:lstStyle/>
          <a:p>
            <a:pPr algn="ctr" indent="0" marL="0">
              <a:buNone/>
            </a:pPr>
            <a:r>
              <a:rPr lang="en-US" sz="1500" b="1" dirty="0">
                <a:solidFill>
                  <a:srgbClr val="38761D"/>
                </a:solidFill>
              </a:rPr>
              <a:t>✓ same → submit (no extra tokens)</a:t>
            </a:r>
            <a:endParaRPr lang="en-US" sz="1500" dirty="0"/>
          </a:p>
        </p:txBody>
      </p:sp>
      <p:sp>
        <p:nvSpPr>
          <p:cNvPr id="22" name="box ✗ different → think "/>
          <p:cNvSpPr/>
          <p:nvPr/>
        </p:nvSpPr>
        <p:spPr>
          <a:xfrm>
            <a:off x="3291840" y="3593592"/>
            <a:ext cx="2377440" cy="603504"/>
          </a:xfrm>
          <a:prstGeom prst="roundRect">
            <a:avLst>
              <a:gd name="adj" fmla="val 9091"/>
            </a:avLst>
          </a:prstGeom>
          <a:solidFill>
            <a:srgbClr val="FADBD8"/>
          </a:solidFill>
          <a:ln w="9525">
            <a:solidFill>
              <a:srgbClr val="BFBFBF"/>
            </a:solidFill>
            <a:prstDash val="solid"/>
          </a:ln>
        </p:spPr>
      </p:sp>
      <p:sp>
        <p:nvSpPr>
          <p:cNvPr id="23" name="Text 16"/>
          <p:cNvSpPr txBox="1"/>
          <p:nvPr/>
        </p:nvSpPr>
        <p:spPr>
          <a:xfrm>
            <a:off x="3364992" y="3593592"/>
            <a:ext cx="2231136" cy="603504"/>
          </a:xfrm>
          <a:prstGeom prst="rect">
            <a:avLst/>
          </a:prstGeom>
          <a:noFill/>
          <a:ln/>
        </p:spPr>
        <p:txBody>
          <a:bodyPr wrap="square" lIns="0" tIns="0" rIns="0" bIns="0" rtlCol="0" anchor="ctr"/>
          <a:lstStyle/>
          <a:p>
            <a:pPr algn="ctr" indent="0" marL="0">
              <a:buNone/>
            </a:pPr>
            <a:r>
              <a:rPr lang="en-US" sz="1500" b="1" dirty="0">
                <a:solidFill>
                  <a:srgbClr val="C00000"/>
                </a:solidFill>
              </a:rPr>
              <a:t>✗ different → think harder, write again</a:t>
            </a:r>
            <a:endParaRPr lang="en-US" sz="1500" dirty="0"/>
          </a:p>
        </p:txBody>
      </p:sp>
      <p:sp>
        <p:nvSpPr>
          <p:cNvPr id="24" name="Text 17"/>
          <p:cNvSpPr txBox="1"/>
          <p:nvPr/>
        </p:nvSpPr>
        <p:spPr>
          <a:xfrm>
            <a:off x="777240" y="4315968"/>
            <a:ext cx="4892040" cy="347472"/>
          </a:xfrm>
          <a:prstGeom prst="rect">
            <a:avLst/>
          </a:prstGeom>
          <a:noFill/>
          <a:ln/>
        </p:spPr>
        <p:txBody>
          <a:bodyPr wrap="square" lIns="0" tIns="0" rIns="0" bIns="0" rtlCol="0" anchor="ctr"/>
          <a:lstStyle/>
          <a:p>
            <a:pPr indent="0" marL="0">
              <a:buNone/>
            </a:pPr>
            <a:r>
              <a:rPr lang="en-US" sz="1500" b="1" dirty="0">
                <a:solidFill>
                  <a:schemeClr val="tx1"/>
                </a:solidFill>
              </a:rPr>
              <a:t>No example? Write the program twice, compare:</a:t>
            </a:r>
            <a:endParaRPr lang="en-US" sz="1500" dirty="0"/>
          </a:p>
        </p:txBody>
      </p:sp>
      <p:sp>
        <p:nvSpPr>
          <p:cNvPr id="25" name="box version A prints 6"/>
          <p:cNvSpPr/>
          <p:nvPr/>
        </p:nvSpPr>
        <p:spPr>
          <a:xfrm>
            <a:off x="777240" y="4736592"/>
            <a:ext cx="1463040" cy="530352"/>
          </a:xfrm>
          <a:prstGeom prst="roundRect">
            <a:avLst>
              <a:gd name="adj" fmla="val 10345"/>
            </a:avLst>
          </a:prstGeom>
          <a:solidFill>
            <a:srgbClr val="FFFFFF"/>
          </a:solidFill>
          <a:ln w="9525">
            <a:solidFill>
              <a:srgbClr val="BFBFBF"/>
            </a:solidFill>
            <a:prstDash val="solid"/>
          </a:ln>
        </p:spPr>
      </p:sp>
      <p:sp>
        <p:nvSpPr>
          <p:cNvPr id="26" name="Text 19"/>
          <p:cNvSpPr txBox="1"/>
          <p:nvPr/>
        </p:nvSpPr>
        <p:spPr>
          <a:xfrm>
            <a:off x="85039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A prints 6</a:t>
            </a:r>
            <a:endParaRPr lang="en-US" sz="1400" dirty="0"/>
          </a:p>
        </p:txBody>
      </p:sp>
      <p:sp>
        <p:nvSpPr>
          <p:cNvPr id="27" name="box version B prints 0"/>
          <p:cNvSpPr/>
          <p:nvPr/>
        </p:nvSpPr>
        <p:spPr>
          <a:xfrm>
            <a:off x="2331720" y="4736592"/>
            <a:ext cx="1463040" cy="530352"/>
          </a:xfrm>
          <a:prstGeom prst="roundRect">
            <a:avLst>
              <a:gd name="adj" fmla="val 10345"/>
            </a:avLst>
          </a:prstGeom>
          <a:solidFill>
            <a:srgbClr val="FFFFFF"/>
          </a:solidFill>
          <a:ln w="9525">
            <a:solidFill>
              <a:srgbClr val="BFBFBF"/>
            </a:solidFill>
            <a:prstDash val="solid"/>
          </a:ln>
        </p:spPr>
      </p:sp>
      <p:sp>
        <p:nvSpPr>
          <p:cNvPr id="28" name="Text 21"/>
          <p:cNvSpPr txBox="1"/>
          <p:nvPr/>
        </p:nvSpPr>
        <p:spPr>
          <a:xfrm>
            <a:off x="2404872" y="4736592"/>
            <a:ext cx="1316736" cy="530352"/>
          </a:xfrm>
          <a:prstGeom prst="rect">
            <a:avLst/>
          </a:prstGeom>
          <a:noFill/>
          <a:ln/>
        </p:spPr>
        <p:txBody>
          <a:bodyPr wrap="square" lIns="0" tIns="0" rIns="0" bIns="0" rtlCol="0" anchor="ctr"/>
          <a:lstStyle/>
          <a:p>
            <a:pPr algn="ctr" indent="0" marL="0">
              <a:buNone/>
            </a:pPr>
            <a:r>
              <a:rPr lang="en-US" sz="1400" dirty="0">
                <a:solidFill>
                  <a:schemeClr val="tx1"/>
                </a:solidFill>
              </a:rPr>
              <a:t>version B prints 0</a:t>
            </a:r>
            <a:endParaRPr lang="en-US" sz="1400" dirty="0"/>
          </a:p>
        </p:txBody>
      </p:sp>
      <p:sp>
        <p:nvSpPr>
          <p:cNvPr id="29" name="Shape 22"/>
          <p:cNvSpPr/>
          <p:nvPr/>
        </p:nvSpPr>
        <p:spPr>
          <a:xfrm>
            <a:off x="3794760" y="5001768"/>
            <a:ext cx="228600" cy="0"/>
          </a:xfrm>
          <a:prstGeom prst="line">
            <a:avLst/>
          </a:prstGeom>
          <a:noFill/>
          <a:ln w="25400">
            <a:solidFill>
              <a:srgbClr val="7F7F7F"/>
            </a:solidFill>
            <a:prstDash val="solid"/>
            <a:tailEnd type="triangle"/>
          </a:ln>
        </p:spPr>
      </p:sp>
      <p:sp>
        <p:nvSpPr>
          <p:cNvPr id="30" name="box ✗ different → think"/>
          <p:cNvSpPr/>
          <p:nvPr/>
        </p:nvSpPr>
        <p:spPr>
          <a:xfrm>
            <a:off x="4023360" y="4736592"/>
            <a:ext cx="1645920" cy="530352"/>
          </a:xfrm>
          <a:prstGeom prst="roundRect">
            <a:avLst>
              <a:gd name="adj" fmla="val 10345"/>
            </a:avLst>
          </a:prstGeom>
          <a:solidFill>
            <a:srgbClr val="FADBD8"/>
          </a:solidFill>
          <a:ln w="9525">
            <a:solidFill>
              <a:srgbClr val="BFBFBF"/>
            </a:solidFill>
            <a:prstDash val="solid"/>
          </a:ln>
        </p:spPr>
      </p:sp>
      <p:sp>
        <p:nvSpPr>
          <p:cNvPr id="31" name="Text 24"/>
          <p:cNvSpPr txBox="1"/>
          <p:nvPr/>
        </p:nvSpPr>
        <p:spPr>
          <a:xfrm>
            <a:off x="4096512" y="4736592"/>
            <a:ext cx="1499616" cy="530352"/>
          </a:xfrm>
          <a:prstGeom prst="rect">
            <a:avLst/>
          </a:prstGeom>
          <a:noFill/>
          <a:ln/>
        </p:spPr>
        <p:txBody>
          <a:bodyPr wrap="square" lIns="0" tIns="0" rIns="0" bIns="0" rtlCol="0" anchor="ctr"/>
          <a:lstStyle/>
          <a:p>
            <a:pPr algn="ctr" indent="0" marL="0">
              <a:buNone/>
            </a:pPr>
            <a:r>
              <a:rPr lang="en-US" sz="1400" b="1" dirty="0">
                <a:solidFill>
                  <a:srgbClr val="C00000"/>
                </a:solidFill>
              </a:rPr>
              <a:t>✗ different → think</a:t>
            </a:r>
            <a:endParaRPr lang="en-US" sz="1400" dirty="0"/>
          </a:p>
        </p:txBody>
      </p:sp>
      <p:sp>
        <p:nvSpPr>
          <p:cNvPr id="32" name="what it buys"/>
          <p:cNvSpPr/>
          <p:nvPr/>
        </p:nvSpPr>
        <p:spPr>
          <a:xfrm>
            <a:off x="6172200" y="1371600"/>
            <a:ext cx="5440680" cy="4160520"/>
          </a:xfrm>
          <a:prstGeom prst="roundRect">
            <a:avLst>
              <a:gd name="adj" fmla="val 1758"/>
            </a:avLst>
          </a:prstGeom>
          <a:solidFill>
            <a:srgbClr val="F2F2F2"/>
          </a:solidFill>
          <a:ln w="9525">
            <a:solidFill>
              <a:srgbClr val="D9D9D9"/>
            </a:solidFill>
            <a:prstDash val="solid"/>
          </a:ln>
        </p:spPr>
      </p:sp>
      <p:sp>
        <p:nvSpPr>
          <p:cNvPr id="33" name="Text 26"/>
          <p:cNvSpPr txBox="1"/>
          <p:nvPr/>
        </p:nvSpPr>
        <p:spPr>
          <a:xfrm>
            <a:off x="6400800" y="144475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Result: the same accuracy, fewer tokens</a:t>
            </a:r>
            <a:endParaRPr lang="en-US" sz="1800" dirty="0"/>
          </a:p>
        </p:txBody>
      </p:sp>
      <p:sp>
        <p:nvSpPr>
          <p:cNvPr id="34" name="Text 27"/>
          <p:cNvSpPr txBox="1"/>
          <p:nvPr/>
        </p:nvSpPr>
        <p:spPr>
          <a:xfrm>
            <a:off x="6400800" y="184708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311 contest problems (gpt-oss-120b)</a:t>
            </a:r>
            <a:endParaRPr lang="en-US" sz="1500" dirty="0"/>
          </a:p>
        </p:txBody>
      </p:sp>
      <p:sp>
        <p:nvSpPr>
          <p:cNvPr id="35" name="Text 28"/>
          <p:cNvSpPr txBox="1"/>
          <p:nvPr/>
        </p:nvSpPr>
        <p:spPr>
          <a:xfrm>
            <a:off x="864108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6" name="Text 29"/>
          <p:cNvSpPr txBox="1"/>
          <p:nvPr/>
        </p:nvSpPr>
        <p:spPr>
          <a:xfrm>
            <a:off x="9555480" y="2103120"/>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7" name="Text 30"/>
          <p:cNvSpPr txBox="1"/>
          <p:nvPr/>
        </p:nvSpPr>
        <p:spPr>
          <a:xfrm>
            <a:off x="6400800" y="2468880"/>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38" name="Text 31"/>
          <p:cNvSpPr txBox="1"/>
          <p:nvPr/>
        </p:nvSpPr>
        <p:spPr>
          <a:xfrm>
            <a:off x="864108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39" name="tokens always think hard"/>
          <p:cNvSpPr/>
          <p:nvPr/>
        </p:nvSpPr>
        <p:spPr>
          <a:xfrm>
            <a:off x="9555480" y="2569464"/>
            <a:ext cx="1097280" cy="256032"/>
          </a:xfrm>
          <a:prstGeom prst="rect">
            <a:avLst/>
          </a:prstGeom>
          <a:solidFill>
            <a:srgbClr val="7F7F7F"/>
          </a:solidFill>
          <a:ln w="6350">
            <a:solidFill>
              <a:srgbClr val="7F7F7F"/>
            </a:solidFill>
            <a:prstDash val="solid"/>
          </a:ln>
        </p:spPr>
      </p:sp>
      <p:sp>
        <p:nvSpPr>
          <p:cNvPr id="40" name="Text 33"/>
          <p:cNvSpPr txBox="1"/>
          <p:nvPr/>
        </p:nvSpPr>
        <p:spPr>
          <a:xfrm>
            <a:off x="10744200"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41" name="Text 34"/>
          <p:cNvSpPr txBox="1"/>
          <p:nvPr/>
        </p:nvSpPr>
        <p:spPr>
          <a:xfrm>
            <a:off x="6400800" y="290779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42" name="Text 35"/>
          <p:cNvSpPr txBox="1"/>
          <p:nvPr/>
        </p:nvSpPr>
        <p:spPr>
          <a:xfrm>
            <a:off x="8641080" y="290779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43" name="tokens think only on failure"/>
          <p:cNvSpPr/>
          <p:nvPr/>
        </p:nvSpPr>
        <p:spPr>
          <a:xfrm>
            <a:off x="9555480" y="3008376"/>
            <a:ext cx="900426" cy="256032"/>
          </a:xfrm>
          <a:prstGeom prst="rect">
            <a:avLst/>
          </a:prstGeom>
          <a:solidFill>
            <a:srgbClr val="4472C4"/>
          </a:solidFill>
          <a:ln w="6350">
            <a:solidFill>
              <a:srgbClr val="4472C4"/>
            </a:solidFill>
            <a:prstDash val="solid"/>
          </a:ln>
        </p:spPr>
      </p:sp>
      <p:sp>
        <p:nvSpPr>
          <p:cNvPr id="44" name="Text 37"/>
          <p:cNvSpPr txBox="1"/>
          <p:nvPr/>
        </p:nvSpPr>
        <p:spPr>
          <a:xfrm>
            <a:off x="10547346" y="290779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5" name="Text 38"/>
          <p:cNvSpPr txBox="1"/>
          <p:nvPr/>
        </p:nvSpPr>
        <p:spPr>
          <a:xfrm>
            <a:off x="6400800" y="3364992"/>
            <a:ext cx="4983480" cy="457200"/>
          </a:xfrm>
          <a:prstGeom prst="rect">
            <a:avLst/>
          </a:prstGeom>
          <a:noFill/>
          <a:ln/>
        </p:spPr>
        <p:txBody>
          <a:bodyPr wrap="square" lIns="0" tIns="0" rIns="0" bIns="0" rtlCol="0" anchor="t"/>
          <a:lstStyle/>
          <a:p>
            <a:pPr indent="0" marL="0">
              <a:buNone/>
            </a:pPr>
            <a:r>
              <a:rPr lang="en-US" sz="1400" dirty="0">
                <a:solidFill>
                  <a:schemeClr val="tx2"/>
                </a:solidFill>
              </a:rPr>
              <a:t>checks used: the examples, and a slow brute-force version of the program</a:t>
            </a:r>
            <a:endParaRPr lang="en-US" sz="1400" dirty="0"/>
          </a:p>
        </p:txBody>
      </p:sp>
      <p:sp>
        <p:nvSpPr>
          <p:cNvPr id="46" name="Text 39"/>
          <p:cNvSpPr txBox="1"/>
          <p:nvPr/>
        </p:nvSpPr>
        <p:spPr>
          <a:xfrm>
            <a:off x="6400800" y="393192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108 geometry problems (Qwen3-32B)</a:t>
            </a:r>
            <a:endParaRPr lang="en-US" sz="1500" dirty="0"/>
          </a:p>
        </p:txBody>
      </p:sp>
      <p:sp>
        <p:nvSpPr>
          <p:cNvPr id="47" name="Text 40"/>
          <p:cNvSpPr txBox="1"/>
          <p:nvPr/>
        </p:nvSpPr>
        <p:spPr>
          <a:xfrm>
            <a:off x="8641080" y="418795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48" name="Text 41"/>
          <p:cNvSpPr txBox="1"/>
          <p:nvPr/>
        </p:nvSpPr>
        <p:spPr>
          <a:xfrm>
            <a:off x="9555480" y="4187952"/>
            <a:ext cx="18288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49" name="Text 42"/>
          <p:cNvSpPr txBox="1"/>
          <p:nvPr/>
        </p:nvSpPr>
        <p:spPr>
          <a:xfrm>
            <a:off x="6400800" y="4553712"/>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a:t>
            </a:r>
            <a:endParaRPr lang="en-US" sz="1500" dirty="0"/>
          </a:p>
        </p:txBody>
      </p:sp>
      <p:sp>
        <p:nvSpPr>
          <p:cNvPr id="50" name="Text 43"/>
          <p:cNvSpPr txBox="1"/>
          <p:nvPr/>
        </p:nvSpPr>
        <p:spPr>
          <a:xfrm>
            <a:off x="8641080" y="455371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98%</a:t>
            </a:r>
            <a:endParaRPr lang="en-US" sz="1700" dirty="0"/>
          </a:p>
        </p:txBody>
      </p:sp>
      <p:sp>
        <p:nvSpPr>
          <p:cNvPr id="51" name="tokens always think"/>
          <p:cNvSpPr/>
          <p:nvPr/>
        </p:nvSpPr>
        <p:spPr>
          <a:xfrm>
            <a:off x="9555480" y="4654296"/>
            <a:ext cx="1097280" cy="256032"/>
          </a:xfrm>
          <a:prstGeom prst="rect">
            <a:avLst/>
          </a:prstGeom>
          <a:solidFill>
            <a:srgbClr val="7F7F7F"/>
          </a:solidFill>
          <a:ln w="6350">
            <a:solidFill>
              <a:srgbClr val="7F7F7F"/>
            </a:solidFill>
            <a:prstDash val="solid"/>
          </a:ln>
        </p:spPr>
      </p:sp>
      <p:sp>
        <p:nvSpPr>
          <p:cNvPr id="52" name="Text 45"/>
          <p:cNvSpPr txBox="1"/>
          <p:nvPr/>
        </p:nvSpPr>
        <p:spPr>
          <a:xfrm>
            <a:off x="10744200" y="455371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5.9k</a:t>
            </a:r>
            <a:endParaRPr lang="en-US" sz="1500" dirty="0"/>
          </a:p>
        </p:txBody>
      </p:sp>
      <p:sp>
        <p:nvSpPr>
          <p:cNvPr id="53" name="Text 46"/>
          <p:cNvSpPr txBox="1"/>
          <p:nvPr/>
        </p:nvSpPr>
        <p:spPr>
          <a:xfrm>
            <a:off x="6400800" y="4992624"/>
            <a:ext cx="2148840" cy="457200"/>
          </a:xfrm>
          <a:prstGeom prst="rect">
            <a:avLst/>
          </a:prstGeom>
          <a:noFill/>
          <a:ln/>
        </p:spPr>
        <p:txBody>
          <a:bodyPr wrap="square" lIns="0" tIns="0" rIns="0" bIns="0" rtlCol="0" anchor="ctr"/>
          <a:lstStyle/>
          <a:p>
            <a:pPr algn="r" indent="0" marL="0">
              <a:buNone/>
            </a:pPr>
            <a:r>
              <a:rPr lang="en-US" sz="1500" dirty="0">
                <a:solidFill>
                  <a:schemeClr val="tx1"/>
                </a:solidFill>
              </a:rPr>
              <a:t>think only on failure</a:t>
            </a:r>
            <a:endParaRPr lang="en-US" sz="1500" dirty="0"/>
          </a:p>
        </p:txBody>
      </p:sp>
      <p:sp>
        <p:nvSpPr>
          <p:cNvPr id="54" name="Text 47"/>
          <p:cNvSpPr txBox="1"/>
          <p:nvPr/>
        </p:nvSpPr>
        <p:spPr>
          <a:xfrm>
            <a:off x="8641080" y="499262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99%</a:t>
            </a:r>
            <a:endParaRPr lang="en-US" sz="1700" dirty="0"/>
          </a:p>
        </p:txBody>
      </p:sp>
      <p:sp>
        <p:nvSpPr>
          <p:cNvPr id="55" name="tokens think only on failure"/>
          <p:cNvSpPr/>
          <p:nvPr/>
        </p:nvSpPr>
        <p:spPr>
          <a:xfrm>
            <a:off x="9555480" y="5093208"/>
            <a:ext cx="799713" cy="256032"/>
          </a:xfrm>
          <a:prstGeom prst="rect">
            <a:avLst/>
          </a:prstGeom>
          <a:solidFill>
            <a:srgbClr val="4472C4"/>
          </a:solidFill>
          <a:ln w="6350">
            <a:solidFill>
              <a:srgbClr val="4472C4"/>
            </a:solidFill>
            <a:prstDash val="solid"/>
          </a:ln>
        </p:spPr>
      </p:sp>
      <p:sp>
        <p:nvSpPr>
          <p:cNvPr id="56" name="Text 49"/>
          <p:cNvSpPr txBox="1"/>
          <p:nvPr/>
        </p:nvSpPr>
        <p:spPr>
          <a:xfrm>
            <a:off x="10446633" y="499262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4.3k</a:t>
            </a:r>
            <a:endParaRPr lang="en-US" sz="1500" dirty="0"/>
          </a:p>
        </p:txBody>
      </p:sp>
      <p:sp>
        <p:nvSpPr>
          <p:cNvPr id="57"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accuracy as always thinking, 18–27% fewer tokens, and no answer key needed</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cheap steps first</a:t>
            </a:r>
            <a:endParaRPr lang="en-US" sz="3600" dirty="0"/>
          </a:p>
        </p:txBody>
      </p:sp>
      <p:sp>
        <p:nvSpPr>
          <p:cNvPr id="3" name="choice a missing fact"/>
          <p:cNvSpPr/>
          <p:nvPr/>
        </p:nvSpPr>
        <p:spPr>
          <a:xfrm>
            <a:off x="7680960" y="475488"/>
            <a:ext cx="1874520" cy="502920"/>
          </a:xfrm>
          <a:prstGeom prst="roundRect">
            <a:avLst>
              <a:gd name="adj" fmla="val 36364"/>
            </a:avLst>
          </a:prstGeom>
          <a:solidFill>
            <a:srgbClr val="E2F0D9"/>
          </a:solidFill>
          <a:ln w="12700">
            <a:solidFill>
              <a:srgbClr val="38761D"/>
            </a:solidFill>
            <a:prstDash val="solid"/>
          </a:ln>
        </p:spPr>
      </p:sp>
      <p:pic>
        <p:nvPicPr>
          <p:cNvPr id="4" name="choice icon fact" descr="/NAS/SJ/POSTECH/nlp/figs/icons/fact.png">    </p:cNvPr>
          <p:cNvPicPr>
            <a:picLocks noChangeAspect="1"/>
          </p:cNvPicPr>
          <p:nvPr/>
        </p:nvPicPr>
        <p:blipFill>
          <a:blip r:embed="rId1"/>
          <a:stretch>
            <a:fillRect/>
          </a:stretch>
        </p:blipFill>
        <p:spPr>
          <a:xfrm>
            <a:off x="7790688" y="562356"/>
            <a:ext cx="329184" cy="329184"/>
          </a:xfrm>
          <a:prstGeom prst="rect">
            <a:avLst/>
          </a:prstGeom>
        </p:spPr>
      </p:pic>
      <p:sp>
        <p:nvSpPr>
          <p:cNvPr id="5" name="Text 2"/>
          <p:cNvSpPr txBox="1"/>
          <p:nvPr/>
        </p:nvSpPr>
        <p:spPr>
          <a:xfrm>
            <a:off x="818388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code hint</a:t>
            </a:r>
            <a:endParaRPr lang="en-US" sz="1400" dirty="0"/>
          </a:p>
        </p:txBody>
      </p:sp>
      <p:sp>
        <p:nvSpPr>
          <p:cNvPr id="6" name="choice a free check"/>
          <p:cNvSpPr/>
          <p:nvPr/>
        </p:nvSpPr>
        <p:spPr>
          <a:xfrm>
            <a:off x="9646920" y="475488"/>
            <a:ext cx="1874520" cy="502920"/>
          </a:xfrm>
          <a:prstGeom prst="roundRect">
            <a:avLst>
              <a:gd name="adj" fmla="val 36364"/>
            </a:avLst>
          </a:prstGeom>
          <a:solidFill>
            <a:srgbClr val="E2F0D9"/>
          </a:solidFill>
          <a:ln w="12700">
            <a:solidFill>
              <a:srgbClr val="38761D"/>
            </a:solidFill>
            <a:prstDash val="solid"/>
          </a:ln>
        </p:spPr>
      </p:sp>
      <p:pic>
        <p:nvPicPr>
          <p:cNvPr id="7" name="choice icon check" descr="/NAS/SJ/POSTECH/nlp/figs/icons/check.png">    </p:cNvPr>
          <p:cNvPicPr>
            <a:picLocks noChangeAspect="1"/>
          </p:cNvPicPr>
          <p:nvPr/>
        </p:nvPicPr>
        <p:blipFill>
          <a:blip r:embed="rId2"/>
          <a:stretch>
            <a:fillRect/>
          </a:stretch>
        </p:blipFill>
        <p:spPr>
          <a:xfrm>
            <a:off x="9756648" y="562356"/>
            <a:ext cx="329184" cy="329184"/>
          </a:xfrm>
          <a:prstGeom prst="rect">
            <a:avLst/>
          </a:prstGeom>
        </p:spPr>
      </p:pic>
      <p:sp>
        <p:nvSpPr>
          <p:cNvPr id="8" name="Text 4"/>
          <p:cNvSpPr txBox="1"/>
          <p:nvPr/>
        </p:nvSpPr>
        <p:spPr>
          <a:xfrm>
            <a:off x="10149840" y="475488"/>
            <a:ext cx="1371600" cy="502920"/>
          </a:xfrm>
          <a:prstGeom prst="rect">
            <a:avLst/>
          </a:prstGeom>
          <a:noFill/>
          <a:ln/>
        </p:spPr>
        <p:txBody>
          <a:bodyPr wrap="square" lIns="0" tIns="0" rIns="0" bIns="0" rtlCol="0" anchor="ctr"/>
          <a:lstStyle/>
          <a:p>
            <a:pPr indent="0" marL="0">
              <a:buNone/>
            </a:pPr>
            <a:r>
              <a:rPr lang="en-US" sz="1400" b="1" dirty="0">
                <a:solidFill>
                  <a:srgbClr val="38761D"/>
                </a:solidFill>
              </a:rPr>
              <a:t>a free check</a:t>
            </a:r>
            <a:endParaRPr lang="en-US" sz="1400" dirty="0"/>
          </a:p>
        </p:txBody>
      </p:sp>
      <p:sp>
        <p:nvSpPr>
          <p:cNvPr id="9" name="Text 5"/>
          <p:cNvSpPr txBox="1"/>
          <p:nvPr/>
        </p:nvSpPr>
        <p:spPr>
          <a:xfrm>
            <a:off x="8229600" y="987552"/>
            <a:ext cx="3383280" cy="274320"/>
          </a:xfrm>
          <a:prstGeom prst="rect">
            <a:avLst/>
          </a:prstGeom>
          <a:noFill/>
          <a:ln/>
        </p:spPr>
        <p:txBody>
          <a:bodyPr wrap="square" lIns="0" tIns="0" rIns="0" bIns="0" rtlCol="0" anchor="ctr"/>
          <a:lstStyle/>
          <a:p>
            <a:pPr algn="r" indent="0" marL="0">
              <a:buNone/>
            </a:pPr>
            <a:r>
              <a:rPr lang="en-US" sz="1400" dirty="0">
                <a:solidFill>
                  <a:srgbClr val="7F7F7F"/>
                </a:solidFill>
              </a:rPr>
              <a:t>icons: where each step is used</a:t>
            </a:r>
            <a:endParaRPr lang="en-US" sz="1400" dirty="0"/>
          </a:p>
        </p:txBody>
      </p:sp>
      <p:sp>
        <p:nvSpPr>
          <p:cNvPr id="10" name="box ① program + hint"/>
          <p:cNvSpPr/>
          <p:nvPr/>
        </p:nvSpPr>
        <p:spPr>
          <a:xfrm>
            <a:off x="548640" y="1325880"/>
            <a:ext cx="2606040" cy="502920"/>
          </a:xfrm>
          <a:prstGeom prst="roundRect">
            <a:avLst>
              <a:gd name="adj" fmla="val 10909"/>
            </a:avLst>
          </a:prstGeom>
          <a:solidFill>
            <a:srgbClr val="F2F2F2"/>
          </a:solidFill>
          <a:ln w="9525">
            <a:solidFill>
              <a:srgbClr val="BFBFBF"/>
            </a:solidFill>
            <a:prstDash val="solid"/>
          </a:ln>
        </p:spPr>
      </p:sp>
      <p:sp>
        <p:nvSpPr>
          <p:cNvPr id="11" name="Text 7"/>
          <p:cNvSpPr txBox="1"/>
          <p:nvPr/>
        </p:nvSpPr>
        <p:spPr>
          <a:xfrm>
            <a:off x="621792"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① program + hint</a:t>
            </a:r>
            <a:endParaRPr lang="en-US" sz="1500" dirty="0"/>
          </a:p>
        </p:txBody>
      </p:sp>
      <p:sp>
        <p:nvSpPr>
          <p:cNvPr id="12" name="Shape 8"/>
          <p:cNvSpPr/>
          <p:nvPr/>
        </p:nvSpPr>
        <p:spPr>
          <a:xfrm>
            <a:off x="3154680" y="1572768"/>
            <a:ext cx="201168" cy="0"/>
          </a:xfrm>
          <a:prstGeom prst="line">
            <a:avLst/>
          </a:prstGeom>
          <a:noFill/>
          <a:ln w="25400">
            <a:solidFill>
              <a:srgbClr val="7F7F7F"/>
            </a:solidFill>
            <a:prstDash val="solid"/>
            <a:tailEnd type="triangle"/>
          </a:ln>
        </p:spPr>
      </p:sp>
      <p:pic>
        <p:nvPicPr>
          <p:cNvPr id="13" name="step 1 used on shapes" descr="/NAS/SJ/POSTECH/nlp/figs/icons/shapes.png">    </p:cNvPr>
          <p:cNvPicPr>
            <a:picLocks noChangeAspect="1"/>
          </p:cNvPicPr>
          <p:nvPr/>
        </p:nvPicPr>
        <p:blipFill>
          <a:blip r:embed="rId3"/>
          <a:stretch>
            <a:fillRect/>
          </a:stretch>
        </p:blipFill>
        <p:spPr>
          <a:xfrm>
            <a:off x="1335024" y="1892808"/>
            <a:ext cx="219456" cy="219456"/>
          </a:xfrm>
          <a:prstGeom prst="rect">
            <a:avLst/>
          </a:prstGeom>
        </p:spPr>
      </p:pic>
      <p:pic>
        <p:nvPicPr>
          <p:cNvPr id="14" name="step 1 not needed on trophy" descr="/NAS/SJ/POSTECH/nlp/figs/icons/trophy.png">    </p:cNvPr>
          <p:cNvPicPr>
            <a:picLocks noChangeAspect="1"/>
          </p:cNvPicPr>
          <p:nvPr/>
        </p:nvPicPr>
        <p:blipFill>
          <a:blip r:embed="rId4">
            <a:alphaModFix amt="18000"/>
          </a:blip>
          <a:stretch>
            <a:fillRect/>
          </a:stretch>
        </p:blipFill>
        <p:spPr>
          <a:xfrm>
            <a:off x="1609344" y="1892808"/>
            <a:ext cx="219456" cy="219456"/>
          </a:xfrm>
          <a:prstGeom prst="rect">
            <a:avLst/>
          </a:prstGeom>
        </p:spPr>
      </p:pic>
      <p:pic>
        <p:nvPicPr>
          <p:cNvPr id="15" name="step 1 used on truck" descr="/NAS/SJ/POSTECH/nlp/figs/icons/truck.png">    </p:cNvPr>
          <p:cNvPicPr>
            <a:picLocks noChangeAspect="1"/>
          </p:cNvPicPr>
          <p:nvPr/>
        </p:nvPicPr>
        <p:blipFill>
          <a:blip r:embed="rId5"/>
          <a:stretch>
            <a:fillRect/>
          </a:stretch>
        </p:blipFill>
        <p:spPr>
          <a:xfrm>
            <a:off x="1883664" y="1892808"/>
            <a:ext cx="219456" cy="219456"/>
          </a:xfrm>
          <a:prstGeom prst="rect">
            <a:avLst/>
          </a:prstGeom>
        </p:spPr>
      </p:pic>
      <p:pic>
        <p:nvPicPr>
          <p:cNvPr id="16" name="step 1 used on calc" descr="/NAS/SJ/POSTECH/nlp/figs/icons/calc.png">    </p:cNvPr>
          <p:cNvPicPr>
            <a:picLocks noChangeAspect="1"/>
          </p:cNvPicPr>
          <p:nvPr/>
        </p:nvPicPr>
        <p:blipFill>
          <a:blip r:embed="rId6"/>
          <a:stretch>
            <a:fillRect/>
          </a:stretch>
        </p:blipFill>
        <p:spPr>
          <a:xfrm>
            <a:off x="2157984" y="1892808"/>
            <a:ext cx="219456" cy="219456"/>
          </a:xfrm>
          <a:prstGeom prst="rect">
            <a:avLst/>
          </a:prstGeom>
        </p:spPr>
      </p:pic>
      <p:sp>
        <p:nvSpPr>
          <p:cNvPr id="17" name="box ② free check"/>
          <p:cNvSpPr/>
          <p:nvPr/>
        </p:nvSpPr>
        <p:spPr>
          <a:xfrm>
            <a:off x="3355848" y="1325880"/>
            <a:ext cx="2606040" cy="502920"/>
          </a:xfrm>
          <a:prstGeom prst="roundRect">
            <a:avLst>
              <a:gd name="adj" fmla="val 10909"/>
            </a:avLst>
          </a:prstGeom>
          <a:solidFill>
            <a:srgbClr val="DEEBF7"/>
          </a:solidFill>
          <a:ln w="9525">
            <a:solidFill>
              <a:srgbClr val="BFBFBF"/>
            </a:solidFill>
            <a:prstDash val="solid"/>
          </a:ln>
        </p:spPr>
      </p:sp>
      <p:sp>
        <p:nvSpPr>
          <p:cNvPr id="18" name="Text 10"/>
          <p:cNvSpPr txBox="1"/>
          <p:nvPr/>
        </p:nvSpPr>
        <p:spPr>
          <a:xfrm>
            <a:off x="3429000" y="1325880"/>
            <a:ext cx="2459736" cy="502920"/>
          </a:xfrm>
          <a:prstGeom prst="rect">
            <a:avLst/>
          </a:prstGeom>
          <a:noFill/>
          <a:ln/>
        </p:spPr>
        <p:txBody>
          <a:bodyPr wrap="square" lIns="0" tIns="0" rIns="0" bIns="0" rtlCol="0" anchor="ctr"/>
          <a:lstStyle/>
          <a:p>
            <a:pPr algn="ctr" indent="0" marL="0">
              <a:buNone/>
            </a:pPr>
            <a:r>
              <a:rPr lang="en-US" sz="1500" b="1" dirty="0">
                <a:solidFill>
                  <a:srgbClr val="1F3864"/>
                </a:solidFill>
              </a:rPr>
              <a:t>② free check</a:t>
            </a:r>
            <a:endParaRPr lang="en-US" sz="1500" dirty="0"/>
          </a:p>
        </p:txBody>
      </p:sp>
      <p:sp>
        <p:nvSpPr>
          <p:cNvPr id="19" name="Shape 11"/>
          <p:cNvSpPr/>
          <p:nvPr/>
        </p:nvSpPr>
        <p:spPr>
          <a:xfrm>
            <a:off x="5961888" y="1572768"/>
            <a:ext cx="201168" cy="0"/>
          </a:xfrm>
          <a:prstGeom prst="line">
            <a:avLst/>
          </a:prstGeom>
          <a:noFill/>
          <a:ln w="25400">
            <a:solidFill>
              <a:srgbClr val="7F7F7F"/>
            </a:solidFill>
            <a:prstDash val="solid"/>
            <a:tailEnd type="triangle"/>
          </a:ln>
        </p:spPr>
      </p:sp>
      <p:pic>
        <p:nvPicPr>
          <p:cNvPr id="20" name="step 2 used on shapes" descr="/NAS/SJ/POSTECH/nlp/figs/icons/shapes.png">    </p:cNvPr>
          <p:cNvPicPr>
            <a:picLocks noChangeAspect="1"/>
          </p:cNvPicPr>
          <p:nvPr/>
        </p:nvPicPr>
        <p:blipFill>
          <a:blip r:embed="rId7"/>
          <a:stretch>
            <a:fillRect/>
          </a:stretch>
        </p:blipFill>
        <p:spPr>
          <a:xfrm>
            <a:off x="4142232" y="1892808"/>
            <a:ext cx="219456" cy="219456"/>
          </a:xfrm>
          <a:prstGeom prst="rect">
            <a:avLst/>
          </a:prstGeom>
        </p:spPr>
      </p:pic>
      <p:pic>
        <p:nvPicPr>
          <p:cNvPr id="21" name="step 2 used on trophy" descr="/NAS/SJ/POSTECH/nlp/figs/icons/trophy.png">    </p:cNvPr>
          <p:cNvPicPr>
            <a:picLocks noChangeAspect="1"/>
          </p:cNvPicPr>
          <p:nvPr/>
        </p:nvPicPr>
        <p:blipFill>
          <a:blip r:embed="rId8"/>
          <a:stretch>
            <a:fillRect/>
          </a:stretch>
        </p:blipFill>
        <p:spPr>
          <a:xfrm>
            <a:off x="4416552" y="1892808"/>
            <a:ext cx="219456" cy="219456"/>
          </a:xfrm>
          <a:prstGeom prst="rect">
            <a:avLst/>
          </a:prstGeom>
        </p:spPr>
      </p:pic>
      <p:pic>
        <p:nvPicPr>
          <p:cNvPr id="22" name="step 2 used on truck" descr="/NAS/SJ/POSTECH/nlp/figs/icons/truck.png">    </p:cNvPr>
          <p:cNvPicPr>
            <a:picLocks noChangeAspect="1"/>
          </p:cNvPicPr>
          <p:nvPr/>
        </p:nvPicPr>
        <p:blipFill>
          <a:blip r:embed="rId9"/>
          <a:stretch>
            <a:fillRect/>
          </a:stretch>
        </p:blipFill>
        <p:spPr>
          <a:xfrm>
            <a:off x="4690872" y="1892808"/>
            <a:ext cx="219456" cy="219456"/>
          </a:xfrm>
          <a:prstGeom prst="rect">
            <a:avLst/>
          </a:prstGeom>
        </p:spPr>
      </p:pic>
      <p:pic>
        <p:nvPicPr>
          <p:cNvPr id="23" name="step 2 used on calc" descr="/NAS/SJ/POSTECH/nlp/figs/icons/calc.png">    </p:cNvPr>
          <p:cNvPicPr>
            <a:picLocks noChangeAspect="1"/>
          </p:cNvPicPr>
          <p:nvPr/>
        </p:nvPicPr>
        <p:blipFill>
          <a:blip r:embed="rId10"/>
          <a:stretch>
            <a:fillRect/>
          </a:stretch>
        </p:blipFill>
        <p:spPr>
          <a:xfrm>
            <a:off x="4965192" y="1892808"/>
            <a:ext cx="219456" cy="219456"/>
          </a:xfrm>
          <a:prstGeom prst="rect">
            <a:avLst/>
          </a:prstGeom>
        </p:spPr>
      </p:pic>
      <p:sp>
        <p:nvSpPr>
          <p:cNvPr id="24" name="box ③ pass: submit · fai"/>
          <p:cNvSpPr/>
          <p:nvPr/>
        </p:nvSpPr>
        <p:spPr>
          <a:xfrm>
            <a:off x="6163056" y="1325880"/>
            <a:ext cx="2606040" cy="502920"/>
          </a:xfrm>
          <a:prstGeom prst="roundRect">
            <a:avLst>
              <a:gd name="adj" fmla="val 10909"/>
            </a:avLst>
          </a:prstGeom>
          <a:solidFill>
            <a:srgbClr val="E2F0D9"/>
          </a:solidFill>
          <a:ln w="9525">
            <a:solidFill>
              <a:srgbClr val="BFBFBF"/>
            </a:solidFill>
            <a:prstDash val="solid"/>
          </a:ln>
        </p:spPr>
      </p:sp>
      <p:sp>
        <p:nvSpPr>
          <p:cNvPr id="25" name="Text 13"/>
          <p:cNvSpPr txBox="1"/>
          <p:nvPr/>
        </p:nvSpPr>
        <p:spPr>
          <a:xfrm>
            <a:off x="6236208" y="1325880"/>
            <a:ext cx="2459736" cy="502920"/>
          </a:xfrm>
          <a:prstGeom prst="rect">
            <a:avLst/>
          </a:prstGeom>
          <a:noFill/>
          <a:ln/>
        </p:spPr>
        <p:txBody>
          <a:bodyPr wrap="square" lIns="0" tIns="0" rIns="0" bIns="0" rtlCol="0" anchor="ctr"/>
          <a:lstStyle/>
          <a:p>
            <a:pPr algn="ctr" indent="0" marL="0">
              <a:buNone/>
            </a:pPr>
            <a:r>
              <a:rPr lang="en-US" sz="1500" b="1" dirty="0">
                <a:solidFill>
                  <a:srgbClr val="38761D"/>
                </a:solidFill>
              </a:rPr>
              <a:t>③ pass: submit · fail: think</a:t>
            </a:r>
            <a:endParaRPr lang="en-US" sz="1500" dirty="0"/>
          </a:p>
        </p:txBody>
      </p:sp>
      <p:sp>
        <p:nvSpPr>
          <p:cNvPr id="26" name="Shape 14"/>
          <p:cNvSpPr/>
          <p:nvPr/>
        </p:nvSpPr>
        <p:spPr>
          <a:xfrm>
            <a:off x="8769096" y="1572768"/>
            <a:ext cx="201168" cy="0"/>
          </a:xfrm>
          <a:prstGeom prst="line">
            <a:avLst/>
          </a:prstGeom>
          <a:noFill/>
          <a:ln w="25400">
            <a:solidFill>
              <a:srgbClr val="7F7F7F"/>
            </a:solidFill>
            <a:prstDash val="solid"/>
            <a:tailEnd type="triangle"/>
          </a:ln>
        </p:spPr>
      </p:sp>
      <p:pic>
        <p:nvPicPr>
          <p:cNvPr id="27" name="step 3 used on shapes" descr="/NAS/SJ/POSTECH/nlp/figs/icons/shapes.png">    </p:cNvPr>
          <p:cNvPicPr>
            <a:picLocks noChangeAspect="1"/>
          </p:cNvPicPr>
          <p:nvPr/>
        </p:nvPicPr>
        <p:blipFill>
          <a:blip r:embed="rId11"/>
          <a:stretch>
            <a:fillRect/>
          </a:stretch>
        </p:blipFill>
        <p:spPr>
          <a:xfrm>
            <a:off x="6949440" y="1892808"/>
            <a:ext cx="219456" cy="219456"/>
          </a:xfrm>
          <a:prstGeom prst="rect">
            <a:avLst/>
          </a:prstGeom>
        </p:spPr>
      </p:pic>
      <p:pic>
        <p:nvPicPr>
          <p:cNvPr id="28" name="step 3 used on trophy" descr="/NAS/SJ/POSTECH/nlp/figs/icons/trophy.png">    </p:cNvPr>
          <p:cNvPicPr>
            <a:picLocks noChangeAspect="1"/>
          </p:cNvPicPr>
          <p:nvPr/>
        </p:nvPicPr>
        <p:blipFill>
          <a:blip r:embed="rId12"/>
          <a:stretch>
            <a:fillRect/>
          </a:stretch>
        </p:blipFill>
        <p:spPr>
          <a:xfrm>
            <a:off x="7223760" y="1892808"/>
            <a:ext cx="219456" cy="219456"/>
          </a:xfrm>
          <a:prstGeom prst="rect">
            <a:avLst/>
          </a:prstGeom>
        </p:spPr>
      </p:pic>
      <p:pic>
        <p:nvPicPr>
          <p:cNvPr id="29" name="step 3 used on truck" descr="/NAS/SJ/POSTECH/nlp/figs/icons/truck.png">    </p:cNvPr>
          <p:cNvPicPr>
            <a:picLocks noChangeAspect="1"/>
          </p:cNvPicPr>
          <p:nvPr/>
        </p:nvPicPr>
        <p:blipFill>
          <a:blip r:embed="rId13"/>
          <a:stretch>
            <a:fillRect/>
          </a:stretch>
        </p:blipFill>
        <p:spPr>
          <a:xfrm>
            <a:off x="7498080" y="1892808"/>
            <a:ext cx="219456" cy="219456"/>
          </a:xfrm>
          <a:prstGeom prst="rect">
            <a:avLst/>
          </a:prstGeom>
        </p:spPr>
      </p:pic>
      <p:pic>
        <p:nvPicPr>
          <p:cNvPr id="30" name="step 3 used on calc" descr="/NAS/SJ/POSTECH/nlp/figs/icons/calc.png">    </p:cNvPr>
          <p:cNvPicPr>
            <a:picLocks noChangeAspect="1"/>
          </p:cNvPicPr>
          <p:nvPr/>
        </p:nvPicPr>
        <p:blipFill>
          <a:blip r:embed="rId14"/>
          <a:stretch>
            <a:fillRect/>
          </a:stretch>
        </p:blipFill>
        <p:spPr>
          <a:xfrm>
            <a:off x="7772400" y="1892808"/>
            <a:ext cx="219456" cy="219456"/>
          </a:xfrm>
          <a:prstGeom prst="rect">
            <a:avLst/>
          </a:prstGeom>
        </p:spPr>
      </p:pic>
      <p:sp>
        <p:nvSpPr>
          <p:cNvPr id="31" name="box ④ same type again: r"/>
          <p:cNvSpPr/>
          <p:nvPr/>
        </p:nvSpPr>
        <p:spPr>
          <a:xfrm>
            <a:off x="8970264" y="1325880"/>
            <a:ext cx="2606040" cy="502920"/>
          </a:xfrm>
          <a:prstGeom prst="roundRect">
            <a:avLst>
              <a:gd name="adj" fmla="val 10909"/>
            </a:avLst>
          </a:prstGeom>
          <a:solidFill>
            <a:srgbClr val="F2F2F2"/>
          </a:solidFill>
          <a:ln w="9525">
            <a:solidFill>
              <a:srgbClr val="BFBFBF"/>
            </a:solidFill>
            <a:prstDash val="solid"/>
          </a:ln>
        </p:spPr>
      </p:sp>
      <p:sp>
        <p:nvSpPr>
          <p:cNvPr id="32" name="Text 16"/>
          <p:cNvSpPr txBox="1"/>
          <p:nvPr/>
        </p:nvSpPr>
        <p:spPr>
          <a:xfrm>
            <a:off x="9043416" y="1325880"/>
            <a:ext cx="2459736" cy="502920"/>
          </a:xfrm>
          <a:prstGeom prst="rect">
            <a:avLst/>
          </a:prstGeom>
          <a:noFill/>
          <a:ln/>
        </p:spPr>
        <p:txBody>
          <a:bodyPr wrap="square" lIns="0" tIns="0" rIns="0" bIns="0" rtlCol="0" anchor="ctr"/>
          <a:lstStyle/>
          <a:p>
            <a:pPr algn="ctr" indent="0" marL="0">
              <a:buNone/>
            </a:pPr>
            <a:r>
              <a:rPr lang="en-US" sz="1500" b="1" dirty="0">
                <a:solidFill>
                  <a:schemeClr val="tx1"/>
                </a:solidFill>
              </a:rPr>
              <a:t>④ same type again: reuse it</a:t>
            </a:r>
            <a:endParaRPr lang="en-US" sz="1500" dirty="0"/>
          </a:p>
        </p:txBody>
      </p:sp>
      <p:pic>
        <p:nvPicPr>
          <p:cNvPr id="33" name="step 4 not needed on shapes" descr="/NAS/SJ/POSTECH/nlp/figs/icons/shapes.png">    </p:cNvPr>
          <p:cNvPicPr>
            <a:picLocks noChangeAspect="1"/>
          </p:cNvPicPr>
          <p:nvPr/>
        </p:nvPicPr>
        <p:blipFill>
          <a:blip r:embed="rId15">
            <a:alphaModFix amt="18000"/>
          </a:blip>
          <a:stretch>
            <a:fillRect/>
          </a:stretch>
        </p:blipFill>
        <p:spPr>
          <a:xfrm>
            <a:off x="9756648" y="1892808"/>
            <a:ext cx="219456" cy="219456"/>
          </a:xfrm>
          <a:prstGeom prst="rect">
            <a:avLst/>
          </a:prstGeom>
        </p:spPr>
      </p:pic>
      <p:pic>
        <p:nvPicPr>
          <p:cNvPr id="34" name="step 4 not needed on trophy" descr="/NAS/SJ/POSTECH/nlp/figs/icons/trophy.png">    </p:cNvPr>
          <p:cNvPicPr>
            <a:picLocks noChangeAspect="1"/>
          </p:cNvPicPr>
          <p:nvPr/>
        </p:nvPicPr>
        <p:blipFill>
          <a:blip r:embed="rId16">
            <a:alphaModFix amt="18000"/>
          </a:blip>
          <a:stretch>
            <a:fillRect/>
          </a:stretch>
        </p:blipFill>
        <p:spPr>
          <a:xfrm>
            <a:off x="10030968" y="1892808"/>
            <a:ext cx="219456" cy="219456"/>
          </a:xfrm>
          <a:prstGeom prst="rect">
            <a:avLst/>
          </a:prstGeom>
        </p:spPr>
      </p:pic>
      <p:pic>
        <p:nvPicPr>
          <p:cNvPr id="35" name="step 4 used on truck" descr="/NAS/SJ/POSTECH/nlp/figs/icons/truck.png">    </p:cNvPr>
          <p:cNvPicPr>
            <a:picLocks noChangeAspect="1"/>
          </p:cNvPicPr>
          <p:nvPr/>
        </p:nvPicPr>
        <p:blipFill>
          <a:blip r:embed="rId17"/>
          <a:stretch>
            <a:fillRect/>
          </a:stretch>
        </p:blipFill>
        <p:spPr>
          <a:xfrm>
            <a:off x="10305288" y="1892808"/>
            <a:ext cx="219456" cy="219456"/>
          </a:xfrm>
          <a:prstGeom prst="rect">
            <a:avLst/>
          </a:prstGeom>
        </p:spPr>
      </p:pic>
      <p:pic>
        <p:nvPicPr>
          <p:cNvPr id="36" name="step 4 not needed on calc" descr="/NAS/SJ/POSTECH/nlp/figs/icons/calc.png">    </p:cNvPr>
          <p:cNvPicPr>
            <a:picLocks noChangeAspect="1"/>
          </p:cNvPicPr>
          <p:nvPr/>
        </p:nvPicPr>
        <p:blipFill>
          <a:blip r:embed="rId18">
            <a:alphaModFix amt="18000"/>
          </a:blip>
          <a:stretch>
            <a:fillRect/>
          </a:stretch>
        </p:blipFill>
        <p:spPr>
          <a:xfrm>
            <a:off x="10579608" y="1892808"/>
            <a:ext cx="219456" cy="219456"/>
          </a:xfrm>
          <a:prstGeom prst="rect">
            <a:avLst/>
          </a:prstGeom>
        </p:spPr>
      </p:pic>
      <p:sp>
        <p:nvSpPr>
          <p:cNvPr id="37" name="how we pick the hint"/>
          <p:cNvSpPr/>
          <p:nvPr/>
        </p:nvSpPr>
        <p:spPr>
          <a:xfrm>
            <a:off x="548640" y="2286000"/>
            <a:ext cx="5349240" cy="3246120"/>
          </a:xfrm>
          <a:prstGeom prst="roundRect">
            <a:avLst>
              <a:gd name="adj" fmla="val 2254"/>
            </a:avLst>
          </a:prstGeom>
          <a:solidFill>
            <a:srgbClr val="F2F2F2"/>
          </a:solidFill>
          <a:ln w="9525">
            <a:solidFill>
              <a:srgbClr val="D9D9D9"/>
            </a:solidFill>
            <a:prstDash val="solid"/>
          </a:ln>
        </p:spPr>
      </p:sp>
      <p:sp>
        <p:nvSpPr>
          <p:cNvPr id="38" name="Text 18"/>
          <p:cNvSpPr txBox="1"/>
          <p:nvPr/>
        </p:nvSpPr>
        <p:spPr>
          <a:xfrm>
            <a:off x="777240" y="2340864"/>
            <a:ext cx="4937760" cy="365760"/>
          </a:xfrm>
          <a:prstGeom prst="rect">
            <a:avLst/>
          </a:prstGeom>
          <a:noFill/>
          <a:ln/>
        </p:spPr>
        <p:txBody>
          <a:bodyPr wrap="square" lIns="0" tIns="0" rIns="0" bIns="0" rtlCol="0" anchor="ctr"/>
          <a:lstStyle/>
          <a:p>
            <a:pPr indent="0" marL="0">
              <a:buNone/>
            </a:pPr>
            <a:r>
              <a:rPr lang="en-US" sz="1700" b="1" dirty="0">
                <a:solidFill>
                  <a:srgbClr val="4472C4"/>
                </a:solidFill>
              </a:rPr>
              <a:t>① How we pick the hint (once per type, no human)</a:t>
            </a:r>
            <a:endParaRPr lang="en-US" sz="1700" dirty="0"/>
          </a:p>
        </p:txBody>
      </p:sp>
      <p:sp>
        <p:nvSpPr>
          <p:cNvPr id="39" name="box its past programs"/>
          <p:cNvSpPr/>
          <p:nvPr/>
        </p:nvSpPr>
        <p:spPr>
          <a:xfrm>
            <a:off x="777240" y="2761488"/>
            <a:ext cx="1463040" cy="530352"/>
          </a:xfrm>
          <a:prstGeom prst="roundRect">
            <a:avLst>
              <a:gd name="adj" fmla="val 10345"/>
            </a:avLst>
          </a:prstGeom>
          <a:solidFill>
            <a:srgbClr val="FFFFFF"/>
          </a:solidFill>
          <a:ln w="9525">
            <a:solidFill>
              <a:srgbClr val="BFBFBF"/>
            </a:solidFill>
            <a:prstDash val="solid"/>
          </a:ln>
        </p:spPr>
      </p:sp>
      <p:sp>
        <p:nvSpPr>
          <p:cNvPr id="40" name="Text 20"/>
          <p:cNvSpPr txBox="1"/>
          <p:nvPr/>
        </p:nvSpPr>
        <p:spPr>
          <a:xfrm>
            <a:off x="850392"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its past programs</a:t>
            </a:r>
            <a:endParaRPr lang="en-US" sz="1500" dirty="0"/>
          </a:p>
        </p:txBody>
      </p:sp>
      <p:sp>
        <p:nvSpPr>
          <p:cNvPr id="41" name="Shape 21"/>
          <p:cNvSpPr/>
          <p:nvPr/>
        </p:nvSpPr>
        <p:spPr>
          <a:xfrm>
            <a:off x="2240280" y="3026664"/>
            <a:ext cx="256032" cy="0"/>
          </a:xfrm>
          <a:prstGeom prst="line">
            <a:avLst/>
          </a:prstGeom>
          <a:noFill/>
          <a:ln w="25400">
            <a:solidFill>
              <a:srgbClr val="7F7F7F"/>
            </a:solidFill>
            <a:prstDash val="solid"/>
            <a:tailEnd type="triangle"/>
          </a:ln>
        </p:spPr>
      </p:sp>
      <p:sp>
        <p:nvSpPr>
          <p:cNvPr id="42" name="box ✓ passed the check"/>
          <p:cNvSpPr/>
          <p:nvPr/>
        </p:nvSpPr>
        <p:spPr>
          <a:xfrm>
            <a:off x="2496312" y="2761488"/>
            <a:ext cx="1463040" cy="530352"/>
          </a:xfrm>
          <a:prstGeom prst="roundRect">
            <a:avLst>
              <a:gd name="adj" fmla="val 10345"/>
            </a:avLst>
          </a:prstGeom>
          <a:solidFill>
            <a:srgbClr val="FFFFFF"/>
          </a:solidFill>
          <a:ln w="9525">
            <a:solidFill>
              <a:srgbClr val="BFBFBF"/>
            </a:solidFill>
            <a:prstDash val="solid"/>
          </a:ln>
        </p:spPr>
      </p:sp>
      <p:sp>
        <p:nvSpPr>
          <p:cNvPr id="43" name="Text 23"/>
          <p:cNvSpPr txBox="1"/>
          <p:nvPr/>
        </p:nvSpPr>
        <p:spPr>
          <a:xfrm>
            <a:off x="2569464" y="2761488"/>
            <a:ext cx="1316736" cy="530352"/>
          </a:xfrm>
          <a:prstGeom prst="rect">
            <a:avLst/>
          </a:prstGeom>
          <a:noFill/>
          <a:ln/>
        </p:spPr>
        <p:txBody>
          <a:bodyPr wrap="square" lIns="0" tIns="0" rIns="0" bIns="0" rtlCol="0" anchor="ctr"/>
          <a:lstStyle/>
          <a:p>
            <a:pPr algn="ctr" indent="0" marL="0">
              <a:buNone/>
            </a:pPr>
            <a:r>
              <a:rPr lang="en-US" sz="1500" dirty="0">
                <a:solidFill>
                  <a:schemeClr val="tx1"/>
                </a:solidFill>
              </a:rPr>
              <a:t>✓ passed the check</a:t>
            </a:r>
            <a:endParaRPr lang="en-US" sz="1500" dirty="0"/>
          </a:p>
        </p:txBody>
      </p:sp>
      <p:sp>
        <p:nvSpPr>
          <p:cNvPr id="44" name="Shape 24"/>
          <p:cNvSpPr/>
          <p:nvPr/>
        </p:nvSpPr>
        <p:spPr>
          <a:xfrm>
            <a:off x="3959352" y="3026664"/>
            <a:ext cx="256032" cy="0"/>
          </a:xfrm>
          <a:prstGeom prst="line">
            <a:avLst/>
          </a:prstGeom>
          <a:noFill/>
          <a:ln w="25400">
            <a:solidFill>
              <a:srgbClr val="7F7F7F"/>
            </a:solidFill>
            <a:prstDash val="solid"/>
            <a:tailEnd type="triangle"/>
          </a:ln>
        </p:spPr>
      </p:sp>
      <p:sp>
        <p:nvSpPr>
          <p:cNvPr id="45" name="box shortest = hint"/>
          <p:cNvSpPr/>
          <p:nvPr/>
        </p:nvSpPr>
        <p:spPr>
          <a:xfrm>
            <a:off x="4215384" y="2761488"/>
            <a:ext cx="1463040" cy="530352"/>
          </a:xfrm>
          <a:prstGeom prst="roundRect">
            <a:avLst>
              <a:gd name="adj" fmla="val 10345"/>
            </a:avLst>
          </a:prstGeom>
          <a:solidFill>
            <a:srgbClr val="E2F0D9"/>
          </a:solidFill>
          <a:ln w="9525">
            <a:solidFill>
              <a:srgbClr val="BFBFBF"/>
            </a:solidFill>
            <a:prstDash val="solid"/>
          </a:ln>
        </p:spPr>
      </p:sp>
      <p:sp>
        <p:nvSpPr>
          <p:cNvPr id="46" name="Text 26"/>
          <p:cNvSpPr txBox="1"/>
          <p:nvPr/>
        </p:nvSpPr>
        <p:spPr>
          <a:xfrm>
            <a:off x="4288536" y="2761488"/>
            <a:ext cx="1316736" cy="530352"/>
          </a:xfrm>
          <a:prstGeom prst="rect">
            <a:avLst/>
          </a:prstGeom>
          <a:noFill/>
          <a:ln/>
        </p:spPr>
        <p:txBody>
          <a:bodyPr wrap="square" lIns="0" tIns="0" rIns="0" bIns="0" rtlCol="0" anchor="ctr"/>
          <a:lstStyle/>
          <a:p>
            <a:pPr algn="ctr" indent="0" marL="0">
              <a:buNone/>
            </a:pPr>
            <a:r>
              <a:rPr lang="en-US" sz="1500" b="1" dirty="0">
                <a:solidFill>
                  <a:srgbClr val="38761D"/>
                </a:solidFill>
              </a:rPr>
              <a:t>shortest = hint</a:t>
            </a:r>
            <a:endParaRPr lang="en-US" sz="1500" dirty="0"/>
          </a:p>
        </p:txBody>
      </p:sp>
      <p:sp>
        <p:nvSpPr>
          <p:cNvPr id="47" name="Text 27"/>
          <p:cNvSpPr txBox="1"/>
          <p:nvPr/>
        </p:nvSpPr>
        <p:spPr>
          <a:xfrm>
            <a:off x="777240" y="3429000"/>
            <a:ext cx="4937760" cy="320040"/>
          </a:xfrm>
          <a:prstGeom prst="rect">
            <a:avLst/>
          </a:prstGeom>
          <a:noFill/>
          <a:ln/>
        </p:spPr>
        <p:txBody>
          <a:bodyPr wrap="square" lIns="0" tIns="0" rIns="0" bIns="0" rtlCol="0" anchor="ctr"/>
          <a:lstStyle/>
          <a:p>
            <a:pPr indent="0" marL="0">
              <a:buNone/>
            </a:pPr>
            <a:r>
              <a:rPr lang="en-US" sz="1500" b="1" dirty="0">
                <a:solidFill>
                  <a:schemeClr val="tx1"/>
                </a:solidFill>
              </a:rPr>
              <a:t>One real problem (Qwen3-8B, answer 20000):</a:t>
            </a:r>
            <a:endParaRPr lang="en-US" sz="1500" dirty="0"/>
          </a:p>
        </p:txBody>
      </p:sp>
      <p:sp>
        <p:nvSpPr>
          <p:cNvPr id="48" name="box ✗ no hint: it calls "/>
          <p:cNvSpPr/>
          <p:nvPr/>
        </p:nvSpPr>
        <p:spPr>
          <a:xfrm>
            <a:off x="777240" y="3794760"/>
            <a:ext cx="4892040" cy="457200"/>
          </a:xfrm>
          <a:prstGeom prst="roundRect">
            <a:avLst>
              <a:gd name="adj" fmla="val 12000"/>
            </a:avLst>
          </a:prstGeom>
          <a:solidFill>
            <a:srgbClr val="FADBD8"/>
          </a:solidFill>
          <a:ln w="9525">
            <a:solidFill>
              <a:srgbClr val="BFBFBF"/>
            </a:solidFill>
            <a:prstDash val="solid"/>
          </a:ln>
        </p:spPr>
      </p:sp>
      <p:sp>
        <p:nvSpPr>
          <p:cNvPr id="49" name="Text 29"/>
          <p:cNvSpPr txBox="1"/>
          <p:nvPr/>
        </p:nvSpPr>
        <p:spPr>
          <a:xfrm>
            <a:off x="850392" y="3794760"/>
            <a:ext cx="4745736" cy="457200"/>
          </a:xfrm>
          <a:prstGeom prst="rect">
            <a:avLst/>
          </a:prstGeom>
          <a:noFill/>
          <a:ln/>
        </p:spPr>
        <p:txBody>
          <a:bodyPr wrap="square" lIns="0" tIns="0" rIns="0" bIns="0" rtlCol="0" anchor="ctr"/>
          <a:lstStyle/>
          <a:p>
            <a:pPr algn="ctr" indent="0" marL="0">
              <a:buNone/>
            </a:pPr>
            <a:r>
              <a:rPr lang="en-US" sz="1500" dirty="0">
                <a:solidFill>
                  <a:srgbClr val="C00000"/>
                </a:solidFill>
              </a:rPr>
              <a:t>✗ no hint: it calls a function that does not exist → crash</a:t>
            </a:r>
            <a:endParaRPr lang="en-US" sz="1500" dirty="0"/>
          </a:p>
        </p:txBody>
      </p:sp>
      <p:sp>
        <p:nvSpPr>
          <p:cNvPr id="50" name="box ✓ with the hint: bot"/>
          <p:cNvSpPr/>
          <p:nvPr/>
        </p:nvSpPr>
        <p:spPr>
          <a:xfrm>
            <a:off x="777240" y="4325112"/>
            <a:ext cx="4892040" cy="457200"/>
          </a:xfrm>
          <a:prstGeom prst="roundRect">
            <a:avLst>
              <a:gd name="adj" fmla="val 12000"/>
            </a:avLst>
          </a:prstGeom>
          <a:solidFill>
            <a:srgbClr val="E2F0D9"/>
          </a:solidFill>
          <a:ln w="9525">
            <a:solidFill>
              <a:srgbClr val="BFBFBF"/>
            </a:solidFill>
            <a:prstDash val="solid"/>
          </a:ln>
        </p:spPr>
      </p:sp>
      <p:sp>
        <p:nvSpPr>
          <p:cNvPr id="51" name="Text 31"/>
          <p:cNvSpPr txBox="1"/>
          <p:nvPr/>
        </p:nvSpPr>
        <p:spPr>
          <a:xfrm>
            <a:off x="850392" y="4325112"/>
            <a:ext cx="4745736" cy="457200"/>
          </a:xfrm>
          <a:prstGeom prst="rect">
            <a:avLst/>
          </a:prstGeom>
          <a:noFill/>
          <a:ln/>
        </p:spPr>
        <p:txBody>
          <a:bodyPr wrap="square" lIns="0" tIns="0" rIns="0" bIns="0" rtlCol="0" anchor="ctr"/>
          <a:lstStyle/>
          <a:p>
            <a:pPr algn="ctr" indent="0" marL="0">
              <a:buNone/>
            </a:pPr>
            <a:r>
              <a:rPr lang="en-US" sz="1500" dirty="0">
                <a:solidFill>
                  <a:srgbClr val="38761D"/>
                </a:solidFill>
              </a:rPr>
              <a:t>✓ with the hint: both versions print 20000 → submit</a:t>
            </a:r>
            <a:endParaRPr lang="en-US" sz="1500" dirty="0"/>
          </a:p>
        </p:txBody>
      </p:sp>
      <p:sp>
        <p:nvSpPr>
          <p:cNvPr id="52" name="Text 32"/>
          <p:cNvSpPr txBox="1"/>
          <p:nvPr/>
        </p:nvSpPr>
        <p:spPr>
          <a:xfrm>
            <a:off x="777240" y="4892040"/>
            <a:ext cx="4892040" cy="411480"/>
          </a:xfrm>
          <a:prstGeom prst="rect">
            <a:avLst/>
          </a:prstGeom>
          <a:noFill/>
          <a:ln/>
        </p:spPr>
        <p:txBody>
          <a:bodyPr wrap="square" lIns="0" tIns="0" rIns="0" bIns="0" rtlCol="0" anchor="ctr"/>
          <a:lstStyle/>
          <a:p>
            <a:pPr indent="0" marL="0">
              <a:buNone/>
            </a:pPr>
            <a:r>
              <a:rPr lang="en-US" sz="1700" b="1" dirty="0">
                <a:solidFill>
                  <a:srgbClr val="4472C4"/>
                </a:solidFill>
              </a:rPr>
              <a:t>0.6k tokens</a:t>
            </a:r>
            <a:pPr indent="0" marL="0">
              <a:buNone/>
            </a:pPr>
            <a:r>
              <a:rPr lang="en-US" sz="1700" dirty="0">
                <a:solidFill>
                  <a:schemeClr val="tx1"/>
                </a:solidFill>
              </a:rPr>
              <a:t>  (thinking alone: 5.3k)</a:t>
            </a:r>
            <a:endParaRPr lang="en-US" sz="1700" dirty="0"/>
          </a:p>
        </p:txBody>
      </p:sp>
      <p:sp>
        <p:nvSpPr>
          <p:cNvPr id="53" name="overall result"/>
          <p:cNvSpPr/>
          <p:nvPr/>
        </p:nvSpPr>
        <p:spPr>
          <a:xfrm>
            <a:off x="6172200" y="2286000"/>
            <a:ext cx="5440680" cy="3246120"/>
          </a:xfrm>
          <a:prstGeom prst="roundRect">
            <a:avLst>
              <a:gd name="adj" fmla="val 2254"/>
            </a:avLst>
          </a:prstGeom>
          <a:solidFill>
            <a:srgbClr val="F2F2F2"/>
          </a:solidFill>
          <a:ln w="9525">
            <a:solidFill>
              <a:srgbClr val="D9D9D9"/>
            </a:solidFill>
            <a:prstDash val="solid"/>
          </a:ln>
        </p:spPr>
      </p:sp>
      <p:sp>
        <p:nvSpPr>
          <p:cNvPr id="54" name="Text 34"/>
          <p:cNvSpPr txBox="1"/>
          <p:nvPr/>
        </p:nvSpPr>
        <p:spPr>
          <a:xfrm>
            <a:off x="6400800" y="2340864"/>
            <a:ext cx="4983480" cy="365760"/>
          </a:xfrm>
          <a:prstGeom prst="rect">
            <a:avLst/>
          </a:prstGeom>
          <a:noFill/>
          <a:ln/>
        </p:spPr>
        <p:txBody>
          <a:bodyPr wrap="square" lIns="0" tIns="0" rIns="0" bIns="0" rtlCol="0" anchor="ctr"/>
          <a:lstStyle/>
          <a:p>
            <a:pPr indent="0" marL="0">
              <a:buNone/>
            </a:pPr>
            <a:r>
              <a:rPr lang="en-US" sz="1700" b="1" dirty="0">
                <a:solidFill>
                  <a:srgbClr val="4472C4"/>
                </a:solidFill>
              </a:rPr>
              <a:t>208 geometry + optimization problems × 3 models</a:t>
            </a:r>
            <a:endParaRPr lang="en-US" sz="1700" dirty="0"/>
          </a:p>
        </p:txBody>
      </p:sp>
      <p:sp>
        <p:nvSpPr>
          <p:cNvPr id="55" name="Text 35"/>
          <p:cNvSpPr txBox="1"/>
          <p:nvPr/>
        </p:nvSpPr>
        <p:spPr>
          <a:xfrm>
            <a:off x="8686800" y="2724912"/>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56" name="Text 36"/>
          <p:cNvSpPr txBox="1"/>
          <p:nvPr/>
        </p:nvSpPr>
        <p:spPr>
          <a:xfrm>
            <a:off x="9601200" y="2724912"/>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57" name="Text 37"/>
          <p:cNvSpPr txBox="1"/>
          <p:nvPr/>
        </p:nvSpPr>
        <p:spPr>
          <a:xfrm>
            <a:off x="6400800" y="30906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think where answers differ</a:t>
            </a:r>
            <a:endParaRPr lang="en-US" sz="1500" dirty="0"/>
          </a:p>
        </p:txBody>
      </p:sp>
      <p:sp>
        <p:nvSpPr>
          <p:cNvPr id="58" name="Text 38"/>
          <p:cNvSpPr txBox="1"/>
          <p:nvPr/>
        </p:nvSpPr>
        <p:spPr>
          <a:xfrm>
            <a:off x="8686800" y="309067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59" name="tokens think where answers differ"/>
          <p:cNvSpPr/>
          <p:nvPr/>
        </p:nvSpPr>
        <p:spPr>
          <a:xfrm>
            <a:off x="9601200" y="3191256"/>
            <a:ext cx="1051560" cy="256032"/>
          </a:xfrm>
          <a:prstGeom prst="rect">
            <a:avLst/>
          </a:prstGeom>
          <a:solidFill>
            <a:srgbClr val="7F7F7F"/>
          </a:solidFill>
          <a:ln w="6350">
            <a:solidFill>
              <a:srgbClr val="7F7F7F"/>
            </a:solidFill>
            <a:prstDash val="solid"/>
          </a:ln>
        </p:spPr>
      </p:sp>
      <p:sp>
        <p:nvSpPr>
          <p:cNvPr id="60" name="Text 40"/>
          <p:cNvSpPr txBox="1"/>
          <p:nvPr/>
        </p:nvSpPr>
        <p:spPr>
          <a:xfrm>
            <a:off x="10744200" y="309067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61" name="Text 41"/>
          <p:cNvSpPr txBox="1"/>
          <p:nvPr/>
        </p:nvSpPr>
        <p:spPr>
          <a:xfrm>
            <a:off x="6400800" y="35478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hint found by search</a:t>
            </a:r>
            <a:endParaRPr lang="en-US" sz="1500" dirty="0"/>
          </a:p>
        </p:txBody>
      </p:sp>
      <p:sp>
        <p:nvSpPr>
          <p:cNvPr id="62" name="Text 42"/>
          <p:cNvSpPr txBox="1"/>
          <p:nvPr/>
        </p:nvSpPr>
        <p:spPr>
          <a:xfrm>
            <a:off x="8686800" y="354787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84%</a:t>
            </a:r>
            <a:endParaRPr lang="en-US" sz="1700" dirty="0"/>
          </a:p>
        </p:txBody>
      </p:sp>
      <p:sp>
        <p:nvSpPr>
          <p:cNvPr id="63" name="tokens ours, hint found by search"/>
          <p:cNvSpPr/>
          <p:nvPr/>
        </p:nvSpPr>
        <p:spPr>
          <a:xfrm>
            <a:off x="9601200" y="3648456"/>
            <a:ext cx="846378" cy="256032"/>
          </a:xfrm>
          <a:prstGeom prst="rect">
            <a:avLst/>
          </a:prstGeom>
          <a:solidFill>
            <a:srgbClr val="5B9BD5"/>
          </a:solidFill>
          <a:ln w="6350">
            <a:solidFill>
              <a:srgbClr val="5B9BD5"/>
            </a:solidFill>
            <a:prstDash val="solid"/>
          </a:ln>
        </p:spPr>
      </p:sp>
      <p:sp>
        <p:nvSpPr>
          <p:cNvPr id="64" name="Text 44"/>
          <p:cNvSpPr txBox="1"/>
          <p:nvPr/>
        </p:nvSpPr>
        <p:spPr>
          <a:xfrm>
            <a:off x="10539018" y="354787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3.3k</a:t>
            </a:r>
            <a:endParaRPr lang="en-US" sz="1500" dirty="0"/>
          </a:p>
        </p:txBody>
      </p:sp>
      <p:sp>
        <p:nvSpPr>
          <p:cNvPr id="65" name="Text 45"/>
          <p:cNvSpPr txBox="1"/>
          <p:nvPr/>
        </p:nvSpPr>
        <p:spPr>
          <a:xfrm>
            <a:off x="6400800" y="4005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ours, hand-written hint</a:t>
            </a:r>
            <a:endParaRPr lang="en-US" sz="1500" dirty="0"/>
          </a:p>
        </p:txBody>
      </p:sp>
      <p:sp>
        <p:nvSpPr>
          <p:cNvPr id="66" name="Text 46"/>
          <p:cNvSpPr txBox="1"/>
          <p:nvPr/>
        </p:nvSpPr>
        <p:spPr>
          <a:xfrm>
            <a:off x="8686800" y="4005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67" name="tokens ours, hand-written hint"/>
          <p:cNvSpPr/>
          <p:nvPr/>
        </p:nvSpPr>
        <p:spPr>
          <a:xfrm>
            <a:off x="9601200" y="4105656"/>
            <a:ext cx="641195" cy="256032"/>
          </a:xfrm>
          <a:prstGeom prst="rect">
            <a:avLst/>
          </a:prstGeom>
          <a:solidFill>
            <a:srgbClr val="4472C4"/>
          </a:solidFill>
          <a:ln w="6350">
            <a:solidFill>
              <a:srgbClr val="4472C4"/>
            </a:solidFill>
            <a:prstDash val="solid"/>
          </a:ln>
        </p:spPr>
      </p:sp>
      <p:sp>
        <p:nvSpPr>
          <p:cNvPr id="68" name="Text 48"/>
          <p:cNvSpPr txBox="1"/>
          <p:nvPr/>
        </p:nvSpPr>
        <p:spPr>
          <a:xfrm>
            <a:off x="10333835" y="4005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69" name="Text 49"/>
          <p:cNvSpPr txBox="1"/>
          <p:nvPr/>
        </p:nvSpPr>
        <p:spPr>
          <a:xfrm>
            <a:off x="6400800" y="4526280"/>
            <a:ext cx="4983480" cy="822960"/>
          </a:xfrm>
          <a:prstGeom prst="rect">
            <a:avLst/>
          </a:prstGeom>
          <a:noFill/>
          <a:ln/>
        </p:spPr>
        <p:txBody>
          <a:bodyPr wrap="square" lIns="0" tIns="0" rIns="0" bIns="0" rtlCol="0" anchor="t"/>
          <a:lstStyle/>
          <a:p>
            <a:pPr indent="0" marL="0">
              <a:buNone/>
            </a:pPr>
            <a:r>
              <a:rPr lang="en-US" sz="1400" dirty="0">
                <a:solidFill>
                  <a:schemeClr val="tx2"/>
                </a:solidFill>
              </a:rPr>
              <a:t>Held-out MAMO (863): the model's own program as the hint = a hand-written one (79% = 79%, gpt-oss-20b)</a:t>
            </a:r>
            <a:endParaRPr lang="en-US" sz="1400" dirty="0"/>
          </a:p>
        </p:txBody>
      </p:sp>
      <p:sp>
        <p:nvSpPr>
          <p:cNvPr id="70" name="Text 5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More accurate and cheaper than spending thinking on the hardest-looking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is new, and what is next</a:t>
            </a:r>
            <a:endParaRPr lang="en-US" sz="3600" dirty="0"/>
          </a:p>
        </p:txBody>
      </p:sp>
      <p:sp>
        <p:nvSpPr>
          <p:cNvPr id="3" name="Text 1"/>
          <p:cNvSpPr txBox="1"/>
          <p:nvPr/>
        </p:nvSpPr>
        <p:spPr>
          <a:xfrm>
            <a:off x="2103120" y="1188720"/>
            <a:ext cx="4206240" cy="365760"/>
          </a:xfrm>
          <a:prstGeom prst="rect">
            <a:avLst/>
          </a:prstGeom>
          <a:noFill/>
          <a:ln/>
        </p:spPr>
        <p:txBody>
          <a:bodyPr wrap="square" lIns="0" tIns="0" rIns="0" bIns="0" rtlCol="0" anchor="ctr"/>
          <a:lstStyle/>
          <a:p>
            <a:pPr algn="ctr" indent="0" marL="0">
              <a:buNone/>
            </a:pPr>
            <a:r>
              <a:rPr lang="en-US" sz="1600" b="1" dirty="0">
                <a:solidFill>
                  <a:srgbClr val="7F7F7F"/>
                </a:solidFill>
              </a:rPr>
              <a:t>The usual way</a:t>
            </a:r>
            <a:endParaRPr lang="en-US" sz="1600" dirty="0"/>
          </a:p>
        </p:txBody>
      </p:sp>
      <p:sp>
        <p:nvSpPr>
          <p:cNvPr id="4" name="Text 2"/>
          <p:cNvSpPr txBox="1"/>
          <p:nvPr/>
        </p:nvSpPr>
        <p:spPr>
          <a:xfrm>
            <a:off x="6949440" y="1188720"/>
            <a:ext cx="4663440" cy="365760"/>
          </a:xfrm>
          <a:prstGeom prst="rect">
            <a:avLst/>
          </a:prstGeom>
          <a:noFill/>
          <a:ln/>
        </p:spPr>
        <p:txBody>
          <a:bodyPr wrap="square" lIns="0" tIns="0" rIns="0" bIns="0" rtlCol="0" anchor="ctr"/>
          <a:lstStyle/>
          <a:p>
            <a:pPr algn="ctr" indent="0" marL="0">
              <a:buNone/>
            </a:pPr>
            <a:r>
              <a:rPr lang="en-US" sz="1600" b="1" dirty="0">
                <a:solidFill>
                  <a:srgbClr val="4472C4"/>
                </a:solidFill>
              </a:rPr>
              <a:t>Ours</a:t>
            </a:r>
            <a:endParaRPr lang="en-US" sz="1600" dirty="0"/>
          </a:p>
        </p:txBody>
      </p:sp>
      <p:sp>
        <p:nvSpPr>
          <p:cNvPr id="5" name="Text 3"/>
          <p:cNvSpPr txBox="1"/>
          <p:nvPr/>
        </p:nvSpPr>
        <p:spPr>
          <a:xfrm>
            <a:off x="548640" y="160020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When to think</a:t>
            </a:r>
            <a:endParaRPr lang="en-US" sz="1600" dirty="0"/>
          </a:p>
        </p:txBody>
      </p:sp>
      <p:sp>
        <p:nvSpPr>
          <p:cNvPr id="6" name="box "/>
          <p:cNvSpPr/>
          <p:nvPr/>
        </p:nvSpPr>
        <p:spPr>
          <a:xfrm>
            <a:off x="2103120" y="1600200"/>
            <a:ext cx="4206240" cy="685800"/>
          </a:xfrm>
          <a:prstGeom prst="roundRect">
            <a:avLst>
              <a:gd name="adj" fmla="val 8000"/>
            </a:avLst>
          </a:prstGeom>
          <a:solidFill>
            <a:srgbClr val="F2F2F2"/>
          </a:solidFill>
          <a:ln w="9525">
            <a:solidFill>
              <a:srgbClr val="BFBFBF"/>
            </a:solidFill>
            <a:prstDash val="solid"/>
          </a:ln>
        </p:spPr>
      </p:sp>
      <p:sp>
        <p:nvSpPr>
          <p:cNvPr id="7" name="Text 5"/>
          <p:cNvSpPr txBox="1"/>
          <p:nvPr/>
        </p:nvSpPr>
        <p:spPr>
          <a:xfrm>
            <a:off x="2176272" y="160020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8" name="usual icon 0" descr="/NAS/SJ/POSTECH/nlp/figs/icons/brain.png">    </p:cNvPr>
          <p:cNvPicPr>
            <a:picLocks noChangeAspect="1"/>
          </p:cNvPicPr>
          <p:nvPr/>
        </p:nvPicPr>
        <p:blipFill>
          <a:blip r:embed="rId1"/>
          <a:stretch>
            <a:fillRect/>
          </a:stretch>
        </p:blipFill>
        <p:spPr>
          <a:xfrm>
            <a:off x="2212848" y="1737360"/>
            <a:ext cx="411480" cy="411480"/>
          </a:xfrm>
          <a:prstGeom prst="rect">
            <a:avLst/>
          </a:prstGeom>
        </p:spPr>
      </p:pic>
      <p:sp>
        <p:nvSpPr>
          <p:cNvPr id="9" name="Text 6"/>
          <p:cNvSpPr txBox="1"/>
          <p:nvPr/>
        </p:nvSpPr>
        <p:spPr>
          <a:xfrm>
            <a:off x="2743200" y="160020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think more on hard-looking problems, or train the model when to think</a:t>
            </a:r>
            <a:endParaRPr lang="en-US" sz="1500" dirty="0"/>
          </a:p>
        </p:txBody>
      </p:sp>
      <p:sp>
        <p:nvSpPr>
          <p:cNvPr id="10" name="arrow 0"/>
          <p:cNvSpPr/>
          <p:nvPr/>
        </p:nvSpPr>
        <p:spPr>
          <a:xfrm>
            <a:off x="6400800" y="1783080"/>
            <a:ext cx="457200" cy="329184"/>
          </a:xfrm>
          <a:prstGeom prst="rightArrow">
            <a:avLst/>
          </a:prstGeom>
          <a:solidFill>
            <a:srgbClr val="4472C4"/>
          </a:solidFill>
          <a:ln w="12700">
            <a:solidFill>
              <a:srgbClr val="4472C4"/>
            </a:solidFill>
            <a:prstDash val="solid"/>
          </a:ln>
        </p:spPr>
      </p:sp>
      <p:sp>
        <p:nvSpPr>
          <p:cNvPr id="11" name="box "/>
          <p:cNvSpPr/>
          <p:nvPr/>
        </p:nvSpPr>
        <p:spPr>
          <a:xfrm>
            <a:off x="6949440" y="1600200"/>
            <a:ext cx="4663440" cy="685800"/>
          </a:xfrm>
          <a:prstGeom prst="roundRect">
            <a:avLst>
              <a:gd name="adj" fmla="val 8000"/>
            </a:avLst>
          </a:prstGeom>
          <a:solidFill>
            <a:srgbClr val="DEEBF7"/>
          </a:solidFill>
          <a:ln w="9525">
            <a:solidFill>
              <a:srgbClr val="BFBFBF"/>
            </a:solidFill>
            <a:prstDash val="solid"/>
          </a:ln>
        </p:spPr>
      </p:sp>
      <p:sp>
        <p:nvSpPr>
          <p:cNvPr id="12" name="Text 9"/>
          <p:cNvSpPr txBox="1"/>
          <p:nvPr/>
        </p:nvSpPr>
        <p:spPr>
          <a:xfrm>
            <a:off x="7022592" y="160020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13" name="ours icon 0" descr="/NAS/SJ/POSTECH/nlp/figs/icons/check.png">    </p:cNvPr>
          <p:cNvPicPr>
            <a:picLocks noChangeAspect="1"/>
          </p:cNvPicPr>
          <p:nvPr/>
        </p:nvPicPr>
        <p:blipFill>
          <a:blip r:embed="rId2"/>
          <a:stretch>
            <a:fillRect/>
          </a:stretch>
        </p:blipFill>
        <p:spPr>
          <a:xfrm>
            <a:off x="7059168" y="1737360"/>
            <a:ext cx="411480" cy="411480"/>
          </a:xfrm>
          <a:prstGeom prst="rect">
            <a:avLst/>
          </a:prstGeom>
        </p:spPr>
      </p:pic>
      <p:sp>
        <p:nvSpPr>
          <p:cNvPr id="14" name="Text 10"/>
          <p:cNvSpPr txBox="1"/>
          <p:nvPr/>
        </p:nvSpPr>
        <p:spPr>
          <a:xfrm>
            <a:off x="7589520" y="160020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think only when a free check fails; no training: 87% vs 74% (208 problems)</a:t>
            </a:r>
            <a:endParaRPr lang="en-US" sz="1500" dirty="0"/>
          </a:p>
        </p:txBody>
      </p:sp>
      <p:sp>
        <p:nvSpPr>
          <p:cNvPr id="15" name="Text 11"/>
          <p:cNvSpPr txBox="1"/>
          <p:nvPr/>
        </p:nvSpPr>
        <p:spPr>
          <a:xfrm>
            <a:off x="548640" y="242316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to give</a:t>
            </a:r>
            <a:endParaRPr lang="en-US" sz="1600" dirty="0"/>
          </a:p>
        </p:txBody>
      </p:sp>
      <p:sp>
        <p:nvSpPr>
          <p:cNvPr id="16" name="box "/>
          <p:cNvSpPr/>
          <p:nvPr/>
        </p:nvSpPr>
        <p:spPr>
          <a:xfrm>
            <a:off x="2103120" y="2423160"/>
            <a:ext cx="4206240" cy="685800"/>
          </a:xfrm>
          <a:prstGeom prst="roundRect">
            <a:avLst>
              <a:gd name="adj" fmla="val 8000"/>
            </a:avLst>
          </a:prstGeom>
          <a:solidFill>
            <a:srgbClr val="F2F2F2"/>
          </a:solidFill>
          <a:ln w="9525">
            <a:solidFill>
              <a:srgbClr val="BFBFBF"/>
            </a:solidFill>
            <a:prstDash val="solid"/>
          </a:ln>
        </p:spPr>
      </p:sp>
      <p:sp>
        <p:nvSpPr>
          <p:cNvPr id="17" name="Text 13"/>
          <p:cNvSpPr txBox="1"/>
          <p:nvPr/>
        </p:nvSpPr>
        <p:spPr>
          <a:xfrm>
            <a:off x="2176272" y="242316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18" name="usual icon 1" descr="/NAS/SJ/POSTECH/nlp/figs/icons/page.png">    </p:cNvPr>
          <p:cNvPicPr>
            <a:picLocks noChangeAspect="1"/>
          </p:cNvPicPr>
          <p:nvPr/>
        </p:nvPicPr>
        <p:blipFill>
          <a:blip r:embed="rId3"/>
          <a:stretch>
            <a:fillRect/>
          </a:stretch>
        </p:blipFill>
        <p:spPr>
          <a:xfrm>
            <a:off x="2212848" y="2560320"/>
            <a:ext cx="411480" cy="411480"/>
          </a:xfrm>
          <a:prstGeom prst="rect">
            <a:avLst/>
          </a:prstGeom>
        </p:spPr>
      </p:pic>
      <p:sp>
        <p:nvSpPr>
          <p:cNvPr id="19" name="Text 14"/>
          <p:cNvSpPr txBox="1"/>
          <p:nvPr/>
        </p:nvSpPr>
        <p:spPr>
          <a:xfrm>
            <a:off x="2743200" y="2423160"/>
            <a:ext cx="3474720" cy="685800"/>
          </a:xfrm>
          <a:prstGeom prst="rect">
            <a:avLst/>
          </a:prstGeom>
          <a:noFill/>
          <a:ln/>
        </p:spPr>
        <p:txBody>
          <a:bodyPr wrap="square" lIns="0" tIns="0" rIns="0" bIns="0" rtlCol="0" anchor="ctr"/>
          <a:lstStyle/>
          <a:p>
            <a:pPr indent="0" marL="0">
              <a:buNone/>
            </a:pPr>
            <a:r>
              <a:rPr lang="en-US" sz="1500" dirty="0">
                <a:solidFill>
                  <a:srgbClr val="404040"/>
                </a:solidFill>
              </a:rPr>
              <a:t>the whole manual, or programs from a bigger model checked with answers</a:t>
            </a:r>
            <a:endParaRPr lang="en-US" sz="1500" dirty="0"/>
          </a:p>
        </p:txBody>
      </p:sp>
      <p:sp>
        <p:nvSpPr>
          <p:cNvPr id="20" name="arrow 1"/>
          <p:cNvSpPr/>
          <p:nvPr/>
        </p:nvSpPr>
        <p:spPr>
          <a:xfrm>
            <a:off x="6400800" y="2606040"/>
            <a:ext cx="457200" cy="329184"/>
          </a:xfrm>
          <a:prstGeom prst="rightArrow">
            <a:avLst/>
          </a:prstGeom>
          <a:solidFill>
            <a:srgbClr val="4472C4"/>
          </a:solidFill>
          <a:ln w="12700">
            <a:solidFill>
              <a:srgbClr val="4472C4"/>
            </a:solidFill>
            <a:prstDash val="solid"/>
          </a:ln>
        </p:spPr>
      </p:sp>
      <p:sp>
        <p:nvSpPr>
          <p:cNvPr id="21" name="box "/>
          <p:cNvSpPr/>
          <p:nvPr/>
        </p:nvSpPr>
        <p:spPr>
          <a:xfrm>
            <a:off x="6949440" y="2423160"/>
            <a:ext cx="4663440" cy="685800"/>
          </a:xfrm>
          <a:prstGeom prst="roundRect">
            <a:avLst>
              <a:gd name="adj" fmla="val 8000"/>
            </a:avLst>
          </a:prstGeom>
          <a:solidFill>
            <a:srgbClr val="DEEBF7"/>
          </a:solidFill>
          <a:ln w="9525">
            <a:solidFill>
              <a:srgbClr val="BFBFBF"/>
            </a:solidFill>
            <a:prstDash val="solid"/>
          </a:ln>
        </p:spPr>
      </p:sp>
      <p:sp>
        <p:nvSpPr>
          <p:cNvPr id="22" name="Text 17"/>
          <p:cNvSpPr txBox="1"/>
          <p:nvPr/>
        </p:nvSpPr>
        <p:spPr>
          <a:xfrm>
            <a:off x="7022592" y="242316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23" name="ours icon 1" descr="/NAS/SJ/POSTECH/nlp/figs/icons/fact.png">    </p:cNvPr>
          <p:cNvPicPr>
            <a:picLocks noChangeAspect="1"/>
          </p:cNvPicPr>
          <p:nvPr/>
        </p:nvPicPr>
        <p:blipFill>
          <a:blip r:embed="rId4"/>
          <a:stretch>
            <a:fillRect/>
          </a:stretch>
        </p:blipFill>
        <p:spPr>
          <a:xfrm>
            <a:off x="7059168" y="2560320"/>
            <a:ext cx="411480" cy="411480"/>
          </a:xfrm>
          <a:prstGeom prst="rect">
            <a:avLst/>
          </a:prstGeom>
        </p:spPr>
      </p:pic>
      <p:sp>
        <p:nvSpPr>
          <p:cNvPr id="24" name="Text 18"/>
          <p:cNvSpPr txBox="1"/>
          <p:nvPr/>
        </p:nvSpPr>
        <p:spPr>
          <a:xfrm>
            <a:off x="7589520" y="242316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one short hint: the model's own program that passed the check; no answers</a:t>
            </a:r>
            <a:endParaRPr lang="en-US" sz="1500" dirty="0"/>
          </a:p>
        </p:txBody>
      </p:sp>
      <p:sp>
        <p:nvSpPr>
          <p:cNvPr id="25" name="Text 19"/>
          <p:cNvSpPr txBox="1"/>
          <p:nvPr/>
        </p:nvSpPr>
        <p:spPr>
          <a:xfrm>
            <a:off x="548640" y="3246120"/>
            <a:ext cx="1463040" cy="685800"/>
          </a:xfrm>
          <a:prstGeom prst="rect">
            <a:avLst/>
          </a:prstGeom>
          <a:noFill/>
          <a:ln/>
        </p:spPr>
        <p:txBody>
          <a:bodyPr wrap="square" lIns="0" tIns="0" rIns="0" bIns="0" rtlCol="0" anchor="ctr"/>
          <a:lstStyle/>
          <a:p>
            <a:pPr indent="0" marL="0">
              <a:buNone/>
            </a:pPr>
            <a:r>
              <a:rPr lang="en-US" sz="1600" b="1" dirty="0">
                <a:solidFill>
                  <a:schemeClr val="tx1"/>
                </a:solidFill>
              </a:rPr>
              <a:t>What it costs</a:t>
            </a:r>
            <a:endParaRPr lang="en-US" sz="1600" dirty="0"/>
          </a:p>
        </p:txBody>
      </p:sp>
      <p:sp>
        <p:nvSpPr>
          <p:cNvPr id="26" name="box "/>
          <p:cNvSpPr/>
          <p:nvPr/>
        </p:nvSpPr>
        <p:spPr>
          <a:xfrm>
            <a:off x="2103120" y="3246120"/>
            <a:ext cx="4206240" cy="685800"/>
          </a:xfrm>
          <a:prstGeom prst="roundRect">
            <a:avLst>
              <a:gd name="adj" fmla="val 8000"/>
            </a:avLst>
          </a:prstGeom>
          <a:solidFill>
            <a:srgbClr val="F2F2F2"/>
          </a:solidFill>
          <a:ln w="9525">
            <a:solidFill>
              <a:srgbClr val="BFBFBF"/>
            </a:solidFill>
            <a:prstDash val="solid"/>
          </a:ln>
        </p:spPr>
      </p:sp>
      <p:sp>
        <p:nvSpPr>
          <p:cNvPr id="27" name="Text 21"/>
          <p:cNvSpPr txBox="1"/>
          <p:nvPr/>
        </p:nvSpPr>
        <p:spPr>
          <a:xfrm>
            <a:off x="2176272" y="3246120"/>
            <a:ext cx="4059936" cy="685800"/>
          </a:xfrm>
          <a:prstGeom prst="rect">
            <a:avLst/>
          </a:prstGeom>
          <a:noFill/>
          <a:ln/>
        </p:spPr>
        <p:txBody>
          <a:bodyPr wrap="square" lIns="0" tIns="0" rIns="0" bIns="0" rtlCol="0" anchor="ctr"/>
          <a:lstStyle/>
          <a:p>
            <a:pPr algn="ctr" indent="0" marL="0">
              <a:buNone/>
            </a:pPr>
            <a:endParaRPr lang="en-US" sz="1500" dirty="0"/>
          </a:p>
        </p:txBody>
      </p:sp>
      <p:pic>
        <p:nvPicPr>
          <p:cNvPr id="28" name="usual icon 2" descr="/NAS/SJ/POSTECH/nlp/figs/icons/robot.png">    </p:cNvPr>
          <p:cNvPicPr>
            <a:picLocks noChangeAspect="1"/>
          </p:cNvPicPr>
          <p:nvPr/>
        </p:nvPicPr>
        <p:blipFill>
          <a:blip r:embed="rId5"/>
          <a:stretch>
            <a:fillRect/>
          </a:stretch>
        </p:blipFill>
        <p:spPr>
          <a:xfrm>
            <a:off x="2212848" y="3383280"/>
            <a:ext cx="411480" cy="411480"/>
          </a:xfrm>
          <a:prstGeom prst="rect">
            <a:avLst/>
          </a:prstGeom>
        </p:spPr>
      </p:pic>
      <p:sp>
        <p:nvSpPr>
          <p:cNvPr id="29" name="Text 22"/>
          <p:cNvSpPr txBox="1"/>
          <p:nvPr/>
        </p:nvSpPr>
        <p:spPr>
          <a:xfrm>
            <a:off x="2743200" y="3246120"/>
            <a:ext cx="3474720" cy="685800"/>
          </a:xfrm>
          <a:prstGeom prst="rect">
            <a:avLst/>
          </a:prstGeom>
          <a:noFill/>
          <a:ln/>
        </p:spPr>
        <p:txBody>
          <a:bodyPr wrap="square" lIns="0" tIns="0" rIns="0" bIns="0" rtlCol="0" anchor="ctr"/>
          <a:lstStyle/>
          <a:p>
            <a:pPr indent="0" marL="0">
              <a:buNone/>
            </a:pPr>
            <a:r>
              <a:rPr lang="en-US" sz="1500" dirty="0">
                <a:solidFill>
                  <a:srgbClr val="404040"/>
                </a:solidFill>
              </a:rPr>
              <a:t>fine-tune a specialist (ORLM-8B): 69.5% on MAMO</a:t>
            </a:r>
            <a:endParaRPr lang="en-US" sz="1500" dirty="0"/>
          </a:p>
        </p:txBody>
      </p:sp>
      <p:sp>
        <p:nvSpPr>
          <p:cNvPr id="30" name="arrow 2"/>
          <p:cNvSpPr/>
          <p:nvPr/>
        </p:nvSpPr>
        <p:spPr>
          <a:xfrm>
            <a:off x="6400800" y="3429000"/>
            <a:ext cx="457200" cy="329184"/>
          </a:xfrm>
          <a:prstGeom prst="rightArrow">
            <a:avLst/>
          </a:prstGeom>
          <a:solidFill>
            <a:srgbClr val="4472C4"/>
          </a:solidFill>
          <a:ln w="12700">
            <a:solidFill>
              <a:srgbClr val="4472C4"/>
            </a:solidFill>
            <a:prstDash val="solid"/>
          </a:ln>
        </p:spPr>
      </p:sp>
      <p:sp>
        <p:nvSpPr>
          <p:cNvPr id="31" name="box "/>
          <p:cNvSpPr/>
          <p:nvPr/>
        </p:nvSpPr>
        <p:spPr>
          <a:xfrm>
            <a:off x="6949440" y="3246120"/>
            <a:ext cx="4663440" cy="685800"/>
          </a:xfrm>
          <a:prstGeom prst="roundRect">
            <a:avLst>
              <a:gd name="adj" fmla="val 8000"/>
            </a:avLst>
          </a:prstGeom>
          <a:solidFill>
            <a:srgbClr val="DEEBF7"/>
          </a:solidFill>
          <a:ln w="9525">
            <a:solidFill>
              <a:srgbClr val="BFBFBF"/>
            </a:solidFill>
            <a:prstDash val="solid"/>
          </a:ln>
        </p:spPr>
      </p:sp>
      <p:sp>
        <p:nvSpPr>
          <p:cNvPr id="32" name="Text 25"/>
          <p:cNvSpPr txBox="1"/>
          <p:nvPr/>
        </p:nvSpPr>
        <p:spPr>
          <a:xfrm>
            <a:off x="7022592" y="3246120"/>
            <a:ext cx="4517136" cy="685800"/>
          </a:xfrm>
          <a:prstGeom prst="rect">
            <a:avLst/>
          </a:prstGeom>
          <a:noFill/>
          <a:ln/>
        </p:spPr>
        <p:txBody>
          <a:bodyPr wrap="square" lIns="0" tIns="0" rIns="0" bIns="0" rtlCol="0" anchor="ctr"/>
          <a:lstStyle/>
          <a:p>
            <a:pPr algn="ctr" indent="0" marL="0">
              <a:buNone/>
            </a:pPr>
            <a:endParaRPr lang="en-US" sz="1500" dirty="0"/>
          </a:p>
        </p:txBody>
      </p:sp>
      <p:pic>
        <p:nvPicPr>
          <p:cNvPr id="33" name="ours icon 2" descr="/NAS/SJ/POSTECH/nlp/figs/icons/gpu.png">    </p:cNvPr>
          <p:cNvPicPr>
            <a:picLocks noChangeAspect="1"/>
          </p:cNvPicPr>
          <p:nvPr/>
        </p:nvPicPr>
        <p:blipFill>
          <a:blip r:embed="rId6"/>
          <a:stretch>
            <a:fillRect/>
          </a:stretch>
        </p:blipFill>
        <p:spPr>
          <a:xfrm>
            <a:off x="7059168" y="3383280"/>
            <a:ext cx="411480" cy="411480"/>
          </a:xfrm>
          <a:prstGeom prst="rect">
            <a:avLst/>
          </a:prstGeom>
        </p:spPr>
      </p:pic>
      <p:sp>
        <p:nvSpPr>
          <p:cNvPr id="34" name="Text 26"/>
          <p:cNvSpPr txBox="1"/>
          <p:nvPr/>
        </p:nvSpPr>
        <p:spPr>
          <a:xfrm>
            <a:off x="7589520" y="3246120"/>
            <a:ext cx="3931920" cy="685800"/>
          </a:xfrm>
          <a:prstGeom prst="rect">
            <a:avLst/>
          </a:prstGeom>
          <a:noFill/>
          <a:ln/>
        </p:spPr>
        <p:txBody>
          <a:bodyPr wrap="square" lIns="0" tIns="0" rIns="0" bIns="0" rtlCol="0" anchor="ctr"/>
          <a:lstStyle/>
          <a:p>
            <a:pPr indent="0" marL="0">
              <a:buNone/>
            </a:pPr>
            <a:r>
              <a:rPr lang="en-US" sz="1500" b="1" dirty="0">
                <a:solidFill>
                  <a:srgbClr val="1F3864"/>
                </a:solidFill>
              </a:rPr>
              <a:t>untrained Qwen3-8B + that hint, one 24 GB GPU: the same 69.5%</a:t>
            </a:r>
            <a:endParaRPr lang="en-US" sz="1500" dirty="0"/>
          </a:p>
        </p:txBody>
      </p:sp>
      <p:sp>
        <p:nvSpPr>
          <p:cNvPr id="35" name="Text 27"/>
          <p:cNvSpPr txBox="1"/>
          <p:nvPr/>
        </p:nvSpPr>
        <p:spPr>
          <a:xfrm>
            <a:off x="548640" y="4114800"/>
            <a:ext cx="11064240" cy="365760"/>
          </a:xfrm>
          <a:prstGeom prst="rect">
            <a:avLst/>
          </a:prstGeom>
          <a:noFill/>
          <a:ln/>
        </p:spPr>
        <p:txBody>
          <a:bodyPr wrap="square" lIns="0" tIns="0" rIns="0" bIns="0" rtlCol="0" anchor="ctr"/>
          <a:lstStyle/>
          <a:p>
            <a:pPr indent="0" marL="0">
              <a:buNone/>
            </a:pPr>
            <a:r>
              <a:rPr lang="en-US" sz="1600" b="1" dirty="0">
                <a:solidFill>
                  <a:schemeClr val="tx1"/>
                </a:solidFill>
              </a:rPr>
              <a:t>Next: get the hints and run the checks better and cheaper</a:t>
            </a:r>
            <a:endParaRPr lang="en-US" sz="1600" dirty="0"/>
          </a:p>
        </p:txBody>
      </p:sp>
      <p:sp>
        <p:nvSpPr>
          <p:cNvPr id="36" name="Shape 28"/>
          <p:cNvSpPr/>
          <p:nvPr/>
        </p:nvSpPr>
        <p:spPr>
          <a:xfrm>
            <a:off x="2194560" y="4800600"/>
            <a:ext cx="7772400" cy="0"/>
          </a:xfrm>
          <a:prstGeom prst="line">
            <a:avLst/>
          </a:prstGeom>
          <a:noFill/>
          <a:ln w="38100">
            <a:solidFill>
              <a:srgbClr val="BFBFBF"/>
            </a:solidFill>
            <a:prstDash val="solid"/>
          </a:ln>
        </p:spPr>
      </p:sp>
      <p:sp>
        <p:nvSpPr>
          <p:cNvPr id="37" name="milestone 0"/>
          <p:cNvSpPr/>
          <p:nvPr/>
        </p:nvSpPr>
        <p:spPr>
          <a:xfrm>
            <a:off x="1920240" y="4526280"/>
            <a:ext cx="548640" cy="548640"/>
          </a:xfrm>
          <a:prstGeom prst="ellipse">
            <a:avLst/>
          </a:prstGeom>
          <a:solidFill>
            <a:srgbClr val="FFFFFF"/>
          </a:solidFill>
          <a:ln w="25400">
            <a:solidFill>
              <a:srgbClr val="4472C4"/>
            </a:solidFill>
            <a:prstDash val="solid"/>
          </a:ln>
        </p:spPr>
      </p:sp>
      <p:pic>
        <p:nvPicPr>
          <p:cNvPr id="38" name="milestone icon 0" descr="/NAS/SJ/POSTECH/nlp/figs/icons/fact.png">    </p:cNvPr>
          <p:cNvPicPr>
            <a:picLocks noChangeAspect="1"/>
          </p:cNvPicPr>
          <p:nvPr/>
        </p:nvPicPr>
        <p:blipFill>
          <a:blip r:embed="rId7"/>
          <a:stretch>
            <a:fillRect/>
          </a:stretch>
        </p:blipFill>
        <p:spPr>
          <a:xfrm>
            <a:off x="2020824" y="4626864"/>
            <a:ext cx="347472" cy="347472"/>
          </a:xfrm>
          <a:prstGeom prst="rect">
            <a:avLst/>
          </a:prstGeom>
        </p:spPr>
      </p:pic>
      <p:sp>
        <p:nvSpPr>
          <p:cNvPr id="39" name="Text 30"/>
          <p:cNvSpPr txBox="1"/>
          <p:nvPr/>
        </p:nvSpPr>
        <p:spPr>
          <a:xfrm>
            <a:off x="5486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hints: picked automatically for every problem type</a:t>
            </a:r>
            <a:endParaRPr lang="en-US" sz="1500" dirty="0"/>
          </a:p>
        </p:txBody>
      </p:sp>
      <p:sp>
        <p:nvSpPr>
          <p:cNvPr id="40" name="milestone 1"/>
          <p:cNvSpPr/>
          <p:nvPr/>
        </p:nvSpPr>
        <p:spPr>
          <a:xfrm>
            <a:off x="5806440" y="4526280"/>
            <a:ext cx="548640" cy="548640"/>
          </a:xfrm>
          <a:prstGeom prst="ellipse">
            <a:avLst/>
          </a:prstGeom>
          <a:solidFill>
            <a:srgbClr val="FFFFFF"/>
          </a:solidFill>
          <a:ln w="25400">
            <a:solidFill>
              <a:srgbClr val="4472C4"/>
            </a:solidFill>
            <a:prstDash val="solid"/>
          </a:ln>
        </p:spPr>
      </p:sp>
      <p:pic>
        <p:nvPicPr>
          <p:cNvPr id="41" name="milestone icon 1" descr="/NAS/SJ/POSTECH/nlp/figs/icons/check.png">    </p:cNvPr>
          <p:cNvPicPr>
            <a:picLocks noChangeAspect="1"/>
          </p:cNvPicPr>
          <p:nvPr/>
        </p:nvPicPr>
        <p:blipFill>
          <a:blip r:embed="rId8"/>
          <a:stretch>
            <a:fillRect/>
          </a:stretch>
        </p:blipFill>
        <p:spPr>
          <a:xfrm>
            <a:off x="5907024" y="4626864"/>
            <a:ext cx="347472" cy="347472"/>
          </a:xfrm>
          <a:prstGeom prst="rect">
            <a:avLst/>
          </a:prstGeom>
        </p:spPr>
      </p:pic>
      <p:sp>
        <p:nvSpPr>
          <p:cNvPr id="42" name="Text 32"/>
          <p:cNvSpPr txBox="1"/>
          <p:nvPr/>
        </p:nvSpPr>
        <p:spPr>
          <a:xfrm>
            <a:off x="44348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checks: catch more mistakes, without extra tokens</a:t>
            </a:r>
            <a:endParaRPr lang="en-US" sz="1500" dirty="0"/>
          </a:p>
        </p:txBody>
      </p:sp>
      <p:sp>
        <p:nvSpPr>
          <p:cNvPr id="43" name="milestone 2"/>
          <p:cNvSpPr/>
          <p:nvPr/>
        </p:nvSpPr>
        <p:spPr>
          <a:xfrm>
            <a:off x="9692640" y="4526280"/>
            <a:ext cx="548640" cy="548640"/>
          </a:xfrm>
          <a:prstGeom prst="ellipse">
            <a:avLst/>
          </a:prstGeom>
          <a:solidFill>
            <a:srgbClr val="FFFFFF"/>
          </a:solidFill>
          <a:ln w="25400">
            <a:solidFill>
              <a:srgbClr val="4472C4"/>
            </a:solidFill>
            <a:prstDash val="solid"/>
          </a:ln>
        </p:spPr>
      </p:sp>
      <p:pic>
        <p:nvPicPr>
          <p:cNvPr id="44" name="milestone icon 2" descr="/NAS/SJ/POSTECH/nlp/figs/icons/code.png">    </p:cNvPr>
          <p:cNvPicPr>
            <a:picLocks noChangeAspect="1"/>
          </p:cNvPicPr>
          <p:nvPr/>
        </p:nvPicPr>
        <p:blipFill>
          <a:blip r:embed="rId9"/>
          <a:stretch>
            <a:fillRect/>
          </a:stretch>
        </p:blipFill>
        <p:spPr>
          <a:xfrm>
            <a:off x="9793224" y="4626864"/>
            <a:ext cx="347472" cy="347472"/>
          </a:xfrm>
          <a:prstGeom prst="rect">
            <a:avLst/>
          </a:prstGeom>
        </p:spPr>
      </p:pic>
      <p:sp>
        <p:nvSpPr>
          <p:cNvPr id="45" name="Text 34"/>
          <p:cNvSpPr txBox="1"/>
          <p:nvPr/>
        </p:nvSpPr>
        <p:spPr>
          <a:xfrm>
            <a:off x="8321040" y="5102352"/>
            <a:ext cx="3291840" cy="502920"/>
          </a:xfrm>
          <a:prstGeom prst="rect">
            <a:avLst/>
          </a:prstGeom>
          <a:noFill/>
          <a:ln/>
        </p:spPr>
        <p:txBody>
          <a:bodyPr wrap="square" lIns="0" tIns="0" rIns="0" bIns="0" rtlCol="0" anchor="t"/>
          <a:lstStyle/>
          <a:p>
            <a:pPr algn="ctr" indent="0" marL="0">
              <a:buNone/>
            </a:pPr>
            <a:r>
              <a:rPr lang="en-US" sz="1500" dirty="0">
                <a:solidFill>
                  <a:schemeClr val="tx1"/>
                </a:solidFill>
              </a:rPr>
              <a:t>test both on more models; report and code</a:t>
            </a:r>
            <a:endParaRPr lang="en-US" sz="1500" dirty="0"/>
          </a:p>
        </p:txBody>
      </p:sp>
      <p:sp>
        <p:nvSpPr>
          <p:cNvPr id="46" name="Text 35"/>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Takeaway: give a short hint first, and think only where a free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5400" dirty="0">
                <a:solidFill>
                  <a:schemeClr val="tx1"/>
                </a:solidFill>
              </a:rPr>
              <a:t>Thank you</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Questions?</a:t>
            </a:r>
            <a:endParaRPr lang="en-US" sz="2200" dirty="0"/>
          </a:p>
          <a:p>
            <a:pPr algn="ctr" indent="0" marL="0">
              <a:buNone/>
            </a:pPr>
            <a:r>
              <a:rPr lang="en-US" sz="1600" dirty="0">
                <a:solidFill>
                  <a:srgbClr val="44546A"/>
                </a:solidFill>
              </a:rPr>
              <a:t>Team 5: Sangjun Lee, Seongbin Park</a:t>
            </a:r>
            <a:endParaRPr lang="en-US" sz="2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these problems, and how do they differ?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Exact answers that code can grade, a free check for each, and code that agents already write</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1920240"/>
                <a:gridCol w="2286000"/>
                <a:gridCol w="2286000"/>
                <a:gridCol w="2286000"/>
                <a:gridCol w="2286000"/>
              </a:tblGrid>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FFFFFF"/>
                    </a:solidFill>
                  </a:tcPr>
                </a:tc>
                <a:tc gridSpan="2">
                  <a:txBody>
                    <a:bodyPr/>
                    <a:lstStyle/>
                    <a:p>
                      <a:pPr algn="ctr" indent="0" marL="0">
                        <a:buNone/>
                      </a:pPr>
                      <a:r>
                        <a:rPr lang="en-US" sz="1300" b="1" dirty="0">
                          <a:solidFill>
                            <a:srgbClr val="FFFFFF"/>
                          </a:solidFill>
                        </a:rPr>
                        <a:t>needs the right algorithm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hMerge="1">
                  <a:tcPr/>
                </a:tc>
                <a:tc gridSpan="2">
                  <a:txBody>
                    <a:bodyPr/>
                    <a:lstStyle/>
                    <a:p>
                      <a:pPr algn="ctr" indent="0" marL="0">
                        <a:buNone/>
                      </a:pPr>
                      <a:r>
                        <a:rPr lang="en-US" sz="1300" b="1" dirty="0">
                          <a:solidFill>
                            <a:srgbClr val="FFFFFF"/>
                          </a:solidFill>
                        </a:rPr>
                        <a:t>needs the right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38761D"/>
                    </a:solidFill>
                  </a:tcPr>
                </a:tc>
                <a:tc hMerge="1">
                  <a:tcPr/>
                </a:tc>
              </a:tr>
              <a:tr h="438912">
                <a:tc>
                  <a:txBody>
                    <a:bodyPr/>
                    <a:lstStyle/>
                    <a:p>
                      <a:pPr indent="0" marL="0">
                        <a:buNone/>
                      </a:pP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Contest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Routing, scheduling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Word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438912">
                <a:tc>
                  <a:txBody>
                    <a:bodyPr/>
                    <a:lstStyle/>
                    <a:p>
                      <a:pPr indent="0" marL="0">
                        <a:buNone/>
                      </a:pPr>
                      <a:r>
                        <a:rPr lang="en-US" sz="1300" b="1" dirty="0">
                          <a:solidFill>
                            <a:schemeClr val="tx1"/>
                          </a:solidFill>
                        </a:rPr>
                        <a:t>Input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points, polygons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story with an input format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data: customers, loads, time windows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paragraph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The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textbook algorithm in plain Python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harder algorithm (Codeforces Master level)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call to a solver library (OR-Tools)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text → equations, then a solver call</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move or turn the input; two versions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examples; a brute-force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 checks every rule of the plan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two programs must agree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Typical failure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wrong method, steered by offered tools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wrong reasoning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library name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an invented name, or a wrong model of the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What helps most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a free check, then 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think only when the check fails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exact usage; reuse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the hint, then the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438912">
                <a:tc>
                  <a:txBody>
                    <a:bodyPr/>
                    <a:lstStyle/>
                    <a:p>
                      <a:pPr indent="0" marL="0">
                        <a:buNone/>
                      </a:pPr>
                      <a:r>
                        <a:rPr lang="en-US" sz="1300" b="1" dirty="0">
                          <a:solidFill>
                            <a:schemeClr val="tx1"/>
                          </a:solidFill>
                        </a:rPr>
                        <a:t>Size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108 problems (9 tasks)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311 problems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100 (8 types) + 56 Solomon + 82 job-shop</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1,208 (NL4OPT, IndustryOR, MAMO)</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Two needs, an algorithm or a library hint, so we can see where extra effort pays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do the findings cover every kind?</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Where each result was measured (models and numbers as on the talk slides)</a:t>
            </a:r>
            <a:endParaRPr lang="en-US" sz="17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691640"/>
          <a:ext cx="11064240" cy="914400"/>
        </p:xfrm>
        <a:graphic>
          <a:graphicData uri="http://schemas.openxmlformats.org/drawingml/2006/table">
            <a:tbl>
              <a:tblPr/>
              <a:tblGrid>
                <a:gridCol w="2286000"/>
                <a:gridCol w="2194560"/>
                <a:gridCol w="2194560"/>
                <a:gridCol w="2194560"/>
                <a:gridCol w="2194560"/>
              </a:tblGrid>
              <a:tr h="411480">
                <a:tc>
                  <a:txBody>
                    <a:bodyPr/>
                    <a:lstStyle/>
                    <a:p>
                      <a:pPr indent="0" marL="0">
                        <a:buNone/>
                      </a:pP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Contest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Routing, scheduling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400" b="1" dirty="0">
                          <a:solidFill>
                            <a:srgbClr val="FFFFFF"/>
                          </a:solidFill>
                        </a:rPr>
                        <a:t>Word problems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77240">
                <a:tc>
                  <a:txBody>
                    <a:bodyPr/>
                    <a:lstStyle/>
                    <a:p>
                      <a:pPr indent="0" marL="0">
                        <a:buNone/>
                      </a:pPr>
                      <a:r>
                        <a:rPr lang="en-US" sz="1400" b="1" dirty="0">
                          <a:solidFill>
                            <a:schemeClr val="tx1"/>
                          </a:solidFill>
                        </a:rPr>
                        <a:t>Give the hint</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only the needed tools: 92% vs 75%</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00000"/>
                          </a:solidFill>
                        </a:rPr>
                        <a:t>✗ no library to hint; 8 geometry helpers hurt: 37.7% → 33.4% (gpt-oss-20b)</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23% → 77–90%; 6% → 100% valid plans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65% → 72%; small models +44 points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Free check, think on failure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99% @ 4.3k vs 98% @ 5.9k</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66.3% @ 24.7k vs 66.2% @ 30.1k (examples + brute force)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part of the 87% below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beats always thinking at 12–22% of its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77240">
                <a:tc>
                  <a:txBody>
                    <a:bodyPr/>
                    <a:lstStyle/>
                    <a:p>
                      <a:pPr indent="0" marL="0">
                        <a:buNone/>
                      </a:pPr>
                      <a:r>
                        <a:rPr lang="en-US" sz="1400" b="1" dirty="0">
                          <a:solidFill>
                            <a:schemeClr val="tx1"/>
                          </a:solidFill>
                        </a:rPr>
                        <a:t>Whole recipe</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routing</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C55A11"/>
                          </a:solidFill>
                        </a:rPr>
                        <a:t>~ steps 3–4 only (no library, so no hint): same 66% at 18% fewer tokens</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87% @ 2.5k vs 74% @ 4.1k, with geometry</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held-out MAMO: automatic hint = hand-written</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400" b="1" dirty="0">
                          <a:solidFill>
                            <a:schemeClr val="tx1"/>
                          </a:solidFill>
                        </a:rPr>
                        <a:t>Reuse a checked program</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each problem is new</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38761D"/>
                          </a:solidFill>
                        </a:rPr>
                        <a:t>✓ 94% vs 7% of days valid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400" dirty="0">
                          <a:solidFill>
                            <a:srgbClr val="8C8C8C"/>
                          </a:solidFill>
                        </a:rPr>
                        <a:t>– not tested</a:t>
                      </a:r>
                      <a:endParaRPr lang="en-US" sz="14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5" name="Text 2"/>
          <p:cNvSpPr txBox="1"/>
          <p:nvPr/>
        </p:nvSpPr>
        <p:spPr>
          <a:xfrm>
            <a:off x="548640" y="5257800"/>
            <a:ext cx="11064240" cy="365760"/>
          </a:xfrm>
          <a:prstGeom prst="rect">
            <a:avLst/>
          </a:prstGeom>
          <a:noFill/>
          <a:ln/>
        </p:spPr>
        <p:txBody>
          <a:bodyPr wrap="square" lIns="0" tIns="0" rIns="0" bIns="0" rtlCol="0" anchor="ctr"/>
          <a:lstStyle/>
          <a:p>
            <a:pPr indent="0" marL="0">
              <a:buNone/>
            </a:pPr>
            <a:r>
              <a:rPr lang="en-US" sz="1400" dirty="0">
                <a:solidFill>
                  <a:schemeClr val="tx2"/>
                </a:solidFill>
              </a:rPr>
              <a:t>✓ holds   ~ partly   ✗ does not help   – not tested.   The 87% pools 108 geometry and 100 optimization problems, each solved by 3 models.</a:t>
            </a:r>
            <a:endParaRPr lang="en-US" sz="1400" dirty="0"/>
          </a:p>
        </p:txBody>
      </p:sp>
      <p:sp>
        <p:nvSpPr>
          <p:cNvPr id="6" name="Text 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Contest problems need no library, so no hint: the check and thinking alone, at 18% fewer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how hard, by contest ranks and exams</a:t>
            </a:r>
            <a:endParaRPr lang="en-US" sz="3600" dirty="0"/>
          </a:p>
        </p:txBody>
      </p:sp>
      <p:sp>
        <p:nvSpPr>
          <p:cNvPr id="3" name="kind Geometry"/>
          <p:cNvSpPr/>
          <p:nvPr/>
        </p:nvSpPr>
        <p:spPr>
          <a:xfrm>
            <a:off x="548640" y="1188720"/>
            <a:ext cx="2651760" cy="2148840"/>
          </a:xfrm>
          <a:prstGeom prst="roundRect">
            <a:avLst>
              <a:gd name="adj" fmla="val 3404"/>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Geometry</a:t>
            </a:r>
            <a:endParaRPr lang="en-US" sz="1600" dirty="0"/>
          </a:p>
        </p:txBody>
      </p:sp>
      <p:sp>
        <p:nvSpPr>
          <p:cNvPr id="6" name="Text 3"/>
          <p:cNvSpPr txBox="1"/>
          <p:nvPr/>
        </p:nvSpPr>
        <p:spPr>
          <a:xfrm>
            <a:off x="685800"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How many corners does the rubber band around 10 points have?</a:t>
            </a:r>
            <a:endParaRPr lang="en-US" sz="1400" dirty="0"/>
          </a:p>
        </p:txBody>
      </p:sp>
      <p:sp>
        <p:nvSpPr>
          <p:cNvPr id="7" name="tag Geometry"/>
          <p:cNvSpPr/>
          <p:nvPr/>
        </p:nvSpPr>
        <p:spPr>
          <a:xfrm>
            <a:off x="640080" y="2697480"/>
            <a:ext cx="246888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2377440" cy="548640"/>
          </a:xfrm>
          <a:prstGeom prst="rect">
            <a:avLst/>
          </a:prstGeom>
          <a:noFill/>
          <a:ln/>
        </p:spPr>
        <p:txBody>
          <a:bodyPr wrap="square" lIns="0" tIns="0" rIns="0" bIns="0" rtlCol="0" anchor="ctr"/>
          <a:lstStyle/>
          <a:p>
            <a:pPr algn="ctr" indent="0" marL="0">
              <a:buNone/>
            </a:pPr>
            <a:r>
              <a:rPr lang="en-US" sz="1300" b="1" dirty="0">
                <a:solidFill>
                  <a:srgbClr val="4472C4"/>
                </a:solidFill>
              </a:rPr>
              <a:t>textbook algorithms, exact on every copy</a:t>
            </a:r>
            <a:endParaRPr lang="en-US" sz="1300" dirty="0"/>
          </a:p>
        </p:txBody>
      </p:sp>
      <p:sp>
        <p:nvSpPr>
          <p:cNvPr id="9" name="kind Contest problems"/>
          <p:cNvSpPr/>
          <p:nvPr/>
        </p:nvSpPr>
        <p:spPr>
          <a:xfrm>
            <a:off x="3355848" y="1188720"/>
            <a:ext cx="2651760" cy="2148840"/>
          </a:xfrm>
          <a:prstGeom prst="roundRect">
            <a:avLst>
              <a:gd name="adj" fmla="val 3404"/>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3493008" y="1298448"/>
            <a:ext cx="438912" cy="438912"/>
          </a:xfrm>
          <a:prstGeom prst="rect">
            <a:avLst/>
          </a:prstGeom>
        </p:spPr>
      </p:pic>
      <p:sp>
        <p:nvSpPr>
          <p:cNvPr id="11" name="Text 7"/>
          <p:cNvSpPr txBox="1"/>
          <p:nvPr/>
        </p:nvSpPr>
        <p:spPr>
          <a:xfrm>
            <a:off x="3995928"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Contest problems</a:t>
            </a:r>
            <a:endParaRPr lang="en-US" sz="1600" dirty="0"/>
          </a:p>
        </p:txBody>
      </p:sp>
      <p:sp>
        <p:nvSpPr>
          <p:cNvPr id="12" name="Text 8"/>
          <p:cNvSpPr txBox="1"/>
          <p:nvPr/>
        </p:nvSpPr>
        <p:spPr>
          <a:xfrm>
            <a:off x="3493008"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311 Codeforces geometry problems, hidden tests</a:t>
            </a:r>
            <a:endParaRPr lang="en-US" sz="1400" dirty="0"/>
          </a:p>
        </p:txBody>
      </p:sp>
      <p:sp>
        <p:nvSpPr>
          <p:cNvPr id="13" name="tag Contest problems"/>
          <p:cNvSpPr/>
          <p:nvPr/>
        </p:nvSpPr>
        <p:spPr>
          <a:xfrm>
            <a:off x="3447288" y="2697480"/>
            <a:ext cx="246888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3493008" y="2697480"/>
            <a:ext cx="2377440" cy="548640"/>
          </a:xfrm>
          <a:prstGeom prst="rect">
            <a:avLst/>
          </a:prstGeom>
          <a:noFill/>
          <a:ln/>
        </p:spPr>
        <p:txBody>
          <a:bodyPr wrap="square" lIns="0" tIns="0" rIns="0" bIns="0" rtlCol="0" anchor="ctr"/>
          <a:lstStyle/>
          <a:p>
            <a:pPr algn="ctr" indent="0" marL="0">
              <a:buNone/>
            </a:pPr>
            <a:r>
              <a:rPr lang="en-US" sz="1300" b="1" dirty="0">
                <a:solidFill>
                  <a:srgbClr val="C00000"/>
                </a:solidFill>
              </a:rPr>
              <a:t>Codeforces Master to Grandmaster level</a:t>
            </a:r>
            <a:endParaRPr lang="en-US" sz="1300" dirty="0"/>
          </a:p>
        </p:txBody>
      </p:sp>
      <p:sp>
        <p:nvSpPr>
          <p:cNvPr id="15" name="kind Routing, scheduling"/>
          <p:cNvSpPr/>
          <p:nvPr/>
        </p:nvSpPr>
        <p:spPr>
          <a:xfrm>
            <a:off x="6163056" y="1188720"/>
            <a:ext cx="2651760" cy="2148840"/>
          </a:xfrm>
          <a:prstGeom prst="roundRect">
            <a:avLst>
              <a:gd name="adj" fmla="val 3404"/>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6300216" y="1298448"/>
            <a:ext cx="438912" cy="438912"/>
          </a:xfrm>
          <a:prstGeom prst="rect">
            <a:avLst/>
          </a:prstGeom>
        </p:spPr>
      </p:pic>
      <p:sp>
        <p:nvSpPr>
          <p:cNvPr id="17" name="Text 12"/>
          <p:cNvSpPr txBox="1"/>
          <p:nvPr/>
        </p:nvSpPr>
        <p:spPr>
          <a:xfrm>
            <a:off x="6803136"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Routing, scheduling</a:t>
            </a:r>
            <a:endParaRPr lang="en-US" sz="1600" dirty="0"/>
          </a:p>
        </p:txBody>
      </p:sp>
      <p:sp>
        <p:nvSpPr>
          <p:cNvPr id="18" name="Text 13"/>
          <p:cNvSpPr txBox="1"/>
          <p:nvPr/>
        </p:nvSpPr>
        <p:spPr>
          <a:xfrm>
            <a:off x="6300216"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routes for 100 customers with time windows</a:t>
            </a:r>
            <a:endParaRPr lang="en-US" sz="1400" dirty="0"/>
          </a:p>
        </p:txBody>
      </p:sp>
      <p:sp>
        <p:nvSpPr>
          <p:cNvPr id="19" name="tag Routing, scheduling"/>
          <p:cNvSpPr/>
          <p:nvPr/>
        </p:nvSpPr>
        <p:spPr>
          <a:xfrm>
            <a:off x="6254496" y="2697480"/>
            <a:ext cx="246888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6300216" y="2697480"/>
            <a:ext cx="2377440" cy="548640"/>
          </a:xfrm>
          <a:prstGeom prst="rect">
            <a:avLst/>
          </a:prstGeom>
          <a:noFill/>
          <a:ln/>
        </p:spPr>
        <p:txBody>
          <a:bodyPr wrap="square" lIns="0" tIns="0" rIns="0" bIns="0" rtlCol="0" anchor="ctr"/>
          <a:lstStyle/>
          <a:p>
            <a:pPr algn="ctr" indent="0" marL="0">
              <a:buNone/>
            </a:pPr>
            <a:r>
              <a:rPr lang="en-US" sz="1300" b="1" dirty="0">
                <a:solidFill>
                  <a:srgbClr val="ED7D31"/>
                </a:solidFill>
              </a:rPr>
              <a:t>classic OR benchmark: a greedy plan is 48% worse</a:t>
            </a:r>
            <a:endParaRPr lang="en-US" sz="1300" dirty="0"/>
          </a:p>
        </p:txBody>
      </p:sp>
      <p:sp>
        <p:nvSpPr>
          <p:cNvPr id="21" name="kind Word problems"/>
          <p:cNvSpPr/>
          <p:nvPr/>
        </p:nvSpPr>
        <p:spPr>
          <a:xfrm>
            <a:off x="8970264" y="1188720"/>
            <a:ext cx="2651760" cy="2148840"/>
          </a:xfrm>
          <a:prstGeom prst="roundRect">
            <a:avLst>
              <a:gd name="adj" fmla="val 3404"/>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9107424" y="1298448"/>
            <a:ext cx="438912" cy="438912"/>
          </a:xfrm>
          <a:prstGeom prst="rect">
            <a:avLst/>
          </a:prstGeom>
        </p:spPr>
      </p:pic>
      <p:sp>
        <p:nvSpPr>
          <p:cNvPr id="23" name="Text 17"/>
          <p:cNvSpPr txBox="1"/>
          <p:nvPr/>
        </p:nvSpPr>
        <p:spPr>
          <a:xfrm>
            <a:off x="9610344" y="1280160"/>
            <a:ext cx="1965960" cy="502920"/>
          </a:xfrm>
          <a:prstGeom prst="rect">
            <a:avLst/>
          </a:prstGeom>
          <a:noFill/>
          <a:ln/>
        </p:spPr>
        <p:txBody>
          <a:bodyPr wrap="square" lIns="0" tIns="0" rIns="0" bIns="0" rtlCol="0" anchor="ctr"/>
          <a:lstStyle/>
          <a:p>
            <a:pPr indent="0" marL="0">
              <a:buNone/>
            </a:pPr>
            <a:r>
              <a:rPr lang="en-US" sz="1600" b="1" dirty="0">
                <a:solidFill>
                  <a:schemeClr val="tx1"/>
                </a:solidFill>
              </a:rPr>
              <a:t>Word problems</a:t>
            </a:r>
            <a:endParaRPr lang="en-US" sz="1600" dirty="0"/>
          </a:p>
        </p:txBody>
      </p:sp>
      <p:sp>
        <p:nvSpPr>
          <p:cNvPr id="24" name="Text 18"/>
          <p:cNvSpPr txBox="1"/>
          <p:nvPr/>
        </p:nvSpPr>
        <p:spPr>
          <a:xfrm>
            <a:off x="9107424" y="1828800"/>
            <a:ext cx="2377440" cy="822960"/>
          </a:xfrm>
          <a:prstGeom prst="rect">
            <a:avLst/>
          </a:prstGeom>
          <a:noFill/>
          <a:ln/>
        </p:spPr>
        <p:txBody>
          <a:bodyPr wrap="square" lIns="0" tIns="0" rIns="0" bIns="0" rtlCol="0" anchor="t"/>
          <a:lstStyle/>
          <a:p>
            <a:pPr indent="0" marL="0">
              <a:buNone/>
            </a:pPr>
            <a:r>
              <a:rPr lang="en-US" sz="1400" dirty="0">
                <a:solidFill>
                  <a:schemeClr val="tx1"/>
                </a:solidFill>
              </a:rPr>
              <a:t>most coins from 500 gold and 300 wires?</a:t>
            </a:r>
            <a:endParaRPr lang="en-US" sz="1400" dirty="0"/>
          </a:p>
        </p:txBody>
      </p:sp>
      <p:sp>
        <p:nvSpPr>
          <p:cNvPr id="25" name="tag Word problems"/>
          <p:cNvSpPr/>
          <p:nvPr/>
        </p:nvSpPr>
        <p:spPr>
          <a:xfrm>
            <a:off x="9061704" y="2697480"/>
            <a:ext cx="246888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9107424" y="2697480"/>
            <a:ext cx="2377440" cy="548640"/>
          </a:xfrm>
          <a:prstGeom prst="rect">
            <a:avLst/>
          </a:prstGeom>
          <a:noFill/>
          <a:ln/>
        </p:spPr>
        <p:txBody>
          <a:bodyPr wrap="square" lIns="0" tIns="0" rIns="0" bIns="0" rtlCol="0" anchor="ctr"/>
          <a:lstStyle/>
          <a:p>
            <a:pPr algn="ctr" indent="0" marL="0">
              <a:buNone/>
            </a:pPr>
            <a:r>
              <a:rPr lang="en-US" sz="1300" b="1" dirty="0">
                <a:solidFill>
                  <a:srgbClr val="38761D"/>
                </a:solidFill>
              </a:rPr>
              <a:t>OR-course exercises (NL4OPT, NeurIPS 2022)</a:t>
            </a:r>
            <a:endParaRPr lang="en-US" sz="1300" dirty="0"/>
          </a:p>
        </p:txBody>
      </p:sp>
      <p:sp>
        <p:nvSpPr>
          <p:cNvPr id="27" name="Text 21"/>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28"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29" name="Text 23"/>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0"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1" name="Text 25"/>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2"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3" name="Text 27"/>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34"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35" name="Text 29"/>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36"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37" name="Text 31"/>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38"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39" name="Text 33"/>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0" name="Text 34"/>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1"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2" name="Text 36"/>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3" name="Text 37"/>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44"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45" name="Text 39"/>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46" name="Text 40"/>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47"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48" name="Text 42"/>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49" name="Text 43"/>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0"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1" name="Text 45"/>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2" name="Text 46"/>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3"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54" name="Text 48"/>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55" name="Text 49"/>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56"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57" name="Text 51"/>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58" name="Text 52"/>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59" name="Text 53"/>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0" name="Text 5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exactly is the hint? Isn't it the answer?</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The hint for the routing problems of Finding 1: how to call OR-Tools (excerpt of the 11-line snippet)</a:t>
            </a:r>
            <a:endParaRPr lang="en-US" sz="1700" dirty="0"/>
          </a:p>
        </p:txBody>
      </p:sp>
      <p:sp>
        <p:nvSpPr>
          <p:cNvPr id="4" name="the fact, excerpt"/>
          <p:cNvSpPr/>
          <p:nvPr/>
        </p:nvSpPr>
        <p:spPr>
          <a:xfrm>
            <a:off x="548640" y="1783080"/>
            <a:ext cx="6675120" cy="3611880"/>
          </a:xfrm>
          <a:prstGeom prst="rect">
            <a:avLst/>
          </a:prstGeom>
          <a:solidFill>
            <a:srgbClr val="F7F7F7"/>
          </a:solidFill>
          <a:ln w="9525">
            <a:solidFill>
              <a:srgbClr val="BFBFBF"/>
            </a:solidFill>
            <a:prstDash val="solid"/>
          </a:ln>
        </p:spPr>
      </p:sp>
      <p:sp>
        <p:nvSpPr>
          <p:cNvPr id="5" name="Text 3"/>
          <p:cNvSpPr txBox="1"/>
          <p:nvPr/>
        </p:nvSpPr>
        <p:spPr>
          <a:xfrm>
            <a:off x="731520" y="1874520"/>
            <a:ext cx="6400800" cy="3429000"/>
          </a:xfrm>
          <a:prstGeom prst="rect">
            <a:avLst/>
          </a:prstGeom>
          <a:noFill/>
          <a:ln/>
        </p:spPr>
        <p:txBody>
          <a:bodyPr wrap="square" lIns="0" tIns="0" rIns="0" bIns="0" rtlCol="0" anchor="ctr"/>
          <a:lstStyle/>
          <a:p>
            <a:pPr indent="0" marL="0">
              <a:buNone/>
            </a:pPr>
            <a:r>
              <a:rPr lang="en-US" sz="1400" dirty="0">
                <a:solidFill>
                  <a:schemeClr val="tx1"/>
                </a:solidFill>
                <a:latin typeface="Courier New" pitchFamily="34" charset="0"/>
                <a:ea typeface="Courier New" pitchFamily="34" charset="-122"/>
                <a:cs typeface="Courier New" pitchFamily="34" charset="-120"/>
              </a:rPr>
              <a:t>mgr = pywrapcp.RoutingIndexManager(n + 1, K, 0)</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 = pywrapcp.RoutingModel(mgr)</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cb = r.RegisterTransitCallback(cost)</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r.SetArcCostEvaluatorOfAllVehicles(cb)</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dcb = r.RegisterUnaryTransitCallback(demand)</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r.AddDimensionWithVehicleCapacity(dcb, 0, [Q] * K,</a:t>
            </a:r>
            <a:endParaRPr lang="en-US" sz="1400" dirty="0"/>
          </a:p>
          <a:p>
            <a:pPr indent="0" marL="0">
              <a:buNone/>
            </a:pPr>
            <a:r>
              <a:rPr lang="en-US" sz="1400" b="1" dirty="0">
                <a:solidFill>
                  <a:srgbClr val="38761D"/>
                </a:solidFill>
                <a:latin typeface="Courier New" pitchFamily="34" charset="0"/>
                <a:ea typeface="Courier New" pitchFamily="34" charset="-122"/>
                <a:cs typeface="Courier New" pitchFamily="34" charset="-120"/>
              </a:rPr>
              <a:t>                 True, "Load")</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p.first_solution_strategy = ...PATH_CHEAPEST_ARC</a:t>
            </a:r>
            <a:endParaRPr lang="en-US" sz="1400" dirty="0"/>
          </a:p>
          <a:p>
            <a:pPr indent="0" marL="0">
              <a:buNone/>
            </a:pPr>
            <a:r>
              <a:rPr lang="en-US" sz="1400" dirty="0">
                <a:solidFill>
                  <a:schemeClr val="tx1"/>
                </a:solidFill>
                <a:latin typeface="Courier New" pitchFamily="34" charset="0"/>
                <a:ea typeface="Courier New" pitchFamily="34" charset="-122"/>
                <a:cs typeface="Courier New" pitchFamily="34" charset="-120"/>
              </a:rPr>
              <a:t>sol = r.SolveWithParameters(p)</a:t>
            </a:r>
            <a:endParaRPr lang="en-US" sz="1400" dirty="0"/>
          </a:p>
          <a:p>
            <a:pPr indent="0" marL="0">
              <a:buNone/>
            </a:pPr>
            <a:r>
              <a:rPr lang="en-US" sz="1400" dirty="0">
                <a:solidFill>
                  <a:srgbClr val="7F7F7F"/>
                </a:solidFill>
                <a:latin typeface="Courier New" pitchFamily="34" charset="0"/>
                <a:ea typeface="Courier New" pitchFamily="34" charset="-122"/>
                <a:cs typeface="Courier New" pitchFamily="34" charset="-120"/>
              </a:rPr>
              <a:t>...  (11 lines in all)</a:t>
            </a:r>
            <a:endParaRPr lang="en-US" sz="1400" dirty="0"/>
          </a:p>
        </p:txBody>
      </p:sp>
      <p:sp>
        <p:nvSpPr>
          <p:cNvPr id="6" name="Text 4"/>
          <p:cNvSpPr txBox="1"/>
          <p:nvPr/>
        </p:nvSpPr>
        <p:spPr>
          <a:xfrm>
            <a:off x="7498080" y="178308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7" name="Text 5"/>
          <p:cNvSpPr txBox="1"/>
          <p:nvPr/>
        </p:nvSpPr>
        <p:spPr>
          <a:xfrm>
            <a:off x="7818120" y="1783080"/>
            <a:ext cx="3794760" cy="457200"/>
          </a:xfrm>
          <a:prstGeom prst="rect">
            <a:avLst/>
          </a:prstGeom>
          <a:noFill/>
          <a:ln/>
        </p:spPr>
        <p:txBody>
          <a:bodyPr wrap="square" lIns="0" tIns="0" rIns="0" bIns="0" rtlCol="0" anchor="ctr"/>
          <a:lstStyle/>
          <a:p>
            <a:pPr indent="0" marL="0">
              <a:buNone/>
            </a:pPr>
            <a:r>
              <a:rPr lang="en-US" sz="1500" dirty="0">
                <a:solidFill>
                  <a:schemeClr val="tx1"/>
                </a:solidFill>
              </a:rPr>
              <a:t>how to call the library: names and arguments</a:t>
            </a:r>
            <a:endParaRPr lang="en-US" sz="1500" dirty="0"/>
          </a:p>
        </p:txBody>
      </p:sp>
      <p:sp>
        <p:nvSpPr>
          <p:cNvPr id="8" name="Text 6"/>
          <p:cNvSpPr txBox="1"/>
          <p:nvPr/>
        </p:nvSpPr>
        <p:spPr>
          <a:xfrm>
            <a:off x="7498080" y="2286000"/>
            <a:ext cx="32004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7818120" y="2286000"/>
            <a:ext cx="3794760" cy="457200"/>
          </a:xfrm>
          <a:prstGeom prst="rect">
            <a:avLst/>
          </a:prstGeom>
          <a:noFill/>
          <a:ln/>
        </p:spPr>
        <p:txBody>
          <a:bodyPr wrap="square" lIns="0" tIns="0" rIns="0" bIns="0" rtlCol="0" anchor="ctr"/>
          <a:lstStyle/>
          <a:p>
            <a:pPr indent="0" marL="0">
              <a:buNone/>
            </a:pPr>
            <a:r>
              <a:rPr lang="en-US" sz="1500" dirty="0">
                <a:solidFill>
                  <a:schemeClr val="tx1"/>
                </a:solidFill>
              </a:rPr>
              <a:t>the same text for all 30 problems of this kind</a:t>
            </a:r>
            <a:endParaRPr lang="en-US" sz="1500" dirty="0"/>
          </a:p>
        </p:txBody>
      </p:sp>
      <p:sp>
        <p:nvSpPr>
          <p:cNvPr id="10" name="Text 8"/>
          <p:cNvSpPr txBox="1"/>
          <p:nvPr/>
        </p:nvSpPr>
        <p:spPr>
          <a:xfrm>
            <a:off x="7498080" y="2788920"/>
            <a:ext cx="32004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1" name="Text 9"/>
          <p:cNvSpPr txBox="1"/>
          <p:nvPr/>
        </p:nvSpPr>
        <p:spPr>
          <a:xfrm>
            <a:off x="7818120" y="2788920"/>
            <a:ext cx="3794760" cy="457200"/>
          </a:xfrm>
          <a:prstGeom prst="rect">
            <a:avLst/>
          </a:prstGeom>
          <a:noFill/>
          <a:ln/>
        </p:spPr>
        <p:txBody>
          <a:bodyPr wrap="square" lIns="0" tIns="0" rIns="0" bIns="0" rtlCol="0" anchor="ctr"/>
          <a:lstStyle/>
          <a:p>
            <a:pPr indent="0" marL="0">
              <a:buNone/>
            </a:pPr>
            <a:r>
              <a:rPr lang="en-US" sz="1500" dirty="0">
                <a:solidFill>
                  <a:schemeClr val="tx1"/>
                </a:solidFill>
              </a:rPr>
              <a:t>no route, no numbers, no answer</a:t>
            </a:r>
            <a:endParaRPr lang="en-US" sz="1500" dirty="0"/>
          </a:p>
        </p:txBody>
      </p:sp>
      <p:sp>
        <p:nvSpPr>
          <p:cNvPr id="12" name="why the sheet hurts"/>
          <p:cNvSpPr/>
          <p:nvPr/>
        </p:nvSpPr>
        <p:spPr>
          <a:xfrm>
            <a:off x="7498080" y="3429000"/>
            <a:ext cx="4114800" cy="1965960"/>
          </a:xfrm>
          <a:prstGeom prst="roundRect">
            <a:avLst>
              <a:gd name="adj" fmla="val 3721"/>
            </a:avLst>
          </a:prstGeom>
          <a:solidFill>
            <a:srgbClr val="F2F2F2"/>
          </a:solidFill>
          <a:ln w="9525">
            <a:solidFill>
              <a:srgbClr val="D9D9D9"/>
            </a:solidFill>
            <a:prstDash val="solid"/>
          </a:ln>
        </p:spPr>
      </p:sp>
      <p:sp>
        <p:nvSpPr>
          <p:cNvPr id="13" name="Text 11"/>
          <p:cNvSpPr txBox="1"/>
          <p:nvPr/>
        </p:nvSpPr>
        <p:spPr>
          <a:xfrm>
            <a:off x="7680960" y="3520440"/>
            <a:ext cx="3749040" cy="1783080"/>
          </a:xfrm>
          <a:prstGeom prst="rect">
            <a:avLst/>
          </a:prstGeom>
          <a:noFill/>
          <a:ln/>
        </p:spPr>
        <p:txBody>
          <a:bodyPr wrap="square" lIns="0" tIns="0" rIns="0" bIns="0" rtlCol="0" anchor="t"/>
          <a:lstStyle/>
          <a:p>
            <a:pPr indent="0" marL="0">
              <a:buNone/>
            </a:pPr>
            <a:r>
              <a:rPr lang="en-US" sz="1400" b="1" dirty="0">
                <a:solidFill>
                  <a:schemeClr val="tx1"/>
                </a:solidFill>
              </a:rPr>
              <a:t>Why is a long reference sheet worse than nothing (7% vs 23%)?</a:t>
            </a:r>
            <a:endParaRPr lang="en-US" sz="1400" dirty="0"/>
          </a:p>
          <a:p>
            <a:pPr indent="0" marL="0">
              <a:buNone/>
            </a:pPr>
            <a:r>
              <a:rPr lang="en-US" sz="1400" dirty="0">
                <a:solidFill>
                  <a:schemeClr val="tx1"/>
                </a:solidFill>
              </a:rPr>
              <a:t>It shows routing, but not the capacity rule. The model fills the gap with a call that does not exist (10 programs: RegisterUnaryLongLivingCallback).</a:t>
            </a:r>
            <a:endParaRPr lang="en-US" sz="1400" dirty="0"/>
          </a:p>
        </p:txBody>
      </p:sp>
      <p:sp>
        <p:nvSpPr>
          <p:cNvPr id="14" name="Text 1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hint says how to call the library, not how to solve the problem</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the exact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One hint per problem type, put in the prompt before the task; it shows only the calls that type needs</a:t>
            </a:r>
            <a:endParaRPr lang="en-US" sz="1700" dirty="0"/>
          </a:p>
        </p:txBody>
      </p:sp>
      <p:sp>
        <p:nvSpPr>
          <p:cNvPr id="4" name="how hint Written by hand"/>
          <p:cNvSpPr/>
          <p:nvPr/>
        </p:nvSpPr>
        <p:spPr>
          <a:xfrm>
            <a:off x="548640" y="1737360"/>
            <a:ext cx="3566160" cy="3794760"/>
          </a:xfrm>
          <a:prstGeom prst="roundRect">
            <a:avLst>
              <a:gd name="adj" fmla="val 2051"/>
            </a:avLst>
          </a:prstGeom>
          <a:solidFill>
            <a:srgbClr val="F2F2F2"/>
          </a:solidFill>
          <a:ln w="9525">
            <a:solidFill>
              <a:srgbClr val="D9D9D9"/>
            </a:solidFill>
            <a:prstDash val="solid"/>
          </a:ln>
        </p:spPr>
      </p:sp>
      <p:pic>
        <p:nvPicPr>
          <p:cNvPr id="5" name="icon pen" descr="/NAS/SJ/POSTECH/nlp/figs/icons/pen.png">    </p:cNvPr>
          <p:cNvPicPr>
            <a:picLocks noChangeAspect="1"/>
          </p:cNvPicPr>
          <p:nvPr/>
        </p:nvPicPr>
        <p:blipFill>
          <a:blip r:embed="rId1"/>
          <a:stretch>
            <a:fillRect/>
          </a:stretch>
        </p:blipFill>
        <p:spPr>
          <a:xfrm>
            <a:off x="731520" y="1847088"/>
            <a:ext cx="411480" cy="411480"/>
          </a:xfrm>
          <a:prstGeom prst="rect">
            <a:avLst/>
          </a:prstGeom>
        </p:spPr>
      </p:pic>
      <p:sp>
        <p:nvSpPr>
          <p:cNvPr id="6" name="Text 3"/>
          <p:cNvSpPr txBox="1"/>
          <p:nvPr/>
        </p:nvSpPr>
        <p:spPr>
          <a:xfrm>
            <a:off x="123444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Written by hand</a:t>
            </a:r>
            <a:endParaRPr lang="en-US" sz="1700" dirty="0"/>
          </a:p>
        </p:txBody>
      </p:sp>
      <p:sp>
        <p:nvSpPr>
          <p:cNvPr id="7" name="Text 4"/>
          <p:cNvSpPr txBox="1"/>
          <p:nvPr/>
        </p:nvSpPr>
        <p:spPr>
          <a:xfrm>
            <a:off x="73152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once per problem type: the exact library usage (e.g. 11 lines for truck routing)</a:t>
            </a:r>
            <a:endParaRPr lang="en-US" sz="1400" dirty="0"/>
          </a:p>
        </p:txBody>
      </p:sp>
      <p:sp>
        <p:nvSpPr>
          <p:cNvPr id="8" name="Text 5"/>
          <p:cNvSpPr txBox="1"/>
          <p:nvPr/>
        </p:nvSpPr>
        <p:spPr>
          <a:xfrm>
            <a:off x="73152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routing 23% → 77–90%; word problems 65% → 72% (Qwen3-32B)</a:t>
            </a:r>
            <a:endParaRPr lang="en-US" sz="1400" dirty="0"/>
          </a:p>
        </p:txBody>
      </p:sp>
      <p:sp>
        <p:nvSpPr>
          <p:cNvPr id="9" name="Text 6"/>
          <p:cNvSpPr txBox="1"/>
          <p:nvPr/>
        </p:nvSpPr>
        <p:spPr>
          <a:xfrm>
            <a:off x="73152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needs someone who knows the library</a:t>
            </a:r>
            <a:endParaRPr lang="en-US" sz="1400" dirty="0"/>
          </a:p>
        </p:txBody>
      </p:sp>
      <p:sp>
        <p:nvSpPr>
          <p:cNvPr id="10" name="how hint Found by search"/>
          <p:cNvSpPr/>
          <p:nvPr/>
        </p:nvSpPr>
        <p:spPr>
          <a:xfrm>
            <a:off x="4297680" y="1737360"/>
            <a:ext cx="3566160" cy="3794760"/>
          </a:xfrm>
          <a:prstGeom prst="roundRect">
            <a:avLst>
              <a:gd name="adj" fmla="val 2051"/>
            </a:avLst>
          </a:prstGeom>
          <a:solidFill>
            <a:srgbClr val="F2F2F2"/>
          </a:solidFill>
          <a:ln w="9525">
            <a:solidFill>
              <a:srgbClr val="D9D9D9"/>
            </a:solidFill>
            <a:prstDash val="solid"/>
          </a:ln>
        </p:spPr>
      </p:sp>
      <p:pic>
        <p:nvPicPr>
          <p:cNvPr id="11" name="icon shapes" descr="/NAS/SJ/POSTECH/nlp/figs/icons/shapes.png">    </p:cNvPr>
          <p:cNvPicPr>
            <a:picLocks noChangeAspect="1"/>
          </p:cNvPicPr>
          <p:nvPr/>
        </p:nvPicPr>
        <p:blipFill>
          <a:blip r:embed="rId2"/>
          <a:stretch>
            <a:fillRect/>
          </a:stretch>
        </p:blipFill>
        <p:spPr>
          <a:xfrm>
            <a:off x="4480560" y="1847088"/>
            <a:ext cx="411480" cy="411480"/>
          </a:xfrm>
          <a:prstGeom prst="rect">
            <a:avLst/>
          </a:prstGeom>
        </p:spPr>
      </p:pic>
      <p:sp>
        <p:nvSpPr>
          <p:cNvPr id="12" name="Text 8"/>
          <p:cNvSpPr txBox="1"/>
          <p:nvPr/>
        </p:nvSpPr>
        <p:spPr>
          <a:xfrm>
            <a:off x="498348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Found by search</a:t>
            </a:r>
            <a:endParaRPr lang="en-US" sz="1700" dirty="0"/>
          </a:p>
        </p:txBody>
      </p:sp>
      <p:sp>
        <p:nvSpPr>
          <p:cNvPr id="13" name="Text 9"/>
          <p:cNvSpPr txBox="1"/>
          <p:nvPr/>
        </p:nvSpPr>
        <p:spPr>
          <a:xfrm>
            <a:off x="448056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BM25 over a small library of titled usage snippets; take the top one</a:t>
            </a:r>
            <a:endParaRPr lang="en-US" sz="1400" dirty="0"/>
          </a:p>
        </p:txBody>
      </p:sp>
      <p:sp>
        <p:nvSpPr>
          <p:cNvPr id="14" name="Text 10"/>
          <p:cNvSpPr txBox="1"/>
          <p:nvPr/>
        </p:nvSpPr>
        <p:spPr>
          <a:xfrm>
            <a:off x="448056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97% vs 96% by hand (6 optimization problems); 84% vs 87% on the 208-problem suite</a:t>
            </a:r>
            <a:endParaRPr lang="en-US" sz="1400" dirty="0"/>
          </a:p>
        </p:txBody>
      </p:sp>
      <p:sp>
        <p:nvSpPr>
          <p:cNvPr id="15" name="Text 11"/>
          <p:cNvSpPr txBox="1"/>
          <p:nvPr/>
        </p:nvSpPr>
        <p:spPr>
          <a:xfrm>
            <a:off x="448056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a near-miss page hurts: routing 83% → 57%</a:t>
            </a:r>
            <a:endParaRPr lang="en-US" sz="1400" dirty="0"/>
          </a:p>
        </p:txBody>
      </p:sp>
      <p:sp>
        <p:nvSpPr>
          <p:cNvPr id="16" name="how hint Taken from the model's own work"/>
          <p:cNvSpPr/>
          <p:nvPr/>
        </p:nvSpPr>
        <p:spPr>
          <a:xfrm>
            <a:off x="8046720" y="1737360"/>
            <a:ext cx="3566160" cy="3794760"/>
          </a:xfrm>
          <a:prstGeom prst="roundRect">
            <a:avLst>
              <a:gd name="adj" fmla="val 2051"/>
            </a:avLst>
          </a:prstGeom>
          <a:solidFill>
            <a:srgbClr val="F2F2F2"/>
          </a:solidFill>
          <a:ln w="9525">
            <a:solidFill>
              <a:srgbClr val="D9D9D9"/>
            </a:solidFill>
            <a:prstDash val="solid"/>
          </a:ln>
        </p:spPr>
      </p:sp>
      <p:pic>
        <p:nvPicPr>
          <p:cNvPr id="17" name="icon check" descr="/NAS/SJ/POSTECH/nlp/figs/icons/check.png">    </p:cNvPr>
          <p:cNvPicPr>
            <a:picLocks noChangeAspect="1"/>
          </p:cNvPicPr>
          <p:nvPr/>
        </p:nvPicPr>
        <p:blipFill>
          <a:blip r:embed="rId3"/>
          <a:stretch>
            <a:fillRect/>
          </a:stretch>
        </p:blipFill>
        <p:spPr>
          <a:xfrm>
            <a:off x="8229600" y="1847088"/>
            <a:ext cx="411480" cy="411480"/>
          </a:xfrm>
          <a:prstGeom prst="rect">
            <a:avLst/>
          </a:prstGeom>
        </p:spPr>
      </p:pic>
      <p:sp>
        <p:nvSpPr>
          <p:cNvPr id="18" name="Text 13"/>
          <p:cNvSpPr txBox="1"/>
          <p:nvPr/>
        </p:nvSpPr>
        <p:spPr>
          <a:xfrm>
            <a:off x="8732520" y="1828800"/>
            <a:ext cx="2743200" cy="457200"/>
          </a:xfrm>
          <a:prstGeom prst="rect">
            <a:avLst/>
          </a:prstGeom>
          <a:noFill/>
          <a:ln/>
        </p:spPr>
        <p:txBody>
          <a:bodyPr wrap="square" lIns="0" tIns="0" rIns="0" bIns="0" rtlCol="0" anchor="ctr"/>
          <a:lstStyle/>
          <a:p>
            <a:pPr indent="0" marL="0">
              <a:buNone/>
            </a:pPr>
            <a:r>
              <a:rPr lang="en-US" sz="1700" b="1" dirty="0">
                <a:solidFill>
                  <a:srgbClr val="4472C4"/>
                </a:solidFill>
              </a:rPr>
              <a:t>Taken from the model's own work</a:t>
            </a:r>
            <a:endParaRPr lang="en-US" sz="1700" dirty="0"/>
          </a:p>
        </p:txBody>
      </p:sp>
      <p:sp>
        <p:nvSpPr>
          <p:cNvPr id="19" name="Text 14"/>
          <p:cNvSpPr txBox="1"/>
          <p:nvPr/>
        </p:nvSpPr>
        <p:spPr>
          <a:xfrm>
            <a:off x="8229600" y="2377440"/>
            <a:ext cx="3200400" cy="1051560"/>
          </a:xfrm>
          <a:prstGeom prst="rect">
            <a:avLst/>
          </a:prstGeom>
          <a:noFill/>
          <a:ln/>
        </p:spPr>
        <p:txBody>
          <a:bodyPr wrap="square" lIns="0" tIns="0" rIns="0" bIns="0" rtlCol="0" anchor="t"/>
          <a:lstStyle/>
          <a:p>
            <a:pPr indent="0" marL="0">
              <a:buNone/>
            </a:pPr>
            <a:r>
              <a:rPr lang="en-US" sz="1400" b="1" dirty="0">
                <a:solidFill>
                  <a:schemeClr val="tx1"/>
                </a:solidFill>
              </a:rPr>
              <a:t>How: </a:t>
            </a:r>
            <a:pPr indent="0" marL="0">
              <a:buNone/>
            </a:pPr>
            <a:r>
              <a:rPr lang="en-US" sz="1400" dirty="0">
                <a:solidFill>
                  <a:schemeClr val="tx1"/>
                </a:solidFill>
              </a:rPr>
              <a:t>run the model on other problems of the same type; keep programs that pass the free check; use the shortest</a:t>
            </a:r>
            <a:endParaRPr lang="en-US" sz="1400" dirty="0"/>
          </a:p>
        </p:txBody>
      </p:sp>
      <p:sp>
        <p:nvSpPr>
          <p:cNvPr id="20" name="Text 15"/>
          <p:cNvSpPr txBox="1"/>
          <p:nvPr/>
        </p:nvSpPr>
        <p:spPr>
          <a:xfrm>
            <a:off x="8229600" y="3474720"/>
            <a:ext cx="3200400" cy="1051560"/>
          </a:xfrm>
          <a:prstGeom prst="rect">
            <a:avLst/>
          </a:prstGeom>
          <a:noFill/>
          <a:ln/>
        </p:spPr>
        <p:txBody>
          <a:bodyPr wrap="square" lIns="0" tIns="0" rIns="0" bIns="0" rtlCol="0" anchor="t"/>
          <a:lstStyle/>
          <a:p>
            <a:pPr indent="0" marL="0">
              <a:buNone/>
            </a:pPr>
            <a:r>
              <a:rPr lang="en-US" sz="1400" b="1" dirty="0">
                <a:solidFill>
                  <a:srgbClr val="38761D"/>
                </a:solidFill>
              </a:rPr>
              <a:t>Result: </a:t>
            </a:r>
            <a:pPr indent="0" marL="0">
              <a:buNone/>
            </a:pPr>
            <a:r>
              <a:rPr lang="en-US" sz="1400" dirty="0">
                <a:solidFill>
                  <a:srgbClr val="38761D"/>
                </a:solidFill>
              </a:rPr>
              <a:t>held-out MAMO (863), automatic vs by hand: 79% = 79% (gpt-oss-20b), 72% vs 71% (Qwen3-14B), 71% vs 72% (Qwen3-8B)</a:t>
            </a:r>
            <a:endParaRPr lang="en-US" sz="1400" dirty="0"/>
          </a:p>
        </p:txBody>
      </p:sp>
      <p:sp>
        <p:nvSpPr>
          <p:cNvPr id="21" name="Text 16"/>
          <p:cNvSpPr txBox="1"/>
          <p:nvPr/>
        </p:nvSpPr>
        <p:spPr>
          <a:xfrm>
            <a:off x="8229600" y="4572000"/>
            <a:ext cx="3200400" cy="868680"/>
          </a:xfrm>
          <a:prstGeom prst="rect">
            <a:avLst/>
          </a:prstGeom>
          <a:noFill/>
          <a:ln/>
        </p:spPr>
        <p:txBody>
          <a:bodyPr wrap="square" lIns="0" tIns="0" rIns="0" bIns="0" rtlCol="0" anchor="t"/>
          <a:lstStyle/>
          <a:p>
            <a:pPr indent="0" marL="0">
              <a:buNone/>
            </a:pPr>
            <a:r>
              <a:rPr lang="en-US" sz="1400" b="1" dirty="0">
                <a:solidFill>
                  <a:srgbClr val="C00000"/>
                </a:solidFill>
              </a:rPr>
              <a:t>Limit: </a:t>
            </a:r>
            <a:pPr indent="0" marL="0">
              <a:buNone/>
            </a:pPr>
            <a:r>
              <a:rPr lang="en-US" sz="1400" dirty="0">
                <a:solidFill>
                  <a:srgbClr val="C00000"/>
                </a:solidFill>
              </a:rPr>
              <a:t>only within one problem type: another type's program costs 14–21 points</a:t>
            </a:r>
            <a:endParaRPr lang="en-US" sz="1400" dirty="0"/>
          </a:p>
        </p:txBody>
      </p:sp>
      <p:sp>
        <p:nvSpPr>
          <p:cNvPr id="22" name="Text 1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Only the needed calls: with all helpers 75%, with only the needed ones 92% (geometry)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get a hint that works?</a:t>
            </a:r>
            <a:endParaRPr lang="en-US" sz="3600" dirty="0"/>
          </a:p>
        </p:txBody>
      </p:sp>
      <p:sp>
        <p:nvSpPr>
          <p:cNvPr id="3" name="what makes a hint work"/>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What makes a hint work, or hurt</a:t>
            </a:r>
            <a:endParaRPr lang="en-US" sz="1800" dirty="0"/>
          </a:p>
        </p:txBody>
      </p:sp>
      <p:sp>
        <p:nvSpPr>
          <p:cNvPr id="5" name="Text 3"/>
          <p:cNvSpPr txBox="1"/>
          <p:nvPr/>
        </p:nvSpPr>
        <p:spPr>
          <a:xfrm>
            <a:off x="777240" y="1810512"/>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10512"/>
            <a:ext cx="2697480" cy="457200"/>
          </a:xfrm>
          <a:prstGeom prst="rect">
            <a:avLst/>
          </a:prstGeom>
          <a:noFill/>
          <a:ln/>
        </p:spPr>
        <p:txBody>
          <a:bodyPr wrap="square" lIns="0" tIns="0" rIns="0" bIns="0" rtlCol="0" anchor="ctr"/>
          <a:lstStyle/>
          <a:p>
            <a:pPr indent="0" marL="0">
              <a:buNone/>
            </a:pPr>
            <a:r>
              <a:rPr lang="en-US" sz="1400" dirty="0">
                <a:solidFill>
                  <a:schemeClr val="tx1"/>
                </a:solidFill>
              </a:rPr>
              <a:t>the exact calls this type needs</a:t>
            </a:r>
            <a:endParaRPr lang="en-US" sz="1400" dirty="0"/>
          </a:p>
        </p:txBody>
      </p:sp>
      <p:sp>
        <p:nvSpPr>
          <p:cNvPr id="7" name="Text 5"/>
          <p:cNvSpPr txBox="1"/>
          <p:nvPr/>
        </p:nvSpPr>
        <p:spPr>
          <a:xfrm>
            <a:off x="3794760" y="1810512"/>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routing 23% → 83%</a:t>
            </a:r>
            <a:endParaRPr lang="en-US" sz="1400" dirty="0"/>
          </a:p>
        </p:txBody>
      </p:sp>
      <p:sp>
        <p:nvSpPr>
          <p:cNvPr id="8" name="Text 6"/>
          <p:cNvSpPr txBox="1"/>
          <p:nvPr/>
        </p:nvSpPr>
        <p:spPr>
          <a:xfrm>
            <a:off x="777240" y="2322576"/>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22576"/>
            <a:ext cx="2697480" cy="457200"/>
          </a:xfrm>
          <a:prstGeom prst="rect">
            <a:avLst/>
          </a:prstGeom>
          <a:noFill/>
          <a:ln/>
        </p:spPr>
        <p:txBody>
          <a:bodyPr wrap="square" lIns="0" tIns="0" rIns="0" bIns="0" rtlCol="0" anchor="ctr"/>
          <a:lstStyle/>
          <a:p>
            <a:pPr indent="0" marL="0">
              <a:buNone/>
            </a:pPr>
            <a:r>
              <a:rPr lang="en-US" sz="1400" dirty="0">
                <a:solidFill>
                  <a:schemeClr val="tx1"/>
                </a:solidFill>
              </a:rPr>
              <a:t>only what is needed</a:t>
            </a:r>
            <a:endParaRPr lang="en-US" sz="1400" dirty="0"/>
          </a:p>
        </p:txBody>
      </p:sp>
      <p:sp>
        <p:nvSpPr>
          <p:cNvPr id="10" name="Text 8"/>
          <p:cNvSpPr txBox="1"/>
          <p:nvPr/>
        </p:nvSpPr>
        <p:spPr>
          <a:xfrm>
            <a:off x="3794760" y="2322576"/>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geometry 75% → 92%</a:t>
            </a:r>
            <a:endParaRPr lang="en-US" sz="1400" dirty="0"/>
          </a:p>
        </p:txBody>
      </p:sp>
      <p:sp>
        <p:nvSpPr>
          <p:cNvPr id="11" name="Text 9"/>
          <p:cNvSpPr txBox="1"/>
          <p:nvPr/>
        </p:nvSpPr>
        <p:spPr>
          <a:xfrm>
            <a:off x="777240" y="2834640"/>
            <a:ext cx="274320" cy="45720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834640"/>
            <a:ext cx="2697480" cy="457200"/>
          </a:xfrm>
          <a:prstGeom prst="rect">
            <a:avLst/>
          </a:prstGeom>
          <a:noFill/>
          <a:ln/>
        </p:spPr>
        <p:txBody>
          <a:bodyPr wrap="square" lIns="0" tIns="0" rIns="0" bIns="0" rtlCol="0" anchor="ctr"/>
          <a:lstStyle/>
          <a:p>
            <a:pPr indent="0" marL="0">
              <a:buNone/>
            </a:pPr>
            <a:r>
              <a:rPr lang="en-US" sz="1400" dirty="0">
                <a:solidFill>
                  <a:schemeClr val="tx1"/>
                </a:solidFill>
              </a:rPr>
              <a:t>short, from the same type</a:t>
            </a:r>
            <a:endParaRPr lang="en-US" sz="1400" dirty="0"/>
          </a:p>
        </p:txBody>
      </p:sp>
      <p:sp>
        <p:nvSpPr>
          <p:cNvPr id="13" name="Text 11"/>
          <p:cNvSpPr txBox="1"/>
          <p:nvPr/>
        </p:nvSpPr>
        <p:spPr>
          <a:xfrm>
            <a:off x="3794760" y="2834640"/>
            <a:ext cx="2057400" cy="457200"/>
          </a:xfrm>
          <a:prstGeom prst="rect">
            <a:avLst/>
          </a:prstGeom>
          <a:noFill/>
          <a:ln/>
        </p:spPr>
        <p:txBody>
          <a:bodyPr wrap="square" lIns="0" tIns="0" rIns="0" bIns="0" rtlCol="0" anchor="ctr"/>
          <a:lstStyle/>
          <a:p>
            <a:pPr indent="0" marL="0">
              <a:buNone/>
            </a:pPr>
            <a:r>
              <a:rPr lang="en-US" sz="1400" b="1" dirty="0">
                <a:solidFill>
                  <a:srgbClr val="38761D"/>
                </a:solidFill>
              </a:rPr>
              <a:t>MAMO: 79% = by hand</a:t>
            </a:r>
            <a:endParaRPr lang="en-US" sz="1400" dirty="0"/>
          </a:p>
        </p:txBody>
      </p:sp>
      <p:sp>
        <p:nvSpPr>
          <p:cNvPr id="14" name="Text 12"/>
          <p:cNvSpPr txBox="1"/>
          <p:nvPr/>
        </p:nvSpPr>
        <p:spPr>
          <a:xfrm>
            <a:off x="777240" y="3346704"/>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5" name="Text 13"/>
          <p:cNvSpPr txBox="1"/>
          <p:nvPr/>
        </p:nvSpPr>
        <p:spPr>
          <a:xfrm>
            <a:off x="1078992" y="3346704"/>
            <a:ext cx="2697480" cy="457200"/>
          </a:xfrm>
          <a:prstGeom prst="rect">
            <a:avLst/>
          </a:prstGeom>
          <a:noFill/>
          <a:ln/>
        </p:spPr>
        <p:txBody>
          <a:bodyPr wrap="square" lIns="0" tIns="0" rIns="0" bIns="0" rtlCol="0" anchor="ctr"/>
          <a:lstStyle/>
          <a:p>
            <a:pPr indent="0" marL="0">
              <a:buNone/>
            </a:pPr>
            <a:r>
              <a:rPr lang="en-US" sz="1400" dirty="0">
                <a:solidFill>
                  <a:schemeClr val="tx1"/>
                </a:solidFill>
              </a:rPr>
              <a:t>a long manual missing one rule</a:t>
            </a:r>
            <a:endParaRPr lang="en-US" sz="1400" dirty="0"/>
          </a:p>
        </p:txBody>
      </p:sp>
      <p:sp>
        <p:nvSpPr>
          <p:cNvPr id="16" name="Text 14"/>
          <p:cNvSpPr txBox="1"/>
          <p:nvPr/>
        </p:nvSpPr>
        <p:spPr>
          <a:xfrm>
            <a:off x="3794760" y="3346704"/>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7%</a:t>
            </a:r>
            <a:endParaRPr lang="en-US" sz="1400" dirty="0"/>
          </a:p>
        </p:txBody>
      </p:sp>
      <p:sp>
        <p:nvSpPr>
          <p:cNvPr id="17" name="Text 15"/>
          <p:cNvSpPr txBox="1"/>
          <p:nvPr/>
        </p:nvSpPr>
        <p:spPr>
          <a:xfrm>
            <a:off x="777240" y="3858768"/>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3858768"/>
            <a:ext cx="2697480" cy="457200"/>
          </a:xfrm>
          <a:prstGeom prst="rect">
            <a:avLst/>
          </a:prstGeom>
          <a:noFill/>
          <a:ln/>
        </p:spPr>
        <p:txBody>
          <a:bodyPr wrap="square" lIns="0" tIns="0" rIns="0" bIns="0" rtlCol="0" anchor="ctr"/>
          <a:lstStyle/>
          <a:p>
            <a:pPr indent="0" marL="0">
              <a:buNone/>
            </a:pPr>
            <a:r>
              <a:rPr lang="en-US" sz="1400" dirty="0">
                <a:solidFill>
                  <a:schemeClr val="tx1"/>
                </a:solidFill>
              </a:rPr>
              <a:t>a near-miss page next to the right one</a:t>
            </a:r>
            <a:endParaRPr lang="en-US" sz="1400" dirty="0"/>
          </a:p>
        </p:txBody>
      </p:sp>
      <p:sp>
        <p:nvSpPr>
          <p:cNvPr id="19" name="Text 17"/>
          <p:cNvSpPr txBox="1"/>
          <p:nvPr/>
        </p:nvSpPr>
        <p:spPr>
          <a:xfrm>
            <a:off x="3794760" y="3858768"/>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routing 83% → 57%</a:t>
            </a:r>
            <a:endParaRPr lang="en-US" sz="1400" dirty="0"/>
          </a:p>
        </p:txBody>
      </p:sp>
      <p:sp>
        <p:nvSpPr>
          <p:cNvPr id="20" name="Text 18"/>
          <p:cNvSpPr txBox="1"/>
          <p:nvPr/>
        </p:nvSpPr>
        <p:spPr>
          <a:xfrm>
            <a:off x="777240" y="4370832"/>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370832"/>
            <a:ext cx="2697480" cy="457200"/>
          </a:xfrm>
          <a:prstGeom prst="rect">
            <a:avLst/>
          </a:prstGeom>
          <a:noFill/>
          <a:ln/>
        </p:spPr>
        <p:txBody>
          <a:bodyPr wrap="square" lIns="0" tIns="0" rIns="0" bIns="0" rtlCol="0" anchor="ctr"/>
          <a:lstStyle/>
          <a:p>
            <a:pPr indent="0" marL="0">
              <a:buNone/>
            </a:pPr>
            <a:r>
              <a:rPr lang="en-US" sz="1400" dirty="0">
                <a:solidFill>
                  <a:schemeClr val="tx1"/>
                </a:solidFill>
              </a:rPr>
              <a:t>a program from another problem type</a:t>
            </a:r>
            <a:endParaRPr lang="en-US" sz="1400" dirty="0"/>
          </a:p>
        </p:txBody>
      </p:sp>
      <p:sp>
        <p:nvSpPr>
          <p:cNvPr id="22" name="Text 20"/>
          <p:cNvSpPr txBox="1"/>
          <p:nvPr/>
        </p:nvSpPr>
        <p:spPr>
          <a:xfrm>
            <a:off x="3794760" y="4370832"/>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−14 to −21 points</a:t>
            </a:r>
            <a:endParaRPr lang="en-US" sz="1400" dirty="0"/>
          </a:p>
        </p:txBody>
      </p:sp>
      <p:sp>
        <p:nvSpPr>
          <p:cNvPr id="23" name="Text 21"/>
          <p:cNvSpPr txBox="1"/>
          <p:nvPr/>
        </p:nvSpPr>
        <p:spPr>
          <a:xfrm>
            <a:off x="777240" y="4882896"/>
            <a:ext cx="274320" cy="45720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4" name="Text 22"/>
          <p:cNvSpPr txBox="1"/>
          <p:nvPr/>
        </p:nvSpPr>
        <p:spPr>
          <a:xfrm>
            <a:off x="1078992" y="4882896"/>
            <a:ext cx="2697480" cy="457200"/>
          </a:xfrm>
          <a:prstGeom prst="rect">
            <a:avLst/>
          </a:prstGeom>
          <a:noFill/>
          <a:ln/>
        </p:spPr>
        <p:txBody>
          <a:bodyPr wrap="square" lIns="0" tIns="0" rIns="0" bIns="0" rtlCol="0" anchor="ctr"/>
          <a:lstStyle/>
          <a:p>
            <a:pPr indent="0" marL="0">
              <a:buNone/>
            </a:pPr>
            <a:r>
              <a:rPr lang="en-US" sz="1400" dirty="0">
                <a:solidFill>
                  <a:schemeClr val="tx1"/>
                </a:solidFill>
              </a:rPr>
              <a:t>a bare list of function names</a:t>
            </a:r>
            <a:endParaRPr lang="en-US" sz="1400" dirty="0"/>
          </a:p>
        </p:txBody>
      </p:sp>
      <p:sp>
        <p:nvSpPr>
          <p:cNvPr id="25" name="Text 23"/>
          <p:cNvSpPr txBox="1"/>
          <p:nvPr/>
        </p:nvSpPr>
        <p:spPr>
          <a:xfrm>
            <a:off x="3794760" y="4882896"/>
            <a:ext cx="2057400" cy="457200"/>
          </a:xfrm>
          <a:prstGeom prst="rect">
            <a:avLst/>
          </a:prstGeom>
          <a:noFill/>
          <a:ln/>
        </p:spPr>
        <p:txBody>
          <a:bodyPr wrap="square" lIns="0" tIns="0" rIns="0" bIns="0" rtlCol="0" anchor="ctr"/>
          <a:lstStyle/>
          <a:p>
            <a:pPr indent="0" marL="0">
              <a:buNone/>
            </a:pPr>
            <a:r>
              <a:rPr lang="en-US" sz="1400" b="1" dirty="0">
                <a:solidFill>
                  <a:srgbClr val="C00000"/>
                </a:solidFill>
              </a:rPr>
              <a:t>66% → 56%</a:t>
            </a:r>
            <a:endParaRPr lang="en-US" sz="1400" dirty="0"/>
          </a:p>
        </p:txBody>
      </p:sp>
      <p:sp>
        <p:nvSpPr>
          <p:cNvPr id="26" name="which source when"/>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27" name="Text 25"/>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Which source, when (once per problem type)</a:t>
            </a:r>
            <a:endParaRPr lang="en-US" sz="1800" dirty="0"/>
          </a:p>
        </p:txBody>
      </p:sp>
      <p:sp>
        <p:nvSpPr>
          <p:cNvPr id="28" name="box Past programs of thi"/>
          <p:cNvSpPr/>
          <p:nvPr/>
        </p:nvSpPr>
        <p:spPr>
          <a:xfrm>
            <a:off x="6400800" y="1828800"/>
            <a:ext cx="3017520" cy="566928"/>
          </a:xfrm>
          <a:prstGeom prst="roundRect">
            <a:avLst>
              <a:gd name="adj" fmla="val 9677"/>
            </a:avLst>
          </a:prstGeom>
          <a:solidFill>
            <a:srgbClr val="FFFFFF"/>
          </a:solidFill>
          <a:ln w="9525">
            <a:solidFill>
              <a:srgbClr val="BFBFBF"/>
            </a:solidFill>
            <a:prstDash val="solid"/>
          </a:ln>
        </p:spPr>
      </p:sp>
      <p:sp>
        <p:nvSpPr>
          <p:cNvPr id="29" name="Text 27"/>
          <p:cNvSpPr txBox="1"/>
          <p:nvPr/>
        </p:nvSpPr>
        <p:spPr>
          <a:xfrm>
            <a:off x="6473952" y="182880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Past programs of this type, and a free check?</a:t>
            </a:r>
            <a:endParaRPr lang="en-US" sz="1400" dirty="0"/>
          </a:p>
        </p:txBody>
      </p:sp>
      <p:sp>
        <p:nvSpPr>
          <p:cNvPr id="30" name="Shape 28"/>
          <p:cNvSpPr/>
          <p:nvPr/>
        </p:nvSpPr>
        <p:spPr>
          <a:xfrm>
            <a:off x="9418320" y="2112264"/>
            <a:ext cx="274320" cy="0"/>
          </a:xfrm>
          <a:prstGeom prst="line">
            <a:avLst/>
          </a:prstGeom>
          <a:noFill/>
          <a:ln w="25400">
            <a:solidFill>
              <a:srgbClr val="7F7F7F"/>
            </a:solidFill>
            <a:prstDash val="solid"/>
            <a:tailEnd type="triangle"/>
          </a:ln>
        </p:spPr>
      </p:sp>
      <p:sp>
        <p:nvSpPr>
          <p:cNvPr id="31" name="box use the shortest tha"/>
          <p:cNvSpPr/>
          <p:nvPr/>
        </p:nvSpPr>
        <p:spPr>
          <a:xfrm>
            <a:off x="9692640" y="1828800"/>
            <a:ext cx="1737360" cy="566928"/>
          </a:xfrm>
          <a:prstGeom prst="roundRect">
            <a:avLst>
              <a:gd name="adj" fmla="val 9677"/>
            </a:avLst>
          </a:prstGeom>
          <a:solidFill>
            <a:srgbClr val="E2F0D9"/>
          </a:solidFill>
          <a:ln w="9525">
            <a:solidFill>
              <a:srgbClr val="BFBFBF"/>
            </a:solidFill>
            <a:prstDash val="solid"/>
          </a:ln>
        </p:spPr>
      </p:sp>
      <p:sp>
        <p:nvSpPr>
          <p:cNvPr id="32" name="Text 30"/>
          <p:cNvSpPr txBox="1"/>
          <p:nvPr/>
        </p:nvSpPr>
        <p:spPr>
          <a:xfrm>
            <a:off x="9765792" y="182880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use the shortest that passed</a:t>
            </a:r>
            <a:endParaRPr lang="en-US" sz="1400" dirty="0"/>
          </a:p>
        </p:txBody>
      </p:sp>
      <p:sp>
        <p:nvSpPr>
          <p:cNvPr id="33" name="Text 31"/>
          <p:cNvSpPr txBox="1"/>
          <p:nvPr/>
        </p:nvSpPr>
        <p:spPr>
          <a:xfrm>
            <a:off x="7680960" y="241401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34" name="box Documentation with t"/>
          <p:cNvSpPr/>
          <p:nvPr/>
        </p:nvSpPr>
        <p:spPr>
          <a:xfrm>
            <a:off x="6400800" y="2697480"/>
            <a:ext cx="3017520" cy="566928"/>
          </a:xfrm>
          <a:prstGeom prst="roundRect">
            <a:avLst>
              <a:gd name="adj" fmla="val 9677"/>
            </a:avLst>
          </a:prstGeom>
          <a:solidFill>
            <a:srgbClr val="FFFFFF"/>
          </a:solidFill>
          <a:ln w="9525">
            <a:solidFill>
              <a:srgbClr val="BFBFBF"/>
            </a:solidFill>
            <a:prstDash val="solid"/>
          </a:ln>
        </p:spPr>
      </p:sp>
      <p:sp>
        <p:nvSpPr>
          <p:cNvPr id="35" name="Text 33"/>
          <p:cNvSpPr txBox="1"/>
          <p:nvPr/>
        </p:nvSpPr>
        <p:spPr>
          <a:xfrm>
            <a:off x="6473952" y="269748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Documentation with titled usage snippets?</a:t>
            </a:r>
            <a:endParaRPr lang="en-US" sz="1400" dirty="0"/>
          </a:p>
        </p:txBody>
      </p:sp>
      <p:sp>
        <p:nvSpPr>
          <p:cNvPr id="36" name="Shape 34"/>
          <p:cNvSpPr/>
          <p:nvPr/>
        </p:nvSpPr>
        <p:spPr>
          <a:xfrm>
            <a:off x="9418320" y="2980944"/>
            <a:ext cx="274320" cy="0"/>
          </a:xfrm>
          <a:prstGeom prst="line">
            <a:avLst/>
          </a:prstGeom>
          <a:noFill/>
          <a:ln w="25400">
            <a:solidFill>
              <a:srgbClr val="7F7F7F"/>
            </a:solidFill>
            <a:prstDash val="solid"/>
            <a:tailEnd type="triangle"/>
          </a:ln>
        </p:spPr>
      </p:sp>
      <p:sp>
        <p:nvSpPr>
          <p:cNvPr id="37" name="box search, take only th"/>
          <p:cNvSpPr/>
          <p:nvPr/>
        </p:nvSpPr>
        <p:spPr>
          <a:xfrm>
            <a:off x="9692640" y="2697480"/>
            <a:ext cx="1737360" cy="566928"/>
          </a:xfrm>
          <a:prstGeom prst="roundRect">
            <a:avLst>
              <a:gd name="adj" fmla="val 9677"/>
            </a:avLst>
          </a:prstGeom>
          <a:solidFill>
            <a:srgbClr val="E2F0D9"/>
          </a:solidFill>
          <a:ln w="9525">
            <a:solidFill>
              <a:srgbClr val="BFBFBF"/>
            </a:solidFill>
            <a:prstDash val="solid"/>
          </a:ln>
        </p:spPr>
      </p:sp>
      <p:sp>
        <p:nvSpPr>
          <p:cNvPr id="38" name="Text 36"/>
          <p:cNvSpPr txBox="1"/>
          <p:nvPr/>
        </p:nvSpPr>
        <p:spPr>
          <a:xfrm>
            <a:off x="9765792" y="269748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search, take only the top one</a:t>
            </a:r>
            <a:endParaRPr lang="en-US" sz="1400" dirty="0"/>
          </a:p>
        </p:txBody>
      </p:sp>
      <p:sp>
        <p:nvSpPr>
          <p:cNvPr id="39" name="Text 37"/>
          <p:cNvSpPr txBox="1"/>
          <p:nvPr/>
        </p:nvSpPr>
        <p:spPr>
          <a:xfrm>
            <a:off x="7680960" y="3282696"/>
            <a:ext cx="548640" cy="274320"/>
          </a:xfrm>
          <a:prstGeom prst="rect">
            <a:avLst/>
          </a:prstGeom>
          <a:noFill/>
          <a:ln/>
        </p:spPr>
        <p:txBody>
          <a:bodyPr wrap="square" lIns="0" tIns="0" rIns="0" bIns="0" rtlCol="0" anchor="ctr"/>
          <a:lstStyle/>
          <a:p>
            <a:pPr indent="0" marL="0">
              <a:buNone/>
            </a:pPr>
            <a:r>
              <a:rPr lang="en-US" sz="1400" dirty="0">
                <a:solidFill>
                  <a:srgbClr val="7F7F7F"/>
                </a:solidFill>
              </a:rPr>
              <a:t>no ↓</a:t>
            </a:r>
            <a:endParaRPr lang="en-US" sz="1400" dirty="0"/>
          </a:p>
        </p:txBody>
      </p:sp>
      <p:sp>
        <p:nvSpPr>
          <p:cNvPr id="40" name="box Neither"/>
          <p:cNvSpPr/>
          <p:nvPr/>
        </p:nvSpPr>
        <p:spPr>
          <a:xfrm>
            <a:off x="6400800" y="3566160"/>
            <a:ext cx="3017520" cy="566928"/>
          </a:xfrm>
          <a:prstGeom prst="roundRect">
            <a:avLst>
              <a:gd name="adj" fmla="val 9677"/>
            </a:avLst>
          </a:prstGeom>
          <a:solidFill>
            <a:srgbClr val="FFFFFF"/>
          </a:solidFill>
          <a:ln w="9525">
            <a:solidFill>
              <a:srgbClr val="BFBFBF"/>
            </a:solidFill>
            <a:prstDash val="solid"/>
          </a:ln>
        </p:spPr>
      </p:sp>
      <p:sp>
        <p:nvSpPr>
          <p:cNvPr id="41" name="Text 39"/>
          <p:cNvSpPr txBox="1"/>
          <p:nvPr/>
        </p:nvSpPr>
        <p:spPr>
          <a:xfrm>
            <a:off x="6473952" y="3566160"/>
            <a:ext cx="2871216" cy="566928"/>
          </a:xfrm>
          <a:prstGeom prst="rect">
            <a:avLst/>
          </a:prstGeom>
          <a:noFill/>
          <a:ln/>
        </p:spPr>
        <p:txBody>
          <a:bodyPr wrap="square" lIns="0" tIns="0" rIns="0" bIns="0" rtlCol="0" anchor="ctr"/>
          <a:lstStyle/>
          <a:p>
            <a:pPr algn="ctr" indent="0" marL="0">
              <a:buNone/>
            </a:pPr>
            <a:r>
              <a:rPr lang="en-US" sz="1400" dirty="0">
                <a:solidFill>
                  <a:schemeClr val="tx1"/>
                </a:solidFill>
              </a:rPr>
              <a:t>Neither</a:t>
            </a:r>
            <a:endParaRPr lang="en-US" sz="1400" dirty="0"/>
          </a:p>
        </p:txBody>
      </p:sp>
      <p:sp>
        <p:nvSpPr>
          <p:cNvPr id="42" name="Shape 40"/>
          <p:cNvSpPr/>
          <p:nvPr/>
        </p:nvSpPr>
        <p:spPr>
          <a:xfrm>
            <a:off x="9418320" y="3849624"/>
            <a:ext cx="274320" cy="0"/>
          </a:xfrm>
          <a:prstGeom prst="line">
            <a:avLst/>
          </a:prstGeom>
          <a:noFill/>
          <a:ln w="25400">
            <a:solidFill>
              <a:srgbClr val="7F7F7F"/>
            </a:solidFill>
            <a:prstDash val="solid"/>
            <a:tailEnd type="triangle"/>
          </a:ln>
        </p:spPr>
      </p:sp>
      <p:sp>
        <p:nvSpPr>
          <p:cNvPr id="43" name="box write it by hand, on"/>
          <p:cNvSpPr/>
          <p:nvPr/>
        </p:nvSpPr>
        <p:spPr>
          <a:xfrm>
            <a:off x="9692640" y="3566160"/>
            <a:ext cx="1737360" cy="566928"/>
          </a:xfrm>
          <a:prstGeom prst="roundRect">
            <a:avLst>
              <a:gd name="adj" fmla="val 9677"/>
            </a:avLst>
          </a:prstGeom>
          <a:solidFill>
            <a:srgbClr val="E2F0D9"/>
          </a:solidFill>
          <a:ln w="9525">
            <a:solidFill>
              <a:srgbClr val="BFBFBF"/>
            </a:solidFill>
            <a:prstDash val="solid"/>
          </a:ln>
        </p:spPr>
      </p:sp>
      <p:sp>
        <p:nvSpPr>
          <p:cNvPr id="44" name="Text 42"/>
          <p:cNvSpPr txBox="1"/>
          <p:nvPr/>
        </p:nvSpPr>
        <p:spPr>
          <a:xfrm>
            <a:off x="9765792" y="3566160"/>
            <a:ext cx="1591056" cy="566928"/>
          </a:xfrm>
          <a:prstGeom prst="rect">
            <a:avLst/>
          </a:prstGeom>
          <a:noFill/>
          <a:ln/>
        </p:spPr>
        <p:txBody>
          <a:bodyPr wrap="square" lIns="0" tIns="0" rIns="0" bIns="0" rtlCol="0" anchor="ctr"/>
          <a:lstStyle/>
          <a:p>
            <a:pPr algn="ctr" indent="0" marL="0">
              <a:buNone/>
            </a:pPr>
            <a:r>
              <a:rPr lang="en-US" sz="1400" b="1" dirty="0">
                <a:solidFill>
                  <a:srgbClr val="38761D"/>
                </a:solidFill>
              </a:rPr>
              <a:t>write it by hand, once</a:t>
            </a:r>
            <a:endParaRPr lang="en-US" sz="1400" dirty="0"/>
          </a:p>
        </p:txBody>
      </p:sp>
      <p:sp>
        <p:nvSpPr>
          <p:cNvPr id="45" name="Text 43"/>
          <p:cNvSpPr txBox="1"/>
          <p:nvPr/>
        </p:nvSpPr>
        <p:spPr>
          <a:xfrm>
            <a:off x="6400800" y="4343400"/>
            <a:ext cx="4983480" cy="914400"/>
          </a:xfrm>
          <a:prstGeom prst="rect">
            <a:avLst/>
          </a:prstGeom>
          <a:noFill/>
          <a:ln/>
        </p:spPr>
        <p:txBody>
          <a:bodyPr wrap="square" lIns="0" tIns="0" rIns="0" bIns="0" rtlCol="0" anchor="t"/>
          <a:lstStyle/>
          <a:p>
            <a:pPr indent="0" marL="0">
              <a:buNone/>
            </a:pPr>
            <a:r>
              <a:rPr lang="en-US" sz="1400" dirty="0">
                <a:solidFill>
                  <a:schemeClr val="tx2"/>
                </a:solidFill>
              </a:rPr>
              <a:t>Then use it on every problem of that type, and let the free check catch the cases it does not fit.</a:t>
            </a:r>
            <a:endParaRPr lang="en-US" sz="1400" dirty="0"/>
          </a:p>
        </p:txBody>
      </p:sp>
      <p:sp>
        <p:nvSpPr>
          <p:cNvPr id="46" name="Text 44"/>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beats complete: the exact calls, nothing extra, from the same problem type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hint cost, and what does it save?</a:t>
            </a:r>
            <a:endParaRPr lang="en-US" sz="3600" dirty="0"/>
          </a:p>
        </p:txBody>
      </p:sp>
      <p:sp>
        <p:nvSpPr>
          <p:cNvPr id="3" name="hint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Cost: input tokens per prompt (optimization)</a:t>
            </a:r>
            <a:endParaRPr lang="en-US" sz="1800" dirty="0"/>
          </a:p>
        </p:txBody>
      </p:sp>
      <p:sp>
        <p:nvSpPr>
          <p:cNvPr id="5" name="Text 3"/>
          <p:cNvSpPr txBox="1"/>
          <p:nvPr/>
        </p:nvSpPr>
        <p:spPr>
          <a:xfrm>
            <a:off x="777240" y="182880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6" name="bar no hint"/>
          <p:cNvSpPr/>
          <p:nvPr/>
        </p:nvSpPr>
        <p:spPr>
          <a:xfrm>
            <a:off x="2743200" y="1911096"/>
            <a:ext cx="727405" cy="274320"/>
          </a:xfrm>
          <a:prstGeom prst="rect">
            <a:avLst/>
          </a:prstGeom>
          <a:solidFill>
            <a:srgbClr val="7F7F7F"/>
          </a:solidFill>
          <a:ln w="6350">
            <a:solidFill>
              <a:srgbClr val="7F7F7F"/>
            </a:solidFill>
            <a:prstDash val="solid"/>
          </a:ln>
        </p:spPr>
      </p:sp>
      <p:sp>
        <p:nvSpPr>
          <p:cNvPr id="7" name="Text 5"/>
          <p:cNvSpPr txBox="1"/>
          <p:nvPr/>
        </p:nvSpPr>
        <p:spPr>
          <a:xfrm>
            <a:off x="3562045" y="1828800"/>
            <a:ext cx="1280160" cy="438912"/>
          </a:xfrm>
          <a:prstGeom prst="rect">
            <a:avLst/>
          </a:prstGeom>
          <a:noFill/>
          <a:ln/>
        </p:spPr>
        <p:txBody>
          <a:bodyPr wrap="square" lIns="0" tIns="0" rIns="0" bIns="0" rtlCol="0" anchor="ctr"/>
          <a:lstStyle/>
          <a:p>
            <a:pPr indent="0" marL="0">
              <a:buNone/>
            </a:pPr>
            <a:r>
              <a:rPr lang="en-US" sz="1800" b="1" dirty="0">
                <a:solidFill>
                  <a:srgbClr val="7F7F7F"/>
                </a:solidFill>
              </a:rPr>
              <a:t>488</a:t>
            </a:r>
            <a:endParaRPr lang="en-US" sz="1800" dirty="0"/>
          </a:p>
        </p:txBody>
      </p:sp>
      <p:sp>
        <p:nvSpPr>
          <p:cNvPr id="8" name="Text 6"/>
          <p:cNvSpPr txBox="1"/>
          <p:nvPr/>
        </p:nvSpPr>
        <p:spPr>
          <a:xfrm>
            <a:off x="777240" y="237744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exact snippet</a:t>
            </a:r>
            <a:endParaRPr lang="en-US" sz="1600" dirty="0"/>
          </a:p>
        </p:txBody>
      </p:sp>
      <p:sp>
        <p:nvSpPr>
          <p:cNvPr id="9" name="bar exact snippet"/>
          <p:cNvSpPr/>
          <p:nvPr/>
        </p:nvSpPr>
        <p:spPr>
          <a:xfrm>
            <a:off x="2743200" y="2459736"/>
            <a:ext cx="1048817" cy="274320"/>
          </a:xfrm>
          <a:prstGeom prst="rect">
            <a:avLst/>
          </a:prstGeom>
          <a:solidFill>
            <a:srgbClr val="4472C4"/>
          </a:solidFill>
          <a:ln w="6350">
            <a:solidFill>
              <a:srgbClr val="4472C4"/>
            </a:solidFill>
            <a:prstDash val="solid"/>
          </a:ln>
        </p:spPr>
      </p:sp>
      <p:sp>
        <p:nvSpPr>
          <p:cNvPr id="10" name="Text 8"/>
          <p:cNvSpPr txBox="1"/>
          <p:nvPr/>
        </p:nvSpPr>
        <p:spPr>
          <a:xfrm>
            <a:off x="3883457" y="2377440"/>
            <a:ext cx="1280160" cy="438912"/>
          </a:xfrm>
          <a:prstGeom prst="rect">
            <a:avLst/>
          </a:prstGeom>
          <a:noFill/>
          <a:ln/>
        </p:spPr>
        <p:txBody>
          <a:bodyPr wrap="square" lIns="0" tIns="0" rIns="0" bIns="0" rtlCol="0" anchor="ctr"/>
          <a:lstStyle/>
          <a:p>
            <a:pPr indent="0" marL="0">
              <a:buNone/>
            </a:pPr>
            <a:r>
              <a:rPr lang="en-US" sz="1800" b="1" dirty="0">
                <a:solidFill>
                  <a:srgbClr val="4472C4"/>
                </a:solidFill>
              </a:rPr>
              <a:t>701 (+213)</a:t>
            </a:r>
            <a:endParaRPr lang="en-US" sz="1800" dirty="0"/>
          </a:p>
        </p:txBody>
      </p:sp>
      <p:sp>
        <p:nvSpPr>
          <p:cNvPr id="11" name="Text 9"/>
          <p:cNvSpPr txBox="1"/>
          <p:nvPr/>
        </p:nvSpPr>
        <p:spPr>
          <a:xfrm>
            <a:off x="777240" y="292608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12" name="bar long reference sheet"/>
          <p:cNvSpPr/>
          <p:nvPr/>
        </p:nvSpPr>
        <p:spPr>
          <a:xfrm>
            <a:off x="2743200" y="3008376"/>
            <a:ext cx="1336396" cy="274320"/>
          </a:xfrm>
          <a:prstGeom prst="rect">
            <a:avLst/>
          </a:prstGeom>
          <a:solidFill>
            <a:srgbClr val="C00000"/>
          </a:solidFill>
          <a:ln w="6350">
            <a:solidFill>
              <a:srgbClr val="C00000"/>
            </a:solidFill>
            <a:prstDash val="solid"/>
          </a:ln>
        </p:spPr>
      </p:sp>
      <p:sp>
        <p:nvSpPr>
          <p:cNvPr id="13" name="Text 11"/>
          <p:cNvSpPr txBox="1"/>
          <p:nvPr/>
        </p:nvSpPr>
        <p:spPr>
          <a:xfrm>
            <a:off x="4171036" y="292608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901</a:t>
            </a:r>
            <a:endParaRPr lang="en-US" sz="1800" dirty="0"/>
          </a:p>
        </p:txBody>
      </p:sp>
      <p:sp>
        <p:nvSpPr>
          <p:cNvPr id="14" name="Text 12"/>
          <p:cNvSpPr txBox="1"/>
          <p:nvPr/>
        </p:nvSpPr>
        <p:spPr>
          <a:xfrm>
            <a:off x="777240" y="3474720"/>
            <a:ext cx="1828800" cy="438912"/>
          </a:xfrm>
          <a:prstGeom prst="rect">
            <a:avLst/>
          </a:prstGeom>
          <a:noFill/>
          <a:ln/>
        </p:spPr>
        <p:txBody>
          <a:bodyPr wrap="square" lIns="0" tIns="0" rIns="0" bIns="0" rtlCol="0" anchor="ctr"/>
          <a:lstStyle/>
          <a:p>
            <a:pPr algn="r" indent="0" marL="0">
              <a:buNone/>
            </a:pPr>
            <a:r>
              <a:rPr lang="en-US" sz="1600" dirty="0">
                <a:solidFill>
                  <a:schemeClr val="tx1"/>
                </a:solidFill>
              </a:rPr>
              <a:t>search, top 3</a:t>
            </a:r>
            <a:endParaRPr lang="en-US" sz="1600" dirty="0"/>
          </a:p>
        </p:txBody>
      </p:sp>
      <p:sp>
        <p:nvSpPr>
          <p:cNvPr id="15" name="bar search, top 3"/>
          <p:cNvSpPr/>
          <p:nvPr/>
        </p:nvSpPr>
        <p:spPr>
          <a:xfrm>
            <a:off x="2743200" y="3557016"/>
            <a:ext cx="1691640" cy="274320"/>
          </a:xfrm>
          <a:prstGeom prst="rect">
            <a:avLst/>
          </a:prstGeom>
          <a:solidFill>
            <a:srgbClr val="C00000"/>
          </a:solidFill>
          <a:ln w="6350">
            <a:solidFill>
              <a:srgbClr val="C00000"/>
            </a:solidFill>
            <a:prstDash val="solid"/>
          </a:ln>
        </p:spPr>
      </p:sp>
      <p:sp>
        <p:nvSpPr>
          <p:cNvPr id="16" name="Text 14"/>
          <p:cNvSpPr txBox="1"/>
          <p:nvPr/>
        </p:nvSpPr>
        <p:spPr>
          <a:xfrm>
            <a:off x="4526280" y="3474720"/>
            <a:ext cx="1280160" cy="438912"/>
          </a:xfrm>
          <a:prstGeom prst="rect">
            <a:avLst/>
          </a:prstGeom>
          <a:noFill/>
          <a:ln/>
        </p:spPr>
        <p:txBody>
          <a:bodyPr wrap="square" lIns="0" tIns="0" rIns="0" bIns="0" rtlCol="0" anchor="ctr"/>
          <a:lstStyle/>
          <a:p>
            <a:pPr indent="0" marL="0">
              <a:buNone/>
            </a:pPr>
            <a:r>
              <a:rPr lang="en-US" sz="1800" b="1" dirty="0">
                <a:solidFill>
                  <a:srgbClr val="C00000"/>
                </a:solidFill>
              </a:rPr>
              <a:t>1,138</a:t>
            </a:r>
            <a:endParaRPr lang="en-US" sz="1800" dirty="0"/>
          </a:p>
        </p:txBody>
      </p:sp>
      <p:sp>
        <p:nvSpPr>
          <p:cNvPr id="17" name="Text 15"/>
          <p:cNvSpPr txBox="1"/>
          <p:nvPr/>
        </p:nvSpPr>
        <p:spPr>
          <a:xfrm>
            <a:off x="777240" y="4114800"/>
            <a:ext cx="4983480" cy="1280160"/>
          </a:xfrm>
          <a:prstGeom prst="rect">
            <a:avLst/>
          </a:prstGeom>
          <a:noFill/>
          <a:ln/>
        </p:spPr>
        <p:txBody>
          <a:bodyPr wrap="square" lIns="0" tIns="0" rIns="0" bIns="0" rtlCol="0" anchor="t"/>
          <a:lstStyle/>
          <a:p>
            <a:pPr indent="0" marL="0">
              <a:buNone/>
            </a:pPr>
            <a:r>
              <a:rPr lang="en-US" sz="1400" dirty="0">
                <a:solidFill>
                  <a:schemeClr val="tx2"/>
                </a:solidFill>
              </a:rPr>
              <a:t>Geometry: all helper functions add 912 input tokens, only the needed ones 113. Input tokens are cheaper than output tokens and can be cached across problems of one type.</a:t>
            </a:r>
            <a:endParaRPr lang="en-US" sz="1400" dirty="0"/>
          </a:p>
        </p:txBody>
      </p:sp>
      <p:sp>
        <p:nvSpPr>
          <p:cNvPr id="18" name="hint saves"/>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9" name="Text 17"/>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Saving: output tokens per problem</a:t>
            </a:r>
            <a:endParaRPr lang="en-US" sz="1800" dirty="0"/>
          </a:p>
        </p:txBody>
      </p:sp>
      <p:sp>
        <p:nvSpPr>
          <p:cNvPr id="20" name="Text 18"/>
          <p:cNvSpPr txBox="1"/>
          <p:nvPr/>
        </p:nvSpPr>
        <p:spPr>
          <a:xfrm>
            <a:off x="6400800" y="1783080"/>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Word problems (Qwen3-32B)</a:t>
            </a:r>
            <a:endParaRPr lang="en-US" sz="1500" dirty="0"/>
          </a:p>
        </p:txBody>
      </p:sp>
      <p:sp>
        <p:nvSpPr>
          <p:cNvPr id="21" name="Text 19"/>
          <p:cNvSpPr txBox="1"/>
          <p:nvPr/>
        </p:nvSpPr>
        <p:spPr>
          <a:xfrm>
            <a:off x="8686800" y="20574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2" name="Text 20"/>
          <p:cNvSpPr txBox="1"/>
          <p:nvPr/>
        </p:nvSpPr>
        <p:spPr>
          <a:xfrm>
            <a:off x="9601200" y="20574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3" name="Text 21"/>
          <p:cNvSpPr txBox="1"/>
          <p:nvPr/>
        </p:nvSpPr>
        <p:spPr>
          <a:xfrm>
            <a:off x="6400800" y="24231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 always think</a:t>
            </a:r>
            <a:endParaRPr lang="en-US" sz="1500" dirty="0"/>
          </a:p>
        </p:txBody>
      </p:sp>
      <p:sp>
        <p:nvSpPr>
          <p:cNvPr id="24" name="Text 22"/>
          <p:cNvSpPr txBox="1"/>
          <p:nvPr/>
        </p:nvSpPr>
        <p:spPr>
          <a:xfrm>
            <a:off x="8686800" y="24231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72.0%</a:t>
            </a:r>
            <a:endParaRPr lang="en-US" sz="1700" dirty="0"/>
          </a:p>
        </p:txBody>
      </p:sp>
      <p:sp>
        <p:nvSpPr>
          <p:cNvPr id="25" name="tokens hint + always think"/>
          <p:cNvSpPr/>
          <p:nvPr/>
        </p:nvSpPr>
        <p:spPr>
          <a:xfrm>
            <a:off x="9601200" y="2523744"/>
            <a:ext cx="1051560" cy="256032"/>
          </a:xfrm>
          <a:prstGeom prst="rect">
            <a:avLst/>
          </a:prstGeom>
          <a:solidFill>
            <a:srgbClr val="7F7F7F"/>
          </a:solidFill>
          <a:ln w="6350">
            <a:solidFill>
              <a:srgbClr val="7F7F7F"/>
            </a:solidFill>
            <a:prstDash val="solid"/>
          </a:ln>
        </p:spPr>
      </p:sp>
      <p:sp>
        <p:nvSpPr>
          <p:cNvPr id="26" name="Text 24"/>
          <p:cNvSpPr txBox="1"/>
          <p:nvPr/>
        </p:nvSpPr>
        <p:spPr>
          <a:xfrm>
            <a:off x="10744200" y="24231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5.5k</a:t>
            </a:r>
            <a:endParaRPr lang="en-US" sz="1500" dirty="0"/>
          </a:p>
        </p:txBody>
      </p:sp>
      <p:sp>
        <p:nvSpPr>
          <p:cNvPr id="27" name="Text 25"/>
          <p:cNvSpPr txBox="1"/>
          <p:nvPr/>
        </p:nvSpPr>
        <p:spPr>
          <a:xfrm>
            <a:off x="6400800" y="28620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28" name="Text 26"/>
          <p:cNvSpPr txBox="1"/>
          <p:nvPr/>
        </p:nvSpPr>
        <p:spPr>
          <a:xfrm>
            <a:off x="8686800" y="28620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29" name="tokens hint first, think on failure"/>
          <p:cNvSpPr/>
          <p:nvPr/>
        </p:nvSpPr>
        <p:spPr>
          <a:xfrm>
            <a:off x="9601200" y="2962656"/>
            <a:ext cx="248551" cy="256032"/>
          </a:xfrm>
          <a:prstGeom prst="rect">
            <a:avLst/>
          </a:prstGeom>
          <a:solidFill>
            <a:srgbClr val="4472C4"/>
          </a:solidFill>
          <a:ln w="6350">
            <a:solidFill>
              <a:srgbClr val="4472C4"/>
            </a:solidFill>
            <a:prstDash val="solid"/>
          </a:ln>
        </p:spPr>
      </p:sp>
      <p:sp>
        <p:nvSpPr>
          <p:cNvPr id="30" name="Text 28"/>
          <p:cNvSpPr txBox="1"/>
          <p:nvPr/>
        </p:nvSpPr>
        <p:spPr>
          <a:xfrm>
            <a:off x="9941191" y="28620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1" name="Text 29"/>
          <p:cNvSpPr txBox="1"/>
          <p:nvPr/>
        </p:nvSpPr>
        <p:spPr>
          <a:xfrm>
            <a:off x="6400800" y="3401568"/>
            <a:ext cx="4983480" cy="292608"/>
          </a:xfrm>
          <a:prstGeom prst="rect">
            <a:avLst/>
          </a:prstGeom>
          <a:noFill/>
          <a:ln/>
        </p:spPr>
        <p:txBody>
          <a:bodyPr wrap="square" lIns="0" tIns="0" rIns="0" bIns="0" rtlCol="0" anchor="ctr"/>
          <a:lstStyle/>
          <a:p>
            <a:pPr indent="0" marL="0">
              <a:buNone/>
            </a:pPr>
            <a:r>
              <a:rPr lang="en-US" sz="1500" b="1" dirty="0">
                <a:solidFill>
                  <a:schemeClr val="tx1"/>
                </a:solidFill>
              </a:rPr>
              <a:t>208 geometry + optimization problems × 3 models</a:t>
            </a:r>
            <a:endParaRPr lang="en-US" sz="1500" dirty="0"/>
          </a:p>
        </p:txBody>
      </p:sp>
      <p:sp>
        <p:nvSpPr>
          <p:cNvPr id="32" name="Text 30"/>
          <p:cNvSpPr txBox="1"/>
          <p:nvPr/>
        </p:nvSpPr>
        <p:spPr>
          <a:xfrm>
            <a:off x="8686800" y="365760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33" name="Text 31"/>
          <p:cNvSpPr txBox="1"/>
          <p:nvPr/>
        </p:nvSpPr>
        <p:spPr>
          <a:xfrm>
            <a:off x="9601200" y="365760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34" name="Text 32"/>
          <p:cNvSpPr txBox="1"/>
          <p:nvPr/>
        </p:nvSpPr>
        <p:spPr>
          <a:xfrm>
            <a:off x="6400800" y="402336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no hint (usual way)</a:t>
            </a:r>
            <a:endParaRPr lang="en-US" sz="1500" dirty="0"/>
          </a:p>
        </p:txBody>
      </p:sp>
      <p:sp>
        <p:nvSpPr>
          <p:cNvPr id="35" name="Text 33"/>
          <p:cNvSpPr txBox="1"/>
          <p:nvPr/>
        </p:nvSpPr>
        <p:spPr>
          <a:xfrm>
            <a:off x="8686800" y="402336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74%</a:t>
            </a:r>
            <a:endParaRPr lang="en-US" sz="1700" dirty="0"/>
          </a:p>
        </p:txBody>
      </p:sp>
      <p:sp>
        <p:nvSpPr>
          <p:cNvPr id="36" name="tokens no hint (usual way)"/>
          <p:cNvSpPr/>
          <p:nvPr/>
        </p:nvSpPr>
        <p:spPr>
          <a:xfrm>
            <a:off x="9601200" y="4123944"/>
            <a:ext cx="783890" cy="256032"/>
          </a:xfrm>
          <a:prstGeom prst="rect">
            <a:avLst/>
          </a:prstGeom>
          <a:solidFill>
            <a:srgbClr val="7F7F7F"/>
          </a:solidFill>
          <a:ln w="6350">
            <a:solidFill>
              <a:srgbClr val="7F7F7F"/>
            </a:solidFill>
            <a:prstDash val="solid"/>
          </a:ln>
        </p:spPr>
      </p:sp>
      <p:sp>
        <p:nvSpPr>
          <p:cNvPr id="37" name="Text 35"/>
          <p:cNvSpPr txBox="1"/>
          <p:nvPr/>
        </p:nvSpPr>
        <p:spPr>
          <a:xfrm>
            <a:off x="10476530" y="402336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4.1k</a:t>
            </a:r>
            <a:endParaRPr lang="en-US" sz="1500" dirty="0"/>
          </a:p>
        </p:txBody>
      </p:sp>
      <p:sp>
        <p:nvSpPr>
          <p:cNvPr id="38" name="Text 36"/>
          <p:cNvSpPr txBox="1"/>
          <p:nvPr/>
        </p:nvSpPr>
        <p:spPr>
          <a:xfrm>
            <a:off x="6400800" y="446227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9" name="Text 37"/>
          <p:cNvSpPr txBox="1"/>
          <p:nvPr/>
        </p:nvSpPr>
        <p:spPr>
          <a:xfrm>
            <a:off x="8686800" y="4462272"/>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87%</a:t>
            </a:r>
            <a:endParaRPr lang="en-US" sz="1700" dirty="0"/>
          </a:p>
        </p:txBody>
      </p:sp>
      <p:sp>
        <p:nvSpPr>
          <p:cNvPr id="40" name="tokens hint first, think on failure"/>
          <p:cNvSpPr/>
          <p:nvPr/>
        </p:nvSpPr>
        <p:spPr>
          <a:xfrm>
            <a:off x="9601200" y="4562856"/>
            <a:ext cx="477982" cy="256032"/>
          </a:xfrm>
          <a:prstGeom prst="rect">
            <a:avLst/>
          </a:prstGeom>
          <a:solidFill>
            <a:srgbClr val="4472C4"/>
          </a:solidFill>
          <a:ln w="6350">
            <a:solidFill>
              <a:srgbClr val="4472C4"/>
            </a:solidFill>
            <a:prstDash val="solid"/>
          </a:ln>
        </p:spPr>
      </p:sp>
      <p:sp>
        <p:nvSpPr>
          <p:cNvPr id="41" name="Text 39"/>
          <p:cNvSpPr txBox="1"/>
          <p:nvPr/>
        </p:nvSpPr>
        <p:spPr>
          <a:xfrm>
            <a:off x="10170622" y="4462272"/>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42" name="Text 40"/>
          <p:cNvSpPr txBox="1"/>
          <p:nvPr/>
        </p:nvSpPr>
        <p:spPr>
          <a:xfrm>
            <a:off x="6400800" y="4956048"/>
            <a:ext cx="4983480" cy="502920"/>
          </a:xfrm>
          <a:prstGeom prst="rect">
            <a:avLst/>
          </a:prstGeom>
          <a:noFill/>
          <a:ln/>
        </p:spPr>
        <p:txBody>
          <a:bodyPr wrap="square" lIns="0" tIns="0" rIns="0" bIns="0" rtlCol="0" anchor="t"/>
          <a:lstStyle/>
          <a:p>
            <a:pPr indent="0" marL="0">
              <a:buNone/>
            </a:pPr>
            <a:r>
              <a:rPr lang="en-US" sz="1400" dirty="0">
                <a:solidFill>
                  <a:schemeClr val="tx2"/>
                </a:solidFill>
              </a:rPr>
              <a:t>One-time cost per type: an expert's time, a snippet library, or one pass over past problems.</a:t>
            </a:r>
            <a:endParaRPr lang="en-US" sz="1400" dirty="0"/>
          </a:p>
        </p:txBody>
      </p:sp>
      <p:sp>
        <p:nvSpPr>
          <p:cNvPr id="43" name="Text 4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hint adds about 200 input tokens and saves thousands of thinking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can retrieval (RAG) find the hint?</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BM25 search over a library of titled snippets, Qwen3-32B, % solved optimally (one run)</a:t>
            </a:r>
            <a:endParaRPr lang="en-US" sz="1700" dirty="0"/>
          </a:p>
        </p:txBody>
      </p:sp>
      <p:sp>
        <p:nvSpPr>
          <p:cNvPr id="4" name="rag 6 optimization problems"/>
          <p:cNvSpPr/>
          <p:nvPr/>
        </p:nvSpPr>
        <p:spPr>
          <a:xfrm>
            <a:off x="548640" y="1737360"/>
            <a:ext cx="5440680" cy="3383280"/>
          </a:xfrm>
          <a:prstGeom prst="roundRect">
            <a:avLst>
              <a:gd name="adj" fmla="val 2162"/>
            </a:avLst>
          </a:prstGeom>
          <a:solidFill>
            <a:srgbClr val="F2F2F2"/>
          </a:solidFill>
          <a:ln w="9525">
            <a:solidFill>
              <a:srgbClr val="D9D9D9"/>
            </a:solidFill>
            <a:prstDash val="solid"/>
          </a:ln>
        </p:spPr>
      </p:sp>
      <p:sp>
        <p:nvSpPr>
          <p:cNvPr id="5" name="Text 3"/>
          <p:cNvSpPr txBox="1"/>
          <p:nvPr/>
        </p:nvSpPr>
        <p:spPr>
          <a:xfrm>
            <a:off x="77724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6 optimization problems</a:t>
            </a:r>
            <a:endParaRPr lang="en-US" sz="1800" dirty="0"/>
          </a:p>
        </p:txBody>
      </p:sp>
      <p:sp>
        <p:nvSpPr>
          <p:cNvPr id="6" name="Text 4"/>
          <p:cNvSpPr txBox="1"/>
          <p:nvPr/>
        </p:nvSpPr>
        <p:spPr>
          <a:xfrm>
            <a:off x="77724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7" name="bar no fact"/>
          <p:cNvSpPr/>
          <p:nvPr/>
        </p:nvSpPr>
        <p:spPr>
          <a:xfrm>
            <a:off x="3017520" y="2411273"/>
            <a:ext cx="1378458" cy="265176"/>
          </a:xfrm>
          <a:prstGeom prst="rect">
            <a:avLst/>
          </a:prstGeom>
          <a:solidFill>
            <a:srgbClr val="7F7F7F"/>
          </a:solidFill>
          <a:ln w="6350">
            <a:solidFill>
              <a:srgbClr val="7F7F7F"/>
            </a:solidFill>
            <a:prstDash val="solid"/>
          </a:ln>
        </p:spPr>
      </p:sp>
      <p:sp>
        <p:nvSpPr>
          <p:cNvPr id="8" name="Text 6"/>
          <p:cNvSpPr txBox="1"/>
          <p:nvPr/>
        </p:nvSpPr>
        <p:spPr>
          <a:xfrm>
            <a:off x="4487418"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67%</a:t>
            </a:r>
            <a:endParaRPr lang="en-US" sz="1800" dirty="0"/>
          </a:p>
        </p:txBody>
      </p:sp>
      <p:sp>
        <p:nvSpPr>
          <p:cNvPr id="9" name="Text 7"/>
          <p:cNvSpPr txBox="1"/>
          <p:nvPr/>
        </p:nvSpPr>
        <p:spPr>
          <a:xfrm>
            <a:off x="77724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10" name="bar hand-written fact"/>
          <p:cNvSpPr/>
          <p:nvPr/>
        </p:nvSpPr>
        <p:spPr>
          <a:xfrm>
            <a:off x="3017520" y="2941625"/>
            <a:ext cx="1975104" cy="265176"/>
          </a:xfrm>
          <a:prstGeom prst="rect">
            <a:avLst/>
          </a:prstGeom>
          <a:solidFill>
            <a:srgbClr val="7F7F7F"/>
          </a:solidFill>
          <a:ln w="6350">
            <a:solidFill>
              <a:srgbClr val="7F7F7F"/>
            </a:solidFill>
            <a:prstDash val="solid"/>
          </a:ln>
        </p:spPr>
      </p:sp>
      <p:sp>
        <p:nvSpPr>
          <p:cNvPr id="11" name="Text 9"/>
          <p:cNvSpPr txBox="1"/>
          <p:nvPr/>
        </p:nvSpPr>
        <p:spPr>
          <a:xfrm>
            <a:off x="5084064"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96%</a:t>
            </a:r>
            <a:endParaRPr lang="en-US" sz="1800" dirty="0"/>
          </a:p>
        </p:txBody>
      </p:sp>
      <p:sp>
        <p:nvSpPr>
          <p:cNvPr id="12" name="Text 10"/>
          <p:cNvSpPr txBox="1"/>
          <p:nvPr/>
        </p:nvSpPr>
        <p:spPr>
          <a:xfrm>
            <a:off x="77724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13" name="bar retrieved, top 1"/>
          <p:cNvSpPr/>
          <p:nvPr/>
        </p:nvSpPr>
        <p:spPr>
          <a:xfrm>
            <a:off x="3017520" y="3471977"/>
            <a:ext cx="1995678" cy="265176"/>
          </a:xfrm>
          <a:prstGeom prst="rect">
            <a:avLst/>
          </a:prstGeom>
          <a:solidFill>
            <a:srgbClr val="4472C4"/>
          </a:solidFill>
          <a:ln w="6350">
            <a:solidFill>
              <a:srgbClr val="4472C4"/>
            </a:solidFill>
            <a:prstDash val="solid"/>
          </a:ln>
        </p:spPr>
      </p:sp>
      <p:sp>
        <p:nvSpPr>
          <p:cNvPr id="14" name="Text 12"/>
          <p:cNvSpPr txBox="1"/>
          <p:nvPr/>
        </p:nvSpPr>
        <p:spPr>
          <a:xfrm>
            <a:off x="5104638"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97%</a:t>
            </a:r>
            <a:endParaRPr lang="en-US" sz="1800" dirty="0"/>
          </a:p>
        </p:txBody>
      </p:sp>
      <p:sp>
        <p:nvSpPr>
          <p:cNvPr id="15" name="Text 13"/>
          <p:cNvSpPr txBox="1"/>
          <p:nvPr/>
        </p:nvSpPr>
        <p:spPr>
          <a:xfrm>
            <a:off x="77724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3</a:t>
            </a:r>
            <a:endParaRPr lang="en-US" sz="1600" dirty="0"/>
          </a:p>
        </p:txBody>
      </p:sp>
      <p:sp>
        <p:nvSpPr>
          <p:cNvPr id="16" name="bar retrieved, top 3"/>
          <p:cNvSpPr/>
          <p:nvPr/>
        </p:nvSpPr>
        <p:spPr>
          <a:xfrm>
            <a:off x="3017520" y="4002329"/>
            <a:ext cx="1913382" cy="265176"/>
          </a:xfrm>
          <a:prstGeom prst="rect">
            <a:avLst/>
          </a:prstGeom>
          <a:solidFill>
            <a:srgbClr val="4472C4"/>
          </a:solidFill>
          <a:ln w="6350">
            <a:solidFill>
              <a:srgbClr val="4472C4"/>
            </a:solidFill>
            <a:prstDash val="solid"/>
          </a:ln>
        </p:spPr>
      </p:sp>
      <p:sp>
        <p:nvSpPr>
          <p:cNvPr id="17" name="Text 15"/>
          <p:cNvSpPr txBox="1"/>
          <p:nvPr/>
        </p:nvSpPr>
        <p:spPr>
          <a:xfrm>
            <a:off x="5022342" y="3922776"/>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93%</a:t>
            </a:r>
            <a:endParaRPr lang="en-US" sz="1800" dirty="0"/>
          </a:p>
        </p:txBody>
      </p:sp>
      <p:sp>
        <p:nvSpPr>
          <p:cNvPr id="18" name="Text 16"/>
          <p:cNvSpPr txBox="1"/>
          <p:nvPr/>
        </p:nvSpPr>
        <p:spPr>
          <a:xfrm>
            <a:off x="77724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19" name="bar untitled pages, top 3"/>
          <p:cNvSpPr/>
          <p:nvPr/>
        </p:nvSpPr>
        <p:spPr>
          <a:xfrm>
            <a:off x="3017520" y="4532681"/>
            <a:ext cx="1851660" cy="265176"/>
          </a:xfrm>
          <a:prstGeom prst="rect">
            <a:avLst/>
          </a:prstGeom>
          <a:solidFill>
            <a:srgbClr val="7F7F7F"/>
          </a:solidFill>
          <a:ln w="6350">
            <a:solidFill>
              <a:srgbClr val="7F7F7F"/>
            </a:solidFill>
            <a:prstDash val="solid"/>
          </a:ln>
        </p:spPr>
      </p:sp>
      <p:sp>
        <p:nvSpPr>
          <p:cNvPr id="20" name="Text 18"/>
          <p:cNvSpPr txBox="1"/>
          <p:nvPr/>
        </p:nvSpPr>
        <p:spPr>
          <a:xfrm>
            <a:off x="4960620"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90%</a:t>
            </a:r>
            <a:endParaRPr lang="en-US" sz="1800" dirty="0"/>
          </a:p>
        </p:txBody>
      </p:sp>
      <p:sp>
        <p:nvSpPr>
          <p:cNvPr id="21" name="rag Routing (30 CVRP problems)"/>
          <p:cNvSpPr/>
          <p:nvPr/>
        </p:nvSpPr>
        <p:spPr>
          <a:xfrm>
            <a:off x="6172200" y="1737360"/>
            <a:ext cx="5440680" cy="3383280"/>
          </a:xfrm>
          <a:prstGeom prst="roundRect">
            <a:avLst>
              <a:gd name="adj" fmla="val 2162"/>
            </a:avLst>
          </a:prstGeom>
          <a:solidFill>
            <a:srgbClr val="F2F2F2"/>
          </a:solidFill>
          <a:ln w="9525">
            <a:solidFill>
              <a:srgbClr val="D9D9D9"/>
            </a:solidFill>
            <a:prstDash val="solid"/>
          </a:ln>
        </p:spPr>
      </p:sp>
      <p:sp>
        <p:nvSpPr>
          <p:cNvPr id="22" name="Text 20"/>
          <p:cNvSpPr txBox="1"/>
          <p:nvPr/>
        </p:nvSpPr>
        <p:spPr>
          <a:xfrm>
            <a:off x="6400800" y="1828800"/>
            <a:ext cx="4983480" cy="411480"/>
          </a:xfrm>
          <a:prstGeom prst="rect">
            <a:avLst/>
          </a:prstGeom>
          <a:noFill/>
          <a:ln/>
        </p:spPr>
        <p:txBody>
          <a:bodyPr wrap="square" lIns="0" tIns="0" rIns="0" bIns="0" rtlCol="0" anchor="ctr"/>
          <a:lstStyle/>
          <a:p>
            <a:pPr indent="0" marL="0">
              <a:buNone/>
            </a:pPr>
            <a:r>
              <a:rPr lang="en-US" sz="1800" b="1" dirty="0">
                <a:solidFill>
                  <a:srgbClr val="4472C4"/>
                </a:solidFill>
              </a:rPr>
              <a:t>Routing (30 CVRP problems)</a:t>
            </a:r>
            <a:endParaRPr lang="en-US" sz="1800" dirty="0"/>
          </a:p>
        </p:txBody>
      </p:sp>
      <p:sp>
        <p:nvSpPr>
          <p:cNvPr id="23" name="Text 21"/>
          <p:cNvSpPr txBox="1"/>
          <p:nvPr/>
        </p:nvSpPr>
        <p:spPr>
          <a:xfrm>
            <a:off x="6400800" y="2331720"/>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no hint</a:t>
            </a:r>
            <a:endParaRPr lang="en-US" sz="1600" dirty="0"/>
          </a:p>
        </p:txBody>
      </p:sp>
      <p:sp>
        <p:nvSpPr>
          <p:cNvPr id="24" name="bar no fact"/>
          <p:cNvSpPr/>
          <p:nvPr/>
        </p:nvSpPr>
        <p:spPr>
          <a:xfrm>
            <a:off x="8641080" y="2411273"/>
            <a:ext cx="473202" cy="265176"/>
          </a:xfrm>
          <a:prstGeom prst="rect">
            <a:avLst/>
          </a:prstGeom>
          <a:solidFill>
            <a:srgbClr val="7F7F7F"/>
          </a:solidFill>
          <a:ln w="6350">
            <a:solidFill>
              <a:srgbClr val="7F7F7F"/>
            </a:solidFill>
            <a:prstDash val="solid"/>
          </a:ln>
        </p:spPr>
      </p:sp>
      <p:sp>
        <p:nvSpPr>
          <p:cNvPr id="25" name="Text 23"/>
          <p:cNvSpPr txBox="1"/>
          <p:nvPr/>
        </p:nvSpPr>
        <p:spPr>
          <a:xfrm>
            <a:off x="9205722" y="2331720"/>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6" name="Text 24"/>
          <p:cNvSpPr txBox="1"/>
          <p:nvPr/>
        </p:nvSpPr>
        <p:spPr>
          <a:xfrm>
            <a:off x="6400800" y="2862072"/>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hand-written hint</a:t>
            </a:r>
            <a:endParaRPr lang="en-US" sz="1600" dirty="0"/>
          </a:p>
        </p:txBody>
      </p:sp>
      <p:sp>
        <p:nvSpPr>
          <p:cNvPr id="27" name="bar hand-written fact"/>
          <p:cNvSpPr/>
          <p:nvPr/>
        </p:nvSpPr>
        <p:spPr>
          <a:xfrm>
            <a:off x="8641080" y="2941625"/>
            <a:ext cx="1707642" cy="265176"/>
          </a:xfrm>
          <a:prstGeom prst="rect">
            <a:avLst/>
          </a:prstGeom>
          <a:solidFill>
            <a:srgbClr val="7F7F7F"/>
          </a:solidFill>
          <a:ln w="6350">
            <a:solidFill>
              <a:srgbClr val="7F7F7F"/>
            </a:solidFill>
            <a:prstDash val="solid"/>
          </a:ln>
        </p:spPr>
      </p:sp>
      <p:sp>
        <p:nvSpPr>
          <p:cNvPr id="28" name="Text 26"/>
          <p:cNvSpPr txBox="1"/>
          <p:nvPr/>
        </p:nvSpPr>
        <p:spPr>
          <a:xfrm>
            <a:off x="10440162" y="2862072"/>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83%</a:t>
            </a:r>
            <a:endParaRPr lang="en-US" sz="1800" dirty="0"/>
          </a:p>
        </p:txBody>
      </p:sp>
      <p:sp>
        <p:nvSpPr>
          <p:cNvPr id="29" name="Text 27"/>
          <p:cNvSpPr txBox="1"/>
          <p:nvPr/>
        </p:nvSpPr>
        <p:spPr>
          <a:xfrm>
            <a:off x="6400800" y="3392424"/>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retrieved, top 1</a:t>
            </a:r>
            <a:endParaRPr lang="en-US" sz="1600" dirty="0"/>
          </a:p>
        </p:txBody>
      </p:sp>
      <p:sp>
        <p:nvSpPr>
          <p:cNvPr id="30" name="bar retrieved, top 1"/>
          <p:cNvSpPr/>
          <p:nvPr/>
        </p:nvSpPr>
        <p:spPr>
          <a:xfrm>
            <a:off x="8641080" y="3471977"/>
            <a:ext cx="1440180" cy="265176"/>
          </a:xfrm>
          <a:prstGeom prst="rect">
            <a:avLst/>
          </a:prstGeom>
          <a:solidFill>
            <a:srgbClr val="4472C4"/>
          </a:solidFill>
          <a:ln w="6350">
            <a:solidFill>
              <a:srgbClr val="4472C4"/>
            </a:solidFill>
            <a:prstDash val="solid"/>
          </a:ln>
        </p:spPr>
      </p:sp>
      <p:sp>
        <p:nvSpPr>
          <p:cNvPr id="31" name="Text 29"/>
          <p:cNvSpPr txBox="1"/>
          <p:nvPr/>
        </p:nvSpPr>
        <p:spPr>
          <a:xfrm>
            <a:off x="10172700" y="3392424"/>
            <a:ext cx="685800" cy="424282"/>
          </a:xfrm>
          <a:prstGeom prst="rect">
            <a:avLst/>
          </a:prstGeom>
          <a:noFill/>
          <a:ln/>
        </p:spPr>
        <p:txBody>
          <a:bodyPr wrap="square" lIns="0" tIns="0" rIns="0" bIns="0" rtlCol="0" anchor="ctr"/>
          <a:lstStyle/>
          <a:p>
            <a:pPr indent="0" marL="0">
              <a:buNone/>
            </a:pPr>
            <a:r>
              <a:rPr lang="en-US" sz="1800" b="1" dirty="0">
                <a:solidFill>
                  <a:srgbClr val="4472C4"/>
                </a:solidFill>
              </a:rPr>
              <a:t>70%</a:t>
            </a:r>
            <a:endParaRPr lang="en-US" sz="1800" dirty="0"/>
          </a:p>
        </p:txBody>
      </p:sp>
      <p:sp>
        <p:nvSpPr>
          <p:cNvPr id="32" name="Text 30"/>
          <p:cNvSpPr txBox="1"/>
          <p:nvPr/>
        </p:nvSpPr>
        <p:spPr>
          <a:xfrm>
            <a:off x="6400800" y="3922776"/>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top 3 (+ a near miss)</a:t>
            </a:r>
            <a:endParaRPr lang="en-US" sz="1600" dirty="0"/>
          </a:p>
        </p:txBody>
      </p:sp>
      <p:sp>
        <p:nvSpPr>
          <p:cNvPr id="33" name="bar top 3 (+ a near miss)"/>
          <p:cNvSpPr/>
          <p:nvPr/>
        </p:nvSpPr>
        <p:spPr>
          <a:xfrm>
            <a:off x="8641080" y="4002329"/>
            <a:ext cx="1172718" cy="265176"/>
          </a:xfrm>
          <a:prstGeom prst="rect">
            <a:avLst/>
          </a:prstGeom>
          <a:solidFill>
            <a:srgbClr val="C00000"/>
          </a:solidFill>
          <a:ln w="6350">
            <a:solidFill>
              <a:srgbClr val="C00000"/>
            </a:solidFill>
            <a:prstDash val="solid"/>
          </a:ln>
        </p:spPr>
      </p:sp>
      <p:sp>
        <p:nvSpPr>
          <p:cNvPr id="34" name="Text 32"/>
          <p:cNvSpPr txBox="1"/>
          <p:nvPr/>
        </p:nvSpPr>
        <p:spPr>
          <a:xfrm>
            <a:off x="9905238" y="3922776"/>
            <a:ext cx="685800" cy="424282"/>
          </a:xfrm>
          <a:prstGeom prst="rect">
            <a:avLst/>
          </a:prstGeom>
          <a:noFill/>
          <a:ln/>
        </p:spPr>
        <p:txBody>
          <a:bodyPr wrap="square" lIns="0" tIns="0" rIns="0" bIns="0" rtlCol="0" anchor="ctr"/>
          <a:lstStyle/>
          <a:p>
            <a:pPr indent="0" marL="0">
              <a:buNone/>
            </a:pPr>
            <a:r>
              <a:rPr lang="en-US" sz="1800" b="1" dirty="0">
                <a:solidFill>
                  <a:srgbClr val="C00000"/>
                </a:solidFill>
              </a:rPr>
              <a:t>57%</a:t>
            </a:r>
            <a:endParaRPr lang="en-US" sz="1800" dirty="0"/>
          </a:p>
        </p:txBody>
      </p:sp>
      <p:sp>
        <p:nvSpPr>
          <p:cNvPr id="35" name="Text 33"/>
          <p:cNvSpPr txBox="1"/>
          <p:nvPr/>
        </p:nvSpPr>
        <p:spPr>
          <a:xfrm>
            <a:off x="6400800" y="4453128"/>
            <a:ext cx="2103120" cy="424282"/>
          </a:xfrm>
          <a:prstGeom prst="rect">
            <a:avLst/>
          </a:prstGeom>
          <a:noFill/>
          <a:ln/>
        </p:spPr>
        <p:txBody>
          <a:bodyPr wrap="square" lIns="0" tIns="0" rIns="0" bIns="0" rtlCol="0" anchor="ctr"/>
          <a:lstStyle/>
          <a:p>
            <a:pPr algn="r" indent="0" marL="0">
              <a:buNone/>
            </a:pPr>
            <a:r>
              <a:rPr lang="en-US" sz="1600" dirty="0">
                <a:solidFill>
                  <a:schemeClr val="tx1"/>
                </a:solidFill>
              </a:rPr>
              <a:t>untitled pages, top 3</a:t>
            </a:r>
            <a:endParaRPr lang="en-US" sz="1600" dirty="0"/>
          </a:p>
        </p:txBody>
      </p:sp>
      <p:sp>
        <p:nvSpPr>
          <p:cNvPr id="36" name="bar untitled pages, top 3"/>
          <p:cNvSpPr/>
          <p:nvPr/>
        </p:nvSpPr>
        <p:spPr>
          <a:xfrm>
            <a:off x="8641080" y="4532681"/>
            <a:ext cx="1090422" cy="265176"/>
          </a:xfrm>
          <a:prstGeom prst="rect">
            <a:avLst/>
          </a:prstGeom>
          <a:solidFill>
            <a:srgbClr val="7F7F7F"/>
          </a:solidFill>
          <a:ln w="6350">
            <a:solidFill>
              <a:srgbClr val="7F7F7F"/>
            </a:solidFill>
            <a:prstDash val="solid"/>
          </a:ln>
        </p:spPr>
      </p:sp>
      <p:sp>
        <p:nvSpPr>
          <p:cNvPr id="37" name="Text 35"/>
          <p:cNvSpPr txBox="1"/>
          <p:nvPr/>
        </p:nvSpPr>
        <p:spPr>
          <a:xfrm>
            <a:off x="9822942" y="4453128"/>
            <a:ext cx="685800" cy="424282"/>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38" name="Text 36"/>
          <p:cNvSpPr txBox="1"/>
          <p:nvPr/>
        </p:nvSpPr>
        <p:spPr>
          <a:xfrm>
            <a:off x="548640" y="5166360"/>
            <a:ext cx="11064240" cy="457200"/>
          </a:xfrm>
          <a:prstGeom prst="rect">
            <a:avLst/>
          </a:prstGeom>
          <a:noFill/>
          <a:ln/>
        </p:spPr>
        <p:txBody>
          <a:bodyPr wrap="square" lIns="0" tIns="0" rIns="0" bIns="0" rtlCol="0" anchor="ctr"/>
          <a:lstStyle/>
          <a:p>
            <a:pPr indent="0" marL="0">
              <a:buNone/>
            </a:pPr>
            <a:r>
              <a:rPr lang="en-US" sz="1500" dirty="0">
                <a:solidFill>
                  <a:schemeClr val="tx2"/>
                </a:solidFill>
              </a:rPr>
              <a:t>The near miss: top 3 also brings the TSP routing page. No documentation at all? The model's own checked program is the hint (page 24).</a:t>
            </a:r>
            <a:endParaRPr lang="en-US" sz="1500" dirty="0"/>
          </a:p>
        </p:txBody>
      </p:sp>
      <p:sp>
        <p:nvSpPr>
          <p:cNvPr id="39" name="Text 3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Precise retrieval works like a hand-written hint; a near-miss page can cost 26 points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can thinking make it worse?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Qwen3-32B writes OR-Tools programs for optimization word problems (NL4OPT + IndustryOR)</a:t>
            </a:r>
            <a:endParaRPr lang="en-US" sz="1700" dirty="0"/>
          </a:p>
        </p:txBody>
      </p:sp>
      <p:sp>
        <p:nvSpPr>
          <p:cNvPr id="4" name="box thinking, no fact"/>
          <p:cNvSpPr/>
          <p:nvPr/>
        </p:nvSpPr>
        <p:spPr>
          <a:xfrm>
            <a:off x="548640" y="1783080"/>
            <a:ext cx="2468880" cy="548640"/>
          </a:xfrm>
          <a:prstGeom prst="roundRect">
            <a:avLst>
              <a:gd name="adj" fmla="val 10000"/>
            </a:avLst>
          </a:prstGeom>
          <a:solidFill>
            <a:srgbClr val="FCE4D6"/>
          </a:solidFill>
          <a:ln w="9525">
            <a:solidFill>
              <a:srgbClr val="BFBFBF"/>
            </a:solidFill>
            <a:prstDash val="solid"/>
          </a:ln>
        </p:spPr>
      </p:sp>
      <p:sp>
        <p:nvSpPr>
          <p:cNvPr id="5" name="Text 3"/>
          <p:cNvSpPr txBox="1"/>
          <p:nvPr/>
        </p:nvSpPr>
        <p:spPr>
          <a:xfrm>
            <a:off x="621792" y="178308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thinking, no hint</a:t>
            </a:r>
            <a:endParaRPr lang="en-US" sz="1600" dirty="0"/>
          </a:p>
        </p:txBody>
      </p:sp>
      <p:sp>
        <p:nvSpPr>
          <p:cNvPr id="6" name="Shape 4"/>
          <p:cNvSpPr/>
          <p:nvPr/>
        </p:nvSpPr>
        <p:spPr>
          <a:xfrm>
            <a:off x="3017520" y="2057400"/>
            <a:ext cx="320040" cy="0"/>
          </a:xfrm>
          <a:prstGeom prst="line">
            <a:avLst/>
          </a:prstGeom>
          <a:noFill/>
          <a:ln w="25400">
            <a:solidFill>
              <a:srgbClr val="7F7F7F"/>
            </a:solidFill>
            <a:prstDash val="solid"/>
            <a:tailEnd type="triangle"/>
          </a:ln>
        </p:spPr>
      </p:sp>
      <p:sp>
        <p:nvSpPr>
          <p:cNvPr id="7" name="code Objective().SetMaxim"/>
          <p:cNvSpPr/>
          <p:nvPr/>
        </p:nvSpPr>
        <p:spPr>
          <a:xfrm>
            <a:off x="3337560" y="1783080"/>
            <a:ext cx="4480560" cy="548640"/>
          </a:xfrm>
          <a:prstGeom prst="rect">
            <a:avLst/>
          </a:prstGeom>
          <a:solidFill>
            <a:srgbClr val="FFFFFF"/>
          </a:solidFill>
          <a:ln w="9525">
            <a:solidFill>
              <a:srgbClr val="BFBFBF"/>
            </a:solidFill>
            <a:prstDash val="solid"/>
          </a:ln>
        </p:spPr>
      </p:sp>
      <p:sp>
        <p:nvSpPr>
          <p:cNvPr id="8" name="Text 6"/>
          <p:cNvSpPr txBox="1"/>
          <p:nvPr/>
        </p:nvSpPr>
        <p:spPr>
          <a:xfrm>
            <a:off x="3447288" y="1783080"/>
            <a:ext cx="4261104" cy="548640"/>
          </a:xfrm>
          <a:prstGeom prst="rect">
            <a:avLst/>
          </a:prstGeom>
          <a:noFill/>
          <a:ln/>
        </p:spPr>
        <p:txBody>
          <a:bodyPr wrap="square" lIns="0" tIns="0" rIns="0" bIns="0" rtlCol="0" anchor="ctr"/>
          <a:lstStyle/>
          <a:p>
            <a:pPr indent="0" marL="0">
              <a:buNone/>
            </a:pPr>
            <a:r>
              <a:rPr lang="en-US" sz="1500" dirty="0">
                <a:solidFill>
                  <a:srgbClr val="C00000"/>
                </a:solidFill>
                <a:latin typeface="Courier New" pitchFamily="34" charset="0"/>
                <a:ea typeface="Courier New" pitchFamily="34" charset="-122"/>
                <a:cs typeface="Courier New" pitchFamily="34" charset="-120"/>
              </a:rPr>
              <a:t>Objective().SetMaximize()</a:t>
            </a:r>
            <a:endParaRPr lang="en-US" sz="1500" dirty="0"/>
          </a:p>
        </p:txBody>
      </p:sp>
      <p:sp>
        <p:nvSpPr>
          <p:cNvPr id="9" name="Text 7"/>
          <p:cNvSpPr txBox="1"/>
          <p:nvPr/>
        </p:nvSpPr>
        <p:spPr>
          <a:xfrm>
            <a:off x="8001000" y="1783080"/>
            <a:ext cx="3566160" cy="548640"/>
          </a:xfrm>
          <a:prstGeom prst="rect">
            <a:avLst/>
          </a:prstGeom>
          <a:noFill/>
          <a:ln/>
        </p:spPr>
        <p:txBody>
          <a:bodyPr wrap="square" lIns="0" tIns="0" rIns="0" bIns="0" rtlCol="0" anchor="ctr"/>
          <a:lstStyle/>
          <a:p>
            <a:pPr indent="0" marL="0">
              <a:buNone/>
            </a:pPr>
            <a:r>
              <a:rPr lang="en-US" sz="1700" b="1" dirty="0">
                <a:solidFill>
                  <a:srgbClr val="C00000"/>
                </a:solidFill>
              </a:rPr>
              <a:t>✗ invented method: crash</a:t>
            </a:r>
            <a:endParaRPr lang="en-US" sz="1700" dirty="0"/>
          </a:p>
        </p:txBody>
      </p:sp>
      <p:sp>
        <p:nvSpPr>
          <p:cNvPr id="10" name="box exact usage first"/>
          <p:cNvSpPr/>
          <p:nvPr/>
        </p:nvSpPr>
        <p:spPr>
          <a:xfrm>
            <a:off x="548640" y="2514600"/>
            <a:ext cx="2468880" cy="548640"/>
          </a:xfrm>
          <a:prstGeom prst="roundRect">
            <a:avLst>
              <a:gd name="adj" fmla="val 10000"/>
            </a:avLst>
          </a:prstGeom>
          <a:solidFill>
            <a:srgbClr val="E2F0D9"/>
          </a:solidFill>
          <a:ln w="9525">
            <a:solidFill>
              <a:srgbClr val="BFBFBF"/>
            </a:solidFill>
            <a:prstDash val="solid"/>
          </a:ln>
        </p:spPr>
      </p:sp>
      <p:sp>
        <p:nvSpPr>
          <p:cNvPr id="11" name="Text 9"/>
          <p:cNvSpPr txBox="1"/>
          <p:nvPr/>
        </p:nvSpPr>
        <p:spPr>
          <a:xfrm>
            <a:off x="621792" y="2514600"/>
            <a:ext cx="2322576" cy="548640"/>
          </a:xfrm>
          <a:prstGeom prst="rect">
            <a:avLst/>
          </a:prstGeom>
          <a:noFill/>
          <a:ln/>
        </p:spPr>
        <p:txBody>
          <a:bodyPr wrap="square" lIns="0" tIns="0" rIns="0" bIns="0" rtlCol="0" anchor="ctr"/>
          <a:lstStyle/>
          <a:p>
            <a:pPr algn="ctr" indent="0" marL="0">
              <a:buNone/>
            </a:pPr>
            <a:r>
              <a:rPr lang="en-US" sz="1600" b="1" dirty="0">
                <a:solidFill>
                  <a:schemeClr val="tx1"/>
                </a:solidFill>
              </a:rPr>
              <a:t>exact usage first</a:t>
            </a:r>
            <a:endParaRPr lang="en-US" sz="1600" dirty="0"/>
          </a:p>
        </p:txBody>
      </p:sp>
      <p:sp>
        <p:nvSpPr>
          <p:cNvPr id="12" name="Shape 10"/>
          <p:cNvSpPr/>
          <p:nvPr/>
        </p:nvSpPr>
        <p:spPr>
          <a:xfrm>
            <a:off x="3017520" y="2788920"/>
            <a:ext cx="320040" cy="0"/>
          </a:xfrm>
          <a:prstGeom prst="line">
            <a:avLst/>
          </a:prstGeom>
          <a:noFill/>
          <a:ln w="25400">
            <a:solidFill>
              <a:srgbClr val="7F7F7F"/>
            </a:solidFill>
            <a:prstDash val="solid"/>
            <a:tailEnd type="triangle"/>
          </a:ln>
        </p:spPr>
      </p:sp>
      <p:sp>
        <p:nvSpPr>
          <p:cNvPr id="13" name="code solver.Maximize(...)"/>
          <p:cNvSpPr/>
          <p:nvPr/>
        </p:nvSpPr>
        <p:spPr>
          <a:xfrm>
            <a:off x="3337560" y="2514600"/>
            <a:ext cx="4480560" cy="548640"/>
          </a:xfrm>
          <a:prstGeom prst="rect">
            <a:avLst/>
          </a:prstGeom>
          <a:solidFill>
            <a:srgbClr val="FFFFFF"/>
          </a:solidFill>
          <a:ln w="9525">
            <a:solidFill>
              <a:srgbClr val="BFBFBF"/>
            </a:solidFill>
            <a:prstDash val="solid"/>
          </a:ln>
        </p:spPr>
      </p:sp>
      <p:sp>
        <p:nvSpPr>
          <p:cNvPr id="14" name="Text 12"/>
          <p:cNvSpPr txBox="1"/>
          <p:nvPr/>
        </p:nvSpPr>
        <p:spPr>
          <a:xfrm>
            <a:off x="3447288" y="2514600"/>
            <a:ext cx="4261104" cy="548640"/>
          </a:xfrm>
          <a:prstGeom prst="rect">
            <a:avLst/>
          </a:prstGeom>
          <a:noFill/>
          <a:ln/>
        </p:spPr>
        <p:txBody>
          <a:bodyPr wrap="square" lIns="0" tIns="0" rIns="0" bIns="0" rtlCol="0" anchor="ctr"/>
          <a:lstStyle/>
          <a:p>
            <a:pPr indent="0" marL="0">
              <a:buNone/>
            </a:pPr>
            <a:r>
              <a:rPr lang="en-US" sz="1500" dirty="0">
                <a:solidFill>
                  <a:srgbClr val="38761D"/>
                </a:solidFill>
                <a:latin typeface="Courier New" pitchFamily="34" charset="0"/>
                <a:ea typeface="Courier New" pitchFamily="34" charset="-122"/>
                <a:cs typeface="Courier New" pitchFamily="34" charset="-120"/>
              </a:rPr>
              <a:t>solver.Maximize(...)</a:t>
            </a:r>
            <a:endParaRPr lang="en-US" sz="1500" dirty="0"/>
          </a:p>
        </p:txBody>
      </p:sp>
      <p:sp>
        <p:nvSpPr>
          <p:cNvPr id="15" name="Text 13"/>
          <p:cNvSpPr txBox="1"/>
          <p:nvPr/>
        </p:nvSpPr>
        <p:spPr>
          <a:xfrm>
            <a:off x="8001000" y="2514600"/>
            <a:ext cx="3566160" cy="548640"/>
          </a:xfrm>
          <a:prstGeom prst="rect">
            <a:avLst/>
          </a:prstGeom>
          <a:noFill/>
          <a:ln/>
        </p:spPr>
        <p:txBody>
          <a:bodyPr wrap="square" lIns="0" tIns="0" rIns="0" bIns="0" rtlCol="0" anchor="ctr"/>
          <a:lstStyle/>
          <a:p>
            <a:pPr indent="0" marL="0">
              <a:buNone/>
            </a:pPr>
            <a:r>
              <a:rPr lang="en-US" sz="1700" b="1" dirty="0">
                <a:solidFill>
                  <a:srgbClr val="38761D"/>
                </a:solidFill>
              </a:rPr>
              <a:t>✓ the real call: runs</a:t>
            </a:r>
            <a:endParaRPr lang="en-US" sz="1700" dirty="0"/>
          </a:p>
        </p:txBody>
      </p:sp>
      <p:sp>
        <p:nvSpPr>
          <p:cNvPr id="16" name="Text 14"/>
          <p:cNvSpPr txBox="1"/>
          <p:nvPr/>
        </p:nvSpPr>
        <p:spPr>
          <a:xfrm>
            <a:off x="548640" y="32918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solved:</a:t>
            </a:r>
            <a:endParaRPr lang="en-US" sz="1700" dirty="0"/>
          </a:p>
        </p:txBody>
      </p:sp>
      <p:sp>
        <p:nvSpPr>
          <p:cNvPr id="17" name="Text 15"/>
          <p:cNvSpPr txBox="1"/>
          <p:nvPr/>
        </p:nvSpPr>
        <p:spPr>
          <a:xfrm>
            <a:off x="548640" y="36576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no thinking</a:t>
            </a:r>
            <a:endParaRPr lang="en-US" sz="1600" dirty="0"/>
          </a:p>
        </p:txBody>
      </p:sp>
      <p:sp>
        <p:nvSpPr>
          <p:cNvPr id="18" name="bar no fact, no thinking"/>
          <p:cNvSpPr/>
          <p:nvPr/>
        </p:nvSpPr>
        <p:spPr>
          <a:xfrm>
            <a:off x="3794760" y="3726180"/>
            <a:ext cx="3528304" cy="228600"/>
          </a:xfrm>
          <a:prstGeom prst="rect">
            <a:avLst/>
          </a:prstGeom>
          <a:solidFill>
            <a:srgbClr val="7F7F7F"/>
          </a:solidFill>
          <a:ln w="6350">
            <a:solidFill>
              <a:srgbClr val="7F7F7F"/>
            </a:solidFill>
            <a:prstDash val="solid"/>
          </a:ln>
        </p:spPr>
      </p:sp>
      <p:sp>
        <p:nvSpPr>
          <p:cNvPr id="19" name="Text 17"/>
          <p:cNvSpPr txBox="1"/>
          <p:nvPr/>
        </p:nvSpPr>
        <p:spPr>
          <a:xfrm>
            <a:off x="7414504" y="36576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65.4%</a:t>
            </a:r>
            <a:endParaRPr lang="en-US" sz="1800" dirty="0"/>
          </a:p>
        </p:txBody>
      </p:sp>
      <p:sp>
        <p:nvSpPr>
          <p:cNvPr id="20" name="Text 18"/>
          <p:cNvSpPr txBox="1"/>
          <p:nvPr/>
        </p:nvSpPr>
        <p:spPr>
          <a:xfrm>
            <a:off x="548640" y="41148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no hint, thinking</a:t>
            </a:r>
            <a:endParaRPr lang="en-US" sz="1600" dirty="0"/>
          </a:p>
        </p:txBody>
      </p:sp>
      <p:sp>
        <p:nvSpPr>
          <p:cNvPr id="21" name="bar no fact, thinking"/>
          <p:cNvSpPr/>
          <p:nvPr/>
        </p:nvSpPr>
        <p:spPr>
          <a:xfrm>
            <a:off x="3794760" y="4183380"/>
            <a:ext cx="2805379" cy="228600"/>
          </a:xfrm>
          <a:prstGeom prst="rect">
            <a:avLst/>
          </a:prstGeom>
          <a:solidFill>
            <a:srgbClr val="C00000"/>
          </a:solidFill>
          <a:ln w="6350">
            <a:solidFill>
              <a:srgbClr val="C00000"/>
            </a:solidFill>
            <a:prstDash val="solid"/>
          </a:ln>
        </p:spPr>
      </p:sp>
      <p:sp>
        <p:nvSpPr>
          <p:cNvPr id="22" name="Text 20"/>
          <p:cNvSpPr txBox="1"/>
          <p:nvPr/>
        </p:nvSpPr>
        <p:spPr>
          <a:xfrm>
            <a:off x="6691579" y="4114800"/>
            <a:ext cx="2377440" cy="365760"/>
          </a:xfrm>
          <a:prstGeom prst="rect">
            <a:avLst/>
          </a:prstGeom>
          <a:noFill/>
          <a:ln/>
        </p:spPr>
        <p:txBody>
          <a:bodyPr wrap="square" lIns="0" tIns="0" rIns="0" bIns="0" rtlCol="0" anchor="ctr"/>
          <a:lstStyle/>
          <a:p>
            <a:pPr indent="0" marL="0">
              <a:buNone/>
            </a:pPr>
            <a:r>
              <a:rPr lang="en-US" sz="1800" b="1" dirty="0">
                <a:solidFill>
                  <a:srgbClr val="C00000"/>
                </a:solidFill>
              </a:rPr>
              <a:t>52.0%</a:t>
            </a:r>
            <a:endParaRPr lang="en-US" sz="1800" dirty="0"/>
          </a:p>
        </p:txBody>
      </p:sp>
      <p:sp>
        <p:nvSpPr>
          <p:cNvPr id="23" name="Text 21"/>
          <p:cNvSpPr txBox="1"/>
          <p:nvPr/>
        </p:nvSpPr>
        <p:spPr>
          <a:xfrm>
            <a:off x="548640" y="45720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always thinking</a:t>
            </a:r>
            <a:endParaRPr lang="en-US" sz="1600" dirty="0"/>
          </a:p>
        </p:txBody>
      </p:sp>
      <p:sp>
        <p:nvSpPr>
          <p:cNvPr id="24" name="bar fact, always thinking"/>
          <p:cNvSpPr/>
          <p:nvPr/>
        </p:nvSpPr>
        <p:spPr>
          <a:xfrm>
            <a:off x="3794760" y="4640580"/>
            <a:ext cx="3884371" cy="228600"/>
          </a:xfrm>
          <a:prstGeom prst="rect">
            <a:avLst/>
          </a:prstGeom>
          <a:solidFill>
            <a:srgbClr val="7F7F7F"/>
          </a:solidFill>
          <a:ln w="6350">
            <a:solidFill>
              <a:srgbClr val="7F7F7F"/>
            </a:solidFill>
            <a:prstDash val="solid"/>
          </a:ln>
        </p:spPr>
      </p:sp>
      <p:sp>
        <p:nvSpPr>
          <p:cNvPr id="25" name="Text 23"/>
          <p:cNvSpPr txBox="1"/>
          <p:nvPr/>
        </p:nvSpPr>
        <p:spPr>
          <a:xfrm>
            <a:off x="7770571" y="4572000"/>
            <a:ext cx="2377440" cy="365760"/>
          </a:xfrm>
          <a:prstGeom prst="rect">
            <a:avLst/>
          </a:prstGeom>
          <a:noFill/>
          <a:ln/>
        </p:spPr>
        <p:txBody>
          <a:bodyPr wrap="square" lIns="0" tIns="0" rIns="0" bIns="0" rtlCol="0" anchor="ctr"/>
          <a:lstStyle/>
          <a:p>
            <a:pPr indent="0" marL="0">
              <a:buNone/>
            </a:pPr>
            <a:r>
              <a:rPr lang="en-US" sz="1800" b="1" dirty="0">
                <a:solidFill>
                  <a:srgbClr val="7F7F7F"/>
                </a:solidFill>
              </a:rPr>
              <a:t>72.0% · 5.5k tokens</a:t>
            </a:r>
            <a:endParaRPr lang="en-US" sz="1800" dirty="0"/>
          </a:p>
        </p:txBody>
      </p:sp>
      <p:sp>
        <p:nvSpPr>
          <p:cNvPr id="26" name="Text 24"/>
          <p:cNvSpPr txBox="1"/>
          <p:nvPr/>
        </p:nvSpPr>
        <p:spPr>
          <a:xfrm>
            <a:off x="548640" y="5029200"/>
            <a:ext cx="3108960" cy="365760"/>
          </a:xfrm>
          <a:prstGeom prst="rect">
            <a:avLst/>
          </a:prstGeom>
          <a:noFill/>
          <a:ln/>
        </p:spPr>
        <p:txBody>
          <a:bodyPr wrap="square" lIns="0" tIns="0" rIns="0" bIns="0" rtlCol="0" anchor="ctr"/>
          <a:lstStyle/>
          <a:p>
            <a:pPr algn="r" indent="0" marL="0">
              <a:buNone/>
            </a:pPr>
            <a:r>
              <a:rPr lang="en-US" sz="1600" dirty="0">
                <a:solidFill>
                  <a:schemeClr val="tx1"/>
                </a:solidFill>
              </a:rPr>
              <a:t>hint first, think on failure</a:t>
            </a:r>
            <a:endParaRPr lang="en-US" sz="1600" dirty="0"/>
          </a:p>
        </p:txBody>
      </p:sp>
      <p:sp>
        <p:nvSpPr>
          <p:cNvPr id="27" name="bar fact first, think on failure"/>
          <p:cNvSpPr/>
          <p:nvPr/>
        </p:nvSpPr>
        <p:spPr>
          <a:xfrm>
            <a:off x="3794760" y="5097780"/>
            <a:ext cx="3905951" cy="228600"/>
          </a:xfrm>
          <a:prstGeom prst="rect">
            <a:avLst/>
          </a:prstGeom>
          <a:solidFill>
            <a:srgbClr val="4472C4"/>
          </a:solidFill>
          <a:ln w="6350">
            <a:solidFill>
              <a:srgbClr val="4472C4"/>
            </a:solidFill>
            <a:prstDash val="solid"/>
          </a:ln>
        </p:spPr>
      </p:sp>
      <p:sp>
        <p:nvSpPr>
          <p:cNvPr id="28" name="Text 26"/>
          <p:cNvSpPr txBox="1"/>
          <p:nvPr/>
        </p:nvSpPr>
        <p:spPr>
          <a:xfrm>
            <a:off x="7792151" y="5029200"/>
            <a:ext cx="2377440" cy="365760"/>
          </a:xfrm>
          <a:prstGeom prst="rect">
            <a:avLst/>
          </a:prstGeom>
          <a:noFill/>
          <a:ln/>
        </p:spPr>
        <p:txBody>
          <a:bodyPr wrap="square" lIns="0" tIns="0" rIns="0" bIns="0" rtlCol="0" anchor="ctr"/>
          <a:lstStyle/>
          <a:p>
            <a:pPr indent="0" marL="0">
              <a:buNone/>
            </a:pPr>
            <a:r>
              <a:rPr lang="en-US" sz="1800" b="1" dirty="0">
                <a:solidFill>
                  <a:srgbClr val="4472C4"/>
                </a:solidFill>
              </a:rPr>
              <a:t>72.4% · 1.3k tokens</a:t>
            </a:r>
            <a:endParaRPr lang="en-US" sz="1800" dirty="0"/>
          </a:p>
        </p:txBody>
      </p:sp>
      <p:sp>
        <p:nvSpPr>
          <p:cNvPr id="29" name="Text 2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Thinking cannot add what the model does not know; given the hint first, thinking helps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if a wrong program passes the check?</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It happens, but a perfect check would buy little: thinking rarely fixes those problems</a:t>
            </a:r>
            <a:endParaRPr lang="en-US" sz="1700" dirty="0"/>
          </a:p>
        </p:txBody>
      </p:sp>
      <p:sp>
        <p:nvSpPr>
          <p:cNvPr id="4" name="leak 24–37%"/>
          <p:cNvSpPr/>
          <p:nvPr/>
        </p:nvSpPr>
        <p:spPr>
          <a:xfrm>
            <a:off x="548640" y="1783080"/>
            <a:ext cx="3611880" cy="1737360"/>
          </a:xfrm>
          <a:prstGeom prst="roundRect">
            <a:avLst>
              <a:gd name="adj" fmla="val 4211"/>
            </a:avLst>
          </a:prstGeom>
          <a:solidFill>
            <a:srgbClr val="F2F2F2"/>
          </a:solidFill>
          <a:ln w="9525">
            <a:solidFill>
              <a:srgbClr val="D9D9D9"/>
            </a:solidFill>
            <a:prstDash val="solid"/>
          </a:ln>
        </p:spPr>
      </p:sp>
      <p:sp>
        <p:nvSpPr>
          <p:cNvPr id="5" name="Text 3"/>
          <p:cNvSpPr txBox="1"/>
          <p:nvPr/>
        </p:nvSpPr>
        <p:spPr>
          <a:xfrm>
            <a:off x="77724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24–37%</a:t>
            </a:r>
            <a:endParaRPr lang="en-US" sz="3600" dirty="0"/>
          </a:p>
        </p:txBody>
      </p:sp>
      <p:sp>
        <p:nvSpPr>
          <p:cNvPr id="6" name="Text 4"/>
          <p:cNvSpPr txBox="1"/>
          <p:nvPr/>
        </p:nvSpPr>
        <p:spPr>
          <a:xfrm>
            <a:off x="77724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gpt-oss-120b's wrong contest programs pass the problem's examples</a:t>
            </a:r>
            <a:endParaRPr lang="en-US" sz="1500" dirty="0"/>
          </a:p>
        </p:txBody>
      </p:sp>
      <p:sp>
        <p:nvSpPr>
          <p:cNvPr id="7" name="leak 12–16%"/>
          <p:cNvSpPr/>
          <p:nvPr/>
        </p:nvSpPr>
        <p:spPr>
          <a:xfrm>
            <a:off x="4297680" y="1783080"/>
            <a:ext cx="3611880" cy="1737360"/>
          </a:xfrm>
          <a:prstGeom prst="roundRect">
            <a:avLst>
              <a:gd name="adj" fmla="val 4211"/>
            </a:avLst>
          </a:prstGeom>
          <a:solidFill>
            <a:srgbClr val="F2F2F2"/>
          </a:solidFill>
          <a:ln w="9525">
            <a:solidFill>
              <a:srgbClr val="D9D9D9"/>
            </a:solidFill>
            <a:prstDash val="solid"/>
          </a:ln>
        </p:spPr>
      </p:sp>
      <p:sp>
        <p:nvSpPr>
          <p:cNvPr id="8" name="Text 6"/>
          <p:cNvSpPr txBox="1"/>
          <p:nvPr/>
        </p:nvSpPr>
        <p:spPr>
          <a:xfrm>
            <a:off x="4526280" y="1874520"/>
            <a:ext cx="3200400" cy="685800"/>
          </a:xfrm>
          <a:prstGeom prst="rect">
            <a:avLst/>
          </a:prstGeom>
          <a:noFill/>
          <a:ln/>
        </p:spPr>
        <p:txBody>
          <a:bodyPr wrap="square" lIns="0" tIns="0" rIns="0" bIns="0" rtlCol="0" anchor="ctr"/>
          <a:lstStyle/>
          <a:p>
            <a:pPr indent="0" marL="0">
              <a:buNone/>
            </a:pPr>
            <a:r>
              <a:rPr lang="en-US" sz="3600" b="1" dirty="0">
                <a:solidFill>
                  <a:srgbClr val="C00000"/>
                </a:solidFill>
              </a:rPr>
              <a:t>12–16%</a:t>
            </a:r>
            <a:endParaRPr lang="en-US" sz="3600" dirty="0"/>
          </a:p>
        </p:txBody>
      </p:sp>
      <p:sp>
        <p:nvSpPr>
          <p:cNvPr id="9" name="Text 7"/>
          <p:cNvSpPr txBox="1"/>
          <p:nvPr/>
        </p:nvSpPr>
        <p:spPr>
          <a:xfrm>
            <a:off x="4526280" y="2606040"/>
            <a:ext cx="3200400" cy="822960"/>
          </a:xfrm>
          <a:prstGeom prst="rect">
            <a:avLst/>
          </a:prstGeom>
          <a:noFill/>
          <a:ln/>
        </p:spPr>
        <p:txBody>
          <a:bodyPr wrap="square" lIns="0" tIns="0" rIns="0" bIns="0" rtlCol="0" anchor="t"/>
          <a:lstStyle/>
          <a:p>
            <a:pPr indent="0" marL="0">
              <a:buNone/>
            </a:pPr>
            <a:r>
              <a:rPr lang="en-US" sz="1500" dirty="0">
                <a:solidFill>
                  <a:schemeClr val="tx1"/>
                </a:solidFill>
              </a:rPr>
              <a:t>of word problems: both programs agree and both are wrong (14B+ models)</a:t>
            </a:r>
            <a:endParaRPr lang="en-US" sz="1500" dirty="0"/>
          </a:p>
        </p:txBody>
      </p:sp>
      <p:sp>
        <p:nvSpPr>
          <p:cNvPr id="10" name="example Find Color"/>
          <p:cNvSpPr/>
          <p:nvPr/>
        </p:nvSpPr>
        <p:spPr>
          <a:xfrm>
            <a:off x="8046720" y="1783080"/>
            <a:ext cx="3566160" cy="1737360"/>
          </a:xfrm>
          <a:prstGeom prst="roundRect">
            <a:avLst>
              <a:gd name="adj" fmla="val 4211"/>
            </a:avLst>
          </a:prstGeom>
          <a:solidFill>
            <a:srgbClr val="F2F2F2"/>
          </a:solidFill>
          <a:ln w="9525">
            <a:solidFill>
              <a:srgbClr val="D9D9D9"/>
            </a:solidFill>
            <a:prstDash val="solid"/>
          </a:ln>
        </p:spPr>
      </p:sp>
      <p:sp>
        <p:nvSpPr>
          <p:cNvPr id="11" name="Text 9"/>
          <p:cNvSpPr txBox="1"/>
          <p:nvPr/>
        </p:nvSpPr>
        <p:spPr>
          <a:xfrm>
            <a:off x="8275320" y="1920240"/>
            <a:ext cx="3154680" cy="1463040"/>
          </a:xfrm>
          <a:prstGeom prst="rect">
            <a:avLst/>
          </a:prstGeom>
          <a:noFill/>
          <a:ln/>
        </p:spPr>
        <p:txBody>
          <a:bodyPr wrap="square" lIns="0" tIns="0" rIns="0" bIns="0" rtlCol="0" anchor="t"/>
          <a:lstStyle/>
          <a:p>
            <a:pPr indent="0" marL="0">
              <a:buNone/>
            </a:pPr>
            <a:r>
              <a:rPr lang="en-US" sz="1500" b="1" dirty="0">
                <a:solidFill>
                  <a:schemeClr val="tx1"/>
                </a:solidFill>
              </a:rPr>
              <a:t>Example: "Find Color" (contest)</a:t>
            </a:r>
            <a:endParaRPr lang="en-US" sz="1500" dirty="0"/>
          </a:p>
          <a:p>
            <a:pPr indent="0" marL="0">
              <a:buNone/>
            </a:pPr>
            <a:r>
              <a:rPr lang="en-US" sz="1500" dirty="0">
                <a:solidFill>
                  <a:schemeClr val="tx1"/>
                </a:solidFill>
              </a:rPr>
              <a:t>passes all 3 examples → submitted</a:t>
            </a:r>
            <a:endParaRPr lang="en-US" sz="1500" dirty="0"/>
          </a:p>
          <a:p>
            <a:pPr indent="0" marL="0">
              <a:buNone/>
            </a:pPr>
            <a:r>
              <a:rPr lang="en-US" sz="1500" b="1" dirty="0">
                <a:solidFill>
                  <a:srgbClr val="C00000"/>
                </a:solidFill>
              </a:rPr>
              <a:t>✗ fails hidden test 11</a:t>
            </a:r>
            <a:endParaRPr lang="en-US" sz="1500" dirty="0"/>
          </a:p>
        </p:txBody>
      </p:sp>
      <p:sp>
        <p:nvSpPr>
          <p:cNvPr id="12" name="perfect check"/>
          <p:cNvSpPr/>
          <p:nvPr/>
        </p:nvSpPr>
        <p:spPr>
          <a:xfrm>
            <a:off x="548640" y="3749040"/>
            <a:ext cx="11064240" cy="1691640"/>
          </a:xfrm>
          <a:prstGeom prst="roundRect">
            <a:avLst>
              <a:gd name="adj" fmla="val 4324"/>
            </a:avLst>
          </a:prstGeom>
          <a:solidFill>
            <a:srgbClr val="F2F2F2"/>
          </a:solidFill>
          <a:ln w="9525">
            <a:solidFill>
              <a:srgbClr val="D9D9D9"/>
            </a:solidFill>
            <a:prstDash val="solid"/>
          </a:ln>
        </p:spPr>
      </p:sp>
      <p:sp>
        <p:nvSpPr>
          <p:cNvPr id="13" name="Text 11"/>
          <p:cNvSpPr txBox="1"/>
          <p:nvPr/>
        </p:nvSpPr>
        <p:spPr>
          <a:xfrm>
            <a:off x="777240" y="3794760"/>
            <a:ext cx="10607040" cy="411480"/>
          </a:xfrm>
          <a:prstGeom prst="rect">
            <a:avLst/>
          </a:prstGeom>
          <a:noFill/>
          <a:ln/>
        </p:spPr>
        <p:txBody>
          <a:bodyPr wrap="square" lIns="0" tIns="0" rIns="0" bIns="0" rtlCol="0" anchor="ctr"/>
          <a:lstStyle/>
          <a:p>
            <a:pPr indent="0" marL="0">
              <a:buNone/>
            </a:pPr>
            <a:r>
              <a:rPr lang="en-US" sz="1600" b="1" dirty="0">
                <a:solidFill>
                  <a:schemeClr val="tx1"/>
                </a:solidFill>
              </a:rPr>
              <a:t>If the check were perfect (word problems, every run):</a:t>
            </a:r>
            <a:endParaRPr lang="en-US" sz="1600" dirty="0"/>
          </a:p>
        </p:txBody>
      </p:sp>
      <p:sp>
        <p:nvSpPr>
          <p:cNvPr id="14" name="box the leaked problems "/>
          <p:cNvSpPr/>
          <p:nvPr/>
        </p:nvSpPr>
        <p:spPr>
          <a:xfrm>
            <a:off x="777240" y="4297680"/>
            <a:ext cx="2377440" cy="914400"/>
          </a:xfrm>
          <a:prstGeom prst="roundRect">
            <a:avLst>
              <a:gd name="adj" fmla="val 6000"/>
            </a:avLst>
          </a:prstGeom>
          <a:solidFill>
            <a:srgbClr val="FFFFFF"/>
          </a:solidFill>
          <a:ln w="9525">
            <a:solidFill>
              <a:srgbClr val="BFBFBF"/>
            </a:solidFill>
            <a:prstDash val="solid"/>
          </a:ln>
        </p:spPr>
      </p:sp>
      <p:sp>
        <p:nvSpPr>
          <p:cNvPr id="15" name="Text 13"/>
          <p:cNvSpPr txBox="1"/>
          <p:nvPr/>
        </p:nvSpPr>
        <p:spPr>
          <a:xfrm>
            <a:off x="8503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the leaked problems go to thinking</a:t>
            </a:r>
            <a:endParaRPr lang="en-US" sz="1500" dirty="0"/>
          </a:p>
        </p:txBody>
      </p:sp>
      <p:sp>
        <p:nvSpPr>
          <p:cNvPr id="16" name="Shape 14"/>
          <p:cNvSpPr/>
          <p:nvPr/>
        </p:nvSpPr>
        <p:spPr>
          <a:xfrm>
            <a:off x="3154680" y="4754880"/>
            <a:ext cx="365760" cy="0"/>
          </a:xfrm>
          <a:prstGeom prst="line">
            <a:avLst/>
          </a:prstGeom>
          <a:noFill/>
          <a:ln w="25400">
            <a:solidFill>
              <a:srgbClr val="7F7F7F"/>
            </a:solidFill>
            <a:prstDash val="solid"/>
            <a:tailEnd type="triangle"/>
          </a:ln>
        </p:spPr>
      </p:sp>
      <p:sp>
        <p:nvSpPr>
          <p:cNvPr id="17" name="box thinking fixes only "/>
          <p:cNvSpPr/>
          <p:nvPr/>
        </p:nvSpPr>
        <p:spPr>
          <a:xfrm>
            <a:off x="3520440" y="4297680"/>
            <a:ext cx="2377440" cy="914400"/>
          </a:xfrm>
          <a:prstGeom prst="roundRect">
            <a:avLst>
              <a:gd name="adj" fmla="val 6000"/>
            </a:avLst>
          </a:prstGeom>
          <a:solidFill>
            <a:srgbClr val="FFFFFF"/>
          </a:solidFill>
          <a:ln w="9525">
            <a:solidFill>
              <a:srgbClr val="BFBFBF"/>
            </a:solidFill>
            <a:prstDash val="solid"/>
          </a:ln>
        </p:spPr>
      </p:sp>
      <p:sp>
        <p:nvSpPr>
          <p:cNvPr id="18" name="Text 16"/>
          <p:cNvSpPr txBox="1"/>
          <p:nvPr/>
        </p:nvSpPr>
        <p:spPr>
          <a:xfrm>
            <a:off x="3593592" y="4297680"/>
            <a:ext cx="2231136" cy="914400"/>
          </a:xfrm>
          <a:prstGeom prst="rect">
            <a:avLst/>
          </a:prstGeom>
          <a:noFill/>
          <a:ln/>
        </p:spPr>
        <p:txBody>
          <a:bodyPr wrap="square" lIns="0" tIns="0" rIns="0" bIns="0" rtlCol="0" anchor="ctr"/>
          <a:lstStyle/>
          <a:p>
            <a:pPr algn="ctr" indent="0" marL="0">
              <a:buNone/>
            </a:pPr>
            <a:r>
              <a:rPr lang="en-US" sz="1500" dirty="0">
                <a:solidFill>
                  <a:schemeClr val="tx1"/>
                </a:solidFill>
              </a:rPr>
              <a:t>thinking fixes only 7–16% of them</a:t>
            </a:r>
            <a:endParaRPr lang="en-US" sz="1500" dirty="0"/>
          </a:p>
        </p:txBody>
      </p:sp>
      <p:sp>
        <p:nvSpPr>
          <p:cNvPr id="19" name="Shape 17"/>
          <p:cNvSpPr/>
          <p:nvPr/>
        </p:nvSpPr>
        <p:spPr>
          <a:xfrm>
            <a:off x="5897880" y="4754880"/>
            <a:ext cx="365760" cy="0"/>
          </a:xfrm>
          <a:prstGeom prst="line">
            <a:avLst/>
          </a:prstGeom>
          <a:noFill/>
          <a:ln w="25400">
            <a:solidFill>
              <a:srgbClr val="7F7F7F"/>
            </a:solidFill>
            <a:prstDash val="solid"/>
            <a:tailEnd type="triangle"/>
          </a:ln>
        </p:spPr>
      </p:sp>
      <p:sp>
        <p:nvSpPr>
          <p:cNvPr id="20" name="box +0.8 to +2.6 points "/>
          <p:cNvSpPr/>
          <p:nvPr/>
        </p:nvSpPr>
        <p:spPr>
          <a:xfrm>
            <a:off x="6263640" y="4297680"/>
            <a:ext cx="2377440" cy="914400"/>
          </a:xfrm>
          <a:prstGeom prst="roundRect">
            <a:avLst>
              <a:gd name="adj" fmla="val 6000"/>
            </a:avLst>
          </a:prstGeom>
          <a:solidFill>
            <a:srgbClr val="DEEBF7"/>
          </a:solidFill>
          <a:ln w="9525">
            <a:solidFill>
              <a:srgbClr val="BFBFBF"/>
            </a:solidFill>
            <a:prstDash val="solid"/>
          </a:ln>
        </p:spPr>
      </p:sp>
      <p:sp>
        <p:nvSpPr>
          <p:cNvPr id="21" name="Text 19"/>
          <p:cNvSpPr txBox="1"/>
          <p:nvPr/>
        </p:nvSpPr>
        <p:spPr>
          <a:xfrm>
            <a:off x="6336792" y="4297680"/>
            <a:ext cx="2231136" cy="914400"/>
          </a:xfrm>
          <a:prstGeom prst="rect">
            <a:avLst/>
          </a:prstGeom>
          <a:noFill/>
          <a:ln/>
        </p:spPr>
        <p:txBody>
          <a:bodyPr wrap="square" lIns="0" tIns="0" rIns="0" bIns="0" rtlCol="0" anchor="ctr"/>
          <a:lstStyle/>
          <a:p>
            <a:pPr algn="ctr" indent="0" marL="0">
              <a:buNone/>
            </a:pPr>
            <a:r>
              <a:rPr lang="en-US" sz="1500" b="1" dirty="0">
                <a:solidFill>
                  <a:srgbClr val="1F3864"/>
                </a:solidFill>
              </a:rPr>
              <a:t>+0.8 to +2.6 points (Qwen3-8B: +5.6)</a:t>
            </a:r>
            <a:endParaRPr lang="en-US" sz="1500" dirty="0"/>
          </a:p>
        </p:txBody>
      </p:sp>
      <p:sp>
        <p:nvSpPr>
          <p:cNvPr id="22" name="Text 20"/>
          <p:cNvSpPr txBox="1"/>
          <p:nvPr/>
        </p:nvSpPr>
        <p:spPr>
          <a:xfrm>
            <a:off x="9006840" y="4297680"/>
            <a:ext cx="2468880" cy="914400"/>
          </a:xfrm>
          <a:prstGeom prst="rect">
            <a:avLst/>
          </a:prstGeom>
          <a:noFill/>
          <a:ln/>
        </p:spPr>
        <p:txBody>
          <a:bodyPr wrap="square" lIns="0" tIns="0" rIns="0" bIns="0" rtlCol="0" anchor="ctr"/>
          <a:lstStyle/>
          <a:p>
            <a:pPr indent="0" marL="0">
              <a:buNone/>
            </a:pPr>
            <a:r>
              <a:rPr lang="en-US" sz="1400" dirty="0">
                <a:solidFill>
                  <a:schemeClr val="tx2"/>
                </a:solidFill>
              </a:rPr>
              <a:t>some 'wrong' answers are wrong labels: nl4opt-174 gold 7500, true 5625 (3 of 4 we read)</a:t>
            </a:r>
            <a:endParaRPr lang="en-US" sz="1400" dirty="0"/>
          </a:p>
        </p:txBody>
      </p:sp>
      <p:sp>
        <p:nvSpPr>
          <p:cNvPr id="23" name="Text 2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Next target: programs that run and agree but model the problem wrong</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there always a free check?</a:t>
            </a:r>
            <a:endParaRPr lang="en-US" sz="3600" dirty="0"/>
          </a:p>
        </p:txBody>
      </p:sp>
      <p:graphicFrame>
        <p:nvGraphicFramePr>
          <p:cNvPr id="22"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94560"/>
                <a:gridCol w="4572000"/>
                <a:gridCol w="4297680"/>
              </a:tblGrid>
              <a:tr h="731520">
                <a:tc>
                  <a:txBody>
                    <a:bodyPr/>
                    <a:lstStyle/>
                    <a:p>
                      <a:pPr indent="0" marL="0">
                        <a:buNone/>
                      </a:pPr>
                      <a:r>
                        <a:rPr lang="en-US" sz="1500" b="1" dirty="0">
                          <a:solidFill>
                            <a:srgbClr val="FFFFFF"/>
                          </a:solidFill>
                        </a:rPr>
                        <a:t>Problem</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Free check (no answer key)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How well it works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731520">
                <a:tc>
                  <a:txBody>
                    <a:bodyPr/>
                    <a:lstStyle/>
                    <a:p>
                      <a:pPr indent="0" marL="0">
                        <a:buNone/>
                      </a:pPr>
                      <a:r>
                        <a:rPr lang="en-US" sz="1500" dirty="0">
                          <a:solidFill>
                            <a:schemeClr val="tx1"/>
                          </a:solidFill>
                        </a:rPr>
                        <a:t>Contest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the examples printed in the problem; a quick brute-force program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examples never reject a right program, but 24–37% of wrong ones pass; with brute force: 66.3% = always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move or turn the input: the answer must not change; or two versions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picks the right program 99.7% of the time (majority vote: 95.7%)</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Routing, scheduling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 checks every rule of the plan (capacity, time windows)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exact for the rules; whether the plan is the best is not checked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731520">
                <a:tc>
                  <a:txBody>
                    <a:bodyPr/>
                    <a:lstStyle/>
                    <a:p>
                      <a:pPr indent="0" marL="0">
                        <a:buNone/>
                      </a:pPr>
                      <a:r>
                        <a:rPr lang="en-US" sz="1500" dirty="0">
                          <a:solidFill>
                            <a:schemeClr val="tx1"/>
                          </a:solidFill>
                        </a:rPr>
                        <a:t>Word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two programs must agree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12–16% agree but are both wrong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task here has a free check; how much it catches decides how much thinking it saves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how do we make a check catch more?</a:t>
            </a:r>
            <a:endParaRPr lang="en-US" sz="3600" dirty="0"/>
          </a:p>
        </p:txBody>
      </p:sp>
      <p:sp>
        <p:nvSpPr>
          <p:cNvPr id="3" name="make the second view different"/>
          <p:cNvSpPr/>
          <p:nvPr/>
        </p:nvSpPr>
        <p:spPr>
          <a:xfrm>
            <a:off x="548640" y="1280160"/>
            <a:ext cx="603504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5577840" cy="384048"/>
          </a:xfrm>
          <a:prstGeom prst="rect">
            <a:avLst/>
          </a:prstGeom>
          <a:noFill/>
          <a:ln/>
        </p:spPr>
        <p:txBody>
          <a:bodyPr wrap="square" lIns="0" tIns="0" rIns="0" bIns="0" rtlCol="0" anchor="ctr"/>
          <a:lstStyle/>
          <a:p>
            <a:pPr indent="0" marL="0">
              <a:buNone/>
            </a:pPr>
            <a:r>
              <a:rPr lang="en-US" sz="1800" b="1" dirty="0">
                <a:solidFill>
                  <a:srgbClr val="4472C4"/>
                </a:solidFill>
              </a:rPr>
              <a:t>The second view must make different mistakes</a:t>
            </a:r>
            <a:endParaRPr lang="en-US" sz="1800" dirty="0"/>
          </a:p>
        </p:txBody>
      </p:sp>
      <p:sp>
        <p:nvSpPr>
          <p:cNvPr id="5" name="Text 3"/>
          <p:cNvSpPr txBox="1"/>
          <p:nvPr/>
        </p:nvSpPr>
        <p:spPr>
          <a:xfrm>
            <a:off x="777240" y="1828800"/>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6" name="Text 4"/>
          <p:cNvSpPr txBox="1"/>
          <p:nvPr/>
        </p:nvSpPr>
        <p:spPr>
          <a:xfrm>
            <a:off x="1078992" y="1828800"/>
            <a:ext cx="3017520" cy="502920"/>
          </a:xfrm>
          <a:prstGeom prst="rect">
            <a:avLst/>
          </a:prstGeom>
          <a:noFill/>
          <a:ln/>
        </p:spPr>
        <p:txBody>
          <a:bodyPr wrap="square" lIns="0" tIns="0" rIns="0" bIns="0" rtlCol="0" anchor="ctr"/>
          <a:lstStyle/>
          <a:p>
            <a:pPr indent="0" marL="0">
              <a:buNone/>
            </a:pPr>
            <a:r>
              <a:rPr lang="en-US" sz="1400" dirty="0">
                <a:solidFill>
                  <a:schemeClr val="tx1"/>
                </a:solidFill>
              </a:rPr>
              <a:t>run it on moved and turned copies</a:t>
            </a:r>
            <a:endParaRPr lang="en-US" sz="1400" dirty="0"/>
          </a:p>
        </p:txBody>
      </p:sp>
      <p:sp>
        <p:nvSpPr>
          <p:cNvPr id="7" name="Text 5"/>
          <p:cNvSpPr txBox="1"/>
          <p:nvPr/>
        </p:nvSpPr>
        <p:spPr>
          <a:xfrm>
            <a:off x="4114800" y="1828800"/>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picks the right program 99.7%</a:t>
            </a:r>
            <a:endParaRPr lang="en-US" sz="1400" dirty="0"/>
          </a:p>
        </p:txBody>
      </p:sp>
      <p:sp>
        <p:nvSpPr>
          <p:cNvPr id="8" name="Text 6"/>
          <p:cNvSpPr txBox="1"/>
          <p:nvPr/>
        </p:nvSpPr>
        <p:spPr>
          <a:xfrm>
            <a:off x="777240" y="2395728"/>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9" name="Text 7"/>
          <p:cNvSpPr txBox="1"/>
          <p:nvPr/>
        </p:nvSpPr>
        <p:spPr>
          <a:xfrm>
            <a:off x="1078992" y="2395728"/>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with and without helpers</a:t>
            </a:r>
            <a:endParaRPr lang="en-US" sz="1400" dirty="0"/>
          </a:p>
        </p:txBody>
      </p:sp>
      <p:sp>
        <p:nvSpPr>
          <p:cNvPr id="10" name="Text 8"/>
          <p:cNvSpPr txBox="1"/>
          <p:nvPr/>
        </p:nvSpPr>
        <p:spPr>
          <a:xfrm>
            <a:off x="4114800" y="2395728"/>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99% vs 98% always thinking</a:t>
            </a:r>
            <a:endParaRPr lang="en-US" sz="1400" dirty="0"/>
          </a:p>
        </p:txBody>
      </p:sp>
      <p:sp>
        <p:nvSpPr>
          <p:cNvPr id="11" name="Text 9"/>
          <p:cNvSpPr txBox="1"/>
          <p:nvPr/>
        </p:nvSpPr>
        <p:spPr>
          <a:xfrm>
            <a:off x="777240" y="2962656"/>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2" name="Text 10"/>
          <p:cNvSpPr txBox="1"/>
          <p:nvPr/>
        </p:nvSpPr>
        <p:spPr>
          <a:xfrm>
            <a:off x="1078992" y="2962656"/>
            <a:ext cx="3017520" cy="502920"/>
          </a:xfrm>
          <a:prstGeom prst="rect">
            <a:avLst/>
          </a:prstGeom>
          <a:noFill/>
          <a:ln/>
        </p:spPr>
        <p:txBody>
          <a:bodyPr wrap="square" lIns="0" tIns="0" rIns="0" bIns="0" rtlCol="0" anchor="ctr"/>
          <a:lstStyle/>
          <a:p>
            <a:pPr indent="0" marL="0">
              <a:buNone/>
            </a:pPr>
            <a:r>
              <a:rPr lang="en-US" sz="1400" dirty="0">
                <a:solidFill>
                  <a:schemeClr val="tx1"/>
                </a:solidFill>
              </a:rPr>
              <a:t>examples + a brute-force version</a:t>
            </a:r>
            <a:endParaRPr lang="en-US" sz="1400" dirty="0"/>
          </a:p>
        </p:txBody>
      </p:sp>
      <p:sp>
        <p:nvSpPr>
          <p:cNvPr id="13" name="Text 11"/>
          <p:cNvSpPr txBox="1"/>
          <p:nvPr/>
        </p:nvSpPr>
        <p:spPr>
          <a:xfrm>
            <a:off x="4114800" y="2962656"/>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65.0% → 66.3% (contest)</a:t>
            </a:r>
            <a:endParaRPr lang="en-US" sz="1400" dirty="0"/>
          </a:p>
        </p:txBody>
      </p:sp>
      <p:sp>
        <p:nvSpPr>
          <p:cNvPr id="14" name="Text 12"/>
          <p:cNvSpPr txBox="1"/>
          <p:nvPr/>
        </p:nvSpPr>
        <p:spPr>
          <a:xfrm>
            <a:off x="777240" y="3529584"/>
            <a:ext cx="274320" cy="502920"/>
          </a:xfrm>
          <a:prstGeom prst="rect">
            <a:avLst/>
          </a:prstGeom>
          <a:noFill/>
          <a:ln/>
        </p:spPr>
        <p:txBody>
          <a:bodyPr wrap="square" lIns="0" tIns="0" rIns="0" bIns="0" rtlCol="0" anchor="ctr"/>
          <a:lstStyle/>
          <a:p>
            <a:pPr indent="0" marL="0">
              <a:buNone/>
            </a:pPr>
            <a:r>
              <a:rPr lang="en-US" sz="1800" b="1" dirty="0">
                <a:solidFill>
                  <a:srgbClr val="38761D"/>
                </a:solidFill>
              </a:rPr>
              <a:t>✓</a:t>
            </a:r>
            <a:endParaRPr lang="en-US" sz="1800" dirty="0"/>
          </a:p>
        </p:txBody>
      </p:sp>
      <p:sp>
        <p:nvSpPr>
          <p:cNvPr id="15" name="Text 13"/>
          <p:cNvSpPr txBox="1"/>
          <p:nvPr/>
        </p:nvSpPr>
        <p:spPr>
          <a:xfrm>
            <a:off x="1078992" y="3529584"/>
            <a:ext cx="3017520" cy="502920"/>
          </a:xfrm>
          <a:prstGeom prst="rect">
            <a:avLst/>
          </a:prstGeom>
          <a:noFill/>
          <a:ln/>
        </p:spPr>
        <p:txBody>
          <a:bodyPr wrap="square" lIns="0" tIns="0" rIns="0" bIns="0" rtlCol="0" anchor="ctr"/>
          <a:lstStyle/>
          <a:p>
            <a:pPr indent="0" marL="0">
              <a:buNone/>
            </a:pPr>
            <a:r>
              <a:rPr lang="en-US" sz="1400" dirty="0">
                <a:solidFill>
                  <a:schemeClr val="tx1"/>
                </a:solidFill>
              </a:rPr>
              <a:t>a text answer next to the program</a:t>
            </a:r>
            <a:endParaRPr lang="en-US" sz="1400" dirty="0"/>
          </a:p>
        </p:txBody>
      </p:sp>
      <p:sp>
        <p:nvSpPr>
          <p:cNvPr id="16" name="Text 14"/>
          <p:cNvSpPr txBox="1"/>
          <p:nvPr/>
        </p:nvSpPr>
        <p:spPr>
          <a:xfrm>
            <a:off x="4114800" y="3529584"/>
            <a:ext cx="2377440" cy="502920"/>
          </a:xfrm>
          <a:prstGeom prst="rect">
            <a:avLst/>
          </a:prstGeom>
          <a:noFill/>
          <a:ln/>
        </p:spPr>
        <p:txBody>
          <a:bodyPr wrap="square" lIns="0" tIns="0" rIns="0" bIns="0" rtlCol="0" anchor="ctr"/>
          <a:lstStyle/>
          <a:p>
            <a:pPr indent="0" marL="0">
              <a:buNone/>
            </a:pPr>
            <a:r>
              <a:rPr lang="en-US" sz="1400" b="1" dirty="0">
                <a:solidFill>
                  <a:srgbClr val="38761D"/>
                </a:solidFill>
              </a:rPr>
              <a:t>wrong agreements 17% → 10%</a:t>
            </a:r>
            <a:endParaRPr lang="en-US" sz="1400" dirty="0"/>
          </a:p>
        </p:txBody>
      </p:sp>
      <p:sp>
        <p:nvSpPr>
          <p:cNvPr id="17" name="Text 15"/>
          <p:cNvSpPr txBox="1"/>
          <p:nvPr/>
        </p:nvSpPr>
        <p:spPr>
          <a:xfrm>
            <a:off x="777240" y="4096512"/>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18" name="Text 16"/>
          <p:cNvSpPr txBox="1"/>
          <p:nvPr/>
        </p:nvSpPr>
        <p:spPr>
          <a:xfrm>
            <a:off x="1078992" y="4096512"/>
            <a:ext cx="3017520" cy="502920"/>
          </a:xfrm>
          <a:prstGeom prst="rect">
            <a:avLst/>
          </a:prstGeom>
          <a:noFill/>
          <a:ln/>
        </p:spPr>
        <p:txBody>
          <a:bodyPr wrap="square" lIns="0" tIns="0" rIns="0" bIns="0" rtlCol="0" anchor="ctr"/>
          <a:lstStyle/>
          <a:p>
            <a:pPr indent="0" marL="0">
              <a:buNone/>
            </a:pPr>
            <a:r>
              <a:rPr lang="en-US" sz="1400" dirty="0">
                <a:solidFill>
                  <a:schemeClr val="tx1"/>
                </a:solidFill>
              </a:rPr>
              <a:t>the same model asked again (majority vote)</a:t>
            </a:r>
            <a:endParaRPr lang="en-US" sz="1400" dirty="0"/>
          </a:p>
        </p:txBody>
      </p:sp>
      <p:sp>
        <p:nvSpPr>
          <p:cNvPr id="19" name="Text 17"/>
          <p:cNvSpPr txBox="1"/>
          <p:nvPr/>
        </p:nvSpPr>
        <p:spPr>
          <a:xfrm>
            <a:off x="4114800" y="4096512"/>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4.3% picked wrong</a:t>
            </a:r>
            <a:endParaRPr lang="en-US" sz="1400" dirty="0"/>
          </a:p>
        </p:txBody>
      </p:sp>
      <p:sp>
        <p:nvSpPr>
          <p:cNvPr id="20" name="Text 18"/>
          <p:cNvSpPr txBox="1"/>
          <p:nvPr/>
        </p:nvSpPr>
        <p:spPr>
          <a:xfrm>
            <a:off x="777240" y="4663440"/>
            <a:ext cx="274320" cy="502920"/>
          </a:xfrm>
          <a:prstGeom prst="rect">
            <a:avLst/>
          </a:prstGeom>
          <a:noFill/>
          <a:ln/>
        </p:spPr>
        <p:txBody>
          <a:bodyPr wrap="square" lIns="0" tIns="0" rIns="0" bIns="0" rtlCol="0" anchor="ctr"/>
          <a:lstStyle/>
          <a:p>
            <a:pPr indent="0" marL="0">
              <a:buNone/>
            </a:pPr>
            <a:r>
              <a:rPr lang="en-US" sz="1800" b="1" dirty="0">
                <a:solidFill>
                  <a:srgbClr val="C00000"/>
                </a:solidFill>
              </a:rPr>
              <a:t>✗</a:t>
            </a:r>
            <a:endParaRPr lang="en-US" sz="1800" dirty="0"/>
          </a:p>
        </p:txBody>
      </p:sp>
      <p:sp>
        <p:nvSpPr>
          <p:cNvPr id="21" name="Text 19"/>
          <p:cNvSpPr txBox="1"/>
          <p:nvPr/>
        </p:nvSpPr>
        <p:spPr>
          <a:xfrm>
            <a:off x="1078992" y="4663440"/>
            <a:ext cx="3017520" cy="502920"/>
          </a:xfrm>
          <a:prstGeom prst="rect">
            <a:avLst/>
          </a:prstGeom>
          <a:noFill/>
          <a:ln/>
        </p:spPr>
        <p:txBody>
          <a:bodyPr wrap="square" lIns="0" tIns="0" rIns="0" bIns="0" rtlCol="0" anchor="ctr"/>
          <a:lstStyle/>
          <a:p>
            <a:pPr indent="0" marL="0">
              <a:buNone/>
            </a:pPr>
            <a:r>
              <a:rPr lang="en-US" sz="1400" dirty="0">
                <a:solidFill>
                  <a:schemeClr val="tx1"/>
                </a:solidFill>
              </a:rPr>
              <a:t>two versions that share a mistake</a:t>
            </a:r>
            <a:endParaRPr lang="en-US" sz="1400" dirty="0"/>
          </a:p>
        </p:txBody>
      </p:sp>
      <p:sp>
        <p:nvSpPr>
          <p:cNvPr id="22" name="Text 20"/>
          <p:cNvSpPr txBox="1"/>
          <p:nvPr/>
        </p:nvSpPr>
        <p:spPr>
          <a:xfrm>
            <a:off x="4114800" y="4663440"/>
            <a:ext cx="2377440" cy="502920"/>
          </a:xfrm>
          <a:prstGeom prst="rect">
            <a:avLst/>
          </a:prstGeom>
          <a:noFill/>
          <a:ln/>
        </p:spPr>
        <p:txBody>
          <a:bodyPr wrap="square" lIns="0" tIns="0" rIns="0" bIns="0" rtlCol="0" anchor="ctr"/>
          <a:lstStyle/>
          <a:p>
            <a:pPr indent="0" marL="0">
              <a:buNone/>
            </a:pPr>
            <a:r>
              <a:rPr lang="en-US" sz="1400" b="1" dirty="0">
                <a:solidFill>
                  <a:srgbClr val="C00000"/>
                </a:solidFill>
              </a:rPr>
              <a:t>no gain, more tokens</a:t>
            </a:r>
            <a:endParaRPr lang="en-US" sz="1400" dirty="0"/>
          </a:p>
        </p:txBody>
      </p:sp>
      <p:sp>
        <p:nvSpPr>
          <p:cNvPr id="23" name="how much a better check buys"/>
          <p:cNvSpPr/>
          <p:nvPr/>
        </p:nvSpPr>
        <p:spPr>
          <a:xfrm>
            <a:off x="6766560" y="1280160"/>
            <a:ext cx="4846320" cy="4251960"/>
          </a:xfrm>
          <a:prstGeom prst="roundRect">
            <a:avLst>
              <a:gd name="adj" fmla="val 1720"/>
            </a:avLst>
          </a:prstGeom>
          <a:solidFill>
            <a:srgbClr val="F2F2F2"/>
          </a:solidFill>
          <a:ln w="9525">
            <a:solidFill>
              <a:srgbClr val="D9D9D9"/>
            </a:solidFill>
            <a:prstDash val="solid"/>
          </a:ln>
        </p:spPr>
      </p:sp>
      <p:sp>
        <p:nvSpPr>
          <p:cNvPr id="24" name="Text 22"/>
          <p:cNvSpPr txBox="1"/>
          <p:nvPr/>
        </p:nvSpPr>
        <p:spPr>
          <a:xfrm>
            <a:off x="6995160" y="1353312"/>
            <a:ext cx="4480560" cy="384048"/>
          </a:xfrm>
          <a:prstGeom prst="rect">
            <a:avLst/>
          </a:prstGeom>
          <a:noFill/>
          <a:ln/>
        </p:spPr>
        <p:txBody>
          <a:bodyPr wrap="square" lIns="0" tIns="0" rIns="0" bIns="0" rtlCol="0" anchor="ctr"/>
          <a:lstStyle/>
          <a:p>
            <a:pPr indent="0" marL="0">
              <a:buNone/>
            </a:pPr>
            <a:r>
              <a:rPr lang="en-US" sz="1800" b="1" dirty="0">
                <a:solidFill>
                  <a:srgbClr val="4472C4"/>
                </a:solidFill>
              </a:rPr>
              <a:t>How much can a better check still buy?</a:t>
            </a:r>
            <a:endParaRPr lang="en-US" sz="1800" dirty="0"/>
          </a:p>
        </p:txBody>
      </p:sp>
      <p:sp>
        <p:nvSpPr>
          <p:cNvPr id="25" name="Text 23"/>
          <p:cNvSpPr txBox="1"/>
          <p:nvPr/>
        </p:nvSpPr>
        <p:spPr>
          <a:xfrm>
            <a:off x="6995160" y="182880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24–37%</a:t>
            </a:r>
            <a:endParaRPr lang="en-US" sz="2400" dirty="0"/>
          </a:p>
        </p:txBody>
      </p:sp>
      <p:sp>
        <p:nvSpPr>
          <p:cNvPr id="26" name="Text 24"/>
          <p:cNvSpPr txBox="1"/>
          <p:nvPr/>
        </p:nvSpPr>
        <p:spPr>
          <a:xfrm>
            <a:off x="6995160" y="226771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wrong contest programs pass the examples</a:t>
            </a:r>
            <a:endParaRPr lang="en-US" sz="1400" dirty="0"/>
          </a:p>
        </p:txBody>
      </p:sp>
      <p:sp>
        <p:nvSpPr>
          <p:cNvPr id="27" name="Text 25"/>
          <p:cNvSpPr txBox="1"/>
          <p:nvPr/>
        </p:nvSpPr>
        <p:spPr>
          <a:xfrm>
            <a:off x="6995160" y="2926080"/>
            <a:ext cx="4480560" cy="457200"/>
          </a:xfrm>
          <a:prstGeom prst="rect">
            <a:avLst/>
          </a:prstGeom>
          <a:noFill/>
          <a:ln/>
        </p:spPr>
        <p:txBody>
          <a:bodyPr wrap="square" lIns="0" tIns="0" rIns="0" bIns="0" rtlCol="0" anchor="ctr"/>
          <a:lstStyle/>
          <a:p>
            <a:pPr indent="0" marL="0">
              <a:buNone/>
            </a:pPr>
            <a:r>
              <a:rPr lang="en-US" sz="2400" b="1" dirty="0">
                <a:solidFill>
                  <a:srgbClr val="C00000"/>
                </a:solidFill>
              </a:rPr>
              <a:t>12–16%</a:t>
            </a:r>
            <a:endParaRPr lang="en-US" sz="2400" dirty="0"/>
          </a:p>
        </p:txBody>
      </p:sp>
      <p:sp>
        <p:nvSpPr>
          <p:cNvPr id="28" name="Text 26"/>
          <p:cNvSpPr txBox="1"/>
          <p:nvPr/>
        </p:nvSpPr>
        <p:spPr>
          <a:xfrm>
            <a:off x="6995160" y="3364992"/>
            <a:ext cx="4480560" cy="594360"/>
          </a:xfrm>
          <a:prstGeom prst="rect">
            <a:avLst/>
          </a:prstGeom>
          <a:noFill/>
          <a:ln/>
        </p:spPr>
        <p:txBody>
          <a:bodyPr wrap="square" lIns="0" tIns="0" rIns="0" bIns="0" rtlCol="0" anchor="t"/>
          <a:lstStyle/>
          <a:p>
            <a:pPr indent="0" marL="0">
              <a:buNone/>
            </a:pPr>
            <a:r>
              <a:rPr lang="en-US" sz="1400" dirty="0">
                <a:solidFill>
                  <a:schemeClr val="tx1"/>
                </a:solidFill>
              </a:rPr>
              <a:t>of word problems: two programs agree, both wrong</a:t>
            </a:r>
            <a:endParaRPr lang="en-US" sz="1400" dirty="0"/>
          </a:p>
        </p:txBody>
      </p:sp>
      <p:sp>
        <p:nvSpPr>
          <p:cNvPr id="29" name="Text 27"/>
          <p:cNvSpPr txBox="1"/>
          <p:nvPr/>
        </p:nvSpPr>
        <p:spPr>
          <a:xfrm>
            <a:off x="6995160" y="4023360"/>
            <a:ext cx="4480560" cy="457200"/>
          </a:xfrm>
          <a:prstGeom prst="rect">
            <a:avLst/>
          </a:prstGeom>
          <a:noFill/>
          <a:ln/>
        </p:spPr>
        <p:txBody>
          <a:bodyPr wrap="square" lIns="0" tIns="0" rIns="0" bIns="0" rtlCol="0" anchor="ctr"/>
          <a:lstStyle/>
          <a:p>
            <a:pPr indent="0" marL="0">
              <a:buNone/>
            </a:pPr>
            <a:r>
              <a:rPr lang="en-US" sz="2400" b="1" dirty="0">
                <a:solidFill>
                  <a:srgbClr val="4472C4"/>
                </a:solidFill>
              </a:rPr>
              <a:t>+1 to +3</a:t>
            </a:r>
            <a:endParaRPr lang="en-US" sz="2400" dirty="0"/>
          </a:p>
        </p:txBody>
      </p:sp>
      <p:sp>
        <p:nvSpPr>
          <p:cNvPr id="30" name="Text 28"/>
          <p:cNvSpPr txBox="1"/>
          <p:nvPr/>
        </p:nvSpPr>
        <p:spPr>
          <a:xfrm>
            <a:off x="6995160" y="4462272"/>
            <a:ext cx="4480560" cy="594360"/>
          </a:xfrm>
          <a:prstGeom prst="rect">
            <a:avLst/>
          </a:prstGeom>
          <a:noFill/>
          <a:ln/>
        </p:spPr>
        <p:txBody>
          <a:bodyPr wrap="square" lIns="0" tIns="0" rIns="0" bIns="0" rtlCol="0" anchor="t"/>
          <a:lstStyle/>
          <a:p>
            <a:pPr indent="0" marL="0">
              <a:buNone/>
            </a:pPr>
            <a:r>
              <a:rPr lang="en-US" sz="1400" dirty="0">
                <a:solidFill>
                  <a:schemeClr val="tx1"/>
                </a:solidFill>
              </a:rPr>
              <a:t>points from a PERFECT check (14B and larger), because thinking fixes only 7–16% of those</a:t>
            </a:r>
            <a:endParaRPr lang="en-US" sz="1400" dirty="0"/>
          </a:p>
        </p:txBody>
      </p:sp>
      <p:sp>
        <p:nvSpPr>
          <p:cNvPr id="31" name="Text 2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works when its second view errs differently; past that, improve the solving, not the check</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what does a check cost, and when is it worth it?</a:t>
            </a:r>
            <a:endParaRPr lang="en-US" sz="3600" dirty="0"/>
          </a:p>
        </p:txBody>
      </p:sp>
      <p:sp>
        <p:nvSpPr>
          <p:cNvPr id="3" name="check cost"/>
          <p:cNvSpPr/>
          <p:nvPr/>
        </p:nvSpPr>
        <p:spPr>
          <a:xfrm>
            <a:off x="548640" y="128016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Extra tokens per problem for each check</a:t>
            </a:r>
            <a:endParaRPr lang="en-US" sz="1800" dirty="0"/>
          </a:p>
        </p:txBody>
      </p:sp>
      <p:sp>
        <p:nvSpPr>
          <p:cNvPr id="5" name="Text 3"/>
          <p:cNvSpPr txBox="1"/>
          <p:nvPr/>
        </p:nvSpPr>
        <p:spPr>
          <a:xfrm>
            <a:off x="777240" y="1828800"/>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examples in the problem</a:t>
            </a:r>
            <a:endParaRPr lang="en-US" sz="1400" dirty="0"/>
          </a:p>
        </p:txBody>
      </p:sp>
      <p:sp>
        <p:nvSpPr>
          <p:cNvPr id="6" name="Text 4"/>
          <p:cNvSpPr txBox="1"/>
          <p:nvPr/>
        </p:nvSpPr>
        <p:spPr>
          <a:xfrm>
            <a:off x="3749040" y="1828800"/>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7" name="Text 5"/>
          <p:cNvSpPr txBox="1"/>
          <p:nvPr/>
        </p:nvSpPr>
        <p:spPr>
          <a:xfrm>
            <a:off x="777240" y="2395728"/>
            <a:ext cx="2926080" cy="502920"/>
          </a:xfrm>
          <a:prstGeom prst="rect">
            <a:avLst/>
          </a:prstGeom>
          <a:noFill/>
          <a:ln/>
        </p:spPr>
        <p:txBody>
          <a:bodyPr wrap="square" lIns="0" tIns="0" rIns="0" bIns="0" rtlCol="0" anchor="ctr"/>
          <a:lstStyle/>
          <a:p>
            <a:pPr indent="0" marL="0">
              <a:buNone/>
            </a:pPr>
            <a:r>
              <a:rPr lang="en-US" sz="1400" dirty="0">
                <a:solidFill>
                  <a:schemeClr val="tx1"/>
                </a:solidFill>
              </a:rPr>
              <a:t>moved and turned copies</a:t>
            </a:r>
            <a:endParaRPr lang="en-US" sz="1400" dirty="0"/>
          </a:p>
        </p:txBody>
      </p:sp>
      <p:sp>
        <p:nvSpPr>
          <p:cNvPr id="8" name="Text 6"/>
          <p:cNvSpPr txBox="1"/>
          <p:nvPr/>
        </p:nvSpPr>
        <p:spPr>
          <a:xfrm>
            <a:off x="3749040" y="2395728"/>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9" name="Text 7"/>
          <p:cNvSpPr txBox="1"/>
          <p:nvPr/>
        </p:nvSpPr>
        <p:spPr>
          <a:xfrm>
            <a:off x="777240" y="2962656"/>
            <a:ext cx="2926080" cy="502920"/>
          </a:xfrm>
          <a:prstGeom prst="rect">
            <a:avLst/>
          </a:prstGeom>
          <a:noFill/>
          <a:ln/>
        </p:spPr>
        <p:txBody>
          <a:bodyPr wrap="square" lIns="0" tIns="0" rIns="0" bIns="0" rtlCol="0" anchor="ctr"/>
          <a:lstStyle/>
          <a:p>
            <a:pPr indent="0" marL="0">
              <a:buNone/>
            </a:pPr>
            <a:r>
              <a:rPr lang="en-US" sz="1400" dirty="0">
                <a:solidFill>
                  <a:schemeClr val="tx1"/>
                </a:solidFill>
              </a:rPr>
              <a:t>the rules of a plan (routing)</a:t>
            </a:r>
            <a:endParaRPr lang="en-US" sz="1400" dirty="0"/>
          </a:p>
        </p:txBody>
      </p:sp>
      <p:sp>
        <p:nvSpPr>
          <p:cNvPr id="10" name="Text 8"/>
          <p:cNvSpPr txBox="1"/>
          <p:nvPr/>
        </p:nvSpPr>
        <p:spPr>
          <a:xfrm>
            <a:off x="3749040" y="2962656"/>
            <a:ext cx="2103120" cy="502920"/>
          </a:xfrm>
          <a:prstGeom prst="rect">
            <a:avLst/>
          </a:prstGeom>
          <a:noFill/>
          <a:ln/>
        </p:spPr>
        <p:txBody>
          <a:bodyPr wrap="square" lIns="0" tIns="0" rIns="0" bIns="0" rtlCol="0" anchor="ctr"/>
          <a:lstStyle/>
          <a:p>
            <a:pPr indent="0" marL="0">
              <a:buNone/>
            </a:pPr>
            <a:r>
              <a:rPr lang="en-US" sz="1400" b="1" dirty="0">
                <a:solidFill>
                  <a:srgbClr val="38761D"/>
                </a:solidFill>
              </a:rPr>
              <a:t>0: runs on the CPU</a:t>
            </a:r>
            <a:endParaRPr lang="en-US" sz="1400" dirty="0"/>
          </a:p>
        </p:txBody>
      </p:sp>
      <p:sp>
        <p:nvSpPr>
          <p:cNvPr id="11" name="Text 9"/>
          <p:cNvSpPr txBox="1"/>
          <p:nvPr/>
        </p:nvSpPr>
        <p:spPr>
          <a:xfrm>
            <a:off x="777240" y="3529584"/>
            <a:ext cx="2926080" cy="502920"/>
          </a:xfrm>
          <a:prstGeom prst="rect">
            <a:avLst/>
          </a:prstGeom>
          <a:noFill/>
          <a:ln/>
        </p:spPr>
        <p:txBody>
          <a:bodyPr wrap="square" lIns="0" tIns="0" rIns="0" bIns="0" rtlCol="0" anchor="ctr"/>
          <a:lstStyle/>
          <a:p>
            <a:pPr indent="0" marL="0">
              <a:buNone/>
            </a:pPr>
            <a:r>
              <a:rPr lang="en-US" sz="1400" dirty="0">
                <a:solidFill>
                  <a:schemeClr val="tx1"/>
                </a:solidFill>
              </a:rPr>
              <a:t>model-written tests (CodeT)</a:t>
            </a:r>
            <a:endParaRPr lang="en-US" sz="1400" dirty="0"/>
          </a:p>
        </p:txBody>
      </p:sp>
      <p:sp>
        <p:nvSpPr>
          <p:cNvPr id="12" name="Text 10"/>
          <p:cNvSpPr txBox="1"/>
          <p:nvPr/>
        </p:nvSpPr>
        <p:spPr>
          <a:xfrm>
            <a:off x="3749040" y="3529584"/>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+340</a:t>
            </a:r>
            <a:endParaRPr lang="en-US" sz="1400" dirty="0"/>
          </a:p>
        </p:txBody>
      </p:sp>
      <p:sp>
        <p:nvSpPr>
          <p:cNvPr id="13" name="Text 11"/>
          <p:cNvSpPr txBox="1"/>
          <p:nvPr/>
        </p:nvSpPr>
        <p:spPr>
          <a:xfrm>
            <a:off x="777240" y="4096512"/>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second version of the program</a:t>
            </a:r>
            <a:endParaRPr lang="en-US" sz="1400" dirty="0"/>
          </a:p>
        </p:txBody>
      </p:sp>
      <p:sp>
        <p:nvSpPr>
          <p:cNvPr id="14" name="Text 12"/>
          <p:cNvSpPr txBox="1"/>
          <p:nvPr/>
        </p:nvSpPr>
        <p:spPr>
          <a:xfrm>
            <a:off x="3749040" y="4096512"/>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one more program</a:t>
            </a:r>
            <a:endParaRPr lang="en-US" sz="1400" dirty="0"/>
          </a:p>
        </p:txBody>
      </p:sp>
      <p:sp>
        <p:nvSpPr>
          <p:cNvPr id="15" name="Text 13"/>
          <p:cNvSpPr txBox="1"/>
          <p:nvPr/>
        </p:nvSpPr>
        <p:spPr>
          <a:xfrm>
            <a:off x="777240" y="4663440"/>
            <a:ext cx="2926080" cy="502920"/>
          </a:xfrm>
          <a:prstGeom prst="rect">
            <a:avLst/>
          </a:prstGeom>
          <a:noFill/>
          <a:ln/>
        </p:spPr>
        <p:txBody>
          <a:bodyPr wrap="square" lIns="0" tIns="0" rIns="0" bIns="0" rtlCol="0" anchor="ctr"/>
          <a:lstStyle/>
          <a:p>
            <a:pPr indent="0" marL="0">
              <a:buNone/>
            </a:pPr>
            <a:r>
              <a:rPr lang="en-US" sz="1400" dirty="0">
                <a:solidFill>
                  <a:schemeClr val="tx1"/>
                </a:solidFill>
              </a:rPr>
              <a:t>a slow brute-force version</a:t>
            </a:r>
            <a:endParaRPr lang="en-US" sz="1400" dirty="0"/>
          </a:p>
        </p:txBody>
      </p:sp>
      <p:sp>
        <p:nvSpPr>
          <p:cNvPr id="16" name="Text 14"/>
          <p:cNvSpPr txBox="1"/>
          <p:nvPr/>
        </p:nvSpPr>
        <p:spPr>
          <a:xfrm>
            <a:off x="3749040" y="4663440"/>
            <a:ext cx="2103120" cy="502920"/>
          </a:xfrm>
          <a:prstGeom prst="rect">
            <a:avLst/>
          </a:prstGeom>
          <a:noFill/>
          <a:ln/>
        </p:spPr>
        <p:txBody>
          <a:bodyPr wrap="square" lIns="0" tIns="0" rIns="0" bIns="0" rtlCol="0" anchor="ctr"/>
          <a:lstStyle/>
          <a:p>
            <a:pPr indent="0" marL="0">
              <a:buNone/>
            </a:pPr>
            <a:r>
              <a:rPr lang="en-US" sz="1400" b="1" dirty="0">
                <a:solidFill>
                  <a:schemeClr val="tx1"/>
                </a:solidFill>
              </a:rPr>
              <a:t>+4.5k (contest)</a:t>
            </a:r>
            <a:endParaRPr lang="en-US" sz="1400" dirty="0"/>
          </a:p>
        </p:txBody>
      </p:sp>
      <p:sp>
        <p:nvSpPr>
          <p:cNvPr id="17" name="when worth it"/>
          <p:cNvSpPr/>
          <p:nvPr/>
        </p:nvSpPr>
        <p:spPr>
          <a:xfrm>
            <a:off x="6172200" y="1280160"/>
            <a:ext cx="5440680" cy="4251960"/>
          </a:xfrm>
          <a:prstGeom prst="roundRect">
            <a:avLst>
              <a:gd name="adj" fmla="val 1720"/>
            </a:avLst>
          </a:prstGeom>
          <a:solidFill>
            <a:srgbClr val="F2F2F2"/>
          </a:solidFill>
          <a:ln w="9525">
            <a:solidFill>
              <a:srgbClr val="D9D9D9"/>
            </a:solidFill>
            <a:prstDash val="solid"/>
          </a:ln>
        </p:spPr>
      </p:sp>
      <p:sp>
        <p:nvSpPr>
          <p:cNvPr id="18" name="Text 16"/>
          <p:cNvSpPr txBox="1"/>
          <p:nvPr/>
        </p:nvSpPr>
        <p:spPr>
          <a:xfrm>
            <a:off x="6400800" y="1353312"/>
            <a:ext cx="4983480" cy="384048"/>
          </a:xfrm>
          <a:prstGeom prst="rect">
            <a:avLst/>
          </a:prstGeom>
          <a:noFill/>
          <a:ln/>
        </p:spPr>
        <p:txBody>
          <a:bodyPr wrap="square" lIns="0" tIns="0" rIns="0" bIns="0" rtlCol="0" anchor="ctr"/>
          <a:lstStyle/>
          <a:p>
            <a:pPr indent="0" marL="0">
              <a:buNone/>
            </a:pPr>
            <a:r>
              <a:rPr lang="en-US" sz="1800" b="1" dirty="0">
                <a:solidFill>
                  <a:srgbClr val="4472C4"/>
                </a:solidFill>
              </a:rPr>
              <a:t>311 contest problems (gpt-oss-120b)</a:t>
            </a:r>
            <a:endParaRPr lang="en-US" sz="1800" dirty="0"/>
          </a:p>
        </p:txBody>
      </p:sp>
      <p:sp>
        <p:nvSpPr>
          <p:cNvPr id="19" name="Text 17"/>
          <p:cNvSpPr txBox="1"/>
          <p:nvPr/>
        </p:nvSpPr>
        <p:spPr>
          <a:xfrm>
            <a:off x="8778240" y="1755648"/>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0" name="Text 18"/>
          <p:cNvSpPr txBox="1"/>
          <p:nvPr/>
        </p:nvSpPr>
        <p:spPr>
          <a:xfrm>
            <a:off x="9692640" y="1755648"/>
            <a:ext cx="169164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1" name="Text 19"/>
          <p:cNvSpPr txBox="1"/>
          <p:nvPr/>
        </p:nvSpPr>
        <p:spPr>
          <a:xfrm>
            <a:off x="6400800" y="2121408"/>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always think hard</a:t>
            </a:r>
            <a:endParaRPr lang="en-US" sz="1500" dirty="0"/>
          </a:p>
        </p:txBody>
      </p:sp>
      <p:sp>
        <p:nvSpPr>
          <p:cNvPr id="22" name="Text 20"/>
          <p:cNvSpPr txBox="1"/>
          <p:nvPr/>
        </p:nvSpPr>
        <p:spPr>
          <a:xfrm>
            <a:off x="8778240" y="212140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3" name="tokens always think hard"/>
          <p:cNvSpPr/>
          <p:nvPr/>
        </p:nvSpPr>
        <p:spPr>
          <a:xfrm>
            <a:off x="9692640" y="2221992"/>
            <a:ext cx="960120" cy="256032"/>
          </a:xfrm>
          <a:prstGeom prst="rect">
            <a:avLst/>
          </a:prstGeom>
          <a:solidFill>
            <a:srgbClr val="7F7F7F"/>
          </a:solidFill>
          <a:ln w="6350">
            <a:solidFill>
              <a:srgbClr val="7F7F7F"/>
            </a:solidFill>
            <a:prstDash val="solid"/>
          </a:ln>
        </p:spPr>
      </p:sp>
      <p:sp>
        <p:nvSpPr>
          <p:cNvPr id="24" name="Text 22"/>
          <p:cNvSpPr txBox="1"/>
          <p:nvPr/>
        </p:nvSpPr>
        <p:spPr>
          <a:xfrm>
            <a:off x="10744200" y="212140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30k</a:t>
            </a:r>
            <a:endParaRPr lang="en-US" sz="1500" dirty="0"/>
          </a:p>
        </p:txBody>
      </p:sp>
      <p:sp>
        <p:nvSpPr>
          <p:cNvPr id="25" name="Text 23"/>
          <p:cNvSpPr txBox="1"/>
          <p:nvPr/>
        </p:nvSpPr>
        <p:spPr>
          <a:xfrm>
            <a:off x="6400800" y="2542032"/>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only</a:t>
            </a:r>
            <a:endParaRPr lang="en-US" sz="1500" dirty="0"/>
          </a:p>
        </p:txBody>
      </p:sp>
      <p:sp>
        <p:nvSpPr>
          <p:cNvPr id="26" name="Text 24"/>
          <p:cNvSpPr txBox="1"/>
          <p:nvPr/>
        </p:nvSpPr>
        <p:spPr>
          <a:xfrm>
            <a:off x="8778240" y="2542032"/>
            <a:ext cx="822960" cy="457200"/>
          </a:xfrm>
          <a:prstGeom prst="rect">
            <a:avLst/>
          </a:prstGeom>
          <a:noFill/>
          <a:ln/>
        </p:spPr>
        <p:txBody>
          <a:bodyPr wrap="square" lIns="0" tIns="0" rIns="0" bIns="0" rtlCol="0" anchor="ctr"/>
          <a:lstStyle/>
          <a:p>
            <a:pPr algn="ctr" indent="0" marL="0">
              <a:buNone/>
            </a:pPr>
            <a:r>
              <a:rPr lang="en-US" sz="1700" b="1" dirty="0">
                <a:solidFill>
                  <a:srgbClr val="5B9BD5"/>
                </a:solidFill>
              </a:rPr>
              <a:t>65.0%</a:t>
            </a:r>
            <a:endParaRPr lang="en-US" sz="1700" dirty="0"/>
          </a:p>
        </p:txBody>
      </p:sp>
      <p:sp>
        <p:nvSpPr>
          <p:cNvPr id="27" name="tokens examples only"/>
          <p:cNvSpPr/>
          <p:nvPr/>
        </p:nvSpPr>
        <p:spPr>
          <a:xfrm>
            <a:off x="9692640" y="2642616"/>
            <a:ext cx="644333" cy="256032"/>
          </a:xfrm>
          <a:prstGeom prst="rect">
            <a:avLst/>
          </a:prstGeom>
          <a:solidFill>
            <a:srgbClr val="5B9BD5"/>
          </a:solidFill>
          <a:ln w="6350">
            <a:solidFill>
              <a:srgbClr val="5B9BD5"/>
            </a:solidFill>
            <a:prstDash val="solid"/>
          </a:ln>
        </p:spPr>
      </p:sp>
      <p:sp>
        <p:nvSpPr>
          <p:cNvPr id="28" name="Text 26"/>
          <p:cNvSpPr txBox="1"/>
          <p:nvPr/>
        </p:nvSpPr>
        <p:spPr>
          <a:xfrm>
            <a:off x="10428413" y="2542032"/>
            <a:ext cx="731520" cy="457200"/>
          </a:xfrm>
          <a:prstGeom prst="rect">
            <a:avLst/>
          </a:prstGeom>
          <a:noFill/>
          <a:ln/>
        </p:spPr>
        <p:txBody>
          <a:bodyPr wrap="square" lIns="0" tIns="0" rIns="0" bIns="0" rtlCol="0" anchor="ctr"/>
          <a:lstStyle/>
          <a:p>
            <a:pPr indent="0" marL="0">
              <a:buNone/>
            </a:pPr>
            <a:r>
              <a:rPr lang="en-US" sz="1500" b="1" dirty="0">
                <a:solidFill>
                  <a:srgbClr val="5B9BD5"/>
                </a:solidFill>
              </a:rPr>
              <a:t>20k</a:t>
            </a:r>
            <a:endParaRPr lang="en-US" sz="1500" dirty="0"/>
          </a:p>
        </p:txBody>
      </p:sp>
      <p:sp>
        <p:nvSpPr>
          <p:cNvPr id="29" name="Text 27"/>
          <p:cNvSpPr txBox="1"/>
          <p:nvPr/>
        </p:nvSpPr>
        <p:spPr>
          <a:xfrm>
            <a:off x="6400800" y="2962656"/>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brute force</a:t>
            </a:r>
            <a:endParaRPr lang="en-US" sz="1500" dirty="0"/>
          </a:p>
        </p:txBody>
      </p:sp>
      <p:sp>
        <p:nvSpPr>
          <p:cNvPr id="30" name="Text 28"/>
          <p:cNvSpPr txBox="1"/>
          <p:nvPr/>
        </p:nvSpPr>
        <p:spPr>
          <a:xfrm>
            <a:off x="8778240" y="2962656"/>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66.3%</a:t>
            </a:r>
            <a:endParaRPr lang="en-US" sz="1700" dirty="0"/>
          </a:p>
        </p:txBody>
      </p:sp>
      <p:sp>
        <p:nvSpPr>
          <p:cNvPr id="31" name="tokens examples + brute force"/>
          <p:cNvSpPr/>
          <p:nvPr/>
        </p:nvSpPr>
        <p:spPr>
          <a:xfrm>
            <a:off x="9692640" y="3063240"/>
            <a:ext cx="787873" cy="256032"/>
          </a:xfrm>
          <a:prstGeom prst="rect">
            <a:avLst/>
          </a:prstGeom>
          <a:solidFill>
            <a:srgbClr val="4472C4"/>
          </a:solidFill>
          <a:ln w="6350">
            <a:solidFill>
              <a:srgbClr val="4472C4"/>
            </a:solidFill>
            <a:prstDash val="solid"/>
          </a:ln>
        </p:spPr>
      </p:sp>
      <p:sp>
        <p:nvSpPr>
          <p:cNvPr id="32" name="Text 30"/>
          <p:cNvSpPr txBox="1"/>
          <p:nvPr/>
        </p:nvSpPr>
        <p:spPr>
          <a:xfrm>
            <a:off x="10571953" y="2962656"/>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25k</a:t>
            </a:r>
            <a:endParaRPr lang="en-US" sz="1500" dirty="0"/>
          </a:p>
        </p:txBody>
      </p:sp>
      <p:sp>
        <p:nvSpPr>
          <p:cNvPr id="33" name="Text 31"/>
          <p:cNvSpPr txBox="1"/>
          <p:nvPr/>
        </p:nvSpPr>
        <p:spPr>
          <a:xfrm>
            <a:off x="6400800" y="3383280"/>
            <a:ext cx="2286000" cy="457200"/>
          </a:xfrm>
          <a:prstGeom prst="rect">
            <a:avLst/>
          </a:prstGeom>
          <a:noFill/>
          <a:ln/>
        </p:spPr>
        <p:txBody>
          <a:bodyPr wrap="square" lIns="0" tIns="0" rIns="0" bIns="0" rtlCol="0" anchor="ctr"/>
          <a:lstStyle/>
          <a:p>
            <a:pPr algn="r" indent="0" marL="0">
              <a:buNone/>
            </a:pPr>
            <a:r>
              <a:rPr lang="en-US" sz="1500" dirty="0">
                <a:solidFill>
                  <a:schemeClr val="tx1"/>
                </a:solidFill>
              </a:rPr>
              <a:t>examples + a 2nd model</a:t>
            </a:r>
            <a:endParaRPr lang="en-US" sz="1500" dirty="0"/>
          </a:p>
        </p:txBody>
      </p:sp>
      <p:sp>
        <p:nvSpPr>
          <p:cNvPr id="34" name="Text 32"/>
          <p:cNvSpPr txBox="1"/>
          <p:nvPr/>
        </p:nvSpPr>
        <p:spPr>
          <a:xfrm>
            <a:off x="8778240" y="33832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65.5%</a:t>
            </a:r>
            <a:endParaRPr lang="en-US" sz="1700" dirty="0"/>
          </a:p>
        </p:txBody>
      </p:sp>
      <p:sp>
        <p:nvSpPr>
          <p:cNvPr id="35" name="tokens examples + a 2nd model"/>
          <p:cNvSpPr/>
          <p:nvPr/>
        </p:nvSpPr>
        <p:spPr>
          <a:xfrm>
            <a:off x="9692640" y="3483864"/>
            <a:ext cx="803821" cy="256032"/>
          </a:xfrm>
          <a:prstGeom prst="rect">
            <a:avLst/>
          </a:prstGeom>
          <a:solidFill>
            <a:srgbClr val="7F7F7F"/>
          </a:solidFill>
          <a:ln w="6350">
            <a:solidFill>
              <a:srgbClr val="7F7F7F"/>
            </a:solidFill>
            <a:prstDash val="solid"/>
          </a:ln>
        </p:spPr>
      </p:sp>
      <p:sp>
        <p:nvSpPr>
          <p:cNvPr id="36" name="Text 34"/>
          <p:cNvSpPr txBox="1"/>
          <p:nvPr/>
        </p:nvSpPr>
        <p:spPr>
          <a:xfrm>
            <a:off x="10587901" y="33832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25k</a:t>
            </a:r>
            <a:endParaRPr lang="en-US" sz="1500" dirty="0"/>
          </a:p>
        </p:txBody>
      </p:sp>
      <p:sp>
        <p:nvSpPr>
          <p:cNvPr id="37" name="Text 35"/>
          <p:cNvSpPr txBox="1"/>
          <p:nvPr/>
        </p:nvSpPr>
        <p:spPr>
          <a:xfrm>
            <a:off x="6400800" y="4206240"/>
            <a:ext cx="4983480" cy="1234440"/>
          </a:xfrm>
          <a:prstGeom prst="rect">
            <a:avLst/>
          </a:prstGeom>
          <a:noFill/>
          <a:ln/>
        </p:spPr>
        <p:txBody>
          <a:bodyPr wrap="square" lIns="0" tIns="0" rIns="0" bIns="0" rtlCol="0" anchor="t"/>
          <a:lstStyle/>
          <a:p>
            <a:pPr indent="0" marL="0">
              <a:buNone/>
            </a:pPr>
            <a:r>
              <a:rPr lang="en-US" sz="1400" dirty="0">
                <a:solidFill>
                  <a:schemeClr val="tx1"/>
                </a:solidFill>
              </a:rPr>
              <a:t>Order: start with the zero-token checks; add a different second version only where mistakes stay silent; stop when a better check would add 1–3 points.</a:t>
            </a:r>
            <a:endParaRPr lang="en-US" sz="14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Free checks cost CPU, not tokens; pay for a second version only where it changes the decision</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the hint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hint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hint: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hint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hint: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'think on the hardest' a weak baseline?</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700" dirty="0">
                <a:solidFill>
                  <a:schemeClr val="tx1"/>
                </a:solidFill>
              </a:rPr>
              <a:t>We gave the router each problem's true Codeforces rating (exploratory; 311 contest problems, gpt-oss-120b, 3 runs)</a:t>
            </a:r>
            <a:endParaRPr lang="en-US" sz="1700" dirty="0"/>
          </a:p>
        </p:txBody>
      </p:sp>
      <p:sp>
        <p:nvSpPr>
          <p:cNvPr id="4" name="Text 2"/>
          <p:cNvSpPr txBox="1"/>
          <p:nvPr/>
        </p:nvSpPr>
        <p:spPr>
          <a:xfrm>
            <a:off x="548640" y="1737360"/>
            <a:ext cx="7132320" cy="365760"/>
          </a:xfrm>
          <a:prstGeom prst="rect">
            <a:avLst/>
          </a:prstGeom>
          <a:noFill/>
          <a:ln/>
        </p:spPr>
        <p:txBody>
          <a:bodyPr wrap="square" lIns="0" tIns="0" rIns="0" bIns="0" rtlCol="0" anchor="ctr"/>
          <a:lstStyle/>
          <a:p>
            <a:pPr indent="0" marL="0">
              <a:buNone/>
            </a:pPr>
            <a:r>
              <a:rPr lang="en-US" sz="1600" b="1" dirty="0">
                <a:solidFill>
                  <a:schemeClr val="tx1"/>
                </a:solidFill>
              </a:rPr>
              <a:t>Send a problem to high effort when ...</a:t>
            </a:r>
            <a:endParaRPr lang="en-US" sz="1600" dirty="0"/>
          </a:p>
        </p:txBody>
      </p:sp>
      <p:sp>
        <p:nvSpPr>
          <p:cNvPr id="5" name="Text 3"/>
          <p:cNvSpPr txBox="1"/>
          <p:nvPr/>
        </p:nvSpPr>
        <p:spPr>
          <a:xfrm>
            <a:off x="3566160" y="210312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6" name="Text 4"/>
          <p:cNvSpPr txBox="1"/>
          <p:nvPr/>
        </p:nvSpPr>
        <p:spPr>
          <a:xfrm>
            <a:off x="4480560" y="2103120"/>
            <a:ext cx="320040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7" name="Text 5"/>
          <p:cNvSpPr txBox="1"/>
          <p:nvPr/>
        </p:nvSpPr>
        <p:spPr>
          <a:xfrm>
            <a:off x="548640" y="246888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2600</a:t>
            </a:r>
            <a:endParaRPr lang="en-US" sz="1500" dirty="0"/>
          </a:p>
        </p:txBody>
      </p:sp>
      <p:sp>
        <p:nvSpPr>
          <p:cNvPr id="8" name="Text 6"/>
          <p:cNvSpPr txBox="1"/>
          <p:nvPr/>
        </p:nvSpPr>
        <p:spPr>
          <a:xfrm>
            <a:off x="3566160" y="246888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61.4%</a:t>
            </a:r>
            <a:endParaRPr lang="en-US" sz="1700" dirty="0"/>
          </a:p>
        </p:txBody>
      </p:sp>
      <p:sp>
        <p:nvSpPr>
          <p:cNvPr id="9" name="tokens true rating ≥ 2600"/>
          <p:cNvSpPr/>
          <p:nvPr/>
        </p:nvSpPr>
        <p:spPr>
          <a:xfrm>
            <a:off x="4480560" y="2569464"/>
            <a:ext cx="1591238" cy="256032"/>
          </a:xfrm>
          <a:prstGeom prst="rect">
            <a:avLst/>
          </a:prstGeom>
          <a:solidFill>
            <a:srgbClr val="7F7F7F"/>
          </a:solidFill>
          <a:ln w="6350">
            <a:solidFill>
              <a:srgbClr val="7F7F7F"/>
            </a:solidFill>
            <a:prstDash val="solid"/>
          </a:ln>
        </p:spPr>
      </p:sp>
      <p:sp>
        <p:nvSpPr>
          <p:cNvPr id="10" name="Text 8"/>
          <p:cNvSpPr txBox="1"/>
          <p:nvPr/>
        </p:nvSpPr>
        <p:spPr>
          <a:xfrm>
            <a:off x="6163238" y="246888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19.4k</a:t>
            </a:r>
            <a:endParaRPr lang="en-US" sz="1500" dirty="0"/>
          </a:p>
        </p:txBody>
      </p:sp>
      <p:sp>
        <p:nvSpPr>
          <p:cNvPr id="11" name="Text 9"/>
          <p:cNvSpPr txBox="1"/>
          <p:nvPr/>
        </p:nvSpPr>
        <p:spPr>
          <a:xfrm>
            <a:off x="548640" y="2999232"/>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2400</a:t>
            </a:r>
            <a:endParaRPr lang="en-US" sz="1500" dirty="0"/>
          </a:p>
        </p:txBody>
      </p:sp>
      <p:sp>
        <p:nvSpPr>
          <p:cNvPr id="12" name="Text 10"/>
          <p:cNvSpPr txBox="1"/>
          <p:nvPr/>
        </p:nvSpPr>
        <p:spPr>
          <a:xfrm>
            <a:off x="3566160" y="299923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63.3%</a:t>
            </a:r>
            <a:endParaRPr lang="en-US" sz="1700" dirty="0"/>
          </a:p>
        </p:txBody>
      </p:sp>
      <p:sp>
        <p:nvSpPr>
          <p:cNvPr id="13" name="tokens true rating ≥ 2400"/>
          <p:cNvSpPr/>
          <p:nvPr/>
        </p:nvSpPr>
        <p:spPr>
          <a:xfrm>
            <a:off x="4480560" y="3099816"/>
            <a:ext cx="1861913" cy="256032"/>
          </a:xfrm>
          <a:prstGeom prst="rect">
            <a:avLst/>
          </a:prstGeom>
          <a:solidFill>
            <a:srgbClr val="7F7F7F"/>
          </a:solidFill>
          <a:ln w="6350">
            <a:solidFill>
              <a:srgbClr val="7F7F7F"/>
            </a:solidFill>
            <a:prstDash val="solid"/>
          </a:ln>
        </p:spPr>
      </p:sp>
      <p:sp>
        <p:nvSpPr>
          <p:cNvPr id="14" name="Text 12"/>
          <p:cNvSpPr txBox="1"/>
          <p:nvPr/>
        </p:nvSpPr>
        <p:spPr>
          <a:xfrm>
            <a:off x="6433913" y="299923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22.7k</a:t>
            </a:r>
            <a:endParaRPr lang="en-US" sz="1500" dirty="0"/>
          </a:p>
        </p:txBody>
      </p:sp>
      <p:sp>
        <p:nvSpPr>
          <p:cNvPr id="15" name="Text 13"/>
          <p:cNvSpPr txBox="1"/>
          <p:nvPr/>
        </p:nvSpPr>
        <p:spPr>
          <a:xfrm>
            <a:off x="548640" y="3529584"/>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true rating ≥ 1800</a:t>
            </a:r>
            <a:endParaRPr lang="en-US" sz="1500" dirty="0"/>
          </a:p>
        </p:txBody>
      </p:sp>
      <p:sp>
        <p:nvSpPr>
          <p:cNvPr id="16" name="Text 14"/>
          <p:cNvSpPr txBox="1"/>
          <p:nvPr/>
        </p:nvSpPr>
        <p:spPr>
          <a:xfrm>
            <a:off x="3566160" y="3529584"/>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65.3%</a:t>
            </a:r>
            <a:endParaRPr lang="en-US" sz="1700" dirty="0"/>
          </a:p>
        </p:txBody>
      </p:sp>
      <p:sp>
        <p:nvSpPr>
          <p:cNvPr id="17" name="tokens true rating ≥ 1800"/>
          <p:cNvSpPr/>
          <p:nvPr/>
        </p:nvSpPr>
        <p:spPr>
          <a:xfrm>
            <a:off x="4480560" y="3630168"/>
            <a:ext cx="2280228" cy="256032"/>
          </a:xfrm>
          <a:prstGeom prst="rect">
            <a:avLst/>
          </a:prstGeom>
          <a:solidFill>
            <a:srgbClr val="7F7F7F"/>
          </a:solidFill>
          <a:ln w="6350">
            <a:solidFill>
              <a:srgbClr val="7F7F7F"/>
            </a:solidFill>
            <a:prstDash val="solid"/>
          </a:ln>
        </p:spPr>
      </p:sp>
      <p:sp>
        <p:nvSpPr>
          <p:cNvPr id="18" name="Text 16"/>
          <p:cNvSpPr txBox="1"/>
          <p:nvPr/>
        </p:nvSpPr>
        <p:spPr>
          <a:xfrm>
            <a:off x="6852228" y="3529584"/>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27.8k</a:t>
            </a:r>
            <a:endParaRPr lang="en-US" sz="1500" dirty="0"/>
          </a:p>
        </p:txBody>
      </p:sp>
      <p:sp>
        <p:nvSpPr>
          <p:cNvPr id="19" name="Text 17"/>
          <p:cNvSpPr txBox="1"/>
          <p:nvPr/>
        </p:nvSpPr>
        <p:spPr>
          <a:xfrm>
            <a:off x="548640" y="4059936"/>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its first answer is long</a:t>
            </a:r>
            <a:endParaRPr lang="en-US" sz="1500" dirty="0"/>
          </a:p>
        </p:txBody>
      </p:sp>
      <p:sp>
        <p:nvSpPr>
          <p:cNvPr id="20" name="Text 18"/>
          <p:cNvSpPr txBox="1"/>
          <p:nvPr/>
        </p:nvSpPr>
        <p:spPr>
          <a:xfrm>
            <a:off x="3566160" y="4059936"/>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62.1%</a:t>
            </a:r>
            <a:endParaRPr lang="en-US" sz="1700" dirty="0"/>
          </a:p>
        </p:txBody>
      </p:sp>
      <p:sp>
        <p:nvSpPr>
          <p:cNvPr id="21" name="tokens its first answer is long"/>
          <p:cNvSpPr/>
          <p:nvPr/>
        </p:nvSpPr>
        <p:spPr>
          <a:xfrm>
            <a:off x="4480560" y="4160520"/>
            <a:ext cx="1886520" cy="256032"/>
          </a:xfrm>
          <a:prstGeom prst="rect">
            <a:avLst/>
          </a:prstGeom>
          <a:solidFill>
            <a:srgbClr val="7F7F7F"/>
          </a:solidFill>
          <a:ln w="6350">
            <a:solidFill>
              <a:srgbClr val="7F7F7F"/>
            </a:solidFill>
            <a:prstDash val="solid"/>
          </a:ln>
        </p:spPr>
      </p:sp>
      <p:sp>
        <p:nvSpPr>
          <p:cNvPr id="22" name="Text 20"/>
          <p:cNvSpPr txBox="1"/>
          <p:nvPr/>
        </p:nvSpPr>
        <p:spPr>
          <a:xfrm>
            <a:off x="6458520" y="4059936"/>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23.0k</a:t>
            </a:r>
            <a:endParaRPr lang="en-US" sz="1500" dirty="0"/>
          </a:p>
        </p:txBody>
      </p:sp>
      <p:sp>
        <p:nvSpPr>
          <p:cNvPr id="23" name="Text 21"/>
          <p:cNvSpPr txBox="1"/>
          <p:nvPr/>
        </p:nvSpPr>
        <p:spPr>
          <a:xfrm>
            <a:off x="548640" y="4590288"/>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always</a:t>
            </a:r>
            <a:endParaRPr lang="en-US" sz="1500" dirty="0"/>
          </a:p>
        </p:txBody>
      </p:sp>
      <p:sp>
        <p:nvSpPr>
          <p:cNvPr id="24" name="Text 22"/>
          <p:cNvSpPr txBox="1"/>
          <p:nvPr/>
        </p:nvSpPr>
        <p:spPr>
          <a:xfrm>
            <a:off x="3566160" y="4590288"/>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66.2%</a:t>
            </a:r>
            <a:endParaRPr lang="en-US" sz="1700" dirty="0"/>
          </a:p>
        </p:txBody>
      </p:sp>
      <p:sp>
        <p:nvSpPr>
          <p:cNvPr id="25" name="tokens always"/>
          <p:cNvSpPr/>
          <p:nvPr/>
        </p:nvSpPr>
        <p:spPr>
          <a:xfrm>
            <a:off x="4480560" y="4690872"/>
            <a:ext cx="2468880" cy="256032"/>
          </a:xfrm>
          <a:prstGeom prst="rect">
            <a:avLst/>
          </a:prstGeom>
          <a:solidFill>
            <a:srgbClr val="7F7F7F"/>
          </a:solidFill>
          <a:ln w="6350">
            <a:solidFill>
              <a:srgbClr val="7F7F7F"/>
            </a:solidFill>
            <a:prstDash val="solid"/>
          </a:ln>
        </p:spPr>
      </p:sp>
      <p:sp>
        <p:nvSpPr>
          <p:cNvPr id="26" name="Text 24"/>
          <p:cNvSpPr txBox="1"/>
          <p:nvPr/>
        </p:nvSpPr>
        <p:spPr>
          <a:xfrm>
            <a:off x="7040880" y="4590288"/>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30.1k</a:t>
            </a:r>
            <a:endParaRPr lang="en-US" sz="1500" dirty="0"/>
          </a:p>
        </p:txBody>
      </p:sp>
      <p:sp>
        <p:nvSpPr>
          <p:cNvPr id="27" name="Text 25"/>
          <p:cNvSpPr txBox="1"/>
          <p:nvPr/>
        </p:nvSpPr>
        <p:spPr>
          <a:xfrm>
            <a:off x="548640" y="5120640"/>
            <a:ext cx="2926080" cy="457200"/>
          </a:xfrm>
          <a:prstGeom prst="rect">
            <a:avLst/>
          </a:prstGeom>
          <a:noFill/>
          <a:ln/>
        </p:spPr>
        <p:txBody>
          <a:bodyPr wrap="square" lIns="0" tIns="0" rIns="0" bIns="0" rtlCol="0" anchor="ctr"/>
          <a:lstStyle/>
          <a:p>
            <a:pPr algn="r" indent="0" marL="0">
              <a:buNone/>
            </a:pPr>
            <a:r>
              <a:rPr lang="en-US" sz="1500" dirty="0">
                <a:solidFill>
                  <a:schemeClr val="tx1"/>
                </a:solidFill>
              </a:rPr>
              <a:t>an example fails (free check)</a:t>
            </a:r>
            <a:endParaRPr lang="en-US" sz="1500" dirty="0"/>
          </a:p>
        </p:txBody>
      </p:sp>
      <p:sp>
        <p:nvSpPr>
          <p:cNvPr id="28" name="Text 26"/>
          <p:cNvSpPr txBox="1"/>
          <p:nvPr/>
        </p:nvSpPr>
        <p:spPr>
          <a:xfrm>
            <a:off x="3566160" y="5120640"/>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65.0%</a:t>
            </a:r>
            <a:endParaRPr lang="en-US" sz="1700" dirty="0"/>
          </a:p>
        </p:txBody>
      </p:sp>
      <p:sp>
        <p:nvSpPr>
          <p:cNvPr id="29" name="tokens an example fails (free check)"/>
          <p:cNvSpPr/>
          <p:nvPr/>
        </p:nvSpPr>
        <p:spPr>
          <a:xfrm>
            <a:off x="4480560" y="5221224"/>
            <a:ext cx="1656856" cy="256032"/>
          </a:xfrm>
          <a:prstGeom prst="rect">
            <a:avLst/>
          </a:prstGeom>
          <a:solidFill>
            <a:srgbClr val="4472C4"/>
          </a:solidFill>
          <a:ln w="6350">
            <a:solidFill>
              <a:srgbClr val="4472C4"/>
            </a:solidFill>
            <a:prstDash val="solid"/>
          </a:ln>
        </p:spPr>
      </p:sp>
      <p:sp>
        <p:nvSpPr>
          <p:cNvPr id="30" name="Text 28"/>
          <p:cNvSpPr txBox="1"/>
          <p:nvPr/>
        </p:nvSpPr>
        <p:spPr>
          <a:xfrm>
            <a:off x="6228856" y="5120640"/>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20.2k</a:t>
            </a:r>
            <a:endParaRPr lang="en-US" sz="1500" dirty="0"/>
          </a:p>
        </p:txBody>
      </p:sp>
      <p:sp>
        <p:nvSpPr>
          <p:cNvPr id="31" name="Text 29"/>
          <p:cNvSpPr txBox="1"/>
          <p:nvPr/>
        </p:nvSpPr>
        <p:spPr>
          <a:xfrm>
            <a:off x="8046720" y="178308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74% → 87%</a:t>
            </a:r>
            <a:endParaRPr lang="en-US" sz="3200" dirty="0"/>
          </a:p>
        </p:txBody>
      </p:sp>
      <p:sp>
        <p:nvSpPr>
          <p:cNvPr id="32" name="Text 30"/>
          <p:cNvSpPr txBox="1"/>
          <p:nvPr/>
        </p:nvSpPr>
        <p:spPr>
          <a:xfrm>
            <a:off x="8046720" y="2423160"/>
            <a:ext cx="3566160" cy="822960"/>
          </a:xfrm>
          <a:prstGeom prst="rect">
            <a:avLst/>
          </a:prstGeom>
          <a:noFill/>
          <a:ln/>
        </p:spPr>
        <p:txBody>
          <a:bodyPr wrap="square" lIns="0" tIns="0" rIns="0" bIns="0" rtlCol="0" anchor="t"/>
          <a:lstStyle/>
          <a:p>
            <a:pPr indent="0" marL="0">
              <a:buNone/>
            </a:pPr>
            <a:r>
              <a:rPr lang="en-US" sz="1500" dirty="0">
                <a:solidFill>
                  <a:schemeClr val="tx1"/>
                </a:solidFill>
              </a:rPr>
              <a:t>208 geometry and optimization problems × 3 models: think on the hardest-looking (Snell et al.) → hint first, think on failure</a:t>
            </a:r>
            <a:endParaRPr lang="en-US" sz="1500" dirty="0"/>
          </a:p>
        </p:txBody>
      </p:sp>
      <p:sp>
        <p:nvSpPr>
          <p:cNvPr id="33" name="Text 31"/>
          <p:cNvSpPr txBox="1"/>
          <p:nvPr/>
        </p:nvSpPr>
        <p:spPr>
          <a:xfrm>
            <a:off x="8046720" y="3429000"/>
            <a:ext cx="3566160" cy="594360"/>
          </a:xfrm>
          <a:prstGeom prst="rect">
            <a:avLst/>
          </a:prstGeom>
          <a:noFill/>
          <a:ln/>
        </p:spPr>
        <p:txBody>
          <a:bodyPr wrap="square" lIns="0" tIns="0" rIns="0" bIns="0" rtlCol="0" anchor="ctr"/>
          <a:lstStyle/>
          <a:p>
            <a:pPr indent="0" marL="0">
              <a:buNone/>
            </a:pPr>
            <a:r>
              <a:rPr lang="en-US" sz="3200" b="1" dirty="0">
                <a:solidFill>
                  <a:srgbClr val="4472C4"/>
                </a:solidFill>
              </a:rPr>
              <a:t>79%</a:t>
            </a:r>
            <a:endParaRPr lang="en-US" sz="3200" dirty="0"/>
          </a:p>
        </p:txBody>
      </p:sp>
      <p:sp>
        <p:nvSpPr>
          <p:cNvPr id="34" name="Text 32"/>
          <p:cNvSpPr txBox="1"/>
          <p:nvPr/>
        </p:nvSpPr>
        <p:spPr>
          <a:xfrm>
            <a:off x="8046720" y="4069080"/>
            <a:ext cx="3566160" cy="822960"/>
          </a:xfrm>
          <a:prstGeom prst="rect">
            <a:avLst/>
          </a:prstGeom>
          <a:noFill/>
          <a:ln/>
        </p:spPr>
        <p:txBody>
          <a:bodyPr wrap="square" lIns="0" tIns="0" rIns="0" bIns="0" rtlCol="0" anchor="t"/>
          <a:lstStyle/>
          <a:p>
            <a:pPr indent="0" marL="0">
              <a:buNone/>
            </a:pPr>
            <a:r>
              <a:rPr lang="en-US" sz="1500" dirty="0">
                <a:solidFill>
                  <a:schemeClr val="tx1"/>
                </a:solidFill>
              </a:rPr>
              <a:t>even with the best fix chosen per difficulty level</a:t>
            </a:r>
            <a:endParaRPr lang="en-US" sz="1500" dirty="0"/>
          </a:p>
        </p:txBody>
      </p:sp>
      <p:sp>
        <p:nvSpPr>
          <p:cNvPr id="35" name="Text 3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Even the true difficulty does not say which program is wrong; a free check does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compared with published methods</a:t>
            </a:r>
            <a:endParaRPr lang="en-US" sz="3600" dirty="0"/>
          </a:p>
        </p:txBody>
      </p:sp>
      <p:graphicFrame>
        <p:nvGraphicFramePr>
          <p:cNvPr id="27"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hint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this work sits in related research</a:t>
            </a:r>
            <a:endParaRPr lang="en-US" sz="36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 program for computation; two versions of it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hints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hints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hint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numbers reported in papers, next to ours</a:t>
            </a:r>
            <a:endParaRPr lang="en-US" sz="3600" dirty="0"/>
          </a:p>
        </p:txBody>
      </p:sp>
      <p:graphicFrame>
        <p:nvGraphicFramePr>
          <p:cNvPr id="2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why not majority voting?</a:t>
            </a:r>
            <a:endParaRPr lang="en-US" sz="3600" dirty="0"/>
          </a:p>
        </p:txBody>
      </p:sp>
      <p:sp>
        <p:nvSpPr>
          <p:cNvPr id="3" name="pick one of three"/>
          <p:cNvSpPr/>
          <p:nvPr/>
        </p:nvSpPr>
        <p:spPr>
          <a:xfrm>
            <a:off x="548640" y="1234440"/>
            <a:ext cx="5440680" cy="4251960"/>
          </a:xfrm>
          <a:prstGeom prst="roundRect">
            <a:avLst>
              <a:gd name="adj" fmla="val 1720"/>
            </a:avLst>
          </a:prstGeom>
          <a:solidFill>
            <a:srgbClr val="F2F2F2"/>
          </a:solidFill>
          <a:ln w="9525">
            <a:solidFill>
              <a:srgbClr val="D9D9D9"/>
            </a:solidFill>
            <a:prstDash val="solid"/>
          </a:ln>
        </p:spPr>
      </p:sp>
      <p:sp>
        <p:nvSpPr>
          <p:cNvPr id="4" name="Text 2"/>
          <p:cNvSpPr txBox="1"/>
          <p:nvPr/>
        </p:nvSpPr>
        <p:spPr>
          <a:xfrm>
            <a:off x="777240" y="1325880"/>
            <a:ext cx="5029200" cy="640080"/>
          </a:xfrm>
          <a:prstGeom prst="rect">
            <a:avLst/>
          </a:prstGeom>
          <a:noFill/>
          <a:ln/>
        </p:spPr>
        <p:txBody>
          <a:bodyPr wrap="square" lIns="0" tIns="0" rIns="0" bIns="0" rtlCol="0" anchor="t"/>
          <a:lstStyle/>
          <a:p>
            <a:pPr indent="0" marL="0">
              <a:buNone/>
            </a:pPr>
            <a:r>
              <a:rPr lang="en-US" sz="1600" b="1" dirty="0">
                <a:solidFill>
                  <a:schemeClr val="tx1"/>
                </a:solidFill>
              </a:rPr>
              <a:t>Pick 1 of 3 programs (Qwen3-8B, 300 geometry problems): % picked wrong</a:t>
            </a:r>
            <a:endParaRPr lang="en-US" sz="1600" dirty="0"/>
          </a:p>
        </p:txBody>
      </p:sp>
      <p:sp>
        <p:nvSpPr>
          <p:cNvPr id="5" name="Text 3"/>
          <p:cNvSpPr txBox="1"/>
          <p:nvPr/>
        </p:nvSpPr>
        <p:spPr>
          <a:xfrm>
            <a:off x="777240" y="205740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majority vote</a:t>
            </a:r>
            <a:endParaRPr lang="en-US" sz="1600" dirty="0"/>
          </a:p>
        </p:txBody>
      </p:sp>
      <p:sp>
        <p:nvSpPr>
          <p:cNvPr id="6" name="bar majority vote"/>
          <p:cNvSpPr/>
          <p:nvPr/>
        </p:nvSpPr>
        <p:spPr>
          <a:xfrm>
            <a:off x="2926080" y="2132838"/>
            <a:ext cx="865022" cy="251460"/>
          </a:xfrm>
          <a:prstGeom prst="rect">
            <a:avLst/>
          </a:prstGeom>
          <a:solidFill>
            <a:srgbClr val="7F7F7F"/>
          </a:solidFill>
          <a:ln w="6350">
            <a:solidFill>
              <a:srgbClr val="7F7F7F"/>
            </a:solidFill>
            <a:prstDash val="solid"/>
          </a:ln>
        </p:spPr>
      </p:sp>
      <p:sp>
        <p:nvSpPr>
          <p:cNvPr id="7" name="Text 5"/>
          <p:cNvSpPr txBox="1"/>
          <p:nvPr/>
        </p:nvSpPr>
        <p:spPr>
          <a:xfrm>
            <a:off x="3882542" y="205740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4.3%</a:t>
            </a:r>
            <a:endParaRPr lang="en-US" sz="1800" dirty="0"/>
          </a:p>
        </p:txBody>
      </p:sp>
      <p:sp>
        <p:nvSpPr>
          <p:cNvPr id="8" name="Text 6"/>
          <p:cNvSpPr txBox="1"/>
          <p:nvPr/>
        </p:nvSpPr>
        <p:spPr>
          <a:xfrm>
            <a:off x="777240" y="256032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CodeT (+340 tokens)</a:t>
            </a:r>
            <a:endParaRPr lang="en-US" sz="1600" dirty="0"/>
          </a:p>
        </p:txBody>
      </p:sp>
      <p:sp>
        <p:nvSpPr>
          <p:cNvPr id="9" name="bar CodeT (+340 tokens)"/>
          <p:cNvSpPr/>
          <p:nvPr/>
        </p:nvSpPr>
        <p:spPr>
          <a:xfrm>
            <a:off x="2926080" y="2635758"/>
            <a:ext cx="804672" cy="251460"/>
          </a:xfrm>
          <a:prstGeom prst="rect">
            <a:avLst/>
          </a:prstGeom>
          <a:solidFill>
            <a:srgbClr val="7F7F7F"/>
          </a:solidFill>
          <a:ln w="6350">
            <a:solidFill>
              <a:srgbClr val="7F7F7F"/>
            </a:solidFill>
            <a:prstDash val="solid"/>
          </a:ln>
        </p:spPr>
      </p:sp>
      <p:sp>
        <p:nvSpPr>
          <p:cNvPr id="10" name="Text 8"/>
          <p:cNvSpPr txBox="1"/>
          <p:nvPr/>
        </p:nvSpPr>
        <p:spPr>
          <a:xfrm>
            <a:off x="3822192" y="256032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4.0%</a:t>
            </a:r>
            <a:endParaRPr lang="en-US" sz="1800" dirty="0"/>
          </a:p>
        </p:txBody>
      </p:sp>
      <p:sp>
        <p:nvSpPr>
          <p:cNvPr id="11" name="Text 9"/>
          <p:cNvSpPr txBox="1"/>
          <p:nvPr/>
        </p:nvSpPr>
        <p:spPr>
          <a:xfrm>
            <a:off x="777240" y="306324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DeepConf</a:t>
            </a:r>
            <a:endParaRPr lang="en-US" sz="1600" dirty="0"/>
          </a:p>
        </p:txBody>
      </p:sp>
      <p:sp>
        <p:nvSpPr>
          <p:cNvPr id="12" name="bar DeepConf"/>
          <p:cNvSpPr/>
          <p:nvPr/>
        </p:nvSpPr>
        <p:spPr>
          <a:xfrm>
            <a:off x="2926080" y="3138678"/>
            <a:ext cx="1066190" cy="251460"/>
          </a:xfrm>
          <a:prstGeom prst="rect">
            <a:avLst/>
          </a:prstGeom>
          <a:solidFill>
            <a:srgbClr val="7F7F7F"/>
          </a:solidFill>
          <a:ln w="6350">
            <a:solidFill>
              <a:srgbClr val="7F7F7F"/>
            </a:solidFill>
            <a:prstDash val="solid"/>
          </a:ln>
        </p:spPr>
      </p:sp>
      <p:sp>
        <p:nvSpPr>
          <p:cNvPr id="13" name="Text 11"/>
          <p:cNvSpPr txBox="1"/>
          <p:nvPr/>
        </p:nvSpPr>
        <p:spPr>
          <a:xfrm>
            <a:off x="4083710" y="306324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5.3%</a:t>
            </a:r>
            <a:endParaRPr lang="en-US" sz="1800" dirty="0"/>
          </a:p>
        </p:txBody>
      </p:sp>
      <p:sp>
        <p:nvSpPr>
          <p:cNvPr id="14" name="Text 12"/>
          <p:cNvSpPr txBox="1"/>
          <p:nvPr/>
        </p:nvSpPr>
        <p:spPr>
          <a:xfrm>
            <a:off x="777240" y="356616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MBR-exec</a:t>
            </a:r>
            <a:endParaRPr lang="en-US" sz="1600" dirty="0"/>
          </a:p>
        </p:txBody>
      </p:sp>
      <p:sp>
        <p:nvSpPr>
          <p:cNvPr id="15" name="bar MBR-exec"/>
          <p:cNvSpPr/>
          <p:nvPr/>
        </p:nvSpPr>
        <p:spPr>
          <a:xfrm>
            <a:off x="2926080" y="3641598"/>
            <a:ext cx="1267358" cy="251460"/>
          </a:xfrm>
          <a:prstGeom prst="rect">
            <a:avLst/>
          </a:prstGeom>
          <a:solidFill>
            <a:srgbClr val="7F7F7F"/>
          </a:solidFill>
          <a:ln w="6350">
            <a:solidFill>
              <a:srgbClr val="7F7F7F"/>
            </a:solidFill>
            <a:prstDash val="solid"/>
          </a:ln>
        </p:spPr>
      </p:sp>
      <p:sp>
        <p:nvSpPr>
          <p:cNvPr id="16" name="Text 14"/>
          <p:cNvSpPr txBox="1"/>
          <p:nvPr/>
        </p:nvSpPr>
        <p:spPr>
          <a:xfrm>
            <a:off x="4284878" y="3566160"/>
            <a:ext cx="822960" cy="402336"/>
          </a:xfrm>
          <a:prstGeom prst="rect">
            <a:avLst/>
          </a:prstGeom>
          <a:noFill/>
          <a:ln/>
        </p:spPr>
        <p:txBody>
          <a:bodyPr wrap="square" lIns="0" tIns="0" rIns="0" bIns="0" rtlCol="0" anchor="ctr"/>
          <a:lstStyle/>
          <a:p>
            <a:pPr indent="0" marL="0">
              <a:buNone/>
            </a:pPr>
            <a:r>
              <a:rPr lang="en-US" sz="1800" b="1" dirty="0">
                <a:solidFill>
                  <a:srgbClr val="7F7F7F"/>
                </a:solidFill>
              </a:rPr>
              <a:t>6.3%</a:t>
            </a:r>
            <a:endParaRPr lang="en-US" sz="1800" dirty="0"/>
          </a:p>
        </p:txBody>
      </p:sp>
      <p:sp>
        <p:nvSpPr>
          <p:cNvPr id="17" name="Text 15"/>
          <p:cNvSpPr txBox="1"/>
          <p:nvPr/>
        </p:nvSpPr>
        <p:spPr>
          <a:xfrm>
            <a:off x="777240" y="4069080"/>
            <a:ext cx="2011680" cy="402336"/>
          </a:xfrm>
          <a:prstGeom prst="rect">
            <a:avLst/>
          </a:prstGeom>
          <a:noFill/>
          <a:ln/>
        </p:spPr>
        <p:txBody>
          <a:bodyPr wrap="square" lIns="0" tIns="0" rIns="0" bIns="0" rtlCol="0" anchor="ctr"/>
          <a:lstStyle/>
          <a:p>
            <a:pPr algn="r" indent="0" marL="0">
              <a:buNone/>
            </a:pPr>
            <a:r>
              <a:rPr lang="en-US" sz="1600" dirty="0">
                <a:solidFill>
                  <a:schemeClr val="tx1"/>
                </a:solidFill>
              </a:rPr>
              <a:t>symmetry check</a:t>
            </a:r>
            <a:endParaRPr lang="en-US" sz="1600" dirty="0"/>
          </a:p>
        </p:txBody>
      </p:sp>
      <p:sp>
        <p:nvSpPr>
          <p:cNvPr id="18" name="bar symmetry check"/>
          <p:cNvSpPr/>
          <p:nvPr/>
        </p:nvSpPr>
        <p:spPr>
          <a:xfrm>
            <a:off x="2926080" y="4144518"/>
            <a:ext cx="60350" cy="251460"/>
          </a:xfrm>
          <a:prstGeom prst="rect">
            <a:avLst/>
          </a:prstGeom>
          <a:solidFill>
            <a:srgbClr val="4472C4"/>
          </a:solidFill>
          <a:ln w="6350">
            <a:solidFill>
              <a:srgbClr val="4472C4"/>
            </a:solidFill>
            <a:prstDash val="solid"/>
          </a:ln>
        </p:spPr>
      </p:sp>
      <p:sp>
        <p:nvSpPr>
          <p:cNvPr id="19" name="Text 17"/>
          <p:cNvSpPr txBox="1"/>
          <p:nvPr/>
        </p:nvSpPr>
        <p:spPr>
          <a:xfrm>
            <a:off x="3077870" y="4069080"/>
            <a:ext cx="822960" cy="402336"/>
          </a:xfrm>
          <a:prstGeom prst="rect">
            <a:avLst/>
          </a:prstGeom>
          <a:noFill/>
          <a:ln/>
        </p:spPr>
        <p:txBody>
          <a:bodyPr wrap="square" lIns="0" tIns="0" rIns="0" bIns="0" rtlCol="0" anchor="ctr"/>
          <a:lstStyle/>
          <a:p>
            <a:pPr indent="0" marL="0">
              <a:buNone/>
            </a:pPr>
            <a:r>
              <a:rPr lang="en-US" sz="1800" b="1" dirty="0">
                <a:solidFill>
                  <a:srgbClr val="4472C4"/>
                </a:solidFill>
              </a:rPr>
              <a:t>0.3%</a:t>
            </a:r>
            <a:endParaRPr lang="en-US" sz="1800" dirty="0"/>
          </a:p>
        </p:txBody>
      </p:sp>
      <p:sp>
        <p:nvSpPr>
          <p:cNvPr id="20" name="Text 18"/>
          <p:cNvSpPr txBox="1"/>
          <p:nvPr/>
        </p:nvSpPr>
        <p:spPr>
          <a:xfrm>
            <a:off x="777240" y="4663440"/>
            <a:ext cx="5029200" cy="731520"/>
          </a:xfrm>
          <a:prstGeom prst="rect">
            <a:avLst/>
          </a:prstGeom>
          <a:noFill/>
          <a:ln/>
        </p:spPr>
        <p:txBody>
          <a:bodyPr wrap="square" lIns="0" tIns="0" rIns="0" bIns="0" rtlCol="0" anchor="t"/>
          <a:lstStyle/>
          <a:p>
            <a:pPr indent="0" marL="0">
              <a:buNone/>
            </a:pPr>
            <a:r>
              <a:rPr lang="en-US" sz="1400" dirty="0">
                <a:solidFill>
                  <a:schemeClr val="tx2"/>
                </a:solidFill>
              </a:rPr>
              <a:t>symmetry check: run the program on a moved copy; a right program gives the same answer (no extra tokens)</a:t>
            </a:r>
            <a:endParaRPr lang="en-US" sz="1400" dirty="0"/>
          </a:p>
        </p:txBody>
      </p:sp>
      <p:sp>
        <p:nvSpPr>
          <p:cNvPr id="21" name="votes vs checks"/>
          <p:cNvSpPr/>
          <p:nvPr/>
        </p:nvSpPr>
        <p:spPr>
          <a:xfrm>
            <a:off x="6172200" y="1234440"/>
            <a:ext cx="5440680" cy="4251960"/>
          </a:xfrm>
          <a:prstGeom prst="roundRect">
            <a:avLst>
              <a:gd name="adj" fmla="val 1720"/>
            </a:avLst>
          </a:prstGeom>
          <a:solidFill>
            <a:srgbClr val="F2F2F2"/>
          </a:solidFill>
          <a:ln w="9525">
            <a:solidFill>
              <a:srgbClr val="D9D9D9"/>
            </a:solidFill>
            <a:prstDash val="solid"/>
          </a:ln>
        </p:spPr>
      </p:sp>
      <p:sp>
        <p:nvSpPr>
          <p:cNvPr id="22" name="Text 20"/>
          <p:cNvSpPr txBox="1"/>
          <p:nvPr/>
        </p:nvSpPr>
        <p:spPr>
          <a:xfrm>
            <a:off x="6400800" y="1325880"/>
            <a:ext cx="4983480" cy="365760"/>
          </a:xfrm>
          <a:prstGeom prst="rect">
            <a:avLst/>
          </a:prstGeom>
          <a:noFill/>
          <a:ln/>
        </p:spPr>
        <p:txBody>
          <a:bodyPr wrap="square" lIns="0" tIns="0" rIns="0" bIns="0" rtlCol="0" anchor="ctr"/>
          <a:lstStyle/>
          <a:p>
            <a:pPr indent="0" marL="0">
              <a:buNone/>
            </a:pPr>
            <a:r>
              <a:rPr lang="en-US" sz="1600" b="1" dirty="0">
                <a:solidFill>
                  <a:schemeClr val="tx1"/>
                </a:solidFill>
              </a:rPr>
              <a:t>Qwen3-32B, word problems</a:t>
            </a:r>
            <a:endParaRPr lang="en-US" sz="1600" dirty="0"/>
          </a:p>
        </p:txBody>
      </p:sp>
      <p:sp>
        <p:nvSpPr>
          <p:cNvPr id="23" name="Text 21"/>
          <p:cNvSpPr txBox="1"/>
          <p:nvPr/>
        </p:nvSpPr>
        <p:spPr>
          <a:xfrm>
            <a:off x="8686800" y="1691640"/>
            <a:ext cx="822960" cy="320040"/>
          </a:xfrm>
          <a:prstGeom prst="rect">
            <a:avLst/>
          </a:prstGeom>
          <a:noFill/>
          <a:ln/>
        </p:spPr>
        <p:txBody>
          <a:bodyPr wrap="square" lIns="0" tIns="0" rIns="0" bIns="0" rtlCol="0" anchor="ctr"/>
          <a:lstStyle/>
          <a:p>
            <a:pPr algn="ctr" indent="0" marL="0">
              <a:buNone/>
            </a:pPr>
            <a:r>
              <a:rPr lang="en-US" sz="1400" dirty="0">
                <a:solidFill>
                  <a:srgbClr val="7F7F7F"/>
                </a:solidFill>
              </a:rPr>
              <a:t>solved</a:t>
            </a:r>
            <a:endParaRPr lang="en-US" sz="1400" dirty="0"/>
          </a:p>
        </p:txBody>
      </p:sp>
      <p:sp>
        <p:nvSpPr>
          <p:cNvPr id="24" name="Text 22"/>
          <p:cNvSpPr txBox="1"/>
          <p:nvPr/>
        </p:nvSpPr>
        <p:spPr>
          <a:xfrm>
            <a:off x="9601200" y="1691640"/>
            <a:ext cx="1783080" cy="320040"/>
          </a:xfrm>
          <a:prstGeom prst="rect">
            <a:avLst/>
          </a:prstGeom>
          <a:noFill/>
          <a:ln/>
        </p:spPr>
        <p:txBody>
          <a:bodyPr wrap="square" lIns="0" tIns="0" rIns="0" bIns="0" rtlCol="0" anchor="ctr"/>
          <a:lstStyle/>
          <a:p>
            <a:pPr indent="0" marL="0">
              <a:buNone/>
            </a:pPr>
            <a:r>
              <a:rPr lang="en-US" sz="1400" dirty="0">
                <a:solidFill>
                  <a:srgbClr val="7F7F7F"/>
                </a:solidFill>
              </a:rPr>
              <a:t>tokens per problem</a:t>
            </a:r>
            <a:endParaRPr lang="en-US" sz="1400" dirty="0"/>
          </a:p>
        </p:txBody>
      </p:sp>
      <p:sp>
        <p:nvSpPr>
          <p:cNvPr id="25" name="Text 23"/>
          <p:cNvSpPr txBox="1"/>
          <p:nvPr/>
        </p:nvSpPr>
        <p:spPr>
          <a:xfrm>
            <a:off x="6400800" y="2057400"/>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programs</a:t>
            </a:r>
            <a:endParaRPr lang="en-US" sz="1500" dirty="0"/>
          </a:p>
        </p:txBody>
      </p:sp>
      <p:sp>
        <p:nvSpPr>
          <p:cNvPr id="26" name="Text 24"/>
          <p:cNvSpPr txBox="1"/>
          <p:nvPr/>
        </p:nvSpPr>
        <p:spPr>
          <a:xfrm>
            <a:off x="8686800" y="2057400"/>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68.4%</a:t>
            </a:r>
            <a:endParaRPr lang="en-US" sz="1700" dirty="0"/>
          </a:p>
        </p:txBody>
      </p:sp>
      <p:sp>
        <p:nvSpPr>
          <p:cNvPr id="27" name="tokens vote of 3 programs"/>
          <p:cNvSpPr/>
          <p:nvPr/>
        </p:nvSpPr>
        <p:spPr>
          <a:xfrm>
            <a:off x="9601200" y="2157984"/>
            <a:ext cx="70531" cy="256032"/>
          </a:xfrm>
          <a:prstGeom prst="rect">
            <a:avLst/>
          </a:prstGeom>
          <a:solidFill>
            <a:srgbClr val="7F7F7F"/>
          </a:solidFill>
          <a:ln w="6350">
            <a:solidFill>
              <a:srgbClr val="7F7F7F"/>
            </a:solidFill>
            <a:prstDash val="solid"/>
          </a:ln>
        </p:spPr>
      </p:sp>
      <p:sp>
        <p:nvSpPr>
          <p:cNvPr id="28" name="Text 26"/>
          <p:cNvSpPr txBox="1"/>
          <p:nvPr/>
        </p:nvSpPr>
        <p:spPr>
          <a:xfrm>
            <a:off x="9763171" y="2057400"/>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1.1k</a:t>
            </a:r>
            <a:endParaRPr lang="en-US" sz="1500" dirty="0"/>
          </a:p>
        </p:txBody>
      </p:sp>
      <p:sp>
        <p:nvSpPr>
          <p:cNvPr id="29" name="Text 27"/>
          <p:cNvSpPr txBox="1"/>
          <p:nvPr/>
        </p:nvSpPr>
        <p:spPr>
          <a:xfrm>
            <a:off x="6400800" y="2587752"/>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vote of 3 thinking runs</a:t>
            </a:r>
            <a:endParaRPr lang="en-US" sz="1500" dirty="0"/>
          </a:p>
        </p:txBody>
      </p:sp>
      <p:sp>
        <p:nvSpPr>
          <p:cNvPr id="30" name="Text 28"/>
          <p:cNvSpPr txBox="1"/>
          <p:nvPr/>
        </p:nvSpPr>
        <p:spPr>
          <a:xfrm>
            <a:off x="8686800" y="2587752"/>
            <a:ext cx="822960" cy="457200"/>
          </a:xfrm>
          <a:prstGeom prst="rect">
            <a:avLst/>
          </a:prstGeom>
          <a:noFill/>
          <a:ln/>
        </p:spPr>
        <p:txBody>
          <a:bodyPr wrap="square" lIns="0" tIns="0" rIns="0" bIns="0" rtlCol="0" anchor="ctr"/>
          <a:lstStyle/>
          <a:p>
            <a:pPr algn="ctr" indent="0" marL="0">
              <a:buNone/>
            </a:pPr>
            <a:r>
              <a:rPr lang="en-US" sz="1700" b="1" dirty="0">
                <a:solidFill>
                  <a:srgbClr val="7F7F7F"/>
                </a:solidFill>
              </a:rPr>
              <a:t>79.4%</a:t>
            </a:r>
            <a:endParaRPr lang="en-US" sz="1700" dirty="0"/>
          </a:p>
        </p:txBody>
      </p:sp>
      <p:sp>
        <p:nvSpPr>
          <p:cNvPr id="31" name="tokens vote of 3 thinking runs"/>
          <p:cNvSpPr/>
          <p:nvPr/>
        </p:nvSpPr>
        <p:spPr>
          <a:xfrm>
            <a:off x="9601200" y="2688336"/>
            <a:ext cx="1051560" cy="256032"/>
          </a:xfrm>
          <a:prstGeom prst="rect">
            <a:avLst/>
          </a:prstGeom>
          <a:solidFill>
            <a:srgbClr val="7F7F7F"/>
          </a:solidFill>
          <a:ln w="6350">
            <a:solidFill>
              <a:srgbClr val="7F7F7F"/>
            </a:solidFill>
            <a:prstDash val="solid"/>
          </a:ln>
        </p:spPr>
      </p:sp>
      <p:sp>
        <p:nvSpPr>
          <p:cNvPr id="32" name="Text 30"/>
          <p:cNvSpPr txBox="1"/>
          <p:nvPr/>
        </p:nvSpPr>
        <p:spPr>
          <a:xfrm>
            <a:off x="10744200" y="2587752"/>
            <a:ext cx="731520" cy="457200"/>
          </a:xfrm>
          <a:prstGeom prst="rect">
            <a:avLst/>
          </a:prstGeom>
          <a:noFill/>
          <a:ln/>
        </p:spPr>
        <p:txBody>
          <a:bodyPr wrap="square" lIns="0" tIns="0" rIns="0" bIns="0" rtlCol="0" anchor="ctr"/>
          <a:lstStyle/>
          <a:p>
            <a:pPr indent="0" marL="0">
              <a:buNone/>
            </a:pPr>
            <a:r>
              <a:rPr lang="en-US" sz="1500" b="1" dirty="0">
                <a:solidFill>
                  <a:srgbClr val="7F7F7F"/>
                </a:solidFill>
              </a:rPr>
              <a:t>16.4k</a:t>
            </a:r>
            <a:endParaRPr lang="en-US" sz="1500" dirty="0"/>
          </a:p>
        </p:txBody>
      </p:sp>
      <p:sp>
        <p:nvSpPr>
          <p:cNvPr id="33" name="Text 31"/>
          <p:cNvSpPr txBox="1"/>
          <p:nvPr/>
        </p:nvSpPr>
        <p:spPr>
          <a:xfrm>
            <a:off x="6400800" y="3118104"/>
            <a:ext cx="2194560" cy="457200"/>
          </a:xfrm>
          <a:prstGeom prst="rect">
            <a:avLst/>
          </a:prstGeom>
          <a:noFill/>
          <a:ln/>
        </p:spPr>
        <p:txBody>
          <a:bodyPr wrap="square" lIns="0" tIns="0" rIns="0" bIns="0" rtlCol="0" anchor="ctr"/>
          <a:lstStyle/>
          <a:p>
            <a:pPr algn="r" indent="0" marL="0">
              <a:buNone/>
            </a:pPr>
            <a:r>
              <a:rPr lang="en-US" sz="1500" dirty="0">
                <a:solidFill>
                  <a:schemeClr val="tx1"/>
                </a:solidFill>
              </a:rPr>
              <a:t>hint first, think on failure</a:t>
            </a:r>
            <a:endParaRPr lang="en-US" sz="1500" dirty="0"/>
          </a:p>
        </p:txBody>
      </p:sp>
      <p:sp>
        <p:nvSpPr>
          <p:cNvPr id="34" name="Text 32"/>
          <p:cNvSpPr txBox="1"/>
          <p:nvPr/>
        </p:nvSpPr>
        <p:spPr>
          <a:xfrm>
            <a:off x="8686800" y="3118104"/>
            <a:ext cx="822960" cy="457200"/>
          </a:xfrm>
          <a:prstGeom prst="rect">
            <a:avLst/>
          </a:prstGeom>
          <a:noFill/>
          <a:ln/>
        </p:spPr>
        <p:txBody>
          <a:bodyPr wrap="square" lIns="0" tIns="0" rIns="0" bIns="0" rtlCol="0" anchor="ctr"/>
          <a:lstStyle/>
          <a:p>
            <a:pPr algn="ctr" indent="0" marL="0">
              <a:buNone/>
            </a:pPr>
            <a:r>
              <a:rPr lang="en-US" sz="1700" b="1" dirty="0">
                <a:solidFill>
                  <a:srgbClr val="4472C4"/>
                </a:solidFill>
              </a:rPr>
              <a:t>72.4%</a:t>
            </a:r>
            <a:endParaRPr lang="en-US" sz="1700" dirty="0"/>
          </a:p>
        </p:txBody>
      </p:sp>
      <p:sp>
        <p:nvSpPr>
          <p:cNvPr id="35" name="tokens fact first, think on failure"/>
          <p:cNvSpPr/>
          <p:nvPr/>
        </p:nvSpPr>
        <p:spPr>
          <a:xfrm>
            <a:off x="9601200" y="3218688"/>
            <a:ext cx="83355" cy="256032"/>
          </a:xfrm>
          <a:prstGeom prst="rect">
            <a:avLst/>
          </a:prstGeom>
          <a:solidFill>
            <a:srgbClr val="4472C4"/>
          </a:solidFill>
          <a:ln w="6350">
            <a:solidFill>
              <a:srgbClr val="4472C4"/>
            </a:solidFill>
            <a:prstDash val="solid"/>
          </a:ln>
        </p:spPr>
      </p:sp>
      <p:sp>
        <p:nvSpPr>
          <p:cNvPr id="36" name="Text 34"/>
          <p:cNvSpPr txBox="1"/>
          <p:nvPr/>
        </p:nvSpPr>
        <p:spPr>
          <a:xfrm>
            <a:off x="9775995" y="3118104"/>
            <a:ext cx="731520" cy="457200"/>
          </a:xfrm>
          <a:prstGeom prst="rect">
            <a:avLst/>
          </a:prstGeom>
          <a:noFill/>
          <a:ln/>
        </p:spPr>
        <p:txBody>
          <a:bodyPr wrap="square" lIns="0" tIns="0" rIns="0" bIns="0" rtlCol="0" anchor="ctr"/>
          <a:lstStyle/>
          <a:p>
            <a:pPr indent="0" marL="0">
              <a:buNone/>
            </a:pPr>
            <a:r>
              <a:rPr lang="en-US" sz="1500" b="1" dirty="0">
                <a:solidFill>
                  <a:srgbClr val="4472C4"/>
                </a:solidFill>
              </a:rPr>
              <a:t>1.3k</a:t>
            </a:r>
            <a:endParaRPr lang="en-US" sz="1500" dirty="0"/>
          </a:p>
        </p:txBody>
      </p:sp>
      <p:sp>
        <p:nvSpPr>
          <p:cNvPr id="37" name="Text 35"/>
          <p:cNvSpPr txBox="1"/>
          <p:nvPr/>
        </p:nvSpPr>
        <p:spPr>
          <a:xfrm>
            <a:off x="6400800" y="3886200"/>
            <a:ext cx="4983480" cy="822960"/>
          </a:xfrm>
          <a:prstGeom prst="rect">
            <a:avLst/>
          </a:prstGeom>
          <a:noFill/>
          <a:ln/>
        </p:spPr>
        <p:txBody>
          <a:bodyPr wrap="square" lIns="0" tIns="0" rIns="0" bIns="0" rtlCol="0" anchor="t"/>
          <a:lstStyle/>
          <a:p>
            <a:pPr indent="0" marL="0">
              <a:buNone/>
            </a:pPr>
            <a:r>
              <a:rPr lang="en-US" sz="1500" dirty="0">
                <a:solidFill>
                  <a:schemeClr val="tx2"/>
                </a:solidFill>
              </a:rPr>
              <a:t>Voting three thinking runs is 7 points better here, but costs 12× the tokens of a free check.</a:t>
            </a:r>
            <a:endParaRPr lang="en-US" sz="1500" dirty="0"/>
          </a:p>
        </p:txBody>
      </p:sp>
      <p:sp>
        <p:nvSpPr>
          <p:cNvPr id="38" name="Text 36"/>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A check picks the right answer, a vote the popular one; 3 thinking runs win only at 12×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Q: is the comparison fair?</a:t>
            </a:r>
            <a:endParaRPr lang="en-US" sz="3600" dirty="0"/>
          </a:p>
        </p:txBody>
      </p:sp>
      <p:sp>
        <p:nvSpPr>
          <p:cNvPr id="3" name="fair Input tokens count too"/>
          <p:cNvSpPr/>
          <p:nvPr/>
        </p:nvSpPr>
        <p:spPr>
          <a:xfrm>
            <a:off x="548640" y="1280160"/>
            <a:ext cx="3566160" cy="4160520"/>
          </a:xfrm>
          <a:prstGeom prst="roundRect">
            <a:avLst>
              <a:gd name="adj" fmla="val 2051"/>
            </a:avLst>
          </a:prstGeom>
          <a:solidFill>
            <a:srgbClr val="F2F2F2"/>
          </a:solidFill>
          <a:ln w="9525">
            <a:solidFill>
              <a:srgbClr val="D9D9D9"/>
            </a:solidFill>
            <a:prstDash val="solid"/>
          </a:ln>
        </p:spPr>
      </p:sp>
      <p:pic>
        <p:nvPicPr>
          <p:cNvPr id="4" name="icon coins" descr="/NAS/SJ/POSTECH/nlp/figs/icons/coins.png">    </p:cNvPr>
          <p:cNvPicPr>
            <a:picLocks noChangeAspect="1"/>
          </p:cNvPicPr>
          <p:nvPr/>
        </p:nvPicPr>
        <p:blipFill>
          <a:blip r:embed="rId1"/>
          <a:stretch>
            <a:fillRect/>
          </a:stretch>
        </p:blipFill>
        <p:spPr>
          <a:xfrm>
            <a:off x="777240" y="1463040"/>
            <a:ext cx="502920" cy="502920"/>
          </a:xfrm>
          <a:prstGeom prst="rect">
            <a:avLst/>
          </a:prstGeom>
        </p:spPr>
      </p:pic>
      <p:sp>
        <p:nvSpPr>
          <p:cNvPr id="5" name="Text 2"/>
          <p:cNvSpPr txBox="1"/>
          <p:nvPr/>
        </p:nvSpPr>
        <p:spPr>
          <a:xfrm>
            <a:off x="141732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Input tokens count too</a:t>
            </a:r>
            <a:endParaRPr lang="en-US" sz="1800" dirty="0"/>
          </a:p>
        </p:txBody>
      </p:sp>
      <p:sp>
        <p:nvSpPr>
          <p:cNvPr id="6" name="Text 3"/>
          <p:cNvSpPr txBox="1"/>
          <p:nvPr/>
        </p:nvSpPr>
        <p:spPr>
          <a:xfrm>
            <a:off x="77724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+213 tokens</a:t>
            </a:r>
            <a:endParaRPr lang="en-US" sz="3200" dirty="0"/>
          </a:p>
        </p:txBody>
      </p:sp>
      <p:sp>
        <p:nvSpPr>
          <p:cNvPr id="7" name="Text 4"/>
          <p:cNvSpPr txBox="1"/>
          <p:nvPr/>
        </p:nvSpPr>
        <p:spPr>
          <a:xfrm>
            <a:off x="77724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input tokens for the exact snippet (701 vs 488); a long reference sheet adds 413, extra tools 912. Input is cheaper and cacheable: no conclusion flips. Running programs uses CPU, which we do not count.</a:t>
            </a:r>
            <a:endParaRPr lang="en-US" sz="1500" dirty="0"/>
          </a:p>
        </p:txBody>
      </p:sp>
      <p:sp>
        <p:nvSpPr>
          <p:cNvPr id="8" name="fair Memorized problems?"/>
          <p:cNvSpPr/>
          <p:nvPr/>
        </p:nvSpPr>
        <p:spPr>
          <a:xfrm>
            <a:off x="4297680" y="1280160"/>
            <a:ext cx="3566160" cy="4160520"/>
          </a:xfrm>
          <a:prstGeom prst="roundRect">
            <a:avLst>
              <a:gd name="adj" fmla="val 2051"/>
            </a:avLst>
          </a:prstGeom>
          <a:solidFill>
            <a:srgbClr val="F2F2F2"/>
          </a:solidFill>
          <a:ln w="9525">
            <a:solidFill>
              <a:srgbClr val="D9D9D9"/>
            </a:solidFill>
            <a:prstDash val="solid"/>
          </a:ln>
        </p:spPr>
      </p:sp>
      <p:pic>
        <p:nvPicPr>
          <p:cNvPr id="9" name="icon trophy" descr="/NAS/SJ/POSTECH/nlp/figs/icons/trophy.png">    </p:cNvPr>
          <p:cNvPicPr>
            <a:picLocks noChangeAspect="1"/>
          </p:cNvPicPr>
          <p:nvPr/>
        </p:nvPicPr>
        <p:blipFill>
          <a:blip r:embed="rId2"/>
          <a:stretch>
            <a:fillRect/>
          </a:stretch>
        </p:blipFill>
        <p:spPr>
          <a:xfrm>
            <a:off x="4526280" y="1463040"/>
            <a:ext cx="502920" cy="502920"/>
          </a:xfrm>
          <a:prstGeom prst="rect">
            <a:avLst/>
          </a:prstGeom>
        </p:spPr>
      </p:pic>
      <p:sp>
        <p:nvSpPr>
          <p:cNvPr id="10" name="Text 6"/>
          <p:cNvSpPr txBox="1"/>
          <p:nvPr/>
        </p:nvSpPr>
        <p:spPr>
          <a:xfrm>
            <a:off x="516636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Memorized problems?</a:t>
            </a:r>
            <a:endParaRPr lang="en-US" sz="1800" dirty="0"/>
          </a:p>
        </p:txBody>
      </p:sp>
      <p:sp>
        <p:nvSpPr>
          <p:cNvPr id="11" name="Text 7"/>
          <p:cNvSpPr txBox="1"/>
          <p:nvPr/>
        </p:nvSpPr>
        <p:spPr>
          <a:xfrm>
            <a:off x="452628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81% vs 83%</a:t>
            </a:r>
            <a:endParaRPr lang="en-US" sz="3200" dirty="0"/>
          </a:p>
        </p:txBody>
      </p:sp>
      <p:sp>
        <p:nvSpPr>
          <p:cNvPr id="12" name="Text 8"/>
          <p:cNvSpPr txBox="1"/>
          <p:nvPr/>
        </p:nvSpPr>
        <p:spPr>
          <a:xfrm>
            <a:off x="452628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older vs newer contests at the same difficulty (rating below 2000): no sign of memory, though all are before 2022. MAMO was held out until the end, and every method runs on the same model.</a:t>
            </a:r>
            <a:endParaRPr lang="en-US" sz="1500" dirty="0"/>
          </a:p>
        </p:txBody>
      </p:sp>
      <p:sp>
        <p:nvSpPr>
          <p:cNvPr id="13" name="fair Small differences"/>
          <p:cNvSpPr/>
          <p:nvPr/>
        </p:nvSpPr>
        <p:spPr>
          <a:xfrm>
            <a:off x="8046720" y="1280160"/>
            <a:ext cx="3566160" cy="4160520"/>
          </a:xfrm>
          <a:prstGeom prst="roundRect">
            <a:avLst>
              <a:gd name="adj" fmla="val 2051"/>
            </a:avLst>
          </a:prstGeom>
          <a:solidFill>
            <a:srgbClr val="F2F2F2"/>
          </a:solidFill>
          <a:ln w="9525">
            <a:solidFill>
              <a:srgbClr val="D9D9D9"/>
            </a:solidFill>
            <a:prstDash val="solid"/>
          </a:ln>
        </p:spPr>
      </p:sp>
      <p:pic>
        <p:nvPicPr>
          <p:cNvPr id="14" name="icon check" descr="/NAS/SJ/POSTECH/nlp/figs/icons/check.png">    </p:cNvPr>
          <p:cNvPicPr>
            <a:picLocks noChangeAspect="1"/>
          </p:cNvPicPr>
          <p:nvPr/>
        </p:nvPicPr>
        <p:blipFill>
          <a:blip r:embed="rId3"/>
          <a:stretch>
            <a:fillRect/>
          </a:stretch>
        </p:blipFill>
        <p:spPr>
          <a:xfrm>
            <a:off x="8275320" y="1463040"/>
            <a:ext cx="502920" cy="502920"/>
          </a:xfrm>
          <a:prstGeom prst="rect">
            <a:avLst/>
          </a:prstGeom>
        </p:spPr>
      </p:pic>
      <p:sp>
        <p:nvSpPr>
          <p:cNvPr id="15" name="Text 10"/>
          <p:cNvSpPr txBox="1"/>
          <p:nvPr/>
        </p:nvSpPr>
        <p:spPr>
          <a:xfrm>
            <a:off x="8915400" y="1463040"/>
            <a:ext cx="2560320" cy="502920"/>
          </a:xfrm>
          <a:prstGeom prst="rect">
            <a:avLst/>
          </a:prstGeom>
          <a:noFill/>
          <a:ln/>
        </p:spPr>
        <p:txBody>
          <a:bodyPr wrap="square" lIns="0" tIns="0" rIns="0" bIns="0" rtlCol="0" anchor="ctr"/>
          <a:lstStyle/>
          <a:p>
            <a:pPr indent="0" marL="0">
              <a:buNone/>
            </a:pPr>
            <a:r>
              <a:rPr lang="en-US" sz="1800" b="1" dirty="0">
                <a:solidFill>
                  <a:schemeClr val="tx1"/>
                </a:solidFill>
              </a:rPr>
              <a:t>Small differences</a:t>
            </a:r>
            <a:endParaRPr lang="en-US" sz="1800" dirty="0"/>
          </a:p>
        </p:txBody>
      </p:sp>
      <p:sp>
        <p:nvSpPr>
          <p:cNvPr id="16" name="Text 11"/>
          <p:cNvSpPr txBox="1"/>
          <p:nvPr/>
        </p:nvSpPr>
        <p:spPr>
          <a:xfrm>
            <a:off x="8275320" y="2148840"/>
            <a:ext cx="3108960" cy="685800"/>
          </a:xfrm>
          <a:prstGeom prst="rect">
            <a:avLst/>
          </a:prstGeom>
          <a:noFill/>
          <a:ln/>
        </p:spPr>
        <p:txBody>
          <a:bodyPr wrap="square" lIns="0" tIns="0" rIns="0" bIns="0" rtlCol="0" anchor="ctr"/>
          <a:lstStyle/>
          <a:p>
            <a:pPr indent="0" marL="0">
              <a:buNone/>
            </a:pPr>
            <a:r>
              <a:rPr lang="en-US" sz="3200" b="1" dirty="0">
                <a:solidFill>
                  <a:srgbClr val="4472C4"/>
                </a:solidFill>
              </a:rPr>
              <a:t>3 runs</a:t>
            </a:r>
            <a:endParaRPr lang="en-US" sz="3200" dirty="0"/>
          </a:p>
        </p:txBody>
      </p:sp>
      <p:sp>
        <p:nvSpPr>
          <p:cNvPr id="17" name="Text 12"/>
          <p:cNvSpPr txBox="1"/>
          <p:nvPr/>
        </p:nvSpPr>
        <p:spPr>
          <a:xfrm>
            <a:off x="8275320" y="2926080"/>
            <a:ext cx="3108960" cy="2377440"/>
          </a:xfrm>
          <a:prstGeom prst="rect">
            <a:avLst/>
          </a:prstGeom>
          <a:noFill/>
          <a:ln/>
        </p:spPr>
        <p:txBody>
          <a:bodyPr wrap="square" lIns="0" tIns="0" rIns="0" bIns="0" rtlCol="0" anchor="t"/>
          <a:lstStyle/>
          <a:p>
            <a:pPr indent="0" marL="0">
              <a:buNone/>
            </a:pPr>
            <a:r>
              <a:rPr lang="en-US" sz="1500" dirty="0">
                <a:solidFill>
                  <a:schemeClr val="tx1"/>
                </a:solidFill>
              </a:rPr>
              <a:t>every claim pre-registered; when the gap is 1–4 problems we say 'same accuracy, fewer tokens', not 'better' (3 vs 1 problems: p = 0.62).</a:t>
            </a:r>
            <a:endParaRPr lang="en-US" sz="1500" dirty="0"/>
          </a:p>
        </p:txBody>
      </p:sp>
      <p:sp>
        <p:nvSpPr>
          <p:cNvPr id="18"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Same models, problems and grader for every method; every accuracy comes with its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one hint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hint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hint,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all policies, cost vs accuracy</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hint,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Hint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hint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runs: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Automatic hints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runs)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hints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runs;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Extra: setup, scoring and hardware</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runs;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2026-10-19T19:47:40Z</dcterms:created>
  <dcterms:modified xsi:type="dcterms:W3CDTF">2026-10-19T19:47:40Z</dcterms:modified>
</cp:coreProperties>
</file>