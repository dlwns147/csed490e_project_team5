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ea2a0eac-4bc4-0cb3-9a59-9844b876a3b8}">
          <p14:sldIdLst>
            <p14:sldId id="256"/>
            <p14:sldId id="257"/>
            <p14:sldId id="258"/>
            <p14:sldId id="259"/>
            <p14:sldId id="260"/>
            <p14:sldId id="261"/>
            <p14:sldId id="262"/>
            <p14:sldId id="263"/>
            <p14:sldId id="264"/>
          </p14:sldIdLst>
        </p14:section>
        <p14:section name="Extra pages" id="{cf5166e4-e9f2-5c72-533c-a104ef837a20}">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검사가 실패할 때만 생각해서 74%를 87%로 올렸고, 매뉴얼 대신 사람 없이 고른 짧은 힌트 하나를 주며, 파인튜닝한 특화 모델과 같은 69.5%를 학습 없이 24GB GPU 한 장으로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69.5%</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no training, one 24 GB GPU: 69.5%</a:t>
            </a:r>
            <a:endParaRPr lang="en-US" sz="1400" dirty="0"/>
          </a:p>
        </p:txBody>
      </p:sp>
      <p:sp>
        <p:nvSpPr>
          <p:cNvPr id="35" name="Text 27"/>
          <p:cNvSpPr txBox="1"/>
          <p:nvPr/>
        </p:nvSpPr>
        <p:spPr>
          <a:xfrm>
            <a:off x="548640" y="361188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23360"/>
            <a:ext cx="3566160" cy="1508760"/>
          </a:xfrm>
          <a:prstGeom prst="roundRect">
            <a:avLst>
              <a:gd name="adj" fmla="val 4848"/>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160520"/>
            <a:ext cx="457200" cy="457200"/>
          </a:xfrm>
          <a:prstGeom prst="rect">
            <a:avLst/>
          </a:prstGeom>
        </p:spPr>
      </p:pic>
      <p:sp>
        <p:nvSpPr>
          <p:cNvPr id="38" name="Text 29"/>
          <p:cNvSpPr txBox="1"/>
          <p:nvPr/>
        </p:nvSpPr>
        <p:spPr>
          <a:xfrm>
            <a:off x="1325880" y="4133088"/>
            <a:ext cx="2651760" cy="502920"/>
          </a:xfrm>
          <a:prstGeom prst="rect">
            <a:avLst/>
          </a:prstGeom>
          <a:noFill/>
          <a:ln/>
        </p:spPr>
        <p:txBody>
          <a:bodyPr wrap="square" lIns="0" tIns="0" rIns="0" bIns="0" rtlCol="0" anchor="ctr"/>
          <a:lstStyle/>
          <a:p>
            <a:pPr indent="0" marL="0">
              <a:buNone/>
            </a:pPr>
            <a:r>
              <a:rPr lang="en-US" sz="1900" b="1" dirty="0">
                <a:solidFill>
                  <a:srgbClr val="4472C4"/>
                </a:solidFill>
              </a:rPr>
              <a:t>Automatic hints</a:t>
            </a:r>
            <a:endParaRPr lang="en-US" sz="1900" dirty="0"/>
          </a:p>
        </p:txBody>
      </p:sp>
      <p:sp>
        <p:nvSpPr>
          <p:cNvPr id="39" name="Text 30"/>
          <p:cNvSpPr txBox="1"/>
          <p:nvPr/>
        </p:nvSpPr>
        <p:spPr>
          <a:xfrm>
            <a:off x="749808" y="4709160"/>
            <a:ext cx="3200400" cy="731520"/>
          </a:xfrm>
          <a:prstGeom prst="rect">
            <a:avLst/>
          </a:prstGeom>
          <a:noFill/>
          <a:ln/>
        </p:spPr>
        <p:txBody>
          <a:bodyPr wrap="square" lIns="0" tIns="0" rIns="0" bIns="0" rtlCol="0" anchor="t"/>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23360"/>
            <a:ext cx="3566160" cy="1508760"/>
          </a:xfrm>
          <a:prstGeom prst="roundRect">
            <a:avLst>
              <a:gd name="adj" fmla="val 4848"/>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160520"/>
            <a:ext cx="457200" cy="457200"/>
          </a:xfrm>
          <a:prstGeom prst="rect">
            <a:avLst/>
          </a:prstGeom>
        </p:spPr>
      </p:pic>
      <p:sp>
        <p:nvSpPr>
          <p:cNvPr id="42" name="Text 32"/>
          <p:cNvSpPr txBox="1"/>
          <p:nvPr/>
        </p:nvSpPr>
        <p:spPr>
          <a:xfrm>
            <a:off x="5074920" y="4133088"/>
            <a:ext cx="2651760" cy="502920"/>
          </a:xfrm>
          <a:prstGeom prst="rect">
            <a:avLst/>
          </a:prstGeom>
          <a:noFill/>
          <a:ln/>
        </p:spPr>
        <p:txBody>
          <a:bodyPr wrap="square" lIns="0" tIns="0" rIns="0" bIns="0" rtlCol="0" anchor="ctr"/>
          <a:lstStyle/>
          <a:p>
            <a:pPr indent="0" marL="0">
              <a:buNone/>
            </a:pPr>
            <a:r>
              <a:rPr lang="en-US" sz="1900" b="1" dirty="0">
                <a:solidFill>
                  <a:srgbClr val="4472C4"/>
                </a:solidFill>
              </a:rPr>
              <a:t>Sharper free checks</a:t>
            </a:r>
            <a:endParaRPr lang="en-US" sz="1900" dirty="0"/>
          </a:p>
        </p:txBody>
      </p:sp>
      <p:sp>
        <p:nvSpPr>
          <p:cNvPr id="43" name="Text 33"/>
          <p:cNvSpPr txBox="1"/>
          <p:nvPr/>
        </p:nvSpPr>
        <p:spPr>
          <a:xfrm>
            <a:off x="4498848" y="4709160"/>
            <a:ext cx="3200400" cy="731520"/>
          </a:xfrm>
          <a:prstGeom prst="rect">
            <a:avLst/>
          </a:prstGeom>
          <a:noFill/>
          <a:ln/>
        </p:spPr>
        <p:txBody>
          <a:bodyPr wrap="square" lIns="0" tIns="0" rIns="0" bIns="0" rtlCol="0" anchor="t"/>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23360"/>
            <a:ext cx="3566160" cy="1508760"/>
          </a:xfrm>
          <a:prstGeom prst="roundRect">
            <a:avLst>
              <a:gd name="adj" fmla="val 4848"/>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160520"/>
            <a:ext cx="457200" cy="457200"/>
          </a:xfrm>
          <a:prstGeom prst="rect">
            <a:avLst/>
          </a:prstGeom>
        </p:spPr>
      </p:pic>
      <p:sp>
        <p:nvSpPr>
          <p:cNvPr id="46" name="Text 35"/>
          <p:cNvSpPr txBox="1"/>
          <p:nvPr/>
        </p:nvSpPr>
        <p:spPr>
          <a:xfrm>
            <a:off x="8823960" y="4133088"/>
            <a:ext cx="2651760" cy="502920"/>
          </a:xfrm>
          <a:prstGeom prst="rect">
            <a:avLst/>
          </a:prstGeom>
          <a:noFill/>
          <a:ln/>
        </p:spPr>
        <p:txBody>
          <a:bodyPr wrap="square" lIns="0" tIns="0" rIns="0" bIns="0" rtlCol="0" anchor="ctr"/>
          <a:lstStyle/>
          <a:p>
            <a:pPr indent="0" marL="0">
              <a:buNone/>
            </a:pPr>
            <a:r>
              <a:rPr lang="en-US" sz="1900" b="1" dirty="0">
                <a:solidFill>
                  <a:srgbClr val="4472C4"/>
                </a:solidFill>
              </a:rPr>
              <a:t>Math proofs</a:t>
            </a:r>
            <a:endParaRPr lang="en-US" sz="1900" dirty="0"/>
          </a:p>
        </p:txBody>
      </p:sp>
      <p:sp>
        <p:nvSpPr>
          <p:cNvPr id="47" name="Text 36"/>
          <p:cNvSpPr txBox="1"/>
          <p:nvPr/>
        </p:nvSpPr>
        <p:spPr>
          <a:xfrm>
            <a:off x="8247888" y="4709160"/>
            <a:ext cx="3200400" cy="731520"/>
          </a:xfrm>
          <a:prstGeom prst="rect">
            <a:avLst/>
          </a:prstGeom>
          <a:noFill/>
          <a:ln/>
        </p:spPr>
        <p:txBody>
          <a:bodyPr wrap="square" lIns="0" tIns="0" rIns="0" bIns="0" rtlCol="0" anchor="t"/>
          <a:lstStyle/>
          <a:p>
            <a:pPr indent="0" marL="0">
              <a:buNone/>
            </a:pPr>
            <a:r>
              <a:rPr lang="en-US" sz="1500" dirty="0">
                <a:solidFill>
                  <a:schemeClr val="tx1"/>
                </a:solidFill>
              </a:rPr>
              <a:t>Lean checks every step: find the hints that help</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2026-10-19T19:53:14Z</dcterms:created>
  <dcterms:modified xsi:type="dcterms:W3CDTF">2026-10-19T19:53:14Z</dcterms:modified>
</cp:coreProperties>
</file>