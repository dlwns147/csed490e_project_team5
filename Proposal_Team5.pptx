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ca8990a0-3b86-f5eb-e843-60b3cdced5e4}">
          <p14:sldIdLst>
            <p14:sldId id="256"/>
            <p14:sldId id="257"/>
            <p14:sldId id="258"/>
            <p14:sldId id="259"/>
            <p14:sldId id="260"/>
            <p14:sldId id="261"/>
            <p14:sldId id="262"/>
            <p14:sldId id="263"/>
            <p14:sldId id="264"/>
          </p14:sldIdLst>
        </p14:section>
        <p14:section name="Extra pages" id="{157af9af-c149-241c-c182-0b593f1e82f9}">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하지만 두 가지가 문제입니다. 첫째, 프로그램은 조용히 틀립니다. 같은 문제에 보조 코드만 더하면 6 대신 0을 내고 에러도 없습니다. 없는 함수를 불러 죽기도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공짜 검사란 프로그램을 실행해서 이미 아는 것과 비교해 보는 것으로, 정답도 추가 생각도 필요 없습니다.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
[참고, 읽지 않음] 경시 66.3%는 예제와, 작은 입력을 전부 따져 보는 느린 프로그램, 두 검사를 함께 쓴 결과입니다. 예제만 쓰면 20k 토큰에 65.0%입니다.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둘을 합친 것이 저희 방법입니다. 힌트를 붙여 쓰고, 검사하고, 실패할 때만 생각하고, 같은 종류가 다시 오면 재사용합니다. 힌트는 사람 없이 이렇게 고릅니다. 모델이 같은 종류의 문제에 짰던 프로그램 중 검사를 통과한 것을 모으고, 가장 짧은 것을 힌트로 씁니다.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새로운 점은 세 가지입니다. 학습 없이 공짜 검사가 실패할 때만 생각해서 74%를 87%로 올렸고, 매뉴얼 대신 사람 없이 고른 짧은 힌트 하나를 주며, 파인튜닝한 특화 모델과 같은 69.5%를 학습 없이 24GB GPU 한 장으로 냅니다. 다음은 세 가지입니다. 힌트를 문제 종류마다 자동으로 고르고, 토큰 없이 더 많이 잡는 검사를 만들고, 마지막으로 수학 증명으로 넓힙니다. 증명은 Lean이 모든 단계를 검사해 주니, 거기에 맞는 힌트를 찾는 것이 과제입니다.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힌트: 지금은 같은 종류의 문제 안에서만 자동 힌트가 통하므로, 새 문제의 종류를 먼저 알아내고 종류마다 힌트를 자동으로 고릅니다. 둘, 검사: MAMO에서 남은 오류의 절반쯤은 정답 라벨이 의심스러운 문제이고, 나머지는 실행도 되고 두 버전이 일치하지만 문제를 잘못 수식으로 옮긴 경우입니다. 이런 실수를 다른 관점으로 잡는 값싼 검사를 찾고, 문제 종류마다 어떤 검사를 쓸지 자동으로 고릅니다. 지금도 30문제만 라벨링하면 정책을 고를 수 있어서, 최선 대비 손실이 0.6점입니다. 셋, 수학 증명으로 넓힙니다. Lean이 증명의 모든 단계를 검사하므로 검사는 완벽하지만, 지금까지 일반 모델에는 비슷한 문제의 증명이나 부등식 도구 모음 같은 힌트가 도움이 되지 않았고, 특화 증명 모델 Goedel-Prover-V2-8B가 74%로 가장 잘 풉니다. 증명에 맞는 힌트를 찾는 것이 과제입니다.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24: How do we get the exact hint? (slide 5)
16, 17: How do we get a hint that works, cheaply? (slide 5)
18: Can retrieval (RAG) find the hint? (slide 5)
19: Why can thinking make it worse? (slide 5)
20: What if a wrong program passes the check? (slide 6)
21: Is there always a free check? (slide 6)
22, 23: How do we check well, and cheaply? (slide 6)
24: Who writes the hint? (slide 7)
25: Is 'think on the hardest' a weak baseline? (slide 7)
34: What if the same problem repeats? (slide 7)
11: Why no hint for contest problems? (slide 7)
33: Where does the recipe stop? (slide 7)
26, 27, 28: What is new vs PAL and cascades? (slide 8)
29: Why not majority voting? (slide 8)
30, 35: Is the comparison fair? (slide 8)
31: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좋은 힌트의 조건은 네 가지입니다. 그 종류에 필요한 정확한 호출, 필요한 것만, 짧게, 같은 종류에서. 경로 문제는 23%에서 83%, 기하는 도우미 함수를 다 주면 75%, 필요한 것만 주면 92%입니다. 반대로 규칙 하나가 빠진 긴 매뉴얼은 7%, 비슷하지만 다른 문서가 섞이면 83%에서 57%, 다른 종류의 프로그램은 14에서 21점 손해, 함수 이름 목록만 주면 66%에서 56%로 떨어집니다. 고르는 순서는 이렇습니다. 같은 종류의 지난 프로그램과 공짜 검사가 있으면 통과한 것 중 가장 짧은 것을 씁니다. 없으면 제목이 붙은 코드 조각 문서에서 맨 위 하나만 검색하고, 그것도 없으면 사람이 종류마다 한 번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힌트의 비용은 입력 토큰입니다. 최적화 문제에서 힌트 없이 488토큰이던 프롬프트가 정확한 코드 조각을 붙이면 701토큰으로 213토큰 늘고, 긴 참조 문서는 901, 검색 상위 3개는 1,138토큰입니다. 입력 토큰은 출력보다 싸고 같은 종류 문제끼리 캐시됩니다. 대신 생각에 쓰는 출력 토큰이 크게 줍니다. 문장제에서 힌트를 주고 항상 생각하면 5.5k, 힌트를 먼저 주고 실패할 때만 생각하면 1.3k로 정확도는 같습니다. 208문제 전체에서는 힌트 없이 4.1k에 74%, 힌트 먼저로 2.5k에 87%입니다. 한 번 드는 비용은 종류마다 사람의 시간, 코드 조각 문서, 또는 지난 문제들을 한 번 풀어 보는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검사가 잘 잡으려면 두 번째 관점이 다른 실수를 해야 합니다. 입력을 옮기고 돌린 복사본에서 같은 답이 나오는지 보면 맞는 프로그램을 99.7% 골라냅니다. 도우미 함수가 있는 버전과 없는 버전을 비교하면 99%로 항상 생각할 때의 98%와 같고, 경시 문제는 예제에 느린 완전 탐색 프로그램을 더하면 65.0%가 66.3%가 됩니다. 글 답과 프로그램을 비교하면 같이 틀리는 경우가 17%에서 10%로 줄어듭니다. 반대로 같은 모델에게 다시 물어 다수결을 하면 4.3%를 잘못 고르고, 같은 실수를 공유하는 두 버전은 토큰만 더 씁니다. 그리고 검사를 완벽하게 해도 14B 이상 모델에서 1에서 3점밖에 오르지 않습니다. 그런 문제는 생각해도 7에서 16%만 고쳐지기 때문입니다. 그 다음은 검사보다 푸는 쪽을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예제, 옮긴 복사본, 경로 계획의 규칙 확인은 CPU에서 돌기 때문에 토큰이 들지 않습니다. 모델이 테스트를 쓰는 CodeT는 문제당 340토큰, 두 번째 버전은 프로그램 하나만큼, 느린 완전 탐색 프로그램은 경시에서 문제당 약 4.5k 토큰이 더 듭니다. 경시 문제에서 항상 생각하면 66.2%에 30k, 예제만 쓰면 65.0%에 20k, 완전 탐색을 더하면 66.3%에 25k, 다른 모델의 의견을 더하면 65.5%에 25k입니다. 그래서 순서는 토큰이 들지 않는 검사부터 쓰고, 조용히 틀리는 곳에만 다른 두 번째 버전을 더하고, 더 좋은 검사가 1에서 3점밖에 못 줄 때는 멈추는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4.png"/><Relationship Id="rId8" Type="http://schemas.openxmlformats.org/officeDocument/2006/relationships/image" Target="../media/image-8-2.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3.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3.xml"/><Relationship Id="rId8"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checks used: the examples, and a slow brute-force version of the program</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How we pick the hint (once per type, no human)</a:t>
            </a:r>
            <a:endParaRPr lang="en-US" sz="1700" dirty="0"/>
          </a:p>
        </p:txBody>
      </p:sp>
      <p:sp>
        <p:nvSpPr>
          <p:cNvPr id="39" name="box its past programs"/>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its past programs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passed the check"/>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passed the check</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 hint"/>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 hint</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60" name="Text 40"/>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62" name="Text 42"/>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3"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64" name="Text 44"/>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5" name="Text 45"/>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6" name="Text 46"/>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7"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8" name="Text 48"/>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9" name="Text 49"/>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70"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554480"/>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554480"/>
            <a:ext cx="4206240" cy="603504"/>
          </a:xfrm>
          <a:prstGeom prst="roundRect">
            <a:avLst>
              <a:gd name="adj" fmla="val 9091"/>
            </a:avLst>
          </a:prstGeom>
          <a:solidFill>
            <a:srgbClr val="F2F2F2"/>
          </a:solidFill>
          <a:ln w="9525">
            <a:solidFill>
              <a:srgbClr val="BFBFBF"/>
            </a:solidFill>
            <a:prstDash val="solid"/>
          </a:ln>
        </p:spPr>
      </p:sp>
      <p:sp>
        <p:nvSpPr>
          <p:cNvPr id="7" name="Text 5"/>
          <p:cNvSpPr txBox="1"/>
          <p:nvPr/>
        </p:nvSpPr>
        <p:spPr>
          <a:xfrm>
            <a:off x="2176272" y="1554480"/>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664208"/>
            <a:ext cx="384048" cy="384048"/>
          </a:xfrm>
          <a:prstGeom prst="rect">
            <a:avLst/>
          </a:prstGeom>
        </p:spPr>
      </p:pic>
      <p:sp>
        <p:nvSpPr>
          <p:cNvPr id="9" name="Text 6"/>
          <p:cNvSpPr txBox="1"/>
          <p:nvPr/>
        </p:nvSpPr>
        <p:spPr>
          <a:xfrm>
            <a:off x="2743200" y="1554480"/>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think more on hard-looking problems</a:t>
            </a:r>
            <a:endParaRPr lang="en-US" sz="1400" dirty="0"/>
          </a:p>
        </p:txBody>
      </p:sp>
      <p:sp>
        <p:nvSpPr>
          <p:cNvPr id="10" name="arrow 0"/>
          <p:cNvSpPr/>
          <p:nvPr/>
        </p:nvSpPr>
        <p:spPr>
          <a:xfrm>
            <a:off x="6400800" y="169164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554480"/>
            <a:ext cx="4663440" cy="603504"/>
          </a:xfrm>
          <a:prstGeom prst="roundRect">
            <a:avLst>
              <a:gd name="adj" fmla="val 9091"/>
            </a:avLst>
          </a:prstGeom>
          <a:solidFill>
            <a:srgbClr val="DEEBF7"/>
          </a:solidFill>
          <a:ln w="9525">
            <a:solidFill>
              <a:srgbClr val="BFBFBF"/>
            </a:solidFill>
            <a:prstDash val="solid"/>
          </a:ln>
        </p:spPr>
      </p:sp>
      <p:sp>
        <p:nvSpPr>
          <p:cNvPr id="12" name="Text 9"/>
          <p:cNvSpPr txBox="1"/>
          <p:nvPr/>
        </p:nvSpPr>
        <p:spPr>
          <a:xfrm>
            <a:off x="7022592" y="1554480"/>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664208"/>
            <a:ext cx="384048" cy="384048"/>
          </a:xfrm>
          <a:prstGeom prst="rect">
            <a:avLst/>
          </a:prstGeom>
        </p:spPr>
      </p:pic>
      <p:sp>
        <p:nvSpPr>
          <p:cNvPr id="14" name="Text 10"/>
          <p:cNvSpPr txBox="1"/>
          <p:nvPr/>
        </p:nvSpPr>
        <p:spPr>
          <a:xfrm>
            <a:off x="7589520" y="1554480"/>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only when a free check fails: 87% vs 74%</a:t>
            </a:r>
            <a:endParaRPr lang="en-US" sz="1400" dirty="0"/>
          </a:p>
        </p:txBody>
      </p:sp>
      <p:sp>
        <p:nvSpPr>
          <p:cNvPr id="15" name="Text 11"/>
          <p:cNvSpPr txBox="1"/>
          <p:nvPr/>
        </p:nvSpPr>
        <p:spPr>
          <a:xfrm>
            <a:off x="548640" y="2231136"/>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231136"/>
            <a:ext cx="4206240" cy="603504"/>
          </a:xfrm>
          <a:prstGeom prst="roundRect">
            <a:avLst>
              <a:gd name="adj" fmla="val 9091"/>
            </a:avLst>
          </a:prstGeom>
          <a:solidFill>
            <a:srgbClr val="F2F2F2"/>
          </a:solidFill>
          <a:ln w="9525">
            <a:solidFill>
              <a:srgbClr val="BFBFBF"/>
            </a:solidFill>
            <a:prstDash val="solid"/>
          </a:ln>
        </p:spPr>
      </p:sp>
      <p:sp>
        <p:nvSpPr>
          <p:cNvPr id="17" name="Text 13"/>
          <p:cNvSpPr txBox="1"/>
          <p:nvPr/>
        </p:nvSpPr>
        <p:spPr>
          <a:xfrm>
            <a:off x="2176272" y="2231136"/>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340864"/>
            <a:ext cx="384048" cy="384048"/>
          </a:xfrm>
          <a:prstGeom prst="rect">
            <a:avLst/>
          </a:prstGeom>
        </p:spPr>
      </p:pic>
      <p:sp>
        <p:nvSpPr>
          <p:cNvPr id="19" name="Text 14"/>
          <p:cNvSpPr txBox="1"/>
          <p:nvPr/>
        </p:nvSpPr>
        <p:spPr>
          <a:xfrm>
            <a:off x="2743200" y="2231136"/>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the whole manual</a:t>
            </a:r>
            <a:endParaRPr lang="en-US" sz="1400" dirty="0"/>
          </a:p>
        </p:txBody>
      </p:sp>
      <p:sp>
        <p:nvSpPr>
          <p:cNvPr id="20" name="arrow 1"/>
          <p:cNvSpPr/>
          <p:nvPr/>
        </p:nvSpPr>
        <p:spPr>
          <a:xfrm>
            <a:off x="6400800" y="2368296"/>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231136"/>
            <a:ext cx="4663440" cy="603504"/>
          </a:xfrm>
          <a:prstGeom prst="roundRect">
            <a:avLst>
              <a:gd name="adj" fmla="val 9091"/>
            </a:avLst>
          </a:prstGeom>
          <a:solidFill>
            <a:srgbClr val="DEEBF7"/>
          </a:solidFill>
          <a:ln w="9525">
            <a:solidFill>
              <a:srgbClr val="BFBFBF"/>
            </a:solidFill>
            <a:prstDash val="solid"/>
          </a:ln>
        </p:spPr>
      </p:sp>
      <p:sp>
        <p:nvSpPr>
          <p:cNvPr id="22" name="Text 17"/>
          <p:cNvSpPr txBox="1"/>
          <p:nvPr/>
        </p:nvSpPr>
        <p:spPr>
          <a:xfrm>
            <a:off x="7022592" y="2231136"/>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340864"/>
            <a:ext cx="384048" cy="384048"/>
          </a:xfrm>
          <a:prstGeom prst="rect">
            <a:avLst/>
          </a:prstGeom>
        </p:spPr>
      </p:pic>
      <p:sp>
        <p:nvSpPr>
          <p:cNvPr id="24" name="Text 18"/>
          <p:cNvSpPr txBox="1"/>
          <p:nvPr/>
        </p:nvSpPr>
        <p:spPr>
          <a:xfrm>
            <a:off x="7589520" y="2231136"/>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one short hint, picked with no human</a:t>
            </a:r>
            <a:endParaRPr lang="en-US" sz="1400" dirty="0"/>
          </a:p>
        </p:txBody>
      </p:sp>
      <p:sp>
        <p:nvSpPr>
          <p:cNvPr id="25" name="Text 19"/>
          <p:cNvSpPr txBox="1"/>
          <p:nvPr/>
        </p:nvSpPr>
        <p:spPr>
          <a:xfrm>
            <a:off x="548640" y="2907792"/>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it costs</a:t>
            </a:r>
            <a:endParaRPr lang="en-US" sz="1600" dirty="0"/>
          </a:p>
        </p:txBody>
      </p:sp>
      <p:sp>
        <p:nvSpPr>
          <p:cNvPr id="26" name="box "/>
          <p:cNvSpPr/>
          <p:nvPr/>
        </p:nvSpPr>
        <p:spPr>
          <a:xfrm>
            <a:off x="2103120" y="2907792"/>
            <a:ext cx="4206240" cy="603504"/>
          </a:xfrm>
          <a:prstGeom prst="roundRect">
            <a:avLst>
              <a:gd name="adj" fmla="val 9091"/>
            </a:avLst>
          </a:prstGeom>
          <a:solidFill>
            <a:srgbClr val="F2F2F2"/>
          </a:solidFill>
          <a:ln w="9525">
            <a:solidFill>
              <a:srgbClr val="BFBFBF"/>
            </a:solidFill>
            <a:prstDash val="solid"/>
          </a:ln>
        </p:spPr>
      </p:sp>
      <p:sp>
        <p:nvSpPr>
          <p:cNvPr id="27" name="Text 21"/>
          <p:cNvSpPr txBox="1"/>
          <p:nvPr/>
        </p:nvSpPr>
        <p:spPr>
          <a:xfrm>
            <a:off x="2176272" y="2907792"/>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017520"/>
            <a:ext cx="384048" cy="384048"/>
          </a:xfrm>
          <a:prstGeom prst="rect">
            <a:avLst/>
          </a:prstGeom>
        </p:spPr>
      </p:pic>
      <p:sp>
        <p:nvSpPr>
          <p:cNvPr id="29" name="Text 22"/>
          <p:cNvSpPr txBox="1"/>
          <p:nvPr/>
        </p:nvSpPr>
        <p:spPr>
          <a:xfrm>
            <a:off x="2743200" y="2907792"/>
            <a:ext cx="3474720" cy="603504"/>
          </a:xfrm>
          <a:prstGeom prst="rect">
            <a:avLst/>
          </a:prstGeom>
          <a:noFill/>
          <a:ln/>
        </p:spPr>
        <p:txBody>
          <a:bodyPr wrap="square" lIns="0" tIns="0" rIns="0" bIns="0" rtlCol="0" anchor="ctr"/>
          <a:lstStyle/>
          <a:p>
            <a:pPr indent="0" marL="0">
              <a:buNone/>
            </a:pPr>
            <a:r>
              <a:rPr lang="en-US" sz="1400" dirty="0">
                <a:solidFill>
                  <a:srgbClr val="404040"/>
                </a:solidFill>
              </a:rPr>
              <a:t>fine-tune a specialist: 69.5% on MAMO</a:t>
            </a:r>
            <a:endParaRPr lang="en-US" sz="1400" dirty="0"/>
          </a:p>
        </p:txBody>
      </p:sp>
      <p:sp>
        <p:nvSpPr>
          <p:cNvPr id="30" name="arrow 2"/>
          <p:cNvSpPr/>
          <p:nvPr/>
        </p:nvSpPr>
        <p:spPr>
          <a:xfrm>
            <a:off x="6400800" y="3044952"/>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2907792"/>
            <a:ext cx="4663440" cy="603504"/>
          </a:xfrm>
          <a:prstGeom prst="roundRect">
            <a:avLst>
              <a:gd name="adj" fmla="val 9091"/>
            </a:avLst>
          </a:prstGeom>
          <a:solidFill>
            <a:srgbClr val="DEEBF7"/>
          </a:solidFill>
          <a:ln w="9525">
            <a:solidFill>
              <a:srgbClr val="BFBFBF"/>
            </a:solidFill>
            <a:prstDash val="solid"/>
          </a:ln>
        </p:spPr>
      </p:sp>
      <p:sp>
        <p:nvSpPr>
          <p:cNvPr id="32" name="Text 25"/>
          <p:cNvSpPr txBox="1"/>
          <p:nvPr/>
        </p:nvSpPr>
        <p:spPr>
          <a:xfrm>
            <a:off x="7022592" y="2907792"/>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017520"/>
            <a:ext cx="384048" cy="384048"/>
          </a:xfrm>
          <a:prstGeom prst="rect">
            <a:avLst/>
          </a:prstGeom>
        </p:spPr>
      </p:pic>
      <p:sp>
        <p:nvSpPr>
          <p:cNvPr id="34" name="Text 26"/>
          <p:cNvSpPr txBox="1"/>
          <p:nvPr/>
        </p:nvSpPr>
        <p:spPr>
          <a:xfrm>
            <a:off x="7589520" y="2907792"/>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no training, one 24 GB GPU: the same 69.5%</a:t>
            </a:r>
            <a:endParaRPr lang="en-US" sz="1400" dirty="0"/>
          </a:p>
        </p:txBody>
      </p:sp>
      <p:sp>
        <p:nvSpPr>
          <p:cNvPr id="35" name="Text 27"/>
          <p:cNvSpPr txBox="1"/>
          <p:nvPr/>
        </p:nvSpPr>
        <p:spPr>
          <a:xfrm>
            <a:off x="548640" y="3657600"/>
            <a:ext cx="11064240"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36" name="next Automatic hints"/>
          <p:cNvSpPr/>
          <p:nvPr/>
        </p:nvSpPr>
        <p:spPr>
          <a:xfrm>
            <a:off x="548640" y="4069080"/>
            <a:ext cx="3566160" cy="1325880"/>
          </a:xfrm>
          <a:prstGeom prst="roundRect">
            <a:avLst>
              <a:gd name="adj" fmla="val 5517"/>
            </a:avLst>
          </a:prstGeom>
          <a:solidFill>
            <a:srgbClr val="F2F2F2"/>
          </a:solidFill>
          <a:ln w="9525">
            <a:solidFill>
              <a:srgbClr val="D9D9D9"/>
            </a:solidFill>
            <a:prstDash val="solid"/>
          </a:ln>
        </p:spPr>
      </p:sp>
      <p:pic>
        <p:nvPicPr>
          <p:cNvPr id="37" name="next icon fact" descr="/NAS/SJ/POSTECH/nlp/figs/icons/fact.png">    </p:cNvPr>
          <p:cNvPicPr>
            <a:picLocks noChangeAspect="1"/>
          </p:cNvPicPr>
          <p:nvPr/>
        </p:nvPicPr>
        <p:blipFill>
          <a:blip r:embed="rId7"/>
          <a:stretch>
            <a:fillRect/>
          </a:stretch>
        </p:blipFill>
        <p:spPr>
          <a:xfrm>
            <a:off x="749808" y="4206240"/>
            <a:ext cx="502920" cy="502920"/>
          </a:xfrm>
          <a:prstGeom prst="rect">
            <a:avLst/>
          </a:prstGeom>
        </p:spPr>
      </p:pic>
      <p:sp>
        <p:nvSpPr>
          <p:cNvPr id="38" name="Text 29"/>
          <p:cNvSpPr txBox="1"/>
          <p:nvPr/>
        </p:nvSpPr>
        <p:spPr>
          <a:xfrm>
            <a:off x="138988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Automatic hints</a:t>
            </a:r>
            <a:endParaRPr lang="en-US" sz="2000" dirty="0"/>
          </a:p>
        </p:txBody>
      </p:sp>
      <p:sp>
        <p:nvSpPr>
          <p:cNvPr id="39" name="Text 30"/>
          <p:cNvSpPr txBox="1"/>
          <p:nvPr/>
        </p:nvSpPr>
        <p:spPr>
          <a:xfrm>
            <a:off x="74980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picked per problem type, only the needed calls</a:t>
            </a:r>
            <a:endParaRPr lang="en-US" sz="1500" dirty="0"/>
          </a:p>
        </p:txBody>
      </p:sp>
      <p:sp>
        <p:nvSpPr>
          <p:cNvPr id="40" name="next Sharper free checks"/>
          <p:cNvSpPr/>
          <p:nvPr/>
        </p:nvSpPr>
        <p:spPr>
          <a:xfrm>
            <a:off x="4297680" y="4069080"/>
            <a:ext cx="3566160" cy="1325880"/>
          </a:xfrm>
          <a:prstGeom prst="roundRect">
            <a:avLst>
              <a:gd name="adj" fmla="val 5517"/>
            </a:avLst>
          </a:prstGeom>
          <a:solidFill>
            <a:srgbClr val="F2F2F2"/>
          </a:solidFill>
          <a:ln w="9525">
            <a:solidFill>
              <a:srgbClr val="D9D9D9"/>
            </a:solidFill>
            <a:prstDash val="solid"/>
          </a:ln>
        </p:spPr>
      </p:sp>
      <p:pic>
        <p:nvPicPr>
          <p:cNvPr id="41" name="next icon check" descr="/NAS/SJ/POSTECH/nlp/figs/icons/check.png">    </p:cNvPr>
          <p:cNvPicPr>
            <a:picLocks noChangeAspect="1"/>
          </p:cNvPicPr>
          <p:nvPr/>
        </p:nvPicPr>
        <p:blipFill>
          <a:blip r:embed="rId8"/>
          <a:stretch>
            <a:fillRect/>
          </a:stretch>
        </p:blipFill>
        <p:spPr>
          <a:xfrm>
            <a:off x="4498848" y="4206240"/>
            <a:ext cx="502920" cy="502920"/>
          </a:xfrm>
          <a:prstGeom prst="rect">
            <a:avLst/>
          </a:prstGeom>
        </p:spPr>
      </p:pic>
      <p:sp>
        <p:nvSpPr>
          <p:cNvPr id="42" name="Text 32"/>
          <p:cNvSpPr txBox="1"/>
          <p:nvPr/>
        </p:nvSpPr>
        <p:spPr>
          <a:xfrm>
            <a:off x="513892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Sharper free checks</a:t>
            </a:r>
            <a:endParaRPr lang="en-US" sz="2000" dirty="0"/>
          </a:p>
        </p:txBody>
      </p:sp>
      <p:sp>
        <p:nvSpPr>
          <p:cNvPr id="43" name="Text 33"/>
          <p:cNvSpPr txBox="1"/>
          <p:nvPr/>
        </p:nvSpPr>
        <p:spPr>
          <a:xfrm>
            <a:off x="449884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catch more mistakes, still with no extra tokens</a:t>
            </a:r>
            <a:endParaRPr lang="en-US" sz="1500" dirty="0"/>
          </a:p>
        </p:txBody>
      </p:sp>
      <p:sp>
        <p:nvSpPr>
          <p:cNvPr id="44" name="next Math proofs"/>
          <p:cNvSpPr/>
          <p:nvPr/>
        </p:nvSpPr>
        <p:spPr>
          <a:xfrm>
            <a:off x="8046720" y="4069080"/>
            <a:ext cx="3566160" cy="1325880"/>
          </a:xfrm>
          <a:prstGeom prst="roundRect">
            <a:avLst>
              <a:gd name="adj" fmla="val 5517"/>
            </a:avLst>
          </a:prstGeom>
          <a:solidFill>
            <a:srgbClr val="F2F2F2"/>
          </a:solidFill>
          <a:ln w="9525">
            <a:solidFill>
              <a:srgbClr val="D9D9D9"/>
            </a:solidFill>
            <a:prstDash val="solid"/>
          </a:ln>
        </p:spPr>
      </p:sp>
      <p:pic>
        <p:nvPicPr>
          <p:cNvPr id="45" name="next icon sqrt" descr="/NAS/SJ/POSTECH/nlp/figs/icons/sqrt.png">    </p:cNvPr>
          <p:cNvPicPr>
            <a:picLocks noChangeAspect="1"/>
          </p:cNvPicPr>
          <p:nvPr/>
        </p:nvPicPr>
        <p:blipFill>
          <a:blip r:embed="rId9"/>
          <a:stretch>
            <a:fillRect/>
          </a:stretch>
        </p:blipFill>
        <p:spPr>
          <a:xfrm>
            <a:off x="8247888" y="4206240"/>
            <a:ext cx="502920" cy="502920"/>
          </a:xfrm>
          <a:prstGeom prst="rect">
            <a:avLst/>
          </a:prstGeom>
        </p:spPr>
      </p:pic>
      <p:sp>
        <p:nvSpPr>
          <p:cNvPr id="46" name="Text 35"/>
          <p:cNvSpPr txBox="1"/>
          <p:nvPr/>
        </p:nvSpPr>
        <p:spPr>
          <a:xfrm>
            <a:off x="888796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Math proofs</a:t>
            </a:r>
            <a:endParaRPr lang="en-US" sz="2000" dirty="0"/>
          </a:p>
        </p:txBody>
      </p:sp>
      <p:sp>
        <p:nvSpPr>
          <p:cNvPr id="47" name="Text 36"/>
          <p:cNvSpPr txBox="1"/>
          <p:nvPr/>
        </p:nvSpPr>
        <p:spPr>
          <a:xfrm>
            <a:off x="824788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Lean checks every step: find the hints that help</a:t>
            </a:r>
            <a:endParaRPr lang="en-US" sz="1500" dirty="0"/>
          </a:p>
        </p:txBody>
      </p:sp>
      <p:sp>
        <p:nvSpPr>
          <p:cNvPr id="48"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49" name="Text 38"/>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000" dirty="0">
                <a:solidFill>
                  <a:srgbClr val="7F7F7F"/>
                </a:solidFill>
              </a:rPr>
              <a:t>References: Snell et al., Scaling LLM Test-Time Compute Optimally, ICLR 2025 (think on hard problems) · DRoC, ICLR 2025 (documentation for solver code) · Huang et al., ORLM, arXiv 2405.17743, 2024 (fine-tuned specialist) · Huang et al., Mamo benchmark, 2024 · Zheng et al., miniF2F, ICLR 2022 (Lean proofs)</a:t>
            </a:r>
            <a:endParaRPr lang="en-US" sz="1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a hint that works?</a:t>
            </a:r>
            <a:endParaRPr lang="en-US" sz="3600" dirty="0"/>
          </a:p>
        </p:txBody>
      </p:sp>
      <p:sp>
        <p:nvSpPr>
          <p:cNvPr id="3" name="what makes a hint work"/>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What makes a hint work, or hurt</a:t>
            </a:r>
            <a:endParaRPr lang="en-US" sz="1800" dirty="0"/>
          </a:p>
        </p:txBody>
      </p:sp>
      <p:sp>
        <p:nvSpPr>
          <p:cNvPr id="5" name="Text 3"/>
          <p:cNvSpPr txBox="1"/>
          <p:nvPr/>
        </p:nvSpPr>
        <p:spPr>
          <a:xfrm>
            <a:off x="777240" y="1810512"/>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10512"/>
            <a:ext cx="2697480" cy="457200"/>
          </a:xfrm>
          <a:prstGeom prst="rect">
            <a:avLst/>
          </a:prstGeom>
          <a:noFill/>
          <a:ln/>
        </p:spPr>
        <p:txBody>
          <a:bodyPr wrap="square" lIns="0" tIns="0" rIns="0" bIns="0" rtlCol="0" anchor="ctr"/>
          <a:lstStyle/>
          <a:p>
            <a:pPr indent="0" marL="0">
              <a:buNone/>
            </a:pPr>
            <a:r>
              <a:rPr lang="en-US" sz="1400" dirty="0">
                <a:solidFill>
                  <a:schemeClr val="tx1"/>
                </a:solidFill>
              </a:rPr>
              <a:t>the exact calls this type needs</a:t>
            </a:r>
            <a:endParaRPr lang="en-US" sz="1400" dirty="0"/>
          </a:p>
        </p:txBody>
      </p:sp>
      <p:sp>
        <p:nvSpPr>
          <p:cNvPr id="7" name="Text 5"/>
          <p:cNvSpPr txBox="1"/>
          <p:nvPr/>
        </p:nvSpPr>
        <p:spPr>
          <a:xfrm>
            <a:off x="3794760" y="1810512"/>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routing 23% → 83%</a:t>
            </a:r>
            <a:endParaRPr lang="en-US" sz="1400" dirty="0"/>
          </a:p>
        </p:txBody>
      </p:sp>
      <p:sp>
        <p:nvSpPr>
          <p:cNvPr id="8" name="Text 6"/>
          <p:cNvSpPr txBox="1"/>
          <p:nvPr/>
        </p:nvSpPr>
        <p:spPr>
          <a:xfrm>
            <a:off x="777240" y="2322576"/>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22576"/>
            <a:ext cx="2697480" cy="457200"/>
          </a:xfrm>
          <a:prstGeom prst="rect">
            <a:avLst/>
          </a:prstGeom>
          <a:noFill/>
          <a:ln/>
        </p:spPr>
        <p:txBody>
          <a:bodyPr wrap="square" lIns="0" tIns="0" rIns="0" bIns="0" rtlCol="0" anchor="ctr"/>
          <a:lstStyle/>
          <a:p>
            <a:pPr indent="0" marL="0">
              <a:buNone/>
            </a:pPr>
            <a:r>
              <a:rPr lang="en-US" sz="1400" dirty="0">
                <a:solidFill>
                  <a:schemeClr val="tx1"/>
                </a:solidFill>
              </a:rPr>
              <a:t>only what is needed</a:t>
            </a:r>
            <a:endParaRPr lang="en-US" sz="1400" dirty="0"/>
          </a:p>
        </p:txBody>
      </p:sp>
      <p:sp>
        <p:nvSpPr>
          <p:cNvPr id="10" name="Text 8"/>
          <p:cNvSpPr txBox="1"/>
          <p:nvPr/>
        </p:nvSpPr>
        <p:spPr>
          <a:xfrm>
            <a:off x="3794760" y="2322576"/>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geometry 75% → 92%</a:t>
            </a:r>
            <a:endParaRPr lang="en-US" sz="1400" dirty="0"/>
          </a:p>
        </p:txBody>
      </p:sp>
      <p:sp>
        <p:nvSpPr>
          <p:cNvPr id="11" name="Text 9"/>
          <p:cNvSpPr txBox="1"/>
          <p:nvPr/>
        </p:nvSpPr>
        <p:spPr>
          <a:xfrm>
            <a:off x="777240" y="2834640"/>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834640"/>
            <a:ext cx="2697480" cy="457200"/>
          </a:xfrm>
          <a:prstGeom prst="rect">
            <a:avLst/>
          </a:prstGeom>
          <a:noFill/>
          <a:ln/>
        </p:spPr>
        <p:txBody>
          <a:bodyPr wrap="square" lIns="0" tIns="0" rIns="0" bIns="0" rtlCol="0" anchor="ctr"/>
          <a:lstStyle/>
          <a:p>
            <a:pPr indent="0" marL="0">
              <a:buNone/>
            </a:pPr>
            <a:r>
              <a:rPr lang="en-US" sz="1400" dirty="0">
                <a:solidFill>
                  <a:schemeClr val="tx1"/>
                </a:solidFill>
              </a:rPr>
              <a:t>short, from the same type</a:t>
            </a:r>
            <a:endParaRPr lang="en-US" sz="1400" dirty="0"/>
          </a:p>
        </p:txBody>
      </p:sp>
      <p:sp>
        <p:nvSpPr>
          <p:cNvPr id="13" name="Text 11"/>
          <p:cNvSpPr txBox="1"/>
          <p:nvPr/>
        </p:nvSpPr>
        <p:spPr>
          <a:xfrm>
            <a:off x="3794760" y="2834640"/>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MAMO: 79% = by hand</a:t>
            </a:r>
            <a:endParaRPr lang="en-US" sz="1400" dirty="0"/>
          </a:p>
        </p:txBody>
      </p:sp>
      <p:sp>
        <p:nvSpPr>
          <p:cNvPr id="14" name="Text 12"/>
          <p:cNvSpPr txBox="1"/>
          <p:nvPr/>
        </p:nvSpPr>
        <p:spPr>
          <a:xfrm>
            <a:off x="777240" y="3346704"/>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5" name="Text 13"/>
          <p:cNvSpPr txBox="1"/>
          <p:nvPr/>
        </p:nvSpPr>
        <p:spPr>
          <a:xfrm>
            <a:off x="1078992" y="3346704"/>
            <a:ext cx="2697480" cy="457200"/>
          </a:xfrm>
          <a:prstGeom prst="rect">
            <a:avLst/>
          </a:prstGeom>
          <a:noFill/>
          <a:ln/>
        </p:spPr>
        <p:txBody>
          <a:bodyPr wrap="square" lIns="0" tIns="0" rIns="0" bIns="0" rtlCol="0" anchor="ctr"/>
          <a:lstStyle/>
          <a:p>
            <a:pPr indent="0" marL="0">
              <a:buNone/>
            </a:pPr>
            <a:r>
              <a:rPr lang="en-US" sz="1400" dirty="0">
                <a:solidFill>
                  <a:schemeClr val="tx1"/>
                </a:solidFill>
              </a:rPr>
              <a:t>a long manual missing one rule</a:t>
            </a:r>
            <a:endParaRPr lang="en-US" sz="1400" dirty="0"/>
          </a:p>
        </p:txBody>
      </p:sp>
      <p:sp>
        <p:nvSpPr>
          <p:cNvPr id="16" name="Text 14"/>
          <p:cNvSpPr txBox="1"/>
          <p:nvPr/>
        </p:nvSpPr>
        <p:spPr>
          <a:xfrm>
            <a:off x="3794760" y="3346704"/>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7%</a:t>
            </a:r>
            <a:endParaRPr lang="en-US" sz="1400" dirty="0"/>
          </a:p>
        </p:txBody>
      </p:sp>
      <p:sp>
        <p:nvSpPr>
          <p:cNvPr id="17" name="Text 15"/>
          <p:cNvSpPr txBox="1"/>
          <p:nvPr/>
        </p:nvSpPr>
        <p:spPr>
          <a:xfrm>
            <a:off x="777240" y="3858768"/>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3858768"/>
            <a:ext cx="2697480" cy="457200"/>
          </a:xfrm>
          <a:prstGeom prst="rect">
            <a:avLst/>
          </a:prstGeom>
          <a:noFill/>
          <a:ln/>
        </p:spPr>
        <p:txBody>
          <a:bodyPr wrap="square" lIns="0" tIns="0" rIns="0" bIns="0" rtlCol="0" anchor="ctr"/>
          <a:lstStyle/>
          <a:p>
            <a:pPr indent="0" marL="0">
              <a:buNone/>
            </a:pPr>
            <a:r>
              <a:rPr lang="en-US" sz="1400" dirty="0">
                <a:solidFill>
                  <a:schemeClr val="tx1"/>
                </a:solidFill>
              </a:rPr>
              <a:t>a near-miss page next to the right one</a:t>
            </a:r>
            <a:endParaRPr lang="en-US" sz="1400" dirty="0"/>
          </a:p>
        </p:txBody>
      </p:sp>
      <p:sp>
        <p:nvSpPr>
          <p:cNvPr id="19" name="Text 17"/>
          <p:cNvSpPr txBox="1"/>
          <p:nvPr/>
        </p:nvSpPr>
        <p:spPr>
          <a:xfrm>
            <a:off x="3794760" y="3858768"/>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83% → 57%</a:t>
            </a:r>
            <a:endParaRPr lang="en-US" sz="1400" dirty="0"/>
          </a:p>
        </p:txBody>
      </p:sp>
      <p:sp>
        <p:nvSpPr>
          <p:cNvPr id="20" name="Text 18"/>
          <p:cNvSpPr txBox="1"/>
          <p:nvPr/>
        </p:nvSpPr>
        <p:spPr>
          <a:xfrm>
            <a:off x="777240" y="4370832"/>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370832"/>
            <a:ext cx="2697480" cy="457200"/>
          </a:xfrm>
          <a:prstGeom prst="rect">
            <a:avLst/>
          </a:prstGeom>
          <a:noFill/>
          <a:ln/>
        </p:spPr>
        <p:txBody>
          <a:bodyPr wrap="square" lIns="0" tIns="0" rIns="0" bIns="0" rtlCol="0" anchor="ctr"/>
          <a:lstStyle/>
          <a:p>
            <a:pPr indent="0" marL="0">
              <a:buNone/>
            </a:pPr>
            <a:r>
              <a:rPr lang="en-US" sz="1400" dirty="0">
                <a:solidFill>
                  <a:schemeClr val="tx1"/>
                </a:solidFill>
              </a:rPr>
              <a:t>a program from another problem type</a:t>
            </a:r>
            <a:endParaRPr lang="en-US" sz="1400" dirty="0"/>
          </a:p>
        </p:txBody>
      </p:sp>
      <p:sp>
        <p:nvSpPr>
          <p:cNvPr id="22" name="Text 20"/>
          <p:cNvSpPr txBox="1"/>
          <p:nvPr/>
        </p:nvSpPr>
        <p:spPr>
          <a:xfrm>
            <a:off x="3794760" y="4370832"/>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−14 to −21 points</a:t>
            </a:r>
            <a:endParaRPr lang="en-US" sz="1400" dirty="0"/>
          </a:p>
        </p:txBody>
      </p:sp>
      <p:sp>
        <p:nvSpPr>
          <p:cNvPr id="23" name="Text 21"/>
          <p:cNvSpPr txBox="1"/>
          <p:nvPr/>
        </p:nvSpPr>
        <p:spPr>
          <a:xfrm>
            <a:off x="777240" y="4882896"/>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4" name="Text 22"/>
          <p:cNvSpPr txBox="1"/>
          <p:nvPr/>
        </p:nvSpPr>
        <p:spPr>
          <a:xfrm>
            <a:off x="1078992" y="4882896"/>
            <a:ext cx="2697480" cy="457200"/>
          </a:xfrm>
          <a:prstGeom prst="rect">
            <a:avLst/>
          </a:prstGeom>
          <a:noFill/>
          <a:ln/>
        </p:spPr>
        <p:txBody>
          <a:bodyPr wrap="square" lIns="0" tIns="0" rIns="0" bIns="0" rtlCol="0" anchor="ctr"/>
          <a:lstStyle/>
          <a:p>
            <a:pPr indent="0" marL="0">
              <a:buNone/>
            </a:pPr>
            <a:r>
              <a:rPr lang="en-US" sz="1400" dirty="0">
                <a:solidFill>
                  <a:schemeClr val="tx1"/>
                </a:solidFill>
              </a:rPr>
              <a:t>a bare list of function names</a:t>
            </a:r>
            <a:endParaRPr lang="en-US" sz="1400" dirty="0"/>
          </a:p>
        </p:txBody>
      </p:sp>
      <p:sp>
        <p:nvSpPr>
          <p:cNvPr id="25" name="Text 23"/>
          <p:cNvSpPr txBox="1"/>
          <p:nvPr/>
        </p:nvSpPr>
        <p:spPr>
          <a:xfrm>
            <a:off x="3794760" y="4882896"/>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66% → 56%</a:t>
            </a:r>
            <a:endParaRPr lang="en-US" sz="1400" dirty="0"/>
          </a:p>
        </p:txBody>
      </p:sp>
      <p:sp>
        <p:nvSpPr>
          <p:cNvPr id="26" name="which source when"/>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27" name="Text 2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Which source, when (once per problem type)</a:t>
            </a:r>
            <a:endParaRPr lang="en-US" sz="1800" dirty="0"/>
          </a:p>
        </p:txBody>
      </p:sp>
      <p:sp>
        <p:nvSpPr>
          <p:cNvPr id="28" name="box Past programs of thi"/>
          <p:cNvSpPr/>
          <p:nvPr/>
        </p:nvSpPr>
        <p:spPr>
          <a:xfrm>
            <a:off x="6400800" y="1828800"/>
            <a:ext cx="3017520" cy="566928"/>
          </a:xfrm>
          <a:prstGeom prst="roundRect">
            <a:avLst>
              <a:gd name="adj" fmla="val 9677"/>
            </a:avLst>
          </a:prstGeom>
          <a:solidFill>
            <a:srgbClr val="FFFFFF"/>
          </a:solidFill>
          <a:ln w="9525">
            <a:solidFill>
              <a:srgbClr val="BFBFBF"/>
            </a:solidFill>
            <a:prstDash val="solid"/>
          </a:ln>
        </p:spPr>
      </p:sp>
      <p:sp>
        <p:nvSpPr>
          <p:cNvPr id="29" name="Text 27"/>
          <p:cNvSpPr txBox="1"/>
          <p:nvPr/>
        </p:nvSpPr>
        <p:spPr>
          <a:xfrm>
            <a:off x="6473952" y="182880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Past programs of this type, and a free check?</a:t>
            </a:r>
            <a:endParaRPr lang="en-US" sz="1400" dirty="0"/>
          </a:p>
        </p:txBody>
      </p:sp>
      <p:sp>
        <p:nvSpPr>
          <p:cNvPr id="30" name="Shape 28"/>
          <p:cNvSpPr/>
          <p:nvPr/>
        </p:nvSpPr>
        <p:spPr>
          <a:xfrm>
            <a:off x="9418320" y="2112264"/>
            <a:ext cx="274320" cy="0"/>
          </a:xfrm>
          <a:prstGeom prst="line">
            <a:avLst/>
          </a:prstGeom>
          <a:noFill/>
          <a:ln w="25400">
            <a:solidFill>
              <a:srgbClr val="7F7F7F"/>
            </a:solidFill>
            <a:prstDash val="solid"/>
            <a:tailEnd type="triangle"/>
          </a:ln>
        </p:spPr>
      </p:sp>
      <p:sp>
        <p:nvSpPr>
          <p:cNvPr id="31" name="box use the shortest tha"/>
          <p:cNvSpPr/>
          <p:nvPr/>
        </p:nvSpPr>
        <p:spPr>
          <a:xfrm>
            <a:off x="9692640" y="1828800"/>
            <a:ext cx="1737360" cy="566928"/>
          </a:xfrm>
          <a:prstGeom prst="roundRect">
            <a:avLst>
              <a:gd name="adj" fmla="val 9677"/>
            </a:avLst>
          </a:prstGeom>
          <a:solidFill>
            <a:srgbClr val="E2F0D9"/>
          </a:solidFill>
          <a:ln w="9525">
            <a:solidFill>
              <a:srgbClr val="BFBFBF"/>
            </a:solidFill>
            <a:prstDash val="solid"/>
          </a:ln>
        </p:spPr>
      </p:sp>
      <p:sp>
        <p:nvSpPr>
          <p:cNvPr id="32" name="Text 30"/>
          <p:cNvSpPr txBox="1"/>
          <p:nvPr/>
        </p:nvSpPr>
        <p:spPr>
          <a:xfrm>
            <a:off x="9765792" y="182880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use the shortest that passed</a:t>
            </a:r>
            <a:endParaRPr lang="en-US" sz="1400" dirty="0"/>
          </a:p>
        </p:txBody>
      </p:sp>
      <p:sp>
        <p:nvSpPr>
          <p:cNvPr id="33" name="Text 31"/>
          <p:cNvSpPr txBox="1"/>
          <p:nvPr/>
        </p:nvSpPr>
        <p:spPr>
          <a:xfrm>
            <a:off x="7680960" y="241401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34" name="box Documentation with t"/>
          <p:cNvSpPr/>
          <p:nvPr/>
        </p:nvSpPr>
        <p:spPr>
          <a:xfrm>
            <a:off x="6400800" y="2697480"/>
            <a:ext cx="3017520" cy="566928"/>
          </a:xfrm>
          <a:prstGeom prst="roundRect">
            <a:avLst>
              <a:gd name="adj" fmla="val 9677"/>
            </a:avLst>
          </a:prstGeom>
          <a:solidFill>
            <a:srgbClr val="FFFFFF"/>
          </a:solidFill>
          <a:ln w="9525">
            <a:solidFill>
              <a:srgbClr val="BFBFBF"/>
            </a:solidFill>
            <a:prstDash val="solid"/>
          </a:ln>
        </p:spPr>
      </p:sp>
      <p:sp>
        <p:nvSpPr>
          <p:cNvPr id="35" name="Text 33"/>
          <p:cNvSpPr txBox="1"/>
          <p:nvPr/>
        </p:nvSpPr>
        <p:spPr>
          <a:xfrm>
            <a:off x="6473952" y="269748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Documentation with titled usage snippets?</a:t>
            </a:r>
            <a:endParaRPr lang="en-US" sz="1400" dirty="0"/>
          </a:p>
        </p:txBody>
      </p:sp>
      <p:sp>
        <p:nvSpPr>
          <p:cNvPr id="36" name="Shape 34"/>
          <p:cNvSpPr/>
          <p:nvPr/>
        </p:nvSpPr>
        <p:spPr>
          <a:xfrm>
            <a:off x="9418320" y="2980944"/>
            <a:ext cx="274320" cy="0"/>
          </a:xfrm>
          <a:prstGeom prst="line">
            <a:avLst/>
          </a:prstGeom>
          <a:noFill/>
          <a:ln w="25400">
            <a:solidFill>
              <a:srgbClr val="7F7F7F"/>
            </a:solidFill>
            <a:prstDash val="solid"/>
            <a:tailEnd type="triangle"/>
          </a:ln>
        </p:spPr>
      </p:sp>
      <p:sp>
        <p:nvSpPr>
          <p:cNvPr id="37" name="box search, take only th"/>
          <p:cNvSpPr/>
          <p:nvPr/>
        </p:nvSpPr>
        <p:spPr>
          <a:xfrm>
            <a:off x="9692640" y="2697480"/>
            <a:ext cx="1737360" cy="566928"/>
          </a:xfrm>
          <a:prstGeom prst="roundRect">
            <a:avLst>
              <a:gd name="adj" fmla="val 9677"/>
            </a:avLst>
          </a:prstGeom>
          <a:solidFill>
            <a:srgbClr val="E2F0D9"/>
          </a:solidFill>
          <a:ln w="9525">
            <a:solidFill>
              <a:srgbClr val="BFBFBF"/>
            </a:solidFill>
            <a:prstDash val="solid"/>
          </a:ln>
        </p:spPr>
      </p:sp>
      <p:sp>
        <p:nvSpPr>
          <p:cNvPr id="38" name="Text 36"/>
          <p:cNvSpPr txBox="1"/>
          <p:nvPr/>
        </p:nvSpPr>
        <p:spPr>
          <a:xfrm>
            <a:off x="9765792" y="269748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search, take only the top one</a:t>
            </a:r>
            <a:endParaRPr lang="en-US" sz="1400" dirty="0"/>
          </a:p>
        </p:txBody>
      </p:sp>
      <p:sp>
        <p:nvSpPr>
          <p:cNvPr id="39" name="Text 37"/>
          <p:cNvSpPr txBox="1"/>
          <p:nvPr/>
        </p:nvSpPr>
        <p:spPr>
          <a:xfrm>
            <a:off x="7680960" y="328269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40" name="box Neither"/>
          <p:cNvSpPr/>
          <p:nvPr/>
        </p:nvSpPr>
        <p:spPr>
          <a:xfrm>
            <a:off x="6400800" y="3566160"/>
            <a:ext cx="3017520" cy="566928"/>
          </a:xfrm>
          <a:prstGeom prst="roundRect">
            <a:avLst>
              <a:gd name="adj" fmla="val 9677"/>
            </a:avLst>
          </a:prstGeom>
          <a:solidFill>
            <a:srgbClr val="FFFFFF"/>
          </a:solidFill>
          <a:ln w="9525">
            <a:solidFill>
              <a:srgbClr val="BFBFBF"/>
            </a:solidFill>
            <a:prstDash val="solid"/>
          </a:ln>
        </p:spPr>
      </p:sp>
      <p:sp>
        <p:nvSpPr>
          <p:cNvPr id="41" name="Text 39"/>
          <p:cNvSpPr txBox="1"/>
          <p:nvPr/>
        </p:nvSpPr>
        <p:spPr>
          <a:xfrm>
            <a:off x="6473952" y="356616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Neither</a:t>
            </a:r>
            <a:endParaRPr lang="en-US" sz="1400" dirty="0"/>
          </a:p>
        </p:txBody>
      </p:sp>
      <p:sp>
        <p:nvSpPr>
          <p:cNvPr id="42" name="Shape 40"/>
          <p:cNvSpPr/>
          <p:nvPr/>
        </p:nvSpPr>
        <p:spPr>
          <a:xfrm>
            <a:off x="9418320" y="3849624"/>
            <a:ext cx="274320" cy="0"/>
          </a:xfrm>
          <a:prstGeom prst="line">
            <a:avLst/>
          </a:prstGeom>
          <a:noFill/>
          <a:ln w="25400">
            <a:solidFill>
              <a:srgbClr val="7F7F7F"/>
            </a:solidFill>
            <a:prstDash val="solid"/>
            <a:tailEnd type="triangle"/>
          </a:ln>
        </p:spPr>
      </p:sp>
      <p:sp>
        <p:nvSpPr>
          <p:cNvPr id="43" name="box write it by hand, on"/>
          <p:cNvSpPr/>
          <p:nvPr/>
        </p:nvSpPr>
        <p:spPr>
          <a:xfrm>
            <a:off x="9692640" y="3566160"/>
            <a:ext cx="1737360" cy="566928"/>
          </a:xfrm>
          <a:prstGeom prst="roundRect">
            <a:avLst>
              <a:gd name="adj" fmla="val 9677"/>
            </a:avLst>
          </a:prstGeom>
          <a:solidFill>
            <a:srgbClr val="E2F0D9"/>
          </a:solidFill>
          <a:ln w="9525">
            <a:solidFill>
              <a:srgbClr val="BFBFBF"/>
            </a:solidFill>
            <a:prstDash val="solid"/>
          </a:ln>
        </p:spPr>
      </p:sp>
      <p:sp>
        <p:nvSpPr>
          <p:cNvPr id="44" name="Text 42"/>
          <p:cNvSpPr txBox="1"/>
          <p:nvPr/>
        </p:nvSpPr>
        <p:spPr>
          <a:xfrm>
            <a:off x="9765792" y="356616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write it by hand, once</a:t>
            </a:r>
            <a:endParaRPr lang="en-US" sz="1400" dirty="0"/>
          </a:p>
        </p:txBody>
      </p:sp>
      <p:sp>
        <p:nvSpPr>
          <p:cNvPr id="45" name="Text 43"/>
          <p:cNvSpPr txBox="1"/>
          <p:nvPr/>
        </p:nvSpPr>
        <p:spPr>
          <a:xfrm>
            <a:off x="6400800" y="4343400"/>
            <a:ext cx="4983480" cy="914400"/>
          </a:xfrm>
          <a:prstGeom prst="rect">
            <a:avLst/>
          </a:prstGeom>
          <a:noFill/>
          <a:ln/>
        </p:spPr>
        <p:txBody>
          <a:bodyPr wrap="square" lIns="0" tIns="0" rIns="0" bIns="0" rtlCol="0" anchor="t"/>
          <a:lstStyle/>
          <a:p>
            <a:pPr indent="0" marL="0">
              <a:buNone/>
            </a:pPr>
            <a:r>
              <a:rPr lang="en-US" sz="1400" dirty="0">
                <a:solidFill>
                  <a:schemeClr val="tx2"/>
                </a:solidFill>
              </a:rPr>
              <a:t>Then use it on every problem of that type, and let the free check catch the cases it does not fit.</a:t>
            </a:r>
            <a:endParaRPr lang="en-US" sz="1400" dirty="0"/>
          </a:p>
        </p:txBody>
      </p:sp>
      <p:sp>
        <p:nvSpPr>
          <p:cNvPr id="46"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beats complete: the exact calls, nothing extra, from the same problem type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hint cost, and what does it save?</a:t>
            </a:r>
            <a:endParaRPr lang="en-US" sz="3600" dirty="0"/>
          </a:p>
        </p:txBody>
      </p:sp>
      <p:sp>
        <p:nvSpPr>
          <p:cNvPr id="3" name="hint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Cost: input tokens per prompt (optimization)</a:t>
            </a:r>
            <a:endParaRPr lang="en-US" sz="1800" dirty="0"/>
          </a:p>
        </p:txBody>
      </p:sp>
      <p:sp>
        <p:nvSpPr>
          <p:cNvPr id="5" name="Text 3"/>
          <p:cNvSpPr txBox="1"/>
          <p:nvPr/>
        </p:nvSpPr>
        <p:spPr>
          <a:xfrm>
            <a:off x="777240" y="182880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6" name="bar no hint"/>
          <p:cNvSpPr/>
          <p:nvPr/>
        </p:nvSpPr>
        <p:spPr>
          <a:xfrm>
            <a:off x="2743200" y="1911096"/>
            <a:ext cx="727405" cy="274320"/>
          </a:xfrm>
          <a:prstGeom prst="rect">
            <a:avLst/>
          </a:prstGeom>
          <a:solidFill>
            <a:srgbClr val="7F7F7F"/>
          </a:solidFill>
          <a:ln w="6350">
            <a:solidFill>
              <a:srgbClr val="7F7F7F"/>
            </a:solidFill>
            <a:prstDash val="solid"/>
          </a:ln>
        </p:spPr>
      </p:sp>
      <p:sp>
        <p:nvSpPr>
          <p:cNvPr id="7" name="Text 5"/>
          <p:cNvSpPr txBox="1"/>
          <p:nvPr/>
        </p:nvSpPr>
        <p:spPr>
          <a:xfrm>
            <a:off x="3562045" y="1828800"/>
            <a:ext cx="1280160" cy="438912"/>
          </a:xfrm>
          <a:prstGeom prst="rect">
            <a:avLst/>
          </a:prstGeom>
          <a:noFill/>
          <a:ln/>
        </p:spPr>
        <p:txBody>
          <a:bodyPr wrap="square" lIns="0" tIns="0" rIns="0" bIns="0" rtlCol="0" anchor="ctr"/>
          <a:lstStyle/>
          <a:p>
            <a:pPr indent="0" marL="0">
              <a:buNone/>
            </a:pPr>
            <a:r>
              <a:rPr lang="en-US" sz="1800" b="1" dirty="0">
                <a:solidFill>
                  <a:srgbClr val="7F7F7F"/>
                </a:solidFill>
              </a:rPr>
              <a:t>488</a:t>
            </a:r>
            <a:endParaRPr lang="en-US" sz="1800" dirty="0"/>
          </a:p>
        </p:txBody>
      </p:sp>
      <p:sp>
        <p:nvSpPr>
          <p:cNvPr id="8" name="Text 6"/>
          <p:cNvSpPr txBox="1"/>
          <p:nvPr/>
        </p:nvSpPr>
        <p:spPr>
          <a:xfrm>
            <a:off x="777240" y="237744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exact snippet</a:t>
            </a:r>
            <a:endParaRPr lang="en-US" sz="1600" dirty="0"/>
          </a:p>
        </p:txBody>
      </p:sp>
      <p:sp>
        <p:nvSpPr>
          <p:cNvPr id="9" name="bar exact snippet"/>
          <p:cNvSpPr/>
          <p:nvPr/>
        </p:nvSpPr>
        <p:spPr>
          <a:xfrm>
            <a:off x="2743200" y="2459736"/>
            <a:ext cx="1048817" cy="274320"/>
          </a:xfrm>
          <a:prstGeom prst="rect">
            <a:avLst/>
          </a:prstGeom>
          <a:solidFill>
            <a:srgbClr val="4472C4"/>
          </a:solidFill>
          <a:ln w="6350">
            <a:solidFill>
              <a:srgbClr val="4472C4"/>
            </a:solidFill>
            <a:prstDash val="solid"/>
          </a:ln>
        </p:spPr>
      </p:sp>
      <p:sp>
        <p:nvSpPr>
          <p:cNvPr id="10" name="Text 8"/>
          <p:cNvSpPr txBox="1"/>
          <p:nvPr/>
        </p:nvSpPr>
        <p:spPr>
          <a:xfrm>
            <a:off x="3883457" y="2377440"/>
            <a:ext cx="1280160" cy="438912"/>
          </a:xfrm>
          <a:prstGeom prst="rect">
            <a:avLst/>
          </a:prstGeom>
          <a:noFill/>
          <a:ln/>
        </p:spPr>
        <p:txBody>
          <a:bodyPr wrap="square" lIns="0" tIns="0" rIns="0" bIns="0" rtlCol="0" anchor="ctr"/>
          <a:lstStyle/>
          <a:p>
            <a:pPr indent="0" marL="0">
              <a:buNone/>
            </a:pPr>
            <a:r>
              <a:rPr lang="en-US" sz="1800" b="1" dirty="0">
                <a:solidFill>
                  <a:srgbClr val="4472C4"/>
                </a:solidFill>
              </a:rPr>
              <a:t>701 (+213)</a:t>
            </a:r>
            <a:endParaRPr lang="en-US" sz="1800" dirty="0"/>
          </a:p>
        </p:txBody>
      </p:sp>
      <p:sp>
        <p:nvSpPr>
          <p:cNvPr id="11" name="Text 9"/>
          <p:cNvSpPr txBox="1"/>
          <p:nvPr/>
        </p:nvSpPr>
        <p:spPr>
          <a:xfrm>
            <a:off x="777240" y="292608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12" name="bar long reference sheet"/>
          <p:cNvSpPr/>
          <p:nvPr/>
        </p:nvSpPr>
        <p:spPr>
          <a:xfrm>
            <a:off x="2743200" y="3008376"/>
            <a:ext cx="1336396" cy="274320"/>
          </a:xfrm>
          <a:prstGeom prst="rect">
            <a:avLst/>
          </a:prstGeom>
          <a:solidFill>
            <a:srgbClr val="C00000"/>
          </a:solidFill>
          <a:ln w="6350">
            <a:solidFill>
              <a:srgbClr val="C00000"/>
            </a:solidFill>
            <a:prstDash val="solid"/>
          </a:ln>
        </p:spPr>
      </p:sp>
      <p:sp>
        <p:nvSpPr>
          <p:cNvPr id="13" name="Text 11"/>
          <p:cNvSpPr txBox="1"/>
          <p:nvPr/>
        </p:nvSpPr>
        <p:spPr>
          <a:xfrm>
            <a:off x="4171036" y="292608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901</a:t>
            </a:r>
            <a:endParaRPr lang="en-US" sz="1800" dirty="0"/>
          </a:p>
        </p:txBody>
      </p:sp>
      <p:sp>
        <p:nvSpPr>
          <p:cNvPr id="14" name="Text 12"/>
          <p:cNvSpPr txBox="1"/>
          <p:nvPr/>
        </p:nvSpPr>
        <p:spPr>
          <a:xfrm>
            <a:off x="777240" y="347472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search, top 3</a:t>
            </a:r>
            <a:endParaRPr lang="en-US" sz="1600" dirty="0"/>
          </a:p>
        </p:txBody>
      </p:sp>
      <p:sp>
        <p:nvSpPr>
          <p:cNvPr id="15" name="bar search, top 3"/>
          <p:cNvSpPr/>
          <p:nvPr/>
        </p:nvSpPr>
        <p:spPr>
          <a:xfrm>
            <a:off x="2743200" y="3557016"/>
            <a:ext cx="1691640" cy="274320"/>
          </a:xfrm>
          <a:prstGeom prst="rect">
            <a:avLst/>
          </a:prstGeom>
          <a:solidFill>
            <a:srgbClr val="C00000"/>
          </a:solidFill>
          <a:ln w="6350">
            <a:solidFill>
              <a:srgbClr val="C00000"/>
            </a:solidFill>
            <a:prstDash val="solid"/>
          </a:ln>
        </p:spPr>
      </p:sp>
      <p:sp>
        <p:nvSpPr>
          <p:cNvPr id="16" name="Text 14"/>
          <p:cNvSpPr txBox="1"/>
          <p:nvPr/>
        </p:nvSpPr>
        <p:spPr>
          <a:xfrm>
            <a:off x="4526280" y="347472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1,138</a:t>
            </a:r>
            <a:endParaRPr lang="en-US" sz="1800" dirty="0"/>
          </a:p>
        </p:txBody>
      </p:sp>
      <p:sp>
        <p:nvSpPr>
          <p:cNvPr id="17" name="Text 15"/>
          <p:cNvSpPr txBox="1"/>
          <p:nvPr/>
        </p:nvSpPr>
        <p:spPr>
          <a:xfrm>
            <a:off x="777240" y="4114800"/>
            <a:ext cx="4983480" cy="1280160"/>
          </a:xfrm>
          <a:prstGeom prst="rect">
            <a:avLst/>
          </a:prstGeom>
          <a:noFill/>
          <a:ln/>
        </p:spPr>
        <p:txBody>
          <a:bodyPr wrap="square" lIns="0" tIns="0" rIns="0" bIns="0" rtlCol="0" anchor="t"/>
          <a:lstStyle/>
          <a:p>
            <a:pPr indent="0" marL="0">
              <a:buNone/>
            </a:pPr>
            <a:r>
              <a:rPr lang="en-US" sz="1400" dirty="0">
                <a:solidFill>
                  <a:schemeClr val="tx2"/>
                </a:solidFill>
              </a:rPr>
              <a:t>Geometry: all helper functions add 912 input tokens, only the needed ones 113. Input tokens are cheaper than output tokens and can be cached across problems of one type.</a:t>
            </a:r>
            <a:endParaRPr lang="en-US" sz="1400" dirty="0"/>
          </a:p>
        </p:txBody>
      </p:sp>
      <p:sp>
        <p:nvSpPr>
          <p:cNvPr id="18" name="hint saves"/>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9" name="Text 17"/>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Saving: output tokens per problem</a:t>
            </a:r>
            <a:endParaRPr lang="en-US" sz="1800" dirty="0"/>
          </a:p>
        </p:txBody>
      </p:sp>
      <p:sp>
        <p:nvSpPr>
          <p:cNvPr id="20" name="Text 18"/>
          <p:cNvSpPr txBox="1"/>
          <p:nvPr/>
        </p:nvSpPr>
        <p:spPr>
          <a:xfrm>
            <a:off x="6400800" y="178308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Word problems (Qwen3-32B)</a:t>
            </a:r>
            <a:endParaRPr lang="en-US" sz="1500" dirty="0"/>
          </a:p>
        </p:txBody>
      </p:sp>
      <p:sp>
        <p:nvSpPr>
          <p:cNvPr id="21" name="Text 19"/>
          <p:cNvSpPr txBox="1"/>
          <p:nvPr/>
        </p:nvSpPr>
        <p:spPr>
          <a:xfrm>
            <a:off x="8686800" y="20574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2" name="Text 20"/>
          <p:cNvSpPr txBox="1"/>
          <p:nvPr/>
        </p:nvSpPr>
        <p:spPr>
          <a:xfrm>
            <a:off x="9601200" y="20574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3" name="Text 21"/>
          <p:cNvSpPr txBox="1"/>
          <p:nvPr/>
        </p:nvSpPr>
        <p:spPr>
          <a:xfrm>
            <a:off x="6400800" y="24231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 always think</a:t>
            </a:r>
            <a:endParaRPr lang="en-US" sz="1500" dirty="0"/>
          </a:p>
        </p:txBody>
      </p:sp>
      <p:sp>
        <p:nvSpPr>
          <p:cNvPr id="24" name="Text 22"/>
          <p:cNvSpPr txBox="1"/>
          <p:nvPr/>
        </p:nvSpPr>
        <p:spPr>
          <a:xfrm>
            <a:off x="8686800" y="24231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72.0%</a:t>
            </a:r>
            <a:endParaRPr lang="en-US" sz="1700" dirty="0"/>
          </a:p>
        </p:txBody>
      </p:sp>
      <p:sp>
        <p:nvSpPr>
          <p:cNvPr id="25" name="tokens hint + always think"/>
          <p:cNvSpPr/>
          <p:nvPr/>
        </p:nvSpPr>
        <p:spPr>
          <a:xfrm>
            <a:off x="9601200" y="2523744"/>
            <a:ext cx="1051560" cy="256032"/>
          </a:xfrm>
          <a:prstGeom prst="rect">
            <a:avLst/>
          </a:prstGeom>
          <a:solidFill>
            <a:srgbClr val="7F7F7F"/>
          </a:solidFill>
          <a:ln w="6350">
            <a:solidFill>
              <a:srgbClr val="7F7F7F"/>
            </a:solidFill>
            <a:prstDash val="solid"/>
          </a:ln>
        </p:spPr>
      </p:sp>
      <p:sp>
        <p:nvSpPr>
          <p:cNvPr id="26" name="Text 24"/>
          <p:cNvSpPr txBox="1"/>
          <p:nvPr/>
        </p:nvSpPr>
        <p:spPr>
          <a:xfrm>
            <a:off x="10744200" y="24231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5.5k</a:t>
            </a:r>
            <a:endParaRPr lang="en-US" sz="1500" dirty="0"/>
          </a:p>
        </p:txBody>
      </p:sp>
      <p:sp>
        <p:nvSpPr>
          <p:cNvPr id="27" name="Text 25"/>
          <p:cNvSpPr txBox="1"/>
          <p:nvPr/>
        </p:nvSpPr>
        <p:spPr>
          <a:xfrm>
            <a:off x="6400800" y="2862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28" name="Text 26"/>
          <p:cNvSpPr txBox="1"/>
          <p:nvPr/>
        </p:nvSpPr>
        <p:spPr>
          <a:xfrm>
            <a:off x="8686800" y="2862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29" name="tokens hint first, think on failure"/>
          <p:cNvSpPr/>
          <p:nvPr/>
        </p:nvSpPr>
        <p:spPr>
          <a:xfrm>
            <a:off x="9601200" y="2962656"/>
            <a:ext cx="248551" cy="256032"/>
          </a:xfrm>
          <a:prstGeom prst="rect">
            <a:avLst/>
          </a:prstGeom>
          <a:solidFill>
            <a:srgbClr val="4472C4"/>
          </a:solidFill>
          <a:ln w="6350">
            <a:solidFill>
              <a:srgbClr val="4472C4"/>
            </a:solidFill>
            <a:prstDash val="solid"/>
          </a:ln>
        </p:spPr>
      </p:sp>
      <p:sp>
        <p:nvSpPr>
          <p:cNvPr id="30" name="Text 28"/>
          <p:cNvSpPr txBox="1"/>
          <p:nvPr/>
        </p:nvSpPr>
        <p:spPr>
          <a:xfrm>
            <a:off x="9941191" y="2862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1" name="Text 29"/>
          <p:cNvSpPr txBox="1"/>
          <p:nvPr/>
        </p:nvSpPr>
        <p:spPr>
          <a:xfrm>
            <a:off x="6400800" y="340156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208 geometry + optimization problems × 3 models</a:t>
            </a:r>
            <a:endParaRPr lang="en-US" sz="1500" dirty="0"/>
          </a:p>
        </p:txBody>
      </p:sp>
      <p:sp>
        <p:nvSpPr>
          <p:cNvPr id="32" name="Text 30"/>
          <p:cNvSpPr txBox="1"/>
          <p:nvPr/>
        </p:nvSpPr>
        <p:spPr>
          <a:xfrm>
            <a:off x="8686800" y="36576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3" name="Text 31"/>
          <p:cNvSpPr txBox="1"/>
          <p:nvPr/>
        </p:nvSpPr>
        <p:spPr>
          <a:xfrm>
            <a:off x="9601200" y="36576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4" name="Text 32"/>
          <p:cNvSpPr txBox="1"/>
          <p:nvPr/>
        </p:nvSpPr>
        <p:spPr>
          <a:xfrm>
            <a:off x="6400800" y="40233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no hint (usual way)</a:t>
            </a:r>
            <a:endParaRPr lang="en-US" sz="1500" dirty="0"/>
          </a:p>
        </p:txBody>
      </p:sp>
      <p:sp>
        <p:nvSpPr>
          <p:cNvPr id="35" name="Text 33"/>
          <p:cNvSpPr txBox="1"/>
          <p:nvPr/>
        </p:nvSpPr>
        <p:spPr>
          <a:xfrm>
            <a:off x="8686800" y="40233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36" name="tokens no hint (usual way)"/>
          <p:cNvSpPr/>
          <p:nvPr/>
        </p:nvSpPr>
        <p:spPr>
          <a:xfrm>
            <a:off x="9601200" y="4123944"/>
            <a:ext cx="783890" cy="256032"/>
          </a:xfrm>
          <a:prstGeom prst="rect">
            <a:avLst/>
          </a:prstGeom>
          <a:solidFill>
            <a:srgbClr val="7F7F7F"/>
          </a:solidFill>
          <a:ln w="6350">
            <a:solidFill>
              <a:srgbClr val="7F7F7F"/>
            </a:solidFill>
            <a:prstDash val="solid"/>
          </a:ln>
        </p:spPr>
      </p:sp>
      <p:sp>
        <p:nvSpPr>
          <p:cNvPr id="37" name="Text 35"/>
          <p:cNvSpPr txBox="1"/>
          <p:nvPr/>
        </p:nvSpPr>
        <p:spPr>
          <a:xfrm>
            <a:off x="10476530" y="40233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38" name="Text 36"/>
          <p:cNvSpPr txBox="1"/>
          <p:nvPr/>
        </p:nvSpPr>
        <p:spPr>
          <a:xfrm>
            <a:off x="6400800" y="44622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9" name="Text 37"/>
          <p:cNvSpPr txBox="1"/>
          <p:nvPr/>
        </p:nvSpPr>
        <p:spPr>
          <a:xfrm>
            <a:off x="8686800" y="44622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0" name="tokens hint first, think on failure"/>
          <p:cNvSpPr/>
          <p:nvPr/>
        </p:nvSpPr>
        <p:spPr>
          <a:xfrm>
            <a:off x="9601200" y="4562856"/>
            <a:ext cx="477982" cy="256032"/>
          </a:xfrm>
          <a:prstGeom prst="rect">
            <a:avLst/>
          </a:prstGeom>
          <a:solidFill>
            <a:srgbClr val="4472C4"/>
          </a:solidFill>
          <a:ln w="6350">
            <a:solidFill>
              <a:srgbClr val="4472C4"/>
            </a:solidFill>
            <a:prstDash val="solid"/>
          </a:ln>
        </p:spPr>
      </p:sp>
      <p:sp>
        <p:nvSpPr>
          <p:cNvPr id="41" name="Text 39"/>
          <p:cNvSpPr txBox="1"/>
          <p:nvPr/>
        </p:nvSpPr>
        <p:spPr>
          <a:xfrm>
            <a:off x="10170622" y="44622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2" name="Text 40"/>
          <p:cNvSpPr txBox="1"/>
          <p:nvPr/>
        </p:nvSpPr>
        <p:spPr>
          <a:xfrm>
            <a:off x="6400800" y="4956048"/>
            <a:ext cx="4983480" cy="502920"/>
          </a:xfrm>
          <a:prstGeom prst="rect">
            <a:avLst/>
          </a:prstGeom>
          <a:noFill/>
          <a:ln/>
        </p:spPr>
        <p:txBody>
          <a:bodyPr wrap="square" lIns="0" tIns="0" rIns="0" bIns="0" rtlCol="0" anchor="t"/>
          <a:lstStyle/>
          <a:p>
            <a:pPr indent="0" marL="0">
              <a:buNone/>
            </a:pPr>
            <a:r>
              <a:rPr lang="en-US" sz="1400" dirty="0">
                <a:solidFill>
                  <a:schemeClr val="tx2"/>
                </a:solidFill>
              </a:rPr>
              <a:t>One-time cost per type: an expert's time, a snippet library, or one pass over past problems.</a:t>
            </a:r>
            <a:endParaRPr lang="en-US" sz="1400" dirty="0"/>
          </a:p>
        </p:txBody>
      </p:sp>
      <p:sp>
        <p:nvSpPr>
          <p:cNvPr id="43"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hint adds about 200 input tokens and saves thousands of thinking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24).</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make a check catch more?</a:t>
            </a:r>
            <a:endParaRPr lang="en-US" sz="3600" dirty="0"/>
          </a:p>
        </p:txBody>
      </p:sp>
      <p:sp>
        <p:nvSpPr>
          <p:cNvPr id="3" name="make the second view different"/>
          <p:cNvSpPr/>
          <p:nvPr/>
        </p:nvSpPr>
        <p:spPr>
          <a:xfrm>
            <a:off x="548640" y="1280160"/>
            <a:ext cx="603504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5577840" cy="384048"/>
          </a:xfrm>
          <a:prstGeom prst="rect">
            <a:avLst/>
          </a:prstGeom>
          <a:noFill/>
          <a:ln/>
        </p:spPr>
        <p:txBody>
          <a:bodyPr wrap="square" lIns="0" tIns="0" rIns="0" bIns="0" rtlCol="0" anchor="ctr"/>
          <a:lstStyle/>
          <a:p>
            <a:pPr indent="0" marL="0">
              <a:buNone/>
            </a:pPr>
            <a:r>
              <a:rPr lang="en-US" sz="1800" b="1" dirty="0">
                <a:solidFill>
                  <a:srgbClr val="4472C4"/>
                </a:solidFill>
              </a:rPr>
              <a:t>The second view must make different mistakes</a:t>
            </a:r>
            <a:endParaRPr lang="en-US" sz="1800" dirty="0"/>
          </a:p>
        </p:txBody>
      </p:sp>
      <p:sp>
        <p:nvSpPr>
          <p:cNvPr id="5" name="Text 3"/>
          <p:cNvSpPr txBox="1"/>
          <p:nvPr/>
        </p:nvSpPr>
        <p:spPr>
          <a:xfrm>
            <a:off x="777240" y="1828800"/>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28800"/>
            <a:ext cx="3017520" cy="502920"/>
          </a:xfrm>
          <a:prstGeom prst="rect">
            <a:avLst/>
          </a:prstGeom>
          <a:noFill/>
          <a:ln/>
        </p:spPr>
        <p:txBody>
          <a:bodyPr wrap="square" lIns="0" tIns="0" rIns="0" bIns="0" rtlCol="0" anchor="ctr"/>
          <a:lstStyle/>
          <a:p>
            <a:pPr indent="0" marL="0">
              <a:buNone/>
            </a:pPr>
            <a:r>
              <a:rPr lang="en-US" sz="1400" dirty="0">
                <a:solidFill>
                  <a:schemeClr val="tx1"/>
                </a:solidFill>
              </a:rPr>
              <a:t>run it on moved and turned copies</a:t>
            </a:r>
            <a:endParaRPr lang="en-US" sz="1400" dirty="0"/>
          </a:p>
        </p:txBody>
      </p:sp>
      <p:sp>
        <p:nvSpPr>
          <p:cNvPr id="7" name="Text 5"/>
          <p:cNvSpPr txBox="1"/>
          <p:nvPr/>
        </p:nvSpPr>
        <p:spPr>
          <a:xfrm>
            <a:off x="4114800" y="1828800"/>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picks the right program 99.7%</a:t>
            </a:r>
            <a:endParaRPr lang="en-US" sz="1400" dirty="0"/>
          </a:p>
        </p:txBody>
      </p:sp>
      <p:sp>
        <p:nvSpPr>
          <p:cNvPr id="8" name="Text 6"/>
          <p:cNvSpPr txBox="1"/>
          <p:nvPr/>
        </p:nvSpPr>
        <p:spPr>
          <a:xfrm>
            <a:off x="777240" y="2395728"/>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95728"/>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with and without helpers</a:t>
            </a:r>
            <a:endParaRPr lang="en-US" sz="1400" dirty="0"/>
          </a:p>
        </p:txBody>
      </p:sp>
      <p:sp>
        <p:nvSpPr>
          <p:cNvPr id="10" name="Text 8"/>
          <p:cNvSpPr txBox="1"/>
          <p:nvPr/>
        </p:nvSpPr>
        <p:spPr>
          <a:xfrm>
            <a:off x="4114800" y="2395728"/>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99% vs 98% always thinking</a:t>
            </a:r>
            <a:endParaRPr lang="en-US" sz="1400" dirty="0"/>
          </a:p>
        </p:txBody>
      </p:sp>
      <p:sp>
        <p:nvSpPr>
          <p:cNvPr id="11" name="Text 9"/>
          <p:cNvSpPr txBox="1"/>
          <p:nvPr/>
        </p:nvSpPr>
        <p:spPr>
          <a:xfrm>
            <a:off x="777240" y="2962656"/>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962656"/>
            <a:ext cx="3017520" cy="502920"/>
          </a:xfrm>
          <a:prstGeom prst="rect">
            <a:avLst/>
          </a:prstGeom>
          <a:noFill/>
          <a:ln/>
        </p:spPr>
        <p:txBody>
          <a:bodyPr wrap="square" lIns="0" tIns="0" rIns="0" bIns="0" rtlCol="0" anchor="ctr"/>
          <a:lstStyle/>
          <a:p>
            <a:pPr indent="0" marL="0">
              <a:buNone/>
            </a:pPr>
            <a:r>
              <a:rPr lang="en-US" sz="1400" dirty="0">
                <a:solidFill>
                  <a:schemeClr val="tx1"/>
                </a:solidFill>
              </a:rPr>
              <a:t>examples + a brute-force version</a:t>
            </a:r>
            <a:endParaRPr lang="en-US" sz="1400" dirty="0"/>
          </a:p>
        </p:txBody>
      </p:sp>
      <p:sp>
        <p:nvSpPr>
          <p:cNvPr id="13" name="Text 11"/>
          <p:cNvSpPr txBox="1"/>
          <p:nvPr/>
        </p:nvSpPr>
        <p:spPr>
          <a:xfrm>
            <a:off x="4114800" y="2962656"/>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65.0% → 66.3% (contest)</a:t>
            </a:r>
            <a:endParaRPr lang="en-US" sz="1400" dirty="0"/>
          </a:p>
        </p:txBody>
      </p:sp>
      <p:sp>
        <p:nvSpPr>
          <p:cNvPr id="14" name="Text 12"/>
          <p:cNvSpPr txBox="1"/>
          <p:nvPr/>
        </p:nvSpPr>
        <p:spPr>
          <a:xfrm>
            <a:off x="777240" y="3529584"/>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5" name="Text 13"/>
          <p:cNvSpPr txBox="1"/>
          <p:nvPr/>
        </p:nvSpPr>
        <p:spPr>
          <a:xfrm>
            <a:off x="1078992" y="3529584"/>
            <a:ext cx="3017520" cy="502920"/>
          </a:xfrm>
          <a:prstGeom prst="rect">
            <a:avLst/>
          </a:prstGeom>
          <a:noFill/>
          <a:ln/>
        </p:spPr>
        <p:txBody>
          <a:bodyPr wrap="square" lIns="0" tIns="0" rIns="0" bIns="0" rtlCol="0" anchor="ctr"/>
          <a:lstStyle/>
          <a:p>
            <a:pPr indent="0" marL="0">
              <a:buNone/>
            </a:pPr>
            <a:r>
              <a:rPr lang="en-US" sz="1400" dirty="0">
                <a:solidFill>
                  <a:schemeClr val="tx1"/>
                </a:solidFill>
              </a:rPr>
              <a:t>a text answer next to the program</a:t>
            </a:r>
            <a:endParaRPr lang="en-US" sz="1400" dirty="0"/>
          </a:p>
        </p:txBody>
      </p:sp>
      <p:sp>
        <p:nvSpPr>
          <p:cNvPr id="16" name="Text 14"/>
          <p:cNvSpPr txBox="1"/>
          <p:nvPr/>
        </p:nvSpPr>
        <p:spPr>
          <a:xfrm>
            <a:off x="4114800" y="3529584"/>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wrong agreements 17% → 10%</a:t>
            </a:r>
            <a:endParaRPr lang="en-US" sz="1400" dirty="0"/>
          </a:p>
        </p:txBody>
      </p:sp>
      <p:sp>
        <p:nvSpPr>
          <p:cNvPr id="17" name="Text 15"/>
          <p:cNvSpPr txBox="1"/>
          <p:nvPr/>
        </p:nvSpPr>
        <p:spPr>
          <a:xfrm>
            <a:off x="777240" y="4096512"/>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4096512"/>
            <a:ext cx="3017520" cy="502920"/>
          </a:xfrm>
          <a:prstGeom prst="rect">
            <a:avLst/>
          </a:prstGeom>
          <a:noFill/>
          <a:ln/>
        </p:spPr>
        <p:txBody>
          <a:bodyPr wrap="square" lIns="0" tIns="0" rIns="0" bIns="0" rtlCol="0" anchor="ctr"/>
          <a:lstStyle/>
          <a:p>
            <a:pPr indent="0" marL="0">
              <a:buNone/>
            </a:pPr>
            <a:r>
              <a:rPr lang="en-US" sz="1400" dirty="0">
                <a:solidFill>
                  <a:schemeClr val="tx1"/>
                </a:solidFill>
              </a:rPr>
              <a:t>the same model asked again (majority vote)</a:t>
            </a:r>
            <a:endParaRPr lang="en-US" sz="1400" dirty="0"/>
          </a:p>
        </p:txBody>
      </p:sp>
      <p:sp>
        <p:nvSpPr>
          <p:cNvPr id="19" name="Text 17"/>
          <p:cNvSpPr txBox="1"/>
          <p:nvPr/>
        </p:nvSpPr>
        <p:spPr>
          <a:xfrm>
            <a:off x="4114800" y="4096512"/>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4.3% picked wrong</a:t>
            </a:r>
            <a:endParaRPr lang="en-US" sz="1400" dirty="0"/>
          </a:p>
        </p:txBody>
      </p:sp>
      <p:sp>
        <p:nvSpPr>
          <p:cNvPr id="20" name="Text 18"/>
          <p:cNvSpPr txBox="1"/>
          <p:nvPr/>
        </p:nvSpPr>
        <p:spPr>
          <a:xfrm>
            <a:off x="777240" y="4663440"/>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663440"/>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that share a mistake</a:t>
            </a:r>
            <a:endParaRPr lang="en-US" sz="1400" dirty="0"/>
          </a:p>
        </p:txBody>
      </p:sp>
      <p:sp>
        <p:nvSpPr>
          <p:cNvPr id="22" name="Text 20"/>
          <p:cNvSpPr txBox="1"/>
          <p:nvPr/>
        </p:nvSpPr>
        <p:spPr>
          <a:xfrm>
            <a:off x="4114800" y="4663440"/>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no gain, more tokens</a:t>
            </a:r>
            <a:endParaRPr lang="en-US" sz="1400" dirty="0"/>
          </a:p>
        </p:txBody>
      </p:sp>
      <p:sp>
        <p:nvSpPr>
          <p:cNvPr id="23" name="how much a better check buys"/>
          <p:cNvSpPr/>
          <p:nvPr/>
        </p:nvSpPr>
        <p:spPr>
          <a:xfrm>
            <a:off x="6766560" y="1280160"/>
            <a:ext cx="4846320" cy="4251960"/>
          </a:xfrm>
          <a:prstGeom prst="roundRect">
            <a:avLst>
              <a:gd name="adj" fmla="val 1720"/>
            </a:avLst>
          </a:prstGeom>
          <a:solidFill>
            <a:srgbClr val="F2F2F2"/>
          </a:solidFill>
          <a:ln w="9525">
            <a:solidFill>
              <a:srgbClr val="D9D9D9"/>
            </a:solidFill>
            <a:prstDash val="solid"/>
          </a:ln>
        </p:spPr>
      </p:sp>
      <p:sp>
        <p:nvSpPr>
          <p:cNvPr id="24" name="Text 22"/>
          <p:cNvSpPr txBox="1"/>
          <p:nvPr/>
        </p:nvSpPr>
        <p:spPr>
          <a:xfrm>
            <a:off x="6995160" y="1353312"/>
            <a:ext cx="4480560" cy="384048"/>
          </a:xfrm>
          <a:prstGeom prst="rect">
            <a:avLst/>
          </a:prstGeom>
          <a:noFill/>
          <a:ln/>
        </p:spPr>
        <p:txBody>
          <a:bodyPr wrap="square" lIns="0" tIns="0" rIns="0" bIns="0" rtlCol="0" anchor="ctr"/>
          <a:lstStyle/>
          <a:p>
            <a:pPr indent="0" marL="0">
              <a:buNone/>
            </a:pPr>
            <a:r>
              <a:rPr lang="en-US" sz="1800" b="1" dirty="0">
                <a:solidFill>
                  <a:srgbClr val="4472C4"/>
                </a:solidFill>
              </a:rPr>
              <a:t>How much can a better check still buy?</a:t>
            </a:r>
            <a:endParaRPr lang="en-US" sz="1800" dirty="0"/>
          </a:p>
        </p:txBody>
      </p:sp>
      <p:sp>
        <p:nvSpPr>
          <p:cNvPr id="25" name="Text 23"/>
          <p:cNvSpPr txBox="1"/>
          <p:nvPr/>
        </p:nvSpPr>
        <p:spPr>
          <a:xfrm>
            <a:off x="6995160" y="182880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24–37%</a:t>
            </a:r>
            <a:endParaRPr lang="en-US" sz="2400" dirty="0"/>
          </a:p>
        </p:txBody>
      </p:sp>
      <p:sp>
        <p:nvSpPr>
          <p:cNvPr id="26" name="Text 24"/>
          <p:cNvSpPr txBox="1"/>
          <p:nvPr/>
        </p:nvSpPr>
        <p:spPr>
          <a:xfrm>
            <a:off x="6995160" y="226771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wrong contest programs pass the examples</a:t>
            </a:r>
            <a:endParaRPr lang="en-US" sz="1400" dirty="0"/>
          </a:p>
        </p:txBody>
      </p:sp>
      <p:sp>
        <p:nvSpPr>
          <p:cNvPr id="27" name="Text 25"/>
          <p:cNvSpPr txBox="1"/>
          <p:nvPr/>
        </p:nvSpPr>
        <p:spPr>
          <a:xfrm>
            <a:off x="6995160" y="292608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12–16%</a:t>
            </a:r>
            <a:endParaRPr lang="en-US" sz="2400" dirty="0"/>
          </a:p>
        </p:txBody>
      </p:sp>
      <p:sp>
        <p:nvSpPr>
          <p:cNvPr id="28" name="Text 26"/>
          <p:cNvSpPr txBox="1"/>
          <p:nvPr/>
        </p:nvSpPr>
        <p:spPr>
          <a:xfrm>
            <a:off x="6995160" y="336499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word problems: two programs agree, both wrong</a:t>
            </a:r>
            <a:endParaRPr lang="en-US" sz="1400" dirty="0"/>
          </a:p>
        </p:txBody>
      </p:sp>
      <p:sp>
        <p:nvSpPr>
          <p:cNvPr id="29" name="Text 27"/>
          <p:cNvSpPr txBox="1"/>
          <p:nvPr/>
        </p:nvSpPr>
        <p:spPr>
          <a:xfrm>
            <a:off x="6995160" y="4023360"/>
            <a:ext cx="4480560" cy="457200"/>
          </a:xfrm>
          <a:prstGeom prst="rect">
            <a:avLst/>
          </a:prstGeom>
          <a:noFill/>
          <a:ln/>
        </p:spPr>
        <p:txBody>
          <a:bodyPr wrap="square" lIns="0" tIns="0" rIns="0" bIns="0" rtlCol="0" anchor="ctr"/>
          <a:lstStyle/>
          <a:p>
            <a:pPr indent="0" marL="0">
              <a:buNone/>
            </a:pPr>
            <a:r>
              <a:rPr lang="en-US" sz="2400" b="1" dirty="0">
                <a:solidFill>
                  <a:srgbClr val="4472C4"/>
                </a:solidFill>
              </a:rPr>
              <a:t>+1 to +3</a:t>
            </a:r>
            <a:endParaRPr lang="en-US" sz="2400" dirty="0"/>
          </a:p>
        </p:txBody>
      </p:sp>
      <p:sp>
        <p:nvSpPr>
          <p:cNvPr id="30" name="Text 28"/>
          <p:cNvSpPr txBox="1"/>
          <p:nvPr/>
        </p:nvSpPr>
        <p:spPr>
          <a:xfrm>
            <a:off x="6995160" y="4462272"/>
            <a:ext cx="4480560" cy="594360"/>
          </a:xfrm>
          <a:prstGeom prst="rect">
            <a:avLst/>
          </a:prstGeom>
          <a:noFill/>
          <a:ln/>
        </p:spPr>
        <p:txBody>
          <a:bodyPr wrap="square" lIns="0" tIns="0" rIns="0" bIns="0" rtlCol="0" anchor="t"/>
          <a:lstStyle/>
          <a:p>
            <a:pPr indent="0" marL="0">
              <a:buNone/>
            </a:pPr>
            <a:r>
              <a:rPr lang="en-US" sz="1400" dirty="0">
                <a:solidFill>
                  <a:schemeClr val="tx1"/>
                </a:solidFill>
              </a:rPr>
              <a:t>points from a PERFECT check (14B and larger), because thinking fixes only 7–16% of those</a:t>
            </a:r>
            <a:endParaRPr lang="en-US" sz="1400" dirty="0"/>
          </a:p>
        </p:txBody>
      </p:sp>
      <p:sp>
        <p:nvSpPr>
          <p:cNvPr id="31" name="Text 2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works when its second view errs differently; past that, improve the solving, not the check</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check cost, and when is it worth it?</a:t>
            </a:r>
            <a:endParaRPr lang="en-US" sz="3600" dirty="0"/>
          </a:p>
        </p:txBody>
      </p:sp>
      <p:sp>
        <p:nvSpPr>
          <p:cNvPr id="3" name="check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Extra tokens per problem for each check</a:t>
            </a:r>
            <a:endParaRPr lang="en-US" sz="1800" dirty="0"/>
          </a:p>
        </p:txBody>
      </p:sp>
      <p:sp>
        <p:nvSpPr>
          <p:cNvPr id="5" name="Text 3"/>
          <p:cNvSpPr txBox="1"/>
          <p:nvPr/>
        </p:nvSpPr>
        <p:spPr>
          <a:xfrm>
            <a:off x="777240" y="1828800"/>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examples in the problem</a:t>
            </a:r>
            <a:endParaRPr lang="en-US" sz="1400" dirty="0"/>
          </a:p>
        </p:txBody>
      </p:sp>
      <p:sp>
        <p:nvSpPr>
          <p:cNvPr id="6" name="Text 4"/>
          <p:cNvSpPr txBox="1"/>
          <p:nvPr/>
        </p:nvSpPr>
        <p:spPr>
          <a:xfrm>
            <a:off x="3749040" y="1828800"/>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7" name="Text 5"/>
          <p:cNvSpPr txBox="1"/>
          <p:nvPr/>
        </p:nvSpPr>
        <p:spPr>
          <a:xfrm>
            <a:off x="777240" y="2395728"/>
            <a:ext cx="2926080" cy="502920"/>
          </a:xfrm>
          <a:prstGeom prst="rect">
            <a:avLst/>
          </a:prstGeom>
          <a:noFill/>
          <a:ln/>
        </p:spPr>
        <p:txBody>
          <a:bodyPr wrap="square" lIns="0" tIns="0" rIns="0" bIns="0" rtlCol="0" anchor="ctr"/>
          <a:lstStyle/>
          <a:p>
            <a:pPr indent="0" marL="0">
              <a:buNone/>
            </a:pPr>
            <a:r>
              <a:rPr lang="en-US" sz="1400" dirty="0">
                <a:solidFill>
                  <a:schemeClr val="tx1"/>
                </a:solidFill>
              </a:rPr>
              <a:t>moved and turned copies</a:t>
            </a:r>
            <a:endParaRPr lang="en-US" sz="1400" dirty="0"/>
          </a:p>
        </p:txBody>
      </p:sp>
      <p:sp>
        <p:nvSpPr>
          <p:cNvPr id="8" name="Text 6"/>
          <p:cNvSpPr txBox="1"/>
          <p:nvPr/>
        </p:nvSpPr>
        <p:spPr>
          <a:xfrm>
            <a:off x="3749040" y="2395728"/>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9" name="Text 7"/>
          <p:cNvSpPr txBox="1"/>
          <p:nvPr/>
        </p:nvSpPr>
        <p:spPr>
          <a:xfrm>
            <a:off x="777240" y="2962656"/>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rules of a plan (routing)</a:t>
            </a:r>
            <a:endParaRPr lang="en-US" sz="1400" dirty="0"/>
          </a:p>
        </p:txBody>
      </p:sp>
      <p:sp>
        <p:nvSpPr>
          <p:cNvPr id="10" name="Text 8"/>
          <p:cNvSpPr txBox="1"/>
          <p:nvPr/>
        </p:nvSpPr>
        <p:spPr>
          <a:xfrm>
            <a:off x="3749040" y="2962656"/>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11" name="Text 9"/>
          <p:cNvSpPr txBox="1"/>
          <p:nvPr/>
        </p:nvSpPr>
        <p:spPr>
          <a:xfrm>
            <a:off x="777240" y="3529584"/>
            <a:ext cx="2926080" cy="502920"/>
          </a:xfrm>
          <a:prstGeom prst="rect">
            <a:avLst/>
          </a:prstGeom>
          <a:noFill/>
          <a:ln/>
        </p:spPr>
        <p:txBody>
          <a:bodyPr wrap="square" lIns="0" tIns="0" rIns="0" bIns="0" rtlCol="0" anchor="ctr"/>
          <a:lstStyle/>
          <a:p>
            <a:pPr indent="0" marL="0">
              <a:buNone/>
            </a:pPr>
            <a:r>
              <a:rPr lang="en-US" sz="1400" dirty="0">
                <a:solidFill>
                  <a:schemeClr val="tx1"/>
                </a:solidFill>
              </a:rPr>
              <a:t>model-written tests (CodeT)</a:t>
            </a:r>
            <a:endParaRPr lang="en-US" sz="1400" dirty="0"/>
          </a:p>
        </p:txBody>
      </p:sp>
      <p:sp>
        <p:nvSpPr>
          <p:cNvPr id="12" name="Text 10"/>
          <p:cNvSpPr txBox="1"/>
          <p:nvPr/>
        </p:nvSpPr>
        <p:spPr>
          <a:xfrm>
            <a:off x="3749040" y="3529584"/>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+340</a:t>
            </a:r>
            <a:endParaRPr lang="en-US" sz="1400" dirty="0"/>
          </a:p>
        </p:txBody>
      </p:sp>
      <p:sp>
        <p:nvSpPr>
          <p:cNvPr id="13" name="Text 11"/>
          <p:cNvSpPr txBox="1"/>
          <p:nvPr/>
        </p:nvSpPr>
        <p:spPr>
          <a:xfrm>
            <a:off x="777240" y="4096512"/>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second version of the program</a:t>
            </a:r>
            <a:endParaRPr lang="en-US" sz="1400" dirty="0"/>
          </a:p>
        </p:txBody>
      </p:sp>
      <p:sp>
        <p:nvSpPr>
          <p:cNvPr id="14" name="Text 12"/>
          <p:cNvSpPr txBox="1"/>
          <p:nvPr/>
        </p:nvSpPr>
        <p:spPr>
          <a:xfrm>
            <a:off x="3749040" y="4096512"/>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one more program</a:t>
            </a:r>
            <a:endParaRPr lang="en-US" sz="1400" dirty="0"/>
          </a:p>
        </p:txBody>
      </p:sp>
      <p:sp>
        <p:nvSpPr>
          <p:cNvPr id="15" name="Text 13"/>
          <p:cNvSpPr txBox="1"/>
          <p:nvPr/>
        </p:nvSpPr>
        <p:spPr>
          <a:xfrm>
            <a:off x="777240" y="4663440"/>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slow brute-force version</a:t>
            </a:r>
            <a:endParaRPr lang="en-US" sz="1400" dirty="0"/>
          </a:p>
        </p:txBody>
      </p:sp>
      <p:sp>
        <p:nvSpPr>
          <p:cNvPr id="16" name="Text 14"/>
          <p:cNvSpPr txBox="1"/>
          <p:nvPr/>
        </p:nvSpPr>
        <p:spPr>
          <a:xfrm>
            <a:off x="3749040" y="466344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+4.5k (contest)</a:t>
            </a:r>
            <a:endParaRPr lang="en-US" sz="1400" dirty="0"/>
          </a:p>
        </p:txBody>
      </p:sp>
      <p:sp>
        <p:nvSpPr>
          <p:cNvPr id="17" name="when worth it"/>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8" name="Text 16"/>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311 contest problems (gpt-oss-120b)</a:t>
            </a:r>
            <a:endParaRPr lang="en-US" sz="1800" dirty="0"/>
          </a:p>
        </p:txBody>
      </p:sp>
      <p:sp>
        <p:nvSpPr>
          <p:cNvPr id="19" name="Text 17"/>
          <p:cNvSpPr txBox="1"/>
          <p:nvPr/>
        </p:nvSpPr>
        <p:spPr>
          <a:xfrm>
            <a:off x="8778240" y="1755648"/>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0" name="Text 18"/>
          <p:cNvSpPr txBox="1"/>
          <p:nvPr/>
        </p:nvSpPr>
        <p:spPr>
          <a:xfrm>
            <a:off x="9692640" y="1755648"/>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1" name="Text 19"/>
          <p:cNvSpPr txBox="1"/>
          <p:nvPr/>
        </p:nvSpPr>
        <p:spPr>
          <a:xfrm>
            <a:off x="6400800" y="2121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2" name="Text 20"/>
          <p:cNvSpPr txBox="1"/>
          <p:nvPr/>
        </p:nvSpPr>
        <p:spPr>
          <a:xfrm>
            <a:off x="8778240" y="212140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3" name="tokens always think hard"/>
          <p:cNvSpPr/>
          <p:nvPr/>
        </p:nvSpPr>
        <p:spPr>
          <a:xfrm>
            <a:off x="9692640" y="2221992"/>
            <a:ext cx="960120" cy="256032"/>
          </a:xfrm>
          <a:prstGeom prst="rect">
            <a:avLst/>
          </a:prstGeom>
          <a:solidFill>
            <a:srgbClr val="7F7F7F"/>
          </a:solidFill>
          <a:ln w="6350">
            <a:solidFill>
              <a:srgbClr val="7F7F7F"/>
            </a:solidFill>
            <a:prstDash val="solid"/>
          </a:ln>
        </p:spPr>
      </p:sp>
      <p:sp>
        <p:nvSpPr>
          <p:cNvPr id="24" name="Text 22"/>
          <p:cNvSpPr txBox="1"/>
          <p:nvPr/>
        </p:nvSpPr>
        <p:spPr>
          <a:xfrm>
            <a:off x="10744200" y="212140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5" name="Text 23"/>
          <p:cNvSpPr txBox="1"/>
          <p:nvPr/>
        </p:nvSpPr>
        <p:spPr>
          <a:xfrm>
            <a:off x="6400800" y="254203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only</a:t>
            </a:r>
            <a:endParaRPr lang="en-US" sz="1500" dirty="0"/>
          </a:p>
        </p:txBody>
      </p:sp>
      <p:sp>
        <p:nvSpPr>
          <p:cNvPr id="26" name="Text 24"/>
          <p:cNvSpPr txBox="1"/>
          <p:nvPr/>
        </p:nvSpPr>
        <p:spPr>
          <a:xfrm>
            <a:off x="8778240" y="254203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7" name="tokens examples only"/>
          <p:cNvSpPr/>
          <p:nvPr/>
        </p:nvSpPr>
        <p:spPr>
          <a:xfrm>
            <a:off x="9692640" y="2642616"/>
            <a:ext cx="644333" cy="256032"/>
          </a:xfrm>
          <a:prstGeom prst="rect">
            <a:avLst/>
          </a:prstGeom>
          <a:solidFill>
            <a:srgbClr val="5B9BD5"/>
          </a:solidFill>
          <a:ln w="6350">
            <a:solidFill>
              <a:srgbClr val="5B9BD5"/>
            </a:solidFill>
            <a:prstDash val="solid"/>
          </a:ln>
        </p:spPr>
      </p:sp>
      <p:sp>
        <p:nvSpPr>
          <p:cNvPr id="28" name="Text 26"/>
          <p:cNvSpPr txBox="1"/>
          <p:nvPr/>
        </p:nvSpPr>
        <p:spPr>
          <a:xfrm>
            <a:off x="10428413" y="254203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9" name="Text 27"/>
          <p:cNvSpPr txBox="1"/>
          <p:nvPr/>
        </p:nvSpPr>
        <p:spPr>
          <a:xfrm>
            <a:off x="6400800" y="296265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brute force</a:t>
            </a:r>
            <a:endParaRPr lang="en-US" sz="1500" dirty="0"/>
          </a:p>
        </p:txBody>
      </p:sp>
      <p:sp>
        <p:nvSpPr>
          <p:cNvPr id="30" name="Text 28"/>
          <p:cNvSpPr txBox="1"/>
          <p:nvPr/>
        </p:nvSpPr>
        <p:spPr>
          <a:xfrm>
            <a:off x="8778240" y="2962656"/>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1" name="tokens examples + brute force"/>
          <p:cNvSpPr/>
          <p:nvPr/>
        </p:nvSpPr>
        <p:spPr>
          <a:xfrm>
            <a:off x="9692640" y="3063240"/>
            <a:ext cx="787873" cy="256032"/>
          </a:xfrm>
          <a:prstGeom prst="rect">
            <a:avLst/>
          </a:prstGeom>
          <a:solidFill>
            <a:srgbClr val="4472C4"/>
          </a:solidFill>
          <a:ln w="6350">
            <a:solidFill>
              <a:srgbClr val="4472C4"/>
            </a:solidFill>
            <a:prstDash val="solid"/>
          </a:ln>
        </p:spPr>
      </p:sp>
      <p:sp>
        <p:nvSpPr>
          <p:cNvPr id="32" name="Text 30"/>
          <p:cNvSpPr txBox="1"/>
          <p:nvPr/>
        </p:nvSpPr>
        <p:spPr>
          <a:xfrm>
            <a:off x="10571953" y="2962656"/>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3" name="Text 31"/>
          <p:cNvSpPr txBox="1"/>
          <p:nvPr/>
        </p:nvSpPr>
        <p:spPr>
          <a:xfrm>
            <a:off x="6400800" y="3383280"/>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a 2nd model</a:t>
            </a:r>
            <a:endParaRPr lang="en-US" sz="1500" dirty="0"/>
          </a:p>
        </p:txBody>
      </p:sp>
      <p:sp>
        <p:nvSpPr>
          <p:cNvPr id="34" name="Text 32"/>
          <p:cNvSpPr txBox="1"/>
          <p:nvPr/>
        </p:nvSpPr>
        <p:spPr>
          <a:xfrm>
            <a:off x="8778240" y="33832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65.5%</a:t>
            </a:r>
            <a:endParaRPr lang="en-US" sz="1700" dirty="0"/>
          </a:p>
        </p:txBody>
      </p:sp>
      <p:sp>
        <p:nvSpPr>
          <p:cNvPr id="35" name="tokens examples + a 2nd model"/>
          <p:cNvSpPr/>
          <p:nvPr/>
        </p:nvSpPr>
        <p:spPr>
          <a:xfrm>
            <a:off x="9692640" y="3483864"/>
            <a:ext cx="803821" cy="256032"/>
          </a:xfrm>
          <a:prstGeom prst="rect">
            <a:avLst/>
          </a:prstGeom>
          <a:solidFill>
            <a:srgbClr val="7F7F7F"/>
          </a:solidFill>
          <a:ln w="6350">
            <a:solidFill>
              <a:srgbClr val="7F7F7F"/>
            </a:solidFill>
            <a:prstDash val="solid"/>
          </a:ln>
        </p:spPr>
      </p:sp>
      <p:sp>
        <p:nvSpPr>
          <p:cNvPr id="36" name="Text 34"/>
          <p:cNvSpPr txBox="1"/>
          <p:nvPr/>
        </p:nvSpPr>
        <p:spPr>
          <a:xfrm>
            <a:off x="10587901" y="33832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25k</a:t>
            </a:r>
            <a:endParaRPr lang="en-US" sz="1500" dirty="0"/>
          </a:p>
        </p:txBody>
      </p:sp>
      <p:sp>
        <p:nvSpPr>
          <p:cNvPr id="37" name="Text 35"/>
          <p:cNvSpPr txBox="1"/>
          <p:nvPr/>
        </p:nvSpPr>
        <p:spPr>
          <a:xfrm>
            <a:off x="6400800" y="4206240"/>
            <a:ext cx="4983480" cy="1234440"/>
          </a:xfrm>
          <a:prstGeom prst="rect">
            <a:avLst/>
          </a:prstGeom>
          <a:noFill/>
          <a:ln/>
        </p:spPr>
        <p:txBody>
          <a:bodyPr wrap="square" lIns="0" tIns="0" rIns="0" bIns="0" rtlCol="0" anchor="t"/>
          <a:lstStyle/>
          <a:p>
            <a:pPr indent="0" marL="0">
              <a:buNone/>
            </a:pPr>
            <a:r>
              <a:rPr lang="en-US" sz="1400" dirty="0">
                <a:solidFill>
                  <a:schemeClr val="tx1"/>
                </a:solidFill>
              </a:rPr>
              <a:t>Order: start with the zero-token checks; add a different second version only where mistakes stay silent; stop when a better check would add 1–3 points.</a:t>
            </a:r>
            <a:endParaRPr lang="en-US" sz="14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Free checks cost CPU, not tokens; pay for a second version only where it changes the decision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2026-10-19T19:57:05Z</dcterms:created>
  <dcterms:modified xsi:type="dcterms:W3CDTF">2026-10-19T19:57:05Z</dcterms:modified>
</cp:coreProperties>
</file>