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f359e947-9107-26b4-af5e-7cc5e265f53a}">
          <p14:sldIdLst>
            <p14:sldId id="256"/>
            <p14:sldId id="257"/>
            <p14:sldId id="258"/>
            <p14:sldId id="259"/>
            <p14:sldId id="260"/>
            <p14:sldId id="261"/>
            <p14:sldId id="262"/>
            <p14:sldId id="263"/>
            <p14:sldId id="264"/>
          </p14:sldIdLst>
        </p14:section>
        <p14:section name="Extra pages" id="{9ce7a577-d609-7517-9d60-938efb21029a}">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같은 종류의 문제에 짰던 프로그램 중 검사를 통과한 것을 모으고, 가장 짧은 것을 힌트로 씁니다.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새로운 점은 세 가지입니다. 학습 없이 공짜 검사가 실패할 때만 생각해서 74%를 87%로 올렸고, 매뉴얼 대신 사람 없이 고른 짧은 힌트 하나를 주며, 파인튜닝한 특화 모델과 같은 69.5%를 학습 없이 24GB GPU 한 장으로 냅니다. 다음은 세 가지입니다. 힌트를 문제 종류마다 자동으로 고르고, 토큰 없이 더 많이 잡는 검사를 만들고, 마지막으로 수학 증명으로 넓힙니다. 증명은 Lean이 모든 단계를 검사해 주니, 거기에 맞는 힌트를 찾는 것이 과제입니다.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수학 증명으로 넓힙니다. Lean이 증명의 모든 단계를 검사하므로 검사는 완벽하지만, 지금까지 일반 모델에는 비슷한 문제의 증명이나 부등식 도구 모음 같은 힌트가 도움이 되지 않았고, 특화 증명 모델 Goedel-Prover-V2-8B가 74%로 가장 잘 풉니다. 증명에 맞는 힌트를 찾는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Is 'think on the hardest' a weak baseline? (slide 7)
34: What if the same problem repeats? (slide 7)
11: Why no hint for contest problems? (slide 7)
33: Where does the recipe stop? (slide 7)
26, 27, 28: What is new vs PAL and cascades? (slide 8)
29: Why not majority voting? (slide 8)
30, 35: Is the comparison fair? (slide 8)
31: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3.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3.xml"/><Relationship Id="rId8"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How we pick the hint (once per type, no human)</a:t>
            </a:r>
            <a:endParaRPr lang="en-US" sz="1700" dirty="0"/>
          </a:p>
        </p:txBody>
      </p:sp>
      <p:sp>
        <p:nvSpPr>
          <p:cNvPr id="39" name="box its past programs"/>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its past programs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a:t>
            </a:r>
            <a:pPr indent="0" marL="0">
              <a:buNone/>
            </a:pPr>
            <a:r>
              <a:rPr lang="en-US" sz="1100" dirty="0">
                <a:solidFill>
                  <a:srgbClr val="7F7F7F"/>
                </a:solidFill>
              </a:rPr>
              <a:t> [1]</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only when a free check fails: 87% vs 74%</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 or retrieved documentation</a:t>
            </a:r>
            <a:pPr indent="0" marL="0">
              <a:buNone/>
            </a:pPr>
            <a:r>
              <a:rPr lang="en-US" sz="1100" dirty="0">
                <a:solidFill>
                  <a:srgbClr val="7F7F7F"/>
                </a:solidFill>
              </a:rPr>
              <a:t> [2]</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one short hint, picked with no human</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 specialist: 69.5% on MAMO</a:t>
            </a:r>
            <a:pPr indent="0" marL="0">
              <a:buNone/>
            </a:pPr>
            <a:r>
              <a:rPr lang="en-US" sz="1100" dirty="0">
                <a:solidFill>
                  <a:srgbClr val="7F7F7F"/>
                </a:solidFill>
              </a:rPr>
              <a:t> [3, 4]</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no training, one 24 GB GPU: the same 69.5%</a:t>
            </a:r>
            <a:endParaRPr lang="en-US" sz="1400" dirty="0"/>
          </a:p>
        </p:txBody>
      </p:sp>
      <p:sp>
        <p:nvSpPr>
          <p:cNvPr id="35" name="Text 27"/>
          <p:cNvSpPr txBox="1"/>
          <p:nvPr/>
        </p:nvSpPr>
        <p:spPr>
          <a:xfrm>
            <a:off x="548640" y="3657600"/>
            <a:ext cx="11064240"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36" name="next Automatic hints"/>
          <p:cNvSpPr/>
          <p:nvPr/>
        </p:nvSpPr>
        <p:spPr>
          <a:xfrm>
            <a:off x="548640" y="4069080"/>
            <a:ext cx="3566160" cy="1325880"/>
          </a:xfrm>
          <a:prstGeom prst="roundRect">
            <a:avLst>
              <a:gd name="adj" fmla="val 5517"/>
            </a:avLst>
          </a:prstGeom>
          <a:solidFill>
            <a:srgbClr val="F2F2F2"/>
          </a:solidFill>
          <a:ln w="9525">
            <a:solidFill>
              <a:srgbClr val="D9D9D9"/>
            </a:solidFill>
            <a:prstDash val="solid"/>
          </a:ln>
        </p:spPr>
      </p:sp>
      <p:pic>
        <p:nvPicPr>
          <p:cNvPr id="37" name="next icon fact" descr="/NAS/SJ/POSTECH/nlp/figs/icons/fact.png">    </p:cNvPr>
          <p:cNvPicPr>
            <a:picLocks noChangeAspect="1"/>
          </p:cNvPicPr>
          <p:nvPr/>
        </p:nvPicPr>
        <p:blipFill>
          <a:blip r:embed="rId7"/>
          <a:stretch>
            <a:fillRect/>
          </a:stretch>
        </p:blipFill>
        <p:spPr>
          <a:xfrm>
            <a:off x="749808" y="4206240"/>
            <a:ext cx="502920" cy="502920"/>
          </a:xfrm>
          <a:prstGeom prst="rect">
            <a:avLst/>
          </a:prstGeom>
        </p:spPr>
      </p:pic>
      <p:sp>
        <p:nvSpPr>
          <p:cNvPr id="38" name="Text 29"/>
          <p:cNvSpPr txBox="1"/>
          <p:nvPr/>
        </p:nvSpPr>
        <p:spPr>
          <a:xfrm>
            <a:off x="138988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Automatic hints</a:t>
            </a:r>
            <a:endParaRPr lang="en-US" sz="2000" dirty="0"/>
          </a:p>
        </p:txBody>
      </p:sp>
      <p:sp>
        <p:nvSpPr>
          <p:cNvPr id="39" name="Text 30"/>
          <p:cNvSpPr txBox="1"/>
          <p:nvPr/>
        </p:nvSpPr>
        <p:spPr>
          <a:xfrm>
            <a:off x="74980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picked per problem type, only the needed calls</a:t>
            </a:r>
            <a:endParaRPr lang="en-US" sz="1500" dirty="0"/>
          </a:p>
        </p:txBody>
      </p:sp>
      <p:sp>
        <p:nvSpPr>
          <p:cNvPr id="40" name="next Sharper free checks"/>
          <p:cNvSpPr/>
          <p:nvPr/>
        </p:nvSpPr>
        <p:spPr>
          <a:xfrm>
            <a:off x="4297680" y="4069080"/>
            <a:ext cx="3566160" cy="1325880"/>
          </a:xfrm>
          <a:prstGeom prst="roundRect">
            <a:avLst>
              <a:gd name="adj" fmla="val 5517"/>
            </a:avLst>
          </a:prstGeom>
          <a:solidFill>
            <a:srgbClr val="F2F2F2"/>
          </a:solidFill>
          <a:ln w="9525">
            <a:solidFill>
              <a:srgbClr val="D9D9D9"/>
            </a:solidFill>
            <a:prstDash val="solid"/>
          </a:ln>
        </p:spPr>
      </p:sp>
      <p:pic>
        <p:nvPicPr>
          <p:cNvPr id="41" name="next icon check" descr="/NAS/SJ/POSTECH/nlp/figs/icons/check.png">    </p:cNvPr>
          <p:cNvPicPr>
            <a:picLocks noChangeAspect="1"/>
          </p:cNvPicPr>
          <p:nvPr/>
        </p:nvPicPr>
        <p:blipFill>
          <a:blip r:embed="rId8"/>
          <a:stretch>
            <a:fillRect/>
          </a:stretch>
        </p:blipFill>
        <p:spPr>
          <a:xfrm>
            <a:off x="4498848" y="4206240"/>
            <a:ext cx="502920" cy="502920"/>
          </a:xfrm>
          <a:prstGeom prst="rect">
            <a:avLst/>
          </a:prstGeom>
        </p:spPr>
      </p:pic>
      <p:sp>
        <p:nvSpPr>
          <p:cNvPr id="42" name="Text 32"/>
          <p:cNvSpPr txBox="1"/>
          <p:nvPr/>
        </p:nvSpPr>
        <p:spPr>
          <a:xfrm>
            <a:off x="513892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Sharper free checks</a:t>
            </a:r>
            <a:endParaRPr lang="en-US" sz="2000" dirty="0"/>
          </a:p>
        </p:txBody>
      </p:sp>
      <p:sp>
        <p:nvSpPr>
          <p:cNvPr id="43" name="Text 33"/>
          <p:cNvSpPr txBox="1"/>
          <p:nvPr/>
        </p:nvSpPr>
        <p:spPr>
          <a:xfrm>
            <a:off x="449884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catch more mistakes, still with no extra tokens</a:t>
            </a:r>
            <a:endParaRPr lang="en-US" sz="1500" dirty="0"/>
          </a:p>
        </p:txBody>
      </p:sp>
      <p:sp>
        <p:nvSpPr>
          <p:cNvPr id="44" name="next Math proofs"/>
          <p:cNvSpPr/>
          <p:nvPr/>
        </p:nvSpPr>
        <p:spPr>
          <a:xfrm>
            <a:off x="8046720" y="4069080"/>
            <a:ext cx="3566160" cy="1325880"/>
          </a:xfrm>
          <a:prstGeom prst="roundRect">
            <a:avLst>
              <a:gd name="adj" fmla="val 5517"/>
            </a:avLst>
          </a:prstGeom>
          <a:solidFill>
            <a:srgbClr val="F2F2F2"/>
          </a:solidFill>
          <a:ln w="9525">
            <a:solidFill>
              <a:srgbClr val="D9D9D9"/>
            </a:solidFill>
            <a:prstDash val="solid"/>
          </a:ln>
        </p:spPr>
      </p:sp>
      <p:pic>
        <p:nvPicPr>
          <p:cNvPr id="45" name="next icon sqrt" descr="/NAS/SJ/POSTECH/nlp/figs/icons/sqrt.png">    </p:cNvPr>
          <p:cNvPicPr>
            <a:picLocks noChangeAspect="1"/>
          </p:cNvPicPr>
          <p:nvPr/>
        </p:nvPicPr>
        <p:blipFill>
          <a:blip r:embed="rId9"/>
          <a:stretch>
            <a:fillRect/>
          </a:stretch>
        </p:blipFill>
        <p:spPr>
          <a:xfrm>
            <a:off x="8247888" y="4206240"/>
            <a:ext cx="502920" cy="502920"/>
          </a:xfrm>
          <a:prstGeom prst="rect">
            <a:avLst/>
          </a:prstGeom>
        </p:spPr>
      </p:pic>
      <p:sp>
        <p:nvSpPr>
          <p:cNvPr id="46" name="Text 35"/>
          <p:cNvSpPr txBox="1"/>
          <p:nvPr/>
        </p:nvSpPr>
        <p:spPr>
          <a:xfrm>
            <a:off x="888796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Math proofs</a:t>
            </a:r>
            <a:endParaRPr lang="en-US" sz="2000" dirty="0"/>
          </a:p>
        </p:txBody>
      </p:sp>
      <p:sp>
        <p:nvSpPr>
          <p:cNvPr id="47" name="Text 36"/>
          <p:cNvSpPr txBox="1"/>
          <p:nvPr/>
        </p:nvSpPr>
        <p:spPr>
          <a:xfrm>
            <a:off x="824788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Lean checks every step: find the hints that help</a:t>
            </a:r>
            <a:pPr indent="0" marL="0">
              <a:buNone/>
            </a:pPr>
            <a:r>
              <a:rPr lang="en-US" sz="1100" dirty="0">
                <a:solidFill>
                  <a:srgbClr val="7F7F7F"/>
                </a:solidFill>
              </a:rPr>
              <a:t> [5]</a:t>
            </a:r>
            <a:endParaRPr lang="en-US" sz="1500" dirty="0"/>
          </a:p>
        </p:txBody>
      </p:sp>
      <p:sp>
        <p:nvSpPr>
          <p:cNvPr id="48"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49" name="Text 38"/>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000" dirty="0">
                <a:solidFill>
                  <a:srgbClr val="7F7F7F"/>
                </a:solidFill>
              </a:rPr>
              <a:t>[1] Snell et al., Scaling LLM Test-Time Compute Optimally, ICLR 2025  [2] DRoC: retrieved documentation for solver code, ICLR 2025  [3] Huang et al., ORLM, arXiv 2405.17743, 2024  [4] Huang et al., Mamo benchmark, 2024  [5] Zheng et al., miniF2F, ICLR 2022</a:t>
            </a:r>
            <a:endParaRPr lang="en-US" sz="1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2026-10-19T19:58:46Z</dcterms:created>
  <dcterms:modified xsi:type="dcterms:W3CDTF">2026-10-19T19:58:46Z</dcterms:modified>
</cp:coreProperties>
</file>