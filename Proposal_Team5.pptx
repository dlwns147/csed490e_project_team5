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4.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73ef6e45-056a-3d07-8d6e-f347ea21374d}">
          <p14:sldIdLst>
            <p14:sldId id="256"/>
            <p14:sldId id="257"/>
            <p14:sldId id="258"/>
            <p14:sldId id="259"/>
            <p14:sldId id="260"/>
            <p14:sldId id="261"/>
            <p14:sldId id="262"/>
            <p14:sldId id="263"/>
            <p14:sldId id="264"/>
          </p14:sldIdLst>
        </p14:section>
        <p14:section name="Extra pages" id="{2548b8e7-560f-5f0a-2473-5cbea27aa0e0}">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(10초) 안녕하세요, 5조입니다. 저희는 답을 정확히 계산해야 하는 수학 문제를 LLM이 프로그램을 짜서 푸는 경우에 집중합니다. 목표는 더 적은 토큰으로 맞는 답을 얻는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저희가 푸는 문제는 네 종류입니다. 기하와 Codeforces 경시 문제는 맞는 알고리즘이, 배송 경로와 최적화 문장제는 솔버를 맞게 부르는 법이 필요합니다. 경시 문제의 중앙값은 Codeforces Master 수준입니다. 답이 정확히 하나라 코드로 채점할 수 있고, 필요한 것이 서로 달라서 추가 노력을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LLM은 말로 답할 수도, 프로그램을 짤 수도 있습니다. 같은 도형을 옮기고 돌리면 말로 한 답은 매번 바뀌지만, 프로그램은 항상 436입니다. 그래서 계산은 프로그램에 맡깁니다.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(45초) 하지만 두 가지가 문제입니다. 첫째, 프로그램은 조용히 틀립니다. 왼쪽 그림처럼 점 10개를 고무줄로 감싸면 꼭짓점이 6개입니다. 같은 모델에게 이 개수를 세는 프로그램을 두 번 짜게 했습니다. 문제만 준 프로그램 A는 6을 내고, 필요 없는 도우미 함수 8개를 같이 준 프로그램 B는 0을 냅니다. B는 에러 없이 그냥 틀린 숫자를 내서, 답을 모르면 틀린 줄 알 수 없습니다. 없는 함수를 불러 아예 멈추기도 합니다. 둘째, 오래 생각하면 비쌉니다. gpt-oss-120b는 토큰을 4.4배 써서 9점을 더 얻습니다. 그래서 추가 노력을 힌트, 공짜 검사, 생각 중 어디에 쓸지가 저희 질문입니다.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첫 번째 발견입니다. 매뉴얼이 아니라 짧은 힌트를 주세요. 트럭 경로를 짜는 과제에 OR-Tools 사용법 열한 줄을 붙이면, Qwen3-32B가 맞는 함수를 불러 최적 경로를 찾습니다. 긴 참조 문서를 주면 없는 함수를 지어내 죽습니다. 30문제에서 아무것도 안 주면 23%, 오래 생각하면 3%, 짧은 힌트는 83%입니다. 이 힌트를 사람 없이 고르는 방법은 뒤의 방법 슬라이드에서 보여 드립니다.
[참고, 읽지 않음] 모델은 답을 무작위로 뽑기 때문에 같은 실험도 돌릴 때마다 조금씩 다릅니다. 짧은 힌트 막대는 같은 실험을 세 번 돌린 평균입니다(77, 83, 90%). 나머지 막대는 한 번씩 돌린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(50초) 두 번째 발견입니다. 생각은 공짜 검사가 실패한 문제에만 쓰세요. 공짜 검사란, 정답 없이 프로그램을 실행해서 이미 아는 것과 비교해 보는 것으로, 토큰이 거의 들지 않습니다. 예를 들어 경시 문제에는 막대가 3, 4, 5이면 답은 0이라는 예제가 있습니다. 프로그램에 3, 4, 5를 넣어 0이 나오면 그대로 내고, 다르면 그 문제만 더 생각해서 다시 짭니다. 예제가 없으면 프로그램을 두 가지로 짜서, 6과 0처럼 답이 다를 때만 생각합니다. 결과는 오른쪽입니다. 경시 문제는 항상 오래 생각할 때와 같은 66%를 3만 대신 2만 5천 토큰에, 기하는 99%를 5.9k 대신 4.3k 토큰에 얻습니다. 정답은 필요 없습니다.
[참고, 읽지 않음] 경시 66.3%는 예제와, 작은 입력을 전부 따져 보는 느린 프로그램, 두 검사를 함께 쓴 결과입니다. 예제만 쓰면 20k 토큰에 65.0%입니다.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(60초) 둘을 합친 것이 저희 방법입니다. 위의 네 단계입니다. 힌트를 붙여 프로그램을 쓰고, 공짜 검사를 돌려서, 통과하면 내고 실패하면 그때만 생각합니다. 같은 종류가 다시 오면 그 프로그램을 재사용합니다. 아이콘은 각 단계를 쓰는 문제 종류입니다. 왼쪽은 힌트를 만드는 법입니다. 같은 종류의 앞선 문제들에서 모델이 짠 프로그램 중 실행되어 숫자를 낸 것을 모으고, 가장 짧은 것을 예시로 프롬프트에 붙입니다. 사람도 정답도 필요 없습니다. 실제 문제에서 힌트가 없으면 없는 함수를 불러 죽지만, 힌트가 있으면 두 버전이 모두 20000을 내서 바로 제출하고, 토큰은 생각만 할 때의 5.3k 대신 0.6k입니다. 오른쪽은 전체 결과입니다. 기하와 최적화 208문제를 세 모델로 풀면, 답이 갈리는 문제에 생각을 몰아주는 기존 방식은 74%, 검색한 힌트로 84%, 사람이 쓴 힌트로 87%이고 토큰도 더 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(45초) 새로운 점은 세 가지입니다. 학습 없이 공짜 검사가 실패할 때만 생각해서 74%를 87%로 올렸고, 매뉴얼 대신 사람 없이 고른 짧은 힌트 하나를 주며, 최적화 문장제 863개인 MAMO에서, 파인튜닝한 8B 특화 모델과 같은 69.5%를 같은 크기의 8B 모델로 학습 없이 냅니다. 다음은 세 가지입니다. 힌트를 문제 종류마다 자동으로 고르고, 토큰 없이 더 많이 잡는 검사를 만들고, 마지막으로 수학 증명으로 넓힙니다. 증명은 Lean이 모든 단계를 검사해 주니, 거기에 맞는 힌트를 찾는 것이 과제입니다. 정리하면, 짧은 힌트를 먼저 주고, 공짜 검사가 실패한 곳에서만 생각하게 하자는 것입니다.
[더 자세히: 질문이 나오거나 시간이 남을 때]
첫째 줄, 생각을 어디에 쓸지. 기존 방법은 어려워 보이는 문제에 계산을 더 쓰는 Snell 등의 방식과, 언제 생각할지를 강화학습으로 가르치는 Thinkless, AdaptThink입니다. 저희는 정답 없이 돌리는 공짜 검사가 실패한 문제에만 생각을 씁니다. 기하와 최적화 208문제를 세 모델로 풀면 74%가 87%로 오르고, 토큰은 문제당 4.1k에서 2.5k로 줄었습니다. 87%는 사람이 쓴 힌트를 쓴 결과이고, 검색으로 찾은 힌트로도 84%입니다.
둘째 줄, 모델에게 무엇을 주는지. 기존에는 매뉴얼 전체를 주거나, 더 큰 교사 모델이 짜서 정답으로 확인한 프로그램 모음을 줍니다. 저희 힌트는 모델이 다른 문제에서 짜서 공짜 검사를 통과한 자기 프로그램입니다. 끝까지 남겨 둔 MAMO 벤치마크에서 사람이 쓴 힌트와 같은 79%를 냈습니다.
셋째 줄, 비용. ORLM-8B는 최적화 문장제용으로 파인튜닝한 공개 모델이고, 모델 카드의 형식과 솔버, 그리디 디코딩으로 저희 채점기에서 돌렸습니다: MAMO 69.5%, 문제당 1.1k 토큰(샘플링하면 64~66%). Qwen3-8B는 학습 없이 자기 힌트를 붙여 프로그램을 한 번 짜고 실행이 안 될 때만 생각하게 해서 69.5%, 1.0k 토큰입니다. 두 버전 검사까지 쓰면 71%(3.1k), gpt-oss-20b는 78.8%입니다.
다음 계획. 하나, 힌트: 지금은 같은 종류의 문제 안에서만 자동 힌트가 통하므로, 새 문제의 종류를 먼저 알아내고 종류마다 힌트를 자동으로 고릅니다. 둘, 검사: MAMO에서 남은 오류의 절반쯤은 정답 라벨이 의심스러운 문제이고, 나머지는 실행도 되고 두 버전이 일치하지만 문제를 잘못 수식으로 옮긴 경우입니다. 이런 실수를 다른 관점으로 잡는 값싼 검사를 찾고, 문제 종류마다 어떤 검사를 쓸지 자동으로 고릅니다. 지금도 30문제만 라벨링하면 정책을 고를 수 있어서, 최선 대비 손실이 0.6점입니다. 셋, 수학 증명으로 넓힙니다. Lean이 증명의 모든 단계를 검사하므로 검사는 완벽하지만, 지금까지 일반 모델에는 비슷한 문제의 증명이나 부등식 도구 모음 같은 힌트가 도움이 되지 않았고, 특화 증명 모델 Goedel-Prover-V2-8B가 74%로 가장 잘 풉니다. 증명에 맞는 힌트를 찾는 것이 과제입니다.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(5초) 감사합니다.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and what does it do? (slide 5)
15, 24: How do we get the exact hint? (slide 5)
16, 17: How do we get a hint that works, cheaply? (slide 5)
18: Can retrieval (RAG) find the hint? (slide 5)
19: Why can thinking make it worse? (slide 5)
20: What if a wrong program passes the check? (slide 6)
21: Is there always a free check? (slide 6)
22, 23: How do we check well, and cheaply? (slide 6)
24: Who writes the hint? (slide 7)
25: What about the first time, with no past programs? (slide 7)
26: Is 'think on the hardest' a weak baseline? (slide 7)
35: What if the same problem repeats? (slide 7)
11: Why no hint for contest problems? (slide 7)
34: Where does the recipe stop? (slide 7)
27, 28, 29: What is new vs PAL and cascades? (slide 8)
30: Why not majority voting? (slide 8)
31, 36: Is the comparison fair? (slide 8)
32: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없고, 실패 원인은 추론입니다. 가장 가까운 힌트로 관련 기하 함수 8개를 줘 봤는데, Qwen3-32B는 12.1%에서 13.7%로 차이가 없었고 gpt-oss-20b는 37.7%에서 33.4%로 오히려 떨어졌습니다. 함수를 받으면 덜 생각하고 다른 오답을 썼습니다. 문제마다 알고리즘을 알려 주는 힌트는 사실상 풀이의 일부라 싸지도 자동도 아닙니다. 그래서 경시에는 검사와 생각만 써서, 항상 생각할 때와 같은 66%를 18% 적은 토큰에 얻습니다. 재사용도 매번 새 문제라 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라이브러리를 어떻게 부르는지 보여 줍니다. 사람이 쓴 힌트는 경로 문제에서 OR-Tools 사용법 11줄로, 이 문제의 숫자도 답도 없고 30문제에 똑같이 붙습니다. 자동 힌트는 같은 종류의 다른 문제, 예를 들어 밴과 트럭 문제에서 모델이 짜서 검사를 통과한 가장 짧은 프로그램입니다. 그 문제의 숫자와 제약이 들어 있지만, 가장 짧은 것을 고르면 거의 함수 호출만 남습니다. 힌트가 하는 일은 없는 함수 이름을 지어내지 않게 하는 것입니다. Qwen3-1.7B는 힌트 없이 존재하지 않는 Solver.SUCCESS, solver.INFINITY를 써서 0.1%였고, 힌트를 주면 45%입니다. 하지만 문제를 수식으로 옮기는 일은 여전히 모델의 몫이라 남은 오류는 대부분 잘못된 수식입니다. 참고로 가장 짧은 것 대신 가장 비슷한 문제의 프로그램을 주면 수식 패턴까지 따라 들어가서, 그 프로그램이 맞으면 반복되는 수식 실수를 고치고, 틀리면 같이 틀립니다.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과제 앞에 붙여 줍니다. 그 종류에 필요한 호출만 보여 줍니다. 얻는 방법은 세 가지입니다. 첫째, 사람이 종류마다 한 번 씁니다. 트럭 경로라면 OR-Tools 사용법 11줄입니다. 둘째, 제목이 붙은 코드 조각 라이브러리에서 BM25로 검색해 맨 위 하나를 씁니다. 손으로 쓴 것과 거의 같지만, 비슷하지만 다른 문서가 섞이면 크게 떨어집니다. 셋째, 모델이 같은 종류의 다른 문제에서 짠 프로그램 중 공짜 검사를 통과한 가장 짧은 것을 씁니다. 처음 쓰는 MAMO에서 사람이 쓴 힌트와 같은 정확도였습니다. 다만 같은 종류 안에서만 통하고, 다른 종류의 프로그램을 주면 14에서 21점 떨어집니다. 필요한 것만 주는 것도 중요해서, 기하에서 도우미 함수를 다 주면 75%, 필요한 것만 주면 92%였습니다.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좋은 힌트의 조건은 네 가지입니다. 그 종류에 필요한 정확한 호출, 필요한 것만, 짧게, 같은 종류에서. 경로 문제는 23%에서 83%, 기하는 도우미 함수를 다 주면 75%, 필요한 것만 주면 92%입니다. 반대로 규칙 하나가 빠진 긴 매뉴얼은 7%, 비슷하지만 다른 문서가 섞이면 83%에서 57%, 다른 종류의 프로그램은 14에서 21점 손해, 함수 이름 목록만 주면 66%에서 56%로 떨어집니다. 고르는 순서는 이렇습니다. 같은 종류의 지난 프로그램과 공짜 검사가 있으면 통과한 것 중 가장 짧은 것을 씁니다. 없으면 제목이 붙은 코드 조각 문서에서 맨 위 하나만 검색하고, 그것도 없으면 사람이 종류마다 한 번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힌트의 비용은 입력 토큰입니다. 최적화 문제에서 힌트 없이 488토큰이던 프롬프트가 정확한 코드 조각을 붙이면 701토큰으로 213토큰 늘고, 긴 참조 문서는 901, 검색 상위 3개는 1,138토큰입니다. 입력 토큰은 출력보다 싸고 같은 종류 문제끼리 캐시됩니다. 대신 생각에 쓰는 출력 토큰이 크게 줍니다. 문장제에서 힌트를 주고 항상 생각하면 5.5k, 힌트를 먼저 주고 실패할 때만 생각하면 1.3k로 정확도는 같습니다. 208문제 전체에서는 힌트 없이 4.1k에 74%, 힌트 먼저로 2.5k에 87%입니다. 한 번 드는 비용은 종류마다 사람의 시간, 코드 조각 문서, 또는 지난 문제들을 한 번 풀어 보는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검사가 잘 잡으려면 두 번째 관점이 다른 실수를 해야 합니다. 입력을 옮기고 돌린 복사본에서 같은 답이 나오는지 보면 맞는 프로그램을 99.7% 골라냅니다. 도우미 함수가 있는 버전과 없는 버전을 비교하면 99%로 항상 생각할 때의 98%와 같고, 경시 문제는 예제에 느린 완전 탐색 프로그램을 더하면 65.0%가 66.3%가 됩니다. 글 답과 프로그램을 비교하면 같이 틀리는 경우가 17%에서 10%로 줄어듭니다. 반대로 같은 모델에게 다시 물어 다수결을 하면 4.3%를 잘못 고르고, 같은 실수를 공유하는 두 버전은 토큰만 더 씁니다. 그리고 검사를 완벽하게 해도 14B 이상 모델에서 1에서 3점밖에 오르지 않습니다. 그런 문제는 생각해도 7에서 16%만 고쳐지기 때문입니다. 그 다음은 검사보다 푸는 쪽을 고쳐야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예제, 옮긴 복사본, 경로 계획의 규칙 확인은 CPU에서 돌기 때문에 토큰이 들지 않습니다. 모델이 테스트를 쓰는 CodeT는 문제당 340토큰, 두 번째 버전은 프로그램 하나만큼, 느린 완전 탐색 프로그램은 경시에서 문제당 약 4.5k 토큰이 더 듭니다. 경시 문제에서 항상 생각하면 66.2%에 30k, 예제만 쓰면 65.0%에 20k, 완전 탐색을 더하면 66.3%에 25k, 다른 모델의 의견을 더하면 65.5%에 25k입니다. 그래서 순서는 토큰이 들지 않는 검사부터 쓰고, 조용히 틀리는 곳에만 다른 두 번째 버전을 더하고, 더 좋은 검사가 1에서 3점밖에 못 줄 때는 멈추는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지난 프로그램이 따로 없어도 됩니다. 필요한 것은 정답이 아니라 검사를 통과한 프로그램뿐이라서, 문제가 들어오는 대로 라이브러리를 채울 수 있습니다. 새 문제가 오면 지금까지 모인 것 중 가장 비슷한 검사 통과 프로그램을 힌트로 주고, 그 문제의 프로그램이 검사를 통과하면 라이브러리에 넣습니다. 첫 문제는 다른 벤치마크의 예제 프로그램 하나로 시작했습니다. MAMO를 이렇게 흘려보내면 gpt-oss-20b는 78.6%에서 79.0%, Qwen3-14B는 72.5%에서 76.4%, Qwen3-8B는 72.1%에서 75.9%가 되고 토큰은 15에서 26% 줄었습니다. 다만 전체 라이브러리를 미리 가진 경우 이득의 60에서 77%이고, 라이브러리에는 다섯 모델의 프로그램이 들어 있었으며, 어떤 종류에서 모델 자신의 프로그램이 모두 틀리면 힌트도 틀립니다. 문제가 다양하면 주로 토큰만 줄어듭니다.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slideLayout" Target="../slideLayouts/slideLayout3.xml"/><Relationship Id="rId2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4.png"/><Relationship Id="rId8" Type="http://schemas.openxmlformats.org/officeDocument/2006/relationships/image" Target="../media/image-8-2.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3.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image" Target="../media/image-36-6.png"/><Relationship Id="rId7" Type="http://schemas.openxmlformats.org/officeDocument/2006/relationships/slideLayout" Target="../slideLayouts/slideLayout3.xml"/><Relationship Id="rId8"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Focus: math with an exact answer, solved by programs an LLM writes</a:t>
            </a:r>
            <a:endParaRPr lang="en-US" sz="2200" dirty="0"/>
          </a:p>
          <a:p>
            <a:pPr algn="ctr" indent="0" marL="0">
              <a:buNone/>
            </a:pPr>
            <a:r>
              <a:rPr lang="en-US" sz="1600" dirty="0">
                <a:solidFill>
                  <a:srgbClr val="44546A"/>
                </a:solidFill>
              </a:rPr>
              <a:t>Team 5: Sangjun Lee, Seongbin Park · POSTECH CSED490E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685800"/>
          </a:xfrm>
          <a:prstGeom prst="rect">
            <a:avLst/>
          </a:prstGeom>
          <a:noFill/>
          <a:ln/>
        </p:spPr>
        <p:txBody>
          <a:bodyPr wrap="square" lIns="0" tIns="0" rIns="0" bIns="0" rtlCol="0" anchor="t"/>
          <a:lstStyle/>
          <a:p>
            <a:pPr indent="0" marL="0">
              <a:buNone/>
            </a:pPr>
            <a:r>
              <a:rPr lang="en-US" sz="1300" dirty="0">
                <a:solidFill>
                  <a:schemeClr val="tx2"/>
                </a:solidFill>
              </a:rPr>
              <a:t>A: the task only. B: the task + 8 helper functions it did not need (Qwen3-14B)</a:t>
            </a:r>
            <a:endParaRPr lang="en-US" sz="13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the hint is given"/>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the hint is given (Qwen3-32B, OR-Tools)</a:t>
            </a:r>
            <a:endParaRPr lang="en-US" sz="1800" dirty="0"/>
          </a:p>
        </p:txBody>
      </p:sp>
      <p:sp>
        <p:nvSpPr>
          <p:cNvPr id="13" name="box Task: plan routes fo"/>
          <p:cNvSpPr/>
          <p:nvPr/>
        </p:nvSpPr>
        <p:spPr>
          <a:xfrm>
            <a:off x="777240" y="1874520"/>
            <a:ext cx="4892040" cy="457200"/>
          </a:xfrm>
          <a:prstGeom prst="roundRect">
            <a:avLst>
              <a:gd name="adj" fmla="val 12000"/>
            </a:avLst>
          </a:prstGeom>
          <a:solidFill>
            <a:srgbClr val="FFFFFF"/>
          </a:solidFill>
          <a:ln w="9525">
            <a:solidFill>
              <a:srgbClr val="BFBFBF"/>
            </a:solidFill>
            <a:prstDash val="solid"/>
          </a:ln>
        </p:spPr>
      </p:sp>
      <p:sp>
        <p:nvSpPr>
          <p:cNvPr id="14" name="Text 7"/>
          <p:cNvSpPr txBox="1"/>
          <p:nvPr/>
        </p:nvSpPr>
        <p:spPr>
          <a:xfrm>
            <a:off x="850392" y="1874520"/>
            <a:ext cx="4745736" cy="457200"/>
          </a:xfrm>
          <a:prstGeom prst="rect">
            <a:avLst/>
          </a:prstGeom>
          <a:noFill/>
          <a:ln/>
        </p:spPr>
        <p:txBody>
          <a:bodyPr wrap="square" lIns="0" tIns="0" rIns="0" bIns="0" rtlCol="0" anchor="ctr"/>
          <a:lstStyle/>
          <a:p>
            <a:pPr algn="ctr" indent="0" marL="0">
              <a:buNone/>
            </a:pPr>
            <a:r>
              <a:rPr lang="en-US" sz="1500" dirty="0">
                <a:solidFill>
                  <a:schemeClr val="tx1"/>
                </a:solidFill>
              </a:rPr>
              <a:t>Task: plan routes for trucks with a weight limit</a:t>
            </a:r>
            <a:endParaRPr lang="en-US" sz="1500" dirty="0"/>
          </a:p>
        </p:txBody>
      </p:sp>
      <p:sp>
        <p:nvSpPr>
          <p:cNvPr id="15" name="Text 8"/>
          <p:cNvSpPr txBox="1"/>
          <p:nvPr/>
        </p:nvSpPr>
        <p:spPr>
          <a:xfrm>
            <a:off x="3108960" y="2331720"/>
            <a:ext cx="274320" cy="2286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6" name="the hint"/>
          <p:cNvSpPr/>
          <p:nvPr/>
        </p:nvSpPr>
        <p:spPr>
          <a:xfrm>
            <a:off x="777240" y="2560320"/>
            <a:ext cx="4892040" cy="960120"/>
          </a:xfrm>
          <a:prstGeom prst="roundRect">
            <a:avLst>
              <a:gd name="adj" fmla="val 5714"/>
            </a:avLst>
          </a:prstGeom>
          <a:solidFill>
            <a:srgbClr val="E2F0D9"/>
          </a:solidFill>
          <a:ln w="12700">
            <a:solidFill>
              <a:srgbClr val="38761D"/>
            </a:solidFill>
            <a:prstDash val="solid"/>
          </a:ln>
        </p:spPr>
      </p:sp>
      <p:sp>
        <p:nvSpPr>
          <p:cNvPr id="17" name="Text 10"/>
          <p:cNvSpPr txBox="1"/>
          <p:nvPr/>
        </p:nvSpPr>
        <p:spPr>
          <a:xfrm>
            <a:off x="914400" y="2578608"/>
            <a:ext cx="4663440" cy="914400"/>
          </a:xfrm>
          <a:prstGeom prst="rect">
            <a:avLst/>
          </a:prstGeom>
          <a:noFill/>
          <a:ln/>
        </p:spPr>
        <p:txBody>
          <a:bodyPr wrap="square" lIns="0" tIns="0" rIns="0" bIns="0" rtlCol="0" anchor="ctr"/>
          <a:lstStyle/>
          <a:p>
            <a:pPr indent="0" marL="0">
              <a:buNone/>
            </a:pPr>
            <a:r>
              <a:rPr lang="en-US" sz="1400" b="1" dirty="0">
                <a:solidFill>
                  <a:srgbClr val="38761D"/>
                </a:solidFill>
                <a:latin typeface="Calibri" pitchFamily="34" charset="0"/>
                <a:ea typeface="Calibri" pitchFamily="34" charset="-122"/>
                <a:cs typeface="Calibri" pitchFamily="34" charset="-120"/>
              </a:rPr>
              <a:t>Hint: the exact usage, 11 lines, e.g.</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r.RegisterUnaryTransitCallback(demand)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r.AddDimensionWithVehicleCapacity(...)</a:t>
            </a:r>
            <a:endParaRPr lang="en-US" sz="1400" dirty="0"/>
          </a:p>
        </p:txBody>
      </p:sp>
      <p:sp>
        <p:nvSpPr>
          <p:cNvPr id="18" name="Shape 11"/>
          <p:cNvSpPr/>
          <p:nvPr/>
        </p:nvSpPr>
        <p:spPr>
          <a:xfrm>
            <a:off x="3218688" y="3520440"/>
            <a:ext cx="0" cy="182880"/>
          </a:xfrm>
          <a:prstGeom prst="line">
            <a:avLst/>
          </a:prstGeom>
          <a:noFill/>
          <a:ln w="25400">
            <a:solidFill>
              <a:srgbClr val="7F7F7F"/>
            </a:solidFill>
            <a:prstDash val="solid"/>
            <a:tailEnd type="triangle"/>
          </a:ln>
        </p:spPr>
      </p:sp>
      <p:sp>
        <p:nvSpPr>
          <p:cNvPr id="19" name="box ✓ the program runs: "/>
          <p:cNvSpPr/>
          <p:nvPr/>
        </p:nvSpPr>
        <p:spPr>
          <a:xfrm>
            <a:off x="777240" y="3703320"/>
            <a:ext cx="4892040" cy="411480"/>
          </a:xfrm>
          <a:prstGeom prst="roundRect">
            <a:avLst>
              <a:gd name="adj" fmla="val 13333"/>
            </a:avLst>
          </a:prstGeom>
          <a:solidFill>
            <a:srgbClr val="E2F0D9"/>
          </a:solidFill>
          <a:ln w="9525">
            <a:solidFill>
              <a:srgbClr val="BFBFBF"/>
            </a:solidFill>
            <a:prstDash val="solid"/>
          </a:ln>
        </p:spPr>
      </p:sp>
      <p:sp>
        <p:nvSpPr>
          <p:cNvPr id="20" name="Text 13"/>
          <p:cNvSpPr txBox="1"/>
          <p:nvPr/>
        </p:nvSpPr>
        <p:spPr>
          <a:xfrm>
            <a:off x="850392" y="3703320"/>
            <a:ext cx="4745736" cy="411480"/>
          </a:xfrm>
          <a:prstGeom prst="rect">
            <a:avLst/>
          </a:prstGeom>
          <a:noFill/>
          <a:ln/>
        </p:spPr>
        <p:txBody>
          <a:bodyPr wrap="square" lIns="0" tIns="0" rIns="0" bIns="0" rtlCol="0" anchor="ctr"/>
          <a:lstStyle/>
          <a:p>
            <a:pPr algn="ctr" indent="0" marL="0">
              <a:buNone/>
            </a:pPr>
            <a:r>
              <a:rPr lang="en-US" sz="1500" b="1" dirty="0">
                <a:solidFill>
                  <a:srgbClr val="38761D"/>
                </a:solidFill>
              </a:rPr>
              <a:t>✓ the program runs: best route</a:t>
            </a:r>
            <a:endParaRPr lang="en-US" sz="1500" dirty="0"/>
          </a:p>
        </p:txBody>
      </p:sp>
      <p:sp>
        <p:nvSpPr>
          <p:cNvPr id="21" name="Text 14"/>
          <p:cNvSpPr txBox="1"/>
          <p:nvPr/>
        </p:nvSpPr>
        <p:spPr>
          <a:xfrm>
            <a:off x="777240" y="4224528"/>
            <a:ext cx="4892040" cy="320040"/>
          </a:xfrm>
          <a:prstGeom prst="rect">
            <a:avLst/>
          </a:prstGeom>
          <a:noFill/>
          <a:ln/>
        </p:spPr>
        <p:txBody>
          <a:bodyPr wrap="square" lIns="0" tIns="0" rIns="0" bIns="0" rtlCol="0" anchor="ctr"/>
          <a:lstStyle/>
          <a:p>
            <a:pPr indent="0" marL="0">
              <a:buNone/>
            </a:pPr>
            <a:r>
              <a:rPr lang="en-US" sz="1500" b="1" dirty="0">
                <a:solidFill>
                  <a:schemeClr val="tx1"/>
                </a:solidFill>
              </a:rPr>
              <a:t>A long reference sheet instead (no weight rule in it):</a:t>
            </a:r>
            <a:endParaRPr lang="en-US" sz="1500" dirty="0"/>
          </a:p>
        </p:txBody>
      </p:sp>
      <p:sp>
        <p:nvSpPr>
          <p:cNvPr id="22" name="invented call"/>
          <p:cNvSpPr/>
          <p:nvPr/>
        </p:nvSpPr>
        <p:spPr>
          <a:xfrm>
            <a:off x="777240" y="4572000"/>
            <a:ext cx="4892040" cy="777240"/>
          </a:xfrm>
          <a:prstGeom prst="roundRect">
            <a:avLst>
              <a:gd name="adj" fmla="val 7059"/>
            </a:avLst>
          </a:prstGeom>
          <a:solidFill>
            <a:srgbClr val="FADBD8"/>
          </a:solidFill>
          <a:ln w="12700">
            <a:solidFill>
              <a:srgbClr val="C00000"/>
            </a:solidFill>
            <a:prstDash val="solid"/>
          </a:ln>
        </p:spPr>
      </p:sp>
      <p:sp>
        <p:nvSpPr>
          <p:cNvPr id="23" name="Text 16"/>
          <p:cNvSpPr txBox="1"/>
          <p:nvPr/>
        </p:nvSpPr>
        <p:spPr>
          <a:xfrm>
            <a:off x="914400" y="4572000"/>
            <a:ext cx="4663440" cy="777240"/>
          </a:xfrm>
          <a:prstGeom prst="rect">
            <a:avLst/>
          </a:prstGeom>
          <a:noFill/>
          <a:ln/>
        </p:spPr>
        <p:txBody>
          <a:bodyPr wrap="square" lIns="0" tIns="0" rIns="0" bIns="0" rtlCol="0" anchor="ctr"/>
          <a:lstStyle/>
          <a:p>
            <a:pPr indent="0" marL="0">
              <a:buNone/>
            </a:pPr>
            <a:r>
              <a:rPr lang="en-US" sz="1400" dirty="0">
                <a:solidFill>
                  <a:srgbClr val="C00000"/>
                </a:solidFill>
                <a:latin typeface="Courier New" pitchFamily="34" charset="0"/>
                <a:ea typeface="Courier New" pitchFamily="34" charset="-122"/>
                <a:cs typeface="Courier New" pitchFamily="34" charset="-120"/>
              </a:rPr>
              <a:t>RegisterUnaryLongLivingCallback()</a:t>
            </a:r>
            <a:endParaRPr lang="en-US" sz="1400" dirty="0"/>
          </a:p>
          <a:p>
            <a:pPr indent="0" marL="0">
              <a:buNone/>
            </a:pPr>
            <a:r>
              <a:rPr lang="en-US" sz="1400" b="1" dirty="0">
                <a:solidFill>
                  <a:srgbClr val="C00000"/>
                </a:solidFill>
              </a:rPr>
              <a:t>✗ invented, does not exist: crash</a:t>
            </a:r>
            <a:endParaRPr lang="en-US" sz="1400" dirty="0"/>
          </a:p>
        </p:txBody>
      </p:sp>
      <p:sp>
        <p:nvSpPr>
          <p:cNvPr id="24"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25" name="Text 18"/>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30 routing problems solved optimally</a:t>
            </a:r>
            <a:endParaRPr lang="en-US" sz="1800" dirty="0"/>
          </a:p>
        </p:txBody>
      </p:sp>
      <p:sp>
        <p:nvSpPr>
          <p:cNvPr id="26" name="Text 19"/>
          <p:cNvSpPr txBox="1"/>
          <p:nvPr/>
        </p:nvSpPr>
        <p:spPr>
          <a:xfrm>
            <a:off x="6400800" y="20574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task only</a:t>
            </a:r>
            <a:endParaRPr lang="en-US" sz="1600" dirty="0"/>
          </a:p>
        </p:txBody>
      </p:sp>
      <p:sp>
        <p:nvSpPr>
          <p:cNvPr id="27" name="bar task only"/>
          <p:cNvSpPr/>
          <p:nvPr/>
        </p:nvSpPr>
        <p:spPr>
          <a:xfrm>
            <a:off x="8138160" y="2160270"/>
            <a:ext cx="525780" cy="342900"/>
          </a:xfrm>
          <a:prstGeom prst="rect">
            <a:avLst/>
          </a:prstGeom>
          <a:solidFill>
            <a:srgbClr val="7F7F7F"/>
          </a:solidFill>
          <a:ln w="6350">
            <a:solidFill>
              <a:srgbClr val="7F7F7F"/>
            </a:solidFill>
            <a:prstDash val="solid"/>
          </a:ln>
        </p:spPr>
      </p:sp>
      <p:sp>
        <p:nvSpPr>
          <p:cNvPr id="28" name="Text 21"/>
          <p:cNvSpPr txBox="1"/>
          <p:nvPr/>
        </p:nvSpPr>
        <p:spPr>
          <a:xfrm>
            <a:off x="8755380" y="2057400"/>
            <a:ext cx="914400" cy="54864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9" name="Text 22"/>
          <p:cNvSpPr txBox="1"/>
          <p:nvPr/>
        </p:nvSpPr>
        <p:spPr>
          <a:xfrm>
            <a:off x="6400800" y="27432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think longer</a:t>
            </a:r>
            <a:endParaRPr lang="en-US" sz="1600" dirty="0"/>
          </a:p>
        </p:txBody>
      </p:sp>
      <p:sp>
        <p:nvSpPr>
          <p:cNvPr id="30" name="bar + think longer"/>
          <p:cNvSpPr/>
          <p:nvPr/>
        </p:nvSpPr>
        <p:spPr>
          <a:xfrm>
            <a:off x="8138160" y="2846070"/>
            <a:ext cx="68580" cy="342900"/>
          </a:xfrm>
          <a:prstGeom prst="rect">
            <a:avLst/>
          </a:prstGeom>
          <a:solidFill>
            <a:srgbClr val="C00000"/>
          </a:solidFill>
          <a:ln w="6350">
            <a:solidFill>
              <a:srgbClr val="C00000"/>
            </a:solidFill>
            <a:prstDash val="solid"/>
          </a:ln>
        </p:spPr>
      </p:sp>
      <p:sp>
        <p:nvSpPr>
          <p:cNvPr id="31" name="Text 24"/>
          <p:cNvSpPr txBox="1"/>
          <p:nvPr/>
        </p:nvSpPr>
        <p:spPr>
          <a:xfrm>
            <a:off x="8298180" y="27432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2" name="Text 25"/>
          <p:cNvSpPr txBox="1"/>
          <p:nvPr/>
        </p:nvSpPr>
        <p:spPr>
          <a:xfrm>
            <a:off x="6400800" y="34290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long sheet</a:t>
            </a:r>
            <a:endParaRPr lang="en-US" sz="1600" dirty="0"/>
          </a:p>
        </p:txBody>
      </p:sp>
      <p:sp>
        <p:nvSpPr>
          <p:cNvPr id="33" name="bar + long sheet"/>
          <p:cNvSpPr/>
          <p:nvPr/>
        </p:nvSpPr>
        <p:spPr>
          <a:xfrm>
            <a:off x="8138160" y="3531870"/>
            <a:ext cx="160020" cy="342900"/>
          </a:xfrm>
          <a:prstGeom prst="rect">
            <a:avLst/>
          </a:prstGeom>
          <a:solidFill>
            <a:srgbClr val="C00000"/>
          </a:solidFill>
          <a:ln w="6350">
            <a:solidFill>
              <a:srgbClr val="C00000"/>
            </a:solidFill>
            <a:prstDash val="solid"/>
          </a:ln>
        </p:spPr>
      </p:sp>
      <p:sp>
        <p:nvSpPr>
          <p:cNvPr id="34" name="Text 27"/>
          <p:cNvSpPr txBox="1"/>
          <p:nvPr/>
        </p:nvSpPr>
        <p:spPr>
          <a:xfrm>
            <a:off x="8389620" y="34290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5" name="Text 28"/>
          <p:cNvSpPr txBox="1"/>
          <p:nvPr/>
        </p:nvSpPr>
        <p:spPr>
          <a:xfrm>
            <a:off x="6400800" y="41148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short hint</a:t>
            </a:r>
            <a:endParaRPr lang="en-US" sz="1600" dirty="0"/>
          </a:p>
        </p:txBody>
      </p:sp>
      <p:sp>
        <p:nvSpPr>
          <p:cNvPr id="36" name="bar + short hint"/>
          <p:cNvSpPr/>
          <p:nvPr/>
        </p:nvSpPr>
        <p:spPr>
          <a:xfrm>
            <a:off x="8138160" y="4217670"/>
            <a:ext cx="1897380" cy="342900"/>
          </a:xfrm>
          <a:prstGeom prst="rect">
            <a:avLst/>
          </a:prstGeom>
          <a:solidFill>
            <a:srgbClr val="4472C4"/>
          </a:solidFill>
          <a:ln w="6350">
            <a:solidFill>
              <a:srgbClr val="4472C4"/>
            </a:solidFill>
            <a:prstDash val="solid"/>
          </a:ln>
        </p:spPr>
      </p:sp>
      <p:sp>
        <p:nvSpPr>
          <p:cNvPr id="37" name="Text 30"/>
          <p:cNvSpPr txBox="1"/>
          <p:nvPr/>
        </p:nvSpPr>
        <p:spPr>
          <a:xfrm>
            <a:off x="10126980" y="4114800"/>
            <a:ext cx="914400" cy="548640"/>
          </a:xfrm>
          <a:prstGeom prst="rect">
            <a:avLst/>
          </a:prstGeom>
          <a:noFill/>
          <a:ln/>
        </p:spPr>
        <p:txBody>
          <a:bodyPr wrap="square" lIns="0" tIns="0" rIns="0" bIns="0" rtlCol="0" anchor="ctr"/>
          <a:lstStyle/>
          <a:p>
            <a:pPr indent="0" marL="0">
              <a:buNone/>
            </a:pPr>
            <a:r>
              <a:rPr lang="en-US" sz="1800" b="1" dirty="0">
                <a:solidFill>
                  <a:srgbClr val="4472C4"/>
                </a:solidFill>
              </a:rPr>
              <a:t>83%</a:t>
            </a:r>
            <a:endParaRPr lang="en-US" sz="1800" dirty="0"/>
          </a:p>
        </p:txBody>
      </p:sp>
      <p:sp>
        <p:nvSpPr>
          <p:cNvPr id="38" name="Text 31"/>
          <p:cNvSpPr txBox="1"/>
          <p:nvPr/>
        </p:nvSpPr>
        <p:spPr>
          <a:xfrm>
            <a:off x="6400800" y="4937760"/>
            <a:ext cx="4983480" cy="411480"/>
          </a:xfrm>
          <a:prstGeom prst="rect">
            <a:avLst/>
          </a:prstGeom>
          <a:noFill/>
          <a:ln/>
        </p:spPr>
        <p:txBody>
          <a:bodyPr wrap="square" lIns="0" tIns="0" rIns="0" bIns="0" rtlCol="0" anchor="ctr"/>
          <a:lstStyle/>
          <a:p>
            <a:pPr indent="0" marL="0">
              <a:buNone/>
            </a:pPr>
            <a:r>
              <a:rPr lang="en-US" sz="1400" dirty="0">
                <a:solidFill>
                  <a:schemeClr val="tx2"/>
                </a:solidFill>
              </a:rPr>
              <a:t>How we pick the hint without a human: see our method</a:t>
            </a:r>
            <a:endParaRPr lang="en-US" sz="14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 give it the hint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a free check works"/>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640080"/>
          </a:xfrm>
          <a:prstGeom prst="rect">
            <a:avLst/>
          </a:prstGeom>
          <a:noFill/>
          <a:ln/>
        </p:spPr>
        <p:txBody>
          <a:bodyPr wrap="square" lIns="0" tIns="0" rIns="0" bIns="0" rtlCol="0" anchor="t"/>
          <a:lstStyle/>
          <a:p>
            <a:pPr indent="0" marL="0">
              <a:buNone/>
            </a:pPr>
            <a:r>
              <a:rPr lang="en-US" sz="1600" b="1" dirty="0">
                <a:solidFill>
                  <a:srgbClr val="4472C4"/>
                </a:solidFill>
              </a:rPr>
              <a:t>Free check</a:t>
            </a:r>
            <a:pPr indent="0" marL="0">
              <a:buNone/>
            </a:pPr>
            <a:r>
              <a:rPr lang="en-US" sz="1600" dirty="0">
                <a:solidFill>
                  <a:schemeClr val="tx1"/>
                </a:solidFill>
              </a:rPr>
              <a:t>: run the program and compare with something we already know. No answer key, almost no cost.</a:t>
            </a:r>
            <a:endParaRPr lang="en-US" sz="1600" dirty="0"/>
          </a:p>
        </p:txBody>
      </p:sp>
      <p:sp>
        <p:nvSpPr>
          <p:cNvPr id="13" name="box The problem shows an"/>
          <p:cNvSpPr/>
          <p:nvPr/>
        </p:nvSpPr>
        <p:spPr>
          <a:xfrm>
            <a:off x="777240" y="2148840"/>
            <a:ext cx="4892040" cy="530352"/>
          </a:xfrm>
          <a:prstGeom prst="roundRect">
            <a:avLst>
              <a:gd name="adj" fmla="val 10345"/>
            </a:avLst>
          </a:prstGeom>
          <a:solidFill>
            <a:srgbClr val="FFFFFF"/>
          </a:solidFill>
          <a:ln w="9525">
            <a:solidFill>
              <a:srgbClr val="BFBFBF"/>
            </a:solidFill>
            <a:prstDash val="solid"/>
          </a:ln>
        </p:spPr>
      </p:sp>
      <p:sp>
        <p:nvSpPr>
          <p:cNvPr id="14" name="Text 7"/>
          <p:cNvSpPr txBox="1"/>
          <p:nvPr/>
        </p:nvSpPr>
        <p:spPr>
          <a:xfrm>
            <a:off x="850392" y="2148840"/>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The problem shows an example: sticks 3 4 5 → answer 0</a:t>
            </a:r>
            <a:endParaRPr lang="en-US" sz="1500" dirty="0"/>
          </a:p>
        </p:txBody>
      </p:sp>
      <p:sp>
        <p:nvSpPr>
          <p:cNvPr id="15" name="Shape 8"/>
          <p:cNvSpPr/>
          <p:nvPr/>
        </p:nvSpPr>
        <p:spPr>
          <a:xfrm>
            <a:off x="3218688" y="2679192"/>
            <a:ext cx="0" cy="182880"/>
          </a:xfrm>
          <a:prstGeom prst="line">
            <a:avLst/>
          </a:prstGeom>
          <a:noFill/>
          <a:ln w="25400">
            <a:solidFill>
              <a:srgbClr val="7F7F7F"/>
            </a:solidFill>
            <a:prstDash val="solid"/>
            <a:tailEnd type="triangle"/>
          </a:ln>
        </p:spPr>
      </p:sp>
      <p:sp>
        <p:nvSpPr>
          <p:cNvPr id="16" name="box Run our program on 3"/>
          <p:cNvSpPr/>
          <p:nvPr/>
        </p:nvSpPr>
        <p:spPr>
          <a:xfrm>
            <a:off x="777240" y="2862072"/>
            <a:ext cx="4892040" cy="530352"/>
          </a:xfrm>
          <a:prstGeom prst="roundRect">
            <a:avLst>
              <a:gd name="adj" fmla="val 10345"/>
            </a:avLst>
          </a:prstGeom>
          <a:solidFill>
            <a:srgbClr val="FFFFFF"/>
          </a:solidFill>
          <a:ln w="9525">
            <a:solidFill>
              <a:srgbClr val="BFBFBF"/>
            </a:solidFill>
            <a:prstDash val="solid"/>
          </a:ln>
        </p:spPr>
      </p:sp>
      <p:sp>
        <p:nvSpPr>
          <p:cNvPr id="17" name="Text 10"/>
          <p:cNvSpPr txBox="1"/>
          <p:nvPr/>
        </p:nvSpPr>
        <p:spPr>
          <a:xfrm>
            <a:off x="850392" y="2862072"/>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Run our program on 3 4 5 (no model needed): it prints 0</a:t>
            </a:r>
            <a:endParaRPr lang="en-US" sz="1500" dirty="0"/>
          </a:p>
        </p:txBody>
      </p:sp>
      <p:sp>
        <p:nvSpPr>
          <p:cNvPr id="18" name="Shape 11"/>
          <p:cNvSpPr/>
          <p:nvPr/>
        </p:nvSpPr>
        <p:spPr>
          <a:xfrm>
            <a:off x="1920240" y="3392424"/>
            <a:ext cx="182880" cy="201168"/>
          </a:xfrm>
          <a:prstGeom prst="line">
            <a:avLst/>
          </a:prstGeom>
          <a:noFill/>
          <a:ln w="25400">
            <a:solidFill>
              <a:srgbClr val="7F7F7F"/>
            </a:solidFill>
            <a:prstDash val="solid"/>
            <a:tailEnd type="triangle"/>
          </a:ln>
        </p:spPr>
      </p:sp>
      <p:sp>
        <p:nvSpPr>
          <p:cNvPr id="19" name="Shape 12"/>
          <p:cNvSpPr/>
          <p:nvPr/>
        </p:nvSpPr>
        <p:spPr>
          <a:xfrm>
            <a:off x="4343400" y="3392424"/>
            <a:ext cx="182880" cy="201168"/>
          </a:xfrm>
          <a:prstGeom prst="line">
            <a:avLst/>
          </a:prstGeom>
          <a:noFill/>
          <a:ln w="25400">
            <a:solidFill>
              <a:srgbClr val="7F7F7F"/>
            </a:solidFill>
            <a:prstDash val="solid"/>
            <a:tailEnd type="triangle"/>
          </a:ln>
        </p:spPr>
      </p:sp>
      <p:sp>
        <p:nvSpPr>
          <p:cNvPr id="20" name="box ✓ same → submit (no "/>
          <p:cNvSpPr/>
          <p:nvPr/>
        </p:nvSpPr>
        <p:spPr>
          <a:xfrm>
            <a:off x="777240" y="3593592"/>
            <a:ext cx="2377440" cy="603504"/>
          </a:xfrm>
          <a:prstGeom prst="roundRect">
            <a:avLst>
              <a:gd name="adj" fmla="val 9091"/>
            </a:avLst>
          </a:prstGeom>
          <a:solidFill>
            <a:srgbClr val="E2F0D9"/>
          </a:solidFill>
          <a:ln w="9525">
            <a:solidFill>
              <a:srgbClr val="BFBFBF"/>
            </a:solidFill>
            <a:prstDash val="solid"/>
          </a:ln>
        </p:spPr>
      </p:sp>
      <p:sp>
        <p:nvSpPr>
          <p:cNvPr id="21" name="Text 14"/>
          <p:cNvSpPr txBox="1"/>
          <p:nvPr/>
        </p:nvSpPr>
        <p:spPr>
          <a:xfrm>
            <a:off x="850392" y="3593592"/>
            <a:ext cx="2231136" cy="603504"/>
          </a:xfrm>
          <a:prstGeom prst="rect">
            <a:avLst/>
          </a:prstGeom>
          <a:noFill/>
          <a:ln/>
        </p:spPr>
        <p:txBody>
          <a:bodyPr wrap="square" lIns="0" tIns="0" rIns="0" bIns="0" rtlCol="0" anchor="ctr"/>
          <a:lstStyle/>
          <a:p>
            <a:pPr algn="ctr" indent="0" marL="0">
              <a:buNone/>
            </a:pPr>
            <a:r>
              <a:rPr lang="en-US" sz="1500" b="1" dirty="0">
                <a:solidFill>
                  <a:srgbClr val="38761D"/>
                </a:solidFill>
              </a:rPr>
              <a:t>✓ same → submit (no extra tokens)</a:t>
            </a:r>
            <a:endParaRPr lang="en-US" sz="1500" dirty="0"/>
          </a:p>
        </p:txBody>
      </p:sp>
      <p:sp>
        <p:nvSpPr>
          <p:cNvPr id="22" name="box ✗ different → think "/>
          <p:cNvSpPr/>
          <p:nvPr/>
        </p:nvSpPr>
        <p:spPr>
          <a:xfrm>
            <a:off x="3291840" y="3593592"/>
            <a:ext cx="2377440" cy="603504"/>
          </a:xfrm>
          <a:prstGeom prst="roundRect">
            <a:avLst>
              <a:gd name="adj" fmla="val 9091"/>
            </a:avLst>
          </a:prstGeom>
          <a:solidFill>
            <a:srgbClr val="FADBD8"/>
          </a:solidFill>
          <a:ln w="9525">
            <a:solidFill>
              <a:srgbClr val="BFBFBF"/>
            </a:solidFill>
            <a:prstDash val="solid"/>
          </a:ln>
        </p:spPr>
      </p:sp>
      <p:sp>
        <p:nvSpPr>
          <p:cNvPr id="23" name="Text 16"/>
          <p:cNvSpPr txBox="1"/>
          <p:nvPr/>
        </p:nvSpPr>
        <p:spPr>
          <a:xfrm>
            <a:off x="3364992" y="3593592"/>
            <a:ext cx="2231136" cy="603504"/>
          </a:xfrm>
          <a:prstGeom prst="rect">
            <a:avLst/>
          </a:prstGeom>
          <a:noFill/>
          <a:ln/>
        </p:spPr>
        <p:txBody>
          <a:bodyPr wrap="square" lIns="0" tIns="0" rIns="0" bIns="0" rtlCol="0" anchor="ctr"/>
          <a:lstStyle/>
          <a:p>
            <a:pPr algn="ctr" indent="0" marL="0">
              <a:buNone/>
            </a:pPr>
            <a:r>
              <a:rPr lang="en-US" sz="1500" b="1" dirty="0">
                <a:solidFill>
                  <a:srgbClr val="C00000"/>
                </a:solidFill>
              </a:rPr>
              <a:t>✗ different → think harder, write again</a:t>
            </a:r>
            <a:endParaRPr lang="en-US" sz="1500" dirty="0"/>
          </a:p>
        </p:txBody>
      </p:sp>
      <p:sp>
        <p:nvSpPr>
          <p:cNvPr id="24" name="Text 17"/>
          <p:cNvSpPr txBox="1"/>
          <p:nvPr/>
        </p:nvSpPr>
        <p:spPr>
          <a:xfrm>
            <a:off x="777240" y="4315968"/>
            <a:ext cx="4892040" cy="347472"/>
          </a:xfrm>
          <a:prstGeom prst="rect">
            <a:avLst/>
          </a:prstGeom>
          <a:noFill/>
          <a:ln/>
        </p:spPr>
        <p:txBody>
          <a:bodyPr wrap="square" lIns="0" tIns="0" rIns="0" bIns="0" rtlCol="0" anchor="ctr"/>
          <a:lstStyle/>
          <a:p>
            <a:pPr indent="0" marL="0">
              <a:buNone/>
            </a:pPr>
            <a:r>
              <a:rPr lang="en-US" sz="1500" b="1" dirty="0">
                <a:solidFill>
                  <a:schemeClr val="tx1"/>
                </a:solidFill>
              </a:rPr>
              <a:t>No example? Write the program twice, compare:</a:t>
            </a:r>
            <a:endParaRPr lang="en-US" sz="1500" dirty="0"/>
          </a:p>
        </p:txBody>
      </p:sp>
      <p:sp>
        <p:nvSpPr>
          <p:cNvPr id="25" name="box version A prints 6"/>
          <p:cNvSpPr/>
          <p:nvPr/>
        </p:nvSpPr>
        <p:spPr>
          <a:xfrm>
            <a:off x="777240" y="4736592"/>
            <a:ext cx="1463040" cy="530352"/>
          </a:xfrm>
          <a:prstGeom prst="roundRect">
            <a:avLst>
              <a:gd name="adj" fmla="val 10345"/>
            </a:avLst>
          </a:prstGeom>
          <a:solidFill>
            <a:srgbClr val="FFFFFF"/>
          </a:solidFill>
          <a:ln w="9525">
            <a:solidFill>
              <a:srgbClr val="BFBFBF"/>
            </a:solidFill>
            <a:prstDash val="solid"/>
          </a:ln>
        </p:spPr>
      </p:sp>
      <p:sp>
        <p:nvSpPr>
          <p:cNvPr id="26" name="Text 19"/>
          <p:cNvSpPr txBox="1"/>
          <p:nvPr/>
        </p:nvSpPr>
        <p:spPr>
          <a:xfrm>
            <a:off x="85039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A prints 6</a:t>
            </a:r>
            <a:endParaRPr lang="en-US" sz="1400" dirty="0"/>
          </a:p>
        </p:txBody>
      </p:sp>
      <p:sp>
        <p:nvSpPr>
          <p:cNvPr id="27" name="box version B prints 0"/>
          <p:cNvSpPr/>
          <p:nvPr/>
        </p:nvSpPr>
        <p:spPr>
          <a:xfrm>
            <a:off x="2331720" y="4736592"/>
            <a:ext cx="1463040" cy="530352"/>
          </a:xfrm>
          <a:prstGeom prst="roundRect">
            <a:avLst>
              <a:gd name="adj" fmla="val 10345"/>
            </a:avLst>
          </a:prstGeom>
          <a:solidFill>
            <a:srgbClr val="FFFFFF"/>
          </a:solidFill>
          <a:ln w="9525">
            <a:solidFill>
              <a:srgbClr val="BFBFBF"/>
            </a:solidFill>
            <a:prstDash val="solid"/>
          </a:ln>
        </p:spPr>
      </p:sp>
      <p:sp>
        <p:nvSpPr>
          <p:cNvPr id="28" name="Text 21"/>
          <p:cNvSpPr txBox="1"/>
          <p:nvPr/>
        </p:nvSpPr>
        <p:spPr>
          <a:xfrm>
            <a:off x="240487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B prints 0</a:t>
            </a:r>
            <a:endParaRPr lang="en-US" sz="1400" dirty="0"/>
          </a:p>
        </p:txBody>
      </p:sp>
      <p:sp>
        <p:nvSpPr>
          <p:cNvPr id="29" name="Shape 22"/>
          <p:cNvSpPr/>
          <p:nvPr/>
        </p:nvSpPr>
        <p:spPr>
          <a:xfrm>
            <a:off x="3794760" y="5001768"/>
            <a:ext cx="228600" cy="0"/>
          </a:xfrm>
          <a:prstGeom prst="line">
            <a:avLst/>
          </a:prstGeom>
          <a:noFill/>
          <a:ln w="25400">
            <a:solidFill>
              <a:srgbClr val="7F7F7F"/>
            </a:solidFill>
            <a:prstDash val="solid"/>
            <a:tailEnd type="triangle"/>
          </a:ln>
        </p:spPr>
      </p:sp>
      <p:sp>
        <p:nvSpPr>
          <p:cNvPr id="30" name="box ✗ different → think"/>
          <p:cNvSpPr/>
          <p:nvPr/>
        </p:nvSpPr>
        <p:spPr>
          <a:xfrm>
            <a:off x="4023360" y="4736592"/>
            <a:ext cx="1645920" cy="530352"/>
          </a:xfrm>
          <a:prstGeom prst="roundRect">
            <a:avLst>
              <a:gd name="adj" fmla="val 10345"/>
            </a:avLst>
          </a:prstGeom>
          <a:solidFill>
            <a:srgbClr val="FADBD8"/>
          </a:solidFill>
          <a:ln w="9525">
            <a:solidFill>
              <a:srgbClr val="BFBFBF"/>
            </a:solidFill>
            <a:prstDash val="solid"/>
          </a:ln>
        </p:spPr>
      </p:sp>
      <p:sp>
        <p:nvSpPr>
          <p:cNvPr id="31" name="Text 24"/>
          <p:cNvSpPr txBox="1"/>
          <p:nvPr/>
        </p:nvSpPr>
        <p:spPr>
          <a:xfrm>
            <a:off x="4096512" y="4736592"/>
            <a:ext cx="1499616" cy="530352"/>
          </a:xfrm>
          <a:prstGeom prst="rect">
            <a:avLst/>
          </a:prstGeom>
          <a:noFill/>
          <a:ln/>
        </p:spPr>
        <p:txBody>
          <a:bodyPr wrap="square" lIns="0" tIns="0" rIns="0" bIns="0" rtlCol="0" anchor="ctr"/>
          <a:lstStyle/>
          <a:p>
            <a:pPr algn="ctr" indent="0" marL="0">
              <a:buNone/>
            </a:pPr>
            <a:r>
              <a:rPr lang="en-US" sz="1400" b="1" dirty="0">
                <a:solidFill>
                  <a:srgbClr val="C00000"/>
                </a:solidFill>
              </a:rPr>
              <a:t>✗ different → think</a:t>
            </a:r>
            <a:endParaRPr lang="en-US" sz="1400" dirty="0"/>
          </a:p>
        </p:txBody>
      </p:sp>
      <p:sp>
        <p:nvSpPr>
          <p:cNvPr id="32"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the same accuracy, fewer tokens</a:t>
            </a:r>
            <a:endParaRPr lang="en-US" sz="1800" dirty="0"/>
          </a:p>
        </p:txBody>
      </p:sp>
      <p:sp>
        <p:nvSpPr>
          <p:cNvPr id="34" name="Text 27"/>
          <p:cNvSpPr txBox="1"/>
          <p:nvPr/>
        </p:nvSpPr>
        <p:spPr>
          <a:xfrm>
            <a:off x="6400800" y="184708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35" name="Text 28"/>
          <p:cNvSpPr txBox="1"/>
          <p:nvPr/>
        </p:nvSpPr>
        <p:spPr>
          <a:xfrm>
            <a:off x="864108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6" name="Text 29"/>
          <p:cNvSpPr txBox="1"/>
          <p:nvPr/>
        </p:nvSpPr>
        <p:spPr>
          <a:xfrm>
            <a:off x="9555480" y="2103120"/>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7" name="Text 30"/>
          <p:cNvSpPr txBox="1"/>
          <p:nvPr/>
        </p:nvSpPr>
        <p:spPr>
          <a:xfrm>
            <a:off x="6400800" y="2468880"/>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38" name="Text 31"/>
          <p:cNvSpPr txBox="1"/>
          <p:nvPr/>
        </p:nvSpPr>
        <p:spPr>
          <a:xfrm>
            <a:off x="864108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39" name="tokens always think hard"/>
          <p:cNvSpPr/>
          <p:nvPr/>
        </p:nvSpPr>
        <p:spPr>
          <a:xfrm>
            <a:off x="9555480" y="2569464"/>
            <a:ext cx="1097280" cy="256032"/>
          </a:xfrm>
          <a:prstGeom prst="rect">
            <a:avLst/>
          </a:prstGeom>
          <a:solidFill>
            <a:srgbClr val="7F7F7F"/>
          </a:solidFill>
          <a:ln w="6350">
            <a:solidFill>
              <a:srgbClr val="7F7F7F"/>
            </a:solidFill>
            <a:prstDash val="solid"/>
          </a:ln>
        </p:spPr>
      </p:sp>
      <p:sp>
        <p:nvSpPr>
          <p:cNvPr id="40" name="Text 33"/>
          <p:cNvSpPr txBox="1"/>
          <p:nvPr/>
        </p:nvSpPr>
        <p:spPr>
          <a:xfrm>
            <a:off x="10744200"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41" name="Text 34"/>
          <p:cNvSpPr txBox="1"/>
          <p:nvPr/>
        </p:nvSpPr>
        <p:spPr>
          <a:xfrm>
            <a:off x="6400800" y="290779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42" name="Text 35"/>
          <p:cNvSpPr txBox="1"/>
          <p:nvPr/>
        </p:nvSpPr>
        <p:spPr>
          <a:xfrm>
            <a:off x="8641080" y="29077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43" name="tokens think only on failure"/>
          <p:cNvSpPr/>
          <p:nvPr/>
        </p:nvSpPr>
        <p:spPr>
          <a:xfrm>
            <a:off x="9555480" y="3008376"/>
            <a:ext cx="900426" cy="256032"/>
          </a:xfrm>
          <a:prstGeom prst="rect">
            <a:avLst/>
          </a:prstGeom>
          <a:solidFill>
            <a:srgbClr val="4472C4"/>
          </a:solidFill>
          <a:ln w="6350">
            <a:solidFill>
              <a:srgbClr val="4472C4"/>
            </a:solidFill>
            <a:prstDash val="solid"/>
          </a:ln>
        </p:spPr>
      </p:sp>
      <p:sp>
        <p:nvSpPr>
          <p:cNvPr id="44" name="Text 37"/>
          <p:cNvSpPr txBox="1"/>
          <p:nvPr/>
        </p:nvSpPr>
        <p:spPr>
          <a:xfrm>
            <a:off x="10547346" y="29077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5" name="Text 38"/>
          <p:cNvSpPr txBox="1"/>
          <p:nvPr/>
        </p:nvSpPr>
        <p:spPr>
          <a:xfrm>
            <a:off x="6400800" y="3364992"/>
            <a:ext cx="4983480" cy="457200"/>
          </a:xfrm>
          <a:prstGeom prst="rect">
            <a:avLst/>
          </a:prstGeom>
          <a:noFill/>
          <a:ln/>
        </p:spPr>
        <p:txBody>
          <a:bodyPr wrap="square" lIns="0" tIns="0" rIns="0" bIns="0" rtlCol="0" anchor="t"/>
          <a:lstStyle/>
          <a:p>
            <a:pPr indent="0" marL="0">
              <a:buNone/>
            </a:pPr>
            <a:r>
              <a:rPr lang="en-US" sz="1400" dirty="0">
                <a:solidFill>
                  <a:schemeClr val="tx2"/>
                </a:solidFill>
              </a:rPr>
              <a:t>checks used: the examples, and a slow brute-force version of the program</a:t>
            </a:r>
            <a:endParaRPr lang="en-US" sz="1400" dirty="0"/>
          </a:p>
        </p:txBody>
      </p:sp>
      <p:sp>
        <p:nvSpPr>
          <p:cNvPr id="46" name="Text 39"/>
          <p:cNvSpPr txBox="1"/>
          <p:nvPr/>
        </p:nvSpPr>
        <p:spPr>
          <a:xfrm>
            <a:off x="6400800" y="393192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a:t>
            </a:r>
            <a:endParaRPr lang="en-US" sz="1500" dirty="0"/>
          </a:p>
        </p:txBody>
      </p:sp>
      <p:sp>
        <p:nvSpPr>
          <p:cNvPr id="47" name="Text 40"/>
          <p:cNvSpPr txBox="1"/>
          <p:nvPr/>
        </p:nvSpPr>
        <p:spPr>
          <a:xfrm>
            <a:off x="8641080" y="418795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8" name="Text 41"/>
          <p:cNvSpPr txBox="1"/>
          <p:nvPr/>
        </p:nvSpPr>
        <p:spPr>
          <a:xfrm>
            <a:off x="9555480" y="4187952"/>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9" name="Text 42"/>
          <p:cNvSpPr txBox="1"/>
          <p:nvPr/>
        </p:nvSpPr>
        <p:spPr>
          <a:xfrm>
            <a:off x="6400800" y="455371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50" name="Text 43"/>
          <p:cNvSpPr txBox="1"/>
          <p:nvPr/>
        </p:nvSpPr>
        <p:spPr>
          <a:xfrm>
            <a:off x="8641080" y="455371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51" name="tokens always think"/>
          <p:cNvSpPr/>
          <p:nvPr/>
        </p:nvSpPr>
        <p:spPr>
          <a:xfrm>
            <a:off x="9555480" y="4654296"/>
            <a:ext cx="1097280" cy="256032"/>
          </a:xfrm>
          <a:prstGeom prst="rect">
            <a:avLst/>
          </a:prstGeom>
          <a:solidFill>
            <a:srgbClr val="7F7F7F"/>
          </a:solidFill>
          <a:ln w="6350">
            <a:solidFill>
              <a:srgbClr val="7F7F7F"/>
            </a:solidFill>
            <a:prstDash val="solid"/>
          </a:ln>
        </p:spPr>
      </p:sp>
      <p:sp>
        <p:nvSpPr>
          <p:cNvPr id="52" name="Text 45"/>
          <p:cNvSpPr txBox="1"/>
          <p:nvPr/>
        </p:nvSpPr>
        <p:spPr>
          <a:xfrm>
            <a:off x="10744200" y="455371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53" name="Text 46"/>
          <p:cNvSpPr txBox="1"/>
          <p:nvPr/>
        </p:nvSpPr>
        <p:spPr>
          <a:xfrm>
            <a:off x="6400800" y="4992624"/>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54" name="Text 47"/>
          <p:cNvSpPr txBox="1"/>
          <p:nvPr/>
        </p:nvSpPr>
        <p:spPr>
          <a:xfrm>
            <a:off x="8641080" y="499262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55" name="tokens think only on failure"/>
          <p:cNvSpPr/>
          <p:nvPr/>
        </p:nvSpPr>
        <p:spPr>
          <a:xfrm>
            <a:off x="9555480" y="5093208"/>
            <a:ext cx="799713" cy="256032"/>
          </a:xfrm>
          <a:prstGeom prst="rect">
            <a:avLst/>
          </a:prstGeom>
          <a:solidFill>
            <a:srgbClr val="4472C4"/>
          </a:solidFill>
          <a:ln w="6350">
            <a:solidFill>
              <a:srgbClr val="4472C4"/>
            </a:solidFill>
            <a:prstDash val="solid"/>
          </a:ln>
        </p:spPr>
      </p:sp>
      <p:sp>
        <p:nvSpPr>
          <p:cNvPr id="56" name="Text 49"/>
          <p:cNvSpPr txBox="1"/>
          <p:nvPr/>
        </p:nvSpPr>
        <p:spPr>
          <a:xfrm>
            <a:off x="10446633" y="499262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57"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8229600" y="987552"/>
            <a:ext cx="3383280" cy="274320"/>
          </a:xfrm>
          <a:prstGeom prst="rect">
            <a:avLst/>
          </a:prstGeom>
          <a:noFill/>
          <a:ln/>
        </p:spPr>
        <p:txBody>
          <a:bodyPr wrap="square" lIns="0" tIns="0" rIns="0" bIns="0" rtlCol="0" anchor="ctr"/>
          <a:lstStyle/>
          <a:p>
            <a:pPr algn="r" indent="0" marL="0">
              <a:buNone/>
            </a:pPr>
            <a:r>
              <a:rPr lang="en-US" sz="1400" dirty="0">
                <a:solidFill>
                  <a:srgbClr val="7F7F7F"/>
                </a:solidFill>
              </a:rPr>
              <a:t>icons: where each step is used</a:t>
            </a:r>
            <a:endParaRPr lang="en-US" sz="1400" dirty="0"/>
          </a:p>
        </p:txBody>
      </p:sp>
      <p:sp>
        <p:nvSpPr>
          <p:cNvPr id="10" name="box ① program + hint"/>
          <p:cNvSpPr/>
          <p:nvPr/>
        </p:nvSpPr>
        <p:spPr>
          <a:xfrm>
            <a:off x="548640" y="1325880"/>
            <a:ext cx="2606040" cy="502920"/>
          </a:xfrm>
          <a:prstGeom prst="roundRect">
            <a:avLst>
              <a:gd name="adj" fmla="val 10909"/>
            </a:avLst>
          </a:prstGeom>
          <a:solidFill>
            <a:srgbClr val="F2F2F2"/>
          </a:solidFill>
          <a:ln w="9525">
            <a:solidFill>
              <a:srgbClr val="BFBFBF"/>
            </a:solidFill>
            <a:prstDash val="solid"/>
          </a:ln>
        </p:spPr>
      </p:sp>
      <p:sp>
        <p:nvSpPr>
          <p:cNvPr id="11" name="Text 7"/>
          <p:cNvSpPr txBox="1"/>
          <p:nvPr/>
        </p:nvSpPr>
        <p:spPr>
          <a:xfrm>
            <a:off x="621792"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① program + hint</a:t>
            </a:r>
            <a:endParaRPr lang="en-US" sz="1500" dirty="0"/>
          </a:p>
        </p:txBody>
      </p:sp>
      <p:sp>
        <p:nvSpPr>
          <p:cNvPr id="12" name="Shape 8"/>
          <p:cNvSpPr/>
          <p:nvPr/>
        </p:nvSpPr>
        <p:spPr>
          <a:xfrm>
            <a:off x="3154680" y="1572768"/>
            <a:ext cx="201168" cy="0"/>
          </a:xfrm>
          <a:prstGeom prst="line">
            <a:avLst/>
          </a:prstGeom>
          <a:noFill/>
          <a:ln w="25400">
            <a:solidFill>
              <a:srgbClr val="7F7F7F"/>
            </a:solidFill>
            <a:prstDash val="solid"/>
            <a:tailEnd type="triangle"/>
          </a:ln>
        </p:spPr>
      </p:sp>
      <p:pic>
        <p:nvPicPr>
          <p:cNvPr id="13" name="step 1 used on shapes" descr="/NAS/SJ/POSTECH/nlp/figs/icons/shapes.png">    </p:cNvPr>
          <p:cNvPicPr>
            <a:picLocks noChangeAspect="1"/>
          </p:cNvPicPr>
          <p:nvPr/>
        </p:nvPicPr>
        <p:blipFill>
          <a:blip r:embed="rId3"/>
          <a:stretch>
            <a:fillRect/>
          </a:stretch>
        </p:blipFill>
        <p:spPr>
          <a:xfrm>
            <a:off x="1335024" y="1892808"/>
            <a:ext cx="219456" cy="219456"/>
          </a:xfrm>
          <a:prstGeom prst="rect">
            <a:avLst/>
          </a:prstGeom>
        </p:spPr>
      </p:pic>
      <p:pic>
        <p:nvPicPr>
          <p:cNvPr id="14" name="step 1 not needed on trophy" descr="/NAS/SJ/POSTECH/nlp/figs/icons/trophy.png">    </p:cNvPr>
          <p:cNvPicPr>
            <a:picLocks noChangeAspect="1"/>
          </p:cNvPicPr>
          <p:nvPr/>
        </p:nvPicPr>
        <p:blipFill>
          <a:blip r:embed="rId4">
            <a:alphaModFix amt="18000"/>
          </a:blip>
          <a:stretch>
            <a:fillRect/>
          </a:stretch>
        </p:blipFill>
        <p:spPr>
          <a:xfrm>
            <a:off x="1609344" y="1892808"/>
            <a:ext cx="219456" cy="219456"/>
          </a:xfrm>
          <a:prstGeom prst="rect">
            <a:avLst/>
          </a:prstGeom>
        </p:spPr>
      </p:pic>
      <p:pic>
        <p:nvPicPr>
          <p:cNvPr id="15" name="step 1 used on truck" descr="/NAS/SJ/POSTECH/nlp/figs/icons/truck.png">    </p:cNvPr>
          <p:cNvPicPr>
            <a:picLocks noChangeAspect="1"/>
          </p:cNvPicPr>
          <p:nvPr/>
        </p:nvPicPr>
        <p:blipFill>
          <a:blip r:embed="rId5"/>
          <a:stretch>
            <a:fillRect/>
          </a:stretch>
        </p:blipFill>
        <p:spPr>
          <a:xfrm>
            <a:off x="1883664" y="1892808"/>
            <a:ext cx="219456" cy="219456"/>
          </a:xfrm>
          <a:prstGeom prst="rect">
            <a:avLst/>
          </a:prstGeom>
        </p:spPr>
      </p:pic>
      <p:pic>
        <p:nvPicPr>
          <p:cNvPr id="16" name="step 1 used on calc" descr="/NAS/SJ/POSTECH/nlp/figs/icons/calc.png">    </p:cNvPr>
          <p:cNvPicPr>
            <a:picLocks noChangeAspect="1"/>
          </p:cNvPicPr>
          <p:nvPr/>
        </p:nvPicPr>
        <p:blipFill>
          <a:blip r:embed="rId6"/>
          <a:stretch>
            <a:fillRect/>
          </a:stretch>
        </p:blipFill>
        <p:spPr>
          <a:xfrm>
            <a:off x="2157984" y="1892808"/>
            <a:ext cx="219456" cy="219456"/>
          </a:xfrm>
          <a:prstGeom prst="rect">
            <a:avLst/>
          </a:prstGeom>
        </p:spPr>
      </p:pic>
      <p:sp>
        <p:nvSpPr>
          <p:cNvPr id="17" name="box ② free check"/>
          <p:cNvSpPr/>
          <p:nvPr/>
        </p:nvSpPr>
        <p:spPr>
          <a:xfrm>
            <a:off x="3355848" y="1325880"/>
            <a:ext cx="2606040" cy="502920"/>
          </a:xfrm>
          <a:prstGeom prst="roundRect">
            <a:avLst>
              <a:gd name="adj" fmla="val 10909"/>
            </a:avLst>
          </a:prstGeom>
          <a:solidFill>
            <a:srgbClr val="DEEBF7"/>
          </a:solidFill>
          <a:ln w="9525">
            <a:solidFill>
              <a:srgbClr val="BFBFBF"/>
            </a:solidFill>
            <a:prstDash val="solid"/>
          </a:ln>
        </p:spPr>
      </p:sp>
      <p:sp>
        <p:nvSpPr>
          <p:cNvPr id="18" name="Text 10"/>
          <p:cNvSpPr txBox="1"/>
          <p:nvPr/>
        </p:nvSpPr>
        <p:spPr>
          <a:xfrm>
            <a:off x="3429000" y="1325880"/>
            <a:ext cx="2459736" cy="502920"/>
          </a:xfrm>
          <a:prstGeom prst="rect">
            <a:avLst/>
          </a:prstGeom>
          <a:noFill/>
          <a:ln/>
        </p:spPr>
        <p:txBody>
          <a:bodyPr wrap="square" lIns="0" tIns="0" rIns="0" bIns="0" rtlCol="0" anchor="ctr"/>
          <a:lstStyle/>
          <a:p>
            <a:pPr algn="ctr" indent="0" marL="0">
              <a:buNone/>
            </a:pPr>
            <a:r>
              <a:rPr lang="en-US" sz="1500" b="1" dirty="0">
                <a:solidFill>
                  <a:srgbClr val="1F3864"/>
                </a:solidFill>
              </a:rPr>
              <a:t>② free check</a:t>
            </a:r>
            <a:endParaRPr lang="en-US" sz="1500" dirty="0"/>
          </a:p>
        </p:txBody>
      </p:sp>
      <p:sp>
        <p:nvSpPr>
          <p:cNvPr id="19" name="Shape 11"/>
          <p:cNvSpPr/>
          <p:nvPr/>
        </p:nvSpPr>
        <p:spPr>
          <a:xfrm>
            <a:off x="5961888" y="1572768"/>
            <a:ext cx="201168" cy="0"/>
          </a:xfrm>
          <a:prstGeom prst="line">
            <a:avLst/>
          </a:prstGeom>
          <a:noFill/>
          <a:ln w="25400">
            <a:solidFill>
              <a:srgbClr val="7F7F7F"/>
            </a:solidFill>
            <a:prstDash val="solid"/>
            <a:tailEnd type="triangle"/>
          </a:ln>
        </p:spPr>
      </p:sp>
      <p:pic>
        <p:nvPicPr>
          <p:cNvPr id="20" name="step 2 used on shapes" descr="/NAS/SJ/POSTECH/nlp/figs/icons/shapes.png">    </p:cNvPr>
          <p:cNvPicPr>
            <a:picLocks noChangeAspect="1"/>
          </p:cNvPicPr>
          <p:nvPr/>
        </p:nvPicPr>
        <p:blipFill>
          <a:blip r:embed="rId7"/>
          <a:stretch>
            <a:fillRect/>
          </a:stretch>
        </p:blipFill>
        <p:spPr>
          <a:xfrm>
            <a:off x="4142232" y="1892808"/>
            <a:ext cx="219456" cy="219456"/>
          </a:xfrm>
          <a:prstGeom prst="rect">
            <a:avLst/>
          </a:prstGeom>
        </p:spPr>
      </p:pic>
      <p:pic>
        <p:nvPicPr>
          <p:cNvPr id="21" name="step 2 used on trophy" descr="/NAS/SJ/POSTECH/nlp/figs/icons/trophy.png">    </p:cNvPr>
          <p:cNvPicPr>
            <a:picLocks noChangeAspect="1"/>
          </p:cNvPicPr>
          <p:nvPr/>
        </p:nvPicPr>
        <p:blipFill>
          <a:blip r:embed="rId8"/>
          <a:stretch>
            <a:fillRect/>
          </a:stretch>
        </p:blipFill>
        <p:spPr>
          <a:xfrm>
            <a:off x="4416552" y="1892808"/>
            <a:ext cx="219456" cy="219456"/>
          </a:xfrm>
          <a:prstGeom prst="rect">
            <a:avLst/>
          </a:prstGeom>
        </p:spPr>
      </p:pic>
      <p:pic>
        <p:nvPicPr>
          <p:cNvPr id="22" name="step 2 used on truck" descr="/NAS/SJ/POSTECH/nlp/figs/icons/truck.png">    </p:cNvPr>
          <p:cNvPicPr>
            <a:picLocks noChangeAspect="1"/>
          </p:cNvPicPr>
          <p:nvPr/>
        </p:nvPicPr>
        <p:blipFill>
          <a:blip r:embed="rId9"/>
          <a:stretch>
            <a:fillRect/>
          </a:stretch>
        </p:blipFill>
        <p:spPr>
          <a:xfrm>
            <a:off x="4690872" y="1892808"/>
            <a:ext cx="219456" cy="219456"/>
          </a:xfrm>
          <a:prstGeom prst="rect">
            <a:avLst/>
          </a:prstGeom>
        </p:spPr>
      </p:pic>
      <p:pic>
        <p:nvPicPr>
          <p:cNvPr id="23" name="step 2 used on calc" descr="/NAS/SJ/POSTECH/nlp/figs/icons/calc.png">    </p:cNvPr>
          <p:cNvPicPr>
            <a:picLocks noChangeAspect="1"/>
          </p:cNvPicPr>
          <p:nvPr/>
        </p:nvPicPr>
        <p:blipFill>
          <a:blip r:embed="rId10"/>
          <a:stretch>
            <a:fillRect/>
          </a:stretch>
        </p:blipFill>
        <p:spPr>
          <a:xfrm>
            <a:off x="4965192" y="1892808"/>
            <a:ext cx="219456" cy="219456"/>
          </a:xfrm>
          <a:prstGeom prst="rect">
            <a:avLst/>
          </a:prstGeom>
        </p:spPr>
      </p:pic>
      <p:sp>
        <p:nvSpPr>
          <p:cNvPr id="24" name="box ③ pass: submit · fai"/>
          <p:cNvSpPr/>
          <p:nvPr/>
        </p:nvSpPr>
        <p:spPr>
          <a:xfrm>
            <a:off x="6163056" y="1325880"/>
            <a:ext cx="2606040" cy="502920"/>
          </a:xfrm>
          <a:prstGeom prst="roundRect">
            <a:avLst>
              <a:gd name="adj" fmla="val 10909"/>
            </a:avLst>
          </a:prstGeom>
          <a:solidFill>
            <a:srgbClr val="E2F0D9"/>
          </a:solidFill>
          <a:ln w="9525">
            <a:solidFill>
              <a:srgbClr val="BFBFBF"/>
            </a:solidFill>
            <a:prstDash val="solid"/>
          </a:ln>
        </p:spPr>
      </p:sp>
      <p:sp>
        <p:nvSpPr>
          <p:cNvPr id="25" name="Text 13"/>
          <p:cNvSpPr txBox="1"/>
          <p:nvPr/>
        </p:nvSpPr>
        <p:spPr>
          <a:xfrm>
            <a:off x="6236208" y="1325880"/>
            <a:ext cx="2459736" cy="502920"/>
          </a:xfrm>
          <a:prstGeom prst="rect">
            <a:avLst/>
          </a:prstGeom>
          <a:noFill/>
          <a:ln/>
        </p:spPr>
        <p:txBody>
          <a:bodyPr wrap="square" lIns="0" tIns="0" rIns="0" bIns="0" rtlCol="0" anchor="ctr"/>
          <a:lstStyle/>
          <a:p>
            <a:pPr algn="ctr" indent="0" marL="0">
              <a:buNone/>
            </a:pPr>
            <a:r>
              <a:rPr lang="en-US" sz="1500" b="1" dirty="0">
                <a:solidFill>
                  <a:srgbClr val="38761D"/>
                </a:solidFill>
              </a:rPr>
              <a:t>③ pass: submit · fail: think</a:t>
            </a:r>
            <a:endParaRPr lang="en-US" sz="1500" dirty="0"/>
          </a:p>
        </p:txBody>
      </p:sp>
      <p:sp>
        <p:nvSpPr>
          <p:cNvPr id="26" name="Shape 14"/>
          <p:cNvSpPr/>
          <p:nvPr/>
        </p:nvSpPr>
        <p:spPr>
          <a:xfrm>
            <a:off x="8769096" y="1572768"/>
            <a:ext cx="201168" cy="0"/>
          </a:xfrm>
          <a:prstGeom prst="line">
            <a:avLst/>
          </a:prstGeom>
          <a:noFill/>
          <a:ln w="25400">
            <a:solidFill>
              <a:srgbClr val="7F7F7F"/>
            </a:solidFill>
            <a:prstDash val="solid"/>
            <a:tailEnd type="triangle"/>
          </a:ln>
        </p:spPr>
      </p:sp>
      <p:pic>
        <p:nvPicPr>
          <p:cNvPr id="27" name="step 3 used on shapes" descr="/NAS/SJ/POSTECH/nlp/figs/icons/shapes.png">    </p:cNvPr>
          <p:cNvPicPr>
            <a:picLocks noChangeAspect="1"/>
          </p:cNvPicPr>
          <p:nvPr/>
        </p:nvPicPr>
        <p:blipFill>
          <a:blip r:embed="rId11"/>
          <a:stretch>
            <a:fillRect/>
          </a:stretch>
        </p:blipFill>
        <p:spPr>
          <a:xfrm>
            <a:off x="6949440" y="1892808"/>
            <a:ext cx="219456" cy="219456"/>
          </a:xfrm>
          <a:prstGeom prst="rect">
            <a:avLst/>
          </a:prstGeom>
        </p:spPr>
      </p:pic>
      <p:pic>
        <p:nvPicPr>
          <p:cNvPr id="28" name="step 3 used on trophy" descr="/NAS/SJ/POSTECH/nlp/figs/icons/trophy.png">    </p:cNvPr>
          <p:cNvPicPr>
            <a:picLocks noChangeAspect="1"/>
          </p:cNvPicPr>
          <p:nvPr/>
        </p:nvPicPr>
        <p:blipFill>
          <a:blip r:embed="rId12"/>
          <a:stretch>
            <a:fillRect/>
          </a:stretch>
        </p:blipFill>
        <p:spPr>
          <a:xfrm>
            <a:off x="7223760" y="1892808"/>
            <a:ext cx="219456" cy="219456"/>
          </a:xfrm>
          <a:prstGeom prst="rect">
            <a:avLst/>
          </a:prstGeom>
        </p:spPr>
      </p:pic>
      <p:pic>
        <p:nvPicPr>
          <p:cNvPr id="29" name="step 3 used on truck" descr="/NAS/SJ/POSTECH/nlp/figs/icons/truck.png">    </p:cNvPr>
          <p:cNvPicPr>
            <a:picLocks noChangeAspect="1"/>
          </p:cNvPicPr>
          <p:nvPr/>
        </p:nvPicPr>
        <p:blipFill>
          <a:blip r:embed="rId13"/>
          <a:stretch>
            <a:fillRect/>
          </a:stretch>
        </p:blipFill>
        <p:spPr>
          <a:xfrm>
            <a:off x="7498080" y="1892808"/>
            <a:ext cx="219456" cy="219456"/>
          </a:xfrm>
          <a:prstGeom prst="rect">
            <a:avLst/>
          </a:prstGeom>
        </p:spPr>
      </p:pic>
      <p:pic>
        <p:nvPicPr>
          <p:cNvPr id="30" name="step 3 used on calc" descr="/NAS/SJ/POSTECH/nlp/figs/icons/calc.png">    </p:cNvPr>
          <p:cNvPicPr>
            <a:picLocks noChangeAspect="1"/>
          </p:cNvPicPr>
          <p:nvPr/>
        </p:nvPicPr>
        <p:blipFill>
          <a:blip r:embed="rId14"/>
          <a:stretch>
            <a:fillRect/>
          </a:stretch>
        </p:blipFill>
        <p:spPr>
          <a:xfrm>
            <a:off x="7772400" y="1892808"/>
            <a:ext cx="219456" cy="219456"/>
          </a:xfrm>
          <a:prstGeom prst="rect">
            <a:avLst/>
          </a:prstGeom>
        </p:spPr>
      </p:pic>
      <p:sp>
        <p:nvSpPr>
          <p:cNvPr id="31" name="box ④ same type again: r"/>
          <p:cNvSpPr/>
          <p:nvPr/>
        </p:nvSpPr>
        <p:spPr>
          <a:xfrm>
            <a:off x="8970264" y="1325880"/>
            <a:ext cx="2606040" cy="502920"/>
          </a:xfrm>
          <a:prstGeom prst="roundRect">
            <a:avLst>
              <a:gd name="adj" fmla="val 10909"/>
            </a:avLst>
          </a:prstGeom>
          <a:solidFill>
            <a:srgbClr val="F2F2F2"/>
          </a:solidFill>
          <a:ln w="9525">
            <a:solidFill>
              <a:srgbClr val="BFBFBF"/>
            </a:solidFill>
            <a:prstDash val="solid"/>
          </a:ln>
        </p:spPr>
      </p:sp>
      <p:sp>
        <p:nvSpPr>
          <p:cNvPr id="32" name="Text 16"/>
          <p:cNvSpPr txBox="1"/>
          <p:nvPr/>
        </p:nvSpPr>
        <p:spPr>
          <a:xfrm>
            <a:off x="9043416"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④ same type again: reuse it</a:t>
            </a:r>
            <a:endParaRPr lang="en-US" sz="1500" dirty="0"/>
          </a:p>
        </p:txBody>
      </p:sp>
      <p:pic>
        <p:nvPicPr>
          <p:cNvPr id="33" name="step 4 not needed on shapes" descr="/NAS/SJ/POSTECH/nlp/figs/icons/shapes.png">    </p:cNvPr>
          <p:cNvPicPr>
            <a:picLocks noChangeAspect="1"/>
          </p:cNvPicPr>
          <p:nvPr/>
        </p:nvPicPr>
        <p:blipFill>
          <a:blip r:embed="rId15">
            <a:alphaModFix amt="18000"/>
          </a:blip>
          <a:stretch>
            <a:fillRect/>
          </a:stretch>
        </p:blipFill>
        <p:spPr>
          <a:xfrm>
            <a:off x="9756648" y="1892808"/>
            <a:ext cx="219456" cy="219456"/>
          </a:xfrm>
          <a:prstGeom prst="rect">
            <a:avLst/>
          </a:prstGeom>
        </p:spPr>
      </p:pic>
      <p:pic>
        <p:nvPicPr>
          <p:cNvPr id="34" name="step 4 not needed on trophy" descr="/NAS/SJ/POSTECH/nlp/figs/icons/trophy.png">    </p:cNvPr>
          <p:cNvPicPr>
            <a:picLocks noChangeAspect="1"/>
          </p:cNvPicPr>
          <p:nvPr/>
        </p:nvPicPr>
        <p:blipFill>
          <a:blip r:embed="rId16">
            <a:alphaModFix amt="18000"/>
          </a:blip>
          <a:stretch>
            <a:fillRect/>
          </a:stretch>
        </p:blipFill>
        <p:spPr>
          <a:xfrm>
            <a:off x="10030968" y="1892808"/>
            <a:ext cx="219456" cy="219456"/>
          </a:xfrm>
          <a:prstGeom prst="rect">
            <a:avLst/>
          </a:prstGeom>
        </p:spPr>
      </p:pic>
      <p:pic>
        <p:nvPicPr>
          <p:cNvPr id="35" name="step 4 used on truck" descr="/NAS/SJ/POSTECH/nlp/figs/icons/truck.png">    </p:cNvPr>
          <p:cNvPicPr>
            <a:picLocks noChangeAspect="1"/>
          </p:cNvPicPr>
          <p:nvPr/>
        </p:nvPicPr>
        <p:blipFill>
          <a:blip r:embed="rId17"/>
          <a:stretch>
            <a:fillRect/>
          </a:stretch>
        </p:blipFill>
        <p:spPr>
          <a:xfrm>
            <a:off x="10305288" y="1892808"/>
            <a:ext cx="219456" cy="219456"/>
          </a:xfrm>
          <a:prstGeom prst="rect">
            <a:avLst/>
          </a:prstGeom>
        </p:spPr>
      </p:pic>
      <p:pic>
        <p:nvPicPr>
          <p:cNvPr id="36" name="step 4 not needed on calc" descr="/NAS/SJ/POSTECH/nlp/figs/icons/calc.png">    </p:cNvPr>
          <p:cNvPicPr>
            <a:picLocks noChangeAspect="1"/>
          </p:cNvPicPr>
          <p:nvPr/>
        </p:nvPicPr>
        <p:blipFill>
          <a:blip r:embed="rId18">
            <a:alphaModFix amt="18000"/>
          </a:blip>
          <a:stretch>
            <a:fillRect/>
          </a:stretch>
        </p:blipFill>
        <p:spPr>
          <a:xfrm>
            <a:off x="10579608" y="1892808"/>
            <a:ext cx="219456" cy="219456"/>
          </a:xfrm>
          <a:prstGeom prst="rect">
            <a:avLst/>
          </a:prstGeom>
        </p:spPr>
      </p:pic>
      <p:sp>
        <p:nvSpPr>
          <p:cNvPr id="37" name="how we pick the hint"/>
          <p:cNvSpPr/>
          <p:nvPr/>
        </p:nvSpPr>
        <p:spPr>
          <a:xfrm>
            <a:off x="548640" y="2286000"/>
            <a:ext cx="5349240" cy="3246120"/>
          </a:xfrm>
          <a:prstGeom prst="roundRect">
            <a:avLst>
              <a:gd name="adj" fmla="val 2254"/>
            </a:avLst>
          </a:prstGeom>
          <a:solidFill>
            <a:srgbClr val="F2F2F2"/>
          </a:solidFill>
          <a:ln w="9525">
            <a:solidFill>
              <a:srgbClr val="D9D9D9"/>
            </a:solidFill>
            <a:prstDash val="solid"/>
          </a:ln>
        </p:spPr>
      </p:sp>
      <p:sp>
        <p:nvSpPr>
          <p:cNvPr id="38" name="Text 18"/>
          <p:cNvSpPr txBox="1"/>
          <p:nvPr/>
        </p:nvSpPr>
        <p:spPr>
          <a:xfrm>
            <a:off x="777240" y="2340864"/>
            <a:ext cx="4937760" cy="365760"/>
          </a:xfrm>
          <a:prstGeom prst="rect">
            <a:avLst/>
          </a:prstGeom>
          <a:noFill/>
          <a:ln/>
        </p:spPr>
        <p:txBody>
          <a:bodyPr wrap="square" lIns="0" tIns="0" rIns="0" bIns="0" rtlCol="0" anchor="ctr"/>
          <a:lstStyle/>
          <a:p>
            <a:pPr indent="0" marL="0">
              <a:buNone/>
            </a:pPr>
            <a:r>
              <a:rPr lang="en-US" sz="1700" b="1" dirty="0">
                <a:solidFill>
                  <a:srgbClr val="4472C4"/>
                </a:solidFill>
              </a:rPr>
              <a:t>① Hint pool: its own checked programs (no human)</a:t>
            </a:r>
            <a:endParaRPr lang="en-US" sz="1700" dirty="0"/>
          </a:p>
        </p:txBody>
      </p:sp>
      <p:sp>
        <p:nvSpPr>
          <p:cNvPr id="39" name="box programs on earlier "/>
          <p:cNvSpPr/>
          <p:nvPr/>
        </p:nvSpPr>
        <p:spPr>
          <a:xfrm>
            <a:off x="777240" y="2761488"/>
            <a:ext cx="1463040" cy="530352"/>
          </a:xfrm>
          <a:prstGeom prst="roundRect">
            <a:avLst>
              <a:gd name="adj" fmla="val 10345"/>
            </a:avLst>
          </a:prstGeom>
          <a:solidFill>
            <a:srgbClr val="FFFFFF"/>
          </a:solidFill>
          <a:ln w="9525">
            <a:solidFill>
              <a:srgbClr val="BFBFBF"/>
            </a:solidFill>
            <a:prstDash val="solid"/>
          </a:ln>
        </p:spPr>
      </p:sp>
      <p:sp>
        <p:nvSpPr>
          <p:cNvPr id="40" name="Text 20"/>
          <p:cNvSpPr txBox="1"/>
          <p:nvPr/>
        </p:nvSpPr>
        <p:spPr>
          <a:xfrm>
            <a:off x="850392"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programs on earlier problems</a:t>
            </a:r>
            <a:endParaRPr lang="en-US" sz="1500" dirty="0"/>
          </a:p>
        </p:txBody>
      </p:sp>
      <p:sp>
        <p:nvSpPr>
          <p:cNvPr id="41" name="Shape 21"/>
          <p:cNvSpPr/>
          <p:nvPr/>
        </p:nvSpPr>
        <p:spPr>
          <a:xfrm>
            <a:off x="2240280" y="3026664"/>
            <a:ext cx="256032" cy="0"/>
          </a:xfrm>
          <a:prstGeom prst="line">
            <a:avLst/>
          </a:prstGeom>
          <a:noFill/>
          <a:ln w="25400">
            <a:solidFill>
              <a:srgbClr val="7F7F7F"/>
            </a:solidFill>
            <a:prstDash val="solid"/>
            <a:tailEnd type="triangle"/>
          </a:ln>
        </p:spPr>
      </p:sp>
      <p:sp>
        <p:nvSpPr>
          <p:cNvPr id="42" name="box ✓ runs and prints a "/>
          <p:cNvSpPr/>
          <p:nvPr/>
        </p:nvSpPr>
        <p:spPr>
          <a:xfrm>
            <a:off x="2496312" y="2761488"/>
            <a:ext cx="1463040" cy="530352"/>
          </a:xfrm>
          <a:prstGeom prst="roundRect">
            <a:avLst>
              <a:gd name="adj" fmla="val 10345"/>
            </a:avLst>
          </a:prstGeom>
          <a:solidFill>
            <a:srgbClr val="FFFFFF"/>
          </a:solidFill>
          <a:ln w="9525">
            <a:solidFill>
              <a:srgbClr val="BFBFBF"/>
            </a:solidFill>
            <a:prstDash val="solid"/>
          </a:ln>
        </p:spPr>
      </p:sp>
      <p:sp>
        <p:nvSpPr>
          <p:cNvPr id="43" name="Text 23"/>
          <p:cNvSpPr txBox="1"/>
          <p:nvPr/>
        </p:nvSpPr>
        <p:spPr>
          <a:xfrm>
            <a:off x="2569464"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 runs and prints a number</a:t>
            </a:r>
            <a:endParaRPr lang="en-US" sz="1500" dirty="0"/>
          </a:p>
        </p:txBody>
      </p:sp>
      <p:sp>
        <p:nvSpPr>
          <p:cNvPr id="44" name="Shape 24"/>
          <p:cNvSpPr/>
          <p:nvPr/>
        </p:nvSpPr>
        <p:spPr>
          <a:xfrm>
            <a:off x="3959352" y="3026664"/>
            <a:ext cx="256032" cy="0"/>
          </a:xfrm>
          <a:prstGeom prst="line">
            <a:avLst/>
          </a:prstGeom>
          <a:noFill/>
          <a:ln w="25400">
            <a:solidFill>
              <a:srgbClr val="7F7F7F"/>
            </a:solidFill>
            <a:prstDash val="solid"/>
            <a:tailEnd type="triangle"/>
          </a:ln>
        </p:spPr>
      </p:sp>
      <p:sp>
        <p:nvSpPr>
          <p:cNvPr id="45" name="box shortest, pasted as "/>
          <p:cNvSpPr/>
          <p:nvPr/>
        </p:nvSpPr>
        <p:spPr>
          <a:xfrm>
            <a:off x="4215384" y="2761488"/>
            <a:ext cx="1463040" cy="530352"/>
          </a:xfrm>
          <a:prstGeom prst="roundRect">
            <a:avLst>
              <a:gd name="adj" fmla="val 10345"/>
            </a:avLst>
          </a:prstGeom>
          <a:solidFill>
            <a:srgbClr val="E2F0D9"/>
          </a:solidFill>
          <a:ln w="9525">
            <a:solidFill>
              <a:srgbClr val="BFBFBF"/>
            </a:solidFill>
            <a:prstDash val="solid"/>
          </a:ln>
        </p:spPr>
      </p:sp>
      <p:sp>
        <p:nvSpPr>
          <p:cNvPr id="46" name="Text 26"/>
          <p:cNvSpPr txBox="1"/>
          <p:nvPr/>
        </p:nvSpPr>
        <p:spPr>
          <a:xfrm>
            <a:off x="4288536" y="2761488"/>
            <a:ext cx="1316736" cy="530352"/>
          </a:xfrm>
          <a:prstGeom prst="rect">
            <a:avLst/>
          </a:prstGeom>
          <a:noFill/>
          <a:ln/>
        </p:spPr>
        <p:txBody>
          <a:bodyPr wrap="square" lIns="0" tIns="0" rIns="0" bIns="0" rtlCol="0" anchor="ctr"/>
          <a:lstStyle/>
          <a:p>
            <a:pPr algn="ctr" indent="0" marL="0">
              <a:buNone/>
            </a:pPr>
            <a:r>
              <a:rPr lang="en-US" sz="1500" b="1" dirty="0">
                <a:solidFill>
                  <a:srgbClr val="38761D"/>
                </a:solidFill>
              </a:rPr>
              <a:t>shortest, pasted as an example</a:t>
            </a:r>
            <a:endParaRPr lang="en-US" sz="1500" dirty="0"/>
          </a:p>
        </p:txBody>
      </p:sp>
      <p:sp>
        <p:nvSpPr>
          <p:cNvPr id="47" name="Text 27"/>
          <p:cNvSpPr txBox="1"/>
          <p:nvPr/>
        </p:nvSpPr>
        <p:spPr>
          <a:xfrm>
            <a:off x="777240" y="3429000"/>
            <a:ext cx="4937760" cy="320040"/>
          </a:xfrm>
          <a:prstGeom prst="rect">
            <a:avLst/>
          </a:prstGeom>
          <a:noFill/>
          <a:ln/>
        </p:spPr>
        <p:txBody>
          <a:bodyPr wrap="square" lIns="0" tIns="0" rIns="0" bIns="0" rtlCol="0" anchor="ctr"/>
          <a:lstStyle/>
          <a:p>
            <a:pPr indent="0" marL="0">
              <a:buNone/>
            </a:pPr>
            <a:r>
              <a:rPr lang="en-US" sz="1500" b="1" dirty="0">
                <a:solidFill>
                  <a:schemeClr val="tx1"/>
                </a:solidFill>
              </a:rPr>
              <a:t>One real problem (Qwen3-8B, answer 20000):</a:t>
            </a:r>
            <a:endParaRPr lang="en-US" sz="1500" dirty="0"/>
          </a:p>
        </p:txBody>
      </p:sp>
      <p:sp>
        <p:nvSpPr>
          <p:cNvPr id="48" name="box ✗ no hint: it calls "/>
          <p:cNvSpPr/>
          <p:nvPr/>
        </p:nvSpPr>
        <p:spPr>
          <a:xfrm>
            <a:off x="777240" y="3794760"/>
            <a:ext cx="4892040" cy="457200"/>
          </a:xfrm>
          <a:prstGeom prst="roundRect">
            <a:avLst>
              <a:gd name="adj" fmla="val 12000"/>
            </a:avLst>
          </a:prstGeom>
          <a:solidFill>
            <a:srgbClr val="FADBD8"/>
          </a:solidFill>
          <a:ln w="9525">
            <a:solidFill>
              <a:srgbClr val="BFBFBF"/>
            </a:solidFill>
            <a:prstDash val="solid"/>
          </a:ln>
        </p:spPr>
      </p:sp>
      <p:sp>
        <p:nvSpPr>
          <p:cNvPr id="49" name="Text 29"/>
          <p:cNvSpPr txBox="1"/>
          <p:nvPr/>
        </p:nvSpPr>
        <p:spPr>
          <a:xfrm>
            <a:off x="850392" y="3794760"/>
            <a:ext cx="4745736" cy="457200"/>
          </a:xfrm>
          <a:prstGeom prst="rect">
            <a:avLst/>
          </a:prstGeom>
          <a:noFill/>
          <a:ln/>
        </p:spPr>
        <p:txBody>
          <a:bodyPr wrap="square" lIns="0" tIns="0" rIns="0" bIns="0" rtlCol="0" anchor="ctr"/>
          <a:lstStyle/>
          <a:p>
            <a:pPr algn="ctr" indent="0" marL="0">
              <a:buNone/>
            </a:pPr>
            <a:r>
              <a:rPr lang="en-US" sz="1500" dirty="0">
                <a:solidFill>
                  <a:srgbClr val="C00000"/>
                </a:solidFill>
              </a:rPr>
              <a:t>✗ no hint: it calls a function that does not exist → crash</a:t>
            </a:r>
            <a:endParaRPr lang="en-US" sz="1500" dirty="0"/>
          </a:p>
        </p:txBody>
      </p:sp>
      <p:sp>
        <p:nvSpPr>
          <p:cNvPr id="50" name="box ✓ with the hint: bot"/>
          <p:cNvSpPr/>
          <p:nvPr/>
        </p:nvSpPr>
        <p:spPr>
          <a:xfrm>
            <a:off x="777240" y="4325112"/>
            <a:ext cx="4892040" cy="457200"/>
          </a:xfrm>
          <a:prstGeom prst="roundRect">
            <a:avLst>
              <a:gd name="adj" fmla="val 12000"/>
            </a:avLst>
          </a:prstGeom>
          <a:solidFill>
            <a:srgbClr val="E2F0D9"/>
          </a:solidFill>
          <a:ln w="9525">
            <a:solidFill>
              <a:srgbClr val="BFBFBF"/>
            </a:solidFill>
            <a:prstDash val="solid"/>
          </a:ln>
        </p:spPr>
      </p:sp>
      <p:sp>
        <p:nvSpPr>
          <p:cNvPr id="51" name="Text 31"/>
          <p:cNvSpPr txBox="1"/>
          <p:nvPr/>
        </p:nvSpPr>
        <p:spPr>
          <a:xfrm>
            <a:off x="850392" y="4325112"/>
            <a:ext cx="4745736" cy="457200"/>
          </a:xfrm>
          <a:prstGeom prst="rect">
            <a:avLst/>
          </a:prstGeom>
          <a:noFill/>
          <a:ln/>
        </p:spPr>
        <p:txBody>
          <a:bodyPr wrap="square" lIns="0" tIns="0" rIns="0" bIns="0" rtlCol="0" anchor="ctr"/>
          <a:lstStyle/>
          <a:p>
            <a:pPr algn="ctr" indent="0" marL="0">
              <a:buNone/>
            </a:pPr>
            <a:r>
              <a:rPr lang="en-US" sz="1500" dirty="0">
                <a:solidFill>
                  <a:srgbClr val="38761D"/>
                </a:solidFill>
              </a:rPr>
              <a:t>✓ with the hint: both versions print 20000 → submit</a:t>
            </a:r>
            <a:endParaRPr lang="en-US" sz="1500" dirty="0"/>
          </a:p>
        </p:txBody>
      </p:sp>
      <p:sp>
        <p:nvSpPr>
          <p:cNvPr id="52" name="Text 32"/>
          <p:cNvSpPr txBox="1"/>
          <p:nvPr/>
        </p:nvSpPr>
        <p:spPr>
          <a:xfrm>
            <a:off x="777240" y="4892040"/>
            <a:ext cx="4892040" cy="411480"/>
          </a:xfrm>
          <a:prstGeom prst="rect">
            <a:avLst/>
          </a:prstGeom>
          <a:noFill/>
          <a:ln/>
        </p:spPr>
        <p:txBody>
          <a:bodyPr wrap="square" lIns="0" tIns="0" rIns="0" bIns="0" rtlCol="0" anchor="ctr"/>
          <a:lstStyle/>
          <a:p>
            <a:pPr indent="0" marL="0">
              <a:buNone/>
            </a:pPr>
            <a:r>
              <a:rPr lang="en-US" sz="1700" b="1" dirty="0">
                <a:solidFill>
                  <a:srgbClr val="4472C4"/>
                </a:solidFill>
              </a:rPr>
              <a:t>0.6k tokens</a:t>
            </a:r>
            <a:pPr indent="0" marL="0">
              <a:buNone/>
            </a:pPr>
            <a:r>
              <a:rPr lang="en-US" sz="1700" dirty="0">
                <a:solidFill>
                  <a:schemeClr val="tx1"/>
                </a:solidFill>
              </a:rPr>
              <a:t>  (thinking alone: 5.3k)</a:t>
            </a:r>
            <a:endParaRPr lang="en-US" sz="1700" dirty="0"/>
          </a:p>
        </p:txBody>
      </p:sp>
      <p:sp>
        <p:nvSpPr>
          <p:cNvPr id="53" name="overall result"/>
          <p:cNvSpPr/>
          <p:nvPr/>
        </p:nvSpPr>
        <p:spPr>
          <a:xfrm>
            <a:off x="6172200" y="2286000"/>
            <a:ext cx="5440680" cy="3246120"/>
          </a:xfrm>
          <a:prstGeom prst="roundRect">
            <a:avLst>
              <a:gd name="adj" fmla="val 2254"/>
            </a:avLst>
          </a:prstGeom>
          <a:solidFill>
            <a:srgbClr val="F2F2F2"/>
          </a:solidFill>
          <a:ln w="9525">
            <a:solidFill>
              <a:srgbClr val="D9D9D9"/>
            </a:solidFill>
            <a:prstDash val="solid"/>
          </a:ln>
        </p:spPr>
      </p:sp>
      <p:sp>
        <p:nvSpPr>
          <p:cNvPr id="54" name="Text 34"/>
          <p:cNvSpPr txBox="1"/>
          <p:nvPr/>
        </p:nvSpPr>
        <p:spPr>
          <a:xfrm>
            <a:off x="6400800" y="2340864"/>
            <a:ext cx="4983480" cy="365760"/>
          </a:xfrm>
          <a:prstGeom prst="rect">
            <a:avLst/>
          </a:prstGeom>
          <a:noFill/>
          <a:ln/>
        </p:spPr>
        <p:txBody>
          <a:bodyPr wrap="square" lIns="0" tIns="0" rIns="0" bIns="0" rtlCol="0" anchor="ctr"/>
          <a:lstStyle/>
          <a:p>
            <a:pPr indent="0" marL="0">
              <a:buNone/>
            </a:pPr>
            <a:r>
              <a:rPr lang="en-US" sz="1700" b="1" dirty="0">
                <a:solidFill>
                  <a:srgbClr val="4472C4"/>
                </a:solidFill>
              </a:rPr>
              <a:t>208 geometry + optimization problems × 3 models</a:t>
            </a:r>
            <a:endParaRPr lang="en-US" sz="1700" dirty="0"/>
          </a:p>
        </p:txBody>
      </p:sp>
      <p:sp>
        <p:nvSpPr>
          <p:cNvPr id="55" name="Text 35"/>
          <p:cNvSpPr txBox="1"/>
          <p:nvPr/>
        </p:nvSpPr>
        <p:spPr>
          <a:xfrm>
            <a:off x="8686800" y="272491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56" name="Text 36"/>
          <p:cNvSpPr txBox="1"/>
          <p:nvPr/>
        </p:nvSpPr>
        <p:spPr>
          <a:xfrm>
            <a:off x="9601200" y="2724912"/>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7" name="Text 37"/>
          <p:cNvSpPr txBox="1"/>
          <p:nvPr/>
        </p:nvSpPr>
        <p:spPr>
          <a:xfrm>
            <a:off x="6400800" y="30906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think where answers differ</a:t>
            </a:r>
            <a:endParaRPr lang="en-US" sz="1500" dirty="0"/>
          </a:p>
        </p:txBody>
      </p:sp>
      <p:sp>
        <p:nvSpPr>
          <p:cNvPr id="58" name="Text 38"/>
          <p:cNvSpPr txBox="1"/>
          <p:nvPr/>
        </p:nvSpPr>
        <p:spPr>
          <a:xfrm>
            <a:off x="8686800" y="309067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59" name="tokens think where answers differ"/>
          <p:cNvSpPr/>
          <p:nvPr/>
        </p:nvSpPr>
        <p:spPr>
          <a:xfrm>
            <a:off x="9601200" y="3191256"/>
            <a:ext cx="1051560" cy="256032"/>
          </a:xfrm>
          <a:prstGeom prst="rect">
            <a:avLst/>
          </a:prstGeom>
          <a:solidFill>
            <a:srgbClr val="7F7F7F"/>
          </a:solidFill>
          <a:ln w="6350">
            <a:solidFill>
              <a:srgbClr val="7F7F7F"/>
            </a:solidFill>
            <a:prstDash val="solid"/>
          </a:ln>
        </p:spPr>
      </p:sp>
      <p:sp>
        <p:nvSpPr>
          <p:cNvPr id="60" name="Text 40"/>
          <p:cNvSpPr txBox="1"/>
          <p:nvPr/>
        </p:nvSpPr>
        <p:spPr>
          <a:xfrm>
            <a:off x="10744200" y="309067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61" name="Text 41"/>
          <p:cNvSpPr txBox="1"/>
          <p:nvPr/>
        </p:nvSpPr>
        <p:spPr>
          <a:xfrm>
            <a:off x="6400800" y="35478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hint found by search</a:t>
            </a:r>
            <a:endParaRPr lang="en-US" sz="1500" dirty="0"/>
          </a:p>
        </p:txBody>
      </p:sp>
      <p:sp>
        <p:nvSpPr>
          <p:cNvPr id="62" name="Text 42"/>
          <p:cNvSpPr txBox="1"/>
          <p:nvPr/>
        </p:nvSpPr>
        <p:spPr>
          <a:xfrm>
            <a:off x="8686800" y="354787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84%</a:t>
            </a:r>
            <a:endParaRPr lang="en-US" sz="1700" dirty="0"/>
          </a:p>
        </p:txBody>
      </p:sp>
      <p:sp>
        <p:nvSpPr>
          <p:cNvPr id="63" name="tokens ours, hint found by search"/>
          <p:cNvSpPr/>
          <p:nvPr/>
        </p:nvSpPr>
        <p:spPr>
          <a:xfrm>
            <a:off x="9601200" y="3648456"/>
            <a:ext cx="846378" cy="256032"/>
          </a:xfrm>
          <a:prstGeom prst="rect">
            <a:avLst/>
          </a:prstGeom>
          <a:solidFill>
            <a:srgbClr val="5B9BD5"/>
          </a:solidFill>
          <a:ln w="6350">
            <a:solidFill>
              <a:srgbClr val="5B9BD5"/>
            </a:solidFill>
            <a:prstDash val="solid"/>
          </a:ln>
        </p:spPr>
      </p:sp>
      <p:sp>
        <p:nvSpPr>
          <p:cNvPr id="64" name="Text 44"/>
          <p:cNvSpPr txBox="1"/>
          <p:nvPr/>
        </p:nvSpPr>
        <p:spPr>
          <a:xfrm>
            <a:off x="10539018" y="354787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3.3k</a:t>
            </a:r>
            <a:endParaRPr lang="en-US" sz="1500" dirty="0"/>
          </a:p>
        </p:txBody>
      </p:sp>
      <p:sp>
        <p:nvSpPr>
          <p:cNvPr id="65" name="Text 45"/>
          <p:cNvSpPr txBox="1"/>
          <p:nvPr/>
        </p:nvSpPr>
        <p:spPr>
          <a:xfrm>
            <a:off x="6400800" y="4005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hand-written hint</a:t>
            </a:r>
            <a:endParaRPr lang="en-US" sz="1500" dirty="0"/>
          </a:p>
        </p:txBody>
      </p:sp>
      <p:sp>
        <p:nvSpPr>
          <p:cNvPr id="66" name="Text 46"/>
          <p:cNvSpPr txBox="1"/>
          <p:nvPr/>
        </p:nvSpPr>
        <p:spPr>
          <a:xfrm>
            <a:off x="8686800" y="4005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67" name="tokens ours, hand-written hint"/>
          <p:cNvSpPr/>
          <p:nvPr/>
        </p:nvSpPr>
        <p:spPr>
          <a:xfrm>
            <a:off x="9601200" y="4105656"/>
            <a:ext cx="641195" cy="256032"/>
          </a:xfrm>
          <a:prstGeom prst="rect">
            <a:avLst/>
          </a:prstGeom>
          <a:solidFill>
            <a:srgbClr val="4472C4"/>
          </a:solidFill>
          <a:ln w="6350">
            <a:solidFill>
              <a:srgbClr val="4472C4"/>
            </a:solidFill>
            <a:prstDash val="solid"/>
          </a:ln>
        </p:spPr>
      </p:sp>
      <p:sp>
        <p:nvSpPr>
          <p:cNvPr id="68" name="Text 48"/>
          <p:cNvSpPr txBox="1"/>
          <p:nvPr/>
        </p:nvSpPr>
        <p:spPr>
          <a:xfrm>
            <a:off x="10333835" y="4005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69" name="Text 49"/>
          <p:cNvSpPr txBox="1"/>
          <p:nvPr/>
        </p:nvSpPr>
        <p:spPr>
          <a:xfrm>
            <a:off x="6400800" y="4526280"/>
            <a:ext cx="4983480" cy="822960"/>
          </a:xfrm>
          <a:prstGeom prst="rect">
            <a:avLst/>
          </a:prstGeom>
          <a:noFill/>
          <a:ln/>
        </p:spPr>
        <p:txBody>
          <a:bodyPr wrap="square" lIns="0" tIns="0" rIns="0" bIns="0" rtlCol="0" anchor="t"/>
          <a:lstStyle/>
          <a:p>
            <a:pPr indent="0" marL="0">
              <a:buNone/>
            </a:pPr>
            <a:r>
              <a:rPr lang="en-US" sz="1400" dirty="0">
                <a:solidFill>
                  <a:schemeClr val="tx2"/>
                </a:solidFill>
              </a:rPr>
              <a:t>Held-out MAMO (863): the model's own program as the hint = a hand-written one (79% = 79%, gpt-oss-20b)</a:t>
            </a:r>
            <a:endParaRPr lang="en-US" sz="1400" dirty="0"/>
          </a:p>
        </p:txBody>
      </p:sp>
      <p:sp>
        <p:nvSpPr>
          <p:cNvPr id="70"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2103120" y="1188720"/>
            <a:ext cx="420624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949440" y="1188720"/>
            <a:ext cx="466344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Text 3"/>
          <p:cNvSpPr txBox="1"/>
          <p:nvPr/>
        </p:nvSpPr>
        <p:spPr>
          <a:xfrm>
            <a:off x="548640" y="1554480"/>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When to think</a:t>
            </a:r>
            <a:endParaRPr lang="en-US" sz="1600" dirty="0"/>
          </a:p>
        </p:txBody>
      </p:sp>
      <p:sp>
        <p:nvSpPr>
          <p:cNvPr id="6" name="box "/>
          <p:cNvSpPr/>
          <p:nvPr/>
        </p:nvSpPr>
        <p:spPr>
          <a:xfrm>
            <a:off x="2103120" y="1554480"/>
            <a:ext cx="4206240" cy="603504"/>
          </a:xfrm>
          <a:prstGeom prst="roundRect">
            <a:avLst>
              <a:gd name="adj" fmla="val 9091"/>
            </a:avLst>
          </a:prstGeom>
          <a:solidFill>
            <a:srgbClr val="F2F2F2"/>
          </a:solidFill>
          <a:ln w="9525">
            <a:solidFill>
              <a:srgbClr val="BFBFBF"/>
            </a:solidFill>
            <a:prstDash val="solid"/>
          </a:ln>
        </p:spPr>
      </p:sp>
      <p:sp>
        <p:nvSpPr>
          <p:cNvPr id="7" name="Text 5"/>
          <p:cNvSpPr txBox="1"/>
          <p:nvPr/>
        </p:nvSpPr>
        <p:spPr>
          <a:xfrm>
            <a:off x="2176272" y="1554480"/>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8" name="usual icon 0" descr="/NAS/SJ/POSTECH/nlp/figs/icons/brain.png">    </p:cNvPr>
          <p:cNvPicPr>
            <a:picLocks noChangeAspect="1"/>
          </p:cNvPicPr>
          <p:nvPr/>
        </p:nvPicPr>
        <p:blipFill>
          <a:blip r:embed="rId1"/>
          <a:stretch>
            <a:fillRect/>
          </a:stretch>
        </p:blipFill>
        <p:spPr>
          <a:xfrm>
            <a:off x="2212848" y="1664208"/>
            <a:ext cx="384048" cy="384048"/>
          </a:xfrm>
          <a:prstGeom prst="rect">
            <a:avLst/>
          </a:prstGeom>
        </p:spPr>
      </p:pic>
      <p:sp>
        <p:nvSpPr>
          <p:cNvPr id="9" name="Text 6"/>
          <p:cNvSpPr txBox="1"/>
          <p:nvPr/>
        </p:nvSpPr>
        <p:spPr>
          <a:xfrm>
            <a:off x="2743200" y="1554480"/>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think more on hard-looking problems</a:t>
            </a:r>
            <a:pPr indent="0" marL="0">
              <a:buNone/>
            </a:pPr>
            <a:r>
              <a:rPr lang="en-US" sz="1100" dirty="0">
                <a:solidFill>
                  <a:srgbClr val="7F7F7F"/>
                </a:solidFill>
              </a:rPr>
              <a:t> [1]</a:t>
            </a:r>
            <a:endParaRPr lang="en-US" sz="1400" dirty="0"/>
          </a:p>
        </p:txBody>
      </p:sp>
      <p:sp>
        <p:nvSpPr>
          <p:cNvPr id="10" name="arrow 0"/>
          <p:cNvSpPr/>
          <p:nvPr/>
        </p:nvSpPr>
        <p:spPr>
          <a:xfrm>
            <a:off x="6400800" y="1691640"/>
            <a:ext cx="457200" cy="329184"/>
          </a:xfrm>
          <a:prstGeom prst="rightArrow">
            <a:avLst/>
          </a:prstGeom>
          <a:solidFill>
            <a:srgbClr val="4472C4"/>
          </a:solidFill>
          <a:ln w="12700">
            <a:solidFill>
              <a:srgbClr val="4472C4"/>
            </a:solidFill>
            <a:prstDash val="solid"/>
          </a:ln>
        </p:spPr>
      </p:sp>
      <p:sp>
        <p:nvSpPr>
          <p:cNvPr id="11" name="box "/>
          <p:cNvSpPr/>
          <p:nvPr/>
        </p:nvSpPr>
        <p:spPr>
          <a:xfrm>
            <a:off x="6949440" y="1554480"/>
            <a:ext cx="4663440" cy="603504"/>
          </a:xfrm>
          <a:prstGeom prst="roundRect">
            <a:avLst>
              <a:gd name="adj" fmla="val 9091"/>
            </a:avLst>
          </a:prstGeom>
          <a:solidFill>
            <a:srgbClr val="DEEBF7"/>
          </a:solidFill>
          <a:ln w="9525">
            <a:solidFill>
              <a:srgbClr val="BFBFBF"/>
            </a:solidFill>
            <a:prstDash val="solid"/>
          </a:ln>
        </p:spPr>
      </p:sp>
      <p:sp>
        <p:nvSpPr>
          <p:cNvPr id="12" name="Text 9"/>
          <p:cNvSpPr txBox="1"/>
          <p:nvPr/>
        </p:nvSpPr>
        <p:spPr>
          <a:xfrm>
            <a:off x="7022592" y="1554480"/>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13" name="ours icon 0" descr="/NAS/SJ/POSTECH/nlp/figs/icons/check.png">    </p:cNvPr>
          <p:cNvPicPr>
            <a:picLocks noChangeAspect="1"/>
          </p:cNvPicPr>
          <p:nvPr/>
        </p:nvPicPr>
        <p:blipFill>
          <a:blip r:embed="rId2"/>
          <a:stretch>
            <a:fillRect/>
          </a:stretch>
        </p:blipFill>
        <p:spPr>
          <a:xfrm>
            <a:off x="7059168" y="1664208"/>
            <a:ext cx="384048" cy="384048"/>
          </a:xfrm>
          <a:prstGeom prst="rect">
            <a:avLst/>
          </a:prstGeom>
        </p:spPr>
      </p:pic>
      <p:sp>
        <p:nvSpPr>
          <p:cNvPr id="14" name="Text 10"/>
          <p:cNvSpPr txBox="1"/>
          <p:nvPr/>
        </p:nvSpPr>
        <p:spPr>
          <a:xfrm>
            <a:off x="7589520" y="1554480"/>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only when a free check fails: 87% vs 74%</a:t>
            </a:r>
            <a:endParaRPr lang="en-US" sz="1400" dirty="0"/>
          </a:p>
        </p:txBody>
      </p:sp>
      <p:sp>
        <p:nvSpPr>
          <p:cNvPr id="15" name="Text 11"/>
          <p:cNvSpPr txBox="1"/>
          <p:nvPr/>
        </p:nvSpPr>
        <p:spPr>
          <a:xfrm>
            <a:off x="548640" y="2231136"/>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to give</a:t>
            </a:r>
            <a:endParaRPr lang="en-US" sz="1600" dirty="0"/>
          </a:p>
        </p:txBody>
      </p:sp>
      <p:sp>
        <p:nvSpPr>
          <p:cNvPr id="16" name="box "/>
          <p:cNvSpPr/>
          <p:nvPr/>
        </p:nvSpPr>
        <p:spPr>
          <a:xfrm>
            <a:off x="2103120" y="2231136"/>
            <a:ext cx="4206240" cy="603504"/>
          </a:xfrm>
          <a:prstGeom prst="roundRect">
            <a:avLst>
              <a:gd name="adj" fmla="val 9091"/>
            </a:avLst>
          </a:prstGeom>
          <a:solidFill>
            <a:srgbClr val="F2F2F2"/>
          </a:solidFill>
          <a:ln w="9525">
            <a:solidFill>
              <a:srgbClr val="BFBFBF"/>
            </a:solidFill>
            <a:prstDash val="solid"/>
          </a:ln>
        </p:spPr>
      </p:sp>
      <p:sp>
        <p:nvSpPr>
          <p:cNvPr id="17" name="Text 13"/>
          <p:cNvSpPr txBox="1"/>
          <p:nvPr/>
        </p:nvSpPr>
        <p:spPr>
          <a:xfrm>
            <a:off x="2176272" y="2231136"/>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18" name="usual icon 1" descr="/NAS/SJ/POSTECH/nlp/figs/icons/page.png">    </p:cNvPr>
          <p:cNvPicPr>
            <a:picLocks noChangeAspect="1"/>
          </p:cNvPicPr>
          <p:nvPr/>
        </p:nvPicPr>
        <p:blipFill>
          <a:blip r:embed="rId3"/>
          <a:stretch>
            <a:fillRect/>
          </a:stretch>
        </p:blipFill>
        <p:spPr>
          <a:xfrm>
            <a:off x="2212848" y="2340864"/>
            <a:ext cx="384048" cy="384048"/>
          </a:xfrm>
          <a:prstGeom prst="rect">
            <a:avLst/>
          </a:prstGeom>
        </p:spPr>
      </p:pic>
      <p:sp>
        <p:nvSpPr>
          <p:cNvPr id="19" name="Text 14"/>
          <p:cNvSpPr txBox="1"/>
          <p:nvPr/>
        </p:nvSpPr>
        <p:spPr>
          <a:xfrm>
            <a:off x="2743200" y="2231136"/>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the whole manual, or retrieved documentation</a:t>
            </a:r>
            <a:pPr indent="0" marL="0">
              <a:buNone/>
            </a:pPr>
            <a:r>
              <a:rPr lang="en-US" sz="1100" dirty="0">
                <a:solidFill>
                  <a:srgbClr val="7F7F7F"/>
                </a:solidFill>
              </a:rPr>
              <a:t> [2]</a:t>
            </a:r>
            <a:endParaRPr lang="en-US" sz="1400" dirty="0"/>
          </a:p>
        </p:txBody>
      </p:sp>
      <p:sp>
        <p:nvSpPr>
          <p:cNvPr id="20" name="arrow 1"/>
          <p:cNvSpPr/>
          <p:nvPr/>
        </p:nvSpPr>
        <p:spPr>
          <a:xfrm>
            <a:off x="6400800" y="2368296"/>
            <a:ext cx="457200" cy="329184"/>
          </a:xfrm>
          <a:prstGeom prst="rightArrow">
            <a:avLst/>
          </a:prstGeom>
          <a:solidFill>
            <a:srgbClr val="4472C4"/>
          </a:solidFill>
          <a:ln w="12700">
            <a:solidFill>
              <a:srgbClr val="4472C4"/>
            </a:solidFill>
            <a:prstDash val="solid"/>
          </a:ln>
        </p:spPr>
      </p:sp>
      <p:sp>
        <p:nvSpPr>
          <p:cNvPr id="21" name="box "/>
          <p:cNvSpPr/>
          <p:nvPr/>
        </p:nvSpPr>
        <p:spPr>
          <a:xfrm>
            <a:off x="6949440" y="2231136"/>
            <a:ext cx="4663440" cy="603504"/>
          </a:xfrm>
          <a:prstGeom prst="roundRect">
            <a:avLst>
              <a:gd name="adj" fmla="val 9091"/>
            </a:avLst>
          </a:prstGeom>
          <a:solidFill>
            <a:srgbClr val="DEEBF7"/>
          </a:solidFill>
          <a:ln w="9525">
            <a:solidFill>
              <a:srgbClr val="BFBFBF"/>
            </a:solidFill>
            <a:prstDash val="solid"/>
          </a:ln>
        </p:spPr>
      </p:sp>
      <p:sp>
        <p:nvSpPr>
          <p:cNvPr id="22" name="Text 17"/>
          <p:cNvSpPr txBox="1"/>
          <p:nvPr/>
        </p:nvSpPr>
        <p:spPr>
          <a:xfrm>
            <a:off x="7022592" y="2231136"/>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23" name="ours icon 1" descr="/NAS/SJ/POSTECH/nlp/figs/icons/fact.png">    </p:cNvPr>
          <p:cNvPicPr>
            <a:picLocks noChangeAspect="1"/>
          </p:cNvPicPr>
          <p:nvPr/>
        </p:nvPicPr>
        <p:blipFill>
          <a:blip r:embed="rId4"/>
          <a:stretch>
            <a:fillRect/>
          </a:stretch>
        </p:blipFill>
        <p:spPr>
          <a:xfrm>
            <a:off x="7059168" y="2340864"/>
            <a:ext cx="384048" cy="384048"/>
          </a:xfrm>
          <a:prstGeom prst="rect">
            <a:avLst/>
          </a:prstGeom>
        </p:spPr>
      </p:pic>
      <p:sp>
        <p:nvSpPr>
          <p:cNvPr id="24" name="Text 18"/>
          <p:cNvSpPr txBox="1"/>
          <p:nvPr/>
        </p:nvSpPr>
        <p:spPr>
          <a:xfrm>
            <a:off x="7589520" y="2231136"/>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one short hint, picked with no human</a:t>
            </a:r>
            <a:endParaRPr lang="en-US" sz="1400" dirty="0"/>
          </a:p>
        </p:txBody>
      </p:sp>
      <p:sp>
        <p:nvSpPr>
          <p:cNvPr id="25" name="Text 19"/>
          <p:cNvSpPr txBox="1"/>
          <p:nvPr/>
        </p:nvSpPr>
        <p:spPr>
          <a:xfrm>
            <a:off x="548640" y="2907792"/>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it takes</a:t>
            </a:r>
            <a:endParaRPr lang="en-US" sz="1600" dirty="0"/>
          </a:p>
        </p:txBody>
      </p:sp>
      <p:sp>
        <p:nvSpPr>
          <p:cNvPr id="26" name="box "/>
          <p:cNvSpPr/>
          <p:nvPr/>
        </p:nvSpPr>
        <p:spPr>
          <a:xfrm>
            <a:off x="2103120" y="2907792"/>
            <a:ext cx="4206240" cy="603504"/>
          </a:xfrm>
          <a:prstGeom prst="roundRect">
            <a:avLst>
              <a:gd name="adj" fmla="val 9091"/>
            </a:avLst>
          </a:prstGeom>
          <a:solidFill>
            <a:srgbClr val="F2F2F2"/>
          </a:solidFill>
          <a:ln w="9525">
            <a:solidFill>
              <a:srgbClr val="BFBFBF"/>
            </a:solidFill>
            <a:prstDash val="solid"/>
          </a:ln>
        </p:spPr>
      </p:sp>
      <p:sp>
        <p:nvSpPr>
          <p:cNvPr id="27" name="Text 21"/>
          <p:cNvSpPr txBox="1"/>
          <p:nvPr/>
        </p:nvSpPr>
        <p:spPr>
          <a:xfrm>
            <a:off x="2176272" y="2907792"/>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28" name="usual icon 2" descr="/NAS/SJ/POSTECH/nlp/figs/icons/robot.png">    </p:cNvPr>
          <p:cNvPicPr>
            <a:picLocks noChangeAspect="1"/>
          </p:cNvPicPr>
          <p:nvPr/>
        </p:nvPicPr>
        <p:blipFill>
          <a:blip r:embed="rId5"/>
          <a:stretch>
            <a:fillRect/>
          </a:stretch>
        </p:blipFill>
        <p:spPr>
          <a:xfrm>
            <a:off x="2212848" y="3017520"/>
            <a:ext cx="384048" cy="384048"/>
          </a:xfrm>
          <a:prstGeom prst="rect">
            <a:avLst/>
          </a:prstGeom>
        </p:spPr>
      </p:pic>
      <p:sp>
        <p:nvSpPr>
          <p:cNvPr id="29" name="Text 22"/>
          <p:cNvSpPr txBox="1"/>
          <p:nvPr/>
        </p:nvSpPr>
        <p:spPr>
          <a:xfrm>
            <a:off x="2743200" y="2907792"/>
            <a:ext cx="3474720" cy="603504"/>
          </a:xfrm>
          <a:prstGeom prst="rect">
            <a:avLst/>
          </a:prstGeom>
          <a:noFill/>
          <a:ln/>
        </p:spPr>
        <p:txBody>
          <a:bodyPr wrap="square" lIns="0" tIns="0" rIns="0" bIns="0" rtlCol="0" anchor="ctr"/>
          <a:lstStyle/>
          <a:p>
            <a:pPr indent="0" marL="0">
              <a:buNone/>
            </a:pPr>
            <a:r>
              <a:rPr lang="en-US" sz="1400" dirty="0">
                <a:solidFill>
                  <a:srgbClr val="404040"/>
                </a:solidFill>
              </a:rPr>
              <a:t>fine-tune an 8B specialist (ORLM): 69.5% on MAMO</a:t>
            </a:r>
            <a:pPr indent="0" marL="0">
              <a:buNone/>
            </a:pPr>
            <a:r>
              <a:rPr lang="en-US" sz="1100" dirty="0">
                <a:solidFill>
                  <a:srgbClr val="7F7F7F"/>
                </a:solidFill>
              </a:rPr>
              <a:t> [3, 4]</a:t>
            </a:r>
            <a:endParaRPr lang="en-US" sz="1400" dirty="0"/>
          </a:p>
        </p:txBody>
      </p:sp>
      <p:sp>
        <p:nvSpPr>
          <p:cNvPr id="30" name="arrow 2"/>
          <p:cNvSpPr/>
          <p:nvPr/>
        </p:nvSpPr>
        <p:spPr>
          <a:xfrm>
            <a:off x="6400800" y="3044952"/>
            <a:ext cx="457200" cy="329184"/>
          </a:xfrm>
          <a:prstGeom prst="rightArrow">
            <a:avLst/>
          </a:prstGeom>
          <a:solidFill>
            <a:srgbClr val="4472C4"/>
          </a:solidFill>
          <a:ln w="12700">
            <a:solidFill>
              <a:srgbClr val="4472C4"/>
            </a:solidFill>
            <a:prstDash val="solid"/>
          </a:ln>
        </p:spPr>
      </p:sp>
      <p:sp>
        <p:nvSpPr>
          <p:cNvPr id="31" name="box "/>
          <p:cNvSpPr/>
          <p:nvPr/>
        </p:nvSpPr>
        <p:spPr>
          <a:xfrm>
            <a:off x="6949440" y="2907792"/>
            <a:ext cx="4663440" cy="603504"/>
          </a:xfrm>
          <a:prstGeom prst="roundRect">
            <a:avLst>
              <a:gd name="adj" fmla="val 9091"/>
            </a:avLst>
          </a:prstGeom>
          <a:solidFill>
            <a:srgbClr val="DEEBF7"/>
          </a:solidFill>
          <a:ln w="9525">
            <a:solidFill>
              <a:srgbClr val="BFBFBF"/>
            </a:solidFill>
            <a:prstDash val="solid"/>
          </a:ln>
        </p:spPr>
      </p:sp>
      <p:sp>
        <p:nvSpPr>
          <p:cNvPr id="32" name="Text 25"/>
          <p:cNvSpPr txBox="1"/>
          <p:nvPr/>
        </p:nvSpPr>
        <p:spPr>
          <a:xfrm>
            <a:off x="7022592" y="2907792"/>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33" name="ours icon 2" descr="/NAS/SJ/POSTECH/nlp/figs/icons/gpu.png">    </p:cNvPr>
          <p:cNvPicPr>
            <a:picLocks noChangeAspect="1"/>
          </p:cNvPicPr>
          <p:nvPr/>
        </p:nvPicPr>
        <p:blipFill>
          <a:blip r:embed="rId6"/>
          <a:stretch>
            <a:fillRect/>
          </a:stretch>
        </p:blipFill>
        <p:spPr>
          <a:xfrm>
            <a:off x="7059168" y="3017520"/>
            <a:ext cx="384048" cy="384048"/>
          </a:xfrm>
          <a:prstGeom prst="rect">
            <a:avLst/>
          </a:prstGeom>
        </p:spPr>
      </p:pic>
      <p:sp>
        <p:nvSpPr>
          <p:cNvPr id="34" name="Text 26"/>
          <p:cNvSpPr txBox="1"/>
          <p:nvPr/>
        </p:nvSpPr>
        <p:spPr>
          <a:xfrm>
            <a:off x="7589520" y="2907792"/>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an untrained 8B model (Qwen3-8B): the same 69.5%</a:t>
            </a:r>
            <a:endParaRPr lang="en-US" sz="1400" dirty="0"/>
          </a:p>
        </p:txBody>
      </p:sp>
      <p:sp>
        <p:nvSpPr>
          <p:cNvPr id="35" name="Text 27"/>
          <p:cNvSpPr txBox="1"/>
          <p:nvPr/>
        </p:nvSpPr>
        <p:spPr>
          <a:xfrm>
            <a:off x="548640" y="3657600"/>
            <a:ext cx="11064240" cy="36576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36" name="next Automatic hints"/>
          <p:cNvSpPr/>
          <p:nvPr/>
        </p:nvSpPr>
        <p:spPr>
          <a:xfrm>
            <a:off x="548640" y="4069080"/>
            <a:ext cx="3566160" cy="1325880"/>
          </a:xfrm>
          <a:prstGeom prst="roundRect">
            <a:avLst>
              <a:gd name="adj" fmla="val 5517"/>
            </a:avLst>
          </a:prstGeom>
          <a:solidFill>
            <a:srgbClr val="F2F2F2"/>
          </a:solidFill>
          <a:ln w="9525">
            <a:solidFill>
              <a:srgbClr val="D9D9D9"/>
            </a:solidFill>
            <a:prstDash val="solid"/>
          </a:ln>
        </p:spPr>
      </p:sp>
      <p:pic>
        <p:nvPicPr>
          <p:cNvPr id="37" name="next icon fact" descr="/NAS/SJ/POSTECH/nlp/figs/icons/fact.png">    </p:cNvPr>
          <p:cNvPicPr>
            <a:picLocks noChangeAspect="1"/>
          </p:cNvPicPr>
          <p:nvPr/>
        </p:nvPicPr>
        <p:blipFill>
          <a:blip r:embed="rId7"/>
          <a:stretch>
            <a:fillRect/>
          </a:stretch>
        </p:blipFill>
        <p:spPr>
          <a:xfrm>
            <a:off x="749808" y="4206240"/>
            <a:ext cx="502920" cy="502920"/>
          </a:xfrm>
          <a:prstGeom prst="rect">
            <a:avLst/>
          </a:prstGeom>
        </p:spPr>
      </p:pic>
      <p:sp>
        <p:nvSpPr>
          <p:cNvPr id="38" name="Text 29"/>
          <p:cNvSpPr txBox="1"/>
          <p:nvPr/>
        </p:nvSpPr>
        <p:spPr>
          <a:xfrm>
            <a:off x="138988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Automatic hints</a:t>
            </a:r>
            <a:endParaRPr lang="en-US" sz="2000" dirty="0"/>
          </a:p>
        </p:txBody>
      </p:sp>
      <p:sp>
        <p:nvSpPr>
          <p:cNvPr id="39" name="Text 30"/>
          <p:cNvSpPr txBox="1"/>
          <p:nvPr/>
        </p:nvSpPr>
        <p:spPr>
          <a:xfrm>
            <a:off x="74980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picked per problem type, only the needed calls</a:t>
            </a:r>
            <a:endParaRPr lang="en-US" sz="1500" dirty="0"/>
          </a:p>
        </p:txBody>
      </p:sp>
      <p:sp>
        <p:nvSpPr>
          <p:cNvPr id="40" name="next Sharper free checks"/>
          <p:cNvSpPr/>
          <p:nvPr/>
        </p:nvSpPr>
        <p:spPr>
          <a:xfrm>
            <a:off x="4297680" y="4069080"/>
            <a:ext cx="3566160" cy="1325880"/>
          </a:xfrm>
          <a:prstGeom prst="roundRect">
            <a:avLst>
              <a:gd name="adj" fmla="val 5517"/>
            </a:avLst>
          </a:prstGeom>
          <a:solidFill>
            <a:srgbClr val="F2F2F2"/>
          </a:solidFill>
          <a:ln w="9525">
            <a:solidFill>
              <a:srgbClr val="D9D9D9"/>
            </a:solidFill>
            <a:prstDash val="solid"/>
          </a:ln>
        </p:spPr>
      </p:sp>
      <p:pic>
        <p:nvPicPr>
          <p:cNvPr id="41" name="next icon check" descr="/NAS/SJ/POSTECH/nlp/figs/icons/check.png">    </p:cNvPr>
          <p:cNvPicPr>
            <a:picLocks noChangeAspect="1"/>
          </p:cNvPicPr>
          <p:nvPr/>
        </p:nvPicPr>
        <p:blipFill>
          <a:blip r:embed="rId8"/>
          <a:stretch>
            <a:fillRect/>
          </a:stretch>
        </p:blipFill>
        <p:spPr>
          <a:xfrm>
            <a:off x="4498848" y="4206240"/>
            <a:ext cx="502920" cy="502920"/>
          </a:xfrm>
          <a:prstGeom prst="rect">
            <a:avLst/>
          </a:prstGeom>
        </p:spPr>
      </p:pic>
      <p:sp>
        <p:nvSpPr>
          <p:cNvPr id="42" name="Text 32"/>
          <p:cNvSpPr txBox="1"/>
          <p:nvPr/>
        </p:nvSpPr>
        <p:spPr>
          <a:xfrm>
            <a:off x="513892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Sharper free checks</a:t>
            </a:r>
            <a:endParaRPr lang="en-US" sz="2000" dirty="0"/>
          </a:p>
        </p:txBody>
      </p:sp>
      <p:sp>
        <p:nvSpPr>
          <p:cNvPr id="43" name="Text 33"/>
          <p:cNvSpPr txBox="1"/>
          <p:nvPr/>
        </p:nvSpPr>
        <p:spPr>
          <a:xfrm>
            <a:off x="449884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catch more mistakes, still with no extra tokens</a:t>
            </a:r>
            <a:endParaRPr lang="en-US" sz="1500" dirty="0"/>
          </a:p>
        </p:txBody>
      </p:sp>
      <p:sp>
        <p:nvSpPr>
          <p:cNvPr id="44" name="next Math proofs"/>
          <p:cNvSpPr/>
          <p:nvPr/>
        </p:nvSpPr>
        <p:spPr>
          <a:xfrm>
            <a:off x="8046720" y="4069080"/>
            <a:ext cx="3566160" cy="1325880"/>
          </a:xfrm>
          <a:prstGeom prst="roundRect">
            <a:avLst>
              <a:gd name="adj" fmla="val 5517"/>
            </a:avLst>
          </a:prstGeom>
          <a:solidFill>
            <a:srgbClr val="F2F2F2"/>
          </a:solidFill>
          <a:ln w="9525">
            <a:solidFill>
              <a:srgbClr val="D9D9D9"/>
            </a:solidFill>
            <a:prstDash val="solid"/>
          </a:ln>
        </p:spPr>
      </p:sp>
      <p:pic>
        <p:nvPicPr>
          <p:cNvPr id="45" name="next icon sqrt" descr="/NAS/SJ/POSTECH/nlp/figs/icons/sqrt.png">    </p:cNvPr>
          <p:cNvPicPr>
            <a:picLocks noChangeAspect="1"/>
          </p:cNvPicPr>
          <p:nvPr/>
        </p:nvPicPr>
        <p:blipFill>
          <a:blip r:embed="rId9"/>
          <a:stretch>
            <a:fillRect/>
          </a:stretch>
        </p:blipFill>
        <p:spPr>
          <a:xfrm>
            <a:off x="8247888" y="4206240"/>
            <a:ext cx="502920" cy="502920"/>
          </a:xfrm>
          <a:prstGeom prst="rect">
            <a:avLst/>
          </a:prstGeom>
        </p:spPr>
      </p:pic>
      <p:sp>
        <p:nvSpPr>
          <p:cNvPr id="46" name="Text 35"/>
          <p:cNvSpPr txBox="1"/>
          <p:nvPr/>
        </p:nvSpPr>
        <p:spPr>
          <a:xfrm>
            <a:off x="888796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Math proofs</a:t>
            </a:r>
            <a:endParaRPr lang="en-US" sz="2000" dirty="0"/>
          </a:p>
        </p:txBody>
      </p:sp>
      <p:sp>
        <p:nvSpPr>
          <p:cNvPr id="47" name="Text 36"/>
          <p:cNvSpPr txBox="1"/>
          <p:nvPr/>
        </p:nvSpPr>
        <p:spPr>
          <a:xfrm>
            <a:off x="824788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Lean checks every step: find the hints that help</a:t>
            </a:r>
            <a:pPr indent="0" marL="0">
              <a:buNone/>
            </a:pPr>
            <a:r>
              <a:rPr lang="en-US" sz="1100" dirty="0">
                <a:solidFill>
                  <a:srgbClr val="7F7F7F"/>
                </a:solidFill>
              </a:rPr>
              <a:t> [5]</a:t>
            </a:r>
            <a:endParaRPr lang="en-US" sz="1500" dirty="0"/>
          </a:p>
        </p:txBody>
      </p:sp>
      <p:sp>
        <p:nvSpPr>
          <p:cNvPr id="48"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49" name="Text 38"/>
          <p:cNvSpPr txBox="1"/>
          <p:nvPr/>
        </p:nvSpPr>
        <p:spPr>
          <a:xfrm>
            <a:off x="548640" y="6263640"/>
            <a:ext cx="10424160" cy="365760"/>
          </a:xfrm>
          <a:prstGeom prst="rect">
            <a:avLst/>
          </a:prstGeom>
          <a:noFill/>
          <a:ln/>
        </p:spPr>
        <p:txBody>
          <a:bodyPr wrap="square" lIns="0" tIns="0" rIns="0" bIns="0" rtlCol="0" anchor="ctr"/>
          <a:lstStyle/>
          <a:p>
            <a:pPr indent="0" marL="0">
              <a:buNone/>
            </a:pPr>
            <a:r>
              <a:rPr lang="en-US" sz="1000" dirty="0">
                <a:solidFill>
                  <a:srgbClr val="7F7F7F"/>
                </a:solidFill>
              </a:rPr>
              <a:t>[1] Snell et al., Scaling LLM Test-Time Compute Optimally, ICLR 2025  [2] DRoC: retrieved documentation for solver code, ICLR 2025  [3] Huang et al., ORLM, arXiv 2405.17743, 2024  [4] Huang et al., Mamo: 863 optimization word problems, 2024  [5] Zheng et al., miniF2F, ICLR 2022</a:t>
            </a:r>
            <a:endParaRPr lang="en-US" sz="1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00000"/>
                          </a:solidFill>
                        </a:rPr>
                        <a:t>✗ no library to hint; 8 geometry helpers hurt: 37.7% → 33.4% (gpt-oss-20b)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and what does it do?</a:t>
            </a:r>
            <a:endParaRPr lang="en-US" sz="3600" dirty="0"/>
          </a:p>
        </p:txBody>
      </p:sp>
      <p:sp>
        <p:nvSpPr>
          <p:cNvPr id="3" name="hand-written fact"/>
          <p:cNvSpPr/>
          <p:nvPr/>
        </p:nvSpPr>
        <p:spPr>
          <a:xfrm>
            <a:off x="548640" y="1280160"/>
            <a:ext cx="5440680" cy="2194560"/>
          </a:xfrm>
          <a:prstGeom prst="roundRect">
            <a:avLst>
              <a:gd name="adj" fmla="val 3333"/>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600" b="1" dirty="0">
                <a:solidFill>
                  <a:srgbClr val="4472C4"/>
                </a:solidFill>
              </a:rPr>
              <a:t>Written by hand (routing): library usage only</a:t>
            </a:r>
            <a:endParaRPr lang="en-US" sz="1600" dirty="0"/>
          </a:p>
        </p:txBody>
      </p:sp>
      <p:sp>
        <p:nvSpPr>
          <p:cNvPr id="5" name="Text 3"/>
          <p:cNvSpPr txBox="1"/>
          <p:nvPr/>
        </p:nvSpPr>
        <p:spPr>
          <a:xfrm>
            <a:off x="777240" y="1828800"/>
            <a:ext cx="5029200" cy="160020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mgr = pywrapcp.RoutingIndexManager(n + 1, K, 0)</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r = pywrapcp.RoutingModel(mgr)</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dcb = r.RegisterUnaryTransitCallback(demand)</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r.AddDimensionWithVehicleCapacity(dcb, ...)</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sol = r.SolveWithParameters(p)</a:t>
            </a:r>
            <a:endParaRPr lang="en-US" sz="1300" dirty="0"/>
          </a:p>
          <a:p>
            <a:pPr indent="0" marL="0">
              <a:buNone/>
            </a:pPr>
            <a:r>
              <a:rPr lang="en-US" sz="1300" dirty="0">
                <a:solidFill>
                  <a:srgbClr val="7F7F7F"/>
                </a:solidFill>
                <a:latin typeface="Courier New" pitchFamily="34" charset="0"/>
                <a:ea typeface="Courier New" pitchFamily="34" charset="-122"/>
                <a:cs typeface="Courier New" pitchFamily="34" charset="-120"/>
              </a:rPr>
              <a:t>… 11 lines, the same for all 30 problems</a:t>
            </a:r>
            <a:endParaRPr lang="en-US" sz="1300" dirty="0"/>
          </a:p>
        </p:txBody>
      </p:sp>
      <p:sp>
        <p:nvSpPr>
          <p:cNvPr id="6" name="automatic fact"/>
          <p:cNvSpPr/>
          <p:nvPr/>
        </p:nvSpPr>
        <p:spPr>
          <a:xfrm>
            <a:off x="6172200" y="1280160"/>
            <a:ext cx="5440680" cy="2194560"/>
          </a:xfrm>
          <a:prstGeom prst="roundRect">
            <a:avLst>
              <a:gd name="adj" fmla="val 3333"/>
            </a:avLst>
          </a:prstGeom>
          <a:solidFill>
            <a:srgbClr val="F2F2F2"/>
          </a:solidFill>
          <a:ln w="9525">
            <a:solidFill>
              <a:srgbClr val="D9D9D9"/>
            </a:solidFill>
            <a:prstDash val="solid"/>
          </a:ln>
        </p:spPr>
      </p:sp>
      <p:sp>
        <p:nvSpPr>
          <p:cNvPr id="7" name="Text 5"/>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600" b="1" dirty="0">
                <a:solidFill>
                  <a:srgbClr val="4472C4"/>
                </a:solidFill>
              </a:rPr>
              <a:t>Automatic (word problems): another problem's program</a:t>
            </a:r>
            <a:endParaRPr lang="en-US" sz="1600" dirty="0"/>
          </a:p>
        </p:txBody>
      </p:sp>
      <p:sp>
        <p:nvSpPr>
          <p:cNvPr id="8" name="Text 6"/>
          <p:cNvSpPr txBox="1"/>
          <p:nvPr/>
        </p:nvSpPr>
        <p:spPr>
          <a:xfrm>
            <a:off x="6400800" y="1828800"/>
            <a:ext cx="5029200" cy="160020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solver = pywraplp.Solver.CreateSolver('SCIP')</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v = solver.IntVar(0, solver.infinity(), 'v')</a:t>
            </a:r>
            <a:endParaRPr lang="en-US" sz="1300" dirty="0"/>
          </a:p>
          <a:p>
            <a:pPr indent="0" marL="0">
              <a:buNone/>
            </a:pPr>
            <a:r>
              <a:rPr lang="en-US" sz="1300" dirty="0">
                <a:solidFill>
                  <a:srgbClr val="7F7F7F"/>
                </a:solidFill>
                <a:latin typeface="Courier New" pitchFamily="34" charset="0"/>
                <a:ea typeface="Courier New" pitchFamily="34" charset="-122"/>
                <a:cs typeface="Courier New" pitchFamily="34" charset="-120"/>
              </a:rPr>
              <a:t>…  (that problem's own limits)</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solver.Minimize(v)</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status = solver.Solve()</a:t>
            </a:r>
            <a:endParaRPr lang="en-US" sz="1300" dirty="0"/>
          </a:p>
          <a:p>
            <a:pPr indent="0" marL="0">
              <a:buNone/>
            </a:pPr>
            <a:r>
              <a:rPr lang="en-US" sz="1300" dirty="0">
                <a:solidFill>
                  <a:srgbClr val="7F7F7F"/>
                </a:solidFill>
                <a:latin typeface="Courier New" pitchFamily="34" charset="0"/>
                <a:ea typeface="Courier New" pitchFamily="34" charset="-122"/>
                <a:cs typeface="Courier New" pitchFamily="34" charset="-120"/>
              </a:rPr>
              <a:t>… a vans-and-trucks problem, not this one</a:t>
            </a:r>
            <a:endParaRPr lang="en-US" sz="1300" dirty="0"/>
          </a:p>
        </p:txBody>
      </p:sp>
      <p:sp>
        <p:nvSpPr>
          <p:cNvPr id="9" name="what the fact does"/>
          <p:cNvSpPr/>
          <p:nvPr/>
        </p:nvSpPr>
        <p:spPr>
          <a:xfrm>
            <a:off x="548640" y="3657600"/>
            <a:ext cx="11064240" cy="1600200"/>
          </a:xfrm>
          <a:prstGeom prst="roundRect">
            <a:avLst>
              <a:gd name="adj" fmla="val 4571"/>
            </a:avLst>
          </a:prstGeom>
          <a:solidFill>
            <a:srgbClr val="F2F2F2"/>
          </a:solidFill>
          <a:ln w="9525">
            <a:solidFill>
              <a:srgbClr val="D9D9D9"/>
            </a:solidFill>
            <a:prstDash val="solid"/>
          </a:ln>
        </p:spPr>
      </p:sp>
      <p:sp>
        <p:nvSpPr>
          <p:cNvPr id="10" name="Text 8"/>
          <p:cNvSpPr txBox="1"/>
          <p:nvPr/>
        </p:nvSpPr>
        <p:spPr>
          <a:xfrm>
            <a:off x="777240" y="3712464"/>
            <a:ext cx="4572000" cy="365760"/>
          </a:xfrm>
          <a:prstGeom prst="rect">
            <a:avLst/>
          </a:prstGeom>
          <a:noFill/>
          <a:ln/>
        </p:spPr>
        <p:txBody>
          <a:bodyPr wrap="square" lIns="0" tIns="0" rIns="0" bIns="0" rtlCol="0" anchor="ctr"/>
          <a:lstStyle/>
          <a:p>
            <a:pPr indent="0" marL="0">
              <a:buNone/>
            </a:pPr>
            <a:r>
              <a:rPr lang="en-US" sz="1600" b="1" dirty="0">
                <a:solidFill>
                  <a:srgbClr val="4472C4"/>
                </a:solidFill>
              </a:rPr>
              <a:t>What it does</a:t>
            </a:r>
            <a:endParaRPr lang="en-US" sz="1600" dirty="0"/>
          </a:p>
        </p:txBody>
      </p:sp>
      <p:sp>
        <p:nvSpPr>
          <p:cNvPr id="11" name="Text 9"/>
          <p:cNvSpPr txBox="1"/>
          <p:nvPr/>
        </p:nvSpPr>
        <p:spPr>
          <a:xfrm>
            <a:off x="777240" y="4096512"/>
            <a:ext cx="274320" cy="365760"/>
          </a:xfrm>
          <a:prstGeom prst="rect">
            <a:avLst/>
          </a:prstGeom>
          <a:noFill/>
          <a:ln/>
        </p:spPr>
        <p:txBody>
          <a:bodyPr wrap="square" lIns="0" tIns="0" rIns="0" bIns="0" rtlCol="0" anchor="ctr"/>
          <a:lstStyle/>
          <a:p>
            <a:pPr indent="0" marL="0">
              <a:buNone/>
            </a:pPr>
            <a:r>
              <a:rPr lang="en-US" sz="1700" b="1" dirty="0">
                <a:solidFill>
                  <a:srgbClr val="38761D"/>
                </a:solidFill>
              </a:rPr>
              <a:t>✓</a:t>
            </a:r>
            <a:endParaRPr lang="en-US" sz="1700" dirty="0"/>
          </a:p>
        </p:txBody>
      </p:sp>
      <p:sp>
        <p:nvSpPr>
          <p:cNvPr id="12" name="Text 10"/>
          <p:cNvSpPr txBox="1"/>
          <p:nvPr/>
        </p:nvSpPr>
        <p:spPr>
          <a:xfrm>
            <a:off x="1097280" y="4096512"/>
            <a:ext cx="10332720" cy="365760"/>
          </a:xfrm>
          <a:prstGeom prst="rect">
            <a:avLst/>
          </a:prstGeom>
          <a:noFill/>
          <a:ln/>
        </p:spPr>
        <p:txBody>
          <a:bodyPr wrap="square" lIns="0" tIns="0" rIns="0" bIns="0" rtlCol="0" anchor="ctr"/>
          <a:lstStyle/>
          <a:p>
            <a:pPr indent="0" marL="0">
              <a:buNone/>
            </a:pPr>
            <a:r>
              <a:rPr lang="en-US" sz="1400" dirty="0">
                <a:solidFill>
                  <a:schemeClr val="tx1"/>
                </a:solidFill>
              </a:rPr>
              <a:t>It stops invented function names: Qwen3-1.7B wrote Solver.SUCCESS and solver.INFINITY (do not exist); with the hint 0.1% → 45% solved</a:t>
            </a:r>
            <a:endParaRPr lang="en-US" sz="1400" dirty="0"/>
          </a:p>
        </p:txBody>
      </p:sp>
      <p:sp>
        <p:nvSpPr>
          <p:cNvPr id="13" name="Text 11"/>
          <p:cNvSpPr txBox="1"/>
          <p:nvPr/>
        </p:nvSpPr>
        <p:spPr>
          <a:xfrm>
            <a:off x="777240" y="4480560"/>
            <a:ext cx="274320" cy="365760"/>
          </a:xfrm>
          <a:prstGeom prst="rect">
            <a:avLst/>
          </a:prstGeom>
          <a:noFill/>
          <a:ln/>
        </p:spPr>
        <p:txBody>
          <a:bodyPr wrap="square" lIns="0" tIns="0" rIns="0" bIns="0" rtlCol="0" anchor="ctr"/>
          <a:lstStyle/>
          <a:p>
            <a:pPr indent="0" marL="0">
              <a:buNone/>
            </a:pPr>
            <a:r>
              <a:rPr lang="en-US" sz="1700" b="1" dirty="0">
                <a:solidFill>
                  <a:srgbClr val="C00000"/>
                </a:solidFill>
              </a:rPr>
              <a:t>✗</a:t>
            </a:r>
            <a:endParaRPr lang="en-US" sz="1700" dirty="0"/>
          </a:p>
        </p:txBody>
      </p:sp>
      <p:sp>
        <p:nvSpPr>
          <p:cNvPr id="14" name="Text 12"/>
          <p:cNvSpPr txBox="1"/>
          <p:nvPr/>
        </p:nvSpPr>
        <p:spPr>
          <a:xfrm>
            <a:off x="1097280" y="4480560"/>
            <a:ext cx="10332720" cy="365760"/>
          </a:xfrm>
          <a:prstGeom prst="rect">
            <a:avLst/>
          </a:prstGeom>
          <a:noFill/>
          <a:ln/>
        </p:spPr>
        <p:txBody>
          <a:bodyPr wrap="square" lIns="0" tIns="0" rIns="0" bIns="0" rtlCol="0" anchor="ctr"/>
          <a:lstStyle/>
          <a:p>
            <a:pPr indent="0" marL="0">
              <a:buNone/>
            </a:pPr>
            <a:r>
              <a:rPr lang="en-US" sz="1400" dirty="0">
                <a:solidFill>
                  <a:schemeClr val="tx1"/>
                </a:solidFill>
              </a:rPr>
              <a:t>It does not write the equations: modelling the problem is still the model's job (most errors left are wrong equations)</a:t>
            </a:r>
            <a:endParaRPr lang="en-US" sz="1400" dirty="0"/>
          </a:p>
        </p:txBody>
      </p:sp>
      <p:sp>
        <p:nvSpPr>
          <p:cNvPr id="15" name="Text 13"/>
          <p:cNvSpPr txBox="1"/>
          <p:nvPr/>
        </p:nvSpPr>
        <p:spPr>
          <a:xfrm>
            <a:off x="777240" y="4864608"/>
            <a:ext cx="274320" cy="365760"/>
          </a:xfrm>
          <a:prstGeom prst="rect">
            <a:avLst/>
          </a:prstGeom>
          <a:noFill/>
          <a:ln/>
        </p:spPr>
        <p:txBody>
          <a:bodyPr wrap="square" lIns="0" tIns="0" rIns="0" bIns="0" rtlCol="0" anchor="ctr"/>
          <a:lstStyle/>
          <a:p>
            <a:pPr indent="0" marL="0">
              <a:buNone/>
            </a:pPr>
            <a:r>
              <a:rPr lang="en-US" sz="1700" b="1" dirty="0">
                <a:solidFill>
                  <a:srgbClr val="C00000"/>
                </a:solidFill>
              </a:rPr>
              <a:t>✗</a:t>
            </a:r>
            <a:endParaRPr lang="en-US" sz="1700" dirty="0"/>
          </a:p>
        </p:txBody>
      </p:sp>
      <p:sp>
        <p:nvSpPr>
          <p:cNvPr id="16" name="Text 14"/>
          <p:cNvSpPr txBox="1"/>
          <p:nvPr/>
        </p:nvSpPr>
        <p:spPr>
          <a:xfrm>
            <a:off x="1097280" y="4864608"/>
            <a:ext cx="10332720" cy="365760"/>
          </a:xfrm>
          <a:prstGeom prst="rect">
            <a:avLst/>
          </a:prstGeom>
          <a:noFill/>
          <a:ln/>
        </p:spPr>
        <p:txBody>
          <a:bodyPr wrap="square" lIns="0" tIns="0" rIns="0" bIns="0" rtlCol="0" anchor="ctr"/>
          <a:lstStyle/>
          <a:p>
            <a:pPr indent="0" marL="0">
              <a:buNone/>
            </a:pPr>
            <a:r>
              <a:rPr lang="en-US" sz="1400" dirty="0">
                <a:solidFill>
                  <a:schemeClr val="tx1"/>
                </a:solidFill>
              </a:rPr>
              <a:t>It never holds this problem's numbers or answer: one hint per problem type</a:t>
            </a:r>
            <a:endParaRPr lang="en-US" sz="1400" dirty="0"/>
          </a:p>
        </p:txBody>
      </p:sp>
      <p:sp>
        <p:nvSpPr>
          <p:cNvPr id="17" name="Text 1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shows how to call the library; the model still has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the exact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One hint per problem type, put in the prompt before the task; it shows only the calls that type needs</a:t>
            </a:r>
            <a:endParaRPr lang="en-US" sz="1700" dirty="0"/>
          </a:p>
        </p:txBody>
      </p:sp>
      <p:sp>
        <p:nvSpPr>
          <p:cNvPr id="4" name="how hint Written by hand"/>
          <p:cNvSpPr/>
          <p:nvPr/>
        </p:nvSpPr>
        <p:spPr>
          <a:xfrm>
            <a:off x="548640" y="1737360"/>
            <a:ext cx="3566160" cy="3794760"/>
          </a:xfrm>
          <a:prstGeom prst="roundRect">
            <a:avLst>
              <a:gd name="adj" fmla="val 2051"/>
            </a:avLst>
          </a:prstGeom>
          <a:solidFill>
            <a:srgbClr val="F2F2F2"/>
          </a:solidFill>
          <a:ln w="9525">
            <a:solidFill>
              <a:srgbClr val="D9D9D9"/>
            </a:solidFill>
            <a:prstDash val="solid"/>
          </a:ln>
        </p:spPr>
      </p:sp>
      <p:pic>
        <p:nvPicPr>
          <p:cNvPr id="5" name="icon pen" descr="/NAS/SJ/POSTECH/nlp/figs/icons/pen.png">    </p:cNvPr>
          <p:cNvPicPr>
            <a:picLocks noChangeAspect="1"/>
          </p:cNvPicPr>
          <p:nvPr/>
        </p:nvPicPr>
        <p:blipFill>
          <a:blip r:embed="rId1"/>
          <a:stretch>
            <a:fillRect/>
          </a:stretch>
        </p:blipFill>
        <p:spPr>
          <a:xfrm>
            <a:off x="731520" y="1847088"/>
            <a:ext cx="411480" cy="411480"/>
          </a:xfrm>
          <a:prstGeom prst="rect">
            <a:avLst/>
          </a:prstGeom>
        </p:spPr>
      </p:pic>
      <p:sp>
        <p:nvSpPr>
          <p:cNvPr id="6" name="Text 3"/>
          <p:cNvSpPr txBox="1"/>
          <p:nvPr/>
        </p:nvSpPr>
        <p:spPr>
          <a:xfrm>
            <a:off x="123444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Written by hand</a:t>
            </a:r>
            <a:endParaRPr lang="en-US" sz="1700" dirty="0"/>
          </a:p>
        </p:txBody>
      </p:sp>
      <p:sp>
        <p:nvSpPr>
          <p:cNvPr id="7" name="Text 4"/>
          <p:cNvSpPr txBox="1"/>
          <p:nvPr/>
        </p:nvSpPr>
        <p:spPr>
          <a:xfrm>
            <a:off x="73152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once per problem type: the exact library usage (e.g. 11 lines for truck routing)</a:t>
            </a:r>
            <a:endParaRPr lang="en-US" sz="1400" dirty="0"/>
          </a:p>
        </p:txBody>
      </p:sp>
      <p:sp>
        <p:nvSpPr>
          <p:cNvPr id="8" name="Text 5"/>
          <p:cNvSpPr txBox="1"/>
          <p:nvPr/>
        </p:nvSpPr>
        <p:spPr>
          <a:xfrm>
            <a:off x="73152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routing 23% → 77–90%; word problems 65% → 72% (Qwen3-32B)</a:t>
            </a:r>
            <a:endParaRPr lang="en-US" sz="1400" dirty="0"/>
          </a:p>
        </p:txBody>
      </p:sp>
      <p:sp>
        <p:nvSpPr>
          <p:cNvPr id="9" name="Text 6"/>
          <p:cNvSpPr txBox="1"/>
          <p:nvPr/>
        </p:nvSpPr>
        <p:spPr>
          <a:xfrm>
            <a:off x="73152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needs someone who knows the library</a:t>
            </a:r>
            <a:endParaRPr lang="en-US" sz="1400" dirty="0"/>
          </a:p>
        </p:txBody>
      </p:sp>
      <p:sp>
        <p:nvSpPr>
          <p:cNvPr id="10" name="how hint Found by search"/>
          <p:cNvSpPr/>
          <p:nvPr/>
        </p:nvSpPr>
        <p:spPr>
          <a:xfrm>
            <a:off x="4297680" y="1737360"/>
            <a:ext cx="3566160" cy="3794760"/>
          </a:xfrm>
          <a:prstGeom prst="roundRect">
            <a:avLst>
              <a:gd name="adj" fmla="val 2051"/>
            </a:avLst>
          </a:prstGeom>
          <a:solidFill>
            <a:srgbClr val="F2F2F2"/>
          </a:solidFill>
          <a:ln w="9525">
            <a:solidFill>
              <a:srgbClr val="D9D9D9"/>
            </a:solidFill>
            <a:prstDash val="solid"/>
          </a:ln>
        </p:spPr>
      </p:sp>
      <p:pic>
        <p:nvPicPr>
          <p:cNvPr id="11" name="icon shapes" descr="/NAS/SJ/POSTECH/nlp/figs/icons/shapes.png">    </p:cNvPr>
          <p:cNvPicPr>
            <a:picLocks noChangeAspect="1"/>
          </p:cNvPicPr>
          <p:nvPr/>
        </p:nvPicPr>
        <p:blipFill>
          <a:blip r:embed="rId2"/>
          <a:stretch>
            <a:fillRect/>
          </a:stretch>
        </p:blipFill>
        <p:spPr>
          <a:xfrm>
            <a:off x="4480560" y="1847088"/>
            <a:ext cx="411480" cy="411480"/>
          </a:xfrm>
          <a:prstGeom prst="rect">
            <a:avLst/>
          </a:prstGeom>
        </p:spPr>
      </p:pic>
      <p:sp>
        <p:nvSpPr>
          <p:cNvPr id="12" name="Text 8"/>
          <p:cNvSpPr txBox="1"/>
          <p:nvPr/>
        </p:nvSpPr>
        <p:spPr>
          <a:xfrm>
            <a:off x="498348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Found by search</a:t>
            </a:r>
            <a:endParaRPr lang="en-US" sz="1700" dirty="0"/>
          </a:p>
        </p:txBody>
      </p:sp>
      <p:sp>
        <p:nvSpPr>
          <p:cNvPr id="13" name="Text 9"/>
          <p:cNvSpPr txBox="1"/>
          <p:nvPr/>
        </p:nvSpPr>
        <p:spPr>
          <a:xfrm>
            <a:off x="448056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BM25 over a small library of titled usage snippets; take the top one</a:t>
            </a:r>
            <a:endParaRPr lang="en-US" sz="1400" dirty="0"/>
          </a:p>
        </p:txBody>
      </p:sp>
      <p:sp>
        <p:nvSpPr>
          <p:cNvPr id="14" name="Text 10"/>
          <p:cNvSpPr txBox="1"/>
          <p:nvPr/>
        </p:nvSpPr>
        <p:spPr>
          <a:xfrm>
            <a:off x="448056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97% vs 96% by hand (6 optimization problems); 84% vs 87% on the 208-problem suite</a:t>
            </a:r>
            <a:endParaRPr lang="en-US" sz="1400" dirty="0"/>
          </a:p>
        </p:txBody>
      </p:sp>
      <p:sp>
        <p:nvSpPr>
          <p:cNvPr id="15" name="Text 11"/>
          <p:cNvSpPr txBox="1"/>
          <p:nvPr/>
        </p:nvSpPr>
        <p:spPr>
          <a:xfrm>
            <a:off x="448056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a near-miss page hurts: routing 83% → 57%</a:t>
            </a:r>
            <a:endParaRPr lang="en-US" sz="1400" dirty="0"/>
          </a:p>
        </p:txBody>
      </p:sp>
      <p:sp>
        <p:nvSpPr>
          <p:cNvPr id="16" name="how hint Taken from the model's own work"/>
          <p:cNvSpPr/>
          <p:nvPr/>
        </p:nvSpPr>
        <p:spPr>
          <a:xfrm>
            <a:off x="8046720" y="1737360"/>
            <a:ext cx="3566160" cy="3794760"/>
          </a:xfrm>
          <a:prstGeom prst="roundRect">
            <a:avLst>
              <a:gd name="adj" fmla="val 2051"/>
            </a:avLst>
          </a:prstGeom>
          <a:solidFill>
            <a:srgbClr val="F2F2F2"/>
          </a:solidFill>
          <a:ln w="9525">
            <a:solidFill>
              <a:srgbClr val="D9D9D9"/>
            </a:solidFill>
            <a:prstDash val="solid"/>
          </a:ln>
        </p:spPr>
      </p:sp>
      <p:pic>
        <p:nvPicPr>
          <p:cNvPr id="17" name="icon check" descr="/NAS/SJ/POSTECH/nlp/figs/icons/check.png">    </p:cNvPr>
          <p:cNvPicPr>
            <a:picLocks noChangeAspect="1"/>
          </p:cNvPicPr>
          <p:nvPr/>
        </p:nvPicPr>
        <p:blipFill>
          <a:blip r:embed="rId3"/>
          <a:stretch>
            <a:fillRect/>
          </a:stretch>
        </p:blipFill>
        <p:spPr>
          <a:xfrm>
            <a:off x="8229600" y="1847088"/>
            <a:ext cx="411480" cy="411480"/>
          </a:xfrm>
          <a:prstGeom prst="rect">
            <a:avLst/>
          </a:prstGeom>
        </p:spPr>
      </p:pic>
      <p:sp>
        <p:nvSpPr>
          <p:cNvPr id="18" name="Text 13"/>
          <p:cNvSpPr txBox="1"/>
          <p:nvPr/>
        </p:nvSpPr>
        <p:spPr>
          <a:xfrm>
            <a:off x="873252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Taken from the model's own work</a:t>
            </a:r>
            <a:endParaRPr lang="en-US" sz="1700" dirty="0"/>
          </a:p>
        </p:txBody>
      </p:sp>
      <p:sp>
        <p:nvSpPr>
          <p:cNvPr id="19" name="Text 14"/>
          <p:cNvSpPr txBox="1"/>
          <p:nvPr/>
        </p:nvSpPr>
        <p:spPr>
          <a:xfrm>
            <a:off x="822960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run the model on other problems of the same type; keep programs that pass the free check; use the shortest</a:t>
            </a:r>
            <a:endParaRPr lang="en-US" sz="1400" dirty="0"/>
          </a:p>
        </p:txBody>
      </p:sp>
      <p:sp>
        <p:nvSpPr>
          <p:cNvPr id="20" name="Text 15"/>
          <p:cNvSpPr txBox="1"/>
          <p:nvPr/>
        </p:nvSpPr>
        <p:spPr>
          <a:xfrm>
            <a:off x="822960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held-out MAMO (863), automatic vs by hand: 79% = 79% (gpt-oss-20b), 72% vs 71% (Qwen3-14B), 71% vs 72% (Qwen3-8B)</a:t>
            </a:r>
            <a:endParaRPr lang="en-US" sz="1400" dirty="0"/>
          </a:p>
        </p:txBody>
      </p:sp>
      <p:sp>
        <p:nvSpPr>
          <p:cNvPr id="21" name="Text 16"/>
          <p:cNvSpPr txBox="1"/>
          <p:nvPr/>
        </p:nvSpPr>
        <p:spPr>
          <a:xfrm>
            <a:off x="822960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only within one problem type: another type's program costs 14–21 points</a:t>
            </a:r>
            <a:endParaRPr lang="en-US" sz="1400" dirty="0"/>
          </a:p>
        </p:txBody>
      </p:sp>
      <p:sp>
        <p:nvSpPr>
          <p:cNvPr id="22" name="Text 1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Only the needed calls: with all helpers 75%, with only the needed ones 92% (geometry)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a hint that works?</a:t>
            </a:r>
            <a:endParaRPr lang="en-US" sz="3600" dirty="0"/>
          </a:p>
        </p:txBody>
      </p:sp>
      <p:sp>
        <p:nvSpPr>
          <p:cNvPr id="3" name="what makes a hint work"/>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What makes a hint work, or hurt</a:t>
            </a:r>
            <a:endParaRPr lang="en-US" sz="1800" dirty="0"/>
          </a:p>
        </p:txBody>
      </p:sp>
      <p:sp>
        <p:nvSpPr>
          <p:cNvPr id="5" name="Text 3"/>
          <p:cNvSpPr txBox="1"/>
          <p:nvPr/>
        </p:nvSpPr>
        <p:spPr>
          <a:xfrm>
            <a:off x="777240" y="1810512"/>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10512"/>
            <a:ext cx="2697480" cy="457200"/>
          </a:xfrm>
          <a:prstGeom prst="rect">
            <a:avLst/>
          </a:prstGeom>
          <a:noFill/>
          <a:ln/>
        </p:spPr>
        <p:txBody>
          <a:bodyPr wrap="square" lIns="0" tIns="0" rIns="0" bIns="0" rtlCol="0" anchor="ctr"/>
          <a:lstStyle/>
          <a:p>
            <a:pPr indent="0" marL="0">
              <a:buNone/>
            </a:pPr>
            <a:r>
              <a:rPr lang="en-US" sz="1400" dirty="0">
                <a:solidFill>
                  <a:schemeClr val="tx1"/>
                </a:solidFill>
              </a:rPr>
              <a:t>the exact calls this type needs</a:t>
            </a:r>
            <a:endParaRPr lang="en-US" sz="1400" dirty="0"/>
          </a:p>
        </p:txBody>
      </p:sp>
      <p:sp>
        <p:nvSpPr>
          <p:cNvPr id="7" name="Text 5"/>
          <p:cNvSpPr txBox="1"/>
          <p:nvPr/>
        </p:nvSpPr>
        <p:spPr>
          <a:xfrm>
            <a:off x="3794760" y="1810512"/>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routing 23% → 83%</a:t>
            </a:r>
            <a:endParaRPr lang="en-US" sz="1400" dirty="0"/>
          </a:p>
        </p:txBody>
      </p:sp>
      <p:sp>
        <p:nvSpPr>
          <p:cNvPr id="8" name="Text 6"/>
          <p:cNvSpPr txBox="1"/>
          <p:nvPr/>
        </p:nvSpPr>
        <p:spPr>
          <a:xfrm>
            <a:off x="777240" y="2322576"/>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22576"/>
            <a:ext cx="2697480" cy="457200"/>
          </a:xfrm>
          <a:prstGeom prst="rect">
            <a:avLst/>
          </a:prstGeom>
          <a:noFill/>
          <a:ln/>
        </p:spPr>
        <p:txBody>
          <a:bodyPr wrap="square" lIns="0" tIns="0" rIns="0" bIns="0" rtlCol="0" anchor="ctr"/>
          <a:lstStyle/>
          <a:p>
            <a:pPr indent="0" marL="0">
              <a:buNone/>
            </a:pPr>
            <a:r>
              <a:rPr lang="en-US" sz="1400" dirty="0">
                <a:solidFill>
                  <a:schemeClr val="tx1"/>
                </a:solidFill>
              </a:rPr>
              <a:t>only what is needed</a:t>
            </a:r>
            <a:endParaRPr lang="en-US" sz="1400" dirty="0"/>
          </a:p>
        </p:txBody>
      </p:sp>
      <p:sp>
        <p:nvSpPr>
          <p:cNvPr id="10" name="Text 8"/>
          <p:cNvSpPr txBox="1"/>
          <p:nvPr/>
        </p:nvSpPr>
        <p:spPr>
          <a:xfrm>
            <a:off x="3794760" y="2322576"/>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geometry 75% → 92%</a:t>
            </a:r>
            <a:endParaRPr lang="en-US" sz="1400" dirty="0"/>
          </a:p>
        </p:txBody>
      </p:sp>
      <p:sp>
        <p:nvSpPr>
          <p:cNvPr id="11" name="Text 9"/>
          <p:cNvSpPr txBox="1"/>
          <p:nvPr/>
        </p:nvSpPr>
        <p:spPr>
          <a:xfrm>
            <a:off x="777240" y="2834640"/>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834640"/>
            <a:ext cx="2697480" cy="457200"/>
          </a:xfrm>
          <a:prstGeom prst="rect">
            <a:avLst/>
          </a:prstGeom>
          <a:noFill/>
          <a:ln/>
        </p:spPr>
        <p:txBody>
          <a:bodyPr wrap="square" lIns="0" tIns="0" rIns="0" bIns="0" rtlCol="0" anchor="ctr"/>
          <a:lstStyle/>
          <a:p>
            <a:pPr indent="0" marL="0">
              <a:buNone/>
            </a:pPr>
            <a:r>
              <a:rPr lang="en-US" sz="1400" dirty="0">
                <a:solidFill>
                  <a:schemeClr val="tx1"/>
                </a:solidFill>
              </a:rPr>
              <a:t>short, from the same type</a:t>
            </a:r>
            <a:endParaRPr lang="en-US" sz="1400" dirty="0"/>
          </a:p>
        </p:txBody>
      </p:sp>
      <p:sp>
        <p:nvSpPr>
          <p:cNvPr id="13" name="Text 11"/>
          <p:cNvSpPr txBox="1"/>
          <p:nvPr/>
        </p:nvSpPr>
        <p:spPr>
          <a:xfrm>
            <a:off x="3794760" y="2834640"/>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MAMO: 79% = by hand</a:t>
            </a:r>
            <a:endParaRPr lang="en-US" sz="1400" dirty="0"/>
          </a:p>
        </p:txBody>
      </p:sp>
      <p:sp>
        <p:nvSpPr>
          <p:cNvPr id="14" name="Text 12"/>
          <p:cNvSpPr txBox="1"/>
          <p:nvPr/>
        </p:nvSpPr>
        <p:spPr>
          <a:xfrm>
            <a:off x="777240" y="3346704"/>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5" name="Text 13"/>
          <p:cNvSpPr txBox="1"/>
          <p:nvPr/>
        </p:nvSpPr>
        <p:spPr>
          <a:xfrm>
            <a:off x="1078992" y="3346704"/>
            <a:ext cx="2697480" cy="457200"/>
          </a:xfrm>
          <a:prstGeom prst="rect">
            <a:avLst/>
          </a:prstGeom>
          <a:noFill/>
          <a:ln/>
        </p:spPr>
        <p:txBody>
          <a:bodyPr wrap="square" lIns="0" tIns="0" rIns="0" bIns="0" rtlCol="0" anchor="ctr"/>
          <a:lstStyle/>
          <a:p>
            <a:pPr indent="0" marL="0">
              <a:buNone/>
            </a:pPr>
            <a:r>
              <a:rPr lang="en-US" sz="1400" dirty="0">
                <a:solidFill>
                  <a:schemeClr val="tx1"/>
                </a:solidFill>
              </a:rPr>
              <a:t>a long manual missing one rule</a:t>
            </a:r>
            <a:endParaRPr lang="en-US" sz="1400" dirty="0"/>
          </a:p>
        </p:txBody>
      </p:sp>
      <p:sp>
        <p:nvSpPr>
          <p:cNvPr id="16" name="Text 14"/>
          <p:cNvSpPr txBox="1"/>
          <p:nvPr/>
        </p:nvSpPr>
        <p:spPr>
          <a:xfrm>
            <a:off x="3794760" y="3346704"/>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7%</a:t>
            </a:r>
            <a:endParaRPr lang="en-US" sz="1400" dirty="0"/>
          </a:p>
        </p:txBody>
      </p:sp>
      <p:sp>
        <p:nvSpPr>
          <p:cNvPr id="17" name="Text 15"/>
          <p:cNvSpPr txBox="1"/>
          <p:nvPr/>
        </p:nvSpPr>
        <p:spPr>
          <a:xfrm>
            <a:off x="777240" y="3858768"/>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3858768"/>
            <a:ext cx="2697480" cy="457200"/>
          </a:xfrm>
          <a:prstGeom prst="rect">
            <a:avLst/>
          </a:prstGeom>
          <a:noFill/>
          <a:ln/>
        </p:spPr>
        <p:txBody>
          <a:bodyPr wrap="square" lIns="0" tIns="0" rIns="0" bIns="0" rtlCol="0" anchor="ctr"/>
          <a:lstStyle/>
          <a:p>
            <a:pPr indent="0" marL="0">
              <a:buNone/>
            </a:pPr>
            <a:r>
              <a:rPr lang="en-US" sz="1400" dirty="0">
                <a:solidFill>
                  <a:schemeClr val="tx1"/>
                </a:solidFill>
              </a:rPr>
              <a:t>a near-miss page next to the right one</a:t>
            </a:r>
            <a:endParaRPr lang="en-US" sz="1400" dirty="0"/>
          </a:p>
        </p:txBody>
      </p:sp>
      <p:sp>
        <p:nvSpPr>
          <p:cNvPr id="19" name="Text 17"/>
          <p:cNvSpPr txBox="1"/>
          <p:nvPr/>
        </p:nvSpPr>
        <p:spPr>
          <a:xfrm>
            <a:off x="3794760" y="3858768"/>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83% → 57%</a:t>
            </a:r>
            <a:endParaRPr lang="en-US" sz="1400" dirty="0"/>
          </a:p>
        </p:txBody>
      </p:sp>
      <p:sp>
        <p:nvSpPr>
          <p:cNvPr id="20" name="Text 18"/>
          <p:cNvSpPr txBox="1"/>
          <p:nvPr/>
        </p:nvSpPr>
        <p:spPr>
          <a:xfrm>
            <a:off x="777240" y="4370832"/>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370832"/>
            <a:ext cx="2697480" cy="457200"/>
          </a:xfrm>
          <a:prstGeom prst="rect">
            <a:avLst/>
          </a:prstGeom>
          <a:noFill/>
          <a:ln/>
        </p:spPr>
        <p:txBody>
          <a:bodyPr wrap="square" lIns="0" tIns="0" rIns="0" bIns="0" rtlCol="0" anchor="ctr"/>
          <a:lstStyle/>
          <a:p>
            <a:pPr indent="0" marL="0">
              <a:buNone/>
            </a:pPr>
            <a:r>
              <a:rPr lang="en-US" sz="1400" dirty="0">
                <a:solidFill>
                  <a:schemeClr val="tx1"/>
                </a:solidFill>
              </a:rPr>
              <a:t>a program from another problem type</a:t>
            </a:r>
            <a:endParaRPr lang="en-US" sz="1400" dirty="0"/>
          </a:p>
        </p:txBody>
      </p:sp>
      <p:sp>
        <p:nvSpPr>
          <p:cNvPr id="22" name="Text 20"/>
          <p:cNvSpPr txBox="1"/>
          <p:nvPr/>
        </p:nvSpPr>
        <p:spPr>
          <a:xfrm>
            <a:off x="3794760" y="4370832"/>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−14 to −21 points</a:t>
            </a:r>
            <a:endParaRPr lang="en-US" sz="1400" dirty="0"/>
          </a:p>
        </p:txBody>
      </p:sp>
      <p:sp>
        <p:nvSpPr>
          <p:cNvPr id="23" name="Text 21"/>
          <p:cNvSpPr txBox="1"/>
          <p:nvPr/>
        </p:nvSpPr>
        <p:spPr>
          <a:xfrm>
            <a:off x="777240" y="4882896"/>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4" name="Text 22"/>
          <p:cNvSpPr txBox="1"/>
          <p:nvPr/>
        </p:nvSpPr>
        <p:spPr>
          <a:xfrm>
            <a:off x="1078992" y="4882896"/>
            <a:ext cx="2697480" cy="457200"/>
          </a:xfrm>
          <a:prstGeom prst="rect">
            <a:avLst/>
          </a:prstGeom>
          <a:noFill/>
          <a:ln/>
        </p:spPr>
        <p:txBody>
          <a:bodyPr wrap="square" lIns="0" tIns="0" rIns="0" bIns="0" rtlCol="0" anchor="ctr"/>
          <a:lstStyle/>
          <a:p>
            <a:pPr indent="0" marL="0">
              <a:buNone/>
            </a:pPr>
            <a:r>
              <a:rPr lang="en-US" sz="1400" dirty="0">
                <a:solidFill>
                  <a:schemeClr val="tx1"/>
                </a:solidFill>
              </a:rPr>
              <a:t>a bare list of function names</a:t>
            </a:r>
            <a:endParaRPr lang="en-US" sz="1400" dirty="0"/>
          </a:p>
        </p:txBody>
      </p:sp>
      <p:sp>
        <p:nvSpPr>
          <p:cNvPr id="25" name="Text 23"/>
          <p:cNvSpPr txBox="1"/>
          <p:nvPr/>
        </p:nvSpPr>
        <p:spPr>
          <a:xfrm>
            <a:off x="3794760" y="4882896"/>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66% → 56%</a:t>
            </a:r>
            <a:endParaRPr lang="en-US" sz="1400" dirty="0"/>
          </a:p>
        </p:txBody>
      </p:sp>
      <p:sp>
        <p:nvSpPr>
          <p:cNvPr id="26" name="which source when"/>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27" name="Text 25"/>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Which source, when (once per problem type)</a:t>
            </a:r>
            <a:endParaRPr lang="en-US" sz="1800" dirty="0"/>
          </a:p>
        </p:txBody>
      </p:sp>
      <p:sp>
        <p:nvSpPr>
          <p:cNvPr id="28" name="box Past programs of thi"/>
          <p:cNvSpPr/>
          <p:nvPr/>
        </p:nvSpPr>
        <p:spPr>
          <a:xfrm>
            <a:off x="6400800" y="1828800"/>
            <a:ext cx="3017520" cy="566928"/>
          </a:xfrm>
          <a:prstGeom prst="roundRect">
            <a:avLst>
              <a:gd name="adj" fmla="val 9677"/>
            </a:avLst>
          </a:prstGeom>
          <a:solidFill>
            <a:srgbClr val="FFFFFF"/>
          </a:solidFill>
          <a:ln w="9525">
            <a:solidFill>
              <a:srgbClr val="BFBFBF"/>
            </a:solidFill>
            <a:prstDash val="solid"/>
          </a:ln>
        </p:spPr>
      </p:sp>
      <p:sp>
        <p:nvSpPr>
          <p:cNvPr id="29" name="Text 27"/>
          <p:cNvSpPr txBox="1"/>
          <p:nvPr/>
        </p:nvSpPr>
        <p:spPr>
          <a:xfrm>
            <a:off x="6473952" y="182880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Past programs of this type, and a free check?</a:t>
            </a:r>
            <a:endParaRPr lang="en-US" sz="1400" dirty="0"/>
          </a:p>
        </p:txBody>
      </p:sp>
      <p:sp>
        <p:nvSpPr>
          <p:cNvPr id="30" name="Shape 28"/>
          <p:cNvSpPr/>
          <p:nvPr/>
        </p:nvSpPr>
        <p:spPr>
          <a:xfrm>
            <a:off x="9418320" y="2112264"/>
            <a:ext cx="274320" cy="0"/>
          </a:xfrm>
          <a:prstGeom prst="line">
            <a:avLst/>
          </a:prstGeom>
          <a:noFill/>
          <a:ln w="25400">
            <a:solidFill>
              <a:srgbClr val="7F7F7F"/>
            </a:solidFill>
            <a:prstDash val="solid"/>
            <a:tailEnd type="triangle"/>
          </a:ln>
        </p:spPr>
      </p:sp>
      <p:sp>
        <p:nvSpPr>
          <p:cNvPr id="31" name="box use the shortest tha"/>
          <p:cNvSpPr/>
          <p:nvPr/>
        </p:nvSpPr>
        <p:spPr>
          <a:xfrm>
            <a:off x="9692640" y="1828800"/>
            <a:ext cx="1737360" cy="566928"/>
          </a:xfrm>
          <a:prstGeom prst="roundRect">
            <a:avLst>
              <a:gd name="adj" fmla="val 9677"/>
            </a:avLst>
          </a:prstGeom>
          <a:solidFill>
            <a:srgbClr val="E2F0D9"/>
          </a:solidFill>
          <a:ln w="9525">
            <a:solidFill>
              <a:srgbClr val="BFBFBF"/>
            </a:solidFill>
            <a:prstDash val="solid"/>
          </a:ln>
        </p:spPr>
      </p:sp>
      <p:sp>
        <p:nvSpPr>
          <p:cNvPr id="32" name="Text 30"/>
          <p:cNvSpPr txBox="1"/>
          <p:nvPr/>
        </p:nvSpPr>
        <p:spPr>
          <a:xfrm>
            <a:off x="9765792" y="182880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use the shortest that passed</a:t>
            </a:r>
            <a:endParaRPr lang="en-US" sz="1400" dirty="0"/>
          </a:p>
        </p:txBody>
      </p:sp>
      <p:sp>
        <p:nvSpPr>
          <p:cNvPr id="33" name="Text 31"/>
          <p:cNvSpPr txBox="1"/>
          <p:nvPr/>
        </p:nvSpPr>
        <p:spPr>
          <a:xfrm>
            <a:off x="7680960" y="241401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34" name="box Documentation with t"/>
          <p:cNvSpPr/>
          <p:nvPr/>
        </p:nvSpPr>
        <p:spPr>
          <a:xfrm>
            <a:off x="6400800" y="2697480"/>
            <a:ext cx="3017520" cy="566928"/>
          </a:xfrm>
          <a:prstGeom prst="roundRect">
            <a:avLst>
              <a:gd name="adj" fmla="val 9677"/>
            </a:avLst>
          </a:prstGeom>
          <a:solidFill>
            <a:srgbClr val="FFFFFF"/>
          </a:solidFill>
          <a:ln w="9525">
            <a:solidFill>
              <a:srgbClr val="BFBFBF"/>
            </a:solidFill>
            <a:prstDash val="solid"/>
          </a:ln>
        </p:spPr>
      </p:sp>
      <p:sp>
        <p:nvSpPr>
          <p:cNvPr id="35" name="Text 33"/>
          <p:cNvSpPr txBox="1"/>
          <p:nvPr/>
        </p:nvSpPr>
        <p:spPr>
          <a:xfrm>
            <a:off x="6473952" y="269748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Documentation with titled usage snippets?</a:t>
            </a:r>
            <a:endParaRPr lang="en-US" sz="1400" dirty="0"/>
          </a:p>
        </p:txBody>
      </p:sp>
      <p:sp>
        <p:nvSpPr>
          <p:cNvPr id="36" name="Shape 34"/>
          <p:cNvSpPr/>
          <p:nvPr/>
        </p:nvSpPr>
        <p:spPr>
          <a:xfrm>
            <a:off x="9418320" y="2980944"/>
            <a:ext cx="274320" cy="0"/>
          </a:xfrm>
          <a:prstGeom prst="line">
            <a:avLst/>
          </a:prstGeom>
          <a:noFill/>
          <a:ln w="25400">
            <a:solidFill>
              <a:srgbClr val="7F7F7F"/>
            </a:solidFill>
            <a:prstDash val="solid"/>
            <a:tailEnd type="triangle"/>
          </a:ln>
        </p:spPr>
      </p:sp>
      <p:sp>
        <p:nvSpPr>
          <p:cNvPr id="37" name="box search, take only th"/>
          <p:cNvSpPr/>
          <p:nvPr/>
        </p:nvSpPr>
        <p:spPr>
          <a:xfrm>
            <a:off x="9692640" y="2697480"/>
            <a:ext cx="1737360" cy="566928"/>
          </a:xfrm>
          <a:prstGeom prst="roundRect">
            <a:avLst>
              <a:gd name="adj" fmla="val 9677"/>
            </a:avLst>
          </a:prstGeom>
          <a:solidFill>
            <a:srgbClr val="E2F0D9"/>
          </a:solidFill>
          <a:ln w="9525">
            <a:solidFill>
              <a:srgbClr val="BFBFBF"/>
            </a:solidFill>
            <a:prstDash val="solid"/>
          </a:ln>
        </p:spPr>
      </p:sp>
      <p:sp>
        <p:nvSpPr>
          <p:cNvPr id="38" name="Text 36"/>
          <p:cNvSpPr txBox="1"/>
          <p:nvPr/>
        </p:nvSpPr>
        <p:spPr>
          <a:xfrm>
            <a:off x="9765792" y="269748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search, take only the top one</a:t>
            </a:r>
            <a:endParaRPr lang="en-US" sz="1400" dirty="0"/>
          </a:p>
        </p:txBody>
      </p:sp>
      <p:sp>
        <p:nvSpPr>
          <p:cNvPr id="39" name="Text 37"/>
          <p:cNvSpPr txBox="1"/>
          <p:nvPr/>
        </p:nvSpPr>
        <p:spPr>
          <a:xfrm>
            <a:off x="7680960" y="328269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40" name="box Neither"/>
          <p:cNvSpPr/>
          <p:nvPr/>
        </p:nvSpPr>
        <p:spPr>
          <a:xfrm>
            <a:off x="6400800" y="3566160"/>
            <a:ext cx="3017520" cy="566928"/>
          </a:xfrm>
          <a:prstGeom prst="roundRect">
            <a:avLst>
              <a:gd name="adj" fmla="val 9677"/>
            </a:avLst>
          </a:prstGeom>
          <a:solidFill>
            <a:srgbClr val="FFFFFF"/>
          </a:solidFill>
          <a:ln w="9525">
            <a:solidFill>
              <a:srgbClr val="BFBFBF"/>
            </a:solidFill>
            <a:prstDash val="solid"/>
          </a:ln>
        </p:spPr>
      </p:sp>
      <p:sp>
        <p:nvSpPr>
          <p:cNvPr id="41" name="Text 39"/>
          <p:cNvSpPr txBox="1"/>
          <p:nvPr/>
        </p:nvSpPr>
        <p:spPr>
          <a:xfrm>
            <a:off x="6473952" y="356616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Neither</a:t>
            </a:r>
            <a:endParaRPr lang="en-US" sz="1400" dirty="0"/>
          </a:p>
        </p:txBody>
      </p:sp>
      <p:sp>
        <p:nvSpPr>
          <p:cNvPr id="42" name="Shape 40"/>
          <p:cNvSpPr/>
          <p:nvPr/>
        </p:nvSpPr>
        <p:spPr>
          <a:xfrm>
            <a:off x="9418320" y="3849624"/>
            <a:ext cx="274320" cy="0"/>
          </a:xfrm>
          <a:prstGeom prst="line">
            <a:avLst/>
          </a:prstGeom>
          <a:noFill/>
          <a:ln w="25400">
            <a:solidFill>
              <a:srgbClr val="7F7F7F"/>
            </a:solidFill>
            <a:prstDash val="solid"/>
            <a:tailEnd type="triangle"/>
          </a:ln>
        </p:spPr>
      </p:sp>
      <p:sp>
        <p:nvSpPr>
          <p:cNvPr id="43" name="box write it by hand, on"/>
          <p:cNvSpPr/>
          <p:nvPr/>
        </p:nvSpPr>
        <p:spPr>
          <a:xfrm>
            <a:off x="9692640" y="3566160"/>
            <a:ext cx="1737360" cy="566928"/>
          </a:xfrm>
          <a:prstGeom prst="roundRect">
            <a:avLst>
              <a:gd name="adj" fmla="val 9677"/>
            </a:avLst>
          </a:prstGeom>
          <a:solidFill>
            <a:srgbClr val="E2F0D9"/>
          </a:solidFill>
          <a:ln w="9525">
            <a:solidFill>
              <a:srgbClr val="BFBFBF"/>
            </a:solidFill>
            <a:prstDash val="solid"/>
          </a:ln>
        </p:spPr>
      </p:sp>
      <p:sp>
        <p:nvSpPr>
          <p:cNvPr id="44" name="Text 42"/>
          <p:cNvSpPr txBox="1"/>
          <p:nvPr/>
        </p:nvSpPr>
        <p:spPr>
          <a:xfrm>
            <a:off x="9765792" y="356616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write it by hand, once</a:t>
            </a:r>
            <a:endParaRPr lang="en-US" sz="1400" dirty="0"/>
          </a:p>
        </p:txBody>
      </p:sp>
      <p:sp>
        <p:nvSpPr>
          <p:cNvPr id="45" name="Text 43"/>
          <p:cNvSpPr txBox="1"/>
          <p:nvPr/>
        </p:nvSpPr>
        <p:spPr>
          <a:xfrm>
            <a:off x="6400800" y="4343400"/>
            <a:ext cx="4983480" cy="914400"/>
          </a:xfrm>
          <a:prstGeom prst="rect">
            <a:avLst/>
          </a:prstGeom>
          <a:noFill/>
          <a:ln/>
        </p:spPr>
        <p:txBody>
          <a:bodyPr wrap="square" lIns="0" tIns="0" rIns="0" bIns="0" rtlCol="0" anchor="t"/>
          <a:lstStyle/>
          <a:p>
            <a:pPr indent="0" marL="0">
              <a:buNone/>
            </a:pPr>
            <a:r>
              <a:rPr lang="en-US" sz="1400" dirty="0">
                <a:solidFill>
                  <a:schemeClr val="tx2"/>
                </a:solidFill>
              </a:rPr>
              <a:t>Then use it on every problem of that type, and let the free check catch the cases it does not fit.</a:t>
            </a:r>
            <a:endParaRPr lang="en-US" sz="1400" dirty="0"/>
          </a:p>
        </p:txBody>
      </p:sp>
      <p:sp>
        <p:nvSpPr>
          <p:cNvPr id="46" name="Text 4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beats complete: the exact calls, nothing extra, from the same problem type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hint cost, and what does it save?</a:t>
            </a:r>
            <a:endParaRPr lang="en-US" sz="3600" dirty="0"/>
          </a:p>
        </p:txBody>
      </p:sp>
      <p:sp>
        <p:nvSpPr>
          <p:cNvPr id="3" name="hint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Cost: input tokens per prompt (optimization)</a:t>
            </a:r>
            <a:endParaRPr lang="en-US" sz="1800" dirty="0"/>
          </a:p>
        </p:txBody>
      </p:sp>
      <p:sp>
        <p:nvSpPr>
          <p:cNvPr id="5" name="Text 3"/>
          <p:cNvSpPr txBox="1"/>
          <p:nvPr/>
        </p:nvSpPr>
        <p:spPr>
          <a:xfrm>
            <a:off x="777240" y="182880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6" name="bar no hint"/>
          <p:cNvSpPr/>
          <p:nvPr/>
        </p:nvSpPr>
        <p:spPr>
          <a:xfrm>
            <a:off x="2743200" y="1911096"/>
            <a:ext cx="727405" cy="274320"/>
          </a:xfrm>
          <a:prstGeom prst="rect">
            <a:avLst/>
          </a:prstGeom>
          <a:solidFill>
            <a:srgbClr val="7F7F7F"/>
          </a:solidFill>
          <a:ln w="6350">
            <a:solidFill>
              <a:srgbClr val="7F7F7F"/>
            </a:solidFill>
            <a:prstDash val="solid"/>
          </a:ln>
        </p:spPr>
      </p:sp>
      <p:sp>
        <p:nvSpPr>
          <p:cNvPr id="7" name="Text 5"/>
          <p:cNvSpPr txBox="1"/>
          <p:nvPr/>
        </p:nvSpPr>
        <p:spPr>
          <a:xfrm>
            <a:off x="3562045" y="1828800"/>
            <a:ext cx="1280160" cy="438912"/>
          </a:xfrm>
          <a:prstGeom prst="rect">
            <a:avLst/>
          </a:prstGeom>
          <a:noFill/>
          <a:ln/>
        </p:spPr>
        <p:txBody>
          <a:bodyPr wrap="square" lIns="0" tIns="0" rIns="0" bIns="0" rtlCol="0" anchor="ctr"/>
          <a:lstStyle/>
          <a:p>
            <a:pPr indent="0" marL="0">
              <a:buNone/>
            </a:pPr>
            <a:r>
              <a:rPr lang="en-US" sz="1800" b="1" dirty="0">
                <a:solidFill>
                  <a:srgbClr val="7F7F7F"/>
                </a:solidFill>
              </a:rPr>
              <a:t>488</a:t>
            </a:r>
            <a:endParaRPr lang="en-US" sz="1800" dirty="0"/>
          </a:p>
        </p:txBody>
      </p:sp>
      <p:sp>
        <p:nvSpPr>
          <p:cNvPr id="8" name="Text 6"/>
          <p:cNvSpPr txBox="1"/>
          <p:nvPr/>
        </p:nvSpPr>
        <p:spPr>
          <a:xfrm>
            <a:off x="777240" y="237744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exact snippet</a:t>
            </a:r>
            <a:endParaRPr lang="en-US" sz="1600" dirty="0"/>
          </a:p>
        </p:txBody>
      </p:sp>
      <p:sp>
        <p:nvSpPr>
          <p:cNvPr id="9" name="bar exact snippet"/>
          <p:cNvSpPr/>
          <p:nvPr/>
        </p:nvSpPr>
        <p:spPr>
          <a:xfrm>
            <a:off x="2743200" y="2459736"/>
            <a:ext cx="1048817" cy="274320"/>
          </a:xfrm>
          <a:prstGeom prst="rect">
            <a:avLst/>
          </a:prstGeom>
          <a:solidFill>
            <a:srgbClr val="4472C4"/>
          </a:solidFill>
          <a:ln w="6350">
            <a:solidFill>
              <a:srgbClr val="4472C4"/>
            </a:solidFill>
            <a:prstDash val="solid"/>
          </a:ln>
        </p:spPr>
      </p:sp>
      <p:sp>
        <p:nvSpPr>
          <p:cNvPr id="10" name="Text 8"/>
          <p:cNvSpPr txBox="1"/>
          <p:nvPr/>
        </p:nvSpPr>
        <p:spPr>
          <a:xfrm>
            <a:off x="3883457" y="2377440"/>
            <a:ext cx="1280160" cy="438912"/>
          </a:xfrm>
          <a:prstGeom prst="rect">
            <a:avLst/>
          </a:prstGeom>
          <a:noFill/>
          <a:ln/>
        </p:spPr>
        <p:txBody>
          <a:bodyPr wrap="square" lIns="0" tIns="0" rIns="0" bIns="0" rtlCol="0" anchor="ctr"/>
          <a:lstStyle/>
          <a:p>
            <a:pPr indent="0" marL="0">
              <a:buNone/>
            </a:pPr>
            <a:r>
              <a:rPr lang="en-US" sz="1800" b="1" dirty="0">
                <a:solidFill>
                  <a:srgbClr val="4472C4"/>
                </a:solidFill>
              </a:rPr>
              <a:t>701 (+213)</a:t>
            </a:r>
            <a:endParaRPr lang="en-US" sz="1800" dirty="0"/>
          </a:p>
        </p:txBody>
      </p:sp>
      <p:sp>
        <p:nvSpPr>
          <p:cNvPr id="11" name="Text 9"/>
          <p:cNvSpPr txBox="1"/>
          <p:nvPr/>
        </p:nvSpPr>
        <p:spPr>
          <a:xfrm>
            <a:off x="777240" y="292608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12" name="bar long reference sheet"/>
          <p:cNvSpPr/>
          <p:nvPr/>
        </p:nvSpPr>
        <p:spPr>
          <a:xfrm>
            <a:off x="2743200" y="3008376"/>
            <a:ext cx="1336396" cy="274320"/>
          </a:xfrm>
          <a:prstGeom prst="rect">
            <a:avLst/>
          </a:prstGeom>
          <a:solidFill>
            <a:srgbClr val="C00000"/>
          </a:solidFill>
          <a:ln w="6350">
            <a:solidFill>
              <a:srgbClr val="C00000"/>
            </a:solidFill>
            <a:prstDash val="solid"/>
          </a:ln>
        </p:spPr>
      </p:sp>
      <p:sp>
        <p:nvSpPr>
          <p:cNvPr id="13" name="Text 11"/>
          <p:cNvSpPr txBox="1"/>
          <p:nvPr/>
        </p:nvSpPr>
        <p:spPr>
          <a:xfrm>
            <a:off x="4171036" y="292608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901</a:t>
            </a:r>
            <a:endParaRPr lang="en-US" sz="1800" dirty="0"/>
          </a:p>
        </p:txBody>
      </p:sp>
      <p:sp>
        <p:nvSpPr>
          <p:cNvPr id="14" name="Text 12"/>
          <p:cNvSpPr txBox="1"/>
          <p:nvPr/>
        </p:nvSpPr>
        <p:spPr>
          <a:xfrm>
            <a:off x="777240" y="347472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search, top 3</a:t>
            </a:r>
            <a:endParaRPr lang="en-US" sz="1600" dirty="0"/>
          </a:p>
        </p:txBody>
      </p:sp>
      <p:sp>
        <p:nvSpPr>
          <p:cNvPr id="15" name="bar search, top 3"/>
          <p:cNvSpPr/>
          <p:nvPr/>
        </p:nvSpPr>
        <p:spPr>
          <a:xfrm>
            <a:off x="2743200" y="3557016"/>
            <a:ext cx="1691640" cy="274320"/>
          </a:xfrm>
          <a:prstGeom prst="rect">
            <a:avLst/>
          </a:prstGeom>
          <a:solidFill>
            <a:srgbClr val="C00000"/>
          </a:solidFill>
          <a:ln w="6350">
            <a:solidFill>
              <a:srgbClr val="C00000"/>
            </a:solidFill>
            <a:prstDash val="solid"/>
          </a:ln>
        </p:spPr>
      </p:sp>
      <p:sp>
        <p:nvSpPr>
          <p:cNvPr id="16" name="Text 14"/>
          <p:cNvSpPr txBox="1"/>
          <p:nvPr/>
        </p:nvSpPr>
        <p:spPr>
          <a:xfrm>
            <a:off x="4526280" y="347472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1,138</a:t>
            </a:r>
            <a:endParaRPr lang="en-US" sz="1800" dirty="0"/>
          </a:p>
        </p:txBody>
      </p:sp>
      <p:sp>
        <p:nvSpPr>
          <p:cNvPr id="17" name="Text 15"/>
          <p:cNvSpPr txBox="1"/>
          <p:nvPr/>
        </p:nvSpPr>
        <p:spPr>
          <a:xfrm>
            <a:off x="777240" y="4114800"/>
            <a:ext cx="4983480" cy="1280160"/>
          </a:xfrm>
          <a:prstGeom prst="rect">
            <a:avLst/>
          </a:prstGeom>
          <a:noFill/>
          <a:ln/>
        </p:spPr>
        <p:txBody>
          <a:bodyPr wrap="square" lIns="0" tIns="0" rIns="0" bIns="0" rtlCol="0" anchor="t"/>
          <a:lstStyle/>
          <a:p>
            <a:pPr indent="0" marL="0">
              <a:buNone/>
            </a:pPr>
            <a:r>
              <a:rPr lang="en-US" sz="1400" dirty="0">
                <a:solidFill>
                  <a:schemeClr val="tx2"/>
                </a:solidFill>
              </a:rPr>
              <a:t>Geometry: all helper functions add 912 input tokens, only the needed ones 113. Input tokens are cheaper than output tokens and can be cached across problems of one type.</a:t>
            </a:r>
            <a:endParaRPr lang="en-US" sz="1400" dirty="0"/>
          </a:p>
        </p:txBody>
      </p:sp>
      <p:sp>
        <p:nvSpPr>
          <p:cNvPr id="18" name="hint saves"/>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9" name="Text 17"/>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Saving: output tokens per problem</a:t>
            </a:r>
            <a:endParaRPr lang="en-US" sz="1800" dirty="0"/>
          </a:p>
        </p:txBody>
      </p:sp>
      <p:sp>
        <p:nvSpPr>
          <p:cNvPr id="20" name="Text 18"/>
          <p:cNvSpPr txBox="1"/>
          <p:nvPr/>
        </p:nvSpPr>
        <p:spPr>
          <a:xfrm>
            <a:off x="6400800" y="178308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Word problems (Qwen3-32B)</a:t>
            </a:r>
            <a:endParaRPr lang="en-US" sz="1500" dirty="0"/>
          </a:p>
        </p:txBody>
      </p:sp>
      <p:sp>
        <p:nvSpPr>
          <p:cNvPr id="21" name="Text 19"/>
          <p:cNvSpPr txBox="1"/>
          <p:nvPr/>
        </p:nvSpPr>
        <p:spPr>
          <a:xfrm>
            <a:off x="8686800" y="20574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2" name="Text 20"/>
          <p:cNvSpPr txBox="1"/>
          <p:nvPr/>
        </p:nvSpPr>
        <p:spPr>
          <a:xfrm>
            <a:off x="9601200" y="20574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3" name="Text 21"/>
          <p:cNvSpPr txBox="1"/>
          <p:nvPr/>
        </p:nvSpPr>
        <p:spPr>
          <a:xfrm>
            <a:off x="6400800" y="24231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 always think</a:t>
            </a:r>
            <a:endParaRPr lang="en-US" sz="1500" dirty="0"/>
          </a:p>
        </p:txBody>
      </p:sp>
      <p:sp>
        <p:nvSpPr>
          <p:cNvPr id="24" name="Text 22"/>
          <p:cNvSpPr txBox="1"/>
          <p:nvPr/>
        </p:nvSpPr>
        <p:spPr>
          <a:xfrm>
            <a:off x="8686800" y="24231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72.0%</a:t>
            </a:r>
            <a:endParaRPr lang="en-US" sz="1700" dirty="0"/>
          </a:p>
        </p:txBody>
      </p:sp>
      <p:sp>
        <p:nvSpPr>
          <p:cNvPr id="25" name="tokens hint + always think"/>
          <p:cNvSpPr/>
          <p:nvPr/>
        </p:nvSpPr>
        <p:spPr>
          <a:xfrm>
            <a:off x="9601200" y="2523744"/>
            <a:ext cx="1051560" cy="256032"/>
          </a:xfrm>
          <a:prstGeom prst="rect">
            <a:avLst/>
          </a:prstGeom>
          <a:solidFill>
            <a:srgbClr val="7F7F7F"/>
          </a:solidFill>
          <a:ln w="6350">
            <a:solidFill>
              <a:srgbClr val="7F7F7F"/>
            </a:solidFill>
            <a:prstDash val="solid"/>
          </a:ln>
        </p:spPr>
      </p:sp>
      <p:sp>
        <p:nvSpPr>
          <p:cNvPr id="26" name="Text 24"/>
          <p:cNvSpPr txBox="1"/>
          <p:nvPr/>
        </p:nvSpPr>
        <p:spPr>
          <a:xfrm>
            <a:off x="10744200" y="24231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5.5k</a:t>
            </a:r>
            <a:endParaRPr lang="en-US" sz="1500" dirty="0"/>
          </a:p>
        </p:txBody>
      </p:sp>
      <p:sp>
        <p:nvSpPr>
          <p:cNvPr id="27" name="Text 25"/>
          <p:cNvSpPr txBox="1"/>
          <p:nvPr/>
        </p:nvSpPr>
        <p:spPr>
          <a:xfrm>
            <a:off x="6400800" y="2862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28" name="Text 26"/>
          <p:cNvSpPr txBox="1"/>
          <p:nvPr/>
        </p:nvSpPr>
        <p:spPr>
          <a:xfrm>
            <a:off x="8686800" y="2862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29" name="tokens hint first, think on failure"/>
          <p:cNvSpPr/>
          <p:nvPr/>
        </p:nvSpPr>
        <p:spPr>
          <a:xfrm>
            <a:off x="9601200" y="2962656"/>
            <a:ext cx="248551" cy="256032"/>
          </a:xfrm>
          <a:prstGeom prst="rect">
            <a:avLst/>
          </a:prstGeom>
          <a:solidFill>
            <a:srgbClr val="4472C4"/>
          </a:solidFill>
          <a:ln w="6350">
            <a:solidFill>
              <a:srgbClr val="4472C4"/>
            </a:solidFill>
            <a:prstDash val="solid"/>
          </a:ln>
        </p:spPr>
      </p:sp>
      <p:sp>
        <p:nvSpPr>
          <p:cNvPr id="30" name="Text 28"/>
          <p:cNvSpPr txBox="1"/>
          <p:nvPr/>
        </p:nvSpPr>
        <p:spPr>
          <a:xfrm>
            <a:off x="9941191" y="2862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1" name="Text 29"/>
          <p:cNvSpPr txBox="1"/>
          <p:nvPr/>
        </p:nvSpPr>
        <p:spPr>
          <a:xfrm>
            <a:off x="6400800" y="340156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208 geometry + optimization problems × 3 models</a:t>
            </a:r>
            <a:endParaRPr lang="en-US" sz="1500" dirty="0"/>
          </a:p>
        </p:txBody>
      </p:sp>
      <p:sp>
        <p:nvSpPr>
          <p:cNvPr id="32" name="Text 30"/>
          <p:cNvSpPr txBox="1"/>
          <p:nvPr/>
        </p:nvSpPr>
        <p:spPr>
          <a:xfrm>
            <a:off x="8686800" y="36576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3" name="Text 31"/>
          <p:cNvSpPr txBox="1"/>
          <p:nvPr/>
        </p:nvSpPr>
        <p:spPr>
          <a:xfrm>
            <a:off x="9601200" y="36576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4" name="Text 32"/>
          <p:cNvSpPr txBox="1"/>
          <p:nvPr/>
        </p:nvSpPr>
        <p:spPr>
          <a:xfrm>
            <a:off x="6400800" y="40233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no hint (usual way)</a:t>
            </a:r>
            <a:endParaRPr lang="en-US" sz="1500" dirty="0"/>
          </a:p>
        </p:txBody>
      </p:sp>
      <p:sp>
        <p:nvSpPr>
          <p:cNvPr id="35" name="Text 33"/>
          <p:cNvSpPr txBox="1"/>
          <p:nvPr/>
        </p:nvSpPr>
        <p:spPr>
          <a:xfrm>
            <a:off x="8686800" y="40233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36" name="tokens no hint (usual way)"/>
          <p:cNvSpPr/>
          <p:nvPr/>
        </p:nvSpPr>
        <p:spPr>
          <a:xfrm>
            <a:off x="9601200" y="4123944"/>
            <a:ext cx="783890" cy="256032"/>
          </a:xfrm>
          <a:prstGeom prst="rect">
            <a:avLst/>
          </a:prstGeom>
          <a:solidFill>
            <a:srgbClr val="7F7F7F"/>
          </a:solidFill>
          <a:ln w="6350">
            <a:solidFill>
              <a:srgbClr val="7F7F7F"/>
            </a:solidFill>
            <a:prstDash val="solid"/>
          </a:ln>
        </p:spPr>
      </p:sp>
      <p:sp>
        <p:nvSpPr>
          <p:cNvPr id="37" name="Text 35"/>
          <p:cNvSpPr txBox="1"/>
          <p:nvPr/>
        </p:nvSpPr>
        <p:spPr>
          <a:xfrm>
            <a:off x="10476530" y="40233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38" name="Text 36"/>
          <p:cNvSpPr txBox="1"/>
          <p:nvPr/>
        </p:nvSpPr>
        <p:spPr>
          <a:xfrm>
            <a:off x="6400800" y="44622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9" name="Text 37"/>
          <p:cNvSpPr txBox="1"/>
          <p:nvPr/>
        </p:nvSpPr>
        <p:spPr>
          <a:xfrm>
            <a:off x="8686800" y="44622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40" name="tokens hint first, think on failure"/>
          <p:cNvSpPr/>
          <p:nvPr/>
        </p:nvSpPr>
        <p:spPr>
          <a:xfrm>
            <a:off x="9601200" y="4562856"/>
            <a:ext cx="477982" cy="256032"/>
          </a:xfrm>
          <a:prstGeom prst="rect">
            <a:avLst/>
          </a:prstGeom>
          <a:solidFill>
            <a:srgbClr val="4472C4"/>
          </a:solidFill>
          <a:ln w="6350">
            <a:solidFill>
              <a:srgbClr val="4472C4"/>
            </a:solidFill>
            <a:prstDash val="solid"/>
          </a:ln>
        </p:spPr>
      </p:sp>
      <p:sp>
        <p:nvSpPr>
          <p:cNvPr id="41" name="Text 39"/>
          <p:cNvSpPr txBox="1"/>
          <p:nvPr/>
        </p:nvSpPr>
        <p:spPr>
          <a:xfrm>
            <a:off x="10170622" y="44622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2" name="Text 40"/>
          <p:cNvSpPr txBox="1"/>
          <p:nvPr/>
        </p:nvSpPr>
        <p:spPr>
          <a:xfrm>
            <a:off x="6400800" y="4956048"/>
            <a:ext cx="4983480" cy="502920"/>
          </a:xfrm>
          <a:prstGeom prst="rect">
            <a:avLst/>
          </a:prstGeom>
          <a:noFill/>
          <a:ln/>
        </p:spPr>
        <p:txBody>
          <a:bodyPr wrap="square" lIns="0" tIns="0" rIns="0" bIns="0" rtlCol="0" anchor="t"/>
          <a:lstStyle/>
          <a:p>
            <a:pPr indent="0" marL="0">
              <a:buNone/>
            </a:pPr>
            <a:r>
              <a:rPr lang="en-US" sz="1400" dirty="0">
                <a:solidFill>
                  <a:schemeClr val="tx2"/>
                </a:solidFill>
              </a:rPr>
              <a:t>One-time cost per type: an expert's time, a snippet library, or one pass over past problems.</a:t>
            </a:r>
            <a:endParaRPr lang="en-US" sz="1400" dirty="0"/>
          </a:p>
        </p:txBody>
      </p:sp>
      <p:sp>
        <p:nvSpPr>
          <p:cNvPr id="43" name="Text 4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hint adds about 200 input tokens and saves thousands of thinking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(one run)</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24).</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run):</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make a check catch more?</a:t>
            </a:r>
            <a:endParaRPr lang="en-US" sz="3600" dirty="0"/>
          </a:p>
        </p:txBody>
      </p:sp>
      <p:sp>
        <p:nvSpPr>
          <p:cNvPr id="3" name="make the second view different"/>
          <p:cNvSpPr/>
          <p:nvPr/>
        </p:nvSpPr>
        <p:spPr>
          <a:xfrm>
            <a:off x="548640" y="1280160"/>
            <a:ext cx="603504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5577840" cy="384048"/>
          </a:xfrm>
          <a:prstGeom prst="rect">
            <a:avLst/>
          </a:prstGeom>
          <a:noFill/>
          <a:ln/>
        </p:spPr>
        <p:txBody>
          <a:bodyPr wrap="square" lIns="0" tIns="0" rIns="0" bIns="0" rtlCol="0" anchor="ctr"/>
          <a:lstStyle/>
          <a:p>
            <a:pPr indent="0" marL="0">
              <a:buNone/>
            </a:pPr>
            <a:r>
              <a:rPr lang="en-US" sz="1800" b="1" dirty="0">
                <a:solidFill>
                  <a:srgbClr val="4472C4"/>
                </a:solidFill>
              </a:rPr>
              <a:t>The second view must make different mistakes</a:t>
            </a:r>
            <a:endParaRPr lang="en-US" sz="1800" dirty="0"/>
          </a:p>
        </p:txBody>
      </p:sp>
      <p:sp>
        <p:nvSpPr>
          <p:cNvPr id="5" name="Text 3"/>
          <p:cNvSpPr txBox="1"/>
          <p:nvPr/>
        </p:nvSpPr>
        <p:spPr>
          <a:xfrm>
            <a:off x="777240" y="1828800"/>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28800"/>
            <a:ext cx="3017520" cy="502920"/>
          </a:xfrm>
          <a:prstGeom prst="rect">
            <a:avLst/>
          </a:prstGeom>
          <a:noFill/>
          <a:ln/>
        </p:spPr>
        <p:txBody>
          <a:bodyPr wrap="square" lIns="0" tIns="0" rIns="0" bIns="0" rtlCol="0" anchor="ctr"/>
          <a:lstStyle/>
          <a:p>
            <a:pPr indent="0" marL="0">
              <a:buNone/>
            </a:pPr>
            <a:r>
              <a:rPr lang="en-US" sz="1400" dirty="0">
                <a:solidFill>
                  <a:schemeClr val="tx1"/>
                </a:solidFill>
              </a:rPr>
              <a:t>run it on moved and turned copies</a:t>
            </a:r>
            <a:endParaRPr lang="en-US" sz="1400" dirty="0"/>
          </a:p>
        </p:txBody>
      </p:sp>
      <p:sp>
        <p:nvSpPr>
          <p:cNvPr id="7" name="Text 5"/>
          <p:cNvSpPr txBox="1"/>
          <p:nvPr/>
        </p:nvSpPr>
        <p:spPr>
          <a:xfrm>
            <a:off x="4114800" y="1828800"/>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picks the right program 99.7%</a:t>
            </a:r>
            <a:endParaRPr lang="en-US" sz="1400" dirty="0"/>
          </a:p>
        </p:txBody>
      </p:sp>
      <p:sp>
        <p:nvSpPr>
          <p:cNvPr id="8" name="Text 6"/>
          <p:cNvSpPr txBox="1"/>
          <p:nvPr/>
        </p:nvSpPr>
        <p:spPr>
          <a:xfrm>
            <a:off x="777240" y="2395728"/>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95728"/>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with and without helpers</a:t>
            </a:r>
            <a:endParaRPr lang="en-US" sz="1400" dirty="0"/>
          </a:p>
        </p:txBody>
      </p:sp>
      <p:sp>
        <p:nvSpPr>
          <p:cNvPr id="10" name="Text 8"/>
          <p:cNvSpPr txBox="1"/>
          <p:nvPr/>
        </p:nvSpPr>
        <p:spPr>
          <a:xfrm>
            <a:off x="4114800" y="2395728"/>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99% vs 98% always thinking</a:t>
            </a:r>
            <a:endParaRPr lang="en-US" sz="1400" dirty="0"/>
          </a:p>
        </p:txBody>
      </p:sp>
      <p:sp>
        <p:nvSpPr>
          <p:cNvPr id="11" name="Text 9"/>
          <p:cNvSpPr txBox="1"/>
          <p:nvPr/>
        </p:nvSpPr>
        <p:spPr>
          <a:xfrm>
            <a:off x="777240" y="2962656"/>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962656"/>
            <a:ext cx="3017520" cy="502920"/>
          </a:xfrm>
          <a:prstGeom prst="rect">
            <a:avLst/>
          </a:prstGeom>
          <a:noFill/>
          <a:ln/>
        </p:spPr>
        <p:txBody>
          <a:bodyPr wrap="square" lIns="0" tIns="0" rIns="0" bIns="0" rtlCol="0" anchor="ctr"/>
          <a:lstStyle/>
          <a:p>
            <a:pPr indent="0" marL="0">
              <a:buNone/>
            </a:pPr>
            <a:r>
              <a:rPr lang="en-US" sz="1400" dirty="0">
                <a:solidFill>
                  <a:schemeClr val="tx1"/>
                </a:solidFill>
              </a:rPr>
              <a:t>examples + a brute-force version</a:t>
            </a:r>
            <a:endParaRPr lang="en-US" sz="1400" dirty="0"/>
          </a:p>
        </p:txBody>
      </p:sp>
      <p:sp>
        <p:nvSpPr>
          <p:cNvPr id="13" name="Text 11"/>
          <p:cNvSpPr txBox="1"/>
          <p:nvPr/>
        </p:nvSpPr>
        <p:spPr>
          <a:xfrm>
            <a:off x="4114800" y="2962656"/>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65.0% → 66.3% (contest)</a:t>
            </a:r>
            <a:endParaRPr lang="en-US" sz="1400" dirty="0"/>
          </a:p>
        </p:txBody>
      </p:sp>
      <p:sp>
        <p:nvSpPr>
          <p:cNvPr id="14" name="Text 12"/>
          <p:cNvSpPr txBox="1"/>
          <p:nvPr/>
        </p:nvSpPr>
        <p:spPr>
          <a:xfrm>
            <a:off x="777240" y="3529584"/>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5" name="Text 13"/>
          <p:cNvSpPr txBox="1"/>
          <p:nvPr/>
        </p:nvSpPr>
        <p:spPr>
          <a:xfrm>
            <a:off x="1078992" y="3529584"/>
            <a:ext cx="3017520" cy="502920"/>
          </a:xfrm>
          <a:prstGeom prst="rect">
            <a:avLst/>
          </a:prstGeom>
          <a:noFill/>
          <a:ln/>
        </p:spPr>
        <p:txBody>
          <a:bodyPr wrap="square" lIns="0" tIns="0" rIns="0" bIns="0" rtlCol="0" anchor="ctr"/>
          <a:lstStyle/>
          <a:p>
            <a:pPr indent="0" marL="0">
              <a:buNone/>
            </a:pPr>
            <a:r>
              <a:rPr lang="en-US" sz="1400" dirty="0">
                <a:solidFill>
                  <a:schemeClr val="tx1"/>
                </a:solidFill>
              </a:rPr>
              <a:t>a text answer next to the program</a:t>
            </a:r>
            <a:endParaRPr lang="en-US" sz="1400" dirty="0"/>
          </a:p>
        </p:txBody>
      </p:sp>
      <p:sp>
        <p:nvSpPr>
          <p:cNvPr id="16" name="Text 14"/>
          <p:cNvSpPr txBox="1"/>
          <p:nvPr/>
        </p:nvSpPr>
        <p:spPr>
          <a:xfrm>
            <a:off x="4114800" y="3529584"/>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wrong agreements 17% → 10%</a:t>
            </a:r>
            <a:endParaRPr lang="en-US" sz="1400" dirty="0"/>
          </a:p>
        </p:txBody>
      </p:sp>
      <p:sp>
        <p:nvSpPr>
          <p:cNvPr id="17" name="Text 15"/>
          <p:cNvSpPr txBox="1"/>
          <p:nvPr/>
        </p:nvSpPr>
        <p:spPr>
          <a:xfrm>
            <a:off x="777240" y="4096512"/>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4096512"/>
            <a:ext cx="3017520" cy="502920"/>
          </a:xfrm>
          <a:prstGeom prst="rect">
            <a:avLst/>
          </a:prstGeom>
          <a:noFill/>
          <a:ln/>
        </p:spPr>
        <p:txBody>
          <a:bodyPr wrap="square" lIns="0" tIns="0" rIns="0" bIns="0" rtlCol="0" anchor="ctr"/>
          <a:lstStyle/>
          <a:p>
            <a:pPr indent="0" marL="0">
              <a:buNone/>
            </a:pPr>
            <a:r>
              <a:rPr lang="en-US" sz="1400" dirty="0">
                <a:solidFill>
                  <a:schemeClr val="tx1"/>
                </a:solidFill>
              </a:rPr>
              <a:t>the same model asked again (majority vote)</a:t>
            </a:r>
            <a:endParaRPr lang="en-US" sz="1400" dirty="0"/>
          </a:p>
        </p:txBody>
      </p:sp>
      <p:sp>
        <p:nvSpPr>
          <p:cNvPr id="19" name="Text 17"/>
          <p:cNvSpPr txBox="1"/>
          <p:nvPr/>
        </p:nvSpPr>
        <p:spPr>
          <a:xfrm>
            <a:off x="4114800" y="4096512"/>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4.3% picked wrong</a:t>
            </a:r>
            <a:endParaRPr lang="en-US" sz="1400" dirty="0"/>
          </a:p>
        </p:txBody>
      </p:sp>
      <p:sp>
        <p:nvSpPr>
          <p:cNvPr id="20" name="Text 18"/>
          <p:cNvSpPr txBox="1"/>
          <p:nvPr/>
        </p:nvSpPr>
        <p:spPr>
          <a:xfrm>
            <a:off x="777240" y="4663440"/>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663440"/>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that share a mistake</a:t>
            </a:r>
            <a:endParaRPr lang="en-US" sz="1400" dirty="0"/>
          </a:p>
        </p:txBody>
      </p:sp>
      <p:sp>
        <p:nvSpPr>
          <p:cNvPr id="22" name="Text 20"/>
          <p:cNvSpPr txBox="1"/>
          <p:nvPr/>
        </p:nvSpPr>
        <p:spPr>
          <a:xfrm>
            <a:off x="4114800" y="4663440"/>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no gain, more tokens</a:t>
            </a:r>
            <a:endParaRPr lang="en-US" sz="1400" dirty="0"/>
          </a:p>
        </p:txBody>
      </p:sp>
      <p:sp>
        <p:nvSpPr>
          <p:cNvPr id="23" name="how much a better check buys"/>
          <p:cNvSpPr/>
          <p:nvPr/>
        </p:nvSpPr>
        <p:spPr>
          <a:xfrm>
            <a:off x="6766560" y="1280160"/>
            <a:ext cx="4846320" cy="4251960"/>
          </a:xfrm>
          <a:prstGeom prst="roundRect">
            <a:avLst>
              <a:gd name="adj" fmla="val 1720"/>
            </a:avLst>
          </a:prstGeom>
          <a:solidFill>
            <a:srgbClr val="F2F2F2"/>
          </a:solidFill>
          <a:ln w="9525">
            <a:solidFill>
              <a:srgbClr val="D9D9D9"/>
            </a:solidFill>
            <a:prstDash val="solid"/>
          </a:ln>
        </p:spPr>
      </p:sp>
      <p:sp>
        <p:nvSpPr>
          <p:cNvPr id="24" name="Text 22"/>
          <p:cNvSpPr txBox="1"/>
          <p:nvPr/>
        </p:nvSpPr>
        <p:spPr>
          <a:xfrm>
            <a:off x="6995160" y="1353312"/>
            <a:ext cx="4480560" cy="384048"/>
          </a:xfrm>
          <a:prstGeom prst="rect">
            <a:avLst/>
          </a:prstGeom>
          <a:noFill/>
          <a:ln/>
        </p:spPr>
        <p:txBody>
          <a:bodyPr wrap="square" lIns="0" tIns="0" rIns="0" bIns="0" rtlCol="0" anchor="ctr"/>
          <a:lstStyle/>
          <a:p>
            <a:pPr indent="0" marL="0">
              <a:buNone/>
            </a:pPr>
            <a:r>
              <a:rPr lang="en-US" sz="1800" b="1" dirty="0">
                <a:solidFill>
                  <a:srgbClr val="4472C4"/>
                </a:solidFill>
              </a:rPr>
              <a:t>How much can a better check still buy?</a:t>
            </a:r>
            <a:endParaRPr lang="en-US" sz="1800" dirty="0"/>
          </a:p>
        </p:txBody>
      </p:sp>
      <p:sp>
        <p:nvSpPr>
          <p:cNvPr id="25" name="Text 23"/>
          <p:cNvSpPr txBox="1"/>
          <p:nvPr/>
        </p:nvSpPr>
        <p:spPr>
          <a:xfrm>
            <a:off x="6995160" y="182880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24–37%</a:t>
            </a:r>
            <a:endParaRPr lang="en-US" sz="2400" dirty="0"/>
          </a:p>
        </p:txBody>
      </p:sp>
      <p:sp>
        <p:nvSpPr>
          <p:cNvPr id="26" name="Text 24"/>
          <p:cNvSpPr txBox="1"/>
          <p:nvPr/>
        </p:nvSpPr>
        <p:spPr>
          <a:xfrm>
            <a:off x="6995160" y="226771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wrong contest programs pass the examples</a:t>
            </a:r>
            <a:endParaRPr lang="en-US" sz="1400" dirty="0"/>
          </a:p>
        </p:txBody>
      </p:sp>
      <p:sp>
        <p:nvSpPr>
          <p:cNvPr id="27" name="Text 25"/>
          <p:cNvSpPr txBox="1"/>
          <p:nvPr/>
        </p:nvSpPr>
        <p:spPr>
          <a:xfrm>
            <a:off x="6995160" y="292608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12–16%</a:t>
            </a:r>
            <a:endParaRPr lang="en-US" sz="2400" dirty="0"/>
          </a:p>
        </p:txBody>
      </p:sp>
      <p:sp>
        <p:nvSpPr>
          <p:cNvPr id="28" name="Text 26"/>
          <p:cNvSpPr txBox="1"/>
          <p:nvPr/>
        </p:nvSpPr>
        <p:spPr>
          <a:xfrm>
            <a:off x="6995160" y="336499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word problems: two programs agree, both wrong</a:t>
            </a:r>
            <a:endParaRPr lang="en-US" sz="1400" dirty="0"/>
          </a:p>
        </p:txBody>
      </p:sp>
      <p:sp>
        <p:nvSpPr>
          <p:cNvPr id="29" name="Text 27"/>
          <p:cNvSpPr txBox="1"/>
          <p:nvPr/>
        </p:nvSpPr>
        <p:spPr>
          <a:xfrm>
            <a:off x="6995160" y="4023360"/>
            <a:ext cx="4480560" cy="457200"/>
          </a:xfrm>
          <a:prstGeom prst="rect">
            <a:avLst/>
          </a:prstGeom>
          <a:noFill/>
          <a:ln/>
        </p:spPr>
        <p:txBody>
          <a:bodyPr wrap="square" lIns="0" tIns="0" rIns="0" bIns="0" rtlCol="0" anchor="ctr"/>
          <a:lstStyle/>
          <a:p>
            <a:pPr indent="0" marL="0">
              <a:buNone/>
            </a:pPr>
            <a:r>
              <a:rPr lang="en-US" sz="2400" b="1" dirty="0">
                <a:solidFill>
                  <a:srgbClr val="4472C4"/>
                </a:solidFill>
              </a:rPr>
              <a:t>+1 to +3</a:t>
            </a:r>
            <a:endParaRPr lang="en-US" sz="2400" dirty="0"/>
          </a:p>
        </p:txBody>
      </p:sp>
      <p:sp>
        <p:nvSpPr>
          <p:cNvPr id="30" name="Text 28"/>
          <p:cNvSpPr txBox="1"/>
          <p:nvPr/>
        </p:nvSpPr>
        <p:spPr>
          <a:xfrm>
            <a:off x="6995160" y="4462272"/>
            <a:ext cx="4480560" cy="594360"/>
          </a:xfrm>
          <a:prstGeom prst="rect">
            <a:avLst/>
          </a:prstGeom>
          <a:noFill/>
          <a:ln/>
        </p:spPr>
        <p:txBody>
          <a:bodyPr wrap="square" lIns="0" tIns="0" rIns="0" bIns="0" rtlCol="0" anchor="t"/>
          <a:lstStyle/>
          <a:p>
            <a:pPr indent="0" marL="0">
              <a:buNone/>
            </a:pPr>
            <a:r>
              <a:rPr lang="en-US" sz="1400" dirty="0">
                <a:solidFill>
                  <a:schemeClr val="tx1"/>
                </a:solidFill>
              </a:rPr>
              <a:t>points from a PERFECT check (14B and larger), because thinking fixes only 7–16% of those</a:t>
            </a:r>
            <a:endParaRPr lang="en-US" sz="1400" dirty="0"/>
          </a:p>
        </p:txBody>
      </p:sp>
      <p:sp>
        <p:nvSpPr>
          <p:cNvPr id="31" name="Text 2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works when its second view errs differently; past that, improve the solving, not the check</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check cost, and when is it worth it?</a:t>
            </a:r>
            <a:endParaRPr lang="en-US" sz="3600" dirty="0"/>
          </a:p>
        </p:txBody>
      </p:sp>
      <p:sp>
        <p:nvSpPr>
          <p:cNvPr id="3" name="check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Extra tokens per problem for each check</a:t>
            </a:r>
            <a:endParaRPr lang="en-US" sz="1800" dirty="0"/>
          </a:p>
        </p:txBody>
      </p:sp>
      <p:sp>
        <p:nvSpPr>
          <p:cNvPr id="5" name="Text 3"/>
          <p:cNvSpPr txBox="1"/>
          <p:nvPr/>
        </p:nvSpPr>
        <p:spPr>
          <a:xfrm>
            <a:off x="777240" y="1828800"/>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examples in the problem</a:t>
            </a:r>
            <a:endParaRPr lang="en-US" sz="1400" dirty="0"/>
          </a:p>
        </p:txBody>
      </p:sp>
      <p:sp>
        <p:nvSpPr>
          <p:cNvPr id="6" name="Text 4"/>
          <p:cNvSpPr txBox="1"/>
          <p:nvPr/>
        </p:nvSpPr>
        <p:spPr>
          <a:xfrm>
            <a:off x="3749040" y="1828800"/>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7" name="Text 5"/>
          <p:cNvSpPr txBox="1"/>
          <p:nvPr/>
        </p:nvSpPr>
        <p:spPr>
          <a:xfrm>
            <a:off x="777240" y="2395728"/>
            <a:ext cx="2926080" cy="502920"/>
          </a:xfrm>
          <a:prstGeom prst="rect">
            <a:avLst/>
          </a:prstGeom>
          <a:noFill/>
          <a:ln/>
        </p:spPr>
        <p:txBody>
          <a:bodyPr wrap="square" lIns="0" tIns="0" rIns="0" bIns="0" rtlCol="0" anchor="ctr"/>
          <a:lstStyle/>
          <a:p>
            <a:pPr indent="0" marL="0">
              <a:buNone/>
            </a:pPr>
            <a:r>
              <a:rPr lang="en-US" sz="1400" dirty="0">
                <a:solidFill>
                  <a:schemeClr val="tx1"/>
                </a:solidFill>
              </a:rPr>
              <a:t>moved and turned copies</a:t>
            </a:r>
            <a:endParaRPr lang="en-US" sz="1400" dirty="0"/>
          </a:p>
        </p:txBody>
      </p:sp>
      <p:sp>
        <p:nvSpPr>
          <p:cNvPr id="8" name="Text 6"/>
          <p:cNvSpPr txBox="1"/>
          <p:nvPr/>
        </p:nvSpPr>
        <p:spPr>
          <a:xfrm>
            <a:off x="3749040" y="2395728"/>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9" name="Text 7"/>
          <p:cNvSpPr txBox="1"/>
          <p:nvPr/>
        </p:nvSpPr>
        <p:spPr>
          <a:xfrm>
            <a:off x="777240" y="2962656"/>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rules of a plan (routing)</a:t>
            </a:r>
            <a:endParaRPr lang="en-US" sz="1400" dirty="0"/>
          </a:p>
        </p:txBody>
      </p:sp>
      <p:sp>
        <p:nvSpPr>
          <p:cNvPr id="10" name="Text 8"/>
          <p:cNvSpPr txBox="1"/>
          <p:nvPr/>
        </p:nvSpPr>
        <p:spPr>
          <a:xfrm>
            <a:off x="3749040" y="2962656"/>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11" name="Text 9"/>
          <p:cNvSpPr txBox="1"/>
          <p:nvPr/>
        </p:nvSpPr>
        <p:spPr>
          <a:xfrm>
            <a:off x="777240" y="3529584"/>
            <a:ext cx="2926080" cy="502920"/>
          </a:xfrm>
          <a:prstGeom prst="rect">
            <a:avLst/>
          </a:prstGeom>
          <a:noFill/>
          <a:ln/>
        </p:spPr>
        <p:txBody>
          <a:bodyPr wrap="square" lIns="0" tIns="0" rIns="0" bIns="0" rtlCol="0" anchor="ctr"/>
          <a:lstStyle/>
          <a:p>
            <a:pPr indent="0" marL="0">
              <a:buNone/>
            </a:pPr>
            <a:r>
              <a:rPr lang="en-US" sz="1400" dirty="0">
                <a:solidFill>
                  <a:schemeClr val="tx1"/>
                </a:solidFill>
              </a:rPr>
              <a:t>model-written tests (CodeT)</a:t>
            </a:r>
            <a:endParaRPr lang="en-US" sz="1400" dirty="0"/>
          </a:p>
        </p:txBody>
      </p:sp>
      <p:sp>
        <p:nvSpPr>
          <p:cNvPr id="12" name="Text 10"/>
          <p:cNvSpPr txBox="1"/>
          <p:nvPr/>
        </p:nvSpPr>
        <p:spPr>
          <a:xfrm>
            <a:off x="3749040" y="3529584"/>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+340</a:t>
            </a:r>
            <a:endParaRPr lang="en-US" sz="1400" dirty="0"/>
          </a:p>
        </p:txBody>
      </p:sp>
      <p:sp>
        <p:nvSpPr>
          <p:cNvPr id="13" name="Text 11"/>
          <p:cNvSpPr txBox="1"/>
          <p:nvPr/>
        </p:nvSpPr>
        <p:spPr>
          <a:xfrm>
            <a:off x="777240" y="4096512"/>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second version of the program</a:t>
            </a:r>
            <a:endParaRPr lang="en-US" sz="1400" dirty="0"/>
          </a:p>
        </p:txBody>
      </p:sp>
      <p:sp>
        <p:nvSpPr>
          <p:cNvPr id="14" name="Text 12"/>
          <p:cNvSpPr txBox="1"/>
          <p:nvPr/>
        </p:nvSpPr>
        <p:spPr>
          <a:xfrm>
            <a:off x="3749040" y="4096512"/>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one more program</a:t>
            </a:r>
            <a:endParaRPr lang="en-US" sz="1400" dirty="0"/>
          </a:p>
        </p:txBody>
      </p:sp>
      <p:sp>
        <p:nvSpPr>
          <p:cNvPr id="15" name="Text 13"/>
          <p:cNvSpPr txBox="1"/>
          <p:nvPr/>
        </p:nvSpPr>
        <p:spPr>
          <a:xfrm>
            <a:off x="777240" y="4663440"/>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slow brute-force version</a:t>
            </a:r>
            <a:endParaRPr lang="en-US" sz="1400" dirty="0"/>
          </a:p>
        </p:txBody>
      </p:sp>
      <p:sp>
        <p:nvSpPr>
          <p:cNvPr id="16" name="Text 14"/>
          <p:cNvSpPr txBox="1"/>
          <p:nvPr/>
        </p:nvSpPr>
        <p:spPr>
          <a:xfrm>
            <a:off x="3749040" y="4663440"/>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+4.5k (contest)</a:t>
            </a:r>
            <a:endParaRPr lang="en-US" sz="1400" dirty="0"/>
          </a:p>
        </p:txBody>
      </p:sp>
      <p:sp>
        <p:nvSpPr>
          <p:cNvPr id="17" name="when worth it"/>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8" name="Text 16"/>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311 contest problems (gpt-oss-120b)</a:t>
            </a:r>
            <a:endParaRPr lang="en-US" sz="1800" dirty="0"/>
          </a:p>
        </p:txBody>
      </p:sp>
      <p:sp>
        <p:nvSpPr>
          <p:cNvPr id="19" name="Text 17"/>
          <p:cNvSpPr txBox="1"/>
          <p:nvPr/>
        </p:nvSpPr>
        <p:spPr>
          <a:xfrm>
            <a:off x="8778240" y="1755648"/>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0" name="Text 18"/>
          <p:cNvSpPr txBox="1"/>
          <p:nvPr/>
        </p:nvSpPr>
        <p:spPr>
          <a:xfrm>
            <a:off x="9692640" y="1755648"/>
            <a:ext cx="16916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1" name="Text 19"/>
          <p:cNvSpPr txBox="1"/>
          <p:nvPr/>
        </p:nvSpPr>
        <p:spPr>
          <a:xfrm>
            <a:off x="6400800" y="2121408"/>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22" name="Text 20"/>
          <p:cNvSpPr txBox="1"/>
          <p:nvPr/>
        </p:nvSpPr>
        <p:spPr>
          <a:xfrm>
            <a:off x="8778240" y="212140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3" name="tokens always think hard"/>
          <p:cNvSpPr/>
          <p:nvPr/>
        </p:nvSpPr>
        <p:spPr>
          <a:xfrm>
            <a:off x="9692640" y="2221992"/>
            <a:ext cx="960120" cy="256032"/>
          </a:xfrm>
          <a:prstGeom prst="rect">
            <a:avLst/>
          </a:prstGeom>
          <a:solidFill>
            <a:srgbClr val="7F7F7F"/>
          </a:solidFill>
          <a:ln w="6350">
            <a:solidFill>
              <a:srgbClr val="7F7F7F"/>
            </a:solidFill>
            <a:prstDash val="solid"/>
          </a:ln>
        </p:spPr>
      </p:sp>
      <p:sp>
        <p:nvSpPr>
          <p:cNvPr id="24" name="Text 22"/>
          <p:cNvSpPr txBox="1"/>
          <p:nvPr/>
        </p:nvSpPr>
        <p:spPr>
          <a:xfrm>
            <a:off x="10744200" y="212140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25" name="Text 23"/>
          <p:cNvSpPr txBox="1"/>
          <p:nvPr/>
        </p:nvSpPr>
        <p:spPr>
          <a:xfrm>
            <a:off x="6400800" y="2542032"/>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only</a:t>
            </a:r>
            <a:endParaRPr lang="en-US" sz="1500" dirty="0"/>
          </a:p>
        </p:txBody>
      </p:sp>
      <p:sp>
        <p:nvSpPr>
          <p:cNvPr id="26" name="Text 24"/>
          <p:cNvSpPr txBox="1"/>
          <p:nvPr/>
        </p:nvSpPr>
        <p:spPr>
          <a:xfrm>
            <a:off x="8778240" y="254203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65.0%</a:t>
            </a:r>
            <a:endParaRPr lang="en-US" sz="1700" dirty="0"/>
          </a:p>
        </p:txBody>
      </p:sp>
      <p:sp>
        <p:nvSpPr>
          <p:cNvPr id="27" name="tokens examples only"/>
          <p:cNvSpPr/>
          <p:nvPr/>
        </p:nvSpPr>
        <p:spPr>
          <a:xfrm>
            <a:off x="9692640" y="2642616"/>
            <a:ext cx="644333" cy="256032"/>
          </a:xfrm>
          <a:prstGeom prst="rect">
            <a:avLst/>
          </a:prstGeom>
          <a:solidFill>
            <a:srgbClr val="5B9BD5"/>
          </a:solidFill>
          <a:ln w="6350">
            <a:solidFill>
              <a:srgbClr val="5B9BD5"/>
            </a:solidFill>
            <a:prstDash val="solid"/>
          </a:ln>
        </p:spPr>
      </p:sp>
      <p:sp>
        <p:nvSpPr>
          <p:cNvPr id="28" name="Text 26"/>
          <p:cNvSpPr txBox="1"/>
          <p:nvPr/>
        </p:nvSpPr>
        <p:spPr>
          <a:xfrm>
            <a:off x="10428413" y="254203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20k</a:t>
            </a:r>
            <a:endParaRPr lang="en-US" sz="1500" dirty="0"/>
          </a:p>
        </p:txBody>
      </p:sp>
      <p:sp>
        <p:nvSpPr>
          <p:cNvPr id="29" name="Text 27"/>
          <p:cNvSpPr txBox="1"/>
          <p:nvPr/>
        </p:nvSpPr>
        <p:spPr>
          <a:xfrm>
            <a:off x="6400800" y="2962656"/>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brute force</a:t>
            </a:r>
            <a:endParaRPr lang="en-US" sz="1500" dirty="0"/>
          </a:p>
        </p:txBody>
      </p:sp>
      <p:sp>
        <p:nvSpPr>
          <p:cNvPr id="30" name="Text 28"/>
          <p:cNvSpPr txBox="1"/>
          <p:nvPr/>
        </p:nvSpPr>
        <p:spPr>
          <a:xfrm>
            <a:off x="8778240" y="2962656"/>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31" name="tokens examples + brute force"/>
          <p:cNvSpPr/>
          <p:nvPr/>
        </p:nvSpPr>
        <p:spPr>
          <a:xfrm>
            <a:off x="9692640" y="3063240"/>
            <a:ext cx="787873" cy="256032"/>
          </a:xfrm>
          <a:prstGeom prst="rect">
            <a:avLst/>
          </a:prstGeom>
          <a:solidFill>
            <a:srgbClr val="4472C4"/>
          </a:solidFill>
          <a:ln w="6350">
            <a:solidFill>
              <a:srgbClr val="4472C4"/>
            </a:solidFill>
            <a:prstDash val="solid"/>
          </a:ln>
        </p:spPr>
      </p:sp>
      <p:sp>
        <p:nvSpPr>
          <p:cNvPr id="32" name="Text 30"/>
          <p:cNvSpPr txBox="1"/>
          <p:nvPr/>
        </p:nvSpPr>
        <p:spPr>
          <a:xfrm>
            <a:off x="10571953" y="2962656"/>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33" name="Text 31"/>
          <p:cNvSpPr txBox="1"/>
          <p:nvPr/>
        </p:nvSpPr>
        <p:spPr>
          <a:xfrm>
            <a:off x="6400800" y="3383280"/>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a 2nd model</a:t>
            </a:r>
            <a:endParaRPr lang="en-US" sz="1500" dirty="0"/>
          </a:p>
        </p:txBody>
      </p:sp>
      <p:sp>
        <p:nvSpPr>
          <p:cNvPr id="34" name="Text 32"/>
          <p:cNvSpPr txBox="1"/>
          <p:nvPr/>
        </p:nvSpPr>
        <p:spPr>
          <a:xfrm>
            <a:off x="8778240" y="33832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65.5%</a:t>
            </a:r>
            <a:endParaRPr lang="en-US" sz="1700" dirty="0"/>
          </a:p>
        </p:txBody>
      </p:sp>
      <p:sp>
        <p:nvSpPr>
          <p:cNvPr id="35" name="tokens examples + a 2nd model"/>
          <p:cNvSpPr/>
          <p:nvPr/>
        </p:nvSpPr>
        <p:spPr>
          <a:xfrm>
            <a:off x="9692640" y="3483864"/>
            <a:ext cx="803821" cy="256032"/>
          </a:xfrm>
          <a:prstGeom prst="rect">
            <a:avLst/>
          </a:prstGeom>
          <a:solidFill>
            <a:srgbClr val="7F7F7F"/>
          </a:solidFill>
          <a:ln w="6350">
            <a:solidFill>
              <a:srgbClr val="7F7F7F"/>
            </a:solidFill>
            <a:prstDash val="solid"/>
          </a:ln>
        </p:spPr>
      </p:sp>
      <p:sp>
        <p:nvSpPr>
          <p:cNvPr id="36" name="Text 34"/>
          <p:cNvSpPr txBox="1"/>
          <p:nvPr/>
        </p:nvSpPr>
        <p:spPr>
          <a:xfrm>
            <a:off x="10587901" y="33832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25k</a:t>
            </a:r>
            <a:endParaRPr lang="en-US" sz="1500" dirty="0"/>
          </a:p>
        </p:txBody>
      </p:sp>
      <p:sp>
        <p:nvSpPr>
          <p:cNvPr id="37" name="Text 35"/>
          <p:cNvSpPr txBox="1"/>
          <p:nvPr/>
        </p:nvSpPr>
        <p:spPr>
          <a:xfrm>
            <a:off x="6400800" y="4206240"/>
            <a:ext cx="4983480" cy="1234440"/>
          </a:xfrm>
          <a:prstGeom prst="rect">
            <a:avLst/>
          </a:prstGeom>
          <a:noFill/>
          <a:ln/>
        </p:spPr>
        <p:txBody>
          <a:bodyPr wrap="square" lIns="0" tIns="0" rIns="0" bIns="0" rtlCol="0" anchor="t"/>
          <a:lstStyle/>
          <a:p>
            <a:pPr indent="0" marL="0">
              <a:buNone/>
            </a:pPr>
            <a:r>
              <a:rPr lang="en-US" sz="1400" dirty="0">
                <a:solidFill>
                  <a:schemeClr val="tx1"/>
                </a:solidFill>
              </a:rPr>
              <a:t>Order: start with the zero-token checks; add a different second version only where mistakes stay silent; stop when a better check would add 1–3 points.</a:t>
            </a:r>
            <a:endParaRPr lang="en-US" sz="14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Free checks cost CPU, not tokens; pay for a second version only where it changes the decision</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about the first time, with no past programs?</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No answers are needed, only programs that passed the check; the library can fill up as problems arrive</a:t>
            </a:r>
            <a:endParaRPr lang="en-US" sz="1700" dirty="0"/>
          </a:p>
        </p:txBody>
      </p:sp>
      <p:sp>
        <p:nvSpPr>
          <p:cNvPr id="4" name="stream"/>
          <p:cNvSpPr/>
          <p:nvPr/>
        </p:nvSpPr>
        <p:spPr>
          <a:xfrm>
            <a:off x="548640" y="1737360"/>
            <a:ext cx="5440680" cy="3794760"/>
          </a:xfrm>
          <a:prstGeom prst="roundRect">
            <a:avLst>
              <a:gd name="adj" fmla="val 1928"/>
            </a:avLst>
          </a:prstGeom>
          <a:solidFill>
            <a:srgbClr val="F2F2F2"/>
          </a:solidFill>
          <a:ln w="9525">
            <a:solidFill>
              <a:srgbClr val="D9D9D9"/>
            </a:solidFill>
            <a:prstDash val="solid"/>
          </a:ln>
        </p:spPr>
      </p:sp>
      <p:sp>
        <p:nvSpPr>
          <p:cNvPr id="5" name="Text 3"/>
          <p:cNvSpPr txBox="1"/>
          <p:nvPr/>
        </p:nvSpPr>
        <p:spPr>
          <a:xfrm>
            <a:off x="777240" y="18105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As problems arrive (a stream)</a:t>
            </a:r>
            <a:endParaRPr lang="en-US" sz="1800" dirty="0"/>
          </a:p>
        </p:txBody>
      </p:sp>
      <p:sp>
        <p:nvSpPr>
          <p:cNvPr id="6" name="box a new problem arrive"/>
          <p:cNvSpPr/>
          <p:nvPr/>
        </p:nvSpPr>
        <p:spPr>
          <a:xfrm>
            <a:off x="777240" y="2286000"/>
            <a:ext cx="4983480" cy="548640"/>
          </a:xfrm>
          <a:prstGeom prst="roundRect">
            <a:avLst>
              <a:gd name="adj" fmla="val 10000"/>
            </a:avLst>
          </a:prstGeom>
          <a:solidFill>
            <a:srgbClr val="FFFFFF"/>
          </a:solidFill>
          <a:ln w="9525">
            <a:solidFill>
              <a:srgbClr val="BFBFBF"/>
            </a:solidFill>
            <a:prstDash val="solid"/>
          </a:ln>
        </p:spPr>
      </p:sp>
      <p:sp>
        <p:nvSpPr>
          <p:cNvPr id="7" name="Text 5"/>
          <p:cNvSpPr txBox="1"/>
          <p:nvPr/>
        </p:nvSpPr>
        <p:spPr>
          <a:xfrm>
            <a:off x="850392" y="2286000"/>
            <a:ext cx="4837176" cy="548640"/>
          </a:xfrm>
          <a:prstGeom prst="rect">
            <a:avLst/>
          </a:prstGeom>
          <a:noFill/>
          <a:ln/>
        </p:spPr>
        <p:txBody>
          <a:bodyPr wrap="square" lIns="0" tIns="0" rIns="0" bIns="0" rtlCol="0" anchor="ctr"/>
          <a:lstStyle/>
          <a:p>
            <a:pPr algn="ctr" indent="0" marL="0">
              <a:buNone/>
            </a:pPr>
            <a:r>
              <a:rPr lang="en-US" sz="1500" dirty="0">
                <a:solidFill>
                  <a:schemeClr val="tx1"/>
                </a:solidFill>
              </a:rPr>
              <a:t>a new problem arrives</a:t>
            </a:r>
            <a:endParaRPr lang="en-US" sz="1500" dirty="0"/>
          </a:p>
        </p:txBody>
      </p:sp>
      <p:sp>
        <p:nvSpPr>
          <p:cNvPr id="8" name="Shape 6"/>
          <p:cNvSpPr/>
          <p:nvPr/>
        </p:nvSpPr>
        <p:spPr>
          <a:xfrm>
            <a:off x="3264408" y="2834640"/>
            <a:ext cx="0" cy="228600"/>
          </a:xfrm>
          <a:prstGeom prst="line">
            <a:avLst/>
          </a:prstGeom>
          <a:noFill/>
          <a:ln w="25400">
            <a:solidFill>
              <a:srgbClr val="7F7F7F"/>
            </a:solidFill>
            <a:prstDash val="solid"/>
            <a:tailEnd type="triangle"/>
          </a:ln>
        </p:spPr>
      </p:sp>
      <p:sp>
        <p:nvSpPr>
          <p:cNvPr id="9" name="box hint = the most simi"/>
          <p:cNvSpPr/>
          <p:nvPr/>
        </p:nvSpPr>
        <p:spPr>
          <a:xfrm>
            <a:off x="777240" y="3063240"/>
            <a:ext cx="4983480" cy="548640"/>
          </a:xfrm>
          <a:prstGeom prst="roundRect">
            <a:avLst>
              <a:gd name="adj" fmla="val 10000"/>
            </a:avLst>
          </a:prstGeom>
          <a:solidFill>
            <a:srgbClr val="FFFFFF"/>
          </a:solidFill>
          <a:ln w="9525">
            <a:solidFill>
              <a:srgbClr val="BFBFBF"/>
            </a:solidFill>
            <a:prstDash val="solid"/>
          </a:ln>
        </p:spPr>
      </p:sp>
      <p:sp>
        <p:nvSpPr>
          <p:cNvPr id="10" name="Text 8"/>
          <p:cNvSpPr txBox="1"/>
          <p:nvPr/>
        </p:nvSpPr>
        <p:spPr>
          <a:xfrm>
            <a:off x="850392" y="3063240"/>
            <a:ext cx="4837176" cy="548640"/>
          </a:xfrm>
          <a:prstGeom prst="rect">
            <a:avLst/>
          </a:prstGeom>
          <a:noFill/>
          <a:ln/>
        </p:spPr>
        <p:txBody>
          <a:bodyPr wrap="square" lIns="0" tIns="0" rIns="0" bIns="0" rtlCol="0" anchor="ctr"/>
          <a:lstStyle/>
          <a:p>
            <a:pPr algn="ctr" indent="0" marL="0">
              <a:buNone/>
            </a:pPr>
            <a:r>
              <a:rPr lang="en-US" sz="1500" dirty="0">
                <a:solidFill>
                  <a:schemeClr val="tx1"/>
                </a:solidFill>
              </a:rPr>
              <a:t>hint = the most similar checked program so far</a:t>
            </a:r>
            <a:endParaRPr lang="en-US" sz="1500" dirty="0"/>
          </a:p>
        </p:txBody>
      </p:sp>
      <p:sp>
        <p:nvSpPr>
          <p:cNvPr id="11" name="Shape 9"/>
          <p:cNvSpPr/>
          <p:nvPr/>
        </p:nvSpPr>
        <p:spPr>
          <a:xfrm>
            <a:off x="3264408" y="3611880"/>
            <a:ext cx="0" cy="228600"/>
          </a:xfrm>
          <a:prstGeom prst="line">
            <a:avLst/>
          </a:prstGeom>
          <a:noFill/>
          <a:ln w="25400">
            <a:solidFill>
              <a:srgbClr val="7F7F7F"/>
            </a:solidFill>
            <a:prstDash val="solid"/>
            <a:tailEnd type="triangle"/>
          </a:ln>
        </p:spPr>
      </p:sp>
      <p:sp>
        <p:nvSpPr>
          <p:cNvPr id="12" name="box its program passes t"/>
          <p:cNvSpPr/>
          <p:nvPr/>
        </p:nvSpPr>
        <p:spPr>
          <a:xfrm>
            <a:off x="777240" y="3840480"/>
            <a:ext cx="4983480" cy="548640"/>
          </a:xfrm>
          <a:prstGeom prst="roundRect">
            <a:avLst>
              <a:gd name="adj" fmla="val 10000"/>
            </a:avLst>
          </a:prstGeom>
          <a:solidFill>
            <a:srgbClr val="E2F0D9"/>
          </a:solidFill>
          <a:ln w="9525">
            <a:solidFill>
              <a:srgbClr val="BFBFBF"/>
            </a:solidFill>
            <a:prstDash val="solid"/>
          </a:ln>
        </p:spPr>
      </p:sp>
      <p:sp>
        <p:nvSpPr>
          <p:cNvPr id="13" name="Text 11"/>
          <p:cNvSpPr txBox="1"/>
          <p:nvPr/>
        </p:nvSpPr>
        <p:spPr>
          <a:xfrm>
            <a:off x="850392" y="3840480"/>
            <a:ext cx="4837176" cy="548640"/>
          </a:xfrm>
          <a:prstGeom prst="rect">
            <a:avLst/>
          </a:prstGeom>
          <a:noFill/>
          <a:ln/>
        </p:spPr>
        <p:txBody>
          <a:bodyPr wrap="square" lIns="0" tIns="0" rIns="0" bIns="0" rtlCol="0" anchor="ctr"/>
          <a:lstStyle/>
          <a:p>
            <a:pPr algn="ctr" indent="0" marL="0">
              <a:buNone/>
            </a:pPr>
            <a:r>
              <a:rPr lang="en-US" sz="1500" dirty="0">
                <a:solidFill>
                  <a:srgbClr val="38761D"/>
                </a:solidFill>
              </a:rPr>
              <a:t>its program passes the check → add it to the library</a:t>
            </a:r>
            <a:endParaRPr lang="en-US" sz="1500" dirty="0"/>
          </a:p>
        </p:txBody>
      </p:sp>
      <p:sp>
        <p:nvSpPr>
          <p:cNvPr id="14" name="Text 12"/>
          <p:cNvSpPr txBox="1"/>
          <p:nvPr/>
        </p:nvSpPr>
        <p:spPr>
          <a:xfrm>
            <a:off x="777240" y="4709160"/>
            <a:ext cx="4983480" cy="731520"/>
          </a:xfrm>
          <a:prstGeom prst="rect">
            <a:avLst/>
          </a:prstGeom>
          <a:noFill/>
          <a:ln/>
        </p:spPr>
        <p:txBody>
          <a:bodyPr wrap="square" lIns="0" tIns="0" rIns="0" bIns="0" rtlCol="0" anchor="t"/>
          <a:lstStyle/>
          <a:p>
            <a:pPr indent="0" marL="0">
              <a:buNone/>
            </a:pPr>
            <a:r>
              <a:rPr lang="en-US" sz="1400" dirty="0">
                <a:solidFill>
                  <a:schemeClr val="tx2"/>
                </a:solidFill>
              </a:rPr>
              <a:t>The first problem starts from one example program of another benchmark; no answer key is used anywhere.</a:t>
            </a:r>
            <a:endParaRPr lang="en-US" sz="1400" dirty="0"/>
          </a:p>
        </p:txBody>
      </p:sp>
      <p:sp>
        <p:nvSpPr>
          <p:cNvPr id="15" name="stream result"/>
          <p:cNvSpPr/>
          <p:nvPr/>
        </p:nvSpPr>
        <p:spPr>
          <a:xfrm>
            <a:off x="6172200" y="1737360"/>
            <a:ext cx="5440680" cy="3794760"/>
          </a:xfrm>
          <a:prstGeom prst="roundRect">
            <a:avLst>
              <a:gd name="adj" fmla="val 1928"/>
            </a:avLst>
          </a:prstGeom>
          <a:solidFill>
            <a:srgbClr val="F2F2F2"/>
          </a:solidFill>
          <a:ln w="9525">
            <a:solidFill>
              <a:srgbClr val="D9D9D9"/>
            </a:solidFill>
            <a:prstDash val="solid"/>
          </a:ln>
        </p:spPr>
      </p:sp>
      <p:sp>
        <p:nvSpPr>
          <p:cNvPr id="16" name="Text 14"/>
          <p:cNvSpPr txBox="1"/>
          <p:nvPr/>
        </p:nvSpPr>
        <p:spPr>
          <a:xfrm>
            <a:off x="6400800" y="18105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MAMO as a stream (3 runs), with the check</a:t>
            </a:r>
            <a:endParaRPr lang="en-US" sz="1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0" y="2286000"/>
          <a:ext cx="4983480" cy="914400"/>
        </p:xfrm>
        <a:graphic>
          <a:graphicData uri="http://schemas.openxmlformats.org/drawingml/2006/table">
            <a:tbl>
              <a:tblPr/>
              <a:tblGrid>
                <a:gridCol w="1508760"/>
                <a:gridCol w="1737360"/>
                <a:gridCol w="1737360"/>
              </a:tblGrid>
              <a:tr h="384048">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one fixed example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stream library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384048">
                <a:tc>
                  <a:txBody>
                    <a:bodyPr/>
                    <a:lstStyle/>
                    <a:p>
                      <a:pPr indent="0" marL="0">
                        <a:buNone/>
                      </a:pPr>
                      <a:r>
                        <a:rPr lang="en-US" sz="1400" dirty="0">
                          <a:solidFill>
                            <a:schemeClr val="tx1"/>
                          </a:solidFill>
                        </a:rPr>
                        <a:t>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chemeClr val="tx1"/>
                          </a:solidFill>
                        </a:rPr>
                        <a:t>78.6% · 1.9k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38761D"/>
                          </a:solidFill>
                        </a:rPr>
                        <a:t>79.0% · 1.6k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84048">
                <a:tc>
                  <a:txBody>
                    <a:bodyPr/>
                    <a:lstStyle/>
                    <a:p>
                      <a:pPr indent="0" marL="0">
                        <a:buNone/>
                      </a:pPr>
                      <a:r>
                        <a:rPr lang="en-US" sz="1400" dirty="0">
                          <a:solidFill>
                            <a:schemeClr val="tx1"/>
                          </a:solidFill>
                        </a:rPr>
                        <a:t>Qwen3-14B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chemeClr val="tx1"/>
                          </a:solidFill>
                        </a:rPr>
                        <a:t>72.5% · 2.8k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38761D"/>
                          </a:solidFill>
                        </a:rPr>
                        <a:t>76.4% · 2.1k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84048">
                <a:tc>
                  <a:txBody>
                    <a:bodyPr/>
                    <a:lstStyle/>
                    <a:p>
                      <a:pPr indent="0" marL="0">
                        <a:buNone/>
                      </a:pPr>
                      <a:r>
                        <a:rPr lang="en-US" sz="1400" dirty="0">
                          <a:solidFill>
                            <a:schemeClr val="tx1"/>
                          </a:solidFill>
                        </a:rPr>
                        <a:t>Qwen3-8B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chemeClr val="tx1"/>
                          </a:solidFill>
                        </a:rPr>
                        <a:t>72.1% · 3.2k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38761D"/>
                          </a:solidFill>
                        </a:rPr>
                        <a:t>75.9% · 2.3k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18" name="Text 15"/>
          <p:cNvSpPr txBox="1"/>
          <p:nvPr/>
        </p:nvSpPr>
        <p:spPr>
          <a:xfrm>
            <a:off x="6400800" y="3977640"/>
            <a:ext cx="4983480" cy="1463040"/>
          </a:xfrm>
          <a:prstGeom prst="rect">
            <a:avLst/>
          </a:prstGeom>
          <a:noFill/>
          <a:ln/>
        </p:spPr>
        <p:txBody>
          <a:bodyPr wrap="square" lIns="0" tIns="0" rIns="0" bIns="0" rtlCol="0" anchor="t"/>
          <a:lstStyle/>
          <a:p>
            <a:pPr indent="0" marL="0">
              <a:buNone/>
            </a:pPr>
            <a:r>
              <a:rPr lang="en-US" sz="1400" b="1" dirty="0">
                <a:solidFill>
                  <a:schemeClr val="tx1"/>
                </a:solidFill>
              </a:rPr>
              <a:t>Limits: </a:t>
            </a:r>
            <a:pPr indent="0" marL="0">
              <a:buNone/>
            </a:pPr>
            <a:r>
              <a:rPr lang="en-US" sz="1400" dirty="0">
                <a:solidFill>
                  <a:schemeClr val="tx1"/>
                </a:solidFill>
              </a:rPr>
              <a:t>it keeps 60–77% of what a full library gives; the library holds five models' programs; if a model's own programs for a type are all wrong, so is its hint; on varied problems it mostly saves tokens.</a:t>
            </a:r>
            <a:endParaRPr lang="en-US" sz="1400" dirty="0"/>
          </a:p>
        </p:txBody>
      </p:sp>
      <p:sp>
        <p:nvSpPr>
          <p:cNvPr id="19" name="Text 1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past programs needed: the library builds itself from checked programs as problems arrive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runs)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runs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runs: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runs)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runs;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runs;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36</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2026-10-20T01:18:03Z</dcterms:created>
  <dcterms:modified xsi:type="dcterms:W3CDTF">2026-10-20T01:18:03Z</dcterms:modified>
</cp:coreProperties>
</file>