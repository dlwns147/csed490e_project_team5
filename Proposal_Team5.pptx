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4.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d425d87a-c967-9fad-6294-b373a49642d8}">
          <p14:sldIdLst>
            <p14:sldId id="256"/>
            <p14:sldId id="257"/>
            <p14:sldId id="258"/>
            <p14:sldId id="259"/>
            <p14:sldId id="260"/>
            <p14:sldId id="261"/>
            <p14:sldId id="262"/>
            <p14:sldId id="263"/>
            <p14:sldId id="264"/>
          </p14:sldIdLst>
        </p14:section>
        <p14:section name="Extra pages" id="{670593b7-e888-6247-6c61-150efe69e8b4}">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앞서 푼 같은 종류의 문제들에서 검사를 통과한 프로그램을 힌트 풀로 모으고, 가장 짧은 것을 씁니다. 이 풀은 정답 없이, 문제가 들어오는 대로 채워집니다.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(45초) 새로운 점은 세 가지입니다. 학습 없이 공짜 검사가 실패할 때만 생각해서 74%를 87%로 올렸고, 매뉴얼 대신 사람 없이 고른 짧은 힌트 하나를 주며, 최적화 문장제 863개인 MAMO에서, 파인튜닝한 8B 특화 모델과 같은 69.5%를 같은 크기의 8B 모델로 학습 없이 냅니다. 다음은 세 가지입니다. 힌트를 문제 종류마다 자동으로 고르고, 토큰 없이 더 많이 잡는 검사를 만들고, 마지막으로 수학 증명으로 넓힙니다. 증명은 Lean이 모든 단계를 검사해 주니, 거기에 맞는 힌트를 찾는 것이 과제입니다.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찾고, 문제 종류마다 어떤 검사를 쓸지 자동으로 고릅니다. 지금도 30문제만 라벨링하면 정책을 고를 수 있어서, 최선 대비 손실이 0.6점입니다. 셋, 수학 증명으로 넓힙니다. Lean이 증명의 모든 단계를 검사하므로 검사는 완벽하지만, 지금까지 일반 모델에는 비슷한 문제의 증명이나 부등식 도구 모음 같은 힌트가 도움이 되지 않았고, 특화 증명 모델 Goedel-Prover-V2-8B가 74%로 가장 잘 풉니다. 증명에 맞는 힌트를 찾는 것이 과제입니다.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What about the first time, with no past programs? (slide 7)
26: Is 'think on the hardest' a weak baseline? (slide 7)
35: What if the same problem repeats? (slide 7)
11: Why no hint for contest problems? (slide 7)
34: Where does the recipe stop? (slide 7)
27, 28, 29: What is new vs PAL and cascades? (slide 8)
30: Why not majority voting? (slide 8)
31, 36: Is the comparison fair? (slide 8)
32: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지난 프로그램이 따로 없어도 됩니다. 필요한 것은 정답이 아니라 검사를 통과한 프로그램뿐이라서, 문제가 들어오는 대로 라이브러리를 채울 수 있습니다. 새 문제가 오면 지금까지 모인 것 중 가장 비슷한 검사 통과 프로그램을 힌트로 주고, 그 문제의 프로그램이 검사를 통과하면 라이브러리에 넣습니다. 첫 문제는 다른 벤치마크의 예제 프로그램 하나로 시작했습니다. MAMO를 이렇게 흘려보내면 gpt-oss-20b는 78.6%에서 79.0%, Qwen3-14B는 72.5%에서 76.4%, Qwen3-8B는 72.1%에서 75.9%가 되고 토큰은 15에서 26% 줄었습니다. 다만 전체 라이브러리를 미리 가진 경우 이득의 60에서 77%이고, 라이브러리에는 다섯 모델의 프로그램이 들어 있었으며, 어떤 종류에서 모델 자신의 프로그램이 모두 틀리면 힌트도 틀립니다. 문제가 다양하면 주로 토큰만 줄어듭니다.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3.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image" Target="../media/image-36-6.png"/><Relationship Id="rId7" Type="http://schemas.openxmlformats.org/officeDocument/2006/relationships/slideLayout" Target="../slideLayouts/slideLayout3.xml"/><Relationship Id="rId8"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Hint pool: its own checked programs (no human)</a:t>
            </a:r>
            <a:endParaRPr lang="en-US" sz="1700" dirty="0"/>
          </a:p>
        </p:txBody>
      </p:sp>
      <p:sp>
        <p:nvSpPr>
          <p:cNvPr id="39" name="box programs on earlier "/>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programs on earlier problems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554480"/>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554480"/>
            <a:ext cx="4206240" cy="603504"/>
          </a:xfrm>
          <a:prstGeom prst="roundRect">
            <a:avLst>
              <a:gd name="adj" fmla="val 9091"/>
            </a:avLst>
          </a:prstGeom>
          <a:solidFill>
            <a:srgbClr val="F2F2F2"/>
          </a:solidFill>
          <a:ln w="9525">
            <a:solidFill>
              <a:srgbClr val="BFBFBF"/>
            </a:solidFill>
            <a:prstDash val="solid"/>
          </a:ln>
        </p:spPr>
      </p:sp>
      <p:sp>
        <p:nvSpPr>
          <p:cNvPr id="7" name="Text 5"/>
          <p:cNvSpPr txBox="1"/>
          <p:nvPr/>
        </p:nvSpPr>
        <p:spPr>
          <a:xfrm>
            <a:off x="2176272" y="1554480"/>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664208"/>
            <a:ext cx="384048" cy="384048"/>
          </a:xfrm>
          <a:prstGeom prst="rect">
            <a:avLst/>
          </a:prstGeom>
        </p:spPr>
      </p:pic>
      <p:sp>
        <p:nvSpPr>
          <p:cNvPr id="9" name="Text 6"/>
          <p:cNvSpPr txBox="1"/>
          <p:nvPr/>
        </p:nvSpPr>
        <p:spPr>
          <a:xfrm>
            <a:off x="2743200" y="1554480"/>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think more on hard-looking problems</a:t>
            </a:r>
            <a:pPr indent="0" marL="0">
              <a:buNone/>
            </a:pPr>
            <a:r>
              <a:rPr lang="en-US" sz="1100" dirty="0">
                <a:solidFill>
                  <a:srgbClr val="7F7F7F"/>
                </a:solidFill>
              </a:rPr>
              <a:t> [1]</a:t>
            </a:r>
            <a:endParaRPr lang="en-US" sz="1400" dirty="0"/>
          </a:p>
        </p:txBody>
      </p:sp>
      <p:sp>
        <p:nvSpPr>
          <p:cNvPr id="10" name="arrow 0"/>
          <p:cNvSpPr/>
          <p:nvPr/>
        </p:nvSpPr>
        <p:spPr>
          <a:xfrm>
            <a:off x="6400800" y="169164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554480"/>
            <a:ext cx="4663440" cy="603504"/>
          </a:xfrm>
          <a:prstGeom prst="roundRect">
            <a:avLst>
              <a:gd name="adj" fmla="val 9091"/>
            </a:avLst>
          </a:prstGeom>
          <a:solidFill>
            <a:srgbClr val="DEEBF7"/>
          </a:solidFill>
          <a:ln w="9525">
            <a:solidFill>
              <a:srgbClr val="BFBFBF"/>
            </a:solidFill>
            <a:prstDash val="solid"/>
          </a:ln>
        </p:spPr>
      </p:sp>
      <p:sp>
        <p:nvSpPr>
          <p:cNvPr id="12" name="Text 9"/>
          <p:cNvSpPr txBox="1"/>
          <p:nvPr/>
        </p:nvSpPr>
        <p:spPr>
          <a:xfrm>
            <a:off x="7022592" y="1554480"/>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664208"/>
            <a:ext cx="384048" cy="384048"/>
          </a:xfrm>
          <a:prstGeom prst="rect">
            <a:avLst/>
          </a:prstGeom>
        </p:spPr>
      </p:pic>
      <p:sp>
        <p:nvSpPr>
          <p:cNvPr id="14" name="Text 10"/>
          <p:cNvSpPr txBox="1"/>
          <p:nvPr/>
        </p:nvSpPr>
        <p:spPr>
          <a:xfrm>
            <a:off x="7589520" y="1554480"/>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only when a free check fails: 87% vs 74%</a:t>
            </a:r>
            <a:endParaRPr lang="en-US" sz="1400" dirty="0"/>
          </a:p>
        </p:txBody>
      </p:sp>
      <p:sp>
        <p:nvSpPr>
          <p:cNvPr id="15" name="Text 11"/>
          <p:cNvSpPr txBox="1"/>
          <p:nvPr/>
        </p:nvSpPr>
        <p:spPr>
          <a:xfrm>
            <a:off x="548640" y="2231136"/>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231136"/>
            <a:ext cx="4206240" cy="603504"/>
          </a:xfrm>
          <a:prstGeom prst="roundRect">
            <a:avLst>
              <a:gd name="adj" fmla="val 9091"/>
            </a:avLst>
          </a:prstGeom>
          <a:solidFill>
            <a:srgbClr val="F2F2F2"/>
          </a:solidFill>
          <a:ln w="9525">
            <a:solidFill>
              <a:srgbClr val="BFBFBF"/>
            </a:solidFill>
            <a:prstDash val="solid"/>
          </a:ln>
        </p:spPr>
      </p:sp>
      <p:sp>
        <p:nvSpPr>
          <p:cNvPr id="17" name="Text 13"/>
          <p:cNvSpPr txBox="1"/>
          <p:nvPr/>
        </p:nvSpPr>
        <p:spPr>
          <a:xfrm>
            <a:off x="2176272" y="2231136"/>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340864"/>
            <a:ext cx="384048" cy="384048"/>
          </a:xfrm>
          <a:prstGeom prst="rect">
            <a:avLst/>
          </a:prstGeom>
        </p:spPr>
      </p:pic>
      <p:sp>
        <p:nvSpPr>
          <p:cNvPr id="19" name="Text 14"/>
          <p:cNvSpPr txBox="1"/>
          <p:nvPr/>
        </p:nvSpPr>
        <p:spPr>
          <a:xfrm>
            <a:off x="2743200" y="2231136"/>
            <a:ext cx="3474720" cy="603504"/>
          </a:xfrm>
          <a:prstGeom prst="rect">
            <a:avLst/>
          </a:prstGeom>
          <a:noFill/>
          <a:ln/>
        </p:spPr>
        <p:txBody>
          <a:bodyPr wrap="square" lIns="0" tIns="0" rIns="0" bIns="0" rtlCol="0" anchor="ctr"/>
          <a:lstStyle/>
          <a:p>
            <a:pPr indent="0" marL="0">
              <a:buNone/>
            </a:pPr>
            <a:r>
              <a:rPr lang="en-US" sz="1400" dirty="0">
                <a:solidFill>
                  <a:srgbClr val="404040"/>
                </a:solidFill>
              </a:rPr>
              <a:t>the whole manual, or retrieved documentation</a:t>
            </a:r>
            <a:pPr indent="0" marL="0">
              <a:buNone/>
            </a:pPr>
            <a:r>
              <a:rPr lang="en-US" sz="1100" dirty="0">
                <a:solidFill>
                  <a:srgbClr val="7F7F7F"/>
                </a:solidFill>
              </a:rPr>
              <a:t> [2]</a:t>
            </a:r>
            <a:endParaRPr lang="en-US" sz="1400" dirty="0"/>
          </a:p>
        </p:txBody>
      </p:sp>
      <p:sp>
        <p:nvSpPr>
          <p:cNvPr id="20" name="arrow 1"/>
          <p:cNvSpPr/>
          <p:nvPr/>
        </p:nvSpPr>
        <p:spPr>
          <a:xfrm>
            <a:off x="6400800" y="2368296"/>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231136"/>
            <a:ext cx="4663440" cy="603504"/>
          </a:xfrm>
          <a:prstGeom prst="roundRect">
            <a:avLst>
              <a:gd name="adj" fmla="val 9091"/>
            </a:avLst>
          </a:prstGeom>
          <a:solidFill>
            <a:srgbClr val="DEEBF7"/>
          </a:solidFill>
          <a:ln w="9525">
            <a:solidFill>
              <a:srgbClr val="BFBFBF"/>
            </a:solidFill>
            <a:prstDash val="solid"/>
          </a:ln>
        </p:spPr>
      </p:sp>
      <p:sp>
        <p:nvSpPr>
          <p:cNvPr id="22" name="Text 17"/>
          <p:cNvSpPr txBox="1"/>
          <p:nvPr/>
        </p:nvSpPr>
        <p:spPr>
          <a:xfrm>
            <a:off x="7022592" y="2231136"/>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340864"/>
            <a:ext cx="384048" cy="384048"/>
          </a:xfrm>
          <a:prstGeom prst="rect">
            <a:avLst/>
          </a:prstGeom>
        </p:spPr>
      </p:pic>
      <p:sp>
        <p:nvSpPr>
          <p:cNvPr id="24" name="Text 18"/>
          <p:cNvSpPr txBox="1"/>
          <p:nvPr/>
        </p:nvSpPr>
        <p:spPr>
          <a:xfrm>
            <a:off x="7589520" y="2231136"/>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one short hint, picked with no human</a:t>
            </a:r>
            <a:endParaRPr lang="en-US" sz="1400" dirty="0"/>
          </a:p>
        </p:txBody>
      </p:sp>
      <p:sp>
        <p:nvSpPr>
          <p:cNvPr id="25" name="Text 19"/>
          <p:cNvSpPr txBox="1"/>
          <p:nvPr/>
        </p:nvSpPr>
        <p:spPr>
          <a:xfrm>
            <a:off x="548640" y="2907792"/>
            <a:ext cx="1463040" cy="603504"/>
          </a:xfrm>
          <a:prstGeom prst="rect">
            <a:avLst/>
          </a:prstGeom>
          <a:noFill/>
          <a:ln/>
        </p:spPr>
        <p:txBody>
          <a:bodyPr wrap="square" lIns="0" tIns="0" rIns="0" bIns="0" rtlCol="0" anchor="ctr"/>
          <a:lstStyle/>
          <a:p>
            <a:pPr indent="0" marL="0">
              <a:buNone/>
            </a:pPr>
            <a:r>
              <a:rPr lang="en-US" sz="1600" b="1" dirty="0">
                <a:solidFill>
                  <a:schemeClr val="tx1"/>
                </a:solidFill>
              </a:rPr>
              <a:t>What it takes</a:t>
            </a:r>
            <a:endParaRPr lang="en-US" sz="1600" dirty="0"/>
          </a:p>
        </p:txBody>
      </p:sp>
      <p:sp>
        <p:nvSpPr>
          <p:cNvPr id="26" name="box "/>
          <p:cNvSpPr/>
          <p:nvPr/>
        </p:nvSpPr>
        <p:spPr>
          <a:xfrm>
            <a:off x="2103120" y="2907792"/>
            <a:ext cx="4206240" cy="603504"/>
          </a:xfrm>
          <a:prstGeom prst="roundRect">
            <a:avLst>
              <a:gd name="adj" fmla="val 9091"/>
            </a:avLst>
          </a:prstGeom>
          <a:solidFill>
            <a:srgbClr val="F2F2F2"/>
          </a:solidFill>
          <a:ln w="9525">
            <a:solidFill>
              <a:srgbClr val="BFBFBF"/>
            </a:solidFill>
            <a:prstDash val="solid"/>
          </a:ln>
        </p:spPr>
      </p:sp>
      <p:sp>
        <p:nvSpPr>
          <p:cNvPr id="27" name="Text 21"/>
          <p:cNvSpPr txBox="1"/>
          <p:nvPr/>
        </p:nvSpPr>
        <p:spPr>
          <a:xfrm>
            <a:off x="2176272" y="2907792"/>
            <a:ext cx="4059936" cy="603504"/>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017520"/>
            <a:ext cx="384048" cy="384048"/>
          </a:xfrm>
          <a:prstGeom prst="rect">
            <a:avLst/>
          </a:prstGeom>
        </p:spPr>
      </p:pic>
      <p:sp>
        <p:nvSpPr>
          <p:cNvPr id="29" name="Text 22"/>
          <p:cNvSpPr txBox="1"/>
          <p:nvPr/>
        </p:nvSpPr>
        <p:spPr>
          <a:xfrm>
            <a:off x="2743200" y="2907792"/>
            <a:ext cx="3474720" cy="603504"/>
          </a:xfrm>
          <a:prstGeom prst="rect">
            <a:avLst/>
          </a:prstGeom>
          <a:noFill/>
          <a:ln/>
        </p:spPr>
        <p:txBody>
          <a:bodyPr wrap="square" lIns="0" tIns="0" rIns="0" bIns="0" rtlCol="0" anchor="ctr"/>
          <a:lstStyle/>
          <a:p>
            <a:pPr indent="0" marL="0">
              <a:buNone/>
            </a:pPr>
            <a:r>
              <a:rPr lang="en-US" sz="1400" dirty="0">
                <a:solidFill>
                  <a:srgbClr val="404040"/>
                </a:solidFill>
              </a:rPr>
              <a:t>fine-tune an 8B specialist (ORLM): 69.5% on MAMO</a:t>
            </a:r>
            <a:pPr indent="0" marL="0">
              <a:buNone/>
            </a:pPr>
            <a:r>
              <a:rPr lang="en-US" sz="1100" dirty="0">
                <a:solidFill>
                  <a:srgbClr val="7F7F7F"/>
                </a:solidFill>
              </a:rPr>
              <a:t> [3, 4]</a:t>
            </a:r>
            <a:endParaRPr lang="en-US" sz="1400" dirty="0"/>
          </a:p>
        </p:txBody>
      </p:sp>
      <p:sp>
        <p:nvSpPr>
          <p:cNvPr id="30" name="arrow 2"/>
          <p:cNvSpPr/>
          <p:nvPr/>
        </p:nvSpPr>
        <p:spPr>
          <a:xfrm>
            <a:off x="6400800" y="3044952"/>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2907792"/>
            <a:ext cx="4663440" cy="603504"/>
          </a:xfrm>
          <a:prstGeom prst="roundRect">
            <a:avLst>
              <a:gd name="adj" fmla="val 9091"/>
            </a:avLst>
          </a:prstGeom>
          <a:solidFill>
            <a:srgbClr val="DEEBF7"/>
          </a:solidFill>
          <a:ln w="9525">
            <a:solidFill>
              <a:srgbClr val="BFBFBF"/>
            </a:solidFill>
            <a:prstDash val="solid"/>
          </a:ln>
        </p:spPr>
      </p:sp>
      <p:sp>
        <p:nvSpPr>
          <p:cNvPr id="32" name="Text 25"/>
          <p:cNvSpPr txBox="1"/>
          <p:nvPr/>
        </p:nvSpPr>
        <p:spPr>
          <a:xfrm>
            <a:off x="7022592" y="2907792"/>
            <a:ext cx="4517136" cy="603504"/>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017520"/>
            <a:ext cx="384048" cy="384048"/>
          </a:xfrm>
          <a:prstGeom prst="rect">
            <a:avLst/>
          </a:prstGeom>
        </p:spPr>
      </p:pic>
      <p:sp>
        <p:nvSpPr>
          <p:cNvPr id="34" name="Text 26"/>
          <p:cNvSpPr txBox="1"/>
          <p:nvPr/>
        </p:nvSpPr>
        <p:spPr>
          <a:xfrm>
            <a:off x="7589520" y="2907792"/>
            <a:ext cx="3931920" cy="603504"/>
          </a:xfrm>
          <a:prstGeom prst="rect">
            <a:avLst/>
          </a:prstGeom>
          <a:noFill/>
          <a:ln/>
        </p:spPr>
        <p:txBody>
          <a:bodyPr wrap="square" lIns="0" tIns="0" rIns="0" bIns="0" rtlCol="0" anchor="ctr"/>
          <a:lstStyle/>
          <a:p>
            <a:pPr indent="0" marL="0">
              <a:buNone/>
            </a:pPr>
            <a:r>
              <a:rPr lang="en-US" sz="1400" b="1" dirty="0">
                <a:solidFill>
                  <a:srgbClr val="1F3864"/>
                </a:solidFill>
              </a:rPr>
              <a:t>an untrained 8B model (Qwen3-8B): the same 69.5%</a:t>
            </a:r>
            <a:endParaRPr lang="en-US" sz="1400" dirty="0"/>
          </a:p>
        </p:txBody>
      </p:sp>
      <p:sp>
        <p:nvSpPr>
          <p:cNvPr id="35" name="Text 27"/>
          <p:cNvSpPr txBox="1"/>
          <p:nvPr/>
        </p:nvSpPr>
        <p:spPr>
          <a:xfrm>
            <a:off x="548640" y="3657600"/>
            <a:ext cx="11064240" cy="365760"/>
          </a:xfrm>
          <a:prstGeom prst="rect">
            <a:avLst/>
          </a:prstGeom>
          <a:noFill/>
          <a:ln/>
        </p:spPr>
        <p:txBody>
          <a:bodyPr wrap="square" lIns="0" tIns="0" rIns="0" bIns="0" rtlCol="0" anchor="ctr"/>
          <a:lstStyle/>
          <a:p>
            <a:pPr indent="0" marL="0">
              <a:buNone/>
            </a:pPr>
            <a:r>
              <a:rPr lang="en-US" sz="1800" b="1" dirty="0">
                <a:solidFill>
                  <a:schemeClr val="tx1"/>
                </a:solidFill>
              </a:rPr>
              <a:t>Next</a:t>
            </a:r>
            <a:endParaRPr lang="en-US" sz="1800" dirty="0"/>
          </a:p>
        </p:txBody>
      </p:sp>
      <p:sp>
        <p:nvSpPr>
          <p:cNvPr id="36" name="next Automatic hints"/>
          <p:cNvSpPr/>
          <p:nvPr/>
        </p:nvSpPr>
        <p:spPr>
          <a:xfrm>
            <a:off x="548640" y="4069080"/>
            <a:ext cx="3566160" cy="1325880"/>
          </a:xfrm>
          <a:prstGeom prst="roundRect">
            <a:avLst>
              <a:gd name="adj" fmla="val 5517"/>
            </a:avLst>
          </a:prstGeom>
          <a:solidFill>
            <a:srgbClr val="F2F2F2"/>
          </a:solidFill>
          <a:ln w="9525">
            <a:solidFill>
              <a:srgbClr val="D9D9D9"/>
            </a:solidFill>
            <a:prstDash val="solid"/>
          </a:ln>
        </p:spPr>
      </p:sp>
      <p:pic>
        <p:nvPicPr>
          <p:cNvPr id="37" name="next icon fact" descr="/NAS/SJ/POSTECH/nlp/figs/icons/fact.png">    </p:cNvPr>
          <p:cNvPicPr>
            <a:picLocks noChangeAspect="1"/>
          </p:cNvPicPr>
          <p:nvPr/>
        </p:nvPicPr>
        <p:blipFill>
          <a:blip r:embed="rId7"/>
          <a:stretch>
            <a:fillRect/>
          </a:stretch>
        </p:blipFill>
        <p:spPr>
          <a:xfrm>
            <a:off x="749808" y="4206240"/>
            <a:ext cx="502920" cy="502920"/>
          </a:xfrm>
          <a:prstGeom prst="rect">
            <a:avLst/>
          </a:prstGeom>
        </p:spPr>
      </p:pic>
      <p:sp>
        <p:nvSpPr>
          <p:cNvPr id="38" name="Text 29"/>
          <p:cNvSpPr txBox="1"/>
          <p:nvPr/>
        </p:nvSpPr>
        <p:spPr>
          <a:xfrm>
            <a:off x="138988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Automatic hints</a:t>
            </a:r>
            <a:endParaRPr lang="en-US" sz="2000" dirty="0"/>
          </a:p>
        </p:txBody>
      </p:sp>
      <p:sp>
        <p:nvSpPr>
          <p:cNvPr id="39" name="Text 30"/>
          <p:cNvSpPr txBox="1"/>
          <p:nvPr/>
        </p:nvSpPr>
        <p:spPr>
          <a:xfrm>
            <a:off x="74980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picked per problem type, only the needed calls</a:t>
            </a:r>
            <a:endParaRPr lang="en-US" sz="1500" dirty="0"/>
          </a:p>
        </p:txBody>
      </p:sp>
      <p:sp>
        <p:nvSpPr>
          <p:cNvPr id="40" name="next Sharper free checks"/>
          <p:cNvSpPr/>
          <p:nvPr/>
        </p:nvSpPr>
        <p:spPr>
          <a:xfrm>
            <a:off x="4297680" y="4069080"/>
            <a:ext cx="3566160" cy="1325880"/>
          </a:xfrm>
          <a:prstGeom prst="roundRect">
            <a:avLst>
              <a:gd name="adj" fmla="val 5517"/>
            </a:avLst>
          </a:prstGeom>
          <a:solidFill>
            <a:srgbClr val="F2F2F2"/>
          </a:solidFill>
          <a:ln w="9525">
            <a:solidFill>
              <a:srgbClr val="D9D9D9"/>
            </a:solidFill>
            <a:prstDash val="solid"/>
          </a:ln>
        </p:spPr>
      </p:sp>
      <p:pic>
        <p:nvPicPr>
          <p:cNvPr id="41" name="next icon check" descr="/NAS/SJ/POSTECH/nlp/figs/icons/check.png">    </p:cNvPr>
          <p:cNvPicPr>
            <a:picLocks noChangeAspect="1"/>
          </p:cNvPicPr>
          <p:nvPr/>
        </p:nvPicPr>
        <p:blipFill>
          <a:blip r:embed="rId8"/>
          <a:stretch>
            <a:fillRect/>
          </a:stretch>
        </p:blipFill>
        <p:spPr>
          <a:xfrm>
            <a:off x="4498848" y="4206240"/>
            <a:ext cx="502920" cy="502920"/>
          </a:xfrm>
          <a:prstGeom prst="rect">
            <a:avLst/>
          </a:prstGeom>
        </p:spPr>
      </p:pic>
      <p:sp>
        <p:nvSpPr>
          <p:cNvPr id="42" name="Text 32"/>
          <p:cNvSpPr txBox="1"/>
          <p:nvPr/>
        </p:nvSpPr>
        <p:spPr>
          <a:xfrm>
            <a:off x="513892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Sharper free checks</a:t>
            </a:r>
            <a:endParaRPr lang="en-US" sz="2000" dirty="0"/>
          </a:p>
        </p:txBody>
      </p:sp>
      <p:sp>
        <p:nvSpPr>
          <p:cNvPr id="43" name="Text 33"/>
          <p:cNvSpPr txBox="1"/>
          <p:nvPr/>
        </p:nvSpPr>
        <p:spPr>
          <a:xfrm>
            <a:off x="449884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catch more mistakes, still with no extra tokens</a:t>
            </a:r>
            <a:endParaRPr lang="en-US" sz="1500" dirty="0"/>
          </a:p>
        </p:txBody>
      </p:sp>
      <p:sp>
        <p:nvSpPr>
          <p:cNvPr id="44" name="next Math proofs"/>
          <p:cNvSpPr/>
          <p:nvPr/>
        </p:nvSpPr>
        <p:spPr>
          <a:xfrm>
            <a:off x="8046720" y="4069080"/>
            <a:ext cx="3566160" cy="1325880"/>
          </a:xfrm>
          <a:prstGeom prst="roundRect">
            <a:avLst>
              <a:gd name="adj" fmla="val 5517"/>
            </a:avLst>
          </a:prstGeom>
          <a:solidFill>
            <a:srgbClr val="F2F2F2"/>
          </a:solidFill>
          <a:ln w="9525">
            <a:solidFill>
              <a:srgbClr val="D9D9D9"/>
            </a:solidFill>
            <a:prstDash val="solid"/>
          </a:ln>
        </p:spPr>
      </p:sp>
      <p:pic>
        <p:nvPicPr>
          <p:cNvPr id="45" name="next icon sqrt" descr="/NAS/SJ/POSTECH/nlp/figs/icons/sqrt.png">    </p:cNvPr>
          <p:cNvPicPr>
            <a:picLocks noChangeAspect="1"/>
          </p:cNvPicPr>
          <p:nvPr/>
        </p:nvPicPr>
        <p:blipFill>
          <a:blip r:embed="rId9"/>
          <a:stretch>
            <a:fillRect/>
          </a:stretch>
        </p:blipFill>
        <p:spPr>
          <a:xfrm>
            <a:off x="8247888" y="4206240"/>
            <a:ext cx="502920" cy="502920"/>
          </a:xfrm>
          <a:prstGeom prst="rect">
            <a:avLst/>
          </a:prstGeom>
        </p:spPr>
      </p:pic>
      <p:sp>
        <p:nvSpPr>
          <p:cNvPr id="46" name="Text 35"/>
          <p:cNvSpPr txBox="1"/>
          <p:nvPr/>
        </p:nvSpPr>
        <p:spPr>
          <a:xfrm>
            <a:off x="8887968" y="4206240"/>
            <a:ext cx="2606040" cy="502920"/>
          </a:xfrm>
          <a:prstGeom prst="rect">
            <a:avLst/>
          </a:prstGeom>
          <a:noFill/>
          <a:ln/>
        </p:spPr>
        <p:txBody>
          <a:bodyPr wrap="square" lIns="0" tIns="0" rIns="0" bIns="0" rtlCol="0" anchor="ctr"/>
          <a:lstStyle/>
          <a:p>
            <a:pPr indent="0" marL="0">
              <a:buNone/>
            </a:pPr>
            <a:r>
              <a:rPr lang="en-US" sz="2000" b="1" dirty="0">
                <a:solidFill>
                  <a:srgbClr val="4472C4"/>
                </a:solidFill>
              </a:rPr>
              <a:t>Math proofs</a:t>
            </a:r>
            <a:endParaRPr lang="en-US" sz="2000" dirty="0"/>
          </a:p>
        </p:txBody>
      </p:sp>
      <p:sp>
        <p:nvSpPr>
          <p:cNvPr id="47" name="Text 36"/>
          <p:cNvSpPr txBox="1"/>
          <p:nvPr/>
        </p:nvSpPr>
        <p:spPr>
          <a:xfrm>
            <a:off x="8247888" y="4754880"/>
            <a:ext cx="3200400" cy="566928"/>
          </a:xfrm>
          <a:prstGeom prst="rect">
            <a:avLst/>
          </a:prstGeom>
          <a:noFill/>
          <a:ln/>
        </p:spPr>
        <p:txBody>
          <a:bodyPr wrap="square" lIns="0" tIns="0" rIns="0" bIns="0" rtlCol="0" anchor="ctr"/>
          <a:lstStyle/>
          <a:p>
            <a:pPr indent="0" marL="0">
              <a:buNone/>
            </a:pPr>
            <a:r>
              <a:rPr lang="en-US" sz="1500" dirty="0">
                <a:solidFill>
                  <a:schemeClr val="tx1"/>
                </a:solidFill>
              </a:rPr>
              <a:t>Lean checks every step: find the hints that help</a:t>
            </a:r>
            <a:pPr indent="0" marL="0">
              <a:buNone/>
            </a:pPr>
            <a:r>
              <a:rPr lang="en-US" sz="1100" dirty="0">
                <a:solidFill>
                  <a:srgbClr val="7F7F7F"/>
                </a:solidFill>
              </a:rPr>
              <a:t> [5]</a:t>
            </a:r>
            <a:endParaRPr lang="en-US" sz="1500" dirty="0"/>
          </a:p>
        </p:txBody>
      </p:sp>
      <p:sp>
        <p:nvSpPr>
          <p:cNvPr id="48"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49" name="Text 38"/>
          <p:cNvSpPr txBox="1"/>
          <p:nvPr/>
        </p:nvSpPr>
        <p:spPr>
          <a:xfrm>
            <a:off x="548640" y="6263640"/>
            <a:ext cx="10424160" cy="365760"/>
          </a:xfrm>
          <a:prstGeom prst="rect">
            <a:avLst/>
          </a:prstGeom>
          <a:noFill/>
          <a:ln/>
        </p:spPr>
        <p:txBody>
          <a:bodyPr wrap="square" lIns="0" tIns="0" rIns="0" bIns="0" rtlCol="0" anchor="ctr"/>
          <a:lstStyle/>
          <a:p>
            <a:pPr indent="0" marL="0">
              <a:buNone/>
            </a:pPr>
            <a:r>
              <a:rPr lang="en-US" sz="1000" dirty="0">
                <a:solidFill>
                  <a:srgbClr val="7F7F7F"/>
                </a:solidFill>
              </a:rPr>
              <a:t>[1] Snell et al., Scaling LLM Test-Time Compute Optimally, ICLR 2025  [2] DRoC: retrieved documentation for solver code, ICLR 2025  [3] Huang et al., ORLM, arXiv 2405.17743, 2024  [4] Huang et al., Mamo: 863 optimization word problems, 2024  [5] Zheng et al., miniF2F, ICLR 2022</a:t>
            </a:r>
            <a:endParaRPr lang="en-US" sz="1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about the first time, with no past programs?</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No answers are needed, only programs that passed the check; the library can fill up as problems arrive</a:t>
            </a:r>
            <a:endParaRPr lang="en-US" sz="1700" dirty="0"/>
          </a:p>
        </p:txBody>
      </p:sp>
      <p:sp>
        <p:nvSpPr>
          <p:cNvPr id="4" name="stream"/>
          <p:cNvSpPr/>
          <p:nvPr/>
        </p:nvSpPr>
        <p:spPr>
          <a:xfrm>
            <a:off x="548640" y="1737360"/>
            <a:ext cx="5440680" cy="3794760"/>
          </a:xfrm>
          <a:prstGeom prst="roundRect">
            <a:avLst>
              <a:gd name="adj" fmla="val 1928"/>
            </a:avLst>
          </a:prstGeom>
          <a:solidFill>
            <a:srgbClr val="F2F2F2"/>
          </a:solidFill>
          <a:ln w="9525">
            <a:solidFill>
              <a:srgbClr val="D9D9D9"/>
            </a:solidFill>
            <a:prstDash val="solid"/>
          </a:ln>
        </p:spPr>
      </p:sp>
      <p:sp>
        <p:nvSpPr>
          <p:cNvPr id="5" name="Text 3"/>
          <p:cNvSpPr txBox="1"/>
          <p:nvPr/>
        </p:nvSpPr>
        <p:spPr>
          <a:xfrm>
            <a:off x="77724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As problems arrive (a stream)</a:t>
            </a:r>
            <a:endParaRPr lang="en-US" sz="1800" dirty="0"/>
          </a:p>
        </p:txBody>
      </p:sp>
      <p:sp>
        <p:nvSpPr>
          <p:cNvPr id="6" name="box a new problem arrive"/>
          <p:cNvSpPr/>
          <p:nvPr/>
        </p:nvSpPr>
        <p:spPr>
          <a:xfrm>
            <a:off x="777240" y="2286000"/>
            <a:ext cx="4983480" cy="548640"/>
          </a:xfrm>
          <a:prstGeom prst="roundRect">
            <a:avLst>
              <a:gd name="adj" fmla="val 10000"/>
            </a:avLst>
          </a:prstGeom>
          <a:solidFill>
            <a:srgbClr val="FFFFFF"/>
          </a:solidFill>
          <a:ln w="9525">
            <a:solidFill>
              <a:srgbClr val="BFBFBF"/>
            </a:solidFill>
            <a:prstDash val="solid"/>
          </a:ln>
        </p:spPr>
      </p:sp>
      <p:sp>
        <p:nvSpPr>
          <p:cNvPr id="7" name="Text 5"/>
          <p:cNvSpPr txBox="1"/>
          <p:nvPr/>
        </p:nvSpPr>
        <p:spPr>
          <a:xfrm>
            <a:off x="850392" y="228600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a new problem arrives</a:t>
            </a:r>
            <a:endParaRPr lang="en-US" sz="1500" dirty="0"/>
          </a:p>
        </p:txBody>
      </p:sp>
      <p:sp>
        <p:nvSpPr>
          <p:cNvPr id="8" name="Shape 6"/>
          <p:cNvSpPr/>
          <p:nvPr/>
        </p:nvSpPr>
        <p:spPr>
          <a:xfrm>
            <a:off x="3264408" y="2834640"/>
            <a:ext cx="0" cy="228600"/>
          </a:xfrm>
          <a:prstGeom prst="line">
            <a:avLst/>
          </a:prstGeom>
          <a:noFill/>
          <a:ln w="25400">
            <a:solidFill>
              <a:srgbClr val="7F7F7F"/>
            </a:solidFill>
            <a:prstDash val="solid"/>
            <a:tailEnd type="triangle"/>
          </a:ln>
        </p:spPr>
      </p:sp>
      <p:sp>
        <p:nvSpPr>
          <p:cNvPr id="9" name="box hint = the most simi"/>
          <p:cNvSpPr/>
          <p:nvPr/>
        </p:nvSpPr>
        <p:spPr>
          <a:xfrm>
            <a:off x="777240" y="3063240"/>
            <a:ext cx="4983480" cy="548640"/>
          </a:xfrm>
          <a:prstGeom prst="roundRect">
            <a:avLst>
              <a:gd name="adj" fmla="val 10000"/>
            </a:avLst>
          </a:prstGeom>
          <a:solidFill>
            <a:srgbClr val="FFFFFF"/>
          </a:solidFill>
          <a:ln w="9525">
            <a:solidFill>
              <a:srgbClr val="BFBFBF"/>
            </a:solidFill>
            <a:prstDash val="solid"/>
          </a:ln>
        </p:spPr>
      </p:sp>
      <p:sp>
        <p:nvSpPr>
          <p:cNvPr id="10" name="Text 8"/>
          <p:cNvSpPr txBox="1"/>
          <p:nvPr/>
        </p:nvSpPr>
        <p:spPr>
          <a:xfrm>
            <a:off x="850392" y="3063240"/>
            <a:ext cx="4837176" cy="548640"/>
          </a:xfrm>
          <a:prstGeom prst="rect">
            <a:avLst/>
          </a:prstGeom>
          <a:noFill/>
          <a:ln/>
        </p:spPr>
        <p:txBody>
          <a:bodyPr wrap="square" lIns="0" tIns="0" rIns="0" bIns="0" rtlCol="0" anchor="ctr"/>
          <a:lstStyle/>
          <a:p>
            <a:pPr algn="ctr" indent="0" marL="0">
              <a:buNone/>
            </a:pPr>
            <a:r>
              <a:rPr lang="en-US" sz="1500" dirty="0">
                <a:solidFill>
                  <a:schemeClr val="tx1"/>
                </a:solidFill>
              </a:rPr>
              <a:t>hint = the most similar checked program so far</a:t>
            </a:r>
            <a:endParaRPr lang="en-US" sz="1500" dirty="0"/>
          </a:p>
        </p:txBody>
      </p:sp>
      <p:sp>
        <p:nvSpPr>
          <p:cNvPr id="11" name="Shape 9"/>
          <p:cNvSpPr/>
          <p:nvPr/>
        </p:nvSpPr>
        <p:spPr>
          <a:xfrm>
            <a:off x="3264408" y="3611880"/>
            <a:ext cx="0" cy="228600"/>
          </a:xfrm>
          <a:prstGeom prst="line">
            <a:avLst/>
          </a:prstGeom>
          <a:noFill/>
          <a:ln w="25400">
            <a:solidFill>
              <a:srgbClr val="7F7F7F"/>
            </a:solidFill>
            <a:prstDash val="solid"/>
            <a:tailEnd type="triangle"/>
          </a:ln>
        </p:spPr>
      </p:sp>
      <p:sp>
        <p:nvSpPr>
          <p:cNvPr id="12" name="box its program passes t"/>
          <p:cNvSpPr/>
          <p:nvPr/>
        </p:nvSpPr>
        <p:spPr>
          <a:xfrm>
            <a:off x="777240" y="3840480"/>
            <a:ext cx="4983480" cy="548640"/>
          </a:xfrm>
          <a:prstGeom prst="roundRect">
            <a:avLst>
              <a:gd name="adj" fmla="val 10000"/>
            </a:avLst>
          </a:prstGeom>
          <a:solidFill>
            <a:srgbClr val="E2F0D9"/>
          </a:solidFill>
          <a:ln w="9525">
            <a:solidFill>
              <a:srgbClr val="BFBFBF"/>
            </a:solidFill>
            <a:prstDash val="solid"/>
          </a:ln>
        </p:spPr>
      </p:sp>
      <p:sp>
        <p:nvSpPr>
          <p:cNvPr id="13" name="Text 11"/>
          <p:cNvSpPr txBox="1"/>
          <p:nvPr/>
        </p:nvSpPr>
        <p:spPr>
          <a:xfrm>
            <a:off x="850392" y="384048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its program passes the check → add it to the library</a:t>
            </a:r>
            <a:endParaRPr lang="en-US" sz="1500" dirty="0"/>
          </a:p>
        </p:txBody>
      </p:sp>
      <p:sp>
        <p:nvSpPr>
          <p:cNvPr id="14" name="Text 12"/>
          <p:cNvSpPr txBox="1"/>
          <p:nvPr/>
        </p:nvSpPr>
        <p:spPr>
          <a:xfrm>
            <a:off x="777240" y="4709160"/>
            <a:ext cx="4983480" cy="731520"/>
          </a:xfrm>
          <a:prstGeom prst="rect">
            <a:avLst/>
          </a:prstGeom>
          <a:noFill/>
          <a:ln/>
        </p:spPr>
        <p:txBody>
          <a:bodyPr wrap="square" lIns="0" tIns="0" rIns="0" bIns="0" rtlCol="0" anchor="t"/>
          <a:lstStyle/>
          <a:p>
            <a:pPr indent="0" marL="0">
              <a:buNone/>
            </a:pPr>
            <a:r>
              <a:rPr lang="en-US" sz="1400" dirty="0">
                <a:solidFill>
                  <a:schemeClr val="tx2"/>
                </a:solidFill>
              </a:rPr>
              <a:t>The first problem starts from one example program of another benchmark; no answer key is used anywhere.</a:t>
            </a:r>
            <a:endParaRPr lang="en-US" sz="1400" dirty="0"/>
          </a:p>
        </p:txBody>
      </p:sp>
      <p:sp>
        <p:nvSpPr>
          <p:cNvPr id="15" name="stream result"/>
          <p:cNvSpPr/>
          <p:nvPr/>
        </p:nvSpPr>
        <p:spPr>
          <a:xfrm>
            <a:off x="6172200" y="1737360"/>
            <a:ext cx="5440680" cy="3794760"/>
          </a:xfrm>
          <a:prstGeom prst="roundRect">
            <a:avLst>
              <a:gd name="adj" fmla="val 1928"/>
            </a:avLst>
          </a:prstGeom>
          <a:solidFill>
            <a:srgbClr val="F2F2F2"/>
          </a:solidFill>
          <a:ln w="9525">
            <a:solidFill>
              <a:srgbClr val="D9D9D9"/>
            </a:solidFill>
            <a:prstDash val="solid"/>
          </a:ln>
        </p:spPr>
      </p:sp>
      <p:sp>
        <p:nvSpPr>
          <p:cNvPr id="16" name="Text 14"/>
          <p:cNvSpPr txBox="1"/>
          <p:nvPr/>
        </p:nvSpPr>
        <p:spPr>
          <a:xfrm>
            <a:off x="6400800" y="18105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MAMO as a stream (3 runs), with the check</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400800" y="2286000"/>
          <a:ext cx="4983480" cy="914400"/>
        </p:xfrm>
        <a:graphic>
          <a:graphicData uri="http://schemas.openxmlformats.org/drawingml/2006/table">
            <a:tbl>
              <a:tblPr/>
              <a:tblGrid>
                <a:gridCol w="1508760"/>
                <a:gridCol w="1737360"/>
                <a:gridCol w="1737360"/>
              </a:tblGrid>
              <a:tr h="384048">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one fixed example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stream library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384048">
                <a:tc>
                  <a:txBody>
                    <a:bodyPr/>
                    <a:lstStyle/>
                    <a:p>
                      <a:pPr indent="0" marL="0">
                        <a:buNone/>
                      </a:pPr>
                      <a:r>
                        <a:rPr lang="en-US" sz="1400" dirty="0">
                          <a:solidFill>
                            <a:schemeClr val="tx1"/>
                          </a:solidFill>
                        </a:rPr>
                        <a:t>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78.6% · 1.9k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79.0% · 1.6k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Qwen3-14B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72.5% · 2.8k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76.4% · 2.1k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84048">
                <a:tc>
                  <a:txBody>
                    <a:bodyPr/>
                    <a:lstStyle/>
                    <a:p>
                      <a:pPr indent="0" marL="0">
                        <a:buNone/>
                      </a:pPr>
                      <a:r>
                        <a:rPr lang="en-US" sz="1400" dirty="0">
                          <a:solidFill>
                            <a:schemeClr val="tx1"/>
                          </a:solidFill>
                        </a:rPr>
                        <a:t>Qwen3-8B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chemeClr val="tx1"/>
                          </a:solidFill>
                        </a:rPr>
                        <a:t>72.1% · 3.2k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38761D"/>
                          </a:solidFill>
                        </a:rPr>
                        <a:t>75.9% · 2.3k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8" name="Text 15"/>
          <p:cNvSpPr txBox="1"/>
          <p:nvPr/>
        </p:nvSpPr>
        <p:spPr>
          <a:xfrm>
            <a:off x="6400800" y="3977640"/>
            <a:ext cx="4983480" cy="1463040"/>
          </a:xfrm>
          <a:prstGeom prst="rect">
            <a:avLst/>
          </a:prstGeom>
          <a:noFill/>
          <a:ln/>
        </p:spPr>
        <p:txBody>
          <a:bodyPr wrap="square" lIns="0" tIns="0" rIns="0" bIns="0" rtlCol="0" anchor="t"/>
          <a:lstStyle/>
          <a:p>
            <a:pPr indent="0" marL="0">
              <a:buNone/>
            </a:pPr>
            <a:r>
              <a:rPr lang="en-US" sz="1400" b="1" dirty="0">
                <a:solidFill>
                  <a:schemeClr val="tx1"/>
                </a:solidFill>
              </a:rPr>
              <a:t>Limits: </a:t>
            </a:r>
            <a:pPr indent="0" marL="0">
              <a:buNone/>
            </a:pPr>
            <a:r>
              <a:rPr lang="en-US" sz="1400" dirty="0">
                <a:solidFill>
                  <a:schemeClr val="tx1"/>
                </a:solidFill>
              </a:rPr>
              <a:t>it keeps 60–77% of what a full library gives; the library holds five models' programs; if a model's own programs for a type are all wrong, so is its hint; on varied problems it mostly saves tokens.</a:t>
            </a:r>
            <a:endParaRPr lang="en-US" sz="1400" dirty="0"/>
          </a:p>
        </p:txBody>
      </p:sp>
      <p:sp>
        <p:nvSpPr>
          <p:cNvPr id="19" name="Text 1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past programs needed: the library builds itself from checked programs as problems arrive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2026-10-19T20:09:12Z</dcterms:created>
  <dcterms:modified xsi:type="dcterms:W3CDTF">2026-10-19T20:09:12Z</dcterms:modified>
</cp:coreProperties>
</file>