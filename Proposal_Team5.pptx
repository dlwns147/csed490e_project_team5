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39df98b2-722f-82c8-4509-817ac9fd6531}">
          <p14:sldIdLst>
            <p14:sldId id="256"/>
            <p14:sldId id="257"/>
            <p14:sldId id="258"/>
            <p14:sldId id="259"/>
            <p14:sldId id="260"/>
            <p14:sldId id="261"/>
            <p14:sldId id="262"/>
            <p14:sldId id="263"/>
            <p14:sldId id="264"/>
          </p14:sldIdLst>
        </p14:section>
        <p14:section name="Extra pages" id="{608abdc5-b7fc-0d52-baaf-201135546195}">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첫 번째 발견입니다. 매뉴얼이 아니라 짧은 힌트를 주세요. 힌트는 이렇게 줍니다. 과제는 무게 제한이 있는 트럭들의 배송 경로를 짜는 것이고, 프롬프트에 OR-Tools를 정확히 쓰는 법 열한 줄을 같이 붙입니다. 그러면 Qwen3-32B가 맞는 함수를 불러 최적 경로를 찾습니다. 대신 긴 참조 문서를 주면, 문서에 경로는 있지만 트럭 무게 규칙이 없어서 없는 함수를 지어내고 프로그램이 죽습니다. 오른쪽은 30문제에서 최적 경로를 찾은 비율입니다. 아무것도 안 주면 23%, 오래 생각하면 오히려 3%, 긴 문서는 7%, 짧은 힌트는 77에서 90%입니다. 모르는 함수 이름은 오래 생각한다고 생기지 않습니다. 힌트는 문제 종류마다 한 번만 만들면 됩니다. 라이브러리를 아는 사람이 쓰거나, 사용법 코드 조각 모음에서 검색하거나, 모델이 다른 문제에서 짜서 검사를 통과한 자기 프로그램을 그대로 씁니다. 세 번째 방법은 사람이 필요 없고, 사람이 쓴 힌트와 같은 정확도였습니다.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두 번째 발견입니다. 공짜 검사가 실패할 때만 생각하게 하세요. 공짜 검사는 이렇게 돌아갑니다. 문제에는 보통 예제가 적혀 있습니다. 'Make a triangle!'에는 막대 3, 4, 5면 답이 0이라는 예제가 있습니다. 모델이 짠 프로그램을 모델 없이 컴퓨터에서 3, 4, 5로 실행해 0이 나오면 그대로 내고, 다르면 그 문제만 더 생각해서 다시 짭니다. 예제가 없으면 프로그램을 두 가지로 짜서 답이 같은지 봅니다. 오른쪽이 결과입니다. 경시 문제 311개에서 항상 오래 생각하면 66.2%에 3만 토큰, 실패할 때만 생각하면 66.3%에 2만 5천 토큰입니다. 예제만으로는 65%이고, 작은 입력을 전부 따져 보는 짧은 프로그램과도 비교해서 66%가 됩니다. 기하에서는 98% 대 99%이고 토큰은 27% 적습니다. 정답 없이도 같은 정확도를 더 싸게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두 발견을 합친 것이 저희 방법입니다. 위의 네 단계입니다. 힌트를 붙여 프로그램을 쓰고, 공짜 검사를 돌려서, 통과하면 내고 실패하면 생각합니다. 같은 종류의 문제가 데이터만 바꿔 다시 오면 그 프로그램을 재사용합니다. 아이콘은 각 단계를 쓰는 문제 종류입니다. 왼쪽은 실제 문제 하나입니다. Qwen3-8B가 힌트 없이 짜면 없는 함수를 불러 죽습니다. 힌트로 다른 문제에서 검사를 통과한 자기 프로그램을 주면, 두 버전이 모두 20000을 내서 바로 냅니다. 생각만 했다면 5.3k 토큰, 이렇게 하면 0.6k입니다. 오른쪽은 전체 결과입니다. 세 번 답해서 답이 갈리는 문제에 생각을 몰아주는 기존 방식은 74%이고, 저희 방법은 검색으로 찾은 힌트로 84%, 사람이 쓴 힌트로 87%이며 토큰도 더 적습니다. 처음 써 본 MAMO에서는 자동 힌트가 사람이 쓴 힌트와 같은 79%였습니다.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(75초) 마지막으로 새로운 점과 다음 계획입니다. 왼쪽이 흔히 쓰는 방법, 오른쪽이 저희 방법입니다. 첫째, 기존에는 세 번 답해서 답이 갈리는 문제에 생각을 몰아주거나 언제 생각할지를 학습시키지만, 저희는 학습 없이 공짜 검사가 실패한 문제에만 생각을 씁니다. 둘째, 기존에는 매뉴얼이나 교사 모델이 짜서 정답으로 확인한 프로그램을 주지만, 저희는 모델 자신이 짜서 검사를 통과한 프로그램을 짧은 힌트로 주므로 사람도 정답도 필요 없습니다. 셋째, 비용입니다. 개발에 쓰지 않은 MAMO 863문제에서 최적화용으로 파인튜닝한 ORLM-8B를 저희 채점기로 돌리면 69.5%인데, 학습하지 않은 Qwen3-8B에 자기 힌트를 주면 24GB GPU 한 장으로 같은 69.5%를 더 적은 토큰에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192024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1995678"/>
            <a:ext cx="336499" cy="251460"/>
          </a:xfrm>
          <a:prstGeom prst="rect">
            <a:avLst/>
          </a:prstGeom>
          <a:solidFill>
            <a:srgbClr val="7F7F7F"/>
          </a:solidFill>
          <a:ln w="6350">
            <a:solidFill>
              <a:srgbClr val="7F7F7F"/>
            </a:solidFill>
            <a:prstDash val="solid"/>
          </a:ln>
        </p:spPr>
      </p:sp>
      <p:sp>
        <p:nvSpPr>
          <p:cNvPr id="28" name="Text 21"/>
          <p:cNvSpPr txBox="1"/>
          <p:nvPr/>
        </p:nvSpPr>
        <p:spPr>
          <a:xfrm>
            <a:off x="8566099" y="1920240"/>
            <a:ext cx="1737360" cy="402336"/>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42316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498598"/>
            <a:ext cx="45720" cy="251460"/>
          </a:xfrm>
          <a:prstGeom prst="rect">
            <a:avLst/>
          </a:prstGeom>
          <a:solidFill>
            <a:srgbClr val="C00000"/>
          </a:solidFill>
          <a:ln w="6350">
            <a:solidFill>
              <a:srgbClr val="C00000"/>
            </a:solidFill>
            <a:prstDash val="solid"/>
          </a:ln>
        </p:spPr>
      </p:sp>
      <p:sp>
        <p:nvSpPr>
          <p:cNvPr id="31" name="Text 24"/>
          <p:cNvSpPr txBox="1"/>
          <p:nvPr/>
        </p:nvSpPr>
        <p:spPr>
          <a:xfrm>
            <a:off x="8273491" y="242316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292608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001518"/>
            <a:ext cx="102413" cy="251460"/>
          </a:xfrm>
          <a:prstGeom prst="rect">
            <a:avLst/>
          </a:prstGeom>
          <a:solidFill>
            <a:srgbClr val="C00000"/>
          </a:solidFill>
          <a:ln w="6350">
            <a:solidFill>
              <a:srgbClr val="C00000"/>
            </a:solidFill>
            <a:prstDash val="solid"/>
          </a:ln>
        </p:spPr>
      </p:sp>
      <p:sp>
        <p:nvSpPr>
          <p:cNvPr id="34" name="Text 27"/>
          <p:cNvSpPr txBox="1"/>
          <p:nvPr/>
        </p:nvSpPr>
        <p:spPr>
          <a:xfrm>
            <a:off x="8332013" y="292608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342900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3504438"/>
            <a:ext cx="1214323" cy="251460"/>
          </a:xfrm>
          <a:prstGeom prst="rect">
            <a:avLst/>
          </a:prstGeom>
          <a:solidFill>
            <a:srgbClr val="4472C4"/>
          </a:solidFill>
          <a:ln w="6350">
            <a:solidFill>
              <a:srgbClr val="4472C4"/>
            </a:solidFill>
            <a:prstDash val="solid"/>
          </a:ln>
        </p:spPr>
      </p:sp>
      <p:sp>
        <p:nvSpPr>
          <p:cNvPr id="37" name="Text 30"/>
          <p:cNvSpPr txBox="1"/>
          <p:nvPr/>
        </p:nvSpPr>
        <p:spPr>
          <a:xfrm>
            <a:off x="9443923" y="3429000"/>
            <a:ext cx="1737360" cy="402336"/>
          </a:xfrm>
          <a:prstGeom prst="rect">
            <a:avLst/>
          </a:prstGeom>
          <a:noFill/>
          <a:ln/>
        </p:spPr>
        <p:txBody>
          <a:bodyPr wrap="square" lIns="0" tIns="0" rIns="0" bIns="0" rtlCol="0" anchor="ctr"/>
          <a:lstStyle/>
          <a:p>
            <a:pPr indent="0" marL="0">
              <a:buNone/>
            </a:pPr>
            <a:r>
              <a:rPr lang="en-US" sz="1800" b="1" dirty="0">
                <a:solidFill>
                  <a:srgbClr val="4472C4"/>
                </a:solidFill>
              </a:rPr>
              <a:t>77–90% (3 runs)</a:t>
            </a:r>
            <a:endParaRPr lang="en-US" sz="1800" dirty="0"/>
          </a:p>
        </p:txBody>
      </p:sp>
      <p:sp>
        <p:nvSpPr>
          <p:cNvPr id="38" name="Text 31"/>
          <p:cNvSpPr txBox="1"/>
          <p:nvPr/>
        </p:nvSpPr>
        <p:spPr>
          <a:xfrm>
            <a:off x="6400800" y="4041648"/>
            <a:ext cx="4983480" cy="347472"/>
          </a:xfrm>
          <a:prstGeom prst="rect">
            <a:avLst/>
          </a:prstGeom>
          <a:noFill/>
          <a:ln/>
        </p:spPr>
        <p:txBody>
          <a:bodyPr wrap="square" lIns="0" tIns="0" rIns="0" bIns="0" rtlCol="0" anchor="ctr"/>
          <a:lstStyle/>
          <a:p>
            <a:pPr indent="0" marL="0">
              <a:buNone/>
            </a:pPr>
            <a:r>
              <a:rPr lang="en-US" sz="1500" b="1" dirty="0">
                <a:solidFill>
                  <a:schemeClr val="tx1"/>
                </a:solidFill>
              </a:rPr>
              <a:t>Where the hint comes from (once per problem type):</a:t>
            </a:r>
            <a:endParaRPr lang="en-US" sz="1500" dirty="0"/>
          </a:p>
        </p:txBody>
      </p:sp>
      <p:pic>
        <p:nvPicPr>
          <p:cNvPr id="39" name="hint source pen" descr="/NAS/SJ/POSTECH/nlp/figs/icons/pen.png">    </p:cNvPr>
          <p:cNvPicPr>
            <a:picLocks noChangeAspect="1"/>
          </p:cNvPicPr>
          <p:nvPr/>
        </p:nvPicPr>
        <p:blipFill>
          <a:blip r:embed="rId6"/>
          <a:stretch>
            <a:fillRect/>
          </a:stretch>
        </p:blipFill>
        <p:spPr>
          <a:xfrm>
            <a:off x="6446520" y="4462272"/>
            <a:ext cx="256032" cy="256032"/>
          </a:xfrm>
          <a:prstGeom prst="rect">
            <a:avLst/>
          </a:prstGeom>
        </p:spPr>
      </p:pic>
      <p:sp>
        <p:nvSpPr>
          <p:cNvPr id="40" name="Text 32"/>
          <p:cNvSpPr txBox="1"/>
          <p:nvPr/>
        </p:nvSpPr>
        <p:spPr>
          <a:xfrm>
            <a:off x="6812280" y="4434840"/>
            <a:ext cx="4572000" cy="310896"/>
          </a:xfrm>
          <a:prstGeom prst="rect">
            <a:avLst/>
          </a:prstGeom>
          <a:noFill/>
          <a:ln/>
        </p:spPr>
        <p:txBody>
          <a:bodyPr wrap="square" lIns="0" tIns="0" rIns="0" bIns="0" rtlCol="0" anchor="ctr"/>
          <a:lstStyle/>
          <a:p>
            <a:pPr indent="0" marL="0">
              <a:buNone/>
            </a:pPr>
            <a:r>
              <a:rPr lang="en-US" sz="1400" dirty="0">
                <a:solidFill>
                  <a:schemeClr val="tx1"/>
                </a:solidFill>
              </a:rPr>
              <a:t>written by hand by someone who knows the library</a:t>
            </a:r>
            <a:endParaRPr lang="en-US" sz="1400" dirty="0"/>
          </a:p>
        </p:txBody>
      </p:sp>
      <p:pic>
        <p:nvPicPr>
          <p:cNvPr id="41" name="hint source page" descr="/NAS/SJ/POSTECH/nlp/figs/icons/page.png">    </p:cNvPr>
          <p:cNvPicPr>
            <a:picLocks noChangeAspect="1"/>
          </p:cNvPicPr>
          <p:nvPr/>
        </p:nvPicPr>
        <p:blipFill>
          <a:blip r:embed="rId7"/>
          <a:stretch>
            <a:fillRect/>
          </a:stretch>
        </p:blipFill>
        <p:spPr>
          <a:xfrm>
            <a:off x="6446520" y="4809744"/>
            <a:ext cx="256032" cy="256032"/>
          </a:xfrm>
          <a:prstGeom prst="rect">
            <a:avLst/>
          </a:prstGeom>
        </p:spPr>
      </p:pic>
      <p:sp>
        <p:nvSpPr>
          <p:cNvPr id="42" name="Text 33"/>
          <p:cNvSpPr txBox="1"/>
          <p:nvPr/>
        </p:nvSpPr>
        <p:spPr>
          <a:xfrm>
            <a:off x="6812280" y="4782312"/>
            <a:ext cx="4572000" cy="310896"/>
          </a:xfrm>
          <a:prstGeom prst="rect">
            <a:avLst/>
          </a:prstGeom>
          <a:noFill/>
          <a:ln/>
        </p:spPr>
        <p:txBody>
          <a:bodyPr wrap="square" lIns="0" tIns="0" rIns="0" bIns="0" rtlCol="0" anchor="ctr"/>
          <a:lstStyle/>
          <a:p>
            <a:pPr indent="0" marL="0">
              <a:buNone/>
            </a:pPr>
            <a:r>
              <a:rPr lang="en-US" sz="1400" dirty="0">
                <a:solidFill>
                  <a:schemeClr val="tx1"/>
                </a:solidFill>
              </a:rPr>
              <a:t>found by search in a library of usage snippets</a:t>
            </a:r>
            <a:endParaRPr lang="en-US" sz="1400" dirty="0"/>
          </a:p>
        </p:txBody>
      </p:sp>
      <p:pic>
        <p:nvPicPr>
          <p:cNvPr id="43" name="hint source check" descr="/NAS/SJ/POSTECH/nlp/figs/icons/check.png">    </p:cNvPr>
          <p:cNvPicPr>
            <a:picLocks noChangeAspect="1"/>
          </p:cNvPicPr>
          <p:nvPr/>
        </p:nvPicPr>
        <p:blipFill>
          <a:blip r:embed="rId8"/>
          <a:stretch>
            <a:fillRect/>
          </a:stretch>
        </p:blipFill>
        <p:spPr>
          <a:xfrm>
            <a:off x="6446520" y="5157216"/>
            <a:ext cx="256032" cy="256032"/>
          </a:xfrm>
          <a:prstGeom prst="rect">
            <a:avLst/>
          </a:prstGeom>
        </p:spPr>
      </p:pic>
      <p:sp>
        <p:nvSpPr>
          <p:cNvPr id="44" name="Text 34"/>
          <p:cNvSpPr txBox="1"/>
          <p:nvPr/>
        </p:nvSpPr>
        <p:spPr>
          <a:xfrm>
            <a:off x="6812280" y="5129784"/>
            <a:ext cx="4572000" cy="310896"/>
          </a:xfrm>
          <a:prstGeom prst="rect">
            <a:avLst/>
          </a:prstGeom>
          <a:noFill/>
          <a:ln/>
        </p:spPr>
        <p:txBody>
          <a:bodyPr wrap="square" lIns="0" tIns="0" rIns="0" bIns="0" rtlCol="0" anchor="ctr"/>
          <a:lstStyle/>
          <a:p>
            <a:pPr indent="0" marL="0">
              <a:buNone/>
            </a:pPr>
            <a:r>
              <a:rPr lang="en-US" sz="1400" dirty="0">
                <a:solidFill>
                  <a:schemeClr val="tx1"/>
                </a:solidFill>
              </a:rPr>
              <a:t>the model's own program that passed the check (no human)</a:t>
            </a:r>
            <a:endParaRPr lang="en-US" sz="1400" dirty="0"/>
          </a:p>
        </p:txBody>
      </p:sp>
      <p:sp>
        <p:nvSpPr>
          <p:cNvPr id="45"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a free check works</a:t>
            </a:r>
            <a:endParaRPr lang="en-US" sz="1800" dirty="0"/>
          </a:p>
        </p:txBody>
      </p:sp>
      <p:sp>
        <p:nvSpPr>
          <p:cNvPr id="13" name="box The problem shows an"/>
          <p:cNvSpPr/>
          <p:nvPr/>
        </p:nvSpPr>
        <p:spPr>
          <a:xfrm>
            <a:off x="777240" y="1874520"/>
            <a:ext cx="4892040" cy="566928"/>
          </a:xfrm>
          <a:prstGeom prst="roundRect">
            <a:avLst>
              <a:gd name="adj" fmla="val 9677"/>
            </a:avLst>
          </a:prstGeom>
          <a:solidFill>
            <a:srgbClr val="FFFFFF"/>
          </a:solidFill>
          <a:ln w="9525">
            <a:solidFill>
              <a:srgbClr val="BFBFBF"/>
            </a:solidFill>
            <a:prstDash val="solid"/>
          </a:ln>
        </p:spPr>
      </p:sp>
      <p:sp>
        <p:nvSpPr>
          <p:cNvPr id="14" name="Text 7"/>
          <p:cNvSpPr txBox="1"/>
          <p:nvPr/>
        </p:nvSpPr>
        <p:spPr>
          <a:xfrm>
            <a:off x="850392" y="187452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441448"/>
            <a:ext cx="0" cy="210312"/>
          </a:xfrm>
          <a:prstGeom prst="line">
            <a:avLst/>
          </a:prstGeom>
          <a:noFill/>
          <a:ln w="25400">
            <a:solidFill>
              <a:srgbClr val="7F7F7F"/>
            </a:solidFill>
            <a:prstDash val="solid"/>
            <a:tailEnd type="triangle"/>
          </a:ln>
        </p:spPr>
      </p:sp>
      <p:sp>
        <p:nvSpPr>
          <p:cNvPr id="16" name="box Run our program on 3"/>
          <p:cNvSpPr/>
          <p:nvPr/>
        </p:nvSpPr>
        <p:spPr>
          <a:xfrm>
            <a:off x="777240" y="2651760"/>
            <a:ext cx="4892040" cy="566928"/>
          </a:xfrm>
          <a:prstGeom prst="roundRect">
            <a:avLst>
              <a:gd name="adj" fmla="val 9677"/>
            </a:avLst>
          </a:prstGeom>
          <a:solidFill>
            <a:srgbClr val="FFFFFF"/>
          </a:solidFill>
          <a:ln w="9525">
            <a:solidFill>
              <a:srgbClr val="BFBFBF"/>
            </a:solidFill>
            <a:prstDash val="solid"/>
          </a:ln>
        </p:spPr>
      </p:sp>
      <p:sp>
        <p:nvSpPr>
          <p:cNvPr id="17" name="Text 10"/>
          <p:cNvSpPr txBox="1"/>
          <p:nvPr/>
        </p:nvSpPr>
        <p:spPr>
          <a:xfrm>
            <a:off x="850392" y="265176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218688"/>
            <a:ext cx="182880" cy="237744"/>
          </a:xfrm>
          <a:prstGeom prst="line">
            <a:avLst/>
          </a:prstGeom>
          <a:noFill/>
          <a:ln w="25400">
            <a:solidFill>
              <a:srgbClr val="7F7F7F"/>
            </a:solidFill>
            <a:prstDash val="solid"/>
            <a:tailEnd type="triangle"/>
          </a:ln>
        </p:spPr>
      </p:sp>
      <p:sp>
        <p:nvSpPr>
          <p:cNvPr id="19" name="Shape 12"/>
          <p:cNvSpPr/>
          <p:nvPr/>
        </p:nvSpPr>
        <p:spPr>
          <a:xfrm>
            <a:off x="4343400" y="3218688"/>
            <a:ext cx="182880" cy="237744"/>
          </a:xfrm>
          <a:prstGeom prst="line">
            <a:avLst/>
          </a:prstGeom>
          <a:noFill/>
          <a:ln w="25400">
            <a:solidFill>
              <a:srgbClr val="7F7F7F"/>
            </a:solidFill>
            <a:prstDash val="solid"/>
            <a:tailEnd type="triangle"/>
          </a:ln>
        </p:spPr>
      </p:sp>
      <p:sp>
        <p:nvSpPr>
          <p:cNvPr id="20" name="box ✓ same → submit (no "/>
          <p:cNvSpPr/>
          <p:nvPr/>
        </p:nvSpPr>
        <p:spPr>
          <a:xfrm>
            <a:off x="777240" y="3456432"/>
            <a:ext cx="2377440" cy="658368"/>
          </a:xfrm>
          <a:prstGeom prst="roundRect">
            <a:avLst>
              <a:gd name="adj" fmla="val 8333"/>
            </a:avLst>
          </a:prstGeom>
          <a:solidFill>
            <a:srgbClr val="E2F0D9"/>
          </a:solidFill>
          <a:ln w="9525">
            <a:solidFill>
              <a:srgbClr val="BFBFBF"/>
            </a:solidFill>
            <a:prstDash val="solid"/>
          </a:ln>
        </p:spPr>
      </p:sp>
      <p:sp>
        <p:nvSpPr>
          <p:cNvPr id="21" name="Text 14"/>
          <p:cNvSpPr txBox="1"/>
          <p:nvPr/>
        </p:nvSpPr>
        <p:spPr>
          <a:xfrm>
            <a:off x="850392" y="3456432"/>
            <a:ext cx="2231136" cy="658368"/>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456432"/>
            <a:ext cx="2377440" cy="658368"/>
          </a:xfrm>
          <a:prstGeom prst="roundRect">
            <a:avLst>
              <a:gd name="adj" fmla="val 8333"/>
            </a:avLst>
          </a:prstGeom>
          <a:solidFill>
            <a:srgbClr val="FADBD8"/>
          </a:solidFill>
          <a:ln w="9525">
            <a:solidFill>
              <a:srgbClr val="BFBFBF"/>
            </a:solidFill>
            <a:prstDash val="solid"/>
          </a:ln>
        </p:spPr>
      </p:sp>
      <p:sp>
        <p:nvSpPr>
          <p:cNvPr id="23" name="Text 16"/>
          <p:cNvSpPr txBox="1"/>
          <p:nvPr/>
        </p:nvSpPr>
        <p:spPr>
          <a:xfrm>
            <a:off x="3364992" y="3456432"/>
            <a:ext cx="2231136" cy="658368"/>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279392"/>
            <a:ext cx="4892040" cy="365760"/>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09160"/>
            <a:ext cx="1463040" cy="548640"/>
          </a:xfrm>
          <a:prstGeom prst="roundRect">
            <a:avLst>
              <a:gd name="adj" fmla="val 10000"/>
            </a:avLst>
          </a:prstGeom>
          <a:solidFill>
            <a:srgbClr val="FFFFFF"/>
          </a:solidFill>
          <a:ln w="9525">
            <a:solidFill>
              <a:srgbClr val="BFBFBF"/>
            </a:solidFill>
            <a:prstDash val="solid"/>
          </a:ln>
        </p:spPr>
      </p:sp>
      <p:sp>
        <p:nvSpPr>
          <p:cNvPr id="26" name="Text 19"/>
          <p:cNvSpPr txBox="1"/>
          <p:nvPr/>
        </p:nvSpPr>
        <p:spPr>
          <a:xfrm>
            <a:off x="85039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09160"/>
            <a:ext cx="1463040" cy="548640"/>
          </a:xfrm>
          <a:prstGeom prst="roundRect">
            <a:avLst>
              <a:gd name="adj" fmla="val 10000"/>
            </a:avLst>
          </a:prstGeom>
          <a:solidFill>
            <a:srgbClr val="FFFFFF"/>
          </a:solidFill>
          <a:ln w="9525">
            <a:solidFill>
              <a:srgbClr val="BFBFBF"/>
            </a:solidFill>
            <a:prstDash val="solid"/>
          </a:ln>
        </p:spPr>
      </p:sp>
      <p:sp>
        <p:nvSpPr>
          <p:cNvPr id="28" name="Text 21"/>
          <p:cNvSpPr txBox="1"/>
          <p:nvPr/>
        </p:nvSpPr>
        <p:spPr>
          <a:xfrm>
            <a:off x="240487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4983480"/>
            <a:ext cx="228600" cy="0"/>
          </a:xfrm>
          <a:prstGeom prst="line">
            <a:avLst/>
          </a:prstGeom>
          <a:noFill/>
          <a:ln w="25400">
            <a:solidFill>
              <a:srgbClr val="7F7F7F"/>
            </a:solidFill>
            <a:prstDash val="solid"/>
            <a:tailEnd type="triangle"/>
          </a:ln>
        </p:spPr>
      </p:sp>
      <p:sp>
        <p:nvSpPr>
          <p:cNvPr id="30" name="box ✗ different → think"/>
          <p:cNvSpPr/>
          <p:nvPr/>
        </p:nvSpPr>
        <p:spPr>
          <a:xfrm>
            <a:off x="4023360" y="4709160"/>
            <a:ext cx="1645920" cy="548640"/>
          </a:xfrm>
          <a:prstGeom prst="roundRect">
            <a:avLst>
              <a:gd name="adj" fmla="val 10000"/>
            </a:avLst>
          </a:prstGeom>
          <a:solidFill>
            <a:srgbClr val="FADBD8"/>
          </a:solidFill>
          <a:ln w="9525">
            <a:solidFill>
              <a:srgbClr val="BFBFBF"/>
            </a:solidFill>
            <a:prstDash val="solid"/>
          </a:ln>
        </p:spPr>
      </p:sp>
      <p:sp>
        <p:nvSpPr>
          <p:cNvPr id="31" name="Text 24"/>
          <p:cNvSpPr txBox="1"/>
          <p:nvPr/>
        </p:nvSpPr>
        <p:spPr>
          <a:xfrm>
            <a:off x="4096512" y="4709160"/>
            <a:ext cx="1499616" cy="548640"/>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one real problem"/>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One real problem (Qwen3-8B, a MAMO word problem)</a:t>
            </a:r>
            <a:endParaRPr lang="en-US" sz="1700" dirty="0"/>
          </a:p>
        </p:txBody>
      </p:sp>
      <p:sp>
        <p:nvSpPr>
          <p:cNvPr id="39" name="box Task: the minimum co"/>
          <p:cNvSpPr/>
          <p:nvPr/>
        </p:nvSpPr>
        <p:spPr>
          <a:xfrm>
            <a:off x="777240" y="2743200"/>
            <a:ext cx="4892040" cy="548640"/>
          </a:xfrm>
          <a:prstGeom prst="roundRect">
            <a:avLst>
              <a:gd name="adj" fmla="val 10000"/>
            </a:avLst>
          </a:prstGeom>
          <a:solidFill>
            <a:srgbClr val="FFFFFF"/>
          </a:solidFill>
          <a:ln w="9525">
            <a:solidFill>
              <a:srgbClr val="BFBFBF"/>
            </a:solidFill>
            <a:prstDash val="solid"/>
          </a:ln>
        </p:spPr>
      </p:sp>
      <p:sp>
        <p:nvSpPr>
          <p:cNvPr id="40" name="Text 20"/>
          <p:cNvSpPr txBox="1"/>
          <p:nvPr/>
        </p:nvSpPr>
        <p:spPr>
          <a:xfrm>
            <a:off x="850392" y="2743200"/>
            <a:ext cx="4745736" cy="548640"/>
          </a:xfrm>
          <a:prstGeom prst="rect">
            <a:avLst/>
          </a:prstGeom>
          <a:noFill/>
          <a:ln/>
        </p:spPr>
        <p:txBody>
          <a:bodyPr wrap="square" lIns="0" tIns="0" rIns="0" bIns="0" rtlCol="0" anchor="ctr"/>
          <a:lstStyle/>
          <a:p>
            <a:pPr algn="ctr" indent="0" marL="0">
              <a:buNone/>
            </a:pPr>
            <a:r>
              <a:rPr lang="en-US" sz="1500" dirty="0">
                <a:solidFill>
                  <a:schemeClr val="tx1"/>
                </a:solidFill>
              </a:rPr>
              <a:t>Task: the minimum cost of products X, Y, Z under three limits (answer 20000)</a:t>
            </a:r>
            <a:endParaRPr lang="en-US" sz="1500" dirty="0"/>
          </a:p>
        </p:txBody>
      </p:sp>
      <p:sp>
        <p:nvSpPr>
          <p:cNvPr id="41" name="box ✗ no hint: it calls "/>
          <p:cNvSpPr/>
          <p:nvPr/>
        </p:nvSpPr>
        <p:spPr>
          <a:xfrm>
            <a:off x="777240" y="3383280"/>
            <a:ext cx="4892040" cy="502920"/>
          </a:xfrm>
          <a:prstGeom prst="roundRect">
            <a:avLst>
              <a:gd name="adj" fmla="val 10909"/>
            </a:avLst>
          </a:prstGeom>
          <a:solidFill>
            <a:srgbClr val="FADBD8"/>
          </a:solidFill>
          <a:ln w="9525">
            <a:solidFill>
              <a:srgbClr val="BFBFBF"/>
            </a:solidFill>
            <a:prstDash val="solid"/>
          </a:ln>
        </p:spPr>
      </p:sp>
      <p:sp>
        <p:nvSpPr>
          <p:cNvPr id="42" name="Text 22"/>
          <p:cNvSpPr txBox="1"/>
          <p:nvPr/>
        </p:nvSpPr>
        <p:spPr>
          <a:xfrm>
            <a:off x="850392" y="3383280"/>
            <a:ext cx="4745736" cy="50292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43" name="box ✓ hint = its own che"/>
          <p:cNvSpPr/>
          <p:nvPr/>
        </p:nvSpPr>
        <p:spPr>
          <a:xfrm>
            <a:off x="777240" y="3977640"/>
            <a:ext cx="4892040" cy="731520"/>
          </a:xfrm>
          <a:prstGeom prst="roundRect">
            <a:avLst>
              <a:gd name="adj" fmla="val 7500"/>
            </a:avLst>
          </a:prstGeom>
          <a:solidFill>
            <a:srgbClr val="E2F0D9"/>
          </a:solidFill>
          <a:ln w="9525">
            <a:solidFill>
              <a:srgbClr val="BFBFBF"/>
            </a:solidFill>
            <a:prstDash val="solid"/>
          </a:ln>
        </p:spPr>
      </p:sp>
      <p:sp>
        <p:nvSpPr>
          <p:cNvPr id="44" name="Text 24"/>
          <p:cNvSpPr txBox="1"/>
          <p:nvPr/>
        </p:nvSpPr>
        <p:spPr>
          <a:xfrm>
            <a:off x="850392" y="3977640"/>
            <a:ext cx="4745736" cy="731520"/>
          </a:xfrm>
          <a:prstGeom prst="rect">
            <a:avLst/>
          </a:prstGeom>
          <a:noFill/>
          <a:ln/>
        </p:spPr>
        <p:txBody>
          <a:bodyPr wrap="square" lIns="0" tIns="0" rIns="0" bIns="0" rtlCol="0" anchor="ctr"/>
          <a:lstStyle/>
          <a:p>
            <a:pPr algn="ctr" indent="0" marL="0">
              <a:buNone/>
            </a:pPr>
            <a:r>
              <a:rPr lang="en-US" sz="1500" dirty="0">
                <a:solidFill>
                  <a:srgbClr val="38761D"/>
                </a:solidFill>
              </a:rPr>
              <a:t>✓ hint = its own checked program from another problem: both versions print 20000 → submit</a:t>
            </a:r>
            <a:endParaRPr lang="en-US" sz="1500" dirty="0"/>
          </a:p>
        </p:txBody>
      </p:sp>
      <p:sp>
        <p:nvSpPr>
          <p:cNvPr id="45" name="Text 25"/>
          <p:cNvSpPr txBox="1"/>
          <p:nvPr/>
        </p:nvSpPr>
        <p:spPr>
          <a:xfrm>
            <a:off x="777240" y="484632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46"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47" name="Text 27"/>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48" name="Text 28"/>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9" name="Text 29"/>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0" name="Text 30"/>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1" name="Text 31"/>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2"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53" name="Text 33"/>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54" name="Text 34"/>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55" name="Text 35"/>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56"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57" name="Text 37"/>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58" name="Text 38"/>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59" name="Text 39"/>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0"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1" name="Text 41"/>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2" name="Text 42"/>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63" name="Text 4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2026-10-19T18:54:13Z</dcterms:created>
  <dcterms:modified xsi:type="dcterms:W3CDTF">2026-10-19T18:54:13Z</dcterms:modified>
</cp:coreProperties>
</file>