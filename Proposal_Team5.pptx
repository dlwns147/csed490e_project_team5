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4be72354-df8e-4cb1-da7c-39754113c340}">
          <p14:sldIdLst>
            <p14:sldId id="256"/>
            <p14:sldId id="257"/>
            <p14:sldId id="258"/>
            <p14:sldId id="259"/>
            <p14:sldId id="260"/>
            <p14:sldId id="261"/>
            <p14:sldId id="262"/>
            <p14:sldId id="263"/>
            <p14:sldId id="264"/>
          </p14:sldIdLst>
        </p14:section>
        <p14:section name="Extra pages" id="{1bdff7ae-14a7-169b-41d7-15493f2d261a}">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두 번째 발견입니다. 공짜 검사가 실패할 때만 생각하게 하세요.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새로운 점은 세 가지입니다. 학습 없이 공짜 검사로 생각할 때를 정하고, 정답 없이 모델 자신의 프로그램을 힌트로 쓰며, 파인튜닝한 특화 모델 ORLM-8B와 같은 69.5%를 학습하지 않은 8B 모델로 냅니다. 다음으로는 더 많은 모델로 검증하고, 실행은 되지만 문제를 잘못 수식으로 옮긴 오류를 다루고,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20: How do we get the exact hint? (slide 5)
16: Can retrieval (RAG) find the hint? (slide 5)
17: Why can thinking make it worse? (slide 5)
18: What if a wrong program passes the check? (slide 6)
19: Is there always a free check? (slide 6)
20: Who writes the hint? (slide 7)
21: Is 'think on the hardest' a weak baseline? (slide 7)
30: What if the same problem repeats? (slide 7)
11: Why no hint for contest problems? (slide 7)
29: Where does the recipe stop? (slide 7)
22, 23, 24: What is new vs PAL and cascades? (slide 8)
25: Why not majority voting? (slide 8)
26, 31: Is the comparison fair? (slide 8)
27: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3.xml"/><Relationship Id="rId8"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a free check works</a:t>
            </a:r>
            <a:endParaRPr lang="en-US" sz="1800" dirty="0"/>
          </a:p>
        </p:txBody>
      </p:sp>
      <p:sp>
        <p:nvSpPr>
          <p:cNvPr id="13" name="box The problem shows an"/>
          <p:cNvSpPr/>
          <p:nvPr/>
        </p:nvSpPr>
        <p:spPr>
          <a:xfrm>
            <a:off x="777240" y="1874520"/>
            <a:ext cx="4892040" cy="566928"/>
          </a:xfrm>
          <a:prstGeom prst="roundRect">
            <a:avLst>
              <a:gd name="adj" fmla="val 9677"/>
            </a:avLst>
          </a:prstGeom>
          <a:solidFill>
            <a:srgbClr val="FFFFFF"/>
          </a:solidFill>
          <a:ln w="9525">
            <a:solidFill>
              <a:srgbClr val="BFBFBF"/>
            </a:solidFill>
            <a:prstDash val="solid"/>
          </a:ln>
        </p:spPr>
      </p:sp>
      <p:sp>
        <p:nvSpPr>
          <p:cNvPr id="14" name="Text 7"/>
          <p:cNvSpPr txBox="1"/>
          <p:nvPr/>
        </p:nvSpPr>
        <p:spPr>
          <a:xfrm>
            <a:off x="850392" y="1874520"/>
            <a:ext cx="4745736" cy="566928"/>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441448"/>
            <a:ext cx="0" cy="210312"/>
          </a:xfrm>
          <a:prstGeom prst="line">
            <a:avLst/>
          </a:prstGeom>
          <a:noFill/>
          <a:ln w="25400">
            <a:solidFill>
              <a:srgbClr val="7F7F7F"/>
            </a:solidFill>
            <a:prstDash val="solid"/>
            <a:tailEnd type="triangle"/>
          </a:ln>
        </p:spPr>
      </p:sp>
      <p:sp>
        <p:nvSpPr>
          <p:cNvPr id="16" name="box Run our program on 3"/>
          <p:cNvSpPr/>
          <p:nvPr/>
        </p:nvSpPr>
        <p:spPr>
          <a:xfrm>
            <a:off x="777240" y="2651760"/>
            <a:ext cx="4892040" cy="566928"/>
          </a:xfrm>
          <a:prstGeom prst="roundRect">
            <a:avLst>
              <a:gd name="adj" fmla="val 9677"/>
            </a:avLst>
          </a:prstGeom>
          <a:solidFill>
            <a:srgbClr val="FFFFFF"/>
          </a:solidFill>
          <a:ln w="9525">
            <a:solidFill>
              <a:srgbClr val="BFBFBF"/>
            </a:solidFill>
            <a:prstDash val="solid"/>
          </a:ln>
        </p:spPr>
      </p:sp>
      <p:sp>
        <p:nvSpPr>
          <p:cNvPr id="17" name="Text 10"/>
          <p:cNvSpPr txBox="1"/>
          <p:nvPr/>
        </p:nvSpPr>
        <p:spPr>
          <a:xfrm>
            <a:off x="850392" y="2651760"/>
            <a:ext cx="4745736" cy="566928"/>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218688"/>
            <a:ext cx="182880" cy="237744"/>
          </a:xfrm>
          <a:prstGeom prst="line">
            <a:avLst/>
          </a:prstGeom>
          <a:noFill/>
          <a:ln w="25400">
            <a:solidFill>
              <a:srgbClr val="7F7F7F"/>
            </a:solidFill>
            <a:prstDash val="solid"/>
            <a:tailEnd type="triangle"/>
          </a:ln>
        </p:spPr>
      </p:sp>
      <p:sp>
        <p:nvSpPr>
          <p:cNvPr id="19" name="Shape 12"/>
          <p:cNvSpPr/>
          <p:nvPr/>
        </p:nvSpPr>
        <p:spPr>
          <a:xfrm>
            <a:off x="4343400" y="3218688"/>
            <a:ext cx="182880" cy="237744"/>
          </a:xfrm>
          <a:prstGeom prst="line">
            <a:avLst/>
          </a:prstGeom>
          <a:noFill/>
          <a:ln w="25400">
            <a:solidFill>
              <a:srgbClr val="7F7F7F"/>
            </a:solidFill>
            <a:prstDash val="solid"/>
            <a:tailEnd type="triangle"/>
          </a:ln>
        </p:spPr>
      </p:sp>
      <p:sp>
        <p:nvSpPr>
          <p:cNvPr id="20" name="box ✓ same → submit (no "/>
          <p:cNvSpPr/>
          <p:nvPr/>
        </p:nvSpPr>
        <p:spPr>
          <a:xfrm>
            <a:off x="777240" y="3456432"/>
            <a:ext cx="2377440" cy="658368"/>
          </a:xfrm>
          <a:prstGeom prst="roundRect">
            <a:avLst>
              <a:gd name="adj" fmla="val 8333"/>
            </a:avLst>
          </a:prstGeom>
          <a:solidFill>
            <a:srgbClr val="E2F0D9"/>
          </a:solidFill>
          <a:ln w="9525">
            <a:solidFill>
              <a:srgbClr val="BFBFBF"/>
            </a:solidFill>
            <a:prstDash val="solid"/>
          </a:ln>
        </p:spPr>
      </p:sp>
      <p:sp>
        <p:nvSpPr>
          <p:cNvPr id="21" name="Text 14"/>
          <p:cNvSpPr txBox="1"/>
          <p:nvPr/>
        </p:nvSpPr>
        <p:spPr>
          <a:xfrm>
            <a:off x="850392" y="3456432"/>
            <a:ext cx="2231136" cy="658368"/>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456432"/>
            <a:ext cx="2377440" cy="658368"/>
          </a:xfrm>
          <a:prstGeom prst="roundRect">
            <a:avLst>
              <a:gd name="adj" fmla="val 8333"/>
            </a:avLst>
          </a:prstGeom>
          <a:solidFill>
            <a:srgbClr val="FADBD8"/>
          </a:solidFill>
          <a:ln w="9525">
            <a:solidFill>
              <a:srgbClr val="BFBFBF"/>
            </a:solidFill>
            <a:prstDash val="solid"/>
          </a:ln>
        </p:spPr>
      </p:sp>
      <p:sp>
        <p:nvSpPr>
          <p:cNvPr id="23" name="Text 16"/>
          <p:cNvSpPr txBox="1"/>
          <p:nvPr/>
        </p:nvSpPr>
        <p:spPr>
          <a:xfrm>
            <a:off x="3364992" y="3456432"/>
            <a:ext cx="2231136" cy="658368"/>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279392"/>
            <a:ext cx="4892040" cy="365760"/>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09160"/>
            <a:ext cx="1463040" cy="548640"/>
          </a:xfrm>
          <a:prstGeom prst="roundRect">
            <a:avLst>
              <a:gd name="adj" fmla="val 10000"/>
            </a:avLst>
          </a:prstGeom>
          <a:solidFill>
            <a:srgbClr val="FFFFFF"/>
          </a:solidFill>
          <a:ln w="9525">
            <a:solidFill>
              <a:srgbClr val="BFBFBF"/>
            </a:solidFill>
            <a:prstDash val="solid"/>
          </a:ln>
        </p:spPr>
      </p:sp>
      <p:sp>
        <p:nvSpPr>
          <p:cNvPr id="26" name="Text 19"/>
          <p:cNvSpPr txBox="1"/>
          <p:nvPr/>
        </p:nvSpPr>
        <p:spPr>
          <a:xfrm>
            <a:off x="850392" y="4709160"/>
            <a:ext cx="1316736" cy="548640"/>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09160"/>
            <a:ext cx="1463040" cy="548640"/>
          </a:xfrm>
          <a:prstGeom prst="roundRect">
            <a:avLst>
              <a:gd name="adj" fmla="val 10000"/>
            </a:avLst>
          </a:prstGeom>
          <a:solidFill>
            <a:srgbClr val="FFFFFF"/>
          </a:solidFill>
          <a:ln w="9525">
            <a:solidFill>
              <a:srgbClr val="BFBFBF"/>
            </a:solidFill>
            <a:prstDash val="solid"/>
          </a:ln>
        </p:spPr>
      </p:sp>
      <p:sp>
        <p:nvSpPr>
          <p:cNvPr id="28" name="Text 21"/>
          <p:cNvSpPr txBox="1"/>
          <p:nvPr/>
        </p:nvSpPr>
        <p:spPr>
          <a:xfrm>
            <a:off x="2404872" y="4709160"/>
            <a:ext cx="1316736" cy="548640"/>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4983480"/>
            <a:ext cx="228600" cy="0"/>
          </a:xfrm>
          <a:prstGeom prst="line">
            <a:avLst/>
          </a:prstGeom>
          <a:noFill/>
          <a:ln w="25400">
            <a:solidFill>
              <a:srgbClr val="7F7F7F"/>
            </a:solidFill>
            <a:prstDash val="solid"/>
            <a:tailEnd type="triangle"/>
          </a:ln>
        </p:spPr>
      </p:sp>
      <p:sp>
        <p:nvSpPr>
          <p:cNvPr id="30" name="box ✗ different → think"/>
          <p:cNvSpPr/>
          <p:nvPr/>
        </p:nvSpPr>
        <p:spPr>
          <a:xfrm>
            <a:off x="4023360" y="4709160"/>
            <a:ext cx="1645920" cy="548640"/>
          </a:xfrm>
          <a:prstGeom prst="roundRect">
            <a:avLst>
              <a:gd name="adj" fmla="val 10000"/>
            </a:avLst>
          </a:prstGeom>
          <a:solidFill>
            <a:srgbClr val="FADBD8"/>
          </a:solidFill>
          <a:ln w="9525">
            <a:solidFill>
              <a:srgbClr val="BFBFBF"/>
            </a:solidFill>
            <a:prstDash val="solid"/>
          </a:ln>
        </p:spPr>
      </p:sp>
      <p:sp>
        <p:nvSpPr>
          <p:cNvPr id="31" name="Text 24"/>
          <p:cNvSpPr txBox="1"/>
          <p:nvPr/>
        </p:nvSpPr>
        <p:spPr>
          <a:xfrm>
            <a:off x="4096512" y="4709160"/>
            <a:ext cx="1499616" cy="548640"/>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examples alone give 65.0% at 20k; adding a brute-force program as a second check gives 66.3%</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60020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600200"/>
            <a:ext cx="4206240" cy="685800"/>
          </a:xfrm>
          <a:prstGeom prst="roundRect">
            <a:avLst>
              <a:gd name="adj" fmla="val 8000"/>
            </a:avLst>
          </a:prstGeom>
          <a:solidFill>
            <a:srgbClr val="F2F2F2"/>
          </a:solidFill>
          <a:ln w="9525">
            <a:solidFill>
              <a:srgbClr val="BFBFBF"/>
            </a:solidFill>
            <a:prstDash val="solid"/>
          </a:ln>
        </p:spPr>
      </p:sp>
      <p:sp>
        <p:nvSpPr>
          <p:cNvPr id="7" name="Text 5"/>
          <p:cNvSpPr txBox="1"/>
          <p:nvPr/>
        </p:nvSpPr>
        <p:spPr>
          <a:xfrm>
            <a:off x="2176272" y="160020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737360"/>
            <a:ext cx="411480" cy="411480"/>
          </a:xfrm>
          <a:prstGeom prst="rect">
            <a:avLst/>
          </a:prstGeom>
        </p:spPr>
      </p:pic>
      <p:sp>
        <p:nvSpPr>
          <p:cNvPr id="9" name="Text 6"/>
          <p:cNvSpPr txBox="1"/>
          <p:nvPr/>
        </p:nvSpPr>
        <p:spPr>
          <a:xfrm>
            <a:off x="2743200" y="160020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the model when to think</a:t>
            </a:r>
            <a:endParaRPr lang="en-US" sz="1500" dirty="0"/>
          </a:p>
        </p:txBody>
      </p:sp>
      <p:sp>
        <p:nvSpPr>
          <p:cNvPr id="10" name="arrow 0"/>
          <p:cNvSpPr/>
          <p:nvPr/>
        </p:nvSpPr>
        <p:spPr>
          <a:xfrm>
            <a:off x="6400800" y="178308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600200"/>
            <a:ext cx="4663440" cy="685800"/>
          </a:xfrm>
          <a:prstGeom prst="roundRect">
            <a:avLst>
              <a:gd name="adj" fmla="val 8000"/>
            </a:avLst>
          </a:prstGeom>
          <a:solidFill>
            <a:srgbClr val="DEEBF7"/>
          </a:solidFill>
          <a:ln w="9525">
            <a:solidFill>
              <a:srgbClr val="BFBFBF"/>
            </a:solidFill>
            <a:prstDash val="solid"/>
          </a:ln>
        </p:spPr>
      </p:sp>
      <p:sp>
        <p:nvSpPr>
          <p:cNvPr id="12" name="Text 9"/>
          <p:cNvSpPr txBox="1"/>
          <p:nvPr/>
        </p:nvSpPr>
        <p:spPr>
          <a:xfrm>
            <a:off x="7022592" y="160020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737360"/>
            <a:ext cx="411480" cy="411480"/>
          </a:xfrm>
          <a:prstGeom prst="rect">
            <a:avLst/>
          </a:prstGeom>
        </p:spPr>
      </p:pic>
      <p:sp>
        <p:nvSpPr>
          <p:cNvPr id="14" name="Text 10"/>
          <p:cNvSpPr txBox="1"/>
          <p:nvPr/>
        </p:nvSpPr>
        <p:spPr>
          <a:xfrm>
            <a:off x="7589520" y="160020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(208 problems)</a:t>
            </a:r>
            <a:endParaRPr lang="en-US" sz="1500" dirty="0"/>
          </a:p>
        </p:txBody>
      </p:sp>
      <p:sp>
        <p:nvSpPr>
          <p:cNvPr id="15" name="Text 11"/>
          <p:cNvSpPr txBox="1"/>
          <p:nvPr/>
        </p:nvSpPr>
        <p:spPr>
          <a:xfrm>
            <a:off x="548640" y="242316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423160"/>
            <a:ext cx="4206240" cy="685800"/>
          </a:xfrm>
          <a:prstGeom prst="roundRect">
            <a:avLst>
              <a:gd name="adj" fmla="val 8000"/>
            </a:avLst>
          </a:prstGeom>
          <a:solidFill>
            <a:srgbClr val="F2F2F2"/>
          </a:solidFill>
          <a:ln w="9525">
            <a:solidFill>
              <a:srgbClr val="BFBFBF"/>
            </a:solidFill>
            <a:prstDash val="solid"/>
          </a:ln>
        </p:spPr>
      </p:sp>
      <p:sp>
        <p:nvSpPr>
          <p:cNvPr id="17" name="Text 13"/>
          <p:cNvSpPr txBox="1"/>
          <p:nvPr/>
        </p:nvSpPr>
        <p:spPr>
          <a:xfrm>
            <a:off x="2176272" y="242316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560320"/>
            <a:ext cx="411480" cy="411480"/>
          </a:xfrm>
          <a:prstGeom prst="rect">
            <a:avLst/>
          </a:prstGeom>
        </p:spPr>
      </p:pic>
      <p:sp>
        <p:nvSpPr>
          <p:cNvPr id="19" name="Text 14"/>
          <p:cNvSpPr txBox="1"/>
          <p:nvPr/>
        </p:nvSpPr>
        <p:spPr>
          <a:xfrm>
            <a:off x="2743200" y="242316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the whole manual, or programs from a bigger model checked with answers</a:t>
            </a:r>
            <a:endParaRPr lang="en-US" sz="1500" dirty="0"/>
          </a:p>
        </p:txBody>
      </p:sp>
      <p:sp>
        <p:nvSpPr>
          <p:cNvPr id="20" name="arrow 1"/>
          <p:cNvSpPr/>
          <p:nvPr/>
        </p:nvSpPr>
        <p:spPr>
          <a:xfrm>
            <a:off x="6400800" y="2606040"/>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423160"/>
            <a:ext cx="4663440" cy="685800"/>
          </a:xfrm>
          <a:prstGeom prst="roundRect">
            <a:avLst>
              <a:gd name="adj" fmla="val 8000"/>
            </a:avLst>
          </a:prstGeom>
          <a:solidFill>
            <a:srgbClr val="DEEBF7"/>
          </a:solidFill>
          <a:ln w="9525">
            <a:solidFill>
              <a:srgbClr val="BFBFBF"/>
            </a:solidFill>
            <a:prstDash val="solid"/>
          </a:ln>
        </p:spPr>
      </p:sp>
      <p:sp>
        <p:nvSpPr>
          <p:cNvPr id="22" name="Text 17"/>
          <p:cNvSpPr txBox="1"/>
          <p:nvPr/>
        </p:nvSpPr>
        <p:spPr>
          <a:xfrm>
            <a:off x="7022592" y="242316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560320"/>
            <a:ext cx="411480" cy="411480"/>
          </a:xfrm>
          <a:prstGeom prst="rect">
            <a:avLst/>
          </a:prstGeom>
        </p:spPr>
      </p:pic>
      <p:sp>
        <p:nvSpPr>
          <p:cNvPr id="24" name="Text 18"/>
          <p:cNvSpPr txBox="1"/>
          <p:nvPr/>
        </p:nvSpPr>
        <p:spPr>
          <a:xfrm>
            <a:off x="7589520" y="242316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answers</a:t>
            </a:r>
            <a:endParaRPr lang="en-US" sz="1500" dirty="0"/>
          </a:p>
        </p:txBody>
      </p:sp>
      <p:sp>
        <p:nvSpPr>
          <p:cNvPr id="25" name="Text 19"/>
          <p:cNvSpPr txBox="1"/>
          <p:nvPr/>
        </p:nvSpPr>
        <p:spPr>
          <a:xfrm>
            <a:off x="548640" y="324612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3246120"/>
            <a:ext cx="4206240" cy="685800"/>
          </a:xfrm>
          <a:prstGeom prst="roundRect">
            <a:avLst>
              <a:gd name="adj" fmla="val 8000"/>
            </a:avLst>
          </a:prstGeom>
          <a:solidFill>
            <a:srgbClr val="F2F2F2"/>
          </a:solidFill>
          <a:ln w="9525">
            <a:solidFill>
              <a:srgbClr val="BFBFBF"/>
            </a:solidFill>
            <a:prstDash val="solid"/>
          </a:ln>
        </p:spPr>
      </p:sp>
      <p:sp>
        <p:nvSpPr>
          <p:cNvPr id="27" name="Text 21"/>
          <p:cNvSpPr txBox="1"/>
          <p:nvPr/>
        </p:nvSpPr>
        <p:spPr>
          <a:xfrm>
            <a:off x="2176272" y="324612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383280"/>
            <a:ext cx="411480" cy="411480"/>
          </a:xfrm>
          <a:prstGeom prst="rect">
            <a:avLst/>
          </a:prstGeom>
        </p:spPr>
      </p:pic>
      <p:sp>
        <p:nvSpPr>
          <p:cNvPr id="29" name="Text 22"/>
          <p:cNvSpPr txBox="1"/>
          <p:nvPr/>
        </p:nvSpPr>
        <p:spPr>
          <a:xfrm>
            <a:off x="2743200" y="3246120"/>
            <a:ext cx="347472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a:t>
            </a:r>
            <a:endParaRPr lang="en-US" sz="1500" dirty="0"/>
          </a:p>
        </p:txBody>
      </p:sp>
      <p:sp>
        <p:nvSpPr>
          <p:cNvPr id="30" name="arrow 2"/>
          <p:cNvSpPr/>
          <p:nvPr/>
        </p:nvSpPr>
        <p:spPr>
          <a:xfrm>
            <a:off x="6400800" y="3429000"/>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3246120"/>
            <a:ext cx="4663440" cy="685800"/>
          </a:xfrm>
          <a:prstGeom prst="roundRect">
            <a:avLst>
              <a:gd name="adj" fmla="val 8000"/>
            </a:avLst>
          </a:prstGeom>
          <a:solidFill>
            <a:srgbClr val="DEEBF7"/>
          </a:solidFill>
          <a:ln w="9525">
            <a:solidFill>
              <a:srgbClr val="BFBFBF"/>
            </a:solidFill>
            <a:prstDash val="solid"/>
          </a:ln>
        </p:spPr>
      </p:sp>
      <p:sp>
        <p:nvSpPr>
          <p:cNvPr id="32" name="Text 25"/>
          <p:cNvSpPr txBox="1"/>
          <p:nvPr/>
        </p:nvSpPr>
        <p:spPr>
          <a:xfrm>
            <a:off x="7022592" y="324612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383280"/>
            <a:ext cx="411480" cy="411480"/>
          </a:xfrm>
          <a:prstGeom prst="rect">
            <a:avLst/>
          </a:prstGeom>
        </p:spPr>
      </p:pic>
      <p:sp>
        <p:nvSpPr>
          <p:cNvPr id="34" name="Text 26"/>
          <p:cNvSpPr txBox="1"/>
          <p:nvPr/>
        </p:nvSpPr>
        <p:spPr>
          <a:xfrm>
            <a:off x="7589520" y="324612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the same 69.5%</a:t>
            </a:r>
            <a:endParaRPr lang="en-US" sz="1500" dirty="0"/>
          </a:p>
        </p:txBody>
      </p:sp>
      <p:sp>
        <p:nvSpPr>
          <p:cNvPr id="35" name="Text 27"/>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6" name="Shape 28"/>
          <p:cNvSpPr/>
          <p:nvPr/>
        </p:nvSpPr>
        <p:spPr>
          <a:xfrm>
            <a:off x="2194560" y="4800600"/>
            <a:ext cx="7772400" cy="0"/>
          </a:xfrm>
          <a:prstGeom prst="line">
            <a:avLst/>
          </a:prstGeom>
          <a:noFill/>
          <a:ln w="38100">
            <a:solidFill>
              <a:srgbClr val="BFBFBF"/>
            </a:solidFill>
            <a:prstDash val="solid"/>
          </a:ln>
        </p:spPr>
      </p:sp>
      <p:sp>
        <p:nvSpPr>
          <p:cNvPr id="37"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8"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9" name="Text 30"/>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40"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41"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42" name="Text 32"/>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3"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4"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5" name="Text 34"/>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6" name="Text 3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20).</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2026-10-19T19:31:44Z</dcterms:created>
  <dcterms:modified xsi:type="dcterms:W3CDTF">2026-10-19T19:31:44Z</dcterms:modified>
</cp:coreProperties>
</file>