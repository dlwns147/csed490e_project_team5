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8614e163-e24e-2a66-eadb-db708af27787}">
          <p14:sldIdLst>
            <p14:sldId id="256"/>
            <p14:sldId id="257"/>
            <p14:sldId id="258"/>
            <p14:sldId id="259"/>
            <p14:sldId id="260"/>
            <p14:sldId id="261"/>
            <p14:sldId id="262"/>
            <p14:sldId id="263"/>
            <p14:sldId id="264"/>
          </p14:sldIdLst>
        </p14:section>
        <p14:section name="Extra pages" id="{278ad925-3e95-8d53-21e6-fd197d244f12}">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(55초) 새로운 점은 세 가지입니다. 학습 없이 공짜 검사로 생각할 때를 정하고, 정답 없이 모델 자신의 프로그램을 힌트로 쓰며, 파인튜닝한 특화 모델 ORLM-8B와 같은 69.5%를 학습하지 않은 8B 모델로 냅니다. 다음 연구는 힌트와 검사를 자동으로, 정확하고 싸게 얻는 것입니다. 힌트는 문제 종류마다 검사를 통과한 가장 짧은 프로그램을 자동으로 고르고, 새 문제의 종류부터 알아내며, 필요한 호출만 남깁니다. 검사는 토큰이 들지 않는 검사부터 쓰고, 조용히 틀리는 곳에만 다르게 틀리는 두 번째 관점을 더하고, 종류마다 30문제로 쓸 방법을 고릅니다. 그다음 더 많은 모델에서 확인해 보고서와 코드로 내겠습니다.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MAMO 검증을 Qwen3-32B와 Qwen3.6까지 세 번씩 마치고,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Is 'think on the hardest' a weak baseline? (slide 7)
34: What if the same problem repeats? (slide 7)
11: Why no hint for contest problems? (slide 7)
33: Where does the recipe stop? (slide 7)
26, 27, 28: What is new vs PAL and cascades? (slide 8)
29: Why not majority voting? (slide 8)
30, 35: Is the comparison fair? (slide 8)
31: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3.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 or train the model when to think</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think only when a free check fails; no training: 87% vs 74% (208 problems)</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 or programs from a bigger model checked with answers</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the model's own program that passed the check; no answers</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 specialist (ORLM-8B): 69.5% on MAMO</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untrained Qwen3-8B + that hint, one 24 GB GPU: the same 69.5%</a:t>
            </a:r>
            <a:endParaRPr lang="en-US" sz="1400" dirty="0"/>
          </a:p>
        </p:txBody>
      </p:sp>
      <p:sp>
        <p:nvSpPr>
          <p:cNvPr id="35" name="Text 27"/>
          <p:cNvSpPr txBox="1"/>
          <p:nvPr/>
        </p:nvSpPr>
        <p:spPr>
          <a:xfrm>
            <a:off x="548640" y="3611880"/>
            <a:ext cx="8503920" cy="347472"/>
          </a:xfrm>
          <a:prstGeom prst="rect">
            <a:avLst/>
          </a:prstGeom>
          <a:noFill/>
          <a:ln/>
        </p:spPr>
        <p:txBody>
          <a:bodyPr wrap="square" lIns="0" tIns="0" rIns="0" bIns="0" rtlCol="0" anchor="ctr"/>
          <a:lstStyle/>
          <a:p>
            <a:pPr indent="0" marL="0">
              <a:buNone/>
            </a:pPr>
            <a:r>
              <a:rPr lang="en-US" sz="1600" b="1" dirty="0">
                <a:solidFill>
                  <a:schemeClr val="tx1"/>
                </a:solidFill>
              </a:rPr>
              <a:t>Next: get the hints and run the checks automatically, effectively and cheaply</a:t>
            </a:r>
            <a:endParaRPr lang="en-US" sz="1600" dirty="0"/>
          </a:p>
        </p:txBody>
      </p:sp>
      <p:sp>
        <p:nvSpPr>
          <p:cNvPr id="36" name="Text 28"/>
          <p:cNvSpPr txBox="1"/>
          <p:nvPr/>
        </p:nvSpPr>
        <p:spPr>
          <a:xfrm>
            <a:off x="8229600" y="3611880"/>
            <a:ext cx="3383280" cy="347472"/>
          </a:xfrm>
          <a:prstGeom prst="rect">
            <a:avLst/>
          </a:prstGeom>
          <a:noFill/>
          <a:ln/>
        </p:spPr>
        <p:txBody>
          <a:bodyPr wrap="square" lIns="0" tIns="0" rIns="0" bIns="0" rtlCol="0" anchor="ctr"/>
          <a:lstStyle/>
          <a:p>
            <a:pPr algn="r" indent="0" marL="0">
              <a:buNone/>
            </a:pPr>
            <a:r>
              <a:rPr lang="en-US" sz="1400" dirty="0">
                <a:solidFill>
                  <a:srgbClr val="7F7F7F"/>
                </a:solidFill>
              </a:rPr>
              <a:t>then: more models, report and code</a:t>
            </a:r>
            <a:endParaRPr lang="en-US" sz="1400" dirty="0"/>
          </a:p>
        </p:txBody>
      </p:sp>
      <p:sp>
        <p:nvSpPr>
          <p:cNvPr id="37" name="next Hints"/>
          <p:cNvSpPr/>
          <p:nvPr/>
        </p:nvSpPr>
        <p:spPr>
          <a:xfrm>
            <a:off x="548640" y="4005072"/>
            <a:ext cx="5440680" cy="1572768"/>
          </a:xfrm>
          <a:prstGeom prst="roundRect">
            <a:avLst>
              <a:gd name="adj" fmla="val 4651"/>
            </a:avLst>
          </a:prstGeom>
          <a:solidFill>
            <a:srgbClr val="F2F2F2"/>
          </a:solidFill>
          <a:ln w="9525">
            <a:solidFill>
              <a:srgbClr val="D9D9D9"/>
            </a:solidFill>
            <a:prstDash val="solid"/>
          </a:ln>
        </p:spPr>
      </p:sp>
      <p:pic>
        <p:nvPicPr>
          <p:cNvPr id="38" name="next icon fact" descr="/NAS/SJ/POSTECH/nlp/figs/icons/fact.png">    </p:cNvPr>
          <p:cNvPicPr>
            <a:picLocks noChangeAspect="1"/>
          </p:cNvPicPr>
          <p:nvPr/>
        </p:nvPicPr>
        <p:blipFill>
          <a:blip r:embed="rId7"/>
          <a:stretch>
            <a:fillRect/>
          </a:stretch>
        </p:blipFill>
        <p:spPr>
          <a:xfrm>
            <a:off x="713232" y="4096512"/>
            <a:ext cx="329184" cy="329184"/>
          </a:xfrm>
          <a:prstGeom prst="rect">
            <a:avLst/>
          </a:prstGeom>
        </p:spPr>
      </p:pic>
      <p:sp>
        <p:nvSpPr>
          <p:cNvPr id="39" name="Text 30"/>
          <p:cNvSpPr txBox="1"/>
          <p:nvPr/>
        </p:nvSpPr>
        <p:spPr>
          <a:xfrm>
            <a:off x="1115568" y="4069080"/>
            <a:ext cx="2743200" cy="384048"/>
          </a:xfrm>
          <a:prstGeom prst="rect">
            <a:avLst/>
          </a:prstGeom>
          <a:noFill/>
          <a:ln/>
        </p:spPr>
        <p:txBody>
          <a:bodyPr wrap="square" lIns="0" tIns="0" rIns="0" bIns="0" rtlCol="0" anchor="ctr"/>
          <a:lstStyle/>
          <a:p>
            <a:pPr indent="0" marL="0">
              <a:buNone/>
            </a:pPr>
            <a:r>
              <a:rPr lang="en-US" sz="1600" b="1" dirty="0">
                <a:solidFill>
                  <a:srgbClr val="4472C4"/>
                </a:solidFill>
              </a:rPr>
              <a:t>Hints</a:t>
            </a:r>
            <a:endParaRPr lang="en-US" sz="1600" dirty="0"/>
          </a:p>
        </p:txBody>
      </p:sp>
      <p:sp>
        <p:nvSpPr>
          <p:cNvPr id="40" name="Text 31"/>
          <p:cNvSpPr txBox="1"/>
          <p:nvPr/>
        </p:nvSpPr>
        <p:spPr>
          <a:xfrm>
            <a:off x="731520" y="4462272"/>
            <a:ext cx="5120640" cy="338328"/>
          </a:xfrm>
          <a:prstGeom prst="rect">
            <a:avLst/>
          </a:prstGeom>
          <a:noFill/>
          <a:ln/>
        </p:spPr>
        <p:txBody>
          <a:bodyPr wrap="square" lIns="0" tIns="0" rIns="0" bIns="0" rtlCol="0" anchor="ctr"/>
          <a:lstStyle/>
          <a:p>
            <a:pPr indent="0" marL="0">
              <a:buNone/>
            </a:pPr>
            <a:r>
              <a:rPr lang="en-US" sz="1400" dirty="0">
                <a:solidFill>
                  <a:schemeClr val="tx1"/>
                </a:solidFill>
              </a:rPr>
              <a:t>• pick per type: the shortest past program that passed the check</a:t>
            </a:r>
            <a:endParaRPr lang="en-US" sz="1400" dirty="0"/>
          </a:p>
        </p:txBody>
      </p:sp>
      <p:sp>
        <p:nvSpPr>
          <p:cNvPr id="41" name="Text 32"/>
          <p:cNvSpPr txBox="1"/>
          <p:nvPr/>
        </p:nvSpPr>
        <p:spPr>
          <a:xfrm>
            <a:off x="731520" y="4818888"/>
            <a:ext cx="5120640" cy="338328"/>
          </a:xfrm>
          <a:prstGeom prst="rect">
            <a:avLst/>
          </a:prstGeom>
          <a:noFill/>
          <a:ln/>
        </p:spPr>
        <p:txBody>
          <a:bodyPr wrap="square" lIns="0" tIns="0" rIns="0" bIns="0" rtlCol="0" anchor="ctr"/>
          <a:lstStyle/>
          <a:p>
            <a:pPr indent="0" marL="0">
              <a:buNone/>
            </a:pPr>
            <a:r>
              <a:rPr lang="en-US" sz="1400" dirty="0">
                <a:solidFill>
                  <a:schemeClr val="tx1"/>
                </a:solidFill>
              </a:rPr>
              <a:t>• tell a new problem's type first (another type's hint misleads)</a:t>
            </a:r>
            <a:endParaRPr lang="en-US" sz="1400" dirty="0"/>
          </a:p>
        </p:txBody>
      </p:sp>
      <p:sp>
        <p:nvSpPr>
          <p:cNvPr id="42" name="Text 33"/>
          <p:cNvSpPr txBox="1"/>
          <p:nvPr/>
        </p:nvSpPr>
        <p:spPr>
          <a:xfrm>
            <a:off x="731520" y="5175504"/>
            <a:ext cx="5120640" cy="338328"/>
          </a:xfrm>
          <a:prstGeom prst="rect">
            <a:avLst/>
          </a:prstGeom>
          <a:noFill/>
          <a:ln/>
        </p:spPr>
        <p:txBody>
          <a:bodyPr wrap="square" lIns="0" tIns="0" rIns="0" bIns="0" rtlCol="0" anchor="ctr"/>
          <a:lstStyle/>
          <a:p>
            <a:pPr indent="0" marL="0">
              <a:buNone/>
            </a:pPr>
            <a:r>
              <a:rPr lang="en-US" sz="1400" dirty="0">
                <a:solidFill>
                  <a:schemeClr val="tx1"/>
                </a:solidFill>
              </a:rPr>
              <a:t>• keep only the needed calls: about 200 input tokens</a:t>
            </a:r>
            <a:endParaRPr lang="en-US" sz="1400" dirty="0"/>
          </a:p>
        </p:txBody>
      </p:sp>
      <p:sp>
        <p:nvSpPr>
          <p:cNvPr id="43" name="next Checks"/>
          <p:cNvSpPr/>
          <p:nvPr/>
        </p:nvSpPr>
        <p:spPr>
          <a:xfrm>
            <a:off x="6172200" y="4005072"/>
            <a:ext cx="5440680" cy="1572768"/>
          </a:xfrm>
          <a:prstGeom prst="roundRect">
            <a:avLst>
              <a:gd name="adj" fmla="val 4651"/>
            </a:avLst>
          </a:prstGeom>
          <a:solidFill>
            <a:srgbClr val="F2F2F2"/>
          </a:solidFill>
          <a:ln w="9525">
            <a:solidFill>
              <a:srgbClr val="D9D9D9"/>
            </a:solidFill>
            <a:prstDash val="solid"/>
          </a:ln>
        </p:spPr>
      </p:sp>
      <p:pic>
        <p:nvPicPr>
          <p:cNvPr id="44" name="next icon check" descr="/NAS/SJ/POSTECH/nlp/figs/icons/check.png">    </p:cNvPr>
          <p:cNvPicPr>
            <a:picLocks noChangeAspect="1"/>
          </p:cNvPicPr>
          <p:nvPr/>
        </p:nvPicPr>
        <p:blipFill>
          <a:blip r:embed="rId8"/>
          <a:stretch>
            <a:fillRect/>
          </a:stretch>
        </p:blipFill>
        <p:spPr>
          <a:xfrm>
            <a:off x="6336792" y="4096512"/>
            <a:ext cx="329184" cy="329184"/>
          </a:xfrm>
          <a:prstGeom prst="rect">
            <a:avLst/>
          </a:prstGeom>
        </p:spPr>
      </p:pic>
      <p:sp>
        <p:nvSpPr>
          <p:cNvPr id="45" name="Text 35"/>
          <p:cNvSpPr txBox="1"/>
          <p:nvPr/>
        </p:nvSpPr>
        <p:spPr>
          <a:xfrm>
            <a:off x="6739128" y="4069080"/>
            <a:ext cx="2743200" cy="384048"/>
          </a:xfrm>
          <a:prstGeom prst="rect">
            <a:avLst/>
          </a:prstGeom>
          <a:noFill/>
          <a:ln/>
        </p:spPr>
        <p:txBody>
          <a:bodyPr wrap="square" lIns="0" tIns="0" rIns="0" bIns="0" rtlCol="0" anchor="ctr"/>
          <a:lstStyle/>
          <a:p>
            <a:pPr indent="0" marL="0">
              <a:buNone/>
            </a:pPr>
            <a:r>
              <a:rPr lang="en-US" sz="1600" b="1" dirty="0">
                <a:solidFill>
                  <a:srgbClr val="4472C4"/>
                </a:solidFill>
              </a:rPr>
              <a:t>Checks</a:t>
            </a:r>
            <a:endParaRPr lang="en-US" sz="1600" dirty="0"/>
          </a:p>
        </p:txBody>
      </p:sp>
      <p:sp>
        <p:nvSpPr>
          <p:cNvPr id="46" name="Text 36"/>
          <p:cNvSpPr txBox="1"/>
          <p:nvPr/>
        </p:nvSpPr>
        <p:spPr>
          <a:xfrm>
            <a:off x="6355080" y="4462272"/>
            <a:ext cx="5120640" cy="338328"/>
          </a:xfrm>
          <a:prstGeom prst="rect">
            <a:avLst/>
          </a:prstGeom>
          <a:noFill/>
          <a:ln/>
        </p:spPr>
        <p:txBody>
          <a:bodyPr wrap="square" lIns="0" tIns="0" rIns="0" bIns="0" rtlCol="0" anchor="ctr"/>
          <a:lstStyle/>
          <a:p>
            <a:pPr indent="0" marL="0">
              <a:buNone/>
            </a:pPr>
            <a:r>
              <a:rPr lang="en-US" sz="1400" dirty="0">
                <a:solidFill>
                  <a:schemeClr val="tx1"/>
                </a:solidFill>
              </a:rPr>
              <a:t>• zero-token checks first: examples, moved copies, plan rules</a:t>
            </a:r>
            <a:endParaRPr lang="en-US" sz="1400" dirty="0"/>
          </a:p>
        </p:txBody>
      </p:sp>
      <p:sp>
        <p:nvSpPr>
          <p:cNvPr id="47" name="Text 37"/>
          <p:cNvSpPr txBox="1"/>
          <p:nvPr/>
        </p:nvSpPr>
        <p:spPr>
          <a:xfrm>
            <a:off x="6355080" y="4818888"/>
            <a:ext cx="5120640" cy="338328"/>
          </a:xfrm>
          <a:prstGeom prst="rect">
            <a:avLst/>
          </a:prstGeom>
          <a:noFill/>
          <a:ln/>
        </p:spPr>
        <p:txBody>
          <a:bodyPr wrap="square" lIns="0" tIns="0" rIns="0" bIns="0" rtlCol="0" anchor="ctr"/>
          <a:lstStyle/>
          <a:p>
            <a:pPr indent="0" marL="0">
              <a:buNone/>
            </a:pPr>
            <a:r>
              <a:rPr lang="en-US" sz="1400" dirty="0">
                <a:solidFill>
                  <a:schemeClr val="tx1"/>
                </a:solidFill>
              </a:rPr>
              <a:t>• add a second view that errs differently where errors stay silent</a:t>
            </a:r>
            <a:endParaRPr lang="en-US" sz="1400" dirty="0"/>
          </a:p>
        </p:txBody>
      </p:sp>
      <p:sp>
        <p:nvSpPr>
          <p:cNvPr id="48" name="Text 38"/>
          <p:cNvSpPr txBox="1"/>
          <p:nvPr/>
        </p:nvSpPr>
        <p:spPr>
          <a:xfrm>
            <a:off x="6355080" y="5175504"/>
            <a:ext cx="5120640" cy="338328"/>
          </a:xfrm>
          <a:prstGeom prst="rect">
            <a:avLst/>
          </a:prstGeom>
          <a:noFill/>
          <a:ln/>
        </p:spPr>
        <p:txBody>
          <a:bodyPr wrap="square" lIns="0" tIns="0" rIns="0" bIns="0" rtlCol="0" anchor="ctr"/>
          <a:lstStyle/>
          <a:p>
            <a:pPr indent="0" marL="0">
              <a:buNone/>
            </a:pPr>
            <a:r>
              <a:rPr lang="en-US" sz="1400" dirty="0">
                <a:solidFill>
                  <a:schemeClr val="tx1"/>
                </a:solidFill>
              </a:rPr>
              <a:t>• choose the policy per type from 30 labelled problems</a:t>
            </a:r>
            <a:endParaRPr lang="en-US" sz="1400" dirty="0"/>
          </a:p>
        </p:txBody>
      </p:sp>
      <p:sp>
        <p:nvSpPr>
          <p:cNvPr id="49" name="Text 3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2026-10-19T19:50:40Z</dcterms:created>
  <dcterms:modified xsi:type="dcterms:W3CDTF">2026-10-19T19:50:40Z</dcterms:modified>
</cp:coreProperties>
</file>