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4.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id="{a0711f0a-7943-cd93-d31e-a7d768ccb46c}">
          <p14:sldIdLst>
            <p14:sldId id="256"/>
            <p14:sldId id="257"/>
            <p14:sldId id="258"/>
            <p14:sldId id="259"/>
            <p14:sldId id="260"/>
            <p14:sldId id="261"/>
            <p14:sldId id="262"/>
            <p14:sldId id="263"/>
            <p14:sldId id="264"/>
          </p14:sldIdLst>
        </p14:section>
        <p14:section name="Extra pages" id="{98fe6148-b321-1118-c2b9-0892824582f5}">
          <p14:sldIdLst>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04040"/>
                </a:solidFill>
                <a:latin typeface="+mn-lt"/>
              </a:defRPr>
            </a:pPr>
            <a:r>
              <a:rPr sz="1300" b="0" i="0" u="none" strike="noStrike">
                <a:solidFill>
                  <a:srgbClr val="404040"/>
                </a:solidFill>
                <a:latin typeface="+mn-lt"/>
              </a:rPr>
              <a:t>MAMO, 863 problems never used before: % solved</a:t>
            </a:r>
          </a:p>
        </c:rich>
      </c:tx>
      <c:layout/>
      <c:overlay val="0"/>
    </c:title>
    <c:autoTitleDeleted val="0"/>
    <c:plotArea>
      <c:layout/>
      <c:barChart>
        <c:barDir val="col"/>
        <c:grouping val="clustered"/>
        <c:varyColors val="0"/>
        <c:ser>
          <c:idx val="0"/>
          <c:order val="0"/>
          <c:tx>
            <c:strRef>
              <c:f>Sheet1!$B$1</c:f>
              <c:strCache>
                <c:ptCount val="1"/>
                <c:pt idx="0">
                  <c:v>no hint</c:v>
                </c:pt>
              </c:strCache>
            </c:strRef>
          </c:tx>
          <c:spPr>
            <a:solidFill>
              <a:srgbClr val="A5A5A5"/>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gpt-oss-20b</c:v>
                  </c:pt>
                  <c:pt idx="1">
                    <c:v>Qwen3-14B</c:v>
                  </c:pt>
                  <c:pt idx="2">
                    <c:v>Qwen3-8B</c:v>
                  </c:pt>
                </c:lvl>
              </c:multiLvlStrCache>
            </c:multiLvlStrRef>
          </c:cat>
          <c:val>
            <c:numRef>
              <c:f>Sheet1!$B$2:$B$4</c:f>
              <c:numCache>
                <c:formatCode>General</c:formatCode>
                <c:ptCount val="3"/>
                <c:pt idx="0">
                  <c:v>73.2</c:v>
                </c:pt>
                <c:pt idx="1">
                  <c:v>59.7</c:v>
                </c:pt>
                <c:pt idx="2">
                  <c:v>45.5</c:v>
                </c:pt>
              </c:numCache>
            </c:numRef>
          </c:val>
        </c:ser>
        <c:ser>
          <c:idx val="1"/>
          <c:order val="1"/>
          <c:tx>
            <c:strRef>
              <c:f>Sheet1!$C$1</c:f>
              <c:strCache>
                <c:ptCount val="1"/>
                <c:pt idx="0">
                  <c:v>hand-written</c:v>
                </c:pt>
              </c:strCache>
            </c:strRef>
          </c:tx>
          <c:spPr>
            <a:solidFill>
              <a:srgbClr val="7F7F7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gpt-oss-20b</c:v>
                  </c:pt>
                  <c:pt idx="1">
                    <c:v>Qwen3-14B</c:v>
                  </c:pt>
                  <c:pt idx="2">
                    <c:v>Qwen3-8B</c:v>
                  </c:pt>
                </c:lvl>
              </c:multiLvlStrCache>
            </c:multiLvlStrRef>
          </c:cat>
          <c:val>
            <c:numRef>
              <c:f>Sheet1!$C$2:$C$4</c:f>
              <c:numCache>
                <c:formatCode>General</c:formatCode>
                <c:ptCount val="3"/>
                <c:pt idx="0">
                  <c:v>78.9</c:v>
                </c:pt>
                <c:pt idx="1">
                  <c:v>71.4</c:v>
                </c:pt>
                <c:pt idx="2">
                  <c:v>72</c:v>
                </c:pt>
              </c:numCache>
            </c:numRef>
          </c:val>
        </c:ser>
        <c:ser>
          <c:idx val="2"/>
          <c:order val="2"/>
          <c:tx>
            <c:strRef>
              <c:f>Sheet1!$D$1</c:f>
              <c:strCache>
                <c:ptCount val="1"/>
                <c:pt idx="0">
                  <c:v>automatic</c:v>
                </c:pt>
              </c:strCache>
            </c:strRef>
          </c:tx>
          <c:spPr>
            <a:solidFill>
              <a:srgbClr val="4472C4"/>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gpt-oss-20b</c:v>
                  </c:pt>
                  <c:pt idx="1">
                    <c:v>Qwen3-14B</c:v>
                  </c:pt>
                  <c:pt idx="2">
                    <c:v>Qwen3-8B</c:v>
                  </c:pt>
                </c:lvl>
              </c:multiLvlStrCache>
            </c:multiLvlStrRef>
          </c:cat>
          <c:val>
            <c:numRef>
              <c:f>Sheet1!$D$2:$D$4</c:f>
              <c:numCache>
                <c:formatCode>General</c:formatCode>
                <c:ptCount val="3"/>
                <c:pt idx="0">
                  <c:v>78.8</c:v>
                </c:pt>
                <c:pt idx="1">
                  <c:v>71.7</c:v>
                </c:pt>
                <c:pt idx="2">
                  <c:v>71</c:v>
                </c:pt>
              </c:numCache>
            </c:numRef>
          </c:val>
        </c:ser>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7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program only</c:v>
                </c:pt>
              </c:strCache>
            </c:strRef>
          </c:tx>
          <c:spPr>
            <a:solidFill>
              <a:srgbClr val="A5A5A5"/>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Qwen3-1.7B</c:v>
                  </c:pt>
                  <c:pt idx="1">
                    <c:v>Qwen3-4B</c:v>
                  </c:pt>
                  <c:pt idx="2">
                    <c:v>Qwen3-8B</c:v>
                  </c:pt>
                  <c:pt idx="3">
                    <c:v>Qwen3-14B (4-bit)</c:v>
                  </c:pt>
                  <c:pt idx="4">
                    <c:v>Qwen3-32B (4-bit)</c:v>
                  </c:pt>
                </c:lvl>
              </c:multiLvlStrCache>
            </c:multiLvlStrRef>
          </c:cat>
          <c:val>
            <c:numRef>
              <c:f>Sheet1!$B$2:$B$6</c:f>
              <c:numCache>
                <c:formatCode>General</c:formatCode>
                <c:ptCount val="5"/>
                <c:pt idx="0">
                  <c:v>0.1</c:v>
                </c:pt>
                <c:pt idx="1">
                  <c:v>14.7</c:v>
                </c:pt>
                <c:pt idx="2">
                  <c:v>34.3</c:v>
                </c:pt>
                <c:pt idx="3">
                  <c:v>58.1</c:v>
                </c:pt>
                <c:pt idx="4">
                  <c:v>65.4</c:v>
                </c:pt>
              </c:numCache>
            </c:numRef>
          </c:val>
        </c:ser>
        <c:ser>
          <c:idx val="1"/>
          <c:order val="1"/>
          <c:tx>
            <c:strRef>
              <c:f>Sheet1!$C$1</c:f>
              <c:strCache>
                <c:ptCount val="1"/>
                <c:pt idx="0">
                  <c:v>+ 6 lines of exact solver usage</c:v>
                </c:pt>
              </c:strCache>
            </c:strRef>
          </c:tx>
          <c:spPr>
            <a:solidFill>
              <a:srgbClr val="4472C4"/>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cat>
            <c:multiLvlStrRef>
              <c:f>Sheet1!$A$2:$A$6</c:f>
              <c:multiLvlStrCache>
                <c:ptCount val="5"/>
                <c:lvl>
                  <c:pt idx="0">
                    <c:v>Qwen3-1.7B</c:v>
                  </c:pt>
                  <c:pt idx="1">
                    <c:v>Qwen3-4B</c:v>
                  </c:pt>
                  <c:pt idx="2">
                    <c:v>Qwen3-8B</c:v>
                  </c:pt>
                  <c:pt idx="3">
                    <c:v>Qwen3-14B (4-bit)</c:v>
                  </c:pt>
                  <c:pt idx="4">
                    <c:v>Qwen3-32B (4-bit)</c:v>
                  </c:pt>
                </c:lvl>
              </c:multiLvlStrCache>
            </c:multiLvlStrRef>
          </c:cat>
          <c:val>
            <c:numRef>
              <c:f>Sheet1!$C$2:$C$6</c:f>
              <c:numCache>
                <c:formatCode>General</c:formatCode>
                <c:ptCount val="5"/>
                <c:pt idx="0">
                  <c:v>44.5</c:v>
                </c:pt>
                <c:pt idx="1">
                  <c:v>46</c:v>
                </c:pt>
                <c:pt idx="2">
                  <c:v>51.7</c:v>
                </c:pt>
                <c:pt idx="3">
                  <c:v>66</c:v>
                </c:pt>
                <c:pt idx="4">
                  <c:v>66.2</c:v>
                </c:pt>
              </c:numCache>
            </c:numRef>
          </c:val>
        </c:ser>
        <c:dLbls>
          <c:numFmt formatCode="0" sourceLinked="0"/>
          <c:txPr>
            <a:bodyPr/>
            <a:lstStyle/>
            <a:p>
              <a:pPr>
                <a:defRPr b="0" i="0" strike="noStrike" sz="12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04040"/>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7E6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(15초) 안녕하세요, 5조입니다. LLM으로 계산 수학 문제를 정확하고 싸게 푸는 방법을 제안합니다. 질문은 하나입니다. 추가 노력을 힌트, 검사, 생각 중 어디에 써야 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저희가 푸는 문제는 네 종류이고, 두 무리로 나뉩니다. 기하 계산과 Codeforces 경시 문제는 맞는 알고리즘이 필요하고, 경시 문제는 그중 어려운 쪽으로 중앙값이 Codeforces Master 수준입니다. 배송 경로와 최적화 문장제는 솔버를 맞게 부르는 법이 필요하고, 문장제는 글을 수식으로 옮기는 단계가 더 있습니다. 이 문제들을 고른 이유는 답이 정확히 하나라 코드로 채점할 수 있고, 필요한 것이 서로 달라서 추가 노력을 어디에 써야 할지 비교할 수 있기 때문입니다. 공개 모델 Qwen3와 gpt-oss로 맞힌 문제 수와 토큰 수를 함께 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LLM은 말로 답할 수도 있고, 프로그램을 짤 수도 있습니다. Qwen3-8B에게 같은 도형의 넓이의 두 배를 물었습니다. 옮기고 돌리고 뒤집어도 답은 436입니다. 말로 답하면 매번 다른 답이 나오지만, 프로그램은 네 번 모두 436입니다. 계산에는 프로그램이 맞는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하지만 두 가지 문제가 있습니다. 첫째, 프로그램은 조용히 틀립니다. 같은 문제인데 프롬프트에 보조 코드만 더하면 6 대신 0을 출력하고, 에러 메시지도 없습니다. 없는 라이브러리 함수를 불러서 죽기도 합니다. 둘째, 오래 생각하면 비쌉니다. 경시 문제 311개에서 gpt-oss-120b는 오래 생각하면 57%에서 66%로 오르지만, 토큰은 4.4배를 씁니다. 그래서 질문입니다. 추가 노력을 코드 힌트, 공짜 검사, 더 많은 생각 중 어디에 써야 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첫 번째 발견입니다. 매뉴얼이 아니라 짧은 힌트를 주세요. Qwen3-32B가 OR-Tools로 배송 경로 프로그램을 짭니다. 긴 참조 문서를 주면 존재하지 않는 함수를 불러서 죽고, 정확한 사용법 열한 줄을 주면 최적 경로를 찾습니다. 경로 문제 30개에서 최적해를 찾는 비율은 아무것도 안 주면 23%, 오래 생각하면 오히려 3%, 긴 참조 문서는 7%, 정확한 사용법은 77에서 90%입니다. 최적화 문장제와 기하에서도 같았습니다. 모르는 것은 생각한다고 생기지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두 번째 발견입니다. 공짜 검사가 실패할 때만 생각하게 하세요. 공짜 검사는 이렇게 돌아갑니다. 문제에는 보통 예제가 적혀 있습니다. 'Make a triangle!'에는 막대 3, 4, 5면 답이 0이라는 예제가 있습니다. 모델이 짠 프로그램을 모델 없이 컴퓨터에서 3, 4, 5로 실행해 0이 나오면 그대로 내고, 다르면 그 문제만 더 생각해서 다시 짭니다. 예제가 없으면 프로그램을 두 가지로 짜서 답이 같은지 봅니다. 오른쪽이 결과입니다. 경시 문제 311개에서 항상 오래 생각하면 66.2%에 3만 토큰, 실패할 때만 생각하면 66.3%에 2만 5천 토큰입니다. 예제만으로는 65%이고, 작은 입력을 전부 따져 보는 짧은 프로그램과도 비교해서 66%가 됩니다. 기하에서는 98% 대 99%이고 토큰은 27% 적습니다. 정답 없이도 같은 정확도를 더 싸게 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[생략 가능] 포함 80초) 두 발견을 합친 것이 저희 방법입니다. 실제 최적화 문제로 보면, 1단계에서 모델이 없는 메서드를 불러 죽습니다. 2단계 힌트는 모델이 다른 문제에서 짜서 검사를 통과한 자기 프로그램에서 자동으로 가져옵니다. 3단계, 두 버전의 답이 20000으로 같으니 4단계 생각은 건너뛰어, 생각만 했을 때의 5.3k 대신 0.6k 토큰을 씁니다. 5단계, 같은 종류의 새 데이터에는 이 프로그램을 재사용합니다. [생략 가능] 아이콘은 각 단계를 쓰는 문제 종류이고, 경시 문제는 라이브러리가 없어 힌트 없이 검사와 생각만 씁니다. 전체 비교는 이렇게 했습니다. 기존 방식은 각 문제에 세 번 빠르게 답하게 해서 답이 갈리는 문제를 어렵다고 보고 거기에 생각을 씁니다. 저희는 모든 문제에 사람이 쓴 힌트를 먼저 주고 검사에 실패한 문제만 생각하게 합니다. 기하와 최적화 208문제를 세 모델로 풀면 정답률이 74% 대 87%, 토큰은 4.1k 대 2.5k입니다. [생략 가능] 오른쪽 79%는 개발에 쓰지 않은 MAMO 문제 863개에서 gpt-oss-20b에 자동 힌트를 준 결과로, 사람이 쓴 힌트와 같고, 힌트가 없으면 73%입니다.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(75초) 마지막으로 새로운 점과 다음 계획입니다. 왼쪽이 흔히 쓰는 방법, 오른쪽이 저희 방법입니다. 첫째, 기존에는 세 번 답해서 답이 갈리는 문제에 생각을 몰아주거나 언제 생각할지를 학습시키지만, 저희는 학습 없이 공짜 검사가 실패한 문제에만 생각을 씁니다. 둘째, 기존에는 매뉴얼이나 교사 모델이 짜서 정답으로 확인한 프로그램을 주지만, 저희는 모델 자신이 짜서 검사를 통과한 프로그램을 짧은 힌트로 주므로 사람도 정답도 필요 없습니다. 셋째, 비용입니다. 개발에 쓰지 않은 MAMO 863문제에서 최적화용으로 파인튜닝한 ORLM-8B를 저희 채점기로 돌리면 69.5%인데, 학습하지 않은 Qwen3-8B에 자기 힌트를 주면 24GB GPU 한 장으로 같은 69.5%를 더 적은 토큰에 냅니다. 다음으로는 더 많은 모델로 검증을 마치고, 실행은 되지만 문제를 잘못 수식으로 옮긴 오류를 힌트로 고칠 수 있는지 시험하고, 문제 종류마다 힌트를 찾겠습니다. 정리하면, 짧은 힌트를 먼저 주고, 공짜 검사가 실패한 곳에서만 생각하게 하자는 것입니다.
[더 자세히: 질문이 나오거나 시간이 남을 때]
첫째 줄, 생각을 어디에 쓸지. 기존 방법은 어려워 보이는 문제에 계산을 더 쓰는 Snell 등의 방식과, 언제 생각할지를 강화학습으로 가르치는 Thinkless, AdaptThink입니다. 저희는 정답 없이 돌리는 공짜 검사가 실패한 문제에만 생각을 씁니다. 기하와 최적화 208문제를 세 모델로 풀면 74%가 87%로 오르고, 토큰은 문제당 4.1k에서 2.5k로 줄었습니다. 87%는 사람이 쓴 힌트를 쓴 결과이고, 검색으로 찾은 힌트로도 84%입니다.
둘째 줄, 모델에게 무엇을 주는지. 기존에는 매뉴얼 전체를 주거나, 더 큰 교사 모델이 짜서 정답으로 확인한 프로그램 모음을 줍니다. 저희 힌트는 모델이 다른 문제에서 짜서 공짜 검사를 통과한 자기 프로그램입니다. 끝까지 남겨 둔 MAMO 벤치마크에서 사람이 쓴 힌트와 같은 79%를 냈습니다.
셋째 줄, 비용. ORLM-8B는 최적화 문장제용으로 파인튜닝한 공개 모델이고, 모델 카드의 형식과 솔버, 그리디 디코딩으로 저희 채점기에서 돌렸습니다: MAMO 69.5%, 문제당 1.1k 토큰(샘플링하면 64~66%). Qwen3-8B는 학습 없이 자기 힌트를 붙여 프로그램을 한 번 짜고 실행이 안 될 때만 생각하게 해서 69.5%, 1.0k 토큰입니다. 두 버전 검사까지 쓰면 71%(3.1k), gpt-oss-20b는 78.8%입니다.
다음 계획. 하나, MAMO 검증을 Qwen3-32B와 Qwen3.6까지 세 시드로 마칩니다. 둘, 검사로 못 잡는 오류입니다. 지금 남은 오류의 절반쯤은 정답 라벨이 의심스러운 문제이고, 나머지는 같은 유형에서 같은 수식 실수가 반복됩니다. 예를 들어 순서 제약이나 공급 균형을 잘못 씁니다. 고치기 한 번이나 생각으로는 안 고쳐져서, 힌트 하나로 고쳐지는지 시험합니다. 셋, 지금은 같은 종류의 문제 안에서만 자동 힌트가 통하므로, 문제 종류마다 힌트를 찾고 최종 보고서와 코드를 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(5초) 감사합니다. 질문 받겠습니다.
[발표자용] 예상 질문 → 보충 슬라이드 번호 (슬라이드 쇼에서 번호를 누르고 Enter):
10: Why these problems? How do they differ? (slide 2)
11: Do the findings cover every kind? (slide 2)
12: How hard are the problems? (slide 2)
13: Why does helper code change the answer? (slide 4)
14: What exactly is the hint? Isn't it the answer? (slide 5)
15, 20: How do we get the exact hint? (slide 5)
16: Can retrieval (RAG) find the hint? (slide 5)
17: Why can thinking make it worse? (slide 5)
18: What if a wrong program passes the check? (slide 6)
19: Is there always a free check? (slide 6)
20: Who writes the hint? (slide 7)
21: Is 'think on the hardest' a weak baseline? (slide 7)
30: What if the same problem repeats? (slide 7)
11: Why no hint for contest problems? (slide 7)
29: Where does the recipe stop? (slide 7)
22, 23, 24: What is new vs PAL and cascades? (slide 8)
25: Why not majority voting? (slide 8)
26, 31: Is the comparison fair? (slide 8)
27: Does it hold for smaller models?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세 가지 이유입니다. 답이 정확히 하나라 코드로 채점할 수 있고, 정답 없이 쓸 수 있는 검사가 있으며, 실제 코딩 에이전트가 이미 경로 계획, 스케줄러, 기하 코드를 씁니다. 그리고 종류마다 필요한 것이 다릅니다. 기하와 경시는 맞는 알고리즘이 필요하고, 둘의 차이는 난이도입니다. 경로와 문장제는 솔버 라이브러리를 맞게 부르는 힌트가 필요하고, 문장제는 글을 수식으로 옮기는 단계가 더 있습니다. 그래서 추가 노력을 힌트, 검사, 생각 중 어디에 쓸지 비교하기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아니요, 모든 단계를 네 종류 전부에 쓰지는 않습니다. 경시 문제는 라이브러리 없이 알고리즘만 짜는 문제라 힌트로 채울 빈칸이 없고, 실패 원인은 추론입니다. 가장 가까운 힌트로 관련 기하 함수 8개를 줘 봤는데, Qwen3-32B는 12.1%에서 13.7%로 차이가 없었고 gpt-oss-20b는 37.7%에서 33.4%로 오히려 떨어졌습니다. 함수를 받으면 덜 생각하고 다른 오답을 썼습니다. 문제마다 알고리즘을 알려 주는 힌트는 사실상 풀이의 일부라 싸지도 자동도 아닙니다. 그래서 경시에는 검사와 생각만 써서, 항상 생각할 때와 같은 66%를 18% 적은 토큰에 얻습니다. 재사용도 매번 새 문제라 맞지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사람 기준으로 보면, 경시 문제 311개의 Codeforces 레이팅 중앙값은 2200으로 Master 수준이고, 46%는 Grandmaster 수준인 2400 이상입니다. 그 구간에서는 gpt-oss-120b도 48%만 풉니다. 경로 문제는 단순한 탐욕 계획이 최선보다 48% 길고, 문장제는 대학 OR 수업 연습문제 수준입니다.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보조 코드를 주면 모델이 그 함수에 맞춰 방법을 짭니다. 이 예에서는 필요 없는 polar_sort로 각도 정렬을 하다가 0을 출력했습니다. 기하 108문제에서 보조 코드가 있으면 59%, 없으면 77%입니다. 두 버전을 모두 짜서 답이 다를 때만 생각하면 99%를 4.3k 토큰에 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힌트는 라이브러리를 어떻게 부르는지, 즉 함수 이름과 인자를 보여 주는 11줄짜리 코드 조각입니다. 같은 종류의 30문제에 똑같이 붙이고, 경로나 숫자나 정답은 들어 있지 않습니다. 긴 참조 문서가 아무것도 안 준 것보다 나쁜 이유는, 경로 설명은 있지만 용량 규칙이 없어서 모델이 빈 곳을 없는 함수로 채우기 때문입니다. 10개 프로그램이 RegisterUnaryLongLivingCallback을 불렀습니다.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힌트는 문제마다가 아니라 문제 종류마다 하나이고, 과제 앞에 붙여 줍니다. 그 종류에 필요한 호출만 보여 줍니다. 얻는 방법은 세 가지입니다. 첫째, 사람이 종류마다 한 번 씁니다. 트럭 경로라면 OR-Tools 사용법 11줄입니다. 둘째, 제목이 붙은 코드 조각 라이브러리에서 BM25로 검색해 맨 위 하나를 씁니다. 손으로 쓴 것과 거의 같지만, 비슷하지만 다른 문서가 섞이면 크게 떨어집니다. 셋째, 모델이 같은 종류의 다른 문제에서 짠 프로그램 중 공짜 검사를 통과한 가장 짧은 것을 씁니다. 처음 쓰는 MAMO에서 사람이 쓴 힌트와 같은 정확도였습니다. 다만 같은 종류 안에서만 통하고, 다른 종류의 프로그램을 주면 14에서 21점 떨어집니다. 필요한 것만 주는 것도 중요해서, 기하에서 도우미 함수를 다 주면 75%, 필요한 것만 주면 92%였습니다.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네. 제목이 붙은 코드 조각 라이브러리에서 BM25로 찾으면, 최적화 6문제에서 손으로 쓴 힌트와 같은 수준입니다. 97% 대 96%입니다. 다만 비슷하지만 다른 문서가 섞이면 손해가 큽니다. 경로 문제에서 TSP 문서가 함께 들어오면 83%에서 57%로 떨어집니다. 문서가 아예 없으면 모델 자신의 검사된 프로그램을 힌트로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모르는 함수를 생각하는 동안 지어내기 때문입니다. Qwen3-32B는 문장제에서 생각을 켜면 65.4%에서 52.0%로 떨어지는데, 존재하지 않는 Objective().SetMaximize를 부릅니다. 정확한 사용법을 먼저 주면 생각이 도움이 되어 72%가 되고, 실패할 때만 생각하면 같은 정확도를 1.3k 토큰에 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생깁니다. 경시 문제에서는 틀린 프로그램의 24에서 37%가 예제를 통과하고, 문장제에서는 12에서 16%가 두 프로그램이 같은 오답을 냅니다. 하지만 이런 문제를 완벽한 검사로 모두 생각에 보내도 생각이 7에서 16%만 고치기 때문에, 14B 이상 모델에서는 1에서 3점밖에 오르지 않습니다. 일부는 정답 레이블 자체가 틀렸습니다. 그래서 다음 목표는 실행은 되지만 문제를 잘못 모델링한 프로그램입니다.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저희가 다룬 네 종류에는 모두 정답 없이 쓸 수 있는 검사가 있습니다. 경시는 예제와 모든 경우를 따지는 짧은 프로그램, 기하는 입력을 옮기거나 돌려도 답이 같아야 한다는 검사나 두 버전의 일치, 경로는 계획이 모든 규칙을 지키는지 코드로 확인, 문장제는 두 프로그램의 일치입니다. 검사가 얼마나 잡아내느냐가 생각을 얼마나 아낄지를 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사람이 쓰지 않습니다. 모델이 다른 문제에서 짜서 공짜 검사를 통과한 자기 프로그램 중 가장 짧은 것을 힌트로 붙입니다. 끝까지 쓰지 않고 남겨 둔 MAMO 863문제에서 세 모델 모두 사람이 쓴 힌트와 약 2점 안에 들었습니다. 단, 다른 종류의 문제에서 가져온 프로그램은 오히려 14에서 21점 손해이고, 라이브러리 이름 목록만 주면 66%에서 56%로 떨어집니다.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오히려 강한 기준선을 만들어 봤습니다. 각 문제의 실제 Codeforces 레이팅을 알려 주고 어려운 문제만 높은 노력으로 보내도 예제 검사보다 못합니다. 레이팅 2600 이상만 보내면 61.4%, 1800 이상이면 65.3%인데 토큰이 27.8k로, 예제 검사의 65.0%, 20.2k보다 비쌉니다. 이 분석은 탐색적이라 사전 등록은 하지 않았습니다. 기하와 최적화에서도 난이도 기준 배분은 74%, 저희 방법은 87%입니다.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같은 문제와 같은 모델로 기존 방법을 직접 돌려 비교했습니다. 난이도별 생각 배분은 74%, 4.1k 대 저희 87%, 2.5k이고, 항상 높은 노력은 66.2%, 30.1k 대 66.3%, 24.7k이고, 모델이 테스트를 쓰는 CodeT는 96.0% 대 대칭 검사 99.7%입니다. 특화 모델 ORLM-8B의 69.5%는 학습 없는 Qwen3-8B도 같은 69.5%입니다. 저희 방법은 더 정확하거나, 더 싸거나, 둘 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관련 연구는 일곱 갈래입니다. 텍스트 대신 프로그램, 코드용 라이브러리 문서, 오도하는 문맥, 프로그램 고르기, 테스트 시간 계산 배분, 최적화 모델링, 한 프로그램 재사용입니다. 저희가 더하는 것은 실패 원인에 맞춰 힌트와 공짜 검사를 먼저 쓰고, 학습도 정답도 없이 생각을 아끼는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논문 수치와 나란히 놓으면, MAMO Easy에서 학습 없는 Qwen3-14B가 82.8%로 파인튜닝한 ORLM의 82.3%와 비슷하고, gpt-oss-20b는 85.6%입니다. 프런티어 모델을 쓰는 OptiSkill의 90.8에서 94.3%보다는 낮습니다. 평가 환경이 달라서 참고용입니다.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다수결은 많이 나온 답을 고르고, 검사는 맞는 답을 고릅니다. 기하에서 세 프로그램 중 하나를 고를 때 다수결은 4.3% 틀리고, 대칭 검사는 0.3%만 틀립니다. 문장제에서 생각 세 번의 다수결은 79.4%로 저희보다 7점 높지만, 토큰이 16.4k로 12배입니다.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세 가지를 확인했습니다. 첫째, 입력 토큰입니다. 힌트 조각은 입력을 213토큰 늘리고, 입력은 출력보다 싸고 캐시되므로 결론이 바뀌지 않습니다. 다만 프로그램을 돌리는 CPU 시간은 세지 않았습니다. 둘째, 암기입니다. 같은 난이도에서 오래된 대회와 최근 대회의 정답률이 81% 대 83%로 차이가 없고, MAMO는 끝까지 쓰지 않았으며, 모든 방법이 같은 모델을 씁니다. 셋째, 작은 차이는 '더 낫다'가 아니라 '같은 정확도에 더 적은 토큰'이라고만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네, 작은 모델일수록 효과가 큽니다. 문장제 345문제에서 힌트 하나로 Qwen3-1.7B는 44점, 4B는 31점 오르고, 32B는 1점 오릅니다. 그래서 24GB GPU 한 장에 들어가는 gpt-oss-20b가 힌트와 함께 73%로, Qwen3-32B의 72%를 토큰 8분의 1로 따라잡습니다.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기하와 최적화 208문제를 세 모델로 푼 정책 비교입니다. 힌트를 먼저 주고 실패할 때만 생각하는 정책이 87%, 2.5k로 가장 정확하고 가장 싼 편입니다. 새 과제라면 30문제만 라벨링해서 네 정책 중 고르면, 63개 설정에서 최선 대비 손실이 0.6점입니다. 이 정책을 기본값으로 쓰면 1.4점, 항상 생각하면 8.4점 손해입니다.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방법이 멈추는 곳은 세 가지입니다. 다른 종류의 문제 사이의 자동 힌트, 예제를 통과하는 틀린 프로그램, 그리고 세계 지식이 필요한 문제입니다. 다음으로는 MAMO 검증을 더 많은 모델로 마치고, 검사로 못 잡는 문제 모델링 오류를 다루고, 문제 종류마다 자동 힌트를 찾겠습니다.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같은 종류의 문제가 데이터만 바뀌어 반복되면, 검사된 프로그램 하나를 재사용합니다. 배송 경로 48일 동안 매일 새 프로그램을 쓰면 7%의 날만 유효하고 86k 토큰이 듭니다. 16개 프로그램을 한 번 쓰고 지난 8일에 유효한 것을 재사용하면 94%의 날이 유효하고 모두 28k 토큰입니다. 4배 큰 입력에서도 통했고, 규칙이 바뀌면 모델에게 고치게 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(답변) 모델은 Qwen3 1.7B에서 32B, Qwen3.6-35B, gpt-oss-20b와 120b이고 모두 직접 돌렸습니다. 채점은 정확히 맞았는지만 보고, 모든 결과에 토큰 비용을 함께 적습니다. 예측을 먼저 적고 한 번에 하나만 바꾸며 3개 시드로 확인했습니다. GPU는 96GB 한 장이고, 작은 모델은 24GB 한 장에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527048" y="1280160"/>
            <a:ext cx="9144000" cy="2194560"/>
          </a:xfrm>
          <a:prstGeom prst="rect">
            <a:avLst/>
          </a:prstGeom>
          <a:noFill/>
          <a:ln/>
        </p:spPr>
        <p:txBody>
          <a:bodyPr wrap="square" rtlCol="0"/>
          <a:lstStyle>
            <a:lvl1pPr algn="ctr" indent="0" marL="0">
              <a:buNone/>
              <a:defRPr lang="en-US" sz="5400" dirty="0">
                <a:solidFill>
                  <a:schemeClr val="tx1"/>
                </a:solidFill>
              </a:defRPr>
            </a:lvl1pPr>
          </a:lstStyle>
          <a:p>
            <a:pPr algn="ctr" indent="0" marL="0">
              <a:buNone/>
            </a:pPr>
            <a:endParaRPr lang="en-US" sz="5400" dirty="0"/>
          </a:p>
        </p:txBody>
      </p:sp>
      <p:sp>
        <p:nvSpPr>
          <p:cNvPr id="3" name="Text 0"/>
          <p:cNvSpPr/>
          <p:nvPr>
            <p:ph idx="101" type="body" hasCustomPrompt="1"/>
          </p:nvPr>
        </p:nvSpPr>
        <p:spPr>
          <a:xfrm>
            <a:off x="1527048" y="3657600"/>
            <a:ext cx="9144000" cy="1554480"/>
          </a:xfrm>
          <a:prstGeom prst="rect">
            <a:avLst/>
          </a:prstGeom>
          <a:noFill/>
          <a:ln/>
        </p:spPr>
        <p:txBody>
          <a:bodyPr wrap="square" rtlCol="0"/>
          <a:lstStyle>
            <a:lvl1pPr algn="ctr" indent="0" marL="0">
              <a:buNone/>
              <a:defRPr lang="en-US" sz="2200" dirty="0">
                <a:solidFill>
                  <a:schemeClr val="tx1"/>
                </a:solidFill>
              </a:defRPr>
            </a:lvl1pPr>
          </a:lstStyle>
          <a:p>
            <a:pPr algn="ct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3" name="Text 0"/>
          <p:cNvSpPr/>
          <p:nvPr>
            <p:ph idx="101" type="body" hasCustomPrompt="1"/>
          </p:nvPr>
        </p:nvSpPr>
        <p:spPr>
          <a:xfrm>
            <a:off x="548640" y="1371600"/>
            <a:ext cx="11064240" cy="4846320"/>
          </a:xfrm>
          <a:prstGeom prst="rect">
            <a:avLst/>
          </a:prstGeom>
          <a:noFill/>
          <a:ln/>
        </p:spPr>
        <p:txBody>
          <a:bodyPr wrap="square" rtlCol="0"/>
          <a:lstStyle>
            <a:lvl1pPr indent="0" marL="0">
              <a:buNone/>
              <a:defRPr lang="en-US" sz="1800" dirty="0">
                <a:solidFill>
                  <a:schemeClr val="tx1"/>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2.png"/><Relationship Id="rId4" Type="http://schemas.openxmlformats.org/officeDocument/2006/relationships/image" Target="../media/image-4-2.png"/><Relationship Id="rId5" Type="http://schemas.openxmlformats.org/officeDocument/2006/relationships/image" Target="../media/image-4-2.png"/><Relationship Id="rId6" Type="http://schemas.openxmlformats.org/officeDocument/2006/relationships/image" Target="../media/image-4-2.png"/><Relationship Id="rId7" Type="http://schemas.openxmlformats.org/officeDocument/2006/relationships/image" Target="../media/image-4-2.png"/><Relationship Id="rId8" Type="http://schemas.openxmlformats.org/officeDocument/2006/relationships/image" Target="../media/image-4-2.png"/><Relationship Id="rId9" Type="http://schemas.openxmlformats.org/officeDocument/2006/relationships/image" Target="../media/image-4-2.png"/><Relationship Id="rId10" Type="http://schemas.openxmlformats.org/officeDocument/2006/relationships/image" Target="../media/image-4-2.png"/><Relationship Id="rId11" Type="http://schemas.openxmlformats.org/officeDocument/2006/relationships/image" Target="../media/image-4-2.png"/><Relationship Id="rId12" Type="http://schemas.openxmlformats.org/officeDocument/2006/relationships/image" Target="../media/image-4-12.png"/><Relationship Id="rId13" Type="http://schemas.openxmlformats.org/officeDocument/2006/relationships/image" Target="../media/image-4-12.png"/><Relationship Id="rId14" Type="http://schemas.openxmlformats.org/officeDocument/2006/relationships/image" Target="../media/image-4-12.png"/><Relationship Id="rId15" Type="http://schemas.openxmlformats.org/officeDocument/2006/relationships/image" Target="../media/image-4-12.png"/><Relationship Id="rId16" Type="http://schemas.openxmlformats.org/officeDocument/2006/relationships/image" Target="../media/image-4-12.png"/><Relationship Id="rId17" Type="http://schemas.openxmlformats.org/officeDocument/2006/relationships/image" Target="../media/image-4-12.png"/><Relationship Id="rId18" Type="http://schemas.openxmlformats.org/officeDocument/2006/relationships/image" Target="../media/image-4-12.png"/><Relationship Id="rId19" Type="http://schemas.openxmlformats.org/officeDocument/2006/relationships/image" Target="../media/image-4-12.png"/><Relationship Id="rId20" Type="http://schemas.openxmlformats.org/officeDocument/2006/relationships/image" Target="../media/image-4-12.png"/><Relationship Id="rId21" Type="http://schemas.openxmlformats.org/officeDocument/2006/relationships/image" Target="../media/image-4-12.png"/><Relationship Id="rId22" Type="http://schemas.openxmlformats.org/officeDocument/2006/relationships/image" Target="../media/image-4-12.png"/><Relationship Id="rId23" Type="http://schemas.openxmlformats.org/officeDocument/2006/relationships/image" Target="../media/image-4-12.png"/><Relationship Id="rId24" Type="http://schemas.openxmlformats.org/officeDocument/2006/relationships/image" Target="../media/image-4-12.png"/><Relationship Id="rId25" Type="http://schemas.openxmlformats.org/officeDocument/2006/relationships/image" Target="../media/image-4-12.png"/><Relationship Id="rId26" Type="http://schemas.openxmlformats.org/officeDocument/2006/relationships/image" Target="../media/image-4-12.png"/><Relationship Id="rId27" Type="http://schemas.openxmlformats.org/officeDocument/2006/relationships/image" Target="../media/image-4-12.png"/><Relationship Id="rId28" Type="http://schemas.openxmlformats.org/officeDocument/2006/relationships/image" Target="../media/image-4-12.png"/><Relationship Id="rId29" Type="http://schemas.openxmlformats.org/officeDocument/2006/relationships/image" Target="../media/image-4-12.png"/><Relationship Id="rId30" Type="http://schemas.openxmlformats.org/officeDocument/2006/relationships/image" Target="../media/image-4-12.png"/><Relationship Id="rId31" Type="http://schemas.openxmlformats.org/officeDocument/2006/relationships/image" Target="../media/image-4-12.png"/><Relationship Id="rId32" Type="http://schemas.openxmlformats.org/officeDocument/2006/relationships/image" Target="../media/image-4-12.png"/><Relationship Id="rId33" Type="http://schemas.openxmlformats.org/officeDocument/2006/relationships/image" Target="../media/image-4-12.png"/><Relationship Id="rId34" Type="http://schemas.openxmlformats.org/officeDocument/2006/relationships/image" Target="../media/image-4-12.png"/><Relationship Id="rId35" Type="http://schemas.openxmlformats.org/officeDocument/2006/relationships/image" Target="../media/image-4-12.png"/><Relationship Id="rId36" Type="http://schemas.openxmlformats.org/officeDocument/2006/relationships/image" Target="../media/image-4-12.png"/><Relationship Id="rId37" Type="http://schemas.openxmlformats.org/officeDocument/2006/relationships/image" Target="../media/image-4-12.png"/><Relationship Id="rId38" Type="http://schemas.openxmlformats.org/officeDocument/2006/relationships/image" Target="../media/image-4-12.png"/><Relationship Id="rId39" Type="http://schemas.openxmlformats.org/officeDocument/2006/relationships/image" Target="../media/image-4-12.png"/><Relationship Id="rId40" Type="http://schemas.openxmlformats.org/officeDocument/2006/relationships/image" Target="../media/image-4-12.png"/><Relationship Id="rId41" Type="http://schemas.openxmlformats.org/officeDocument/2006/relationships/image" Target="../media/image-4-12.png"/><Relationship Id="rId42" Type="http://schemas.openxmlformats.org/officeDocument/2006/relationships/image" Target="../media/image-4-12.png"/><Relationship Id="rId43" Type="http://schemas.openxmlformats.org/officeDocument/2006/relationships/image" Target="../media/image-4-12.png"/><Relationship Id="rId44" Type="http://schemas.openxmlformats.org/officeDocument/2006/relationships/image" Target="../media/image-4-12.png"/><Relationship Id="rId45" Type="http://schemas.openxmlformats.org/officeDocument/2006/relationships/image" Target="../media/image-4-12.png"/><Relationship Id="rId46" Type="http://schemas.openxmlformats.org/officeDocument/2006/relationships/image" Target="../media/image-4-12.png"/><Relationship Id="rId47" Type="http://schemas.openxmlformats.org/officeDocument/2006/relationships/image" Target="../media/image-4-12.png"/><Relationship Id="rId48" Type="http://schemas.openxmlformats.org/officeDocument/2006/relationships/image" Target="../media/image-4-12.png"/><Relationship Id="rId49" Type="http://schemas.openxmlformats.org/officeDocument/2006/relationships/image" Target="../media/image-4-12.png"/><Relationship Id="rId50" Type="http://schemas.openxmlformats.org/officeDocument/2006/relationships/image" Target="../media/image-4-12.png"/><Relationship Id="rId51" Type="http://schemas.openxmlformats.org/officeDocument/2006/relationships/image" Target="../media/image-4-12.png"/><Relationship Id="rId52" Type="http://schemas.openxmlformats.org/officeDocument/2006/relationships/image" Target="../media/image-4-12.png"/><Relationship Id="rId53" Type="http://schemas.openxmlformats.org/officeDocument/2006/relationships/image" Target="../media/image-4-12.png"/><Relationship Id="rId54" Type="http://schemas.openxmlformats.org/officeDocument/2006/relationships/image" Target="../media/image-4-12.png"/><Relationship Id="rId55" Type="http://schemas.openxmlformats.org/officeDocument/2006/relationships/image" Target="../media/image-4-55.png"/><Relationship Id="rId56" Type="http://schemas.openxmlformats.org/officeDocument/2006/relationships/image" Target="../media/image-4-56.png"/><Relationship Id="rId57" Type="http://schemas.openxmlformats.org/officeDocument/2006/relationships/image" Target="../media/image-4-57.png"/><Relationship Id="rId58" Type="http://schemas.openxmlformats.org/officeDocument/2006/relationships/slideLayout" Target="../slideLayouts/slideLayout3.xml"/><Relationship Id="rId5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3.png"/><Relationship Id="rId8" Type="http://schemas.openxmlformats.org/officeDocument/2006/relationships/image" Target="../media/image-7-4.png"/><Relationship Id="rId9" Type="http://schemas.openxmlformats.org/officeDocument/2006/relationships/image" Target="../media/image-7-5.png"/><Relationship Id="rId10" Type="http://schemas.openxmlformats.org/officeDocument/2006/relationships/image" Target="../media/image-7-6.png"/><Relationship Id="rId11" Type="http://schemas.openxmlformats.org/officeDocument/2006/relationships/image" Target="../media/image-7-3.png"/><Relationship Id="rId12" Type="http://schemas.openxmlformats.org/officeDocument/2006/relationships/image" Target="../media/image-7-4.png"/><Relationship Id="rId13" Type="http://schemas.openxmlformats.org/officeDocument/2006/relationships/image" Target="../media/image-7-5.png"/><Relationship Id="rId14" Type="http://schemas.openxmlformats.org/officeDocument/2006/relationships/image" Target="../media/image-7-6.png"/><Relationship Id="rId15" Type="http://schemas.openxmlformats.org/officeDocument/2006/relationships/image" Target="../media/image-7-3.png"/><Relationship Id="rId16" Type="http://schemas.openxmlformats.org/officeDocument/2006/relationships/image" Target="../media/image-7-4.png"/><Relationship Id="rId17" Type="http://schemas.openxmlformats.org/officeDocument/2006/relationships/image" Target="../media/image-7-5.png"/><Relationship Id="rId18" Type="http://schemas.openxmlformats.org/officeDocument/2006/relationships/image" Target="../media/image-7-6.png"/><Relationship Id="rId19" Type="http://schemas.openxmlformats.org/officeDocument/2006/relationships/image" Target="../media/image-7-3.png"/><Relationship Id="rId20" Type="http://schemas.openxmlformats.org/officeDocument/2006/relationships/image" Target="../media/image-7-4.png"/><Relationship Id="rId21" Type="http://schemas.openxmlformats.org/officeDocument/2006/relationships/image" Target="../media/image-7-5.png"/><Relationship Id="rId22" Type="http://schemas.openxmlformats.org/officeDocument/2006/relationships/image" Target="../media/image-7-6.png"/><Relationship Id="rId23" Type="http://schemas.openxmlformats.org/officeDocument/2006/relationships/slideLayout" Target="../slideLayouts/slideLayout3.xml"/><Relationship Id="rId2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2.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3.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3.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3.xml"/><Relationship Id="rId8"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1527048" y="1280160"/>
            <a:ext cx="9144000" cy="2194560"/>
          </a:xfrm>
          <a:prstGeom prst="rect">
            <a:avLst/>
          </a:prstGeom>
          <a:noFill/>
          <a:ln/>
        </p:spPr>
        <p:txBody>
          <a:bodyPr wrap="square" rtlCol="0" anchor="b"/>
          <a:lstStyle/>
          <a:p>
            <a:pPr algn="ctr" indent="0" marL="0">
              <a:buNone/>
            </a:pPr>
            <a:r>
              <a:rPr lang="en-US" sz="4400" dirty="0">
                <a:solidFill>
                  <a:schemeClr val="tx1"/>
                </a:solidFill>
              </a:rPr>
              <a:t>Solving Computational Math</a:t>
            </a:r>
            <a:endParaRPr lang="en-US" sz="5400" dirty="0"/>
          </a:p>
          <a:p>
            <a:pPr algn="ctr" indent="0" marL="0">
              <a:buNone/>
            </a:pPr>
            <a:r>
              <a:rPr lang="en-US" sz="4000" dirty="0">
                <a:solidFill>
                  <a:schemeClr val="tx1"/>
                </a:solidFill>
              </a:rPr>
              <a:t>with LLMs, Accurately and Cheaply</a:t>
            </a:r>
            <a:endParaRPr lang="en-US" sz="5400" dirty="0"/>
          </a:p>
        </p:txBody>
      </p:sp>
      <p:sp>
        <p:nvSpPr>
          <p:cNvPr id="3" name="Text 0"/>
          <p:cNvSpPr/>
          <p:nvPr>
            <p:ph idx="101" type="body" hasCustomPrompt="1"/>
          </p:nvPr>
        </p:nvSpPr>
        <p:spPr>
          <a:xfrm>
            <a:off x="1527048" y="3657600"/>
            <a:ext cx="9144000" cy="1554480"/>
          </a:xfrm>
          <a:prstGeom prst="rect">
            <a:avLst/>
          </a:prstGeom>
          <a:noFill/>
          <a:ln/>
        </p:spPr>
        <p:txBody>
          <a:bodyPr wrap="square" rtlCol="0" anchor="t"/>
          <a:lstStyle/>
          <a:p>
            <a:pPr algn="ctr" indent="0" marL="0">
              <a:buNone/>
            </a:pPr>
            <a:r>
              <a:rPr lang="en-US" sz="2200" dirty="0">
                <a:solidFill>
                  <a:schemeClr val="tx1"/>
                </a:solidFill>
              </a:rPr>
              <a:t>A hint, a check, or more thinking: where should the extra effort go?</a:t>
            </a:r>
            <a:endParaRPr lang="en-US" sz="2200" dirty="0"/>
          </a:p>
          <a:p>
            <a:pPr algn="ctr" indent="0" marL="0">
              <a:buNone/>
            </a:pPr>
            <a:r>
              <a:rPr lang="en-US" sz="1600" dirty="0">
                <a:solidFill>
                  <a:srgbClr val="44546A"/>
                </a:solidFill>
              </a:rPr>
              <a:t>Team 5: Sangjun Lee, Seongbin Park · POSTECH CSED490E</a:t>
            </a:r>
            <a:endParaRPr lang="en-US" sz="2200" dirty="0"/>
          </a:p>
        </p:txBody>
      </p:sp>
      <p:sp>
        <p:nvSpPr>
          <p:cNvPr id="4" name="choice a missing fact"/>
          <p:cNvSpPr/>
          <p:nvPr/>
        </p:nvSpPr>
        <p:spPr>
          <a:xfrm>
            <a:off x="3145536" y="4892040"/>
            <a:ext cx="1874520" cy="502920"/>
          </a:xfrm>
          <a:prstGeom prst="roundRect">
            <a:avLst>
              <a:gd name="adj" fmla="val 36364"/>
            </a:avLst>
          </a:prstGeom>
          <a:solidFill>
            <a:srgbClr val="E2F0D9"/>
          </a:solidFill>
          <a:ln w="12700">
            <a:solidFill>
              <a:srgbClr val="38761D"/>
            </a:solidFill>
            <a:prstDash val="solid"/>
          </a:ln>
        </p:spPr>
      </p:sp>
      <p:pic>
        <p:nvPicPr>
          <p:cNvPr id="5" name="choice icon fact" descr="/NAS/SJ/POSTECH/nlp/figs/icons/fact.png">    </p:cNvPr>
          <p:cNvPicPr>
            <a:picLocks noChangeAspect="1"/>
          </p:cNvPicPr>
          <p:nvPr/>
        </p:nvPicPr>
        <p:blipFill>
          <a:blip r:embed="rId1"/>
          <a:stretch>
            <a:fillRect/>
          </a:stretch>
        </p:blipFill>
        <p:spPr>
          <a:xfrm>
            <a:off x="3255264" y="4978908"/>
            <a:ext cx="329184" cy="329184"/>
          </a:xfrm>
          <a:prstGeom prst="rect">
            <a:avLst/>
          </a:prstGeom>
        </p:spPr>
      </p:pic>
      <p:sp>
        <p:nvSpPr>
          <p:cNvPr id="6" name="Text 3"/>
          <p:cNvSpPr txBox="1"/>
          <p:nvPr/>
        </p:nvSpPr>
        <p:spPr>
          <a:xfrm>
            <a:off x="3648456" y="4892040"/>
            <a:ext cx="1371600" cy="502920"/>
          </a:xfrm>
          <a:prstGeom prst="rect">
            <a:avLst/>
          </a:prstGeom>
          <a:noFill/>
          <a:ln/>
        </p:spPr>
        <p:txBody>
          <a:bodyPr wrap="square" lIns="0" tIns="0" rIns="0" bIns="0" rtlCol="0" anchor="ctr"/>
          <a:lstStyle/>
          <a:p>
            <a:pPr indent="0" marL="0">
              <a:buNone/>
            </a:pPr>
            <a:r>
              <a:rPr lang="en-US" sz="1500" b="1" dirty="0">
                <a:solidFill>
                  <a:srgbClr val="38761D"/>
                </a:solidFill>
              </a:rPr>
              <a:t>a code hint</a:t>
            </a:r>
            <a:endParaRPr lang="en-US" sz="1500" dirty="0"/>
          </a:p>
        </p:txBody>
      </p:sp>
      <p:sp>
        <p:nvSpPr>
          <p:cNvPr id="7" name="choice a free check"/>
          <p:cNvSpPr/>
          <p:nvPr/>
        </p:nvSpPr>
        <p:spPr>
          <a:xfrm>
            <a:off x="5157216" y="4892040"/>
            <a:ext cx="1874520" cy="502920"/>
          </a:xfrm>
          <a:prstGeom prst="roundRect">
            <a:avLst>
              <a:gd name="adj" fmla="val 36364"/>
            </a:avLst>
          </a:prstGeom>
          <a:solidFill>
            <a:srgbClr val="E2F0D9"/>
          </a:solidFill>
          <a:ln w="12700">
            <a:solidFill>
              <a:srgbClr val="38761D"/>
            </a:solidFill>
            <a:prstDash val="solid"/>
          </a:ln>
        </p:spPr>
      </p:sp>
      <p:pic>
        <p:nvPicPr>
          <p:cNvPr id="8" name="choice icon check" descr="/NAS/SJ/POSTECH/nlp/figs/icons/check.png">    </p:cNvPr>
          <p:cNvPicPr>
            <a:picLocks noChangeAspect="1"/>
          </p:cNvPicPr>
          <p:nvPr/>
        </p:nvPicPr>
        <p:blipFill>
          <a:blip r:embed="rId2"/>
          <a:stretch>
            <a:fillRect/>
          </a:stretch>
        </p:blipFill>
        <p:spPr>
          <a:xfrm>
            <a:off x="5266944" y="4978908"/>
            <a:ext cx="329184" cy="329184"/>
          </a:xfrm>
          <a:prstGeom prst="rect">
            <a:avLst/>
          </a:prstGeom>
        </p:spPr>
      </p:pic>
      <p:sp>
        <p:nvSpPr>
          <p:cNvPr id="9" name="Text 5"/>
          <p:cNvSpPr txBox="1"/>
          <p:nvPr/>
        </p:nvSpPr>
        <p:spPr>
          <a:xfrm>
            <a:off x="5660136" y="4892040"/>
            <a:ext cx="1371600" cy="502920"/>
          </a:xfrm>
          <a:prstGeom prst="rect">
            <a:avLst/>
          </a:prstGeom>
          <a:noFill/>
          <a:ln/>
        </p:spPr>
        <p:txBody>
          <a:bodyPr wrap="square" lIns="0" tIns="0" rIns="0" bIns="0" rtlCol="0" anchor="ctr"/>
          <a:lstStyle/>
          <a:p>
            <a:pPr indent="0" marL="0">
              <a:buNone/>
            </a:pPr>
            <a:r>
              <a:rPr lang="en-US" sz="1500" b="1" dirty="0">
                <a:solidFill>
                  <a:srgbClr val="38761D"/>
                </a:solidFill>
              </a:rPr>
              <a:t>a free check</a:t>
            </a:r>
            <a:endParaRPr lang="en-US" sz="1500" dirty="0"/>
          </a:p>
        </p:txBody>
      </p:sp>
      <p:sp>
        <p:nvSpPr>
          <p:cNvPr id="10" name="choice more thinking"/>
          <p:cNvSpPr/>
          <p:nvPr/>
        </p:nvSpPr>
        <p:spPr>
          <a:xfrm>
            <a:off x="7168896" y="4892040"/>
            <a:ext cx="1874520" cy="502920"/>
          </a:xfrm>
          <a:prstGeom prst="roundRect">
            <a:avLst>
              <a:gd name="adj" fmla="val 36364"/>
            </a:avLst>
          </a:prstGeom>
          <a:solidFill>
            <a:srgbClr val="FADBD8"/>
          </a:solidFill>
          <a:ln w="12700">
            <a:solidFill>
              <a:srgbClr val="C00000"/>
            </a:solidFill>
            <a:prstDash val="solid"/>
          </a:ln>
        </p:spPr>
      </p:sp>
      <p:pic>
        <p:nvPicPr>
          <p:cNvPr id="11" name="choice icon brain" descr="/NAS/SJ/POSTECH/nlp/figs/icons/brain.png">    </p:cNvPr>
          <p:cNvPicPr>
            <a:picLocks noChangeAspect="1"/>
          </p:cNvPicPr>
          <p:nvPr/>
        </p:nvPicPr>
        <p:blipFill>
          <a:blip r:embed="rId3"/>
          <a:stretch>
            <a:fillRect/>
          </a:stretch>
        </p:blipFill>
        <p:spPr>
          <a:xfrm>
            <a:off x="7278624" y="4978908"/>
            <a:ext cx="329184" cy="329184"/>
          </a:xfrm>
          <a:prstGeom prst="rect">
            <a:avLst/>
          </a:prstGeom>
        </p:spPr>
      </p:pic>
      <p:sp>
        <p:nvSpPr>
          <p:cNvPr id="12" name="Text 7"/>
          <p:cNvSpPr txBox="1"/>
          <p:nvPr/>
        </p:nvSpPr>
        <p:spPr>
          <a:xfrm>
            <a:off x="7671816" y="4892040"/>
            <a:ext cx="1371600" cy="502920"/>
          </a:xfrm>
          <a:prstGeom prst="rect">
            <a:avLst/>
          </a:prstGeom>
          <a:noFill/>
          <a:ln/>
        </p:spPr>
        <p:txBody>
          <a:bodyPr wrap="square" lIns="0" tIns="0" rIns="0" bIns="0" rtlCol="0" anchor="ctr"/>
          <a:lstStyle/>
          <a:p>
            <a:pPr indent="0" marL="0">
              <a:buNone/>
            </a:pPr>
            <a:r>
              <a:rPr lang="en-US" sz="1500" b="1" dirty="0">
                <a:solidFill>
                  <a:srgbClr val="C00000"/>
                </a:solidFill>
              </a:rPr>
              <a:t>more thinking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What we solve, and how hard it is</a:t>
            </a:r>
            <a:endParaRPr lang="en-US" sz="3600" dirty="0"/>
          </a:p>
        </p:txBody>
      </p:sp>
      <p:sp>
        <p:nvSpPr>
          <p:cNvPr id="3" name="family needs the right algorithm"/>
          <p:cNvSpPr/>
          <p:nvPr/>
        </p:nvSpPr>
        <p:spPr>
          <a:xfrm>
            <a:off x="548640" y="1234440"/>
            <a:ext cx="5449824" cy="384048"/>
          </a:xfrm>
          <a:prstGeom prst="roundRect">
            <a:avLst>
              <a:gd name="adj" fmla="val 19048"/>
            </a:avLst>
          </a:prstGeom>
          <a:solidFill>
            <a:srgbClr val="4472C4"/>
          </a:solidFill>
          <a:ln w="12700">
            <a:solidFill>
              <a:srgbClr val="4472C4"/>
            </a:solidFill>
            <a:prstDash val="solid"/>
          </a:ln>
        </p:spPr>
      </p:sp>
      <p:sp>
        <p:nvSpPr>
          <p:cNvPr id="4" name="Text 2"/>
          <p:cNvSpPr txBox="1"/>
          <p:nvPr/>
        </p:nvSpPr>
        <p:spPr>
          <a:xfrm>
            <a:off x="548640" y="1234440"/>
            <a:ext cx="5449824" cy="384048"/>
          </a:xfrm>
          <a:prstGeom prst="rect">
            <a:avLst/>
          </a:prstGeom>
          <a:noFill/>
          <a:ln/>
        </p:spPr>
        <p:txBody>
          <a:bodyPr wrap="square" lIns="0" tIns="0" rIns="0" bIns="0" rtlCol="0" anchor="ctr"/>
          <a:lstStyle/>
          <a:p>
            <a:pPr algn="ctr" indent="0" marL="0">
              <a:buNone/>
            </a:pPr>
            <a:r>
              <a:rPr lang="en-US" sz="1600" b="1" dirty="0">
                <a:solidFill>
                  <a:srgbClr val="FFFFFF"/>
                </a:solidFill>
              </a:rPr>
              <a:t>needs the right algorithm</a:t>
            </a:r>
            <a:endParaRPr lang="en-US" sz="1600" dirty="0"/>
          </a:p>
        </p:txBody>
      </p:sp>
      <p:sp>
        <p:nvSpPr>
          <p:cNvPr id="5" name="family needs the right solver call"/>
          <p:cNvSpPr/>
          <p:nvPr/>
        </p:nvSpPr>
        <p:spPr>
          <a:xfrm>
            <a:off x="6163056" y="1234440"/>
            <a:ext cx="5449824" cy="384048"/>
          </a:xfrm>
          <a:prstGeom prst="roundRect">
            <a:avLst>
              <a:gd name="adj" fmla="val 19048"/>
            </a:avLst>
          </a:prstGeom>
          <a:solidFill>
            <a:srgbClr val="38761D"/>
          </a:solidFill>
          <a:ln w="12700">
            <a:solidFill>
              <a:srgbClr val="38761D"/>
            </a:solidFill>
            <a:prstDash val="solid"/>
          </a:ln>
        </p:spPr>
      </p:sp>
      <p:sp>
        <p:nvSpPr>
          <p:cNvPr id="6" name="Text 4"/>
          <p:cNvSpPr txBox="1"/>
          <p:nvPr/>
        </p:nvSpPr>
        <p:spPr>
          <a:xfrm>
            <a:off x="6163056" y="1234440"/>
            <a:ext cx="5449824" cy="384048"/>
          </a:xfrm>
          <a:prstGeom prst="rect">
            <a:avLst/>
          </a:prstGeom>
          <a:noFill/>
          <a:ln/>
        </p:spPr>
        <p:txBody>
          <a:bodyPr wrap="square" lIns="0" tIns="0" rIns="0" bIns="0" rtlCol="0" anchor="ctr"/>
          <a:lstStyle/>
          <a:p>
            <a:pPr algn="ctr" indent="0" marL="0">
              <a:buNone/>
            </a:pPr>
            <a:r>
              <a:rPr lang="en-US" sz="1600" b="1" dirty="0">
                <a:solidFill>
                  <a:srgbClr val="FFFFFF"/>
                </a:solidFill>
              </a:rPr>
              <a:t>needs the right solver call</a:t>
            </a:r>
            <a:endParaRPr lang="en-US" sz="1600" dirty="0"/>
          </a:p>
        </p:txBody>
      </p:sp>
      <p:sp>
        <p:nvSpPr>
          <p:cNvPr id="7" name="kind Geometry"/>
          <p:cNvSpPr/>
          <p:nvPr/>
        </p:nvSpPr>
        <p:spPr>
          <a:xfrm>
            <a:off x="548640" y="1737360"/>
            <a:ext cx="2651760" cy="3611880"/>
          </a:xfrm>
          <a:prstGeom prst="roundRect">
            <a:avLst>
              <a:gd name="adj" fmla="val 2759"/>
            </a:avLst>
          </a:prstGeom>
          <a:solidFill>
            <a:srgbClr val="F7F7F7"/>
          </a:solidFill>
          <a:ln w="9525">
            <a:solidFill>
              <a:srgbClr val="D9D9D9"/>
            </a:solidFill>
            <a:prstDash val="solid"/>
          </a:ln>
        </p:spPr>
      </p:sp>
      <p:pic>
        <p:nvPicPr>
          <p:cNvPr id="8" name="icon shapes" descr="/NAS/SJ/POSTECH/nlp/figs/icons/shapes.png">    </p:cNvPr>
          <p:cNvPicPr>
            <a:picLocks noChangeAspect="1"/>
          </p:cNvPicPr>
          <p:nvPr/>
        </p:nvPicPr>
        <p:blipFill>
          <a:blip r:embed="rId1"/>
          <a:stretch>
            <a:fillRect/>
          </a:stretch>
        </p:blipFill>
        <p:spPr>
          <a:xfrm>
            <a:off x="1508760" y="1874520"/>
            <a:ext cx="731520" cy="731520"/>
          </a:xfrm>
          <a:prstGeom prst="rect">
            <a:avLst/>
          </a:prstGeom>
        </p:spPr>
      </p:pic>
      <p:sp>
        <p:nvSpPr>
          <p:cNvPr id="9" name="Text 6"/>
          <p:cNvSpPr txBox="1"/>
          <p:nvPr/>
        </p:nvSpPr>
        <p:spPr>
          <a:xfrm>
            <a:off x="640080" y="2697480"/>
            <a:ext cx="2468880" cy="457200"/>
          </a:xfrm>
          <a:prstGeom prst="rect">
            <a:avLst/>
          </a:prstGeom>
          <a:noFill/>
          <a:ln/>
        </p:spPr>
        <p:txBody>
          <a:bodyPr wrap="square" lIns="0" tIns="0" rIns="0" bIns="0" rtlCol="0" anchor="ctr"/>
          <a:lstStyle/>
          <a:p>
            <a:pPr algn="ctr" indent="0" marL="0">
              <a:buNone/>
            </a:pPr>
            <a:r>
              <a:rPr lang="en-US" sz="1900" b="1" dirty="0">
                <a:solidFill>
                  <a:schemeClr val="tx1"/>
                </a:solidFill>
              </a:rPr>
              <a:t>Geometry</a:t>
            </a:r>
            <a:endParaRPr lang="en-US" sz="1900" dirty="0"/>
          </a:p>
        </p:txBody>
      </p:sp>
      <p:sp>
        <p:nvSpPr>
          <p:cNvPr id="10" name="Text 7"/>
          <p:cNvSpPr txBox="1"/>
          <p:nvPr/>
        </p:nvSpPr>
        <p:spPr>
          <a:xfrm>
            <a:off x="731520" y="3200400"/>
            <a:ext cx="2286000" cy="914400"/>
          </a:xfrm>
          <a:prstGeom prst="rect">
            <a:avLst/>
          </a:prstGeom>
          <a:noFill/>
          <a:ln/>
        </p:spPr>
        <p:txBody>
          <a:bodyPr wrap="square" lIns="0" tIns="0" rIns="0" bIns="0" rtlCol="0" anchor="t"/>
          <a:lstStyle/>
          <a:p>
            <a:pPr algn="ctr" indent="0" marL="0">
              <a:buNone/>
            </a:pPr>
            <a:r>
              <a:rPr lang="en-US" sz="1500" dirty="0">
                <a:solidFill>
                  <a:schemeClr val="tx1"/>
                </a:solidFill>
              </a:rPr>
              <a:t>corners of the rubber band around 10 points</a:t>
            </a:r>
            <a:endParaRPr lang="en-US" sz="1500" dirty="0"/>
          </a:p>
        </p:txBody>
      </p:sp>
      <p:sp>
        <p:nvSpPr>
          <p:cNvPr id="11" name="tag Geometry"/>
          <p:cNvSpPr/>
          <p:nvPr/>
        </p:nvSpPr>
        <p:spPr>
          <a:xfrm>
            <a:off x="685800" y="4297680"/>
            <a:ext cx="2377440" cy="868680"/>
          </a:xfrm>
          <a:prstGeom prst="roundRect">
            <a:avLst>
              <a:gd name="adj" fmla="val 10526"/>
            </a:avLst>
          </a:prstGeom>
          <a:solidFill>
            <a:srgbClr val="FFFFFF"/>
          </a:solidFill>
          <a:ln w="15875">
            <a:solidFill>
              <a:srgbClr val="4472C4"/>
            </a:solidFill>
            <a:prstDash val="solid"/>
          </a:ln>
        </p:spPr>
      </p:sp>
      <p:sp>
        <p:nvSpPr>
          <p:cNvPr id="12" name="Text 9"/>
          <p:cNvSpPr txBox="1"/>
          <p:nvPr/>
        </p:nvSpPr>
        <p:spPr>
          <a:xfrm>
            <a:off x="731520" y="4297680"/>
            <a:ext cx="2286000" cy="868680"/>
          </a:xfrm>
          <a:prstGeom prst="rect">
            <a:avLst/>
          </a:prstGeom>
          <a:noFill/>
          <a:ln/>
        </p:spPr>
        <p:txBody>
          <a:bodyPr wrap="square" lIns="0" tIns="0" rIns="0" bIns="0" rtlCol="0" anchor="ctr"/>
          <a:lstStyle/>
          <a:p>
            <a:pPr algn="ctr" indent="0" marL="0">
              <a:buNone/>
            </a:pPr>
            <a:r>
              <a:rPr lang="en-US" sz="1500" b="1" dirty="0">
                <a:solidFill>
                  <a:srgbClr val="4472C4"/>
                </a:solidFill>
              </a:rPr>
              <a:t>textbook algorithms, exact on every copy</a:t>
            </a:r>
            <a:endParaRPr lang="en-US" sz="1500" dirty="0"/>
          </a:p>
        </p:txBody>
      </p:sp>
      <p:sp>
        <p:nvSpPr>
          <p:cNvPr id="13" name="kind Contest problems"/>
          <p:cNvSpPr/>
          <p:nvPr/>
        </p:nvSpPr>
        <p:spPr>
          <a:xfrm>
            <a:off x="3355848" y="1737360"/>
            <a:ext cx="2651760" cy="3611880"/>
          </a:xfrm>
          <a:prstGeom prst="roundRect">
            <a:avLst>
              <a:gd name="adj" fmla="val 2759"/>
            </a:avLst>
          </a:prstGeom>
          <a:solidFill>
            <a:srgbClr val="F7F7F7"/>
          </a:solidFill>
          <a:ln w="9525">
            <a:solidFill>
              <a:srgbClr val="D9D9D9"/>
            </a:solidFill>
            <a:prstDash val="solid"/>
          </a:ln>
        </p:spPr>
      </p:sp>
      <p:pic>
        <p:nvPicPr>
          <p:cNvPr id="14" name="icon trophy" descr="/NAS/SJ/POSTECH/nlp/figs/icons/trophy.png">    </p:cNvPr>
          <p:cNvPicPr>
            <a:picLocks noChangeAspect="1"/>
          </p:cNvPicPr>
          <p:nvPr/>
        </p:nvPicPr>
        <p:blipFill>
          <a:blip r:embed="rId2"/>
          <a:stretch>
            <a:fillRect/>
          </a:stretch>
        </p:blipFill>
        <p:spPr>
          <a:xfrm>
            <a:off x="4315968" y="1874520"/>
            <a:ext cx="731520" cy="731520"/>
          </a:xfrm>
          <a:prstGeom prst="rect">
            <a:avLst/>
          </a:prstGeom>
        </p:spPr>
      </p:pic>
      <p:sp>
        <p:nvSpPr>
          <p:cNvPr id="15" name="Text 11"/>
          <p:cNvSpPr txBox="1"/>
          <p:nvPr/>
        </p:nvSpPr>
        <p:spPr>
          <a:xfrm>
            <a:off x="3447288" y="2697480"/>
            <a:ext cx="2468880" cy="457200"/>
          </a:xfrm>
          <a:prstGeom prst="rect">
            <a:avLst/>
          </a:prstGeom>
          <a:noFill/>
          <a:ln/>
        </p:spPr>
        <p:txBody>
          <a:bodyPr wrap="square" lIns="0" tIns="0" rIns="0" bIns="0" rtlCol="0" anchor="ctr"/>
          <a:lstStyle/>
          <a:p>
            <a:pPr algn="ctr" indent="0" marL="0">
              <a:buNone/>
            </a:pPr>
            <a:r>
              <a:rPr lang="en-US" sz="1900" b="1" dirty="0">
                <a:solidFill>
                  <a:schemeClr val="tx1"/>
                </a:solidFill>
              </a:rPr>
              <a:t>Contest problems</a:t>
            </a:r>
            <a:endParaRPr lang="en-US" sz="1900" dirty="0"/>
          </a:p>
        </p:txBody>
      </p:sp>
      <p:sp>
        <p:nvSpPr>
          <p:cNvPr id="16" name="Text 12"/>
          <p:cNvSpPr txBox="1"/>
          <p:nvPr/>
        </p:nvSpPr>
        <p:spPr>
          <a:xfrm>
            <a:off x="3538728" y="3200400"/>
            <a:ext cx="2286000" cy="914400"/>
          </a:xfrm>
          <a:prstGeom prst="rect">
            <a:avLst/>
          </a:prstGeom>
          <a:noFill/>
          <a:ln/>
        </p:spPr>
        <p:txBody>
          <a:bodyPr wrap="square" lIns="0" tIns="0" rIns="0" bIns="0" rtlCol="0" anchor="t"/>
          <a:lstStyle/>
          <a:p>
            <a:pPr algn="ctr" indent="0" marL="0">
              <a:buNone/>
            </a:pPr>
            <a:r>
              <a:rPr lang="en-US" sz="1500" dirty="0">
                <a:solidFill>
                  <a:schemeClr val="tx1"/>
                </a:solidFill>
              </a:rPr>
              <a:t>311 Codeforces geometry problems</a:t>
            </a:r>
            <a:endParaRPr lang="en-US" sz="1500" dirty="0"/>
          </a:p>
        </p:txBody>
      </p:sp>
      <p:sp>
        <p:nvSpPr>
          <p:cNvPr id="17" name="tag Contest problems"/>
          <p:cNvSpPr/>
          <p:nvPr/>
        </p:nvSpPr>
        <p:spPr>
          <a:xfrm>
            <a:off x="3493008" y="4297680"/>
            <a:ext cx="2377440" cy="868680"/>
          </a:xfrm>
          <a:prstGeom prst="roundRect">
            <a:avLst>
              <a:gd name="adj" fmla="val 10526"/>
            </a:avLst>
          </a:prstGeom>
          <a:solidFill>
            <a:srgbClr val="FFFFFF"/>
          </a:solidFill>
          <a:ln w="15875">
            <a:solidFill>
              <a:srgbClr val="C00000"/>
            </a:solidFill>
            <a:prstDash val="solid"/>
          </a:ln>
        </p:spPr>
      </p:sp>
      <p:sp>
        <p:nvSpPr>
          <p:cNvPr id="18" name="Text 14"/>
          <p:cNvSpPr txBox="1"/>
          <p:nvPr/>
        </p:nvSpPr>
        <p:spPr>
          <a:xfrm>
            <a:off x="3538728" y="4297680"/>
            <a:ext cx="2286000" cy="868680"/>
          </a:xfrm>
          <a:prstGeom prst="rect">
            <a:avLst/>
          </a:prstGeom>
          <a:noFill/>
          <a:ln/>
        </p:spPr>
        <p:txBody>
          <a:bodyPr wrap="square" lIns="0" tIns="0" rIns="0" bIns="0" rtlCol="0" anchor="ctr"/>
          <a:lstStyle/>
          <a:p>
            <a:pPr algn="ctr" indent="0" marL="0">
              <a:buNone/>
            </a:pPr>
            <a:r>
              <a:rPr lang="en-US" sz="1500" b="1" dirty="0">
                <a:solidFill>
                  <a:srgbClr val="C00000"/>
                </a:solidFill>
              </a:rPr>
              <a:t>Codeforces Master to Grandmaster level</a:t>
            </a:r>
            <a:endParaRPr lang="en-US" sz="1500" dirty="0"/>
          </a:p>
        </p:txBody>
      </p:sp>
      <p:sp>
        <p:nvSpPr>
          <p:cNvPr id="19" name="kind Routing, scheduling"/>
          <p:cNvSpPr/>
          <p:nvPr/>
        </p:nvSpPr>
        <p:spPr>
          <a:xfrm>
            <a:off x="6163056" y="1737360"/>
            <a:ext cx="2651760" cy="3611880"/>
          </a:xfrm>
          <a:prstGeom prst="roundRect">
            <a:avLst>
              <a:gd name="adj" fmla="val 2759"/>
            </a:avLst>
          </a:prstGeom>
          <a:solidFill>
            <a:srgbClr val="F7F7F7"/>
          </a:solidFill>
          <a:ln w="9525">
            <a:solidFill>
              <a:srgbClr val="D9D9D9"/>
            </a:solidFill>
            <a:prstDash val="solid"/>
          </a:ln>
        </p:spPr>
      </p:sp>
      <p:pic>
        <p:nvPicPr>
          <p:cNvPr id="20" name="icon truck" descr="/NAS/SJ/POSTECH/nlp/figs/icons/truck.png">    </p:cNvPr>
          <p:cNvPicPr>
            <a:picLocks noChangeAspect="1"/>
          </p:cNvPicPr>
          <p:nvPr/>
        </p:nvPicPr>
        <p:blipFill>
          <a:blip r:embed="rId3"/>
          <a:stretch>
            <a:fillRect/>
          </a:stretch>
        </p:blipFill>
        <p:spPr>
          <a:xfrm>
            <a:off x="7123176" y="1874520"/>
            <a:ext cx="731520" cy="731520"/>
          </a:xfrm>
          <a:prstGeom prst="rect">
            <a:avLst/>
          </a:prstGeom>
        </p:spPr>
      </p:pic>
      <p:sp>
        <p:nvSpPr>
          <p:cNvPr id="21" name="Text 16"/>
          <p:cNvSpPr txBox="1"/>
          <p:nvPr/>
        </p:nvSpPr>
        <p:spPr>
          <a:xfrm>
            <a:off x="6254496" y="2697480"/>
            <a:ext cx="2468880" cy="457200"/>
          </a:xfrm>
          <a:prstGeom prst="rect">
            <a:avLst/>
          </a:prstGeom>
          <a:noFill/>
          <a:ln/>
        </p:spPr>
        <p:txBody>
          <a:bodyPr wrap="square" lIns="0" tIns="0" rIns="0" bIns="0" rtlCol="0" anchor="ctr"/>
          <a:lstStyle/>
          <a:p>
            <a:pPr algn="ctr" indent="0" marL="0">
              <a:buNone/>
            </a:pPr>
            <a:r>
              <a:rPr lang="en-US" sz="1900" b="1" dirty="0">
                <a:solidFill>
                  <a:schemeClr val="tx1"/>
                </a:solidFill>
              </a:rPr>
              <a:t>Routing, scheduling</a:t>
            </a:r>
            <a:endParaRPr lang="en-US" sz="1900" dirty="0"/>
          </a:p>
        </p:txBody>
      </p:sp>
      <p:sp>
        <p:nvSpPr>
          <p:cNvPr id="22" name="Text 17"/>
          <p:cNvSpPr txBox="1"/>
          <p:nvPr/>
        </p:nvSpPr>
        <p:spPr>
          <a:xfrm>
            <a:off x="6345936" y="3200400"/>
            <a:ext cx="2286000" cy="914400"/>
          </a:xfrm>
          <a:prstGeom prst="rect">
            <a:avLst/>
          </a:prstGeom>
          <a:noFill/>
          <a:ln/>
        </p:spPr>
        <p:txBody>
          <a:bodyPr wrap="square" lIns="0" tIns="0" rIns="0" bIns="0" rtlCol="0" anchor="t"/>
          <a:lstStyle/>
          <a:p>
            <a:pPr algn="ctr" indent="0" marL="0">
              <a:buNone/>
            </a:pPr>
            <a:r>
              <a:rPr lang="en-US" sz="1500" dirty="0">
                <a:solidFill>
                  <a:schemeClr val="tx1"/>
                </a:solidFill>
              </a:rPr>
              <a:t>routes for 100 customers with time windows</a:t>
            </a:r>
            <a:endParaRPr lang="en-US" sz="1500" dirty="0"/>
          </a:p>
        </p:txBody>
      </p:sp>
      <p:sp>
        <p:nvSpPr>
          <p:cNvPr id="23" name="tag Routing, scheduling"/>
          <p:cNvSpPr/>
          <p:nvPr/>
        </p:nvSpPr>
        <p:spPr>
          <a:xfrm>
            <a:off x="6300216" y="4297680"/>
            <a:ext cx="2377440" cy="868680"/>
          </a:xfrm>
          <a:prstGeom prst="roundRect">
            <a:avLst>
              <a:gd name="adj" fmla="val 10526"/>
            </a:avLst>
          </a:prstGeom>
          <a:solidFill>
            <a:srgbClr val="FFFFFF"/>
          </a:solidFill>
          <a:ln w="15875">
            <a:solidFill>
              <a:srgbClr val="ED7D31"/>
            </a:solidFill>
            <a:prstDash val="solid"/>
          </a:ln>
        </p:spPr>
      </p:sp>
      <p:sp>
        <p:nvSpPr>
          <p:cNvPr id="24" name="Text 19"/>
          <p:cNvSpPr txBox="1"/>
          <p:nvPr/>
        </p:nvSpPr>
        <p:spPr>
          <a:xfrm>
            <a:off x="6345936" y="4297680"/>
            <a:ext cx="2286000" cy="868680"/>
          </a:xfrm>
          <a:prstGeom prst="rect">
            <a:avLst/>
          </a:prstGeom>
          <a:noFill/>
          <a:ln/>
        </p:spPr>
        <p:txBody>
          <a:bodyPr wrap="square" lIns="0" tIns="0" rIns="0" bIns="0" rtlCol="0" anchor="ctr"/>
          <a:lstStyle/>
          <a:p>
            <a:pPr algn="ctr" indent="0" marL="0">
              <a:buNone/>
            </a:pPr>
            <a:r>
              <a:rPr lang="en-US" sz="1500" b="1" dirty="0">
                <a:solidFill>
                  <a:srgbClr val="ED7D31"/>
                </a:solidFill>
              </a:rPr>
              <a:t>a simple plan drives 48% farther</a:t>
            </a:r>
            <a:endParaRPr lang="en-US" sz="1500" dirty="0"/>
          </a:p>
        </p:txBody>
      </p:sp>
      <p:sp>
        <p:nvSpPr>
          <p:cNvPr id="25" name="kind Word problems"/>
          <p:cNvSpPr/>
          <p:nvPr/>
        </p:nvSpPr>
        <p:spPr>
          <a:xfrm>
            <a:off x="8970264" y="1737360"/>
            <a:ext cx="2651760" cy="3611880"/>
          </a:xfrm>
          <a:prstGeom prst="roundRect">
            <a:avLst>
              <a:gd name="adj" fmla="val 2759"/>
            </a:avLst>
          </a:prstGeom>
          <a:solidFill>
            <a:srgbClr val="F7F7F7"/>
          </a:solidFill>
          <a:ln w="9525">
            <a:solidFill>
              <a:srgbClr val="D9D9D9"/>
            </a:solidFill>
            <a:prstDash val="solid"/>
          </a:ln>
        </p:spPr>
      </p:sp>
      <p:pic>
        <p:nvPicPr>
          <p:cNvPr id="26" name="icon calc" descr="/NAS/SJ/POSTECH/nlp/figs/icons/calc.png">    </p:cNvPr>
          <p:cNvPicPr>
            <a:picLocks noChangeAspect="1"/>
          </p:cNvPicPr>
          <p:nvPr/>
        </p:nvPicPr>
        <p:blipFill>
          <a:blip r:embed="rId4"/>
          <a:stretch>
            <a:fillRect/>
          </a:stretch>
        </p:blipFill>
        <p:spPr>
          <a:xfrm>
            <a:off x="9930384" y="1874520"/>
            <a:ext cx="731520" cy="731520"/>
          </a:xfrm>
          <a:prstGeom prst="rect">
            <a:avLst/>
          </a:prstGeom>
        </p:spPr>
      </p:pic>
      <p:sp>
        <p:nvSpPr>
          <p:cNvPr id="27" name="Text 21"/>
          <p:cNvSpPr txBox="1"/>
          <p:nvPr/>
        </p:nvSpPr>
        <p:spPr>
          <a:xfrm>
            <a:off x="9061704" y="2697480"/>
            <a:ext cx="2468880" cy="457200"/>
          </a:xfrm>
          <a:prstGeom prst="rect">
            <a:avLst/>
          </a:prstGeom>
          <a:noFill/>
          <a:ln/>
        </p:spPr>
        <p:txBody>
          <a:bodyPr wrap="square" lIns="0" tIns="0" rIns="0" bIns="0" rtlCol="0" anchor="ctr"/>
          <a:lstStyle/>
          <a:p>
            <a:pPr algn="ctr" indent="0" marL="0">
              <a:buNone/>
            </a:pPr>
            <a:r>
              <a:rPr lang="en-US" sz="1900" b="1" dirty="0">
                <a:solidFill>
                  <a:schemeClr val="tx1"/>
                </a:solidFill>
              </a:rPr>
              <a:t>Word problems</a:t>
            </a:r>
            <a:endParaRPr lang="en-US" sz="1900" dirty="0"/>
          </a:p>
        </p:txBody>
      </p:sp>
      <p:sp>
        <p:nvSpPr>
          <p:cNvPr id="28" name="Text 22"/>
          <p:cNvSpPr txBox="1"/>
          <p:nvPr/>
        </p:nvSpPr>
        <p:spPr>
          <a:xfrm>
            <a:off x="9153144" y="3200400"/>
            <a:ext cx="2286000" cy="914400"/>
          </a:xfrm>
          <a:prstGeom prst="rect">
            <a:avLst/>
          </a:prstGeom>
          <a:noFill/>
          <a:ln/>
        </p:spPr>
        <p:txBody>
          <a:bodyPr wrap="square" lIns="0" tIns="0" rIns="0" bIns="0" rtlCol="0" anchor="t"/>
          <a:lstStyle/>
          <a:p>
            <a:pPr algn="ctr" indent="0" marL="0">
              <a:buNone/>
            </a:pPr>
            <a:r>
              <a:rPr lang="en-US" sz="1500" dirty="0">
                <a:solidFill>
                  <a:schemeClr val="tx1"/>
                </a:solidFill>
              </a:rPr>
              <a:t>most coins from 500 gold and 300 wires?</a:t>
            </a:r>
            <a:endParaRPr lang="en-US" sz="1500" dirty="0"/>
          </a:p>
        </p:txBody>
      </p:sp>
      <p:sp>
        <p:nvSpPr>
          <p:cNvPr id="29" name="tag Word problems"/>
          <p:cNvSpPr/>
          <p:nvPr/>
        </p:nvSpPr>
        <p:spPr>
          <a:xfrm>
            <a:off x="9107424" y="4297680"/>
            <a:ext cx="2377440" cy="868680"/>
          </a:xfrm>
          <a:prstGeom prst="roundRect">
            <a:avLst>
              <a:gd name="adj" fmla="val 10526"/>
            </a:avLst>
          </a:prstGeom>
          <a:solidFill>
            <a:srgbClr val="FFFFFF"/>
          </a:solidFill>
          <a:ln w="15875">
            <a:solidFill>
              <a:srgbClr val="38761D"/>
            </a:solidFill>
            <a:prstDash val="solid"/>
          </a:ln>
        </p:spPr>
      </p:sp>
      <p:sp>
        <p:nvSpPr>
          <p:cNvPr id="30" name="Text 24"/>
          <p:cNvSpPr txBox="1"/>
          <p:nvPr/>
        </p:nvSpPr>
        <p:spPr>
          <a:xfrm>
            <a:off x="9153144" y="4297680"/>
            <a:ext cx="2286000" cy="868680"/>
          </a:xfrm>
          <a:prstGeom prst="rect">
            <a:avLst/>
          </a:prstGeom>
          <a:noFill/>
          <a:ln/>
        </p:spPr>
        <p:txBody>
          <a:bodyPr wrap="square" lIns="0" tIns="0" rIns="0" bIns="0" rtlCol="0" anchor="ctr"/>
          <a:lstStyle/>
          <a:p>
            <a:pPr algn="ctr" indent="0" marL="0">
              <a:buNone/>
            </a:pPr>
            <a:r>
              <a:rPr lang="en-US" sz="1500" b="1" dirty="0">
                <a:solidFill>
                  <a:srgbClr val="38761D"/>
                </a:solidFill>
              </a:rPr>
              <a:t>university operations-research exercises</a:t>
            </a:r>
            <a:endParaRPr lang="en-US" sz="1500" dirty="0"/>
          </a:p>
        </p:txBody>
      </p:sp>
      <p:sp>
        <p:nvSpPr>
          <p:cNvPr id="31" name="Text 25"/>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Why these: exact answers that code can grade, and each kind needs something different</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Let the computer do the math</a:t>
            </a:r>
            <a:endParaRPr lang="en-US" sz="36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algn="ctr" indent="0" marL="0">
              <a:buNone/>
            </a:pPr>
            <a:r>
              <a:rPr lang="en-US" sz="1800" dirty="0">
                <a:solidFill>
                  <a:schemeClr val="tx1"/>
                </a:solidFill>
              </a:rPr>
              <a:t>Qwen3-8B, asked for twice the area of one shape: moved, turned or flipped, it is always 436</a:t>
            </a:r>
            <a:endParaRPr lang="en-US" sz="1800" dirty="0"/>
          </a:p>
        </p:txBody>
      </p:sp>
      <p:pic>
        <p:nvPicPr>
          <p:cNvPr id="4" name="four copies of one polygon" descr="one polygon: original, moved, turned, flipped">    </p:cNvPr>
          <p:cNvPicPr>
            <a:picLocks noChangeAspect="1"/>
          </p:cNvPicPr>
          <p:nvPr/>
        </p:nvPicPr>
        <p:blipFill>
          <a:blip r:embed="rId1"/>
          <a:stretch>
            <a:fillRect/>
          </a:stretch>
        </p:blipFill>
        <p:spPr>
          <a:xfrm>
            <a:off x="3566160" y="1783080"/>
            <a:ext cx="8046720" cy="1737360"/>
          </a:xfrm>
          <a:prstGeom prst="rect">
            <a:avLst/>
          </a:prstGeom>
        </p:spPr>
      </p:pic>
      <p:sp>
        <p:nvSpPr>
          <p:cNvPr id="5" name="Text 2"/>
          <p:cNvSpPr txBox="1"/>
          <p:nvPr/>
        </p:nvSpPr>
        <p:spPr>
          <a:xfrm>
            <a:off x="548640" y="3886200"/>
            <a:ext cx="2926080" cy="548640"/>
          </a:xfrm>
          <a:prstGeom prst="rect">
            <a:avLst/>
          </a:prstGeom>
          <a:noFill/>
          <a:ln/>
        </p:spPr>
        <p:txBody>
          <a:bodyPr wrap="square" lIns="0" tIns="0" rIns="0" bIns="0" rtlCol="0" anchor="ctr"/>
          <a:lstStyle/>
          <a:p>
            <a:pPr indent="0" marL="0">
              <a:buNone/>
            </a:pPr>
            <a:r>
              <a:rPr lang="en-US" sz="2200" b="1" dirty="0">
                <a:solidFill>
                  <a:schemeClr val="tx1"/>
                </a:solidFill>
              </a:rPr>
              <a:t>Answer in words</a:t>
            </a:r>
            <a:endParaRPr lang="en-US" sz="2200" dirty="0"/>
          </a:p>
        </p:txBody>
      </p:sp>
      <p:sp>
        <p:nvSpPr>
          <p:cNvPr id="6" name="answer 436 ✓"/>
          <p:cNvSpPr/>
          <p:nvPr/>
        </p:nvSpPr>
        <p:spPr>
          <a:xfrm>
            <a:off x="3794760" y="3886200"/>
            <a:ext cx="1554480" cy="548640"/>
          </a:xfrm>
          <a:prstGeom prst="roundRect">
            <a:avLst>
              <a:gd name="adj" fmla="val 16667"/>
            </a:avLst>
          </a:prstGeom>
          <a:solidFill>
            <a:srgbClr val="E2F0D9"/>
          </a:solidFill>
          <a:ln w="12700">
            <a:solidFill>
              <a:srgbClr val="70AD47"/>
            </a:solidFill>
            <a:prstDash val="solid"/>
          </a:ln>
        </p:spPr>
      </p:sp>
      <p:sp>
        <p:nvSpPr>
          <p:cNvPr id="7" name="Text 4"/>
          <p:cNvSpPr txBox="1"/>
          <p:nvPr/>
        </p:nvSpPr>
        <p:spPr>
          <a:xfrm>
            <a:off x="3794760" y="388620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8" name="answer 2944 ✗"/>
          <p:cNvSpPr/>
          <p:nvPr/>
        </p:nvSpPr>
        <p:spPr>
          <a:xfrm>
            <a:off x="5806440" y="3886200"/>
            <a:ext cx="1554480" cy="548640"/>
          </a:xfrm>
          <a:prstGeom prst="roundRect">
            <a:avLst>
              <a:gd name="adj" fmla="val 16667"/>
            </a:avLst>
          </a:prstGeom>
          <a:solidFill>
            <a:srgbClr val="FADBD8"/>
          </a:solidFill>
          <a:ln w="12700">
            <a:solidFill>
              <a:srgbClr val="C00000"/>
            </a:solidFill>
            <a:prstDash val="solid"/>
          </a:ln>
        </p:spPr>
      </p:sp>
      <p:sp>
        <p:nvSpPr>
          <p:cNvPr id="9" name="Text 6"/>
          <p:cNvSpPr txBox="1"/>
          <p:nvPr/>
        </p:nvSpPr>
        <p:spPr>
          <a:xfrm>
            <a:off x="5806440" y="3886200"/>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2944 ✗</a:t>
            </a:r>
            <a:endParaRPr lang="en-US" sz="2200" dirty="0"/>
          </a:p>
        </p:txBody>
      </p:sp>
      <p:sp>
        <p:nvSpPr>
          <p:cNvPr id="10" name="answer 392 ✗"/>
          <p:cNvSpPr/>
          <p:nvPr/>
        </p:nvSpPr>
        <p:spPr>
          <a:xfrm>
            <a:off x="7818120" y="3886200"/>
            <a:ext cx="1554480" cy="548640"/>
          </a:xfrm>
          <a:prstGeom prst="roundRect">
            <a:avLst>
              <a:gd name="adj" fmla="val 16667"/>
            </a:avLst>
          </a:prstGeom>
          <a:solidFill>
            <a:srgbClr val="FADBD8"/>
          </a:solidFill>
          <a:ln w="12700">
            <a:solidFill>
              <a:srgbClr val="C00000"/>
            </a:solidFill>
            <a:prstDash val="solid"/>
          </a:ln>
        </p:spPr>
      </p:sp>
      <p:sp>
        <p:nvSpPr>
          <p:cNvPr id="11" name="Text 8"/>
          <p:cNvSpPr txBox="1"/>
          <p:nvPr/>
        </p:nvSpPr>
        <p:spPr>
          <a:xfrm>
            <a:off x="7818120" y="3886200"/>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392 ✗</a:t>
            </a:r>
            <a:endParaRPr lang="en-US" sz="2200" dirty="0"/>
          </a:p>
        </p:txBody>
      </p:sp>
      <p:sp>
        <p:nvSpPr>
          <p:cNvPr id="12" name="answer 728 ✗"/>
          <p:cNvSpPr/>
          <p:nvPr/>
        </p:nvSpPr>
        <p:spPr>
          <a:xfrm>
            <a:off x="9829800" y="3886200"/>
            <a:ext cx="1554480" cy="548640"/>
          </a:xfrm>
          <a:prstGeom prst="roundRect">
            <a:avLst>
              <a:gd name="adj" fmla="val 16667"/>
            </a:avLst>
          </a:prstGeom>
          <a:solidFill>
            <a:srgbClr val="FADBD8"/>
          </a:solidFill>
          <a:ln w="12700">
            <a:solidFill>
              <a:srgbClr val="C00000"/>
            </a:solidFill>
            <a:prstDash val="solid"/>
          </a:ln>
        </p:spPr>
      </p:sp>
      <p:sp>
        <p:nvSpPr>
          <p:cNvPr id="13" name="Text 10"/>
          <p:cNvSpPr txBox="1"/>
          <p:nvPr/>
        </p:nvSpPr>
        <p:spPr>
          <a:xfrm>
            <a:off x="9829800" y="3886200"/>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728 ✗</a:t>
            </a:r>
            <a:endParaRPr lang="en-US" sz="2200" dirty="0"/>
          </a:p>
        </p:txBody>
      </p:sp>
      <p:sp>
        <p:nvSpPr>
          <p:cNvPr id="14" name="Text 11"/>
          <p:cNvSpPr txBox="1"/>
          <p:nvPr/>
        </p:nvSpPr>
        <p:spPr>
          <a:xfrm>
            <a:off x="548640" y="4663440"/>
            <a:ext cx="2926080" cy="548640"/>
          </a:xfrm>
          <a:prstGeom prst="rect">
            <a:avLst/>
          </a:prstGeom>
          <a:noFill/>
          <a:ln/>
        </p:spPr>
        <p:txBody>
          <a:bodyPr wrap="square" lIns="0" tIns="0" rIns="0" bIns="0" rtlCol="0" anchor="ctr"/>
          <a:lstStyle/>
          <a:p>
            <a:pPr indent="0" marL="0">
              <a:buNone/>
            </a:pPr>
            <a:r>
              <a:rPr lang="en-US" sz="2200" b="1" dirty="0">
                <a:solidFill>
                  <a:schemeClr val="tx1"/>
                </a:solidFill>
              </a:rPr>
              <a:t>Write a program</a:t>
            </a:r>
            <a:endParaRPr lang="en-US" sz="2200" dirty="0"/>
          </a:p>
        </p:txBody>
      </p:sp>
      <p:sp>
        <p:nvSpPr>
          <p:cNvPr id="15" name="answer 436 ✓"/>
          <p:cNvSpPr/>
          <p:nvPr/>
        </p:nvSpPr>
        <p:spPr>
          <a:xfrm>
            <a:off x="3794760" y="4663440"/>
            <a:ext cx="1554480" cy="548640"/>
          </a:xfrm>
          <a:prstGeom prst="roundRect">
            <a:avLst>
              <a:gd name="adj" fmla="val 16667"/>
            </a:avLst>
          </a:prstGeom>
          <a:solidFill>
            <a:srgbClr val="E2F0D9"/>
          </a:solidFill>
          <a:ln w="12700">
            <a:solidFill>
              <a:srgbClr val="70AD47"/>
            </a:solidFill>
            <a:prstDash val="solid"/>
          </a:ln>
        </p:spPr>
      </p:sp>
      <p:sp>
        <p:nvSpPr>
          <p:cNvPr id="16" name="Text 13"/>
          <p:cNvSpPr txBox="1"/>
          <p:nvPr/>
        </p:nvSpPr>
        <p:spPr>
          <a:xfrm>
            <a:off x="3794760" y="466344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17" name="answer 436 ✓"/>
          <p:cNvSpPr/>
          <p:nvPr/>
        </p:nvSpPr>
        <p:spPr>
          <a:xfrm>
            <a:off x="5806440" y="4663440"/>
            <a:ext cx="1554480" cy="548640"/>
          </a:xfrm>
          <a:prstGeom prst="roundRect">
            <a:avLst>
              <a:gd name="adj" fmla="val 16667"/>
            </a:avLst>
          </a:prstGeom>
          <a:solidFill>
            <a:srgbClr val="E2F0D9"/>
          </a:solidFill>
          <a:ln w="12700">
            <a:solidFill>
              <a:srgbClr val="70AD47"/>
            </a:solidFill>
            <a:prstDash val="solid"/>
          </a:ln>
        </p:spPr>
      </p:sp>
      <p:sp>
        <p:nvSpPr>
          <p:cNvPr id="18" name="Text 15"/>
          <p:cNvSpPr txBox="1"/>
          <p:nvPr/>
        </p:nvSpPr>
        <p:spPr>
          <a:xfrm>
            <a:off x="5806440" y="466344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19" name="answer 436 ✓"/>
          <p:cNvSpPr/>
          <p:nvPr/>
        </p:nvSpPr>
        <p:spPr>
          <a:xfrm>
            <a:off x="7818120" y="4663440"/>
            <a:ext cx="1554480" cy="548640"/>
          </a:xfrm>
          <a:prstGeom prst="roundRect">
            <a:avLst>
              <a:gd name="adj" fmla="val 16667"/>
            </a:avLst>
          </a:prstGeom>
          <a:solidFill>
            <a:srgbClr val="E2F0D9"/>
          </a:solidFill>
          <a:ln w="12700">
            <a:solidFill>
              <a:srgbClr val="70AD47"/>
            </a:solidFill>
            <a:prstDash val="solid"/>
          </a:ln>
        </p:spPr>
      </p:sp>
      <p:sp>
        <p:nvSpPr>
          <p:cNvPr id="20" name="Text 17"/>
          <p:cNvSpPr txBox="1"/>
          <p:nvPr/>
        </p:nvSpPr>
        <p:spPr>
          <a:xfrm>
            <a:off x="7818120" y="466344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21" name="answer 436 ✓"/>
          <p:cNvSpPr/>
          <p:nvPr/>
        </p:nvSpPr>
        <p:spPr>
          <a:xfrm>
            <a:off x="9829800" y="4663440"/>
            <a:ext cx="1554480" cy="548640"/>
          </a:xfrm>
          <a:prstGeom prst="roundRect">
            <a:avLst>
              <a:gd name="adj" fmla="val 16667"/>
            </a:avLst>
          </a:prstGeom>
          <a:solidFill>
            <a:srgbClr val="E2F0D9"/>
          </a:solidFill>
          <a:ln w="12700">
            <a:solidFill>
              <a:srgbClr val="70AD47"/>
            </a:solidFill>
            <a:prstDash val="solid"/>
          </a:ln>
        </p:spPr>
      </p:sp>
      <p:sp>
        <p:nvSpPr>
          <p:cNvPr id="22" name="Text 19"/>
          <p:cNvSpPr txBox="1"/>
          <p:nvPr/>
        </p:nvSpPr>
        <p:spPr>
          <a:xfrm>
            <a:off x="9829800" y="466344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436 ✓</a:t>
            </a:r>
            <a:endParaRPr lang="en-US" sz="2200" dirty="0"/>
          </a:p>
        </p:txBody>
      </p:sp>
      <p:sp>
        <p:nvSpPr>
          <p:cNvPr id="23" name="Text 20"/>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For computation, a program is the right tool</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But two things go wrong</a:t>
            </a:r>
            <a:endParaRPr lang="en-US" sz="3600" dirty="0"/>
          </a:p>
        </p:txBody>
      </p:sp>
      <p:sp>
        <p:nvSpPr>
          <p:cNvPr id="3" name="pane 1. Programs fail, often silently"/>
          <p:cNvSpPr/>
          <p:nvPr/>
        </p:nvSpPr>
        <p:spPr>
          <a:xfrm>
            <a:off x="548640" y="1234440"/>
            <a:ext cx="5440680" cy="3794760"/>
          </a:xfrm>
          <a:prstGeom prst="roundRect">
            <a:avLst>
              <a:gd name="adj" fmla="val 1928"/>
            </a:avLst>
          </a:prstGeom>
          <a:solidFill>
            <a:srgbClr val="FDF2F1"/>
          </a:solidFill>
          <a:ln w="12700">
            <a:solidFill>
              <a:srgbClr val="C00000"/>
            </a:solidFill>
            <a:prstDash val="solid"/>
          </a:ln>
        </p:spPr>
      </p:sp>
      <p:sp>
        <p:nvSpPr>
          <p:cNvPr id="4" name="Text 2"/>
          <p:cNvSpPr txBox="1"/>
          <p:nvPr/>
        </p:nvSpPr>
        <p:spPr>
          <a:xfrm>
            <a:off x="777240" y="1325880"/>
            <a:ext cx="4983480" cy="502920"/>
          </a:xfrm>
          <a:prstGeom prst="rect">
            <a:avLst/>
          </a:prstGeom>
          <a:noFill/>
          <a:ln/>
        </p:spPr>
        <p:txBody>
          <a:bodyPr wrap="square" lIns="0" tIns="0" rIns="0" bIns="0" rtlCol="0" anchor="ctr"/>
          <a:lstStyle/>
          <a:p>
            <a:pPr indent="0" marL="0">
              <a:buNone/>
            </a:pPr>
            <a:r>
              <a:rPr lang="en-US" sz="2200" b="1" dirty="0">
                <a:solidFill>
                  <a:srgbClr val="C00000"/>
                </a:solidFill>
              </a:rPr>
              <a:t>1. Programs fail, often silently</a:t>
            </a:r>
            <a:endParaRPr lang="en-US" sz="2200" dirty="0"/>
          </a:p>
        </p:txBody>
      </p:sp>
      <p:sp>
        <p:nvSpPr>
          <p:cNvPr id="5" name="Text 3"/>
          <p:cNvSpPr txBox="1"/>
          <p:nvPr/>
        </p:nvSpPr>
        <p:spPr>
          <a:xfrm>
            <a:off x="777240" y="1874520"/>
            <a:ext cx="5029200" cy="365760"/>
          </a:xfrm>
          <a:prstGeom prst="rect">
            <a:avLst/>
          </a:prstGeom>
          <a:noFill/>
          <a:ln/>
        </p:spPr>
        <p:txBody>
          <a:bodyPr wrap="square" lIns="0" tIns="0" rIns="0" bIns="0" rtlCol="0" anchor="ctr"/>
          <a:lstStyle/>
          <a:p>
            <a:pPr indent="0" marL="0">
              <a:buNone/>
            </a:pPr>
            <a:r>
              <a:rPr lang="en-US" sz="1500" dirty="0">
                <a:solidFill>
                  <a:schemeClr val="tx1"/>
                </a:solidFill>
              </a:rPr>
              <a:t>How many corners does the rubber band have?</a:t>
            </a:r>
            <a:endParaRPr lang="en-US" sz="1500" dirty="0"/>
          </a:p>
        </p:txBody>
      </p:sp>
      <p:pic>
        <p:nvPicPr>
          <p:cNvPr id="6" name="ten points and their hull" descr="10 points; the rubber band touches 6 of them">    </p:cNvPr>
          <p:cNvPicPr>
            <a:picLocks noChangeAspect="1"/>
          </p:cNvPicPr>
          <p:nvPr/>
        </p:nvPicPr>
        <p:blipFill>
          <a:blip r:embed="rId1"/>
          <a:stretch>
            <a:fillRect/>
          </a:stretch>
        </p:blipFill>
        <p:spPr>
          <a:xfrm>
            <a:off x="868680" y="2286000"/>
            <a:ext cx="1828800" cy="1828800"/>
          </a:xfrm>
          <a:prstGeom prst="rect">
            <a:avLst/>
          </a:prstGeom>
        </p:spPr>
      </p:pic>
      <p:sp>
        <p:nvSpPr>
          <p:cNvPr id="7" name="Text 4"/>
          <p:cNvSpPr txBox="1"/>
          <p:nvPr/>
        </p:nvSpPr>
        <p:spPr>
          <a:xfrm>
            <a:off x="685800" y="4114800"/>
            <a:ext cx="2194560" cy="320040"/>
          </a:xfrm>
          <a:prstGeom prst="rect">
            <a:avLst/>
          </a:prstGeom>
          <a:noFill/>
          <a:ln/>
        </p:spPr>
        <p:txBody>
          <a:bodyPr wrap="square" lIns="0" tIns="0" rIns="0" bIns="0" rtlCol="0" anchor="ctr"/>
          <a:lstStyle/>
          <a:p>
            <a:pPr algn="ctr" indent="0" marL="0">
              <a:buNone/>
            </a:pPr>
            <a:r>
              <a:rPr lang="en-US" sz="1500" b="1" dirty="0">
                <a:solidFill>
                  <a:srgbClr val="70AD47"/>
                </a:solidFill>
              </a:rPr>
              <a:t>answer: 6 corners</a:t>
            </a:r>
            <a:endParaRPr lang="en-US" sz="1500" dirty="0"/>
          </a:p>
        </p:txBody>
      </p:sp>
      <p:sp>
        <p:nvSpPr>
          <p:cNvPr id="8" name="terminal"/>
          <p:cNvSpPr/>
          <p:nvPr/>
        </p:nvSpPr>
        <p:spPr>
          <a:xfrm>
            <a:off x="2971800" y="2331720"/>
            <a:ext cx="2834640" cy="1417320"/>
          </a:xfrm>
          <a:prstGeom prst="roundRect">
            <a:avLst>
              <a:gd name="adj" fmla="val 3226"/>
            </a:avLst>
          </a:prstGeom>
          <a:solidFill>
            <a:srgbClr val="262626"/>
          </a:solidFill>
          <a:ln w="12700">
            <a:solidFill>
              <a:srgbClr val="262626"/>
            </a:solidFill>
            <a:prstDash val="solid"/>
          </a:ln>
        </p:spPr>
      </p:sp>
      <p:sp>
        <p:nvSpPr>
          <p:cNvPr id="9" name="Text 6"/>
          <p:cNvSpPr txBox="1"/>
          <p:nvPr/>
        </p:nvSpPr>
        <p:spPr>
          <a:xfrm>
            <a:off x="3154680" y="2331720"/>
            <a:ext cx="2560320" cy="1417320"/>
          </a:xfrm>
          <a:prstGeom prst="rect">
            <a:avLst/>
          </a:prstGeom>
          <a:noFill/>
          <a:ln/>
        </p:spPr>
        <p:txBody>
          <a:bodyPr wrap="square" lIns="0" tIns="0" rIns="0" bIns="0" rtlCol="0" anchor="ctr"/>
          <a:lstStyle/>
          <a:p>
            <a:pPr indent="0" marL="0">
              <a:buNone/>
            </a:pPr>
            <a:r>
              <a:rPr lang="en-US" sz="1800" b="1" dirty="0">
                <a:solidFill>
                  <a:srgbClr val="8FD16A"/>
                </a:solidFill>
                <a:latin typeface="Courier New" pitchFamily="34" charset="0"/>
                <a:ea typeface="Courier New" pitchFamily="34" charset="-122"/>
                <a:cs typeface="Courier New" pitchFamily="34" charset="-120"/>
              </a:rPr>
              <a:t>program A  → 6</a:t>
            </a:r>
            <a:endParaRPr lang="en-US" sz="1800" dirty="0"/>
          </a:p>
          <a:p>
            <a:pPr indent="0" marL="0">
              <a:buNone/>
            </a:pPr>
            <a:r>
              <a:rPr lang="en-US" sz="1800" b="1" dirty="0">
                <a:solidFill>
                  <a:srgbClr val="FF7B7B"/>
                </a:solidFill>
                <a:latin typeface="Courier New" pitchFamily="34" charset="0"/>
                <a:ea typeface="Courier New" pitchFamily="34" charset="-122"/>
                <a:cs typeface="Courier New" pitchFamily="34" charset="-120"/>
              </a:rPr>
              <a:t>program B  → 0</a:t>
            </a:r>
            <a:endParaRPr lang="en-US" sz="1800" dirty="0"/>
          </a:p>
          <a:p>
            <a:pPr indent="0" marL="0">
              <a:buNone/>
            </a:pPr>
            <a:r>
              <a:rPr lang="en-US" sz="1800" dirty="0">
                <a:solidFill>
                  <a:srgbClr val="BFBFBF"/>
                </a:solidFill>
                <a:latin typeface="Courier New" pitchFamily="34" charset="0"/>
                <a:ea typeface="Courier New" pitchFamily="34" charset="-122"/>
                <a:cs typeface="Courier New" pitchFamily="34" charset="-120"/>
              </a:rPr>
              <a:t>no error message</a:t>
            </a:r>
            <a:endParaRPr lang="en-US" sz="1800" dirty="0"/>
          </a:p>
        </p:txBody>
      </p:sp>
      <p:sp>
        <p:nvSpPr>
          <p:cNvPr id="10" name="Text 7"/>
          <p:cNvSpPr txBox="1"/>
          <p:nvPr/>
        </p:nvSpPr>
        <p:spPr>
          <a:xfrm>
            <a:off x="2971800" y="3794760"/>
            <a:ext cx="2834640" cy="548640"/>
          </a:xfrm>
          <a:prstGeom prst="rect">
            <a:avLst/>
          </a:prstGeom>
          <a:noFill/>
          <a:ln/>
        </p:spPr>
        <p:txBody>
          <a:bodyPr wrap="square" lIns="0" tIns="0" rIns="0" bIns="0" rtlCol="0" anchor="t"/>
          <a:lstStyle/>
          <a:p>
            <a:pPr indent="0" marL="0">
              <a:buNone/>
            </a:pPr>
            <a:r>
              <a:rPr lang="en-US" sz="1400" dirty="0">
                <a:solidFill>
                  <a:schemeClr val="tx2"/>
                </a:solidFill>
              </a:rPr>
              <a:t>B's prompt only added helper code (Qwen3-14B)</a:t>
            </a:r>
            <a:endParaRPr lang="en-US" sz="1400" dirty="0"/>
          </a:p>
        </p:txBody>
      </p:sp>
      <p:sp>
        <p:nvSpPr>
          <p:cNvPr id="11" name="Text 8"/>
          <p:cNvSpPr txBox="1"/>
          <p:nvPr/>
        </p:nvSpPr>
        <p:spPr>
          <a:xfrm>
            <a:off x="777240" y="4526280"/>
            <a:ext cx="5029200" cy="365760"/>
          </a:xfrm>
          <a:prstGeom prst="rect">
            <a:avLst/>
          </a:prstGeom>
          <a:noFill/>
          <a:ln/>
        </p:spPr>
        <p:txBody>
          <a:bodyPr wrap="square" lIns="0" tIns="0" rIns="0" bIns="0" rtlCol="0" anchor="ctr"/>
          <a:lstStyle/>
          <a:p>
            <a:pPr indent="0" marL="0">
              <a:buNone/>
            </a:pPr>
            <a:r>
              <a:rPr lang="en-US" sz="1500" b="1" dirty="0">
                <a:solidFill>
                  <a:srgbClr val="C00000"/>
                </a:solidFill>
              </a:rPr>
              <a:t>✗ or it crashes on a library function that does not exist</a:t>
            </a:r>
            <a:endParaRPr lang="en-US" sz="1500" dirty="0"/>
          </a:p>
        </p:txBody>
      </p:sp>
      <p:sp>
        <p:nvSpPr>
          <p:cNvPr id="12" name="pane 2. Thinking longer is expensive"/>
          <p:cNvSpPr/>
          <p:nvPr/>
        </p:nvSpPr>
        <p:spPr>
          <a:xfrm>
            <a:off x="6172200" y="1234440"/>
            <a:ext cx="5440680" cy="3794760"/>
          </a:xfrm>
          <a:prstGeom prst="roundRect">
            <a:avLst>
              <a:gd name="adj" fmla="val 1928"/>
            </a:avLst>
          </a:prstGeom>
          <a:solidFill>
            <a:srgbClr val="FDF0E6"/>
          </a:solidFill>
          <a:ln w="12700">
            <a:solidFill>
              <a:srgbClr val="ED7D31"/>
            </a:solidFill>
            <a:prstDash val="solid"/>
          </a:ln>
        </p:spPr>
      </p:sp>
      <p:sp>
        <p:nvSpPr>
          <p:cNvPr id="13" name="Text 10"/>
          <p:cNvSpPr txBox="1"/>
          <p:nvPr/>
        </p:nvSpPr>
        <p:spPr>
          <a:xfrm>
            <a:off x="6400800" y="1325880"/>
            <a:ext cx="4983480" cy="502920"/>
          </a:xfrm>
          <a:prstGeom prst="rect">
            <a:avLst/>
          </a:prstGeom>
          <a:noFill/>
          <a:ln/>
        </p:spPr>
        <p:txBody>
          <a:bodyPr wrap="square" lIns="0" tIns="0" rIns="0" bIns="0" rtlCol="0" anchor="ctr"/>
          <a:lstStyle/>
          <a:p>
            <a:pPr indent="0" marL="0">
              <a:buNone/>
            </a:pPr>
            <a:r>
              <a:rPr lang="en-US" sz="2200" b="1" dirty="0">
                <a:solidFill>
                  <a:srgbClr val="ED7D31"/>
                </a:solidFill>
              </a:rPr>
              <a:t>2. Thinking longer is expensive</a:t>
            </a:r>
            <a:endParaRPr lang="en-US" sz="2200" dirty="0"/>
          </a:p>
        </p:txBody>
      </p:sp>
      <p:sp>
        <p:nvSpPr>
          <p:cNvPr id="14" name="Text 11"/>
          <p:cNvSpPr txBox="1"/>
          <p:nvPr/>
        </p:nvSpPr>
        <p:spPr>
          <a:xfrm>
            <a:off x="6400800" y="1874520"/>
            <a:ext cx="5029200" cy="365760"/>
          </a:xfrm>
          <a:prstGeom prst="rect">
            <a:avLst/>
          </a:prstGeom>
          <a:noFill/>
          <a:ln/>
        </p:spPr>
        <p:txBody>
          <a:bodyPr wrap="square" lIns="0" tIns="0" rIns="0" bIns="0" rtlCol="0" anchor="ctr"/>
          <a:lstStyle/>
          <a:p>
            <a:pPr indent="0" marL="0">
              <a:buNone/>
            </a:pPr>
            <a:r>
              <a:rPr lang="en-US" sz="1500" dirty="0">
                <a:solidFill>
                  <a:schemeClr val="tx1"/>
                </a:solidFill>
              </a:rPr>
              <a:t>311 contest problems, gpt-oss-120b · 1 page ≈ 700 tokens</a:t>
            </a:r>
            <a:endParaRPr lang="en-US" sz="1500" dirty="0"/>
          </a:p>
        </p:txBody>
      </p:sp>
      <p:sp>
        <p:nvSpPr>
          <p:cNvPr id="15" name="Text 12"/>
          <p:cNvSpPr txBox="1"/>
          <p:nvPr/>
        </p:nvSpPr>
        <p:spPr>
          <a:xfrm>
            <a:off x="6400800" y="2377440"/>
            <a:ext cx="1463040" cy="594360"/>
          </a:xfrm>
          <a:prstGeom prst="rect">
            <a:avLst/>
          </a:prstGeom>
          <a:noFill/>
          <a:ln/>
        </p:spPr>
        <p:txBody>
          <a:bodyPr wrap="square" lIns="0" tIns="0" rIns="0" bIns="0" rtlCol="0" anchor="ctr"/>
          <a:lstStyle/>
          <a:p>
            <a:pPr indent="0" marL="0">
              <a:buNone/>
            </a:pPr>
            <a:r>
              <a:rPr lang="en-US" sz="1500" b="1" dirty="0">
                <a:solidFill>
                  <a:schemeClr val="tx1"/>
                </a:solidFill>
              </a:rPr>
              <a:t>normal</a:t>
            </a:r>
            <a:endParaRPr lang="en-US" sz="1500" dirty="0"/>
          </a:p>
          <a:p>
            <a:pPr indent="0" marL="0">
              <a:buNone/>
            </a:pPr>
            <a:r>
              <a:rPr lang="en-US" sz="1500" dirty="0">
                <a:solidFill>
                  <a:schemeClr val="tx1"/>
                </a:solidFill>
              </a:rPr>
              <a:t>57% solved</a:t>
            </a:r>
            <a:endParaRPr lang="en-US" sz="1500" dirty="0"/>
          </a:p>
        </p:txBody>
      </p:sp>
      <p:pic>
        <p:nvPicPr>
          <p:cNvPr id="16" name="normal page 0" descr="/NAS/SJ/POSTECH/nlp/figs/icons/page.png">    </p:cNvPr>
          <p:cNvPicPr>
            <a:picLocks noChangeAspect="1"/>
          </p:cNvPicPr>
          <p:nvPr/>
        </p:nvPicPr>
        <p:blipFill>
          <a:blip r:embed="rId2"/>
          <a:stretch>
            <a:fillRect/>
          </a:stretch>
        </p:blipFill>
        <p:spPr>
          <a:xfrm>
            <a:off x="7909560" y="2395728"/>
            <a:ext cx="182880" cy="201168"/>
          </a:xfrm>
          <a:prstGeom prst="rect">
            <a:avLst/>
          </a:prstGeom>
        </p:spPr>
      </p:pic>
      <p:pic>
        <p:nvPicPr>
          <p:cNvPr id="17" name="normal page 1" descr="/NAS/SJ/POSTECH/nlp/figs/icons/page.png">    </p:cNvPr>
          <p:cNvPicPr>
            <a:picLocks noChangeAspect="1"/>
          </p:cNvPicPr>
          <p:nvPr/>
        </p:nvPicPr>
        <p:blipFill>
          <a:blip r:embed="rId3"/>
          <a:stretch>
            <a:fillRect/>
          </a:stretch>
        </p:blipFill>
        <p:spPr>
          <a:xfrm>
            <a:off x="8101584" y="2395728"/>
            <a:ext cx="182880" cy="201168"/>
          </a:xfrm>
          <a:prstGeom prst="rect">
            <a:avLst/>
          </a:prstGeom>
        </p:spPr>
      </p:pic>
      <p:pic>
        <p:nvPicPr>
          <p:cNvPr id="18" name="normal page 2" descr="/NAS/SJ/POSTECH/nlp/figs/icons/page.png">    </p:cNvPr>
          <p:cNvPicPr>
            <a:picLocks noChangeAspect="1"/>
          </p:cNvPicPr>
          <p:nvPr/>
        </p:nvPicPr>
        <p:blipFill>
          <a:blip r:embed="rId4"/>
          <a:stretch>
            <a:fillRect/>
          </a:stretch>
        </p:blipFill>
        <p:spPr>
          <a:xfrm>
            <a:off x="8293608" y="2395728"/>
            <a:ext cx="182880" cy="201168"/>
          </a:xfrm>
          <a:prstGeom prst="rect">
            <a:avLst/>
          </a:prstGeom>
        </p:spPr>
      </p:pic>
      <p:pic>
        <p:nvPicPr>
          <p:cNvPr id="19" name="normal page 3" descr="/NAS/SJ/POSTECH/nlp/figs/icons/page.png">    </p:cNvPr>
          <p:cNvPicPr>
            <a:picLocks noChangeAspect="1"/>
          </p:cNvPicPr>
          <p:nvPr/>
        </p:nvPicPr>
        <p:blipFill>
          <a:blip r:embed="rId5"/>
          <a:stretch>
            <a:fillRect/>
          </a:stretch>
        </p:blipFill>
        <p:spPr>
          <a:xfrm>
            <a:off x="8485632" y="2395728"/>
            <a:ext cx="182880" cy="201168"/>
          </a:xfrm>
          <a:prstGeom prst="rect">
            <a:avLst/>
          </a:prstGeom>
        </p:spPr>
      </p:pic>
      <p:pic>
        <p:nvPicPr>
          <p:cNvPr id="20" name="normal page 4" descr="/NAS/SJ/POSTECH/nlp/figs/icons/page.png">    </p:cNvPr>
          <p:cNvPicPr>
            <a:picLocks noChangeAspect="1"/>
          </p:cNvPicPr>
          <p:nvPr/>
        </p:nvPicPr>
        <p:blipFill>
          <a:blip r:embed="rId6"/>
          <a:stretch>
            <a:fillRect/>
          </a:stretch>
        </p:blipFill>
        <p:spPr>
          <a:xfrm>
            <a:off x="8677656" y="2395728"/>
            <a:ext cx="182880" cy="201168"/>
          </a:xfrm>
          <a:prstGeom prst="rect">
            <a:avLst/>
          </a:prstGeom>
        </p:spPr>
      </p:pic>
      <p:pic>
        <p:nvPicPr>
          <p:cNvPr id="21" name="normal page 5" descr="/NAS/SJ/POSTECH/nlp/figs/icons/page.png">    </p:cNvPr>
          <p:cNvPicPr>
            <a:picLocks noChangeAspect="1"/>
          </p:cNvPicPr>
          <p:nvPr/>
        </p:nvPicPr>
        <p:blipFill>
          <a:blip r:embed="rId7"/>
          <a:stretch>
            <a:fillRect/>
          </a:stretch>
        </p:blipFill>
        <p:spPr>
          <a:xfrm>
            <a:off x="8869680" y="2395728"/>
            <a:ext cx="182880" cy="201168"/>
          </a:xfrm>
          <a:prstGeom prst="rect">
            <a:avLst/>
          </a:prstGeom>
        </p:spPr>
      </p:pic>
      <p:pic>
        <p:nvPicPr>
          <p:cNvPr id="22" name="normal page 6" descr="/NAS/SJ/POSTECH/nlp/figs/icons/page.png">    </p:cNvPr>
          <p:cNvPicPr>
            <a:picLocks noChangeAspect="1"/>
          </p:cNvPicPr>
          <p:nvPr/>
        </p:nvPicPr>
        <p:blipFill>
          <a:blip r:embed="rId8"/>
          <a:stretch>
            <a:fillRect/>
          </a:stretch>
        </p:blipFill>
        <p:spPr>
          <a:xfrm>
            <a:off x="9061704" y="2395728"/>
            <a:ext cx="182880" cy="201168"/>
          </a:xfrm>
          <a:prstGeom prst="rect">
            <a:avLst/>
          </a:prstGeom>
        </p:spPr>
      </p:pic>
      <p:pic>
        <p:nvPicPr>
          <p:cNvPr id="23" name="normal page 7" descr="/NAS/SJ/POSTECH/nlp/figs/icons/page.png">    </p:cNvPr>
          <p:cNvPicPr>
            <a:picLocks noChangeAspect="1"/>
          </p:cNvPicPr>
          <p:nvPr/>
        </p:nvPicPr>
        <p:blipFill>
          <a:blip r:embed="rId9"/>
          <a:stretch>
            <a:fillRect/>
          </a:stretch>
        </p:blipFill>
        <p:spPr>
          <a:xfrm>
            <a:off x="9253728" y="2395728"/>
            <a:ext cx="182880" cy="201168"/>
          </a:xfrm>
          <a:prstGeom prst="rect">
            <a:avLst/>
          </a:prstGeom>
        </p:spPr>
      </p:pic>
      <p:pic>
        <p:nvPicPr>
          <p:cNvPr id="24" name="normal page 8" descr="/NAS/SJ/POSTECH/nlp/figs/icons/page.png">    </p:cNvPr>
          <p:cNvPicPr>
            <a:picLocks noChangeAspect="1"/>
          </p:cNvPicPr>
          <p:nvPr/>
        </p:nvPicPr>
        <p:blipFill>
          <a:blip r:embed="rId10"/>
          <a:stretch>
            <a:fillRect/>
          </a:stretch>
        </p:blipFill>
        <p:spPr>
          <a:xfrm>
            <a:off x="9445752" y="2395728"/>
            <a:ext cx="182880" cy="201168"/>
          </a:xfrm>
          <a:prstGeom prst="rect">
            <a:avLst/>
          </a:prstGeom>
        </p:spPr>
      </p:pic>
      <p:pic>
        <p:nvPicPr>
          <p:cNvPr id="25" name="normal page 9" descr="/NAS/SJ/POSTECH/nlp/figs/icons/page.png">    </p:cNvPr>
          <p:cNvPicPr>
            <a:picLocks noChangeAspect="1"/>
          </p:cNvPicPr>
          <p:nvPr/>
        </p:nvPicPr>
        <p:blipFill>
          <a:blip r:embed="rId11"/>
          <a:stretch>
            <a:fillRect/>
          </a:stretch>
        </p:blipFill>
        <p:spPr>
          <a:xfrm>
            <a:off x="9637776" y="2395728"/>
            <a:ext cx="182880" cy="201168"/>
          </a:xfrm>
          <a:prstGeom prst="rect">
            <a:avLst/>
          </a:prstGeom>
        </p:spPr>
      </p:pic>
      <p:sp>
        <p:nvSpPr>
          <p:cNvPr id="26" name="Text 13"/>
          <p:cNvSpPr txBox="1"/>
          <p:nvPr/>
        </p:nvSpPr>
        <p:spPr>
          <a:xfrm>
            <a:off x="6400800" y="3063240"/>
            <a:ext cx="1463040" cy="594360"/>
          </a:xfrm>
          <a:prstGeom prst="rect">
            <a:avLst/>
          </a:prstGeom>
          <a:noFill/>
          <a:ln/>
        </p:spPr>
        <p:txBody>
          <a:bodyPr wrap="square" lIns="0" tIns="0" rIns="0" bIns="0" rtlCol="0" anchor="ctr"/>
          <a:lstStyle/>
          <a:p>
            <a:pPr indent="0" marL="0">
              <a:buNone/>
            </a:pPr>
            <a:r>
              <a:rPr lang="en-US" sz="1500" b="1" dirty="0">
                <a:solidFill>
                  <a:schemeClr val="tx1"/>
                </a:solidFill>
              </a:rPr>
              <a:t>think hard</a:t>
            </a:r>
            <a:endParaRPr lang="en-US" sz="1500" dirty="0"/>
          </a:p>
          <a:p>
            <a:pPr indent="0" marL="0">
              <a:buNone/>
            </a:pPr>
            <a:r>
              <a:rPr lang="en-US" sz="1500" dirty="0">
                <a:solidFill>
                  <a:schemeClr val="tx1"/>
                </a:solidFill>
              </a:rPr>
              <a:t>66% solved</a:t>
            </a:r>
            <a:endParaRPr lang="en-US" sz="1500" dirty="0"/>
          </a:p>
        </p:txBody>
      </p:sp>
      <p:pic>
        <p:nvPicPr>
          <p:cNvPr id="27" name="think hard page 0" descr="/NAS/SJ/POSTECH/nlp/figs/icons/pagehot.png">    </p:cNvPr>
          <p:cNvPicPr>
            <a:picLocks noChangeAspect="1"/>
          </p:cNvPicPr>
          <p:nvPr/>
        </p:nvPicPr>
        <p:blipFill>
          <a:blip r:embed="rId12"/>
          <a:stretch>
            <a:fillRect/>
          </a:stretch>
        </p:blipFill>
        <p:spPr>
          <a:xfrm>
            <a:off x="7909560" y="3081528"/>
            <a:ext cx="182880" cy="201168"/>
          </a:xfrm>
          <a:prstGeom prst="rect">
            <a:avLst/>
          </a:prstGeom>
        </p:spPr>
      </p:pic>
      <p:pic>
        <p:nvPicPr>
          <p:cNvPr id="28" name="think hard page 1" descr="/NAS/SJ/POSTECH/nlp/figs/icons/pagehot.png">    </p:cNvPr>
          <p:cNvPicPr>
            <a:picLocks noChangeAspect="1"/>
          </p:cNvPicPr>
          <p:nvPr/>
        </p:nvPicPr>
        <p:blipFill>
          <a:blip r:embed="rId13"/>
          <a:stretch>
            <a:fillRect/>
          </a:stretch>
        </p:blipFill>
        <p:spPr>
          <a:xfrm>
            <a:off x="8101584" y="3081528"/>
            <a:ext cx="182880" cy="201168"/>
          </a:xfrm>
          <a:prstGeom prst="rect">
            <a:avLst/>
          </a:prstGeom>
        </p:spPr>
      </p:pic>
      <p:pic>
        <p:nvPicPr>
          <p:cNvPr id="29" name="think hard page 2" descr="/NAS/SJ/POSTECH/nlp/figs/icons/pagehot.png">    </p:cNvPr>
          <p:cNvPicPr>
            <a:picLocks noChangeAspect="1"/>
          </p:cNvPicPr>
          <p:nvPr/>
        </p:nvPicPr>
        <p:blipFill>
          <a:blip r:embed="rId14"/>
          <a:stretch>
            <a:fillRect/>
          </a:stretch>
        </p:blipFill>
        <p:spPr>
          <a:xfrm>
            <a:off x="8293608" y="3081528"/>
            <a:ext cx="182880" cy="201168"/>
          </a:xfrm>
          <a:prstGeom prst="rect">
            <a:avLst/>
          </a:prstGeom>
        </p:spPr>
      </p:pic>
      <p:pic>
        <p:nvPicPr>
          <p:cNvPr id="30" name="think hard page 3" descr="/NAS/SJ/POSTECH/nlp/figs/icons/pagehot.png">    </p:cNvPr>
          <p:cNvPicPr>
            <a:picLocks noChangeAspect="1"/>
          </p:cNvPicPr>
          <p:nvPr/>
        </p:nvPicPr>
        <p:blipFill>
          <a:blip r:embed="rId15"/>
          <a:stretch>
            <a:fillRect/>
          </a:stretch>
        </p:blipFill>
        <p:spPr>
          <a:xfrm>
            <a:off x="8485632" y="3081528"/>
            <a:ext cx="182880" cy="201168"/>
          </a:xfrm>
          <a:prstGeom prst="rect">
            <a:avLst/>
          </a:prstGeom>
        </p:spPr>
      </p:pic>
      <p:pic>
        <p:nvPicPr>
          <p:cNvPr id="31" name="think hard page 4" descr="/NAS/SJ/POSTECH/nlp/figs/icons/pagehot.png">    </p:cNvPr>
          <p:cNvPicPr>
            <a:picLocks noChangeAspect="1"/>
          </p:cNvPicPr>
          <p:nvPr/>
        </p:nvPicPr>
        <p:blipFill>
          <a:blip r:embed="rId16"/>
          <a:stretch>
            <a:fillRect/>
          </a:stretch>
        </p:blipFill>
        <p:spPr>
          <a:xfrm>
            <a:off x="8677656" y="3081528"/>
            <a:ext cx="182880" cy="201168"/>
          </a:xfrm>
          <a:prstGeom prst="rect">
            <a:avLst/>
          </a:prstGeom>
        </p:spPr>
      </p:pic>
      <p:pic>
        <p:nvPicPr>
          <p:cNvPr id="32" name="think hard page 5" descr="/NAS/SJ/POSTECH/nlp/figs/icons/pagehot.png">    </p:cNvPr>
          <p:cNvPicPr>
            <a:picLocks noChangeAspect="1"/>
          </p:cNvPicPr>
          <p:nvPr/>
        </p:nvPicPr>
        <p:blipFill>
          <a:blip r:embed="rId17"/>
          <a:stretch>
            <a:fillRect/>
          </a:stretch>
        </p:blipFill>
        <p:spPr>
          <a:xfrm>
            <a:off x="8869680" y="3081528"/>
            <a:ext cx="182880" cy="201168"/>
          </a:xfrm>
          <a:prstGeom prst="rect">
            <a:avLst/>
          </a:prstGeom>
        </p:spPr>
      </p:pic>
      <p:pic>
        <p:nvPicPr>
          <p:cNvPr id="33" name="think hard page 6" descr="/NAS/SJ/POSTECH/nlp/figs/icons/pagehot.png">    </p:cNvPr>
          <p:cNvPicPr>
            <a:picLocks noChangeAspect="1"/>
          </p:cNvPicPr>
          <p:nvPr/>
        </p:nvPicPr>
        <p:blipFill>
          <a:blip r:embed="rId18"/>
          <a:stretch>
            <a:fillRect/>
          </a:stretch>
        </p:blipFill>
        <p:spPr>
          <a:xfrm>
            <a:off x="9061704" y="3081528"/>
            <a:ext cx="182880" cy="201168"/>
          </a:xfrm>
          <a:prstGeom prst="rect">
            <a:avLst/>
          </a:prstGeom>
        </p:spPr>
      </p:pic>
      <p:pic>
        <p:nvPicPr>
          <p:cNvPr id="34" name="think hard page 7" descr="/NAS/SJ/POSTECH/nlp/figs/icons/pagehot.png">    </p:cNvPr>
          <p:cNvPicPr>
            <a:picLocks noChangeAspect="1"/>
          </p:cNvPicPr>
          <p:nvPr/>
        </p:nvPicPr>
        <p:blipFill>
          <a:blip r:embed="rId19"/>
          <a:stretch>
            <a:fillRect/>
          </a:stretch>
        </p:blipFill>
        <p:spPr>
          <a:xfrm>
            <a:off x="9253728" y="3081528"/>
            <a:ext cx="182880" cy="201168"/>
          </a:xfrm>
          <a:prstGeom prst="rect">
            <a:avLst/>
          </a:prstGeom>
        </p:spPr>
      </p:pic>
      <p:pic>
        <p:nvPicPr>
          <p:cNvPr id="35" name="think hard page 8" descr="/NAS/SJ/POSTECH/nlp/figs/icons/pagehot.png">    </p:cNvPr>
          <p:cNvPicPr>
            <a:picLocks noChangeAspect="1"/>
          </p:cNvPicPr>
          <p:nvPr/>
        </p:nvPicPr>
        <p:blipFill>
          <a:blip r:embed="rId20"/>
          <a:stretch>
            <a:fillRect/>
          </a:stretch>
        </p:blipFill>
        <p:spPr>
          <a:xfrm>
            <a:off x="9445752" y="3081528"/>
            <a:ext cx="182880" cy="201168"/>
          </a:xfrm>
          <a:prstGeom prst="rect">
            <a:avLst/>
          </a:prstGeom>
        </p:spPr>
      </p:pic>
      <p:pic>
        <p:nvPicPr>
          <p:cNvPr id="36" name="think hard page 9" descr="/NAS/SJ/POSTECH/nlp/figs/icons/pagehot.png">    </p:cNvPr>
          <p:cNvPicPr>
            <a:picLocks noChangeAspect="1"/>
          </p:cNvPicPr>
          <p:nvPr/>
        </p:nvPicPr>
        <p:blipFill>
          <a:blip r:embed="rId21"/>
          <a:stretch>
            <a:fillRect/>
          </a:stretch>
        </p:blipFill>
        <p:spPr>
          <a:xfrm>
            <a:off x="9637776" y="3081528"/>
            <a:ext cx="182880" cy="201168"/>
          </a:xfrm>
          <a:prstGeom prst="rect">
            <a:avLst/>
          </a:prstGeom>
        </p:spPr>
      </p:pic>
      <p:pic>
        <p:nvPicPr>
          <p:cNvPr id="37" name="think hard page 10" descr="/NAS/SJ/POSTECH/nlp/figs/icons/pagehot.png">    </p:cNvPr>
          <p:cNvPicPr>
            <a:picLocks noChangeAspect="1"/>
          </p:cNvPicPr>
          <p:nvPr/>
        </p:nvPicPr>
        <p:blipFill>
          <a:blip r:embed="rId22"/>
          <a:stretch>
            <a:fillRect/>
          </a:stretch>
        </p:blipFill>
        <p:spPr>
          <a:xfrm>
            <a:off x="9829800" y="3081528"/>
            <a:ext cx="182880" cy="201168"/>
          </a:xfrm>
          <a:prstGeom prst="rect">
            <a:avLst/>
          </a:prstGeom>
        </p:spPr>
      </p:pic>
      <p:pic>
        <p:nvPicPr>
          <p:cNvPr id="38" name="think hard page 11" descr="/NAS/SJ/POSTECH/nlp/figs/icons/pagehot.png">    </p:cNvPr>
          <p:cNvPicPr>
            <a:picLocks noChangeAspect="1"/>
          </p:cNvPicPr>
          <p:nvPr/>
        </p:nvPicPr>
        <p:blipFill>
          <a:blip r:embed="rId23"/>
          <a:stretch>
            <a:fillRect/>
          </a:stretch>
        </p:blipFill>
        <p:spPr>
          <a:xfrm>
            <a:off x="10021824" y="3081528"/>
            <a:ext cx="182880" cy="201168"/>
          </a:xfrm>
          <a:prstGeom prst="rect">
            <a:avLst/>
          </a:prstGeom>
        </p:spPr>
      </p:pic>
      <p:pic>
        <p:nvPicPr>
          <p:cNvPr id="39" name="think hard page 12" descr="/NAS/SJ/POSTECH/nlp/figs/icons/pagehot.png">    </p:cNvPr>
          <p:cNvPicPr>
            <a:picLocks noChangeAspect="1"/>
          </p:cNvPicPr>
          <p:nvPr/>
        </p:nvPicPr>
        <p:blipFill>
          <a:blip r:embed="rId24"/>
          <a:stretch>
            <a:fillRect/>
          </a:stretch>
        </p:blipFill>
        <p:spPr>
          <a:xfrm>
            <a:off x="10213848" y="3081528"/>
            <a:ext cx="182880" cy="201168"/>
          </a:xfrm>
          <a:prstGeom prst="rect">
            <a:avLst/>
          </a:prstGeom>
        </p:spPr>
      </p:pic>
      <p:pic>
        <p:nvPicPr>
          <p:cNvPr id="40" name="think hard page 13" descr="/NAS/SJ/POSTECH/nlp/figs/icons/pagehot.png">    </p:cNvPr>
          <p:cNvPicPr>
            <a:picLocks noChangeAspect="1"/>
          </p:cNvPicPr>
          <p:nvPr/>
        </p:nvPicPr>
        <p:blipFill>
          <a:blip r:embed="rId25"/>
          <a:stretch>
            <a:fillRect/>
          </a:stretch>
        </p:blipFill>
        <p:spPr>
          <a:xfrm>
            <a:off x="10405872" y="3081528"/>
            <a:ext cx="182880" cy="201168"/>
          </a:xfrm>
          <a:prstGeom prst="rect">
            <a:avLst/>
          </a:prstGeom>
        </p:spPr>
      </p:pic>
      <p:pic>
        <p:nvPicPr>
          <p:cNvPr id="41" name="think hard page 14" descr="/NAS/SJ/POSTECH/nlp/figs/icons/pagehot.png">    </p:cNvPr>
          <p:cNvPicPr>
            <a:picLocks noChangeAspect="1"/>
          </p:cNvPicPr>
          <p:nvPr/>
        </p:nvPicPr>
        <p:blipFill>
          <a:blip r:embed="rId26"/>
          <a:stretch>
            <a:fillRect/>
          </a:stretch>
        </p:blipFill>
        <p:spPr>
          <a:xfrm>
            <a:off x="10597896" y="3081528"/>
            <a:ext cx="182880" cy="201168"/>
          </a:xfrm>
          <a:prstGeom prst="rect">
            <a:avLst/>
          </a:prstGeom>
        </p:spPr>
      </p:pic>
      <p:pic>
        <p:nvPicPr>
          <p:cNvPr id="42" name="think hard page 15" descr="/NAS/SJ/POSTECH/nlp/figs/icons/pagehot.png">    </p:cNvPr>
          <p:cNvPicPr>
            <a:picLocks noChangeAspect="1"/>
          </p:cNvPicPr>
          <p:nvPr/>
        </p:nvPicPr>
        <p:blipFill>
          <a:blip r:embed="rId27"/>
          <a:stretch>
            <a:fillRect/>
          </a:stretch>
        </p:blipFill>
        <p:spPr>
          <a:xfrm>
            <a:off x="10789920" y="3081528"/>
            <a:ext cx="182880" cy="201168"/>
          </a:xfrm>
          <a:prstGeom prst="rect">
            <a:avLst/>
          </a:prstGeom>
        </p:spPr>
      </p:pic>
      <p:pic>
        <p:nvPicPr>
          <p:cNvPr id="43" name="think hard page 16" descr="/NAS/SJ/POSTECH/nlp/figs/icons/pagehot.png">    </p:cNvPr>
          <p:cNvPicPr>
            <a:picLocks noChangeAspect="1"/>
          </p:cNvPicPr>
          <p:nvPr/>
        </p:nvPicPr>
        <p:blipFill>
          <a:blip r:embed="rId28"/>
          <a:stretch>
            <a:fillRect/>
          </a:stretch>
        </p:blipFill>
        <p:spPr>
          <a:xfrm>
            <a:off x="10981944" y="3081528"/>
            <a:ext cx="182880" cy="201168"/>
          </a:xfrm>
          <a:prstGeom prst="rect">
            <a:avLst/>
          </a:prstGeom>
        </p:spPr>
      </p:pic>
      <p:pic>
        <p:nvPicPr>
          <p:cNvPr id="44" name="think hard page 17" descr="/NAS/SJ/POSTECH/nlp/figs/icons/pagehot.png">    </p:cNvPr>
          <p:cNvPicPr>
            <a:picLocks noChangeAspect="1"/>
          </p:cNvPicPr>
          <p:nvPr/>
        </p:nvPicPr>
        <p:blipFill>
          <a:blip r:embed="rId29"/>
          <a:stretch>
            <a:fillRect/>
          </a:stretch>
        </p:blipFill>
        <p:spPr>
          <a:xfrm>
            <a:off x="11173968" y="3081528"/>
            <a:ext cx="182880" cy="201168"/>
          </a:xfrm>
          <a:prstGeom prst="rect">
            <a:avLst/>
          </a:prstGeom>
        </p:spPr>
      </p:pic>
      <p:pic>
        <p:nvPicPr>
          <p:cNvPr id="45" name="think hard page 18" descr="/NAS/SJ/POSTECH/nlp/figs/icons/pagehot.png">    </p:cNvPr>
          <p:cNvPicPr>
            <a:picLocks noChangeAspect="1"/>
          </p:cNvPicPr>
          <p:nvPr/>
        </p:nvPicPr>
        <p:blipFill>
          <a:blip r:embed="rId30"/>
          <a:stretch>
            <a:fillRect/>
          </a:stretch>
        </p:blipFill>
        <p:spPr>
          <a:xfrm>
            <a:off x="7909560" y="3300984"/>
            <a:ext cx="182880" cy="201168"/>
          </a:xfrm>
          <a:prstGeom prst="rect">
            <a:avLst/>
          </a:prstGeom>
        </p:spPr>
      </p:pic>
      <p:pic>
        <p:nvPicPr>
          <p:cNvPr id="46" name="think hard page 19" descr="/NAS/SJ/POSTECH/nlp/figs/icons/pagehot.png">    </p:cNvPr>
          <p:cNvPicPr>
            <a:picLocks noChangeAspect="1"/>
          </p:cNvPicPr>
          <p:nvPr/>
        </p:nvPicPr>
        <p:blipFill>
          <a:blip r:embed="rId31"/>
          <a:stretch>
            <a:fillRect/>
          </a:stretch>
        </p:blipFill>
        <p:spPr>
          <a:xfrm>
            <a:off x="8101584" y="3300984"/>
            <a:ext cx="182880" cy="201168"/>
          </a:xfrm>
          <a:prstGeom prst="rect">
            <a:avLst/>
          </a:prstGeom>
        </p:spPr>
      </p:pic>
      <p:pic>
        <p:nvPicPr>
          <p:cNvPr id="47" name="think hard page 20" descr="/NAS/SJ/POSTECH/nlp/figs/icons/pagehot.png">    </p:cNvPr>
          <p:cNvPicPr>
            <a:picLocks noChangeAspect="1"/>
          </p:cNvPicPr>
          <p:nvPr/>
        </p:nvPicPr>
        <p:blipFill>
          <a:blip r:embed="rId32"/>
          <a:stretch>
            <a:fillRect/>
          </a:stretch>
        </p:blipFill>
        <p:spPr>
          <a:xfrm>
            <a:off x="8293608" y="3300984"/>
            <a:ext cx="182880" cy="201168"/>
          </a:xfrm>
          <a:prstGeom prst="rect">
            <a:avLst/>
          </a:prstGeom>
        </p:spPr>
      </p:pic>
      <p:pic>
        <p:nvPicPr>
          <p:cNvPr id="48" name="think hard page 21" descr="/NAS/SJ/POSTECH/nlp/figs/icons/pagehot.png">    </p:cNvPr>
          <p:cNvPicPr>
            <a:picLocks noChangeAspect="1"/>
          </p:cNvPicPr>
          <p:nvPr/>
        </p:nvPicPr>
        <p:blipFill>
          <a:blip r:embed="rId33"/>
          <a:stretch>
            <a:fillRect/>
          </a:stretch>
        </p:blipFill>
        <p:spPr>
          <a:xfrm>
            <a:off x="8485632" y="3300984"/>
            <a:ext cx="182880" cy="201168"/>
          </a:xfrm>
          <a:prstGeom prst="rect">
            <a:avLst/>
          </a:prstGeom>
        </p:spPr>
      </p:pic>
      <p:pic>
        <p:nvPicPr>
          <p:cNvPr id="49" name="think hard page 22" descr="/NAS/SJ/POSTECH/nlp/figs/icons/pagehot.png">    </p:cNvPr>
          <p:cNvPicPr>
            <a:picLocks noChangeAspect="1"/>
          </p:cNvPicPr>
          <p:nvPr/>
        </p:nvPicPr>
        <p:blipFill>
          <a:blip r:embed="rId34"/>
          <a:stretch>
            <a:fillRect/>
          </a:stretch>
        </p:blipFill>
        <p:spPr>
          <a:xfrm>
            <a:off x="8677656" y="3300984"/>
            <a:ext cx="182880" cy="201168"/>
          </a:xfrm>
          <a:prstGeom prst="rect">
            <a:avLst/>
          </a:prstGeom>
        </p:spPr>
      </p:pic>
      <p:pic>
        <p:nvPicPr>
          <p:cNvPr id="50" name="think hard page 23" descr="/NAS/SJ/POSTECH/nlp/figs/icons/pagehot.png">    </p:cNvPr>
          <p:cNvPicPr>
            <a:picLocks noChangeAspect="1"/>
          </p:cNvPicPr>
          <p:nvPr/>
        </p:nvPicPr>
        <p:blipFill>
          <a:blip r:embed="rId35"/>
          <a:stretch>
            <a:fillRect/>
          </a:stretch>
        </p:blipFill>
        <p:spPr>
          <a:xfrm>
            <a:off x="8869680" y="3300984"/>
            <a:ext cx="182880" cy="201168"/>
          </a:xfrm>
          <a:prstGeom prst="rect">
            <a:avLst/>
          </a:prstGeom>
        </p:spPr>
      </p:pic>
      <p:pic>
        <p:nvPicPr>
          <p:cNvPr id="51" name="think hard page 24" descr="/NAS/SJ/POSTECH/nlp/figs/icons/pagehot.png">    </p:cNvPr>
          <p:cNvPicPr>
            <a:picLocks noChangeAspect="1"/>
          </p:cNvPicPr>
          <p:nvPr/>
        </p:nvPicPr>
        <p:blipFill>
          <a:blip r:embed="rId36"/>
          <a:stretch>
            <a:fillRect/>
          </a:stretch>
        </p:blipFill>
        <p:spPr>
          <a:xfrm>
            <a:off x="9061704" y="3300984"/>
            <a:ext cx="182880" cy="201168"/>
          </a:xfrm>
          <a:prstGeom prst="rect">
            <a:avLst/>
          </a:prstGeom>
        </p:spPr>
      </p:pic>
      <p:pic>
        <p:nvPicPr>
          <p:cNvPr id="52" name="think hard page 25" descr="/NAS/SJ/POSTECH/nlp/figs/icons/pagehot.png">    </p:cNvPr>
          <p:cNvPicPr>
            <a:picLocks noChangeAspect="1"/>
          </p:cNvPicPr>
          <p:nvPr/>
        </p:nvPicPr>
        <p:blipFill>
          <a:blip r:embed="rId37"/>
          <a:stretch>
            <a:fillRect/>
          </a:stretch>
        </p:blipFill>
        <p:spPr>
          <a:xfrm>
            <a:off x="9253728" y="3300984"/>
            <a:ext cx="182880" cy="201168"/>
          </a:xfrm>
          <a:prstGeom prst="rect">
            <a:avLst/>
          </a:prstGeom>
        </p:spPr>
      </p:pic>
      <p:pic>
        <p:nvPicPr>
          <p:cNvPr id="53" name="think hard page 26" descr="/NAS/SJ/POSTECH/nlp/figs/icons/pagehot.png">    </p:cNvPr>
          <p:cNvPicPr>
            <a:picLocks noChangeAspect="1"/>
          </p:cNvPicPr>
          <p:nvPr/>
        </p:nvPicPr>
        <p:blipFill>
          <a:blip r:embed="rId38"/>
          <a:stretch>
            <a:fillRect/>
          </a:stretch>
        </p:blipFill>
        <p:spPr>
          <a:xfrm>
            <a:off x="9445752" y="3300984"/>
            <a:ext cx="182880" cy="201168"/>
          </a:xfrm>
          <a:prstGeom prst="rect">
            <a:avLst/>
          </a:prstGeom>
        </p:spPr>
      </p:pic>
      <p:pic>
        <p:nvPicPr>
          <p:cNvPr id="54" name="think hard page 27" descr="/NAS/SJ/POSTECH/nlp/figs/icons/pagehot.png">    </p:cNvPr>
          <p:cNvPicPr>
            <a:picLocks noChangeAspect="1"/>
          </p:cNvPicPr>
          <p:nvPr/>
        </p:nvPicPr>
        <p:blipFill>
          <a:blip r:embed="rId39"/>
          <a:stretch>
            <a:fillRect/>
          </a:stretch>
        </p:blipFill>
        <p:spPr>
          <a:xfrm>
            <a:off x="9637776" y="3300984"/>
            <a:ext cx="182880" cy="201168"/>
          </a:xfrm>
          <a:prstGeom prst="rect">
            <a:avLst/>
          </a:prstGeom>
        </p:spPr>
      </p:pic>
      <p:pic>
        <p:nvPicPr>
          <p:cNvPr id="55" name="think hard page 28" descr="/NAS/SJ/POSTECH/nlp/figs/icons/pagehot.png">    </p:cNvPr>
          <p:cNvPicPr>
            <a:picLocks noChangeAspect="1"/>
          </p:cNvPicPr>
          <p:nvPr/>
        </p:nvPicPr>
        <p:blipFill>
          <a:blip r:embed="rId40"/>
          <a:stretch>
            <a:fillRect/>
          </a:stretch>
        </p:blipFill>
        <p:spPr>
          <a:xfrm>
            <a:off x="9829800" y="3300984"/>
            <a:ext cx="182880" cy="201168"/>
          </a:xfrm>
          <a:prstGeom prst="rect">
            <a:avLst/>
          </a:prstGeom>
        </p:spPr>
      </p:pic>
      <p:pic>
        <p:nvPicPr>
          <p:cNvPr id="56" name="think hard page 29" descr="/NAS/SJ/POSTECH/nlp/figs/icons/pagehot.png">    </p:cNvPr>
          <p:cNvPicPr>
            <a:picLocks noChangeAspect="1"/>
          </p:cNvPicPr>
          <p:nvPr/>
        </p:nvPicPr>
        <p:blipFill>
          <a:blip r:embed="rId41"/>
          <a:stretch>
            <a:fillRect/>
          </a:stretch>
        </p:blipFill>
        <p:spPr>
          <a:xfrm>
            <a:off x="10021824" y="3300984"/>
            <a:ext cx="182880" cy="201168"/>
          </a:xfrm>
          <a:prstGeom prst="rect">
            <a:avLst/>
          </a:prstGeom>
        </p:spPr>
      </p:pic>
      <p:pic>
        <p:nvPicPr>
          <p:cNvPr id="57" name="think hard page 30" descr="/NAS/SJ/POSTECH/nlp/figs/icons/pagehot.png">    </p:cNvPr>
          <p:cNvPicPr>
            <a:picLocks noChangeAspect="1"/>
          </p:cNvPicPr>
          <p:nvPr/>
        </p:nvPicPr>
        <p:blipFill>
          <a:blip r:embed="rId42"/>
          <a:stretch>
            <a:fillRect/>
          </a:stretch>
        </p:blipFill>
        <p:spPr>
          <a:xfrm>
            <a:off x="10213848" y="3300984"/>
            <a:ext cx="182880" cy="201168"/>
          </a:xfrm>
          <a:prstGeom prst="rect">
            <a:avLst/>
          </a:prstGeom>
        </p:spPr>
      </p:pic>
      <p:pic>
        <p:nvPicPr>
          <p:cNvPr id="58" name="think hard page 31" descr="/NAS/SJ/POSTECH/nlp/figs/icons/pagehot.png">    </p:cNvPr>
          <p:cNvPicPr>
            <a:picLocks noChangeAspect="1"/>
          </p:cNvPicPr>
          <p:nvPr/>
        </p:nvPicPr>
        <p:blipFill>
          <a:blip r:embed="rId43"/>
          <a:stretch>
            <a:fillRect/>
          </a:stretch>
        </p:blipFill>
        <p:spPr>
          <a:xfrm>
            <a:off x="10405872" y="3300984"/>
            <a:ext cx="182880" cy="201168"/>
          </a:xfrm>
          <a:prstGeom prst="rect">
            <a:avLst/>
          </a:prstGeom>
        </p:spPr>
      </p:pic>
      <p:pic>
        <p:nvPicPr>
          <p:cNvPr id="59" name="think hard page 32" descr="/NAS/SJ/POSTECH/nlp/figs/icons/pagehot.png">    </p:cNvPr>
          <p:cNvPicPr>
            <a:picLocks noChangeAspect="1"/>
          </p:cNvPicPr>
          <p:nvPr/>
        </p:nvPicPr>
        <p:blipFill>
          <a:blip r:embed="rId44"/>
          <a:stretch>
            <a:fillRect/>
          </a:stretch>
        </p:blipFill>
        <p:spPr>
          <a:xfrm>
            <a:off x="10597896" y="3300984"/>
            <a:ext cx="182880" cy="201168"/>
          </a:xfrm>
          <a:prstGeom prst="rect">
            <a:avLst/>
          </a:prstGeom>
        </p:spPr>
      </p:pic>
      <p:pic>
        <p:nvPicPr>
          <p:cNvPr id="60" name="think hard page 33" descr="/NAS/SJ/POSTECH/nlp/figs/icons/pagehot.png">    </p:cNvPr>
          <p:cNvPicPr>
            <a:picLocks noChangeAspect="1"/>
          </p:cNvPicPr>
          <p:nvPr/>
        </p:nvPicPr>
        <p:blipFill>
          <a:blip r:embed="rId45"/>
          <a:stretch>
            <a:fillRect/>
          </a:stretch>
        </p:blipFill>
        <p:spPr>
          <a:xfrm>
            <a:off x="10789920" y="3300984"/>
            <a:ext cx="182880" cy="201168"/>
          </a:xfrm>
          <a:prstGeom prst="rect">
            <a:avLst/>
          </a:prstGeom>
        </p:spPr>
      </p:pic>
      <p:pic>
        <p:nvPicPr>
          <p:cNvPr id="61" name="think hard page 34" descr="/NAS/SJ/POSTECH/nlp/figs/icons/pagehot.png">    </p:cNvPr>
          <p:cNvPicPr>
            <a:picLocks noChangeAspect="1"/>
          </p:cNvPicPr>
          <p:nvPr/>
        </p:nvPicPr>
        <p:blipFill>
          <a:blip r:embed="rId46"/>
          <a:stretch>
            <a:fillRect/>
          </a:stretch>
        </p:blipFill>
        <p:spPr>
          <a:xfrm>
            <a:off x="10981944" y="3300984"/>
            <a:ext cx="182880" cy="201168"/>
          </a:xfrm>
          <a:prstGeom prst="rect">
            <a:avLst/>
          </a:prstGeom>
        </p:spPr>
      </p:pic>
      <p:pic>
        <p:nvPicPr>
          <p:cNvPr id="62" name="think hard page 35" descr="/NAS/SJ/POSTECH/nlp/figs/icons/pagehot.png">    </p:cNvPr>
          <p:cNvPicPr>
            <a:picLocks noChangeAspect="1"/>
          </p:cNvPicPr>
          <p:nvPr/>
        </p:nvPicPr>
        <p:blipFill>
          <a:blip r:embed="rId47"/>
          <a:stretch>
            <a:fillRect/>
          </a:stretch>
        </p:blipFill>
        <p:spPr>
          <a:xfrm>
            <a:off x="11173968" y="3300984"/>
            <a:ext cx="182880" cy="201168"/>
          </a:xfrm>
          <a:prstGeom prst="rect">
            <a:avLst/>
          </a:prstGeom>
        </p:spPr>
      </p:pic>
      <p:pic>
        <p:nvPicPr>
          <p:cNvPr id="63" name="think hard page 36" descr="/NAS/SJ/POSTECH/nlp/figs/icons/pagehot.png">    </p:cNvPr>
          <p:cNvPicPr>
            <a:picLocks noChangeAspect="1"/>
          </p:cNvPicPr>
          <p:nvPr/>
        </p:nvPicPr>
        <p:blipFill>
          <a:blip r:embed="rId48"/>
          <a:stretch>
            <a:fillRect/>
          </a:stretch>
        </p:blipFill>
        <p:spPr>
          <a:xfrm>
            <a:off x="7909560" y="3520440"/>
            <a:ext cx="182880" cy="201168"/>
          </a:xfrm>
          <a:prstGeom prst="rect">
            <a:avLst/>
          </a:prstGeom>
        </p:spPr>
      </p:pic>
      <p:pic>
        <p:nvPicPr>
          <p:cNvPr id="64" name="think hard page 37" descr="/NAS/SJ/POSTECH/nlp/figs/icons/pagehot.png">    </p:cNvPr>
          <p:cNvPicPr>
            <a:picLocks noChangeAspect="1"/>
          </p:cNvPicPr>
          <p:nvPr/>
        </p:nvPicPr>
        <p:blipFill>
          <a:blip r:embed="rId49"/>
          <a:stretch>
            <a:fillRect/>
          </a:stretch>
        </p:blipFill>
        <p:spPr>
          <a:xfrm>
            <a:off x="8101584" y="3520440"/>
            <a:ext cx="182880" cy="201168"/>
          </a:xfrm>
          <a:prstGeom prst="rect">
            <a:avLst/>
          </a:prstGeom>
        </p:spPr>
      </p:pic>
      <p:pic>
        <p:nvPicPr>
          <p:cNvPr id="65" name="think hard page 38" descr="/NAS/SJ/POSTECH/nlp/figs/icons/pagehot.png">    </p:cNvPr>
          <p:cNvPicPr>
            <a:picLocks noChangeAspect="1"/>
          </p:cNvPicPr>
          <p:nvPr/>
        </p:nvPicPr>
        <p:blipFill>
          <a:blip r:embed="rId50"/>
          <a:stretch>
            <a:fillRect/>
          </a:stretch>
        </p:blipFill>
        <p:spPr>
          <a:xfrm>
            <a:off x="8293608" y="3520440"/>
            <a:ext cx="182880" cy="201168"/>
          </a:xfrm>
          <a:prstGeom prst="rect">
            <a:avLst/>
          </a:prstGeom>
        </p:spPr>
      </p:pic>
      <p:pic>
        <p:nvPicPr>
          <p:cNvPr id="66" name="think hard page 39" descr="/NAS/SJ/POSTECH/nlp/figs/icons/pagehot.png">    </p:cNvPr>
          <p:cNvPicPr>
            <a:picLocks noChangeAspect="1"/>
          </p:cNvPicPr>
          <p:nvPr/>
        </p:nvPicPr>
        <p:blipFill>
          <a:blip r:embed="rId51"/>
          <a:stretch>
            <a:fillRect/>
          </a:stretch>
        </p:blipFill>
        <p:spPr>
          <a:xfrm>
            <a:off x="8485632" y="3520440"/>
            <a:ext cx="182880" cy="201168"/>
          </a:xfrm>
          <a:prstGeom prst="rect">
            <a:avLst/>
          </a:prstGeom>
        </p:spPr>
      </p:pic>
      <p:pic>
        <p:nvPicPr>
          <p:cNvPr id="67" name="think hard page 40" descr="/NAS/SJ/POSTECH/nlp/figs/icons/pagehot.png">    </p:cNvPr>
          <p:cNvPicPr>
            <a:picLocks noChangeAspect="1"/>
          </p:cNvPicPr>
          <p:nvPr/>
        </p:nvPicPr>
        <p:blipFill>
          <a:blip r:embed="rId52"/>
          <a:stretch>
            <a:fillRect/>
          </a:stretch>
        </p:blipFill>
        <p:spPr>
          <a:xfrm>
            <a:off x="8677656" y="3520440"/>
            <a:ext cx="182880" cy="201168"/>
          </a:xfrm>
          <a:prstGeom prst="rect">
            <a:avLst/>
          </a:prstGeom>
        </p:spPr>
      </p:pic>
      <p:pic>
        <p:nvPicPr>
          <p:cNvPr id="68" name="think hard page 41" descr="/NAS/SJ/POSTECH/nlp/figs/icons/pagehot.png">    </p:cNvPr>
          <p:cNvPicPr>
            <a:picLocks noChangeAspect="1"/>
          </p:cNvPicPr>
          <p:nvPr/>
        </p:nvPicPr>
        <p:blipFill>
          <a:blip r:embed="rId53"/>
          <a:stretch>
            <a:fillRect/>
          </a:stretch>
        </p:blipFill>
        <p:spPr>
          <a:xfrm>
            <a:off x="8869680" y="3520440"/>
            <a:ext cx="182880" cy="201168"/>
          </a:xfrm>
          <a:prstGeom prst="rect">
            <a:avLst/>
          </a:prstGeom>
        </p:spPr>
      </p:pic>
      <p:pic>
        <p:nvPicPr>
          <p:cNvPr id="69" name="think hard page 42" descr="/NAS/SJ/POSTECH/nlp/figs/icons/pagehot.png">    </p:cNvPr>
          <p:cNvPicPr>
            <a:picLocks noChangeAspect="1"/>
          </p:cNvPicPr>
          <p:nvPr/>
        </p:nvPicPr>
        <p:blipFill>
          <a:blip r:embed="rId54"/>
          <a:stretch>
            <a:fillRect/>
          </a:stretch>
        </p:blipFill>
        <p:spPr>
          <a:xfrm>
            <a:off x="9061704" y="3520440"/>
            <a:ext cx="182880" cy="201168"/>
          </a:xfrm>
          <a:prstGeom prst="rect">
            <a:avLst/>
          </a:prstGeom>
        </p:spPr>
      </p:pic>
      <p:sp>
        <p:nvSpPr>
          <p:cNvPr id="70" name="Text 14"/>
          <p:cNvSpPr txBox="1"/>
          <p:nvPr/>
        </p:nvSpPr>
        <p:spPr>
          <a:xfrm>
            <a:off x="6400800" y="4251960"/>
            <a:ext cx="5120640" cy="548640"/>
          </a:xfrm>
          <a:prstGeom prst="rect">
            <a:avLst/>
          </a:prstGeom>
          <a:noFill/>
          <a:ln/>
        </p:spPr>
        <p:txBody>
          <a:bodyPr wrap="square" lIns="0" tIns="0" rIns="0" bIns="0" rtlCol="0" anchor="ctr"/>
          <a:lstStyle/>
          <a:p>
            <a:pPr indent="0" marL="0">
              <a:buNone/>
            </a:pPr>
            <a:r>
              <a:rPr lang="en-US" sz="2400" b="1" dirty="0">
                <a:solidFill>
                  <a:srgbClr val="ED7D31"/>
                </a:solidFill>
              </a:rPr>
              <a:t>4.4× the pages</a:t>
            </a:r>
            <a:pPr indent="0" marL="0">
              <a:buNone/>
            </a:pPr>
            <a:r>
              <a:rPr lang="en-US" sz="1700" dirty="0">
                <a:solidFill>
                  <a:schemeClr val="tx1"/>
                </a:solidFill>
              </a:rPr>
              <a:t>  for 9 more points</a:t>
            </a:r>
            <a:endParaRPr lang="en-US" sz="1600" dirty="0"/>
          </a:p>
        </p:txBody>
      </p:sp>
      <p:sp>
        <p:nvSpPr>
          <p:cNvPr id="71" name="our question"/>
          <p:cNvSpPr/>
          <p:nvPr/>
        </p:nvSpPr>
        <p:spPr>
          <a:xfrm>
            <a:off x="548640" y="5257800"/>
            <a:ext cx="11064240" cy="822960"/>
          </a:xfrm>
          <a:prstGeom prst="roundRect">
            <a:avLst>
              <a:gd name="adj" fmla="val 8889"/>
            </a:avLst>
          </a:prstGeom>
          <a:solidFill>
            <a:srgbClr val="DEEBF7"/>
          </a:solidFill>
          <a:ln w="9525">
            <a:solidFill>
              <a:srgbClr val="BDD7EE"/>
            </a:solidFill>
            <a:prstDash val="solid"/>
          </a:ln>
        </p:spPr>
      </p:sp>
      <p:sp>
        <p:nvSpPr>
          <p:cNvPr id="72" name="Text 16"/>
          <p:cNvSpPr txBox="1"/>
          <p:nvPr/>
        </p:nvSpPr>
        <p:spPr>
          <a:xfrm>
            <a:off x="777240" y="5257800"/>
            <a:ext cx="5029200" cy="822960"/>
          </a:xfrm>
          <a:prstGeom prst="rect">
            <a:avLst/>
          </a:prstGeom>
          <a:noFill/>
          <a:ln/>
        </p:spPr>
        <p:txBody>
          <a:bodyPr wrap="square" lIns="0" tIns="0" rIns="0" bIns="0" rtlCol="0" anchor="ctr"/>
          <a:lstStyle/>
          <a:p>
            <a:pPr indent="0" marL="0">
              <a:buNone/>
            </a:pPr>
            <a:r>
              <a:rPr lang="en-US" sz="1900" b="1" dirty="0">
                <a:solidFill>
                  <a:srgbClr val="4472C4"/>
                </a:solidFill>
              </a:rPr>
              <a:t>Our question: where should the extra effort go?</a:t>
            </a:r>
            <a:endParaRPr lang="en-US" sz="1900" dirty="0"/>
          </a:p>
        </p:txBody>
      </p:sp>
      <p:sp>
        <p:nvSpPr>
          <p:cNvPr id="73" name="choice a missing fact"/>
          <p:cNvSpPr/>
          <p:nvPr/>
        </p:nvSpPr>
        <p:spPr>
          <a:xfrm>
            <a:off x="5715000" y="5413248"/>
            <a:ext cx="1874520" cy="502920"/>
          </a:xfrm>
          <a:prstGeom prst="roundRect">
            <a:avLst>
              <a:gd name="adj" fmla="val 36364"/>
            </a:avLst>
          </a:prstGeom>
          <a:solidFill>
            <a:srgbClr val="E2F0D9"/>
          </a:solidFill>
          <a:ln w="12700">
            <a:solidFill>
              <a:srgbClr val="38761D"/>
            </a:solidFill>
            <a:prstDash val="solid"/>
          </a:ln>
        </p:spPr>
      </p:sp>
      <p:pic>
        <p:nvPicPr>
          <p:cNvPr id="74" name="choice icon fact" descr="/NAS/SJ/POSTECH/nlp/figs/icons/fact.png">    </p:cNvPr>
          <p:cNvPicPr>
            <a:picLocks noChangeAspect="1"/>
          </p:cNvPicPr>
          <p:nvPr/>
        </p:nvPicPr>
        <p:blipFill>
          <a:blip r:embed="rId55"/>
          <a:stretch>
            <a:fillRect/>
          </a:stretch>
        </p:blipFill>
        <p:spPr>
          <a:xfrm>
            <a:off x="5824728" y="5500116"/>
            <a:ext cx="329184" cy="329184"/>
          </a:xfrm>
          <a:prstGeom prst="rect">
            <a:avLst/>
          </a:prstGeom>
        </p:spPr>
      </p:pic>
      <p:sp>
        <p:nvSpPr>
          <p:cNvPr id="75" name="Text 18"/>
          <p:cNvSpPr txBox="1"/>
          <p:nvPr/>
        </p:nvSpPr>
        <p:spPr>
          <a:xfrm>
            <a:off x="6217920" y="5413248"/>
            <a:ext cx="1371600" cy="502920"/>
          </a:xfrm>
          <a:prstGeom prst="rect">
            <a:avLst/>
          </a:prstGeom>
          <a:noFill/>
          <a:ln/>
        </p:spPr>
        <p:txBody>
          <a:bodyPr wrap="square" lIns="0" tIns="0" rIns="0" bIns="0" rtlCol="0" anchor="ctr"/>
          <a:lstStyle/>
          <a:p>
            <a:pPr indent="0" marL="0">
              <a:buNone/>
            </a:pPr>
            <a:r>
              <a:rPr lang="en-US" sz="1500" b="1" dirty="0">
                <a:solidFill>
                  <a:srgbClr val="38761D"/>
                </a:solidFill>
              </a:rPr>
              <a:t>a code hint</a:t>
            </a:r>
            <a:endParaRPr lang="en-US" sz="1500" dirty="0"/>
          </a:p>
        </p:txBody>
      </p:sp>
      <p:sp>
        <p:nvSpPr>
          <p:cNvPr id="76" name="choice a free check"/>
          <p:cNvSpPr/>
          <p:nvPr/>
        </p:nvSpPr>
        <p:spPr>
          <a:xfrm>
            <a:off x="7680960" y="5413248"/>
            <a:ext cx="1874520" cy="502920"/>
          </a:xfrm>
          <a:prstGeom prst="roundRect">
            <a:avLst>
              <a:gd name="adj" fmla="val 36364"/>
            </a:avLst>
          </a:prstGeom>
          <a:solidFill>
            <a:srgbClr val="E2F0D9"/>
          </a:solidFill>
          <a:ln w="12700">
            <a:solidFill>
              <a:srgbClr val="38761D"/>
            </a:solidFill>
            <a:prstDash val="solid"/>
          </a:ln>
        </p:spPr>
      </p:sp>
      <p:pic>
        <p:nvPicPr>
          <p:cNvPr id="77" name="choice icon check" descr="/NAS/SJ/POSTECH/nlp/figs/icons/check.png">    </p:cNvPr>
          <p:cNvPicPr>
            <a:picLocks noChangeAspect="1"/>
          </p:cNvPicPr>
          <p:nvPr/>
        </p:nvPicPr>
        <p:blipFill>
          <a:blip r:embed="rId56"/>
          <a:stretch>
            <a:fillRect/>
          </a:stretch>
        </p:blipFill>
        <p:spPr>
          <a:xfrm>
            <a:off x="7790688" y="5500116"/>
            <a:ext cx="329184" cy="329184"/>
          </a:xfrm>
          <a:prstGeom prst="rect">
            <a:avLst/>
          </a:prstGeom>
        </p:spPr>
      </p:pic>
      <p:sp>
        <p:nvSpPr>
          <p:cNvPr id="78" name="Text 20"/>
          <p:cNvSpPr txBox="1"/>
          <p:nvPr/>
        </p:nvSpPr>
        <p:spPr>
          <a:xfrm>
            <a:off x="8183880" y="5413248"/>
            <a:ext cx="1371600" cy="502920"/>
          </a:xfrm>
          <a:prstGeom prst="rect">
            <a:avLst/>
          </a:prstGeom>
          <a:noFill/>
          <a:ln/>
        </p:spPr>
        <p:txBody>
          <a:bodyPr wrap="square" lIns="0" tIns="0" rIns="0" bIns="0" rtlCol="0" anchor="ctr"/>
          <a:lstStyle/>
          <a:p>
            <a:pPr indent="0" marL="0">
              <a:buNone/>
            </a:pPr>
            <a:r>
              <a:rPr lang="en-US" sz="1500" b="1" dirty="0">
                <a:solidFill>
                  <a:srgbClr val="38761D"/>
                </a:solidFill>
              </a:rPr>
              <a:t>a free check</a:t>
            </a:r>
            <a:endParaRPr lang="en-US" sz="1500" dirty="0"/>
          </a:p>
        </p:txBody>
      </p:sp>
      <p:sp>
        <p:nvSpPr>
          <p:cNvPr id="79" name="choice more thinking"/>
          <p:cNvSpPr/>
          <p:nvPr/>
        </p:nvSpPr>
        <p:spPr>
          <a:xfrm>
            <a:off x="9646920" y="5413248"/>
            <a:ext cx="1874520" cy="502920"/>
          </a:xfrm>
          <a:prstGeom prst="roundRect">
            <a:avLst>
              <a:gd name="adj" fmla="val 36364"/>
            </a:avLst>
          </a:prstGeom>
          <a:solidFill>
            <a:srgbClr val="FADBD8"/>
          </a:solidFill>
          <a:ln w="12700">
            <a:solidFill>
              <a:srgbClr val="C00000"/>
            </a:solidFill>
            <a:prstDash val="solid"/>
          </a:ln>
        </p:spPr>
      </p:sp>
      <p:pic>
        <p:nvPicPr>
          <p:cNvPr id="80" name="choice icon brain" descr="/NAS/SJ/POSTECH/nlp/figs/icons/brain.png">    </p:cNvPr>
          <p:cNvPicPr>
            <a:picLocks noChangeAspect="1"/>
          </p:cNvPicPr>
          <p:nvPr/>
        </p:nvPicPr>
        <p:blipFill>
          <a:blip r:embed="rId57"/>
          <a:stretch>
            <a:fillRect/>
          </a:stretch>
        </p:blipFill>
        <p:spPr>
          <a:xfrm>
            <a:off x="9756648" y="5500116"/>
            <a:ext cx="329184" cy="329184"/>
          </a:xfrm>
          <a:prstGeom prst="rect">
            <a:avLst/>
          </a:prstGeom>
        </p:spPr>
      </p:pic>
      <p:sp>
        <p:nvSpPr>
          <p:cNvPr id="81" name="Text 22"/>
          <p:cNvSpPr txBox="1"/>
          <p:nvPr/>
        </p:nvSpPr>
        <p:spPr>
          <a:xfrm>
            <a:off x="10149840" y="5413248"/>
            <a:ext cx="1371600" cy="502920"/>
          </a:xfrm>
          <a:prstGeom prst="rect">
            <a:avLst/>
          </a:prstGeom>
          <a:noFill/>
          <a:ln/>
        </p:spPr>
        <p:txBody>
          <a:bodyPr wrap="square" lIns="0" tIns="0" rIns="0" bIns="0" rtlCol="0" anchor="ctr"/>
          <a:lstStyle/>
          <a:p>
            <a:pPr indent="0" marL="0">
              <a:buNone/>
            </a:pPr>
            <a:r>
              <a:rPr lang="en-US" sz="1500" b="1" dirty="0">
                <a:solidFill>
                  <a:srgbClr val="C00000"/>
                </a:solidFill>
              </a:rPr>
              <a:t>more thinking</a:t>
            </a:r>
            <a:endParaRPr lang="en-US" sz="15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1: give a short hint, not the manual</a:t>
            </a:r>
            <a:endParaRPr lang="en-US" sz="3600" dirty="0"/>
          </a:p>
        </p:txBody>
      </p:sp>
      <p:sp>
        <p:nvSpPr>
          <p:cNvPr id="3" name="choice a missing fact"/>
          <p:cNvSpPr/>
          <p:nvPr/>
        </p:nvSpPr>
        <p:spPr>
          <a:xfrm>
            <a:off x="9646920" y="475488"/>
            <a:ext cx="1874520" cy="502920"/>
          </a:xfrm>
          <a:prstGeom prst="roundRect">
            <a:avLst>
              <a:gd name="adj" fmla="val 36364"/>
            </a:avLst>
          </a:prstGeom>
          <a:solidFill>
            <a:srgbClr val="E2F0D9"/>
          </a:solidFill>
          <a:ln w="12700">
            <a:solidFill>
              <a:srgbClr val="38761D"/>
            </a:solidFill>
            <a:prstDash val="solid"/>
          </a:ln>
        </p:spPr>
      </p:sp>
      <p:pic>
        <p:nvPicPr>
          <p:cNvPr id="4" name="choice icon fact" descr="/NAS/SJ/POSTECH/nlp/figs/icons/fact.png">    </p:cNvPr>
          <p:cNvPicPr>
            <a:picLocks noChangeAspect="1"/>
          </p:cNvPicPr>
          <p:nvPr/>
        </p:nvPicPr>
        <p:blipFill>
          <a:blip r:embed="rId1"/>
          <a:stretch>
            <a:fillRect/>
          </a:stretch>
        </p:blipFill>
        <p:spPr>
          <a:xfrm>
            <a:off x="9756648" y="562356"/>
            <a:ext cx="329184" cy="329184"/>
          </a:xfrm>
          <a:prstGeom prst="rect">
            <a:avLst/>
          </a:prstGeom>
        </p:spPr>
      </p:pic>
      <p:sp>
        <p:nvSpPr>
          <p:cNvPr id="5" name="Text 2"/>
          <p:cNvSpPr txBox="1"/>
          <p:nvPr/>
        </p:nvSpPr>
        <p:spPr>
          <a:xfrm>
            <a:off x="10149840" y="475488"/>
            <a:ext cx="1371600" cy="502920"/>
          </a:xfrm>
          <a:prstGeom prst="rect">
            <a:avLst/>
          </a:prstGeom>
          <a:noFill/>
          <a:ln/>
        </p:spPr>
        <p:txBody>
          <a:bodyPr wrap="square" lIns="0" tIns="0" rIns="0" bIns="0" rtlCol="0" anchor="ctr"/>
          <a:lstStyle/>
          <a:p>
            <a:pPr indent="0" marL="0">
              <a:buNone/>
            </a:pPr>
            <a:r>
              <a:rPr lang="en-US" sz="1400" b="1" dirty="0">
                <a:solidFill>
                  <a:srgbClr val="38761D"/>
                </a:solidFill>
              </a:rPr>
              <a:t>a code hint</a:t>
            </a:r>
            <a:endParaRPr lang="en-US" sz="1400" dirty="0"/>
          </a:p>
        </p:txBody>
      </p:sp>
      <p:sp>
        <p:nvSpPr>
          <p:cNvPr id="6" name="Text 3"/>
          <p:cNvSpPr txBox="1"/>
          <p:nvPr/>
        </p:nvSpPr>
        <p:spPr>
          <a:xfrm>
            <a:off x="8778240" y="987552"/>
            <a:ext cx="1143000" cy="274320"/>
          </a:xfrm>
          <a:prstGeom prst="rect">
            <a:avLst/>
          </a:prstGeom>
          <a:noFill/>
          <a:ln/>
        </p:spPr>
        <p:txBody>
          <a:bodyPr wrap="square" lIns="0" tIns="0" rIns="0" bIns="0" rtlCol="0" anchor="ctr"/>
          <a:lstStyle/>
          <a:p>
            <a:pPr algn="r" indent="0" marL="0">
              <a:buNone/>
            </a:pPr>
            <a:r>
              <a:rPr lang="en-US" sz="1400" dirty="0">
                <a:solidFill>
                  <a:srgbClr val="7F7F7F"/>
                </a:solidFill>
              </a:rPr>
              <a:t>holds on</a:t>
            </a:r>
            <a:endParaRPr lang="en-US" sz="1400" dirty="0"/>
          </a:p>
        </p:txBody>
      </p:sp>
      <p:pic>
        <p:nvPicPr>
          <p:cNvPr id="7" name="holds on shapes" descr="/NAS/SJ/POSTECH/nlp/figs/icons/shapes.png">    </p:cNvPr>
          <p:cNvPicPr>
            <a:picLocks noChangeAspect="1"/>
          </p:cNvPicPr>
          <p:nvPr/>
        </p:nvPicPr>
        <p:blipFill>
          <a:blip r:embed="rId2"/>
          <a:stretch>
            <a:fillRect/>
          </a:stretch>
        </p:blipFill>
        <p:spPr>
          <a:xfrm>
            <a:off x="10058400" y="978408"/>
            <a:ext cx="274320" cy="274320"/>
          </a:xfrm>
          <a:prstGeom prst="rect">
            <a:avLst/>
          </a:prstGeom>
        </p:spPr>
      </p:pic>
      <p:pic>
        <p:nvPicPr>
          <p:cNvPr id="8" name="not shown on trophy" descr="/NAS/SJ/POSTECH/nlp/figs/icons/trophy.png">    </p:cNvPr>
          <p:cNvPicPr>
            <a:picLocks noChangeAspect="1"/>
          </p:cNvPicPr>
          <p:nvPr/>
        </p:nvPicPr>
        <p:blipFill>
          <a:blip r:embed="rId3">
            <a:alphaModFix amt="18000"/>
          </a:blip>
          <a:stretch>
            <a:fillRect/>
          </a:stretch>
        </p:blipFill>
        <p:spPr>
          <a:xfrm>
            <a:off x="10442448" y="978408"/>
            <a:ext cx="274320" cy="274320"/>
          </a:xfrm>
          <a:prstGeom prst="rect">
            <a:avLst/>
          </a:prstGeom>
        </p:spPr>
      </p:pic>
      <p:pic>
        <p:nvPicPr>
          <p:cNvPr id="9" name="holds on truck" descr="/NAS/SJ/POSTECH/nlp/figs/icons/truck.png">    </p:cNvPr>
          <p:cNvPicPr>
            <a:picLocks noChangeAspect="1"/>
          </p:cNvPicPr>
          <p:nvPr/>
        </p:nvPicPr>
        <p:blipFill>
          <a:blip r:embed="rId4"/>
          <a:stretch>
            <a:fillRect/>
          </a:stretch>
        </p:blipFill>
        <p:spPr>
          <a:xfrm>
            <a:off x="10826496" y="978408"/>
            <a:ext cx="274320" cy="274320"/>
          </a:xfrm>
          <a:prstGeom prst="rect">
            <a:avLst/>
          </a:prstGeom>
        </p:spPr>
      </p:pic>
      <p:pic>
        <p:nvPicPr>
          <p:cNvPr id="10" name="holds on calc" descr="/NAS/SJ/POSTECH/nlp/figs/icons/calc.png">    </p:cNvPr>
          <p:cNvPicPr>
            <a:picLocks noChangeAspect="1"/>
          </p:cNvPicPr>
          <p:nvPr/>
        </p:nvPicPr>
        <p:blipFill>
          <a:blip r:embed="rId5"/>
          <a:stretch>
            <a:fillRect/>
          </a:stretch>
        </p:blipFill>
        <p:spPr>
          <a:xfrm>
            <a:off x="11210544" y="978408"/>
            <a:ext cx="274320" cy="274320"/>
          </a:xfrm>
          <a:prstGeom prst="rect">
            <a:avLst/>
          </a:prstGeom>
        </p:spPr>
      </p:pic>
      <p:sp>
        <p:nvSpPr>
          <p:cNvPr id="11" name="Text 4"/>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Qwen3-32B plans delivery routes with Google's OR-Tools library</a:t>
            </a:r>
            <a:endParaRPr lang="en-US" sz="1700" dirty="0"/>
          </a:p>
        </p:txBody>
      </p:sp>
      <p:sp>
        <p:nvSpPr>
          <p:cNvPr id="12" name="box a long reference she"/>
          <p:cNvSpPr/>
          <p:nvPr/>
        </p:nvSpPr>
        <p:spPr>
          <a:xfrm>
            <a:off x="548640" y="1783080"/>
            <a:ext cx="2468880" cy="548640"/>
          </a:xfrm>
          <a:prstGeom prst="roundRect">
            <a:avLst>
              <a:gd name="adj" fmla="val 10000"/>
            </a:avLst>
          </a:prstGeom>
          <a:solidFill>
            <a:srgbClr val="FCE4D6"/>
          </a:solidFill>
          <a:ln w="9525">
            <a:solidFill>
              <a:srgbClr val="BFBFBF"/>
            </a:solidFill>
            <a:prstDash val="solid"/>
          </a:ln>
        </p:spPr>
      </p:sp>
      <p:sp>
        <p:nvSpPr>
          <p:cNvPr id="13" name="Text 6"/>
          <p:cNvSpPr txBox="1"/>
          <p:nvPr/>
        </p:nvSpPr>
        <p:spPr>
          <a:xfrm>
            <a:off x="621792" y="1783080"/>
            <a:ext cx="2322576" cy="548640"/>
          </a:xfrm>
          <a:prstGeom prst="rect">
            <a:avLst/>
          </a:prstGeom>
          <a:noFill/>
          <a:ln/>
        </p:spPr>
        <p:txBody>
          <a:bodyPr wrap="square" lIns="0" tIns="0" rIns="0" bIns="0" rtlCol="0" anchor="ctr"/>
          <a:lstStyle/>
          <a:p>
            <a:pPr algn="ctr" indent="0" marL="0">
              <a:buNone/>
            </a:pPr>
            <a:r>
              <a:rPr lang="en-US" sz="1600" b="1" dirty="0">
                <a:solidFill>
                  <a:schemeClr val="tx1"/>
                </a:solidFill>
              </a:rPr>
              <a:t>a long reference sheet</a:t>
            </a:r>
            <a:endParaRPr lang="en-US" sz="1600" dirty="0"/>
          </a:p>
        </p:txBody>
      </p:sp>
      <p:sp>
        <p:nvSpPr>
          <p:cNvPr id="14" name="Shape 7"/>
          <p:cNvSpPr/>
          <p:nvPr/>
        </p:nvSpPr>
        <p:spPr>
          <a:xfrm>
            <a:off x="3017520" y="2057400"/>
            <a:ext cx="320040" cy="0"/>
          </a:xfrm>
          <a:prstGeom prst="line">
            <a:avLst/>
          </a:prstGeom>
          <a:noFill/>
          <a:ln w="25400">
            <a:solidFill>
              <a:srgbClr val="7F7F7F"/>
            </a:solidFill>
            <a:prstDash val="solid"/>
            <a:tailEnd type="triangle"/>
          </a:ln>
        </p:spPr>
      </p:sp>
      <p:sp>
        <p:nvSpPr>
          <p:cNvPr id="15" name="code RegisterUnaryLongLiv"/>
          <p:cNvSpPr/>
          <p:nvPr/>
        </p:nvSpPr>
        <p:spPr>
          <a:xfrm>
            <a:off x="3337560" y="1783080"/>
            <a:ext cx="4480560" cy="548640"/>
          </a:xfrm>
          <a:prstGeom prst="rect">
            <a:avLst/>
          </a:prstGeom>
          <a:solidFill>
            <a:srgbClr val="FFFFFF"/>
          </a:solidFill>
          <a:ln w="9525">
            <a:solidFill>
              <a:srgbClr val="BFBFBF"/>
            </a:solidFill>
            <a:prstDash val="solid"/>
          </a:ln>
        </p:spPr>
      </p:sp>
      <p:sp>
        <p:nvSpPr>
          <p:cNvPr id="16" name="Text 9"/>
          <p:cNvSpPr txBox="1"/>
          <p:nvPr/>
        </p:nvSpPr>
        <p:spPr>
          <a:xfrm>
            <a:off x="3447288" y="1783080"/>
            <a:ext cx="4261104" cy="548640"/>
          </a:xfrm>
          <a:prstGeom prst="rect">
            <a:avLst/>
          </a:prstGeom>
          <a:noFill/>
          <a:ln/>
        </p:spPr>
        <p:txBody>
          <a:bodyPr wrap="square" lIns="0" tIns="0" rIns="0" bIns="0" rtlCol="0" anchor="ctr"/>
          <a:lstStyle/>
          <a:p>
            <a:pPr indent="0" marL="0">
              <a:buNone/>
            </a:pPr>
            <a:r>
              <a:rPr lang="en-US" sz="1500" dirty="0">
                <a:solidFill>
                  <a:srgbClr val="C00000"/>
                </a:solidFill>
                <a:latin typeface="Courier New" pitchFamily="34" charset="0"/>
                <a:ea typeface="Courier New" pitchFamily="34" charset="-122"/>
                <a:cs typeface="Courier New" pitchFamily="34" charset="-120"/>
              </a:rPr>
              <a:t>RegisterUnaryLongLivingCallback()</a:t>
            </a:r>
            <a:endParaRPr lang="en-US" sz="1500" dirty="0"/>
          </a:p>
        </p:txBody>
      </p:sp>
      <p:sp>
        <p:nvSpPr>
          <p:cNvPr id="17" name="Text 10"/>
          <p:cNvSpPr txBox="1"/>
          <p:nvPr/>
        </p:nvSpPr>
        <p:spPr>
          <a:xfrm>
            <a:off x="8001000" y="1783080"/>
            <a:ext cx="3566160" cy="548640"/>
          </a:xfrm>
          <a:prstGeom prst="rect">
            <a:avLst/>
          </a:prstGeom>
          <a:noFill/>
          <a:ln/>
        </p:spPr>
        <p:txBody>
          <a:bodyPr wrap="square" lIns="0" tIns="0" rIns="0" bIns="0" rtlCol="0" anchor="ctr"/>
          <a:lstStyle/>
          <a:p>
            <a:pPr indent="0" marL="0">
              <a:buNone/>
            </a:pPr>
            <a:r>
              <a:rPr lang="en-US" sz="1700" b="1" dirty="0">
                <a:solidFill>
                  <a:srgbClr val="C00000"/>
                </a:solidFill>
              </a:rPr>
              <a:t>✗ does not exist: crash</a:t>
            </a:r>
            <a:endParaRPr lang="en-US" sz="1700" dirty="0"/>
          </a:p>
        </p:txBody>
      </p:sp>
      <p:sp>
        <p:nvSpPr>
          <p:cNvPr id="18" name="box the exact usage (11 "/>
          <p:cNvSpPr/>
          <p:nvPr/>
        </p:nvSpPr>
        <p:spPr>
          <a:xfrm>
            <a:off x="548640" y="2514600"/>
            <a:ext cx="2468880" cy="548640"/>
          </a:xfrm>
          <a:prstGeom prst="roundRect">
            <a:avLst>
              <a:gd name="adj" fmla="val 10000"/>
            </a:avLst>
          </a:prstGeom>
          <a:solidFill>
            <a:srgbClr val="E2F0D9"/>
          </a:solidFill>
          <a:ln w="9525">
            <a:solidFill>
              <a:srgbClr val="BFBFBF"/>
            </a:solidFill>
            <a:prstDash val="solid"/>
          </a:ln>
        </p:spPr>
      </p:sp>
      <p:sp>
        <p:nvSpPr>
          <p:cNvPr id="19" name="Text 12"/>
          <p:cNvSpPr txBox="1"/>
          <p:nvPr/>
        </p:nvSpPr>
        <p:spPr>
          <a:xfrm>
            <a:off x="621792" y="2514600"/>
            <a:ext cx="2322576" cy="548640"/>
          </a:xfrm>
          <a:prstGeom prst="rect">
            <a:avLst/>
          </a:prstGeom>
          <a:noFill/>
          <a:ln/>
        </p:spPr>
        <p:txBody>
          <a:bodyPr wrap="square" lIns="0" tIns="0" rIns="0" bIns="0" rtlCol="0" anchor="ctr"/>
          <a:lstStyle/>
          <a:p>
            <a:pPr algn="ctr" indent="0" marL="0">
              <a:buNone/>
            </a:pPr>
            <a:r>
              <a:rPr lang="en-US" sz="1600" b="1" dirty="0">
                <a:solidFill>
                  <a:schemeClr val="tx1"/>
                </a:solidFill>
              </a:rPr>
              <a:t>the exact usage (11 lines)</a:t>
            </a:r>
            <a:endParaRPr lang="en-US" sz="1600" dirty="0"/>
          </a:p>
        </p:txBody>
      </p:sp>
      <p:sp>
        <p:nvSpPr>
          <p:cNvPr id="20" name="Shape 13"/>
          <p:cNvSpPr/>
          <p:nvPr/>
        </p:nvSpPr>
        <p:spPr>
          <a:xfrm>
            <a:off x="3017520" y="2788920"/>
            <a:ext cx="320040" cy="0"/>
          </a:xfrm>
          <a:prstGeom prst="line">
            <a:avLst/>
          </a:prstGeom>
          <a:noFill/>
          <a:ln w="25400">
            <a:solidFill>
              <a:srgbClr val="7F7F7F"/>
            </a:solidFill>
            <a:prstDash val="solid"/>
            <a:tailEnd type="triangle"/>
          </a:ln>
        </p:spPr>
      </p:sp>
      <p:sp>
        <p:nvSpPr>
          <p:cNvPr id="21" name="code RegisterUnaryTransit"/>
          <p:cNvSpPr/>
          <p:nvPr/>
        </p:nvSpPr>
        <p:spPr>
          <a:xfrm>
            <a:off x="3337560" y="2514600"/>
            <a:ext cx="4480560" cy="548640"/>
          </a:xfrm>
          <a:prstGeom prst="rect">
            <a:avLst/>
          </a:prstGeom>
          <a:solidFill>
            <a:srgbClr val="FFFFFF"/>
          </a:solidFill>
          <a:ln w="9525">
            <a:solidFill>
              <a:srgbClr val="BFBFBF"/>
            </a:solidFill>
            <a:prstDash val="solid"/>
          </a:ln>
        </p:spPr>
      </p:sp>
      <p:sp>
        <p:nvSpPr>
          <p:cNvPr id="22" name="Text 15"/>
          <p:cNvSpPr txBox="1"/>
          <p:nvPr/>
        </p:nvSpPr>
        <p:spPr>
          <a:xfrm>
            <a:off x="3447288" y="2514600"/>
            <a:ext cx="4261104" cy="548640"/>
          </a:xfrm>
          <a:prstGeom prst="rect">
            <a:avLst/>
          </a:prstGeom>
          <a:noFill/>
          <a:ln/>
        </p:spPr>
        <p:txBody>
          <a:bodyPr wrap="square" lIns="0" tIns="0" rIns="0" bIns="0" rtlCol="0" anchor="ctr"/>
          <a:lstStyle/>
          <a:p>
            <a:pPr indent="0" marL="0">
              <a:buNone/>
            </a:pPr>
            <a:r>
              <a:rPr lang="en-US" sz="1500" dirty="0">
                <a:solidFill>
                  <a:srgbClr val="38761D"/>
                </a:solidFill>
                <a:latin typeface="Courier New" pitchFamily="34" charset="0"/>
                <a:ea typeface="Courier New" pitchFamily="34" charset="-122"/>
                <a:cs typeface="Courier New" pitchFamily="34" charset="-120"/>
              </a:rPr>
              <a:t>RegisterUnaryTransitCallback()</a:t>
            </a:r>
            <a:endParaRPr lang="en-US" sz="1500" dirty="0"/>
          </a:p>
        </p:txBody>
      </p:sp>
      <p:sp>
        <p:nvSpPr>
          <p:cNvPr id="23" name="Text 16"/>
          <p:cNvSpPr txBox="1"/>
          <p:nvPr/>
        </p:nvSpPr>
        <p:spPr>
          <a:xfrm>
            <a:off x="8001000" y="2514600"/>
            <a:ext cx="3566160" cy="548640"/>
          </a:xfrm>
          <a:prstGeom prst="rect">
            <a:avLst/>
          </a:prstGeom>
          <a:noFill/>
          <a:ln/>
        </p:spPr>
        <p:txBody>
          <a:bodyPr wrap="square" lIns="0" tIns="0" rIns="0" bIns="0" rtlCol="0" anchor="ctr"/>
          <a:lstStyle/>
          <a:p>
            <a:pPr indent="0" marL="0">
              <a:buNone/>
            </a:pPr>
            <a:r>
              <a:rPr lang="en-US" sz="1700" b="1" dirty="0">
                <a:solidFill>
                  <a:srgbClr val="38761D"/>
                </a:solidFill>
              </a:rPr>
              <a:t>✓ runs: best route</a:t>
            </a:r>
            <a:endParaRPr lang="en-US" sz="1700" dirty="0"/>
          </a:p>
        </p:txBody>
      </p:sp>
      <p:sp>
        <p:nvSpPr>
          <p:cNvPr id="24" name="Text 17"/>
          <p:cNvSpPr txBox="1"/>
          <p:nvPr/>
        </p:nvSpPr>
        <p:spPr>
          <a:xfrm>
            <a:off x="548640" y="3337560"/>
            <a:ext cx="11064240" cy="365760"/>
          </a:xfrm>
          <a:prstGeom prst="rect">
            <a:avLst/>
          </a:prstGeom>
          <a:noFill/>
          <a:ln/>
        </p:spPr>
        <p:txBody>
          <a:bodyPr wrap="square" lIns="0" tIns="0" rIns="0" bIns="0" rtlCol="0" anchor="ctr"/>
          <a:lstStyle/>
          <a:p>
            <a:pPr indent="0" marL="0">
              <a:buNone/>
            </a:pPr>
            <a:r>
              <a:rPr lang="en-US" sz="1700" b="1" dirty="0">
                <a:solidFill>
                  <a:schemeClr val="tx1"/>
                </a:solidFill>
              </a:rPr>
              <a:t>% of 30 routing problems solved optimally:</a:t>
            </a:r>
            <a:endParaRPr lang="en-US" sz="1700" dirty="0"/>
          </a:p>
        </p:txBody>
      </p:sp>
      <p:sp>
        <p:nvSpPr>
          <p:cNvPr id="25" name="Text 18"/>
          <p:cNvSpPr txBox="1"/>
          <p:nvPr/>
        </p:nvSpPr>
        <p:spPr>
          <a:xfrm>
            <a:off x="548640" y="3749040"/>
            <a:ext cx="2377440" cy="365760"/>
          </a:xfrm>
          <a:prstGeom prst="rect">
            <a:avLst/>
          </a:prstGeom>
          <a:noFill/>
          <a:ln/>
        </p:spPr>
        <p:txBody>
          <a:bodyPr wrap="square" lIns="0" tIns="0" rIns="0" bIns="0" rtlCol="0" anchor="ctr"/>
          <a:lstStyle/>
          <a:p>
            <a:pPr algn="r" indent="0" marL="0">
              <a:buNone/>
            </a:pPr>
            <a:r>
              <a:rPr lang="en-US" sz="1600" dirty="0">
                <a:solidFill>
                  <a:schemeClr val="tx1"/>
                </a:solidFill>
              </a:rPr>
              <a:t>nothing extra</a:t>
            </a:r>
            <a:endParaRPr lang="en-US" sz="1600" dirty="0"/>
          </a:p>
        </p:txBody>
      </p:sp>
      <p:sp>
        <p:nvSpPr>
          <p:cNvPr id="26" name="bar nothing extra"/>
          <p:cNvSpPr/>
          <p:nvPr/>
        </p:nvSpPr>
        <p:spPr>
          <a:xfrm>
            <a:off x="3063240" y="3817620"/>
            <a:ext cx="1409090" cy="228600"/>
          </a:xfrm>
          <a:prstGeom prst="rect">
            <a:avLst/>
          </a:prstGeom>
          <a:solidFill>
            <a:srgbClr val="7F7F7F"/>
          </a:solidFill>
          <a:ln w="6350">
            <a:solidFill>
              <a:srgbClr val="7F7F7F"/>
            </a:solidFill>
            <a:prstDash val="solid"/>
          </a:ln>
        </p:spPr>
      </p:sp>
      <p:sp>
        <p:nvSpPr>
          <p:cNvPr id="27" name="Text 20"/>
          <p:cNvSpPr txBox="1"/>
          <p:nvPr/>
        </p:nvSpPr>
        <p:spPr>
          <a:xfrm>
            <a:off x="4563770" y="3749040"/>
            <a:ext cx="2377440" cy="365760"/>
          </a:xfrm>
          <a:prstGeom prst="rect">
            <a:avLst/>
          </a:prstGeom>
          <a:noFill/>
          <a:ln/>
        </p:spPr>
        <p:txBody>
          <a:bodyPr wrap="square" lIns="0" tIns="0" rIns="0" bIns="0" rtlCol="0" anchor="ctr"/>
          <a:lstStyle/>
          <a:p>
            <a:pPr indent="0" marL="0">
              <a:buNone/>
            </a:pPr>
            <a:r>
              <a:rPr lang="en-US" sz="1800" b="1" dirty="0">
                <a:solidFill>
                  <a:srgbClr val="7F7F7F"/>
                </a:solidFill>
              </a:rPr>
              <a:t>23%</a:t>
            </a:r>
            <a:endParaRPr lang="en-US" sz="1800" dirty="0"/>
          </a:p>
        </p:txBody>
      </p:sp>
      <p:sp>
        <p:nvSpPr>
          <p:cNvPr id="28" name="Text 21"/>
          <p:cNvSpPr txBox="1"/>
          <p:nvPr/>
        </p:nvSpPr>
        <p:spPr>
          <a:xfrm>
            <a:off x="548640" y="4206240"/>
            <a:ext cx="2377440" cy="365760"/>
          </a:xfrm>
          <a:prstGeom prst="rect">
            <a:avLst/>
          </a:prstGeom>
          <a:noFill/>
          <a:ln/>
        </p:spPr>
        <p:txBody>
          <a:bodyPr wrap="square" lIns="0" tIns="0" rIns="0" bIns="0" rtlCol="0" anchor="ctr"/>
          <a:lstStyle/>
          <a:p>
            <a:pPr algn="r" indent="0" marL="0">
              <a:buNone/>
            </a:pPr>
            <a:r>
              <a:rPr lang="en-US" sz="1600" dirty="0">
                <a:solidFill>
                  <a:schemeClr val="tx1"/>
                </a:solidFill>
              </a:rPr>
              <a:t>think longer</a:t>
            </a:r>
            <a:endParaRPr lang="en-US" sz="1600" dirty="0"/>
          </a:p>
        </p:txBody>
      </p:sp>
      <p:sp>
        <p:nvSpPr>
          <p:cNvPr id="29" name="bar think longer"/>
          <p:cNvSpPr/>
          <p:nvPr/>
        </p:nvSpPr>
        <p:spPr>
          <a:xfrm>
            <a:off x="3063240" y="4274820"/>
            <a:ext cx="183794" cy="228600"/>
          </a:xfrm>
          <a:prstGeom prst="rect">
            <a:avLst/>
          </a:prstGeom>
          <a:solidFill>
            <a:srgbClr val="C00000"/>
          </a:solidFill>
          <a:ln w="6350">
            <a:solidFill>
              <a:srgbClr val="C00000"/>
            </a:solidFill>
            <a:prstDash val="solid"/>
          </a:ln>
        </p:spPr>
      </p:sp>
      <p:sp>
        <p:nvSpPr>
          <p:cNvPr id="30" name="Text 23"/>
          <p:cNvSpPr txBox="1"/>
          <p:nvPr/>
        </p:nvSpPr>
        <p:spPr>
          <a:xfrm>
            <a:off x="3338474" y="4206240"/>
            <a:ext cx="2377440" cy="365760"/>
          </a:xfrm>
          <a:prstGeom prst="rect">
            <a:avLst/>
          </a:prstGeom>
          <a:noFill/>
          <a:ln/>
        </p:spPr>
        <p:txBody>
          <a:bodyPr wrap="square" lIns="0" tIns="0" rIns="0" bIns="0" rtlCol="0" anchor="ctr"/>
          <a:lstStyle/>
          <a:p>
            <a:pPr indent="0" marL="0">
              <a:buNone/>
            </a:pPr>
            <a:r>
              <a:rPr lang="en-US" sz="1800" b="1" dirty="0">
                <a:solidFill>
                  <a:srgbClr val="C00000"/>
                </a:solidFill>
              </a:rPr>
              <a:t>3%</a:t>
            </a:r>
            <a:endParaRPr lang="en-US" sz="1800" dirty="0"/>
          </a:p>
        </p:txBody>
      </p:sp>
      <p:sp>
        <p:nvSpPr>
          <p:cNvPr id="31" name="Text 24"/>
          <p:cNvSpPr txBox="1"/>
          <p:nvPr/>
        </p:nvSpPr>
        <p:spPr>
          <a:xfrm>
            <a:off x="548640" y="4663440"/>
            <a:ext cx="2377440" cy="365760"/>
          </a:xfrm>
          <a:prstGeom prst="rect">
            <a:avLst/>
          </a:prstGeom>
          <a:noFill/>
          <a:ln/>
        </p:spPr>
        <p:txBody>
          <a:bodyPr wrap="square" lIns="0" tIns="0" rIns="0" bIns="0" rtlCol="0" anchor="ctr"/>
          <a:lstStyle/>
          <a:p>
            <a:pPr algn="r" indent="0" marL="0">
              <a:buNone/>
            </a:pPr>
            <a:r>
              <a:rPr lang="en-US" sz="1600" dirty="0">
                <a:solidFill>
                  <a:schemeClr val="tx1"/>
                </a:solidFill>
              </a:rPr>
              <a:t>long reference sheet</a:t>
            </a:r>
            <a:endParaRPr lang="en-US" sz="1600" dirty="0"/>
          </a:p>
        </p:txBody>
      </p:sp>
      <p:sp>
        <p:nvSpPr>
          <p:cNvPr id="32" name="bar long reference sheet"/>
          <p:cNvSpPr/>
          <p:nvPr/>
        </p:nvSpPr>
        <p:spPr>
          <a:xfrm>
            <a:off x="3063240" y="4732020"/>
            <a:ext cx="428854" cy="228600"/>
          </a:xfrm>
          <a:prstGeom prst="rect">
            <a:avLst/>
          </a:prstGeom>
          <a:solidFill>
            <a:srgbClr val="C00000"/>
          </a:solidFill>
          <a:ln w="6350">
            <a:solidFill>
              <a:srgbClr val="C00000"/>
            </a:solidFill>
            <a:prstDash val="solid"/>
          </a:ln>
        </p:spPr>
      </p:sp>
      <p:sp>
        <p:nvSpPr>
          <p:cNvPr id="33" name="Text 26"/>
          <p:cNvSpPr txBox="1"/>
          <p:nvPr/>
        </p:nvSpPr>
        <p:spPr>
          <a:xfrm>
            <a:off x="3583534" y="4663440"/>
            <a:ext cx="2377440" cy="365760"/>
          </a:xfrm>
          <a:prstGeom prst="rect">
            <a:avLst/>
          </a:prstGeom>
          <a:noFill/>
          <a:ln/>
        </p:spPr>
        <p:txBody>
          <a:bodyPr wrap="square" lIns="0" tIns="0" rIns="0" bIns="0" rtlCol="0" anchor="ctr"/>
          <a:lstStyle/>
          <a:p>
            <a:pPr indent="0" marL="0">
              <a:buNone/>
            </a:pPr>
            <a:r>
              <a:rPr lang="en-US" sz="1800" b="1" dirty="0">
                <a:solidFill>
                  <a:srgbClr val="C00000"/>
                </a:solidFill>
              </a:rPr>
              <a:t>7%</a:t>
            </a:r>
            <a:endParaRPr lang="en-US" sz="1800" dirty="0"/>
          </a:p>
        </p:txBody>
      </p:sp>
      <p:sp>
        <p:nvSpPr>
          <p:cNvPr id="34" name="Text 27"/>
          <p:cNvSpPr txBox="1"/>
          <p:nvPr/>
        </p:nvSpPr>
        <p:spPr>
          <a:xfrm>
            <a:off x="548640" y="5120640"/>
            <a:ext cx="2377440" cy="365760"/>
          </a:xfrm>
          <a:prstGeom prst="rect">
            <a:avLst/>
          </a:prstGeom>
          <a:noFill/>
          <a:ln/>
        </p:spPr>
        <p:txBody>
          <a:bodyPr wrap="square" lIns="0" tIns="0" rIns="0" bIns="0" rtlCol="0" anchor="ctr"/>
          <a:lstStyle/>
          <a:p>
            <a:pPr algn="r" indent="0" marL="0">
              <a:buNone/>
            </a:pPr>
            <a:r>
              <a:rPr lang="en-US" sz="1600" dirty="0">
                <a:solidFill>
                  <a:schemeClr val="tx1"/>
                </a:solidFill>
              </a:rPr>
              <a:t>exact usage</a:t>
            </a:r>
            <a:endParaRPr lang="en-US" sz="1600" dirty="0"/>
          </a:p>
        </p:txBody>
      </p:sp>
      <p:sp>
        <p:nvSpPr>
          <p:cNvPr id="35" name="bar exact usage"/>
          <p:cNvSpPr/>
          <p:nvPr/>
        </p:nvSpPr>
        <p:spPr>
          <a:xfrm>
            <a:off x="3063240" y="5189220"/>
            <a:ext cx="5084978" cy="228600"/>
          </a:xfrm>
          <a:prstGeom prst="rect">
            <a:avLst/>
          </a:prstGeom>
          <a:solidFill>
            <a:srgbClr val="4472C4"/>
          </a:solidFill>
          <a:ln w="6350">
            <a:solidFill>
              <a:srgbClr val="4472C4"/>
            </a:solidFill>
            <a:prstDash val="solid"/>
          </a:ln>
        </p:spPr>
      </p:sp>
      <p:sp>
        <p:nvSpPr>
          <p:cNvPr id="36" name="Text 29"/>
          <p:cNvSpPr txBox="1"/>
          <p:nvPr/>
        </p:nvSpPr>
        <p:spPr>
          <a:xfrm>
            <a:off x="8239658" y="5120640"/>
            <a:ext cx="2377440" cy="365760"/>
          </a:xfrm>
          <a:prstGeom prst="rect">
            <a:avLst/>
          </a:prstGeom>
          <a:noFill/>
          <a:ln/>
        </p:spPr>
        <p:txBody>
          <a:bodyPr wrap="square" lIns="0" tIns="0" rIns="0" bIns="0" rtlCol="0" anchor="ctr"/>
          <a:lstStyle/>
          <a:p>
            <a:pPr indent="0" marL="0">
              <a:buNone/>
            </a:pPr>
            <a:r>
              <a:rPr lang="en-US" sz="1800" b="1" dirty="0">
                <a:solidFill>
                  <a:srgbClr val="4472C4"/>
                </a:solidFill>
              </a:rPr>
              <a:t>77–90% (3 seeds)</a:t>
            </a:r>
            <a:endParaRPr lang="en-US" sz="1800" dirty="0"/>
          </a:p>
        </p:txBody>
      </p:sp>
      <p:sp>
        <p:nvSpPr>
          <p:cNvPr id="37" name="Text 30"/>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Thinking cannot supply what the model does not know</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Finding 2: think only when a free check fails</a:t>
            </a:r>
            <a:endParaRPr lang="en-US" sz="3600" dirty="0"/>
          </a:p>
        </p:txBody>
      </p:sp>
      <p:sp>
        <p:nvSpPr>
          <p:cNvPr id="3" name="choice a free check"/>
          <p:cNvSpPr/>
          <p:nvPr/>
        </p:nvSpPr>
        <p:spPr>
          <a:xfrm>
            <a:off x="9646920" y="475488"/>
            <a:ext cx="1874520" cy="502920"/>
          </a:xfrm>
          <a:prstGeom prst="roundRect">
            <a:avLst>
              <a:gd name="adj" fmla="val 36364"/>
            </a:avLst>
          </a:prstGeom>
          <a:solidFill>
            <a:srgbClr val="E2F0D9"/>
          </a:solidFill>
          <a:ln w="12700">
            <a:solidFill>
              <a:srgbClr val="38761D"/>
            </a:solidFill>
            <a:prstDash val="solid"/>
          </a:ln>
        </p:spPr>
      </p:sp>
      <p:pic>
        <p:nvPicPr>
          <p:cNvPr id="4" name="choice icon check" descr="/NAS/SJ/POSTECH/nlp/figs/icons/check.png">    </p:cNvPr>
          <p:cNvPicPr>
            <a:picLocks noChangeAspect="1"/>
          </p:cNvPicPr>
          <p:nvPr/>
        </p:nvPicPr>
        <p:blipFill>
          <a:blip r:embed="rId1"/>
          <a:stretch>
            <a:fillRect/>
          </a:stretch>
        </p:blipFill>
        <p:spPr>
          <a:xfrm>
            <a:off x="9756648" y="562356"/>
            <a:ext cx="329184" cy="329184"/>
          </a:xfrm>
          <a:prstGeom prst="rect">
            <a:avLst/>
          </a:prstGeom>
        </p:spPr>
      </p:pic>
      <p:sp>
        <p:nvSpPr>
          <p:cNvPr id="5" name="Text 2"/>
          <p:cNvSpPr txBox="1"/>
          <p:nvPr/>
        </p:nvSpPr>
        <p:spPr>
          <a:xfrm>
            <a:off x="10149840" y="475488"/>
            <a:ext cx="1371600" cy="502920"/>
          </a:xfrm>
          <a:prstGeom prst="rect">
            <a:avLst/>
          </a:prstGeom>
          <a:noFill/>
          <a:ln/>
        </p:spPr>
        <p:txBody>
          <a:bodyPr wrap="square" lIns="0" tIns="0" rIns="0" bIns="0" rtlCol="0" anchor="ctr"/>
          <a:lstStyle/>
          <a:p>
            <a:pPr indent="0" marL="0">
              <a:buNone/>
            </a:pPr>
            <a:r>
              <a:rPr lang="en-US" sz="1400" b="1" dirty="0">
                <a:solidFill>
                  <a:srgbClr val="38761D"/>
                </a:solidFill>
              </a:rPr>
              <a:t>a free check</a:t>
            </a:r>
            <a:endParaRPr lang="en-US" sz="1400" dirty="0"/>
          </a:p>
        </p:txBody>
      </p:sp>
      <p:sp>
        <p:nvSpPr>
          <p:cNvPr id="6" name="Text 3"/>
          <p:cNvSpPr txBox="1"/>
          <p:nvPr/>
        </p:nvSpPr>
        <p:spPr>
          <a:xfrm>
            <a:off x="8778240" y="987552"/>
            <a:ext cx="1143000" cy="274320"/>
          </a:xfrm>
          <a:prstGeom prst="rect">
            <a:avLst/>
          </a:prstGeom>
          <a:noFill/>
          <a:ln/>
        </p:spPr>
        <p:txBody>
          <a:bodyPr wrap="square" lIns="0" tIns="0" rIns="0" bIns="0" rtlCol="0" anchor="ctr"/>
          <a:lstStyle/>
          <a:p>
            <a:pPr algn="r" indent="0" marL="0">
              <a:buNone/>
            </a:pPr>
            <a:r>
              <a:rPr lang="en-US" sz="1400" dirty="0">
                <a:solidFill>
                  <a:srgbClr val="7F7F7F"/>
                </a:solidFill>
              </a:rPr>
              <a:t>holds on</a:t>
            </a:r>
            <a:endParaRPr lang="en-US" sz="1400" dirty="0"/>
          </a:p>
        </p:txBody>
      </p:sp>
      <p:pic>
        <p:nvPicPr>
          <p:cNvPr id="7" name="holds on shapes" descr="/NAS/SJ/POSTECH/nlp/figs/icons/shapes.png">    </p:cNvPr>
          <p:cNvPicPr>
            <a:picLocks noChangeAspect="1"/>
          </p:cNvPicPr>
          <p:nvPr/>
        </p:nvPicPr>
        <p:blipFill>
          <a:blip r:embed="rId2"/>
          <a:stretch>
            <a:fillRect/>
          </a:stretch>
        </p:blipFill>
        <p:spPr>
          <a:xfrm>
            <a:off x="10058400" y="978408"/>
            <a:ext cx="274320" cy="274320"/>
          </a:xfrm>
          <a:prstGeom prst="rect">
            <a:avLst/>
          </a:prstGeom>
        </p:spPr>
      </p:pic>
      <p:pic>
        <p:nvPicPr>
          <p:cNvPr id="8" name="holds on trophy" descr="/NAS/SJ/POSTECH/nlp/figs/icons/trophy.png">    </p:cNvPr>
          <p:cNvPicPr>
            <a:picLocks noChangeAspect="1"/>
          </p:cNvPicPr>
          <p:nvPr/>
        </p:nvPicPr>
        <p:blipFill>
          <a:blip r:embed="rId3"/>
          <a:stretch>
            <a:fillRect/>
          </a:stretch>
        </p:blipFill>
        <p:spPr>
          <a:xfrm>
            <a:off x="10442448" y="978408"/>
            <a:ext cx="274320" cy="274320"/>
          </a:xfrm>
          <a:prstGeom prst="rect">
            <a:avLst/>
          </a:prstGeom>
        </p:spPr>
      </p:pic>
      <p:pic>
        <p:nvPicPr>
          <p:cNvPr id="9" name="holds on truck" descr="/NAS/SJ/POSTECH/nlp/figs/icons/truck.png">    </p:cNvPr>
          <p:cNvPicPr>
            <a:picLocks noChangeAspect="1"/>
          </p:cNvPicPr>
          <p:nvPr/>
        </p:nvPicPr>
        <p:blipFill>
          <a:blip r:embed="rId4"/>
          <a:stretch>
            <a:fillRect/>
          </a:stretch>
        </p:blipFill>
        <p:spPr>
          <a:xfrm>
            <a:off x="10826496" y="978408"/>
            <a:ext cx="274320" cy="274320"/>
          </a:xfrm>
          <a:prstGeom prst="rect">
            <a:avLst/>
          </a:prstGeom>
        </p:spPr>
      </p:pic>
      <p:pic>
        <p:nvPicPr>
          <p:cNvPr id="10" name="holds on calc" descr="/NAS/SJ/POSTECH/nlp/figs/icons/calc.png">    </p:cNvPr>
          <p:cNvPicPr>
            <a:picLocks noChangeAspect="1"/>
          </p:cNvPicPr>
          <p:nvPr/>
        </p:nvPicPr>
        <p:blipFill>
          <a:blip r:embed="rId5"/>
          <a:stretch>
            <a:fillRect/>
          </a:stretch>
        </p:blipFill>
        <p:spPr>
          <a:xfrm>
            <a:off x="11210544" y="978408"/>
            <a:ext cx="274320" cy="274320"/>
          </a:xfrm>
          <a:prstGeom prst="rect">
            <a:avLst/>
          </a:prstGeom>
        </p:spPr>
      </p:pic>
      <p:sp>
        <p:nvSpPr>
          <p:cNvPr id="11" name="how a free check works"/>
          <p:cNvSpPr/>
          <p:nvPr/>
        </p:nvSpPr>
        <p:spPr>
          <a:xfrm>
            <a:off x="548640" y="1371600"/>
            <a:ext cx="5349240" cy="4160520"/>
          </a:xfrm>
          <a:prstGeom prst="roundRect">
            <a:avLst>
              <a:gd name="adj" fmla="val 1758"/>
            </a:avLst>
          </a:prstGeom>
          <a:solidFill>
            <a:srgbClr val="F2F2F2"/>
          </a:solidFill>
          <a:ln w="9525">
            <a:solidFill>
              <a:srgbClr val="D9D9D9"/>
            </a:solidFill>
            <a:prstDash val="solid"/>
          </a:ln>
        </p:spPr>
      </p:sp>
      <p:sp>
        <p:nvSpPr>
          <p:cNvPr id="12" name="Text 5"/>
          <p:cNvSpPr txBox="1"/>
          <p:nvPr/>
        </p:nvSpPr>
        <p:spPr>
          <a:xfrm>
            <a:off x="777240" y="1444752"/>
            <a:ext cx="4937760" cy="384048"/>
          </a:xfrm>
          <a:prstGeom prst="rect">
            <a:avLst/>
          </a:prstGeom>
          <a:noFill/>
          <a:ln/>
        </p:spPr>
        <p:txBody>
          <a:bodyPr wrap="square" lIns="0" tIns="0" rIns="0" bIns="0" rtlCol="0" anchor="ctr"/>
          <a:lstStyle/>
          <a:p>
            <a:pPr indent="0" marL="0">
              <a:buNone/>
            </a:pPr>
            <a:r>
              <a:rPr lang="en-US" sz="1800" b="1" dirty="0">
                <a:solidFill>
                  <a:srgbClr val="4472C4"/>
                </a:solidFill>
              </a:rPr>
              <a:t>How a free check works</a:t>
            </a:r>
            <a:endParaRPr lang="en-US" sz="1800" dirty="0"/>
          </a:p>
        </p:txBody>
      </p:sp>
      <p:sp>
        <p:nvSpPr>
          <p:cNvPr id="13" name="box The problem shows an"/>
          <p:cNvSpPr/>
          <p:nvPr/>
        </p:nvSpPr>
        <p:spPr>
          <a:xfrm>
            <a:off x="777240" y="1874520"/>
            <a:ext cx="4892040" cy="566928"/>
          </a:xfrm>
          <a:prstGeom prst="roundRect">
            <a:avLst>
              <a:gd name="adj" fmla="val 9677"/>
            </a:avLst>
          </a:prstGeom>
          <a:solidFill>
            <a:srgbClr val="FFFFFF"/>
          </a:solidFill>
          <a:ln w="9525">
            <a:solidFill>
              <a:srgbClr val="BFBFBF"/>
            </a:solidFill>
            <a:prstDash val="solid"/>
          </a:ln>
        </p:spPr>
      </p:sp>
      <p:sp>
        <p:nvSpPr>
          <p:cNvPr id="14" name="Text 7"/>
          <p:cNvSpPr txBox="1"/>
          <p:nvPr/>
        </p:nvSpPr>
        <p:spPr>
          <a:xfrm>
            <a:off x="850392" y="1874520"/>
            <a:ext cx="4745736" cy="566928"/>
          </a:xfrm>
          <a:prstGeom prst="rect">
            <a:avLst/>
          </a:prstGeom>
          <a:noFill/>
          <a:ln/>
        </p:spPr>
        <p:txBody>
          <a:bodyPr wrap="square" lIns="0" tIns="0" rIns="0" bIns="0" rtlCol="0" anchor="ctr"/>
          <a:lstStyle/>
          <a:p>
            <a:pPr algn="ctr" indent="0" marL="0">
              <a:buNone/>
            </a:pPr>
            <a:r>
              <a:rPr lang="en-US" sz="1500" dirty="0">
                <a:solidFill>
                  <a:schemeClr val="tx1"/>
                </a:solidFill>
              </a:rPr>
              <a:t>The problem shows an example: sticks 3 4 5 → answer 0</a:t>
            </a:r>
            <a:endParaRPr lang="en-US" sz="1500" dirty="0"/>
          </a:p>
        </p:txBody>
      </p:sp>
      <p:sp>
        <p:nvSpPr>
          <p:cNvPr id="15" name="Shape 8"/>
          <p:cNvSpPr/>
          <p:nvPr/>
        </p:nvSpPr>
        <p:spPr>
          <a:xfrm>
            <a:off x="3218688" y="2441448"/>
            <a:ext cx="0" cy="210312"/>
          </a:xfrm>
          <a:prstGeom prst="line">
            <a:avLst/>
          </a:prstGeom>
          <a:noFill/>
          <a:ln w="25400">
            <a:solidFill>
              <a:srgbClr val="7F7F7F"/>
            </a:solidFill>
            <a:prstDash val="solid"/>
            <a:tailEnd type="triangle"/>
          </a:ln>
        </p:spPr>
      </p:sp>
      <p:sp>
        <p:nvSpPr>
          <p:cNvPr id="16" name="box Run our program on 3"/>
          <p:cNvSpPr/>
          <p:nvPr/>
        </p:nvSpPr>
        <p:spPr>
          <a:xfrm>
            <a:off x="777240" y="2651760"/>
            <a:ext cx="4892040" cy="566928"/>
          </a:xfrm>
          <a:prstGeom prst="roundRect">
            <a:avLst>
              <a:gd name="adj" fmla="val 9677"/>
            </a:avLst>
          </a:prstGeom>
          <a:solidFill>
            <a:srgbClr val="FFFFFF"/>
          </a:solidFill>
          <a:ln w="9525">
            <a:solidFill>
              <a:srgbClr val="BFBFBF"/>
            </a:solidFill>
            <a:prstDash val="solid"/>
          </a:ln>
        </p:spPr>
      </p:sp>
      <p:sp>
        <p:nvSpPr>
          <p:cNvPr id="17" name="Text 10"/>
          <p:cNvSpPr txBox="1"/>
          <p:nvPr/>
        </p:nvSpPr>
        <p:spPr>
          <a:xfrm>
            <a:off x="850392" y="2651760"/>
            <a:ext cx="4745736" cy="566928"/>
          </a:xfrm>
          <a:prstGeom prst="rect">
            <a:avLst/>
          </a:prstGeom>
          <a:noFill/>
          <a:ln/>
        </p:spPr>
        <p:txBody>
          <a:bodyPr wrap="square" lIns="0" tIns="0" rIns="0" bIns="0" rtlCol="0" anchor="ctr"/>
          <a:lstStyle/>
          <a:p>
            <a:pPr algn="ctr" indent="0" marL="0">
              <a:buNone/>
            </a:pPr>
            <a:r>
              <a:rPr lang="en-US" sz="1500" dirty="0">
                <a:solidFill>
                  <a:schemeClr val="tx1"/>
                </a:solidFill>
              </a:rPr>
              <a:t>Run our program on 3 4 5 (no model needed): it prints 0</a:t>
            </a:r>
            <a:endParaRPr lang="en-US" sz="1500" dirty="0"/>
          </a:p>
        </p:txBody>
      </p:sp>
      <p:sp>
        <p:nvSpPr>
          <p:cNvPr id="18" name="Shape 11"/>
          <p:cNvSpPr/>
          <p:nvPr/>
        </p:nvSpPr>
        <p:spPr>
          <a:xfrm>
            <a:off x="1920240" y="3218688"/>
            <a:ext cx="182880" cy="237744"/>
          </a:xfrm>
          <a:prstGeom prst="line">
            <a:avLst/>
          </a:prstGeom>
          <a:noFill/>
          <a:ln w="25400">
            <a:solidFill>
              <a:srgbClr val="7F7F7F"/>
            </a:solidFill>
            <a:prstDash val="solid"/>
            <a:tailEnd type="triangle"/>
          </a:ln>
        </p:spPr>
      </p:sp>
      <p:sp>
        <p:nvSpPr>
          <p:cNvPr id="19" name="Shape 12"/>
          <p:cNvSpPr/>
          <p:nvPr/>
        </p:nvSpPr>
        <p:spPr>
          <a:xfrm>
            <a:off x="4343400" y="3218688"/>
            <a:ext cx="182880" cy="237744"/>
          </a:xfrm>
          <a:prstGeom prst="line">
            <a:avLst/>
          </a:prstGeom>
          <a:noFill/>
          <a:ln w="25400">
            <a:solidFill>
              <a:srgbClr val="7F7F7F"/>
            </a:solidFill>
            <a:prstDash val="solid"/>
            <a:tailEnd type="triangle"/>
          </a:ln>
        </p:spPr>
      </p:sp>
      <p:sp>
        <p:nvSpPr>
          <p:cNvPr id="20" name="box ✓ same → submit (no "/>
          <p:cNvSpPr/>
          <p:nvPr/>
        </p:nvSpPr>
        <p:spPr>
          <a:xfrm>
            <a:off x="777240" y="3456432"/>
            <a:ext cx="2377440" cy="658368"/>
          </a:xfrm>
          <a:prstGeom prst="roundRect">
            <a:avLst>
              <a:gd name="adj" fmla="val 8333"/>
            </a:avLst>
          </a:prstGeom>
          <a:solidFill>
            <a:srgbClr val="E2F0D9"/>
          </a:solidFill>
          <a:ln w="9525">
            <a:solidFill>
              <a:srgbClr val="BFBFBF"/>
            </a:solidFill>
            <a:prstDash val="solid"/>
          </a:ln>
        </p:spPr>
      </p:sp>
      <p:sp>
        <p:nvSpPr>
          <p:cNvPr id="21" name="Text 14"/>
          <p:cNvSpPr txBox="1"/>
          <p:nvPr/>
        </p:nvSpPr>
        <p:spPr>
          <a:xfrm>
            <a:off x="850392" y="3456432"/>
            <a:ext cx="2231136" cy="658368"/>
          </a:xfrm>
          <a:prstGeom prst="rect">
            <a:avLst/>
          </a:prstGeom>
          <a:noFill/>
          <a:ln/>
        </p:spPr>
        <p:txBody>
          <a:bodyPr wrap="square" lIns="0" tIns="0" rIns="0" bIns="0" rtlCol="0" anchor="ctr"/>
          <a:lstStyle/>
          <a:p>
            <a:pPr algn="ctr" indent="0" marL="0">
              <a:buNone/>
            </a:pPr>
            <a:r>
              <a:rPr lang="en-US" sz="1500" b="1" dirty="0">
                <a:solidFill>
                  <a:srgbClr val="38761D"/>
                </a:solidFill>
              </a:rPr>
              <a:t>✓ same → submit (no extra tokens)</a:t>
            </a:r>
            <a:endParaRPr lang="en-US" sz="1500" dirty="0"/>
          </a:p>
        </p:txBody>
      </p:sp>
      <p:sp>
        <p:nvSpPr>
          <p:cNvPr id="22" name="box ✗ different → think "/>
          <p:cNvSpPr/>
          <p:nvPr/>
        </p:nvSpPr>
        <p:spPr>
          <a:xfrm>
            <a:off x="3291840" y="3456432"/>
            <a:ext cx="2377440" cy="658368"/>
          </a:xfrm>
          <a:prstGeom prst="roundRect">
            <a:avLst>
              <a:gd name="adj" fmla="val 8333"/>
            </a:avLst>
          </a:prstGeom>
          <a:solidFill>
            <a:srgbClr val="FADBD8"/>
          </a:solidFill>
          <a:ln w="9525">
            <a:solidFill>
              <a:srgbClr val="BFBFBF"/>
            </a:solidFill>
            <a:prstDash val="solid"/>
          </a:ln>
        </p:spPr>
      </p:sp>
      <p:sp>
        <p:nvSpPr>
          <p:cNvPr id="23" name="Text 16"/>
          <p:cNvSpPr txBox="1"/>
          <p:nvPr/>
        </p:nvSpPr>
        <p:spPr>
          <a:xfrm>
            <a:off x="3364992" y="3456432"/>
            <a:ext cx="2231136" cy="658368"/>
          </a:xfrm>
          <a:prstGeom prst="rect">
            <a:avLst/>
          </a:prstGeom>
          <a:noFill/>
          <a:ln/>
        </p:spPr>
        <p:txBody>
          <a:bodyPr wrap="square" lIns="0" tIns="0" rIns="0" bIns="0" rtlCol="0" anchor="ctr"/>
          <a:lstStyle/>
          <a:p>
            <a:pPr algn="ctr" indent="0" marL="0">
              <a:buNone/>
            </a:pPr>
            <a:r>
              <a:rPr lang="en-US" sz="1500" b="1" dirty="0">
                <a:solidFill>
                  <a:srgbClr val="C00000"/>
                </a:solidFill>
              </a:rPr>
              <a:t>✗ different → think harder, write again</a:t>
            </a:r>
            <a:endParaRPr lang="en-US" sz="1500" dirty="0"/>
          </a:p>
        </p:txBody>
      </p:sp>
      <p:sp>
        <p:nvSpPr>
          <p:cNvPr id="24" name="Text 17"/>
          <p:cNvSpPr txBox="1"/>
          <p:nvPr/>
        </p:nvSpPr>
        <p:spPr>
          <a:xfrm>
            <a:off x="777240" y="4279392"/>
            <a:ext cx="4892040" cy="365760"/>
          </a:xfrm>
          <a:prstGeom prst="rect">
            <a:avLst/>
          </a:prstGeom>
          <a:noFill/>
          <a:ln/>
        </p:spPr>
        <p:txBody>
          <a:bodyPr wrap="square" lIns="0" tIns="0" rIns="0" bIns="0" rtlCol="0" anchor="ctr"/>
          <a:lstStyle/>
          <a:p>
            <a:pPr indent="0" marL="0">
              <a:buNone/>
            </a:pPr>
            <a:r>
              <a:rPr lang="en-US" sz="1500" b="1" dirty="0">
                <a:solidFill>
                  <a:schemeClr val="tx1"/>
                </a:solidFill>
              </a:rPr>
              <a:t>No example? Write the program twice, compare:</a:t>
            </a:r>
            <a:endParaRPr lang="en-US" sz="1500" dirty="0"/>
          </a:p>
        </p:txBody>
      </p:sp>
      <p:sp>
        <p:nvSpPr>
          <p:cNvPr id="25" name="box version A prints 6"/>
          <p:cNvSpPr/>
          <p:nvPr/>
        </p:nvSpPr>
        <p:spPr>
          <a:xfrm>
            <a:off x="777240" y="4709160"/>
            <a:ext cx="1463040" cy="548640"/>
          </a:xfrm>
          <a:prstGeom prst="roundRect">
            <a:avLst>
              <a:gd name="adj" fmla="val 10000"/>
            </a:avLst>
          </a:prstGeom>
          <a:solidFill>
            <a:srgbClr val="FFFFFF"/>
          </a:solidFill>
          <a:ln w="9525">
            <a:solidFill>
              <a:srgbClr val="BFBFBF"/>
            </a:solidFill>
            <a:prstDash val="solid"/>
          </a:ln>
        </p:spPr>
      </p:sp>
      <p:sp>
        <p:nvSpPr>
          <p:cNvPr id="26" name="Text 19"/>
          <p:cNvSpPr txBox="1"/>
          <p:nvPr/>
        </p:nvSpPr>
        <p:spPr>
          <a:xfrm>
            <a:off x="850392" y="4709160"/>
            <a:ext cx="1316736" cy="548640"/>
          </a:xfrm>
          <a:prstGeom prst="rect">
            <a:avLst/>
          </a:prstGeom>
          <a:noFill/>
          <a:ln/>
        </p:spPr>
        <p:txBody>
          <a:bodyPr wrap="square" lIns="0" tIns="0" rIns="0" bIns="0" rtlCol="0" anchor="ctr"/>
          <a:lstStyle/>
          <a:p>
            <a:pPr algn="ctr" indent="0" marL="0">
              <a:buNone/>
            </a:pPr>
            <a:r>
              <a:rPr lang="en-US" sz="1400" dirty="0">
                <a:solidFill>
                  <a:schemeClr val="tx1"/>
                </a:solidFill>
              </a:rPr>
              <a:t>version A prints 6</a:t>
            </a:r>
            <a:endParaRPr lang="en-US" sz="1400" dirty="0"/>
          </a:p>
        </p:txBody>
      </p:sp>
      <p:sp>
        <p:nvSpPr>
          <p:cNvPr id="27" name="box version B prints 0"/>
          <p:cNvSpPr/>
          <p:nvPr/>
        </p:nvSpPr>
        <p:spPr>
          <a:xfrm>
            <a:off x="2331720" y="4709160"/>
            <a:ext cx="1463040" cy="548640"/>
          </a:xfrm>
          <a:prstGeom prst="roundRect">
            <a:avLst>
              <a:gd name="adj" fmla="val 10000"/>
            </a:avLst>
          </a:prstGeom>
          <a:solidFill>
            <a:srgbClr val="FFFFFF"/>
          </a:solidFill>
          <a:ln w="9525">
            <a:solidFill>
              <a:srgbClr val="BFBFBF"/>
            </a:solidFill>
            <a:prstDash val="solid"/>
          </a:ln>
        </p:spPr>
      </p:sp>
      <p:sp>
        <p:nvSpPr>
          <p:cNvPr id="28" name="Text 21"/>
          <p:cNvSpPr txBox="1"/>
          <p:nvPr/>
        </p:nvSpPr>
        <p:spPr>
          <a:xfrm>
            <a:off x="2404872" y="4709160"/>
            <a:ext cx="1316736" cy="548640"/>
          </a:xfrm>
          <a:prstGeom prst="rect">
            <a:avLst/>
          </a:prstGeom>
          <a:noFill/>
          <a:ln/>
        </p:spPr>
        <p:txBody>
          <a:bodyPr wrap="square" lIns="0" tIns="0" rIns="0" bIns="0" rtlCol="0" anchor="ctr"/>
          <a:lstStyle/>
          <a:p>
            <a:pPr algn="ctr" indent="0" marL="0">
              <a:buNone/>
            </a:pPr>
            <a:r>
              <a:rPr lang="en-US" sz="1400" dirty="0">
                <a:solidFill>
                  <a:schemeClr val="tx1"/>
                </a:solidFill>
              </a:rPr>
              <a:t>version B prints 0</a:t>
            </a:r>
            <a:endParaRPr lang="en-US" sz="1400" dirty="0"/>
          </a:p>
        </p:txBody>
      </p:sp>
      <p:sp>
        <p:nvSpPr>
          <p:cNvPr id="29" name="Shape 22"/>
          <p:cNvSpPr/>
          <p:nvPr/>
        </p:nvSpPr>
        <p:spPr>
          <a:xfrm>
            <a:off x="3794760" y="4983480"/>
            <a:ext cx="228600" cy="0"/>
          </a:xfrm>
          <a:prstGeom prst="line">
            <a:avLst/>
          </a:prstGeom>
          <a:noFill/>
          <a:ln w="25400">
            <a:solidFill>
              <a:srgbClr val="7F7F7F"/>
            </a:solidFill>
            <a:prstDash val="solid"/>
            <a:tailEnd type="triangle"/>
          </a:ln>
        </p:spPr>
      </p:sp>
      <p:sp>
        <p:nvSpPr>
          <p:cNvPr id="30" name="box ✗ different → think"/>
          <p:cNvSpPr/>
          <p:nvPr/>
        </p:nvSpPr>
        <p:spPr>
          <a:xfrm>
            <a:off x="4023360" y="4709160"/>
            <a:ext cx="1645920" cy="548640"/>
          </a:xfrm>
          <a:prstGeom prst="roundRect">
            <a:avLst>
              <a:gd name="adj" fmla="val 10000"/>
            </a:avLst>
          </a:prstGeom>
          <a:solidFill>
            <a:srgbClr val="FADBD8"/>
          </a:solidFill>
          <a:ln w="9525">
            <a:solidFill>
              <a:srgbClr val="BFBFBF"/>
            </a:solidFill>
            <a:prstDash val="solid"/>
          </a:ln>
        </p:spPr>
      </p:sp>
      <p:sp>
        <p:nvSpPr>
          <p:cNvPr id="31" name="Text 24"/>
          <p:cNvSpPr txBox="1"/>
          <p:nvPr/>
        </p:nvSpPr>
        <p:spPr>
          <a:xfrm>
            <a:off x="4096512" y="4709160"/>
            <a:ext cx="1499616" cy="548640"/>
          </a:xfrm>
          <a:prstGeom prst="rect">
            <a:avLst/>
          </a:prstGeom>
          <a:noFill/>
          <a:ln/>
        </p:spPr>
        <p:txBody>
          <a:bodyPr wrap="square" lIns="0" tIns="0" rIns="0" bIns="0" rtlCol="0" anchor="ctr"/>
          <a:lstStyle/>
          <a:p>
            <a:pPr algn="ctr" indent="0" marL="0">
              <a:buNone/>
            </a:pPr>
            <a:r>
              <a:rPr lang="en-US" sz="1400" b="1" dirty="0">
                <a:solidFill>
                  <a:srgbClr val="C00000"/>
                </a:solidFill>
              </a:rPr>
              <a:t>✗ different → think</a:t>
            </a:r>
            <a:endParaRPr lang="en-US" sz="1400" dirty="0"/>
          </a:p>
        </p:txBody>
      </p:sp>
      <p:sp>
        <p:nvSpPr>
          <p:cNvPr id="32" name="what it buys"/>
          <p:cNvSpPr/>
          <p:nvPr/>
        </p:nvSpPr>
        <p:spPr>
          <a:xfrm>
            <a:off x="6172200" y="1371600"/>
            <a:ext cx="5440680" cy="4160520"/>
          </a:xfrm>
          <a:prstGeom prst="roundRect">
            <a:avLst>
              <a:gd name="adj" fmla="val 1758"/>
            </a:avLst>
          </a:prstGeom>
          <a:solidFill>
            <a:srgbClr val="F2F2F2"/>
          </a:solidFill>
          <a:ln w="9525">
            <a:solidFill>
              <a:srgbClr val="D9D9D9"/>
            </a:solidFill>
            <a:prstDash val="solid"/>
          </a:ln>
        </p:spPr>
      </p:sp>
      <p:sp>
        <p:nvSpPr>
          <p:cNvPr id="33" name="Text 26"/>
          <p:cNvSpPr txBox="1"/>
          <p:nvPr/>
        </p:nvSpPr>
        <p:spPr>
          <a:xfrm>
            <a:off x="6400800" y="1444752"/>
            <a:ext cx="4983480" cy="384048"/>
          </a:xfrm>
          <a:prstGeom prst="rect">
            <a:avLst/>
          </a:prstGeom>
          <a:noFill/>
          <a:ln/>
        </p:spPr>
        <p:txBody>
          <a:bodyPr wrap="square" lIns="0" tIns="0" rIns="0" bIns="0" rtlCol="0" anchor="ctr"/>
          <a:lstStyle/>
          <a:p>
            <a:pPr indent="0" marL="0">
              <a:buNone/>
            </a:pPr>
            <a:r>
              <a:rPr lang="en-US" sz="1800" b="1" dirty="0">
                <a:solidFill>
                  <a:srgbClr val="4472C4"/>
                </a:solidFill>
              </a:rPr>
              <a:t>Result: the same accuracy, fewer tokens</a:t>
            </a:r>
            <a:endParaRPr lang="en-US" sz="1800" dirty="0"/>
          </a:p>
        </p:txBody>
      </p:sp>
      <p:sp>
        <p:nvSpPr>
          <p:cNvPr id="34" name="Text 27"/>
          <p:cNvSpPr txBox="1"/>
          <p:nvPr/>
        </p:nvSpPr>
        <p:spPr>
          <a:xfrm>
            <a:off x="6400800" y="1847088"/>
            <a:ext cx="4983480" cy="292608"/>
          </a:xfrm>
          <a:prstGeom prst="rect">
            <a:avLst/>
          </a:prstGeom>
          <a:noFill/>
          <a:ln/>
        </p:spPr>
        <p:txBody>
          <a:bodyPr wrap="square" lIns="0" tIns="0" rIns="0" bIns="0" rtlCol="0" anchor="ctr"/>
          <a:lstStyle/>
          <a:p>
            <a:pPr indent="0" marL="0">
              <a:buNone/>
            </a:pPr>
            <a:r>
              <a:rPr lang="en-US" sz="1500" b="1" dirty="0">
                <a:solidFill>
                  <a:schemeClr val="tx1"/>
                </a:solidFill>
              </a:rPr>
              <a:t>311 contest problems (gpt-oss-120b)</a:t>
            </a:r>
            <a:endParaRPr lang="en-US" sz="1500" dirty="0"/>
          </a:p>
        </p:txBody>
      </p:sp>
      <p:sp>
        <p:nvSpPr>
          <p:cNvPr id="35" name="Text 28"/>
          <p:cNvSpPr txBox="1"/>
          <p:nvPr/>
        </p:nvSpPr>
        <p:spPr>
          <a:xfrm>
            <a:off x="8641080" y="2103120"/>
            <a:ext cx="822960" cy="320040"/>
          </a:xfrm>
          <a:prstGeom prst="rect">
            <a:avLst/>
          </a:prstGeom>
          <a:noFill/>
          <a:ln/>
        </p:spPr>
        <p:txBody>
          <a:bodyPr wrap="square" lIns="0" tIns="0" rIns="0" bIns="0" rtlCol="0" anchor="ctr"/>
          <a:lstStyle/>
          <a:p>
            <a:pPr algn="ctr" indent="0" marL="0">
              <a:buNone/>
            </a:pPr>
            <a:r>
              <a:rPr lang="en-US" sz="1400" dirty="0">
                <a:solidFill>
                  <a:srgbClr val="7F7F7F"/>
                </a:solidFill>
              </a:rPr>
              <a:t>solved</a:t>
            </a:r>
            <a:endParaRPr lang="en-US" sz="1400" dirty="0"/>
          </a:p>
        </p:txBody>
      </p:sp>
      <p:sp>
        <p:nvSpPr>
          <p:cNvPr id="36" name="Text 29"/>
          <p:cNvSpPr txBox="1"/>
          <p:nvPr/>
        </p:nvSpPr>
        <p:spPr>
          <a:xfrm>
            <a:off x="9555480" y="2103120"/>
            <a:ext cx="1828800" cy="320040"/>
          </a:xfrm>
          <a:prstGeom prst="rect">
            <a:avLst/>
          </a:prstGeom>
          <a:noFill/>
          <a:ln/>
        </p:spPr>
        <p:txBody>
          <a:bodyPr wrap="square" lIns="0" tIns="0" rIns="0" bIns="0" rtlCol="0" anchor="ctr"/>
          <a:lstStyle/>
          <a:p>
            <a:pPr indent="0" marL="0">
              <a:buNone/>
            </a:pPr>
            <a:r>
              <a:rPr lang="en-US" sz="1400" dirty="0">
                <a:solidFill>
                  <a:srgbClr val="7F7F7F"/>
                </a:solidFill>
              </a:rPr>
              <a:t>tokens per problem</a:t>
            </a:r>
            <a:endParaRPr lang="en-US" sz="1400" dirty="0"/>
          </a:p>
        </p:txBody>
      </p:sp>
      <p:sp>
        <p:nvSpPr>
          <p:cNvPr id="37" name="Text 30"/>
          <p:cNvSpPr txBox="1"/>
          <p:nvPr/>
        </p:nvSpPr>
        <p:spPr>
          <a:xfrm>
            <a:off x="6400800" y="2468880"/>
            <a:ext cx="2148840" cy="457200"/>
          </a:xfrm>
          <a:prstGeom prst="rect">
            <a:avLst/>
          </a:prstGeom>
          <a:noFill/>
          <a:ln/>
        </p:spPr>
        <p:txBody>
          <a:bodyPr wrap="square" lIns="0" tIns="0" rIns="0" bIns="0" rtlCol="0" anchor="ctr"/>
          <a:lstStyle/>
          <a:p>
            <a:pPr algn="r" indent="0" marL="0">
              <a:buNone/>
            </a:pPr>
            <a:r>
              <a:rPr lang="en-US" sz="1500" dirty="0">
                <a:solidFill>
                  <a:schemeClr val="tx1"/>
                </a:solidFill>
              </a:rPr>
              <a:t>always think hard</a:t>
            </a:r>
            <a:endParaRPr lang="en-US" sz="1500" dirty="0"/>
          </a:p>
        </p:txBody>
      </p:sp>
      <p:sp>
        <p:nvSpPr>
          <p:cNvPr id="38" name="Text 31"/>
          <p:cNvSpPr txBox="1"/>
          <p:nvPr/>
        </p:nvSpPr>
        <p:spPr>
          <a:xfrm>
            <a:off x="8641080" y="2468880"/>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66.2%</a:t>
            </a:r>
            <a:endParaRPr lang="en-US" sz="1700" dirty="0"/>
          </a:p>
        </p:txBody>
      </p:sp>
      <p:sp>
        <p:nvSpPr>
          <p:cNvPr id="39" name="tokens always think hard"/>
          <p:cNvSpPr/>
          <p:nvPr/>
        </p:nvSpPr>
        <p:spPr>
          <a:xfrm>
            <a:off x="9555480" y="2569464"/>
            <a:ext cx="1097280" cy="256032"/>
          </a:xfrm>
          <a:prstGeom prst="rect">
            <a:avLst/>
          </a:prstGeom>
          <a:solidFill>
            <a:srgbClr val="7F7F7F"/>
          </a:solidFill>
          <a:ln w="6350">
            <a:solidFill>
              <a:srgbClr val="7F7F7F"/>
            </a:solidFill>
            <a:prstDash val="solid"/>
          </a:ln>
        </p:spPr>
      </p:sp>
      <p:sp>
        <p:nvSpPr>
          <p:cNvPr id="40" name="Text 33"/>
          <p:cNvSpPr txBox="1"/>
          <p:nvPr/>
        </p:nvSpPr>
        <p:spPr>
          <a:xfrm>
            <a:off x="10744200" y="2468880"/>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30k</a:t>
            </a:r>
            <a:endParaRPr lang="en-US" sz="1500" dirty="0"/>
          </a:p>
        </p:txBody>
      </p:sp>
      <p:sp>
        <p:nvSpPr>
          <p:cNvPr id="41" name="Text 34"/>
          <p:cNvSpPr txBox="1"/>
          <p:nvPr/>
        </p:nvSpPr>
        <p:spPr>
          <a:xfrm>
            <a:off x="6400800" y="2907792"/>
            <a:ext cx="2148840" cy="457200"/>
          </a:xfrm>
          <a:prstGeom prst="rect">
            <a:avLst/>
          </a:prstGeom>
          <a:noFill/>
          <a:ln/>
        </p:spPr>
        <p:txBody>
          <a:bodyPr wrap="square" lIns="0" tIns="0" rIns="0" bIns="0" rtlCol="0" anchor="ctr"/>
          <a:lstStyle/>
          <a:p>
            <a:pPr algn="r" indent="0" marL="0">
              <a:buNone/>
            </a:pPr>
            <a:r>
              <a:rPr lang="en-US" sz="1500" dirty="0">
                <a:solidFill>
                  <a:schemeClr val="tx1"/>
                </a:solidFill>
              </a:rPr>
              <a:t>think only on failure</a:t>
            </a:r>
            <a:endParaRPr lang="en-US" sz="1500" dirty="0"/>
          </a:p>
        </p:txBody>
      </p:sp>
      <p:sp>
        <p:nvSpPr>
          <p:cNvPr id="42" name="Text 35"/>
          <p:cNvSpPr txBox="1"/>
          <p:nvPr/>
        </p:nvSpPr>
        <p:spPr>
          <a:xfrm>
            <a:off x="8641080" y="2907792"/>
            <a:ext cx="822960" cy="457200"/>
          </a:xfrm>
          <a:prstGeom prst="rect">
            <a:avLst/>
          </a:prstGeom>
          <a:noFill/>
          <a:ln/>
        </p:spPr>
        <p:txBody>
          <a:bodyPr wrap="square" lIns="0" tIns="0" rIns="0" bIns="0" rtlCol="0" anchor="ctr"/>
          <a:lstStyle/>
          <a:p>
            <a:pPr algn="ctr" indent="0" marL="0">
              <a:buNone/>
            </a:pPr>
            <a:r>
              <a:rPr lang="en-US" sz="1700" b="1" dirty="0">
                <a:solidFill>
                  <a:srgbClr val="4472C4"/>
                </a:solidFill>
              </a:rPr>
              <a:t>66.3%</a:t>
            </a:r>
            <a:endParaRPr lang="en-US" sz="1700" dirty="0"/>
          </a:p>
        </p:txBody>
      </p:sp>
      <p:sp>
        <p:nvSpPr>
          <p:cNvPr id="43" name="tokens think only on failure"/>
          <p:cNvSpPr/>
          <p:nvPr/>
        </p:nvSpPr>
        <p:spPr>
          <a:xfrm>
            <a:off x="9555480" y="3008376"/>
            <a:ext cx="900426" cy="256032"/>
          </a:xfrm>
          <a:prstGeom prst="rect">
            <a:avLst/>
          </a:prstGeom>
          <a:solidFill>
            <a:srgbClr val="4472C4"/>
          </a:solidFill>
          <a:ln w="6350">
            <a:solidFill>
              <a:srgbClr val="4472C4"/>
            </a:solidFill>
            <a:prstDash val="solid"/>
          </a:ln>
        </p:spPr>
      </p:sp>
      <p:sp>
        <p:nvSpPr>
          <p:cNvPr id="44" name="Text 37"/>
          <p:cNvSpPr txBox="1"/>
          <p:nvPr/>
        </p:nvSpPr>
        <p:spPr>
          <a:xfrm>
            <a:off x="10547346" y="2907792"/>
            <a:ext cx="731520" cy="457200"/>
          </a:xfrm>
          <a:prstGeom prst="rect">
            <a:avLst/>
          </a:prstGeom>
          <a:noFill/>
          <a:ln/>
        </p:spPr>
        <p:txBody>
          <a:bodyPr wrap="square" lIns="0" tIns="0" rIns="0" bIns="0" rtlCol="0" anchor="ctr"/>
          <a:lstStyle/>
          <a:p>
            <a:pPr indent="0" marL="0">
              <a:buNone/>
            </a:pPr>
            <a:r>
              <a:rPr lang="en-US" sz="1500" b="1" dirty="0">
                <a:solidFill>
                  <a:srgbClr val="4472C4"/>
                </a:solidFill>
              </a:rPr>
              <a:t>25k</a:t>
            </a:r>
            <a:endParaRPr lang="en-US" sz="1500" dirty="0"/>
          </a:p>
        </p:txBody>
      </p:sp>
      <p:sp>
        <p:nvSpPr>
          <p:cNvPr id="45" name="Text 38"/>
          <p:cNvSpPr txBox="1"/>
          <p:nvPr/>
        </p:nvSpPr>
        <p:spPr>
          <a:xfrm>
            <a:off x="6400800" y="3364992"/>
            <a:ext cx="4983480" cy="457200"/>
          </a:xfrm>
          <a:prstGeom prst="rect">
            <a:avLst/>
          </a:prstGeom>
          <a:noFill/>
          <a:ln/>
        </p:spPr>
        <p:txBody>
          <a:bodyPr wrap="square" lIns="0" tIns="0" rIns="0" bIns="0" rtlCol="0" anchor="t"/>
          <a:lstStyle/>
          <a:p>
            <a:pPr indent="0" marL="0">
              <a:buNone/>
            </a:pPr>
            <a:r>
              <a:rPr lang="en-US" sz="1400" dirty="0">
                <a:solidFill>
                  <a:schemeClr val="tx2"/>
                </a:solidFill>
              </a:rPr>
              <a:t>examples alone give 65.0% at 20k; adding a brute-force program as a second check gives 66.3%</a:t>
            </a:r>
            <a:endParaRPr lang="en-US" sz="1400" dirty="0"/>
          </a:p>
        </p:txBody>
      </p:sp>
      <p:sp>
        <p:nvSpPr>
          <p:cNvPr id="46" name="Text 39"/>
          <p:cNvSpPr txBox="1"/>
          <p:nvPr/>
        </p:nvSpPr>
        <p:spPr>
          <a:xfrm>
            <a:off x="6400800" y="3931920"/>
            <a:ext cx="4983480" cy="292608"/>
          </a:xfrm>
          <a:prstGeom prst="rect">
            <a:avLst/>
          </a:prstGeom>
          <a:noFill/>
          <a:ln/>
        </p:spPr>
        <p:txBody>
          <a:bodyPr wrap="square" lIns="0" tIns="0" rIns="0" bIns="0" rtlCol="0" anchor="ctr"/>
          <a:lstStyle/>
          <a:p>
            <a:pPr indent="0" marL="0">
              <a:buNone/>
            </a:pPr>
            <a:r>
              <a:rPr lang="en-US" sz="1500" b="1" dirty="0">
                <a:solidFill>
                  <a:schemeClr val="tx1"/>
                </a:solidFill>
              </a:rPr>
              <a:t>108 geometry problems (Qwen3-32B, 3 runs)</a:t>
            </a:r>
            <a:endParaRPr lang="en-US" sz="1500" dirty="0"/>
          </a:p>
        </p:txBody>
      </p:sp>
      <p:sp>
        <p:nvSpPr>
          <p:cNvPr id="47" name="Text 40"/>
          <p:cNvSpPr txBox="1"/>
          <p:nvPr/>
        </p:nvSpPr>
        <p:spPr>
          <a:xfrm>
            <a:off x="8641080" y="4187952"/>
            <a:ext cx="822960" cy="320040"/>
          </a:xfrm>
          <a:prstGeom prst="rect">
            <a:avLst/>
          </a:prstGeom>
          <a:noFill/>
          <a:ln/>
        </p:spPr>
        <p:txBody>
          <a:bodyPr wrap="square" lIns="0" tIns="0" rIns="0" bIns="0" rtlCol="0" anchor="ctr"/>
          <a:lstStyle/>
          <a:p>
            <a:pPr algn="ctr" indent="0" marL="0">
              <a:buNone/>
            </a:pPr>
            <a:r>
              <a:rPr lang="en-US" sz="1400" dirty="0">
                <a:solidFill>
                  <a:srgbClr val="7F7F7F"/>
                </a:solidFill>
              </a:rPr>
              <a:t>solved</a:t>
            </a:r>
            <a:endParaRPr lang="en-US" sz="1400" dirty="0"/>
          </a:p>
        </p:txBody>
      </p:sp>
      <p:sp>
        <p:nvSpPr>
          <p:cNvPr id="48" name="Text 41"/>
          <p:cNvSpPr txBox="1"/>
          <p:nvPr/>
        </p:nvSpPr>
        <p:spPr>
          <a:xfrm>
            <a:off x="9555480" y="4187952"/>
            <a:ext cx="1828800" cy="320040"/>
          </a:xfrm>
          <a:prstGeom prst="rect">
            <a:avLst/>
          </a:prstGeom>
          <a:noFill/>
          <a:ln/>
        </p:spPr>
        <p:txBody>
          <a:bodyPr wrap="square" lIns="0" tIns="0" rIns="0" bIns="0" rtlCol="0" anchor="ctr"/>
          <a:lstStyle/>
          <a:p>
            <a:pPr indent="0" marL="0">
              <a:buNone/>
            </a:pPr>
            <a:r>
              <a:rPr lang="en-US" sz="1400" dirty="0">
                <a:solidFill>
                  <a:srgbClr val="7F7F7F"/>
                </a:solidFill>
              </a:rPr>
              <a:t>tokens per problem</a:t>
            </a:r>
            <a:endParaRPr lang="en-US" sz="1400" dirty="0"/>
          </a:p>
        </p:txBody>
      </p:sp>
      <p:sp>
        <p:nvSpPr>
          <p:cNvPr id="49" name="Text 42"/>
          <p:cNvSpPr txBox="1"/>
          <p:nvPr/>
        </p:nvSpPr>
        <p:spPr>
          <a:xfrm>
            <a:off x="6400800" y="4553712"/>
            <a:ext cx="2148840" cy="457200"/>
          </a:xfrm>
          <a:prstGeom prst="rect">
            <a:avLst/>
          </a:prstGeom>
          <a:noFill/>
          <a:ln/>
        </p:spPr>
        <p:txBody>
          <a:bodyPr wrap="square" lIns="0" tIns="0" rIns="0" bIns="0" rtlCol="0" anchor="ctr"/>
          <a:lstStyle/>
          <a:p>
            <a:pPr algn="r" indent="0" marL="0">
              <a:buNone/>
            </a:pPr>
            <a:r>
              <a:rPr lang="en-US" sz="1500" dirty="0">
                <a:solidFill>
                  <a:schemeClr val="tx1"/>
                </a:solidFill>
              </a:rPr>
              <a:t>always think</a:t>
            </a:r>
            <a:endParaRPr lang="en-US" sz="1500" dirty="0"/>
          </a:p>
        </p:txBody>
      </p:sp>
      <p:sp>
        <p:nvSpPr>
          <p:cNvPr id="50" name="Text 43"/>
          <p:cNvSpPr txBox="1"/>
          <p:nvPr/>
        </p:nvSpPr>
        <p:spPr>
          <a:xfrm>
            <a:off x="8641080" y="4553712"/>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98%</a:t>
            </a:r>
            <a:endParaRPr lang="en-US" sz="1700" dirty="0"/>
          </a:p>
        </p:txBody>
      </p:sp>
      <p:sp>
        <p:nvSpPr>
          <p:cNvPr id="51" name="tokens always think"/>
          <p:cNvSpPr/>
          <p:nvPr/>
        </p:nvSpPr>
        <p:spPr>
          <a:xfrm>
            <a:off x="9555480" y="4654296"/>
            <a:ext cx="1097280" cy="256032"/>
          </a:xfrm>
          <a:prstGeom prst="rect">
            <a:avLst/>
          </a:prstGeom>
          <a:solidFill>
            <a:srgbClr val="7F7F7F"/>
          </a:solidFill>
          <a:ln w="6350">
            <a:solidFill>
              <a:srgbClr val="7F7F7F"/>
            </a:solidFill>
            <a:prstDash val="solid"/>
          </a:ln>
        </p:spPr>
      </p:sp>
      <p:sp>
        <p:nvSpPr>
          <p:cNvPr id="52" name="Text 45"/>
          <p:cNvSpPr txBox="1"/>
          <p:nvPr/>
        </p:nvSpPr>
        <p:spPr>
          <a:xfrm>
            <a:off x="10744200" y="4553712"/>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5.9k</a:t>
            </a:r>
            <a:endParaRPr lang="en-US" sz="1500" dirty="0"/>
          </a:p>
        </p:txBody>
      </p:sp>
      <p:sp>
        <p:nvSpPr>
          <p:cNvPr id="53" name="Text 46"/>
          <p:cNvSpPr txBox="1"/>
          <p:nvPr/>
        </p:nvSpPr>
        <p:spPr>
          <a:xfrm>
            <a:off x="6400800" y="4992624"/>
            <a:ext cx="2148840" cy="457200"/>
          </a:xfrm>
          <a:prstGeom prst="rect">
            <a:avLst/>
          </a:prstGeom>
          <a:noFill/>
          <a:ln/>
        </p:spPr>
        <p:txBody>
          <a:bodyPr wrap="square" lIns="0" tIns="0" rIns="0" bIns="0" rtlCol="0" anchor="ctr"/>
          <a:lstStyle/>
          <a:p>
            <a:pPr algn="r" indent="0" marL="0">
              <a:buNone/>
            </a:pPr>
            <a:r>
              <a:rPr lang="en-US" sz="1500" dirty="0">
                <a:solidFill>
                  <a:schemeClr val="tx1"/>
                </a:solidFill>
              </a:rPr>
              <a:t>think only on failure</a:t>
            </a:r>
            <a:endParaRPr lang="en-US" sz="1500" dirty="0"/>
          </a:p>
        </p:txBody>
      </p:sp>
      <p:sp>
        <p:nvSpPr>
          <p:cNvPr id="54" name="Text 47"/>
          <p:cNvSpPr txBox="1"/>
          <p:nvPr/>
        </p:nvSpPr>
        <p:spPr>
          <a:xfrm>
            <a:off x="8641080" y="4992624"/>
            <a:ext cx="822960" cy="457200"/>
          </a:xfrm>
          <a:prstGeom prst="rect">
            <a:avLst/>
          </a:prstGeom>
          <a:noFill/>
          <a:ln/>
        </p:spPr>
        <p:txBody>
          <a:bodyPr wrap="square" lIns="0" tIns="0" rIns="0" bIns="0" rtlCol="0" anchor="ctr"/>
          <a:lstStyle/>
          <a:p>
            <a:pPr algn="ctr" indent="0" marL="0">
              <a:buNone/>
            </a:pPr>
            <a:r>
              <a:rPr lang="en-US" sz="1700" b="1" dirty="0">
                <a:solidFill>
                  <a:srgbClr val="4472C4"/>
                </a:solidFill>
              </a:rPr>
              <a:t>99%</a:t>
            </a:r>
            <a:endParaRPr lang="en-US" sz="1700" dirty="0"/>
          </a:p>
        </p:txBody>
      </p:sp>
      <p:sp>
        <p:nvSpPr>
          <p:cNvPr id="55" name="tokens think only on failure"/>
          <p:cNvSpPr/>
          <p:nvPr/>
        </p:nvSpPr>
        <p:spPr>
          <a:xfrm>
            <a:off x="9555480" y="5093208"/>
            <a:ext cx="799713" cy="256032"/>
          </a:xfrm>
          <a:prstGeom prst="rect">
            <a:avLst/>
          </a:prstGeom>
          <a:solidFill>
            <a:srgbClr val="4472C4"/>
          </a:solidFill>
          <a:ln w="6350">
            <a:solidFill>
              <a:srgbClr val="4472C4"/>
            </a:solidFill>
            <a:prstDash val="solid"/>
          </a:ln>
        </p:spPr>
      </p:sp>
      <p:sp>
        <p:nvSpPr>
          <p:cNvPr id="56" name="Text 49"/>
          <p:cNvSpPr txBox="1"/>
          <p:nvPr/>
        </p:nvSpPr>
        <p:spPr>
          <a:xfrm>
            <a:off x="10446633" y="4992624"/>
            <a:ext cx="731520" cy="457200"/>
          </a:xfrm>
          <a:prstGeom prst="rect">
            <a:avLst/>
          </a:prstGeom>
          <a:noFill/>
          <a:ln/>
        </p:spPr>
        <p:txBody>
          <a:bodyPr wrap="square" lIns="0" tIns="0" rIns="0" bIns="0" rtlCol="0" anchor="ctr"/>
          <a:lstStyle/>
          <a:p>
            <a:pPr indent="0" marL="0">
              <a:buNone/>
            </a:pPr>
            <a:r>
              <a:rPr lang="en-US" sz="1500" b="1" dirty="0">
                <a:solidFill>
                  <a:srgbClr val="4472C4"/>
                </a:solidFill>
              </a:rPr>
              <a:t>4.3k</a:t>
            </a:r>
            <a:endParaRPr lang="en-US" sz="1500" dirty="0"/>
          </a:p>
        </p:txBody>
      </p:sp>
      <p:sp>
        <p:nvSpPr>
          <p:cNvPr id="57" name="Text 50"/>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Same accuracy as always thinking, 18–27% fewer tokens, and no answer key needed</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Our method: cheap steps first</a:t>
            </a:r>
            <a:endParaRPr lang="en-US" sz="3600" dirty="0"/>
          </a:p>
        </p:txBody>
      </p:sp>
      <p:sp>
        <p:nvSpPr>
          <p:cNvPr id="3" name="choice a missing fact"/>
          <p:cNvSpPr/>
          <p:nvPr/>
        </p:nvSpPr>
        <p:spPr>
          <a:xfrm>
            <a:off x="7680960" y="475488"/>
            <a:ext cx="1874520" cy="502920"/>
          </a:xfrm>
          <a:prstGeom prst="roundRect">
            <a:avLst>
              <a:gd name="adj" fmla="val 36364"/>
            </a:avLst>
          </a:prstGeom>
          <a:solidFill>
            <a:srgbClr val="E2F0D9"/>
          </a:solidFill>
          <a:ln w="12700">
            <a:solidFill>
              <a:srgbClr val="38761D"/>
            </a:solidFill>
            <a:prstDash val="solid"/>
          </a:ln>
        </p:spPr>
      </p:sp>
      <p:pic>
        <p:nvPicPr>
          <p:cNvPr id="4" name="choice icon fact" descr="/NAS/SJ/POSTECH/nlp/figs/icons/fact.png">    </p:cNvPr>
          <p:cNvPicPr>
            <a:picLocks noChangeAspect="1"/>
          </p:cNvPicPr>
          <p:nvPr/>
        </p:nvPicPr>
        <p:blipFill>
          <a:blip r:embed="rId1"/>
          <a:stretch>
            <a:fillRect/>
          </a:stretch>
        </p:blipFill>
        <p:spPr>
          <a:xfrm>
            <a:off x="7790688" y="562356"/>
            <a:ext cx="329184" cy="329184"/>
          </a:xfrm>
          <a:prstGeom prst="rect">
            <a:avLst/>
          </a:prstGeom>
        </p:spPr>
      </p:pic>
      <p:sp>
        <p:nvSpPr>
          <p:cNvPr id="5" name="Text 2"/>
          <p:cNvSpPr txBox="1"/>
          <p:nvPr/>
        </p:nvSpPr>
        <p:spPr>
          <a:xfrm>
            <a:off x="8183880" y="475488"/>
            <a:ext cx="1371600" cy="502920"/>
          </a:xfrm>
          <a:prstGeom prst="rect">
            <a:avLst/>
          </a:prstGeom>
          <a:noFill/>
          <a:ln/>
        </p:spPr>
        <p:txBody>
          <a:bodyPr wrap="square" lIns="0" tIns="0" rIns="0" bIns="0" rtlCol="0" anchor="ctr"/>
          <a:lstStyle/>
          <a:p>
            <a:pPr indent="0" marL="0">
              <a:buNone/>
            </a:pPr>
            <a:r>
              <a:rPr lang="en-US" sz="1400" b="1" dirty="0">
                <a:solidFill>
                  <a:srgbClr val="38761D"/>
                </a:solidFill>
              </a:rPr>
              <a:t>a code hint</a:t>
            </a:r>
            <a:endParaRPr lang="en-US" sz="1400" dirty="0"/>
          </a:p>
        </p:txBody>
      </p:sp>
      <p:sp>
        <p:nvSpPr>
          <p:cNvPr id="6" name="choice a free check"/>
          <p:cNvSpPr/>
          <p:nvPr/>
        </p:nvSpPr>
        <p:spPr>
          <a:xfrm>
            <a:off x="9646920" y="475488"/>
            <a:ext cx="1874520" cy="502920"/>
          </a:xfrm>
          <a:prstGeom prst="roundRect">
            <a:avLst>
              <a:gd name="adj" fmla="val 36364"/>
            </a:avLst>
          </a:prstGeom>
          <a:solidFill>
            <a:srgbClr val="E2F0D9"/>
          </a:solidFill>
          <a:ln w="12700">
            <a:solidFill>
              <a:srgbClr val="38761D"/>
            </a:solidFill>
            <a:prstDash val="solid"/>
          </a:ln>
        </p:spPr>
      </p:sp>
      <p:pic>
        <p:nvPicPr>
          <p:cNvPr id="7" name="choice icon check" descr="/NAS/SJ/POSTECH/nlp/figs/icons/check.png">    </p:cNvPr>
          <p:cNvPicPr>
            <a:picLocks noChangeAspect="1"/>
          </p:cNvPicPr>
          <p:nvPr/>
        </p:nvPicPr>
        <p:blipFill>
          <a:blip r:embed="rId2"/>
          <a:stretch>
            <a:fillRect/>
          </a:stretch>
        </p:blipFill>
        <p:spPr>
          <a:xfrm>
            <a:off x="9756648" y="562356"/>
            <a:ext cx="329184" cy="329184"/>
          </a:xfrm>
          <a:prstGeom prst="rect">
            <a:avLst/>
          </a:prstGeom>
        </p:spPr>
      </p:pic>
      <p:sp>
        <p:nvSpPr>
          <p:cNvPr id="8" name="Text 4"/>
          <p:cNvSpPr txBox="1"/>
          <p:nvPr/>
        </p:nvSpPr>
        <p:spPr>
          <a:xfrm>
            <a:off x="10149840" y="475488"/>
            <a:ext cx="1371600" cy="502920"/>
          </a:xfrm>
          <a:prstGeom prst="rect">
            <a:avLst/>
          </a:prstGeom>
          <a:noFill/>
          <a:ln/>
        </p:spPr>
        <p:txBody>
          <a:bodyPr wrap="square" lIns="0" tIns="0" rIns="0" bIns="0" rtlCol="0" anchor="ctr"/>
          <a:lstStyle/>
          <a:p>
            <a:pPr indent="0" marL="0">
              <a:buNone/>
            </a:pPr>
            <a:r>
              <a:rPr lang="en-US" sz="1400" b="1" dirty="0">
                <a:solidFill>
                  <a:srgbClr val="38761D"/>
                </a:solidFill>
              </a:rPr>
              <a:t>a free check</a:t>
            </a:r>
            <a:endParaRPr lang="en-US" sz="1400" dirty="0"/>
          </a:p>
        </p:txBody>
      </p:sp>
      <p:sp>
        <p:nvSpPr>
          <p:cNvPr id="9" name="Text 5"/>
          <p:cNvSpPr txBox="1"/>
          <p:nvPr/>
        </p:nvSpPr>
        <p:spPr>
          <a:xfrm>
            <a:off x="7863840" y="987552"/>
            <a:ext cx="3749040" cy="274320"/>
          </a:xfrm>
          <a:prstGeom prst="rect">
            <a:avLst/>
          </a:prstGeom>
          <a:noFill/>
          <a:ln/>
        </p:spPr>
        <p:txBody>
          <a:bodyPr wrap="square" lIns="0" tIns="0" rIns="0" bIns="0" rtlCol="0" anchor="ctr"/>
          <a:lstStyle/>
          <a:p>
            <a:pPr algn="r" indent="0" marL="0">
              <a:buNone/>
            </a:pPr>
            <a:r>
              <a:rPr lang="en-US" sz="1400" dirty="0">
                <a:solidFill>
                  <a:srgbClr val="7F7F7F"/>
                </a:solidFill>
              </a:rPr>
              <a:t>icons under each step: where it is used</a:t>
            </a:r>
            <a:endParaRPr lang="en-US" sz="1400" dirty="0"/>
          </a:p>
        </p:txBody>
      </p:sp>
      <p:sp>
        <p:nvSpPr>
          <p:cNvPr id="10" name="Text 6"/>
          <p:cNvSpPr txBox="1"/>
          <p:nvPr/>
        </p:nvSpPr>
        <p:spPr>
          <a:xfrm>
            <a:off x="548640" y="1170432"/>
            <a:ext cx="7863840" cy="365760"/>
          </a:xfrm>
          <a:prstGeom prst="rect">
            <a:avLst/>
          </a:prstGeom>
          <a:noFill/>
          <a:ln/>
        </p:spPr>
        <p:txBody>
          <a:bodyPr wrap="square" lIns="0" tIns="0" rIns="0" bIns="0" rtlCol="0" anchor="ctr"/>
          <a:lstStyle/>
          <a:p>
            <a:pPr indent="0" marL="0">
              <a:buNone/>
            </a:pPr>
            <a:r>
              <a:rPr lang="en-US" sz="1600" dirty="0">
                <a:solidFill>
                  <a:schemeClr val="tx1"/>
                </a:solidFill>
              </a:rPr>
              <a:t>One real problem (Qwen3-8B): minimum cost of X, Y, Z under three limits → 20000</a:t>
            </a:r>
            <a:endParaRPr lang="en-US" sz="1600" dirty="0"/>
          </a:p>
        </p:txBody>
      </p:sp>
      <p:sp>
        <p:nvSpPr>
          <p:cNvPr id="11" name="Text 7"/>
          <p:cNvSpPr txBox="1"/>
          <p:nvPr/>
        </p:nvSpPr>
        <p:spPr>
          <a:xfrm>
            <a:off x="548640" y="1627632"/>
            <a:ext cx="2103120" cy="365760"/>
          </a:xfrm>
          <a:prstGeom prst="rect">
            <a:avLst/>
          </a:prstGeom>
          <a:noFill/>
          <a:ln/>
        </p:spPr>
        <p:txBody>
          <a:bodyPr wrap="square" lIns="0" tIns="0" rIns="0" bIns="0" rtlCol="0" anchor="ctr"/>
          <a:lstStyle/>
          <a:p>
            <a:pPr indent="0" marL="0">
              <a:buNone/>
            </a:pPr>
            <a:r>
              <a:rPr lang="en-US" sz="1700" b="1" dirty="0">
                <a:solidFill>
                  <a:srgbClr val="4472C4"/>
                </a:solidFill>
              </a:rPr>
              <a:t>1 Program</a:t>
            </a:r>
            <a:endParaRPr lang="en-US" sz="1700" dirty="0"/>
          </a:p>
        </p:txBody>
      </p:sp>
      <p:sp>
        <p:nvSpPr>
          <p:cNvPr id="12" name="step 1 Program"/>
          <p:cNvSpPr/>
          <p:nvPr/>
        </p:nvSpPr>
        <p:spPr>
          <a:xfrm>
            <a:off x="548640" y="2011680"/>
            <a:ext cx="2103120" cy="1325880"/>
          </a:xfrm>
          <a:prstGeom prst="roundRect">
            <a:avLst>
              <a:gd name="adj" fmla="val 5517"/>
            </a:avLst>
          </a:prstGeom>
          <a:solidFill>
            <a:srgbClr val="FADBD8"/>
          </a:solidFill>
          <a:ln w="12700">
            <a:solidFill>
              <a:srgbClr val="C00000"/>
            </a:solidFill>
            <a:prstDash val="solid"/>
          </a:ln>
        </p:spPr>
      </p:sp>
      <p:sp>
        <p:nvSpPr>
          <p:cNvPr id="13" name="Text 9"/>
          <p:cNvSpPr txBox="1"/>
          <p:nvPr/>
        </p:nvSpPr>
        <p:spPr>
          <a:xfrm>
            <a:off x="621792" y="2057400"/>
            <a:ext cx="1956816" cy="566928"/>
          </a:xfrm>
          <a:prstGeom prst="rect">
            <a:avLst/>
          </a:prstGeom>
          <a:noFill/>
          <a:ln/>
        </p:spPr>
        <p:txBody>
          <a:bodyPr wrap="square" lIns="0" tIns="0" rIns="0" bIns="0" rtlCol="0" anchor="ctr"/>
          <a:lstStyle/>
          <a:p>
            <a:pPr algn="ctr" indent="0" marL="0">
              <a:buNone/>
            </a:pPr>
            <a:r>
              <a:rPr lang="en-US" sz="1400" b="1" dirty="0">
                <a:solidFill>
                  <a:srgbClr val="C00000"/>
                </a:solidFill>
                <a:latin typeface="Courier New" pitchFamily="34" charset="0"/>
                <a:ea typeface="Courier New" pitchFamily="34" charset="-122"/>
                <a:cs typeface="Courier New" pitchFamily="34" charset="-120"/>
              </a:rPr>
              <a:t>Objective()</a:t>
            </a:r>
            <a:endParaRPr lang="en-US" sz="1400" dirty="0"/>
          </a:p>
          <a:p>
            <a:pPr algn="ctr" indent="0" marL="0">
              <a:buNone/>
            </a:pPr>
            <a:r>
              <a:rPr lang="en-US" sz="1400" b="1" dirty="0">
                <a:solidFill>
                  <a:srgbClr val="C00000"/>
                </a:solidFill>
                <a:latin typeface="Courier New" pitchFamily="34" charset="0"/>
                <a:ea typeface="Courier New" pitchFamily="34" charset="-122"/>
                <a:cs typeface="Courier New" pitchFamily="34" charset="-120"/>
              </a:rPr>
              <a:t>.Minimize()</a:t>
            </a:r>
            <a:endParaRPr lang="en-US" sz="1400" dirty="0"/>
          </a:p>
        </p:txBody>
      </p:sp>
      <p:sp>
        <p:nvSpPr>
          <p:cNvPr id="14" name="Text 10"/>
          <p:cNvSpPr txBox="1"/>
          <p:nvPr/>
        </p:nvSpPr>
        <p:spPr>
          <a:xfrm>
            <a:off x="640080" y="2651760"/>
            <a:ext cx="1920240" cy="658368"/>
          </a:xfrm>
          <a:prstGeom prst="rect">
            <a:avLst/>
          </a:prstGeom>
          <a:noFill/>
          <a:ln/>
        </p:spPr>
        <p:txBody>
          <a:bodyPr wrap="square" lIns="0" tIns="0" rIns="0" bIns="0" rtlCol="0" anchor="t"/>
          <a:lstStyle/>
          <a:p>
            <a:pPr algn="ctr" indent="0" marL="0">
              <a:buNone/>
            </a:pPr>
            <a:r>
              <a:rPr lang="en-US" sz="1400" dirty="0">
                <a:solidFill>
                  <a:schemeClr val="tx1"/>
                </a:solidFill>
              </a:rPr>
              <a:t>✗ crash, no hint</a:t>
            </a:r>
            <a:endParaRPr lang="en-US" sz="1400" dirty="0"/>
          </a:p>
        </p:txBody>
      </p:sp>
      <p:sp>
        <p:nvSpPr>
          <p:cNvPr id="15" name="Shape 11"/>
          <p:cNvSpPr/>
          <p:nvPr/>
        </p:nvSpPr>
        <p:spPr>
          <a:xfrm>
            <a:off x="2651760" y="2670048"/>
            <a:ext cx="137160" cy="0"/>
          </a:xfrm>
          <a:prstGeom prst="line">
            <a:avLst/>
          </a:prstGeom>
          <a:noFill/>
          <a:ln w="25400">
            <a:solidFill>
              <a:srgbClr val="7F7F7F"/>
            </a:solidFill>
            <a:prstDash val="solid"/>
            <a:tailEnd type="triangle"/>
          </a:ln>
        </p:spPr>
      </p:sp>
      <p:pic>
        <p:nvPicPr>
          <p:cNvPr id="16" name="step 1 used on shapes" descr="/NAS/SJ/POSTECH/nlp/figs/icons/shapes.png">    </p:cNvPr>
          <p:cNvPicPr>
            <a:picLocks noChangeAspect="1"/>
          </p:cNvPicPr>
          <p:nvPr/>
        </p:nvPicPr>
        <p:blipFill>
          <a:blip r:embed="rId3"/>
          <a:stretch>
            <a:fillRect/>
          </a:stretch>
        </p:blipFill>
        <p:spPr>
          <a:xfrm>
            <a:off x="1042416" y="3401568"/>
            <a:ext cx="237744" cy="237744"/>
          </a:xfrm>
          <a:prstGeom prst="rect">
            <a:avLst/>
          </a:prstGeom>
        </p:spPr>
      </p:pic>
      <p:pic>
        <p:nvPicPr>
          <p:cNvPr id="17" name="step 1 used on trophy" descr="/NAS/SJ/POSTECH/nlp/figs/icons/trophy.png">    </p:cNvPr>
          <p:cNvPicPr>
            <a:picLocks noChangeAspect="1"/>
          </p:cNvPicPr>
          <p:nvPr/>
        </p:nvPicPr>
        <p:blipFill>
          <a:blip r:embed="rId4"/>
          <a:stretch>
            <a:fillRect/>
          </a:stretch>
        </p:blipFill>
        <p:spPr>
          <a:xfrm>
            <a:off x="1335024" y="3401568"/>
            <a:ext cx="237744" cy="237744"/>
          </a:xfrm>
          <a:prstGeom prst="rect">
            <a:avLst/>
          </a:prstGeom>
        </p:spPr>
      </p:pic>
      <p:pic>
        <p:nvPicPr>
          <p:cNvPr id="18" name="step 1 used on truck" descr="/NAS/SJ/POSTECH/nlp/figs/icons/truck.png">    </p:cNvPr>
          <p:cNvPicPr>
            <a:picLocks noChangeAspect="1"/>
          </p:cNvPicPr>
          <p:nvPr/>
        </p:nvPicPr>
        <p:blipFill>
          <a:blip r:embed="rId5"/>
          <a:stretch>
            <a:fillRect/>
          </a:stretch>
        </p:blipFill>
        <p:spPr>
          <a:xfrm>
            <a:off x="1627632" y="3401568"/>
            <a:ext cx="237744" cy="237744"/>
          </a:xfrm>
          <a:prstGeom prst="rect">
            <a:avLst/>
          </a:prstGeom>
        </p:spPr>
      </p:pic>
      <p:pic>
        <p:nvPicPr>
          <p:cNvPr id="19" name="step 1 used on calc" descr="/NAS/SJ/POSTECH/nlp/figs/icons/calc.png">    </p:cNvPr>
          <p:cNvPicPr>
            <a:picLocks noChangeAspect="1"/>
          </p:cNvPicPr>
          <p:nvPr/>
        </p:nvPicPr>
        <p:blipFill>
          <a:blip r:embed="rId6"/>
          <a:stretch>
            <a:fillRect/>
          </a:stretch>
        </p:blipFill>
        <p:spPr>
          <a:xfrm>
            <a:off x="1920240" y="3401568"/>
            <a:ext cx="237744" cy="237744"/>
          </a:xfrm>
          <a:prstGeom prst="rect">
            <a:avLst/>
          </a:prstGeom>
        </p:spPr>
      </p:pic>
      <p:sp>
        <p:nvSpPr>
          <p:cNvPr id="20" name="Text 12"/>
          <p:cNvSpPr txBox="1"/>
          <p:nvPr/>
        </p:nvSpPr>
        <p:spPr>
          <a:xfrm>
            <a:off x="2788920" y="1627632"/>
            <a:ext cx="2103120" cy="365760"/>
          </a:xfrm>
          <a:prstGeom prst="rect">
            <a:avLst/>
          </a:prstGeom>
          <a:noFill/>
          <a:ln/>
        </p:spPr>
        <p:txBody>
          <a:bodyPr wrap="square" lIns="0" tIns="0" rIns="0" bIns="0" rtlCol="0" anchor="ctr"/>
          <a:lstStyle/>
          <a:p>
            <a:pPr indent="0" marL="0">
              <a:buNone/>
            </a:pPr>
            <a:r>
              <a:rPr lang="en-US" sz="1700" b="1" dirty="0">
                <a:solidFill>
                  <a:srgbClr val="4472C4"/>
                </a:solidFill>
              </a:rPr>
              <a:t>2 + Hint</a:t>
            </a:r>
            <a:endParaRPr lang="en-US" sz="1700" dirty="0"/>
          </a:p>
        </p:txBody>
      </p:sp>
      <p:sp>
        <p:nvSpPr>
          <p:cNvPr id="21" name="step 2 + Fact"/>
          <p:cNvSpPr/>
          <p:nvPr/>
        </p:nvSpPr>
        <p:spPr>
          <a:xfrm>
            <a:off x="2788920" y="2011680"/>
            <a:ext cx="2103120" cy="1325880"/>
          </a:xfrm>
          <a:prstGeom prst="roundRect">
            <a:avLst>
              <a:gd name="adj" fmla="val 5517"/>
            </a:avLst>
          </a:prstGeom>
          <a:solidFill>
            <a:srgbClr val="E2F0D9"/>
          </a:solidFill>
          <a:ln w="12700">
            <a:solidFill>
              <a:srgbClr val="38761D"/>
            </a:solidFill>
            <a:prstDash val="solid"/>
          </a:ln>
        </p:spPr>
      </p:sp>
      <p:sp>
        <p:nvSpPr>
          <p:cNvPr id="22" name="Text 14"/>
          <p:cNvSpPr txBox="1"/>
          <p:nvPr/>
        </p:nvSpPr>
        <p:spPr>
          <a:xfrm>
            <a:off x="2862072" y="2057400"/>
            <a:ext cx="1956816" cy="566928"/>
          </a:xfrm>
          <a:prstGeom prst="rect">
            <a:avLst/>
          </a:prstGeom>
          <a:noFill/>
          <a:ln/>
        </p:spPr>
        <p:txBody>
          <a:bodyPr wrap="square" lIns="0" tIns="0" rIns="0" bIns="0" rtlCol="0" anchor="ctr"/>
          <a:lstStyle/>
          <a:p>
            <a:pPr algn="ctr" indent="0" marL="0">
              <a:buNone/>
            </a:pPr>
            <a:r>
              <a:rPr lang="en-US" sz="1400" b="1" dirty="0">
                <a:solidFill>
                  <a:srgbClr val="38761D"/>
                </a:solidFill>
                <a:latin typeface="Courier New" pitchFamily="34" charset="0"/>
                <a:ea typeface="Courier New" pitchFamily="34" charset="-122"/>
                <a:cs typeface="Courier New" pitchFamily="34" charset="-120"/>
              </a:rPr>
              <a:t>solver</a:t>
            </a:r>
            <a:endParaRPr lang="en-US" sz="1400" dirty="0"/>
          </a:p>
          <a:p>
            <a:pPr algn="ctr" indent="0" marL="0">
              <a:buNone/>
            </a:pPr>
            <a:r>
              <a:rPr lang="en-US" sz="1400" b="1" dirty="0">
                <a:solidFill>
                  <a:srgbClr val="38761D"/>
                </a:solidFill>
                <a:latin typeface="Courier New" pitchFamily="34" charset="0"/>
                <a:ea typeface="Courier New" pitchFamily="34" charset="-122"/>
                <a:cs typeface="Courier New" pitchFamily="34" charset="-120"/>
              </a:rPr>
              <a:t>.Minimize(...)</a:t>
            </a:r>
            <a:endParaRPr lang="en-US" sz="1400" dirty="0"/>
          </a:p>
        </p:txBody>
      </p:sp>
      <p:sp>
        <p:nvSpPr>
          <p:cNvPr id="23" name="Text 15"/>
          <p:cNvSpPr txBox="1"/>
          <p:nvPr/>
        </p:nvSpPr>
        <p:spPr>
          <a:xfrm>
            <a:off x="2880360" y="2651760"/>
            <a:ext cx="1920240" cy="658368"/>
          </a:xfrm>
          <a:prstGeom prst="rect">
            <a:avLst/>
          </a:prstGeom>
          <a:noFill/>
          <a:ln/>
        </p:spPr>
        <p:txBody>
          <a:bodyPr wrap="square" lIns="0" tIns="0" rIns="0" bIns="0" rtlCol="0" anchor="t"/>
          <a:lstStyle/>
          <a:p>
            <a:pPr algn="ctr" indent="0" marL="0">
              <a:buNone/>
            </a:pPr>
            <a:r>
              <a:rPr lang="en-US" sz="1400" dirty="0">
                <a:solidFill>
                  <a:schemeClr val="tx1"/>
                </a:solidFill>
              </a:rPr>
              <a:t>found automatically: its own checked program</a:t>
            </a:r>
            <a:endParaRPr lang="en-US" sz="1400" dirty="0"/>
          </a:p>
        </p:txBody>
      </p:sp>
      <p:sp>
        <p:nvSpPr>
          <p:cNvPr id="24" name="Shape 16"/>
          <p:cNvSpPr/>
          <p:nvPr/>
        </p:nvSpPr>
        <p:spPr>
          <a:xfrm>
            <a:off x="4892040" y="2670048"/>
            <a:ext cx="137160" cy="0"/>
          </a:xfrm>
          <a:prstGeom prst="line">
            <a:avLst/>
          </a:prstGeom>
          <a:noFill/>
          <a:ln w="25400">
            <a:solidFill>
              <a:srgbClr val="7F7F7F"/>
            </a:solidFill>
            <a:prstDash val="solid"/>
            <a:tailEnd type="triangle"/>
          </a:ln>
        </p:spPr>
      </p:sp>
      <p:pic>
        <p:nvPicPr>
          <p:cNvPr id="25" name="step 2 used on shapes" descr="/NAS/SJ/POSTECH/nlp/figs/icons/shapes.png">    </p:cNvPr>
          <p:cNvPicPr>
            <a:picLocks noChangeAspect="1"/>
          </p:cNvPicPr>
          <p:nvPr/>
        </p:nvPicPr>
        <p:blipFill>
          <a:blip r:embed="rId7"/>
          <a:stretch>
            <a:fillRect/>
          </a:stretch>
        </p:blipFill>
        <p:spPr>
          <a:xfrm>
            <a:off x="3282696" y="3401568"/>
            <a:ext cx="237744" cy="237744"/>
          </a:xfrm>
          <a:prstGeom prst="rect">
            <a:avLst/>
          </a:prstGeom>
        </p:spPr>
      </p:pic>
      <p:pic>
        <p:nvPicPr>
          <p:cNvPr id="26" name="step 2 not needed on trophy" descr="/NAS/SJ/POSTECH/nlp/figs/icons/trophy.png">    </p:cNvPr>
          <p:cNvPicPr>
            <a:picLocks noChangeAspect="1"/>
          </p:cNvPicPr>
          <p:nvPr/>
        </p:nvPicPr>
        <p:blipFill>
          <a:blip r:embed="rId8">
            <a:alphaModFix amt="18000"/>
          </a:blip>
          <a:stretch>
            <a:fillRect/>
          </a:stretch>
        </p:blipFill>
        <p:spPr>
          <a:xfrm>
            <a:off x="3575304" y="3401568"/>
            <a:ext cx="237744" cy="237744"/>
          </a:xfrm>
          <a:prstGeom prst="rect">
            <a:avLst/>
          </a:prstGeom>
        </p:spPr>
      </p:pic>
      <p:pic>
        <p:nvPicPr>
          <p:cNvPr id="27" name="step 2 used on truck" descr="/NAS/SJ/POSTECH/nlp/figs/icons/truck.png">    </p:cNvPr>
          <p:cNvPicPr>
            <a:picLocks noChangeAspect="1"/>
          </p:cNvPicPr>
          <p:nvPr/>
        </p:nvPicPr>
        <p:blipFill>
          <a:blip r:embed="rId9"/>
          <a:stretch>
            <a:fillRect/>
          </a:stretch>
        </p:blipFill>
        <p:spPr>
          <a:xfrm>
            <a:off x="3867912" y="3401568"/>
            <a:ext cx="237744" cy="237744"/>
          </a:xfrm>
          <a:prstGeom prst="rect">
            <a:avLst/>
          </a:prstGeom>
        </p:spPr>
      </p:pic>
      <p:pic>
        <p:nvPicPr>
          <p:cNvPr id="28" name="step 2 used on calc" descr="/NAS/SJ/POSTECH/nlp/figs/icons/calc.png">    </p:cNvPr>
          <p:cNvPicPr>
            <a:picLocks noChangeAspect="1"/>
          </p:cNvPicPr>
          <p:nvPr/>
        </p:nvPicPr>
        <p:blipFill>
          <a:blip r:embed="rId10"/>
          <a:stretch>
            <a:fillRect/>
          </a:stretch>
        </p:blipFill>
        <p:spPr>
          <a:xfrm>
            <a:off x="4160520" y="3401568"/>
            <a:ext cx="237744" cy="237744"/>
          </a:xfrm>
          <a:prstGeom prst="rect">
            <a:avLst/>
          </a:prstGeom>
        </p:spPr>
      </p:pic>
      <p:sp>
        <p:nvSpPr>
          <p:cNvPr id="29" name="Text 17"/>
          <p:cNvSpPr txBox="1"/>
          <p:nvPr/>
        </p:nvSpPr>
        <p:spPr>
          <a:xfrm>
            <a:off x="5029200" y="1627632"/>
            <a:ext cx="2103120" cy="365760"/>
          </a:xfrm>
          <a:prstGeom prst="rect">
            <a:avLst/>
          </a:prstGeom>
          <a:noFill/>
          <a:ln/>
        </p:spPr>
        <p:txBody>
          <a:bodyPr wrap="square" lIns="0" tIns="0" rIns="0" bIns="0" rtlCol="0" anchor="ctr"/>
          <a:lstStyle/>
          <a:p>
            <a:pPr indent="0" marL="0">
              <a:buNone/>
            </a:pPr>
            <a:r>
              <a:rPr lang="en-US" sz="1700" b="1" dirty="0">
                <a:solidFill>
                  <a:srgbClr val="4472C4"/>
                </a:solidFill>
              </a:rPr>
              <a:t>3 Free check</a:t>
            </a:r>
            <a:endParaRPr lang="en-US" sz="1700" dirty="0"/>
          </a:p>
        </p:txBody>
      </p:sp>
      <p:sp>
        <p:nvSpPr>
          <p:cNvPr id="30" name="step 3 Free check"/>
          <p:cNvSpPr/>
          <p:nvPr/>
        </p:nvSpPr>
        <p:spPr>
          <a:xfrm>
            <a:off x="5029200" y="2011680"/>
            <a:ext cx="2103120" cy="1325880"/>
          </a:xfrm>
          <a:prstGeom prst="roundRect">
            <a:avLst>
              <a:gd name="adj" fmla="val 5517"/>
            </a:avLst>
          </a:prstGeom>
          <a:solidFill>
            <a:srgbClr val="E2F0D9"/>
          </a:solidFill>
          <a:ln w="12700">
            <a:solidFill>
              <a:srgbClr val="38761D"/>
            </a:solidFill>
            <a:prstDash val="solid"/>
          </a:ln>
        </p:spPr>
      </p:sp>
      <p:sp>
        <p:nvSpPr>
          <p:cNvPr id="31" name="Text 19"/>
          <p:cNvSpPr txBox="1"/>
          <p:nvPr/>
        </p:nvSpPr>
        <p:spPr>
          <a:xfrm>
            <a:off x="5102352" y="2057400"/>
            <a:ext cx="1956816" cy="566928"/>
          </a:xfrm>
          <a:prstGeom prst="rect">
            <a:avLst/>
          </a:prstGeom>
          <a:noFill/>
          <a:ln/>
        </p:spPr>
        <p:txBody>
          <a:bodyPr wrap="square" lIns="0" tIns="0" rIns="0" bIns="0" rtlCol="0" anchor="ctr"/>
          <a:lstStyle/>
          <a:p>
            <a:pPr algn="ctr" indent="0" marL="0">
              <a:buNone/>
            </a:pPr>
            <a:r>
              <a:rPr lang="en-US" sz="1800" b="1" dirty="0">
                <a:solidFill>
                  <a:srgbClr val="38761D"/>
                </a:solidFill>
                <a:latin typeface="Calibri" pitchFamily="34" charset="0"/>
                <a:ea typeface="Calibri" pitchFamily="34" charset="-122"/>
                <a:cs typeface="Calibri" pitchFamily="34" charset="-120"/>
              </a:rPr>
              <a:t>20000 = 20000</a:t>
            </a:r>
            <a:endParaRPr lang="en-US" sz="1800" dirty="0"/>
          </a:p>
        </p:txBody>
      </p:sp>
      <p:sp>
        <p:nvSpPr>
          <p:cNvPr id="32" name="Text 20"/>
          <p:cNvSpPr txBox="1"/>
          <p:nvPr/>
        </p:nvSpPr>
        <p:spPr>
          <a:xfrm>
            <a:off x="5120640" y="2651760"/>
            <a:ext cx="1920240" cy="658368"/>
          </a:xfrm>
          <a:prstGeom prst="rect">
            <a:avLst/>
          </a:prstGeom>
          <a:noFill/>
          <a:ln/>
        </p:spPr>
        <p:txBody>
          <a:bodyPr wrap="square" lIns="0" tIns="0" rIns="0" bIns="0" rtlCol="0" anchor="t"/>
          <a:lstStyle/>
          <a:p>
            <a:pPr algn="ctr" indent="0" marL="0">
              <a:buNone/>
            </a:pPr>
            <a:r>
              <a:rPr lang="en-US" sz="1400" dirty="0">
                <a:solidFill>
                  <a:schemeClr val="tx1"/>
                </a:solidFill>
              </a:rPr>
              <a:t>a second version agrees</a:t>
            </a:r>
            <a:endParaRPr lang="en-US" sz="1400" dirty="0"/>
          </a:p>
        </p:txBody>
      </p:sp>
      <p:sp>
        <p:nvSpPr>
          <p:cNvPr id="33" name="Shape 21"/>
          <p:cNvSpPr/>
          <p:nvPr/>
        </p:nvSpPr>
        <p:spPr>
          <a:xfrm>
            <a:off x="7132320" y="2670048"/>
            <a:ext cx="137160" cy="0"/>
          </a:xfrm>
          <a:prstGeom prst="line">
            <a:avLst/>
          </a:prstGeom>
          <a:noFill/>
          <a:ln w="25400">
            <a:solidFill>
              <a:srgbClr val="7F7F7F"/>
            </a:solidFill>
            <a:prstDash val="solid"/>
            <a:tailEnd type="triangle"/>
          </a:ln>
        </p:spPr>
      </p:sp>
      <p:pic>
        <p:nvPicPr>
          <p:cNvPr id="34" name="step 3 used on shapes" descr="/NAS/SJ/POSTECH/nlp/figs/icons/shapes.png">    </p:cNvPr>
          <p:cNvPicPr>
            <a:picLocks noChangeAspect="1"/>
          </p:cNvPicPr>
          <p:nvPr/>
        </p:nvPicPr>
        <p:blipFill>
          <a:blip r:embed="rId11"/>
          <a:stretch>
            <a:fillRect/>
          </a:stretch>
        </p:blipFill>
        <p:spPr>
          <a:xfrm>
            <a:off x="5522976" y="3401568"/>
            <a:ext cx="237744" cy="237744"/>
          </a:xfrm>
          <a:prstGeom prst="rect">
            <a:avLst/>
          </a:prstGeom>
        </p:spPr>
      </p:pic>
      <p:pic>
        <p:nvPicPr>
          <p:cNvPr id="35" name="step 3 used on trophy" descr="/NAS/SJ/POSTECH/nlp/figs/icons/trophy.png">    </p:cNvPr>
          <p:cNvPicPr>
            <a:picLocks noChangeAspect="1"/>
          </p:cNvPicPr>
          <p:nvPr/>
        </p:nvPicPr>
        <p:blipFill>
          <a:blip r:embed="rId12"/>
          <a:stretch>
            <a:fillRect/>
          </a:stretch>
        </p:blipFill>
        <p:spPr>
          <a:xfrm>
            <a:off x="5815584" y="3401568"/>
            <a:ext cx="237744" cy="237744"/>
          </a:xfrm>
          <a:prstGeom prst="rect">
            <a:avLst/>
          </a:prstGeom>
        </p:spPr>
      </p:pic>
      <p:pic>
        <p:nvPicPr>
          <p:cNvPr id="36" name="step 3 used on truck" descr="/NAS/SJ/POSTECH/nlp/figs/icons/truck.png">    </p:cNvPr>
          <p:cNvPicPr>
            <a:picLocks noChangeAspect="1"/>
          </p:cNvPicPr>
          <p:nvPr/>
        </p:nvPicPr>
        <p:blipFill>
          <a:blip r:embed="rId13"/>
          <a:stretch>
            <a:fillRect/>
          </a:stretch>
        </p:blipFill>
        <p:spPr>
          <a:xfrm>
            <a:off x="6108192" y="3401568"/>
            <a:ext cx="237744" cy="237744"/>
          </a:xfrm>
          <a:prstGeom prst="rect">
            <a:avLst/>
          </a:prstGeom>
        </p:spPr>
      </p:pic>
      <p:pic>
        <p:nvPicPr>
          <p:cNvPr id="37" name="step 3 used on calc" descr="/NAS/SJ/POSTECH/nlp/figs/icons/calc.png">    </p:cNvPr>
          <p:cNvPicPr>
            <a:picLocks noChangeAspect="1"/>
          </p:cNvPicPr>
          <p:nvPr/>
        </p:nvPicPr>
        <p:blipFill>
          <a:blip r:embed="rId14"/>
          <a:stretch>
            <a:fillRect/>
          </a:stretch>
        </p:blipFill>
        <p:spPr>
          <a:xfrm>
            <a:off x="6400800" y="3401568"/>
            <a:ext cx="237744" cy="237744"/>
          </a:xfrm>
          <a:prstGeom prst="rect">
            <a:avLst/>
          </a:prstGeom>
        </p:spPr>
      </p:pic>
      <p:sp>
        <p:nvSpPr>
          <p:cNvPr id="38" name="Text 22"/>
          <p:cNvSpPr txBox="1"/>
          <p:nvPr/>
        </p:nvSpPr>
        <p:spPr>
          <a:xfrm>
            <a:off x="7269480" y="1627632"/>
            <a:ext cx="2103120" cy="365760"/>
          </a:xfrm>
          <a:prstGeom prst="rect">
            <a:avLst/>
          </a:prstGeom>
          <a:noFill/>
          <a:ln/>
        </p:spPr>
        <p:txBody>
          <a:bodyPr wrap="square" lIns="0" tIns="0" rIns="0" bIns="0" rtlCol="0" anchor="ctr"/>
          <a:lstStyle/>
          <a:p>
            <a:pPr indent="0" marL="0">
              <a:buNone/>
            </a:pPr>
            <a:r>
              <a:rPr lang="en-US" sz="1700" b="1" dirty="0">
                <a:solidFill>
                  <a:srgbClr val="4472C4"/>
                </a:solidFill>
              </a:rPr>
              <a:t>4 Think?</a:t>
            </a:r>
            <a:endParaRPr lang="en-US" sz="1700" dirty="0"/>
          </a:p>
        </p:txBody>
      </p:sp>
      <p:sp>
        <p:nvSpPr>
          <p:cNvPr id="39" name="step 4 Think?"/>
          <p:cNvSpPr/>
          <p:nvPr/>
        </p:nvSpPr>
        <p:spPr>
          <a:xfrm>
            <a:off x="7269480" y="2011680"/>
            <a:ext cx="2103120" cy="1325880"/>
          </a:xfrm>
          <a:prstGeom prst="roundRect">
            <a:avLst>
              <a:gd name="adj" fmla="val 5517"/>
            </a:avLst>
          </a:prstGeom>
          <a:solidFill>
            <a:srgbClr val="F2F2F2"/>
          </a:solidFill>
          <a:ln w="12700">
            <a:solidFill>
              <a:srgbClr val="7F7F7F"/>
            </a:solidFill>
            <a:prstDash val="solid"/>
          </a:ln>
        </p:spPr>
      </p:sp>
      <p:sp>
        <p:nvSpPr>
          <p:cNvPr id="40" name="Text 24"/>
          <p:cNvSpPr txBox="1"/>
          <p:nvPr/>
        </p:nvSpPr>
        <p:spPr>
          <a:xfrm>
            <a:off x="7342632" y="2057400"/>
            <a:ext cx="1956816" cy="566928"/>
          </a:xfrm>
          <a:prstGeom prst="rect">
            <a:avLst/>
          </a:prstGeom>
          <a:noFill/>
          <a:ln/>
        </p:spPr>
        <p:txBody>
          <a:bodyPr wrap="square" lIns="0" tIns="0" rIns="0" bIns="0" rtlCol="0" anchor="ctr"/>
          <a:lstStyle/>
          <a:p>
            <a:pPr algn="ctr" indent="0" marL="0">
              <a:buNone/>
            </a:pPr>
            <a:r>
              <a:rPr lang="en-US" sz="1800" b="1" dirty="0">
                <a:solidFill>
                  <a:srgbClr val="7F7F7F"/>
                </a:solidFill>
                <a:latin typeface="Calibri" pitchFamily="34" charset="0"/>
                <a:ea typeface="Calibri" pitchFamily="34" charset="-122"/>
                <a:cs typeface="Calibri" pitchFamily="34" charset="-120"/>
              </a:rPr>
              <a:t>skipped</a:t>
            </a:r>
            <a:endParaRPr lang="en-US" sz="1800" dirty="0"/>
          </a:p>
        </p:txBody>
      </p:sp>
      <p:sp>
        <p:nvSpPr>
          <p:cNvPr id="41" name="Text 25"/>
          <p:cNvSpPr txBox="1"/>
          <p:nvPr/>
        </p:nvSpPr>
        <p:spPr>
          <a:xfrm>
            <a:off x="7360920" y="2651760"/>
            <a:ext cx="1920240" cy="658368"/>
          </a:xfrm>
          <a:prstGeom prst="rect">
            <a:avLst/>
          </a:prstGeom>
          <a:noFill/>
          <a:ln/>
        </p:spPr>
        <p:txBody>
          <a:bodyPr wrap="square" lIns="0" tIns="0" rIns="0" bIns="0" rtlCol="0" anchor="t"/>
          <a:lstStyle/>
          <a:p>
            <a:pPr algn="ctr" indent="0" marL="0">
              <a:buNone/>
            </a:pPr>
            <a:r>
              <a:rPr lang="en-US" sz="1400" dirty="0">
                <a:solidFill>
                  <a:schemeClr val="tx1"/>
                </a:solidFill>
              </a:rPr>
              <a:t>think only if the two differ</a:t>
            </a:r>
            <a:endParaRPr lang="en-US" sz="1400" dirty="0"/>
          </a:p>
        </p:txBody>
      </p:sp>
      <p:sp>
        <p:nvSpPr>
          <p:cNvPr id="42" name="Shape 26"/>
          <p:cNvSpPr/>
          <p:nvPr/>
        </p:nvSpPr>
        <p:spPr>
          <a:xfrm>
            <a:off x="9372600" y="2670048"/>
            <a:ext cx="137160" cy="0"/>
          </a:xfrm>
          <a:prstGeom prst="line">
            <a:avLst/>
          </a:prstGeom>
          <a:noFill/>
          <a:ln w="25400">
            <a:solidFill>
              <a:srgbClr val="7F7F7F"/>
            </a:solidFill>
            <a:prstDash val="solid"/>
            <a:tailEnd type="triangle"/>
          </a:ln>
        </p:spPr>
      </p:sp>
      <p:pic>
        <p:nvPicPr>
          <p:cNvPr id="43" name="step 4 used on shapes" descr="/NAS/SJ/POSTECH/nlp/figs/icons/shapes.png">    </p:cNvPr>
          <p:cNvPicPr>
            <a:picLocks noChangeAspect="1"/>
          </p:cNvPicPr>
          <p:nvPr/>
        </p:nvPicPr>
        <p:blipFill>
          <a:blip r:embed="rId15"/>
          <a:stretch>
            <a:fillRect/>
          </a:stretch>
        </p:blipFill>
        <p:spPr>
          <a:xfrm>
            <a:off x="7763256" y="3401568"/>
            <a:ext cx="237744" cy="237744"/>
          </a:xfrm>
          <a:prstGeom prst="rect">
            <a:avLst/>
          </a:prstGeom>
        </p:spPr>
      </p:pic>
      <p:pic>
        <p:nvPicPr>
          <p:cNvPr id="44" name="step 4 used on trophy" descr="/NAS/SJ/POSTECH/nlp/figs/icons/trophy.png">    </p:cNvPr>
          <p:cNvPicPr>
            <a:picLocks noChangeAspect="1"/>
          </p:cNvPicPr>
          <p:nvPr/>
        </p:nvPicPr>
        <p:blipFill>
          <a:blip r:embed="rId16"/>
          <a:stretch>
            <a:fillRect/>
          </a:stretch>
        </p:blipFill>
        <p:spPr>
          <a:xfrm>
            <a:off x="8055864" y="3401568"/>
            <a:ext cx="237744" cy="237744"/>
          </a:xfrm>
          <a:prstGeom prst="rect">
            <a:avLst/>
          </a:prstGeom>
        </p:spPr>
      </p:pic>
      <p:pic>
        <p:nvPicPr>
          <p:cNvPr id="45" name="step 4 used on truck" descr="/NAS/SJ/POSTECH/nlp/figs/icons/truck.png">    </p:cNvPr>
          <p:cNvPicPr>
            <a:picLocks noChangeAspect="1"/>
          </p:cNvPicPr>
          <p:nvPr/>
        </p:nvPicPr>
        <p:blipFill>
          <a:blip r:embed="rId17"/>
          <a:stretch>
            <a:fillRect/>
          </a:stretch>
        </p:blipFill>
        <p:spPr>
          <a:xfrm>
            <a:off x="8348472" y="3401568"/>
            <a:ext cx="237744" cy="237744"/>
          </a:xfrm>
          <a:prstGeom prst="rect">
            <a:avLst/>
          </a:prstGeom>
        </p:spPr>
      </p:pic>
      <p:pic>
        <p:nvPicPr>
          <p:cNvPr id="46" name="step 4 used on calc" descr="/NAS/SJ/POSTECH/nlp/figs/icons/calc.png">    </p:cNvPr>
          <p:cNvPicPr>
            <a:picLocks noChangeAspect="1"/>
          </p:cNvPicPr>
          <p:nvPr/>
        </p:nvPicPr>
        <p:blipFill>
          <a:blip r:embed="rId18"/>
          <a:stretch>
            <a:fillRect/>
          </a:stretch>
        </p:blipFill>
        <p:spPr>
          <a:xfrm>
            <a:off x="8641080" y="3401568"/>
            <a:ext cx="237744" cy="237744"/>
          </a:xfrm>
          <a:prstGeom prst="rect">
            <a:avLst/>
          </a:prstGeom>
        </p:spPr>
      </p:pic>
      <p:sp>
        <p:nvSpPr>
          <p:cNvPr id="47" name="Text 27"/>
          <p:cNvSpPr txBox="1"/>
          <p:nvPr/>
        </p:nvSpPr>
        <p:spPr>
          <a:xfrm>
            <a:off x="9509760" y="1627632"/>
            <a:ext cx="2103120" cy="365760"/>
          </a:xfrm>
          <a:prstGeom prst="rect">
            <a:avLst/>
          </a:prstGeom>
          <a:noFill/>
          <a:ln/>
        </p:spPr>
        <p:txBody>
          <a:bodyPr wrap="square" lIns="0" tIns="0" rIns="0" bIns="0" rtlCol="0" anchor="ctr"/>
          <a:lstStyle/>
          <a:p>
            <a:pPr indent="0" marL="0">
              <a:buNone/>
            </a:pPr>
            <a:r>
              <a:rPr lang="en-US" sz="1700" b="1" dirty="0">
                <a:solidFill>
                  <a:srgbClr val="4472C4"/>
                </a:solidFill>
              </a:rPr>
              <a:t>5 Reuse</a:t>
            </a:r>
            <a:endParaRPr lang="en-US" sz="1700" dirty="0"/>
          </a:p>
        </p:txBody>
      </p:sp>
      <p:sp>
        <p:nvSpPr>
          <p:cNvPr id="48" name="step 5 Reuse"/>
          <p:cNvSpPr/>
          <p:nvPr/>
        </p:nvSpPr>
        <p:spPr>
          <a:xfrm>
            <a:off x="9509760" y="2011680"/>
            <a:ext cx="2103120" cy="1325880"/>
          </a:xfrm>
          <a:prstGeom prst="roundRect">
            <a:avLst>
              <a:gd name="adj" fmla="val 5517"/>
            </a:avLst>
          </a:prstGeom>
          <a:solidFill>
            <a:srgbClr val="DEEBF7"/>
          </a:solidFill>
          <a:ln w="12700">
            <a:solidFill>
              <a:srgbClr val="4472C4"/>
            </a:solidFill>
            <a:prstDash val="solid"/>
          </a:ln>
        </p:spPr>
      </p:sp>
      <p:sp>
        <p:nvSpPr>
          <p:cNvPr id="49" name="Text 29"/>
          <p:cNvSpPr txBox="1"/>
          <p:nvPr/>
        </p:nvSpPr>
        <p:spPr>
          <a:xfrm>
            <a:off x="9582912" y="2057400"/>
            <a:ext cx="1956816" cy="566928"/>
          </a:xfrm>
          <a:prstGeom prst="rect">
            <a:avLst/>
          </a:prstGeom>
          <a:noFill/>
          <a:ln/>
        </p:spPr>
        <p:txBody>
          <a:bodyPr wrap="square" lIns="0" tIns="0" rIns="0" bIns="0" rtlCol="0" anchor="ctr"/>
          <a:lstStyle/>
          <a:p>
            <a:pPr algn="ctr" indent="0" marL="0">
              <a:buNone/>
            </a:pPr>
            <a:r>
              <a:rPr lang="en-US" sz="1800" b="1" dirty="0">
                <a:solidFill>
                  <a:srgbClr val="4472C4"/>
                </a:solidFill>
                <a:latin typeface="Calibri" pitchFamily="34" charset="0"/>
                <a:ea typeface="Calibri" pitchFamily="34" charset="-122"/>
                <a:cs typeface="Calibri" pitchFamily="34" charset="-120"/>
              </a:rPr>
              <a:t>same program</a:t>
            </a:r>
            <a:endParaRPr lang="en-US" sz="1800" dirty="0"/>
          </a:p>
        </p:txBody>
      </p:sp>
      <p:sp>
        <p:nvSpPr>
          <p:cNvPr id="50" name="Text 30"/>
          <p:cNvSpPr txBox="1"/>
          <p:nvPr/>
        </p:nvSpPr>
        <p:spPr>
          <a:xfrm>
            <a:off x="9601200" y="2651760"/>
            <a:ext cx="1920240" cy="658368"/>
          </a:xfrm>
          <a:prstGeom prst="rect">
            <a:avLst/>
          </a:prstGeom>
          <a:noFill/>
          <a:ln/>
        </p:spPr>
        <p:txBody>
          <a:bodyPr wrap="square" lIns="0" tIns="0" rIns="0" bIns="0" rtlCol="0" anchor="t"/>
          <a:lstStyle/>
          <a:p>
            <a:pPr algn="ctr" indent="0" marL="0">
              <a:buNone/>
            </a:pPr>
            <a:r>
              <a:rPr lang="en-US" sz="1400" dirty="0">
                <a:solidFill>
                  <a:schemeClr val="tx1"/>
                </a:solidFill>
              </a:rPr>
              <a:t>same kind, new data: no new tokens</a:t>
            </a:r>
            <a:endParaRPr lang="en-US" sz="1400" dirty="0"/>
          </a:p>
        </p:txBody>
      </p:sp>
      <p:pic>
        <p:nvPicPr>
          <p:cNvPr id="51" name="step 5 not needed on shapes" descr="/NAS/SJ/POSTECH/nlp/figs/icons/shapes.png">    </p:cNvPr>
          <p:cNvPicPr>
            <a:picLocks noChangeAspect="1"/>
          </p:cNvPicPr>
          <p:nvPr/>
        </p:nvPicPr>
        <p:blipFill>
          <a:blip r:embed="rId19">
            <a:alphaModFix amt="18000"/>
          </a:blip>
          <a:stretch>
            <a:fillRect/>
          </a:stretch>
        </p:blipFill>
        <p:spPr>
          <a:xfrm>
            <a:off x="10003536" y="3401568"/>
            <a:ext cx="237744" cy="237744"/>
          </a:xfrm>
          <a:prstGeom prst="rect">
            <a:avLst/>
          </a:prstGeom>
        </p:spPr>
      </p:pic>
      <p:pic>
        <p:nvPicPr>
          <p:cNvPr id="52" name="step 5 not needed on trophy" descr="/NAS/SJ/POSTECH/nlp/figs/icons/trophy.png">    </p:cNvPr>
          <p:cNvPicPr>
            <a:picLocks noChangeAspect="1"/>
          </p:cNvPicPr>
          <p:nvPr/>
        </p:nvPicPr>
        <p:blipFill>
          <a:blip r:embed="rId20">
            <a:alphaModFix amt="18000"/>
          </a:blip>
          <a:stretch>
            <a:fillRect/>
          </a:stretch>
        </p:blipFill>
        <p:spPr>
          <a:xfrm>
            <a:off x="10296144" y="3401568"/>
            <a:ext cx="237744" cy="237744"/>
          </a:xfrm>
          <a:prstGeom prst="rect">
            <a:avLst/>
          </a:prstGeom>
        </p:spPr>
      </p:pic>
      <p:pic>
        <p:nvPicPr>
          <p:cNvPr id="53" name="step 5 used on truck" descr="/NAS/SJ/POSTECH/nlp/figs/icons/truck.png">    </p:cNvPr>
          <p:cNvPicPr>
            <a:picLocks noChangeAspect="1"/>
          </p:cNvPicPr>
          <p:nvPr/>
        </p:nvPicPr>
        <p:blipFill>
          <a:blip r:embed="rId21"/>
          <a:stretch>
            <a:fillRect/>
          </a:stretch>
        </p:blipFill>
        <p:spPr>
          <a:xfrm>
            <a:off x="10588752" y="3401568"/>
            <a:ext cx="237744" cy="237744"/>
          </a:xfrm>
          <a:prstGeom prst="rect">
            <a:avLst/>
          </a:prstGeom>
        </p:spPr>
      </p:pic>
      <p:pic>
        <p:nvPicPr>
          <p:cNvPr id="54" name="step 5 not needed on calc" descr="/NAS/SJ/POSTECH/nlp/figs/icons/calc.png">    </p:cNvPr>
          <p:cNvPicPr>
            <a:picLocks noChangeAspect="1"/>
          </p:cNvPicPr>
          <p:nvPr/>
        </p:nvPicPr>
        <p:blipFill>
          <a:blip r:embed="rId22">
            <a:alphaModFix amt="18000"/>
          </a:blip>
          <a:stretch>
            <a:fillRect/>
          </a:stretch>
        </p:blipFill>
        <p:spPr>
          <a:xfrm>
            <a:off x="10881360" y="3401568"/>
            <a:ext cx="237744" cy="237744"/>
          </a:xfrm>
          <a:prstGeom prst="rect">
            <a:avLst/>
          </a:prstGeom>
        </p:spPr>
      </p:pic>
      <p:sp>
        <p:nvSpPr>
          <p:cNvPr id="55" name="Text 31"/>
          <p:cNvSpPr txBox="1"/>
          <p:nvPr/>
        </p:nvSpPr>
        <p:spPr>
          <a:xfrm>
            <a:off x="548640" y="3730752"/>
            <a:ext cx="6400800" cy="365760"/>
          </a:xfrm>
          <a:prstGeom prst="rect">
            <a:avLst/>
          </a:prstGeom>
          <a:noFill/>
          <a:ln/>
        </p:spPr>
        <p:txBody>
          <a:bodyPr wrap="square" lIns="0" tIns="0" rIns="0" bIns="0" rtlCol="0" anchor="ctr"/>
          <a:lstStyle/>
          <a:p>
            <a:pPr indent="0" marL="0">
              <a:buNone/>
            </a:pPr>
            <a:r>
              <a:rPr lang="en-US" sz="1600" b="1" dirty="0">
                <a:solidFill>
                  <a:schemeClr val="tx1"/>
                </a:solidFill>
              </a:rPr>
              <a:t>108 geometry + 100 optimization problems × 3 models:</a:t>
            </a:r>
            <a:endParaRPr lang="en-US" sz="1600" dirty="0"/>
          </a:p>
        </p:txBody>
      </p:sp>
      <p:sp>
        <p:nvSpPr>
          <p:cNvPr id="56" name="Text 32"/>
          <p:cNvSpPr txBox="1"/>
          <p:nvPr/>
        </p:nvSpPr>
        <p:spPr>
          <a:xfrm>
            <a:off x="2834640" y="4069080"/>
            <a:ext cx="822960" cy="320040"/>
          </a:xfrm>
          <a:prstGeom prst="rect">
            <a:avLst/>
          </a:prstGeom>
          <a:noFill/>
          <a:ln/>
        </p:spPr>
        <p:txBody>
          <a:bodyPr wrap="square" lIns="0" tIns="0" rIns="0" bIns="0" rtlCol="0" anchor="ctr"/>
          <a:lstStyle/>
          <a:p>
            <a:pPr algn="ctr" indent="0" marL="0">
              <a:buNone/>
            </a:pPr>
            <a:r>
              <a:rPr lang="en-US" sz="1400" dirty="0">
                <a:solidFill>
                  <a:srgbClr val="7F7F7F"/>
                </a:solidFill>
              </a:rPr>
              <a:t>solved</a:t>
            </a:r>
            <a:endParaRPr lang="en-US" sz="1400" dirty="0"/>
          </a:p>
        </p:txBody>
      </p:sp>
      <p:sp>
        <p:nvSpPr>
          <p:cNvPr id="57" name="Text 33"/>
          <p:cNvSpPr txBox="1"/>
          <p:nvPr/>
        </p:nvSpPr>
        <p:spPr>
          <a:xfrm>
            <a:off x="3749040" y="4069080"/>
            <a:ext cx="3200400" cy="320040"/>
          </a:xfrm>
          <a:prstGeom prst="rect">
            <a:avLst/>
          </a:prstGeom>
          <a:noFill/>
          <a:ln/>
        </p:spPr>
        <p:txBody>
          <a:bodyPr wrap="square" lIns="0" tIns="0" rIns="0" bIns="0" rtlCol="0" anchor="ctr"/>
          <a:lstStyle/>
          <a:p>
            <a:pPr indent="0" marL="0">
              <a:buNone/>
            </a:pPr>
            <a:r>
              <a:rPr lang="en-US" sz="1400" dirty="0">
                <a:solidFill>
                  <a:srgbClr val="7F7F7F"/>
                </a:solidFill>
              </a:rPr>
              <a:t>tokens per problem</a:t>
            </a:r>
            <a:endParaRPr lang="en-US" sz="1400" dirty="0"/>
          </a:p>
        </p:txBody>
      </p:sp>
      <p:sp>
        <p:nvSpPr>
          <p:cNvPr id="58" name="Text 34"/>
          <p:cNvSpPr txBox="1"/>
          <p:nvPr/>
        </p:nvSpPr>
        <p:spPr>
          <a:xfrm>
            <a:off x="548640" y="4434840"/>
            <a:ext cx="2194560" cy="457200"/>
          </a:xfrm>
          <a:prstGeom prst="rect">
            <a:avLst/>
          </a:prstGeom>
          <a:noFill/>
          <a:ln/>
        </p:spPr>
        <p:txBody>
          <a:bodyPr wrap="square" lIns="0" tIns="0" rIns="0" bIns="0" rtlCol="0" anchor="ctr"/>
          <a:lstStyle/>
          <a:p>
            <a:pPr algn="r" indent="0" marL="0">
              <a:buNone/>
            </a:pPr>
            <a:r>
              <a:rPr lang="en-US" sz="1500" dirty="0">
                <a:solidFill>
                  <a:schemeClr val="tx1"/>
                </a:solidFill>
              </a:rPr>
              <a:t>think on hardest-looking</a:t>
            </a:r>
            <a:endParaRPr lang="en-US" sz="1500" dirty="0"/>
          </a:p>
        </p:txBody>
      </p:sp>
      <p:sp>
        <p:nvSpPr>
          <p:cNvPr id="59" name="Text 35"/>
          <p:cNvSpPr txBox="1"/>
          <p:nvPr/>
        </p:nvSpPr>
        <p:spPr>
          <a:xfrm>
            <a:off x="2834640" y="4434840"/>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74%</a:t>
            </a:r>
            <a:endParaRPr lang="en-US" sz="1700" dirty="0"/>
          </a:p>
        </p:txBody>
      </p:sp>
      <p:sp>
        <p:nvSpPr>
          <p:cNvPr id="60" name="tokens think on hardest-looking"/>
          <p:cNvSpPr/>
          <p:nvPr/>
        </p:nvSpPr>
        <p:spPr>
          <a:xfrm>
            <a:off x="3749040" y="4535424"/>
            <a:ext cx="2468880" cy="256032"/>
          </a:xfrm>
          <a:prstGeom prst="rect">
            <a:avLst/>
          </a:prstGeom>
          <a:solidFill>
            <a:srgbClr val="7F7F7F"/>
          </a:solidFill>
          <a:ln w="6350">
            <a:solidFill>
              <a:srgbClr val="7F7F7F"/>
            </a:solidFill>
            <a:prstDash val="solid"/>
          </a:ln>
        </p:spPr>
      </p:sp>
      <p:sp>
        <p:nvSpPr>
          <p:cNvPr id="61" name="Text 37"/>
          <p:cNvSpPr txBox="1"/>
          <p:nvPr/>
        </p:nvSpPr>
        <p:spPr>
          <a:xfrm>
            <a:off x="6309360" y="4434840"/>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4.1k</a:t>
            </a:r>
            <a:endParaRPr lang="en-US" sz="1500" dirty="0"/>
          </a:p>
        </p:txBody>
      </p:sp>
      <p:sp>
        <p:nvSpPr>
          <p:cNvPr id="62" name="Text 38"/>
          <p:cNvSpPr txBox="1"/>
          <p:nvPr/>
        </p:nvSpPr>
        <p:spPr>
          <a:xfrm>
            <a:off x="548640" y="4965192"/>
            <a:ext cx="2194560" cy="457200"/>
          </a:xfrm>
          <a:prstGeom prst="rect">
            <a:avLst/>
          </a:prstGeom>
          <a:noFill/>
          <a:ln/>
        </p:spPr>
        <p:txBody>
          <a:bodyPr wrap="square" lIns="0" tIns="0" rIns="0" bIns="0" rtlCol="0" anchor="ctr"/>
          <a:lstStyle/>
          <a:p>
            <a:pPr algn="r" indent="0" marL="0">
              <a:buNone/>
            </a:pPr>
            <a:r>
              <a:rPr lang="en-US" sz="1500" dirty="0">
                <a:solidFill>
                  <a:schemeClr val="tx1"/>
                </a:solidFill>
              </a:rPr>
              <a:t>ours, hand-written hint</a:t>
            </a:r>
            <a:endParaRPr lang="en-US" sz="1500" dirty="0"/>
          </a:p>
        </p:txBody>
      </p:sp>
      <p:sp>
        <p:nvSpPr>
          <p:cNvPr id="63" name="Text 39"/>
          <p:cNvSpPr txBox="1"/>
          <p:nvPr/>
        </p:nvSpPr>
        <p:spPr>
          <a:xfrm>
            <a:off x="2834640" y="4965192"/>
            <a:ext cx="822960" cy="457200"/>
          </a:xfrm>
          <a:prstGeom prst="rect">
            <a:avLst/>
          </a:prstGeom>
          <a:noFill/>
          <a:ln/>
        </p:spPr>
        <p:txBody>
          <a:bodyPr wrap="square" lIns="0" tIns="0" rIns="0" bIns="0" rtlCol="0" anchor="ctr"/>
          <a:lstStyle/>
          <a:p>
            <a:pPr algn="ctr" indent="0" marL="0">
              <a:buNone/>
            </a:pPr>
            <a:r>
              <a:rPr lang="en-US" sz="1700" b="1" dirty="0">
                <a:solidFill>
                  <a:srgbClr val="4472C4"/>
                </a:solidFill>
              </a:rPr>
              <a:t>87%</a:t>
            </a:r>
            <a:endParaRPr lang="en-US" sz="1700" dirty="0"/>
          </a:p>
        </p:txBody>
      </p:sp>
      <p:sp>
        <p:nvSpPr>
          <p:cNvPr id="64" name="tokens ours, hand-written hint"/>
          <p:cNvSpPr/>
          <p:nvPr/>
        </p:nvSpPr>
        <p:spPr>
          <a:xfrm>
            <a:off x="3749040" y="5065776"/>
            <a:ext cx="1505415" cy="256032"/>
          </a:xfrm>
          <a:prstGeom prst="rect">
            <a:avLst/>
          </a:prstGeom>
          <a:solidFill>
            <a:srgbClr val="4472C4"/>
          </a:solidFill>
          <a:ln w="6350">
            <a:solidFill>
              <a:srgbClr val="4472C4"/>
            </a:solidFill>
            <a:prstDash val="solid"/>
          </a:ln>
        </p:spPr>
      </p:sp>
      <p:sp>
        <p:nvSpPr>
          <p:cNvPr id="65" name="Text 41"/>
          <p:cNvSpPr txBox="1"/>
          <p:nvPr/>
        </p:nvSpPr>
        <p:spPr>
          <a:xfrm>
            <a:off x="5345895" y="4965192"/>
            <a:ext cx="731520" cy="457200"/>
          </a:xfrm>
          <a:prstGeom prst="rect">
            <a:avLst/>
          </a:prstGeom>
          <a:noFill/>
          <a:ln/>
        </p:spPr>
        <p:txBody>
          <a:bodyPr wrap="square" lIns="0" tIns="0" rIns="0" bIns="0" rtlCol="0" anchor="ctr"/>
          <a:lstStyle/>
          <a:p>
            <a:pPr indent="0" marL="0">
              <a:buNone/>
            </a:pPr>
            <a:r>
              <a:rPr lang="en-US" sz="1500" b="1" dirty="0">
                <a:solidFill>
                  <a:srgbClr val="4472C4"/>
                </a:solidFill>
              </a:rPr>
              <a:t>2.5k</a:t>
            </a:r>
            <a:endParaRPr lang="en-US" sz="1500" dirty="0"/>
          </a:p>
        </p:txBody>
      </p:sp>
      <p:sp>
        <p:nvSpPr>
          <p:cNvPr id="66" name="Text 42"/>
          <p:cNvSpPr txBox="1"/>
          <p:nvPr/>
        </p:nvSpPr>
        <p:spPr>
          <a:xfrm>
            <a:off x="7498080" y="3730752"/>
            <a:ext cx="4114800" cy="457200"/>
          </a:xfrm>
          <a:prstGeom prst="rect">
            <a:avLst/>
          </a:prstGeom>
          <a:noFill/>
          <a:ln/>
        </p:spPr>
        <p:txBody>
          <a:bodyPr wrap="square" lIns="0" tIns="0" rIns="0" bIns="0" rtlCol="0" anchor="ctr"/>
          <a:lstStyle/>
          <a:p>
            <a:pPr indent="0" marL="0">
              <a:buNone/>
            </a:pPr>
            <a:r>
              <a:rPr lang="en-US" sz="2400" b="1" dirty="0">
                <a:solidFill>
                  <a:srgbClr val="4472C4"/>
                </a:solidFill>
              </a:rPr>
              <a:t>79% = 79%</a:t>
            </a:r>
            <a:endParaRPr lang="en-US" sz="2400" dirty="0"/>
          </a:p>
        </p:txBody>
      </p:sp>
      <p:sp>
        <p:nvSpPr>
          <p:cNvPr id="67" name="Text 43"/>
          <p:cNvSpPr txBox="1"/>
          <p:nvPr/>
        </p:nvSpPr>
        <p:spPr>
          <a:xfrm>
            <a:off x="7498080" y="4169664"/>
            <a:ext cx="4114800" cy="731520"/>
          </a:xfrm>
          <a:prstGeom prst="rect">
            <a:avLst/>
          </a:prstGeom>
          <a:noFill/>
          <a:ln/>
        </p:spPr>
        <p:txBody>
          <a:bodyPr wrap="square" lIns="0" tIns="0" rIns="0" bIns="0" rtlCol="0" anchor="t"/>
          <a:lstStyle/>
          <a:p>
            <a:pPr indent="0" marL="0">
              <a:buNone/>
            </a:pPr>
            <a:r>
              <a:rPr lang="en-US" sz="1400" dirty="0">
                <a:solidFill>
                  <a:schemeClr val="tx1"/>
                </a:solidFill>
              </a:rPr>
              <a:t>gpt-oss-20b on 863 held-out MAMO problems: its own checked program as the hint = a hand-written hint (no hint: 73%)</a:t>
            </a:r>
            <a:endParaRPr lang="en-US" sz="1400" dirty="0"/>
          </a:p>
        </p:txBody>
      </p:sp>
      <p:sp>
        <p:nvSpPr>
          <p:cNvPr id="68" name="Text 44"/>
          <p:cNvSpPr txBox="1"/>
          <p:nvPr/>
        </p:nvSpPr>
        <p:spPr>
          <a:xfrm>
            <a:off x="7498080" y="4983480"/>
            <a:ext cx="4114800" cy="365760"/>
          </a:xfrm>
          <a:prstGeom prst="rect">
            <a:avLst/>
          </a:prstGeom>
          <a:noFill/>
          <a:ln/>
        </p:spPr>
        <p:txBody>
          <a:bodyPr wrap="square" lIns="0" tIns="0" rIns="0" bIns="0" rtlCol="0" anchor="ctr"/>
          <a:lstStyle/>
          <a:p>
            <a:pPr indent="0" marL="0">
              <a:buNone/>
            </a:pPr>
            <a:r>
              <a:rPr lang="en-US" sz="1400" dirty="0">
                <a:solidFill>
                  <a:schemeClr val="tx1"/>
                </a:solidFill>
              </a:rPr>
              <a:t>This problem: </a:t>
            </a:r>
            <a:pPr indent="0" marL="0">
              <a:buNone/>
            </a:pPr>
            <a:r>
              <a:rPr lang="en-US" sz="1400" b="1" dirty="0">
                <a:solidFill>
                  <a:srgbClr val="4472C4"/>
                </a:solidFill>
              </a:rPr>
              <a:t>0.6k tokens</a:t>
            </a:r>
            <a:pPr indent="0" marL="0">
              <a:buNone/>
            </a:pPr>
            <a:r>
              <a:rPr lang="en-US" sz="1400" dirty="0">
                <a:solidFill>
                  <a:schemeClr val="tx1"/>
                </a:solidFill>
              </a:rPr>
              <a:t> (thinking alone: 5.3k)</a:t>
            </a:r>
            <a:endParaRPr lang="en-US" sz="1400" dirty="0"/>
          </a:p>
        </p:txBody>
      </p:sp>
      <p:sp>
        <p:nvSpPr>
          <p:cNvPr id="69" name="Text 45"/>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More accurate and cheaper than spending thinking on the hardest-looking problems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What is new, and what is next</a:t>
            </a:r>
            <a:endParaRPr lang="en-US" sz="3600" dirty="0"/>
          </a:p>
        </p:txBody>
      </p:sp>
      <p:sp>
        <p:nvSpPr>
          <p:cNvPr id="3" name="Text 1"/>
          <p:cNvSpPr txBox="1"/>
          <p:nvPr/>
        </p:nvSpPr>
        <p:spPr>
          <a:xfrm>
            <a:off x="548640" y="1188720"/>
            <a:ext cx="4846320" cy="365760"/>
          </a:xfrm>
          <a:prstGeom prst="rect">
            <a:avLst/>
          </a:prstGeom>
          <a:noFill/>
          <a:ln/>
        </p:spPr>
        <p:txBody>
          <a:bodyPr wrap="square" lIns="0" tIns="0" rIns="0" bIns="0" rtlCol="0" anchor="ctr"/>
          <a:lstStyle/>
          <a:p>
            <a:pPr algn="ctr" indent="0" marL="0">
              <a:buNone/>
            </a:pPr>
            <a:r>
              <a:rPr lang="en-US" sz="1600" b="1" dirty="0">
                <a:solidFill>
                  <a:srgbClr val="7F7F7F"/>
                </a:solidFill>
              </a:rPr>
              <a:t>The usual way</a:t>
            </a:r>
            <a:endParaRPr lang="en-US" sz="1600" dirty="0"/>
          </a:p>
        </p:txBody>
      </p:sp>
      <p:sp>
        <p:nvSpPr>
          <p:cNvPr id="4" name="Text 2"/>
          <p:cNvSpPr txBox="1"/>
          <p:nvPr/>
        </p:nvSpPr>
        <p:spPr>
          <a:xfrm>
            <a:off x="6766560" y="1188720"/>
            <a:ext cx="4846320" cy="365760"/>
          </a:xfrm>
          <a:prstGeom prst="rect">
            <a:avLst/>
          </a:prstGeom>
          <a:noFill/>
          <a:ln/>
        </p:spPr>
        <p:txBody>
          <a:bodyPr wrap="square" lIns="0" tIns="0" rIns="0" bIns="0" rtlCol="0" anchor="ctr"/>
          <a:lstStyle/>
          <a:p>
            <a:pPr algn="ctr" indent="0" marL="0">
              <a:buNone/>
            </a:pPr>
            <a:r>
              <a:rPr lang="en-US" sz="1600" b="1" dirty="0">
                <a:solidFill>
                  <a:srgbClr val="4472C4"/>
                </a:solidFill>
              </a:rPr>
              <a:t>Ours</a:t>
            </a:r>
            <a:endParaRPr lang="en-US" sz="1600" dirty="0"/>
          </a:p>
        </p:txBody>
      </p:sp>
      <p:sp>
        <p:nvSpPr>
          <p:cNvPr id="5" name="box "/>
          <p:cNvSpPr/>
          <p:nvPr/>
        </p:nvSpPr>
        <p:spPr>
          <a:xfrm>
            <a:off x="548640" y="1600200"/>
            <a:ext cx="4846320" cy="685800"/>
          </a:xfrm>
          <a:prstGeom prst="roundRect">
            <a:avLst>
              <a:gd name="adj" fmla="val 8000"/>
            </a:avLst>
          </a:prstGeom>
          <a:solidFill>
            <a:srgbClr val="F2F2F2"/>
          </a:solidFill>
          <a:ln w="9525">
            <a:solidFill>
              <a:srgbClr val="BFBFBF"/>
            </a:solidFill>
            <a:prstDash val="solid"/>
          </a:ln>
        </p:spPr>
      </p:sp>
      <p:sp>
        <p:nvSpPr>
          <p:cNvPr id="6" name="Text 4"/>
          <p:cNvSpPr txBox="1"/>
          <p:nvPr/>
        </p:nvSpPr>
        <p:spPr>
          <a:xfrm>
            <a:off x="621792" y="1600200"/>
            <a:ext cx="4700016" cy="685800"/>
          </a:xfrm>
          <a:prstGeom prst="rect">
            <a:avLst/>
          </a:prstGeom>
          <a:noFill/>
          <a:ln/>
        </p:spPr>
        <p:txBody>
          <a:bodyPr wrap="square" lIns="0" tIns="0" rIns="0" bIns="0" rtlCol="0" anchor="ctr"/>
          <a:lstStyle/>
          <a:p>
            <a:pPr algn="ctr" indent="0" marL="0">
              <a:buNone/>
            </a:pPr>
            <a:endParaRPr lang="en-US" sz="1500" dirty="0"/>
          </a:p>
        </p:txBody>
      </p:sp>
      <p:pic>
        <p:nvPicPr>
          <p:cNvPr id="7" name="usual icon 0" descr="/NAS/SJ/POSTECH/nlp/figs/icons/brain.png">    </p:cNvPr>
          <p:cNvPicPr>
            <a:picLocks noChangeAspect="1"/>
          </p:cNvPicPr>
          <p:nvPr/>
        </p:nvPicPr>
        <p:blipFill>
          <a:blip r:embed="rId1"/>
          <a:stretch>
            <a:fillRect/>
          </a:stretch>
        </p:blipFill>
        <p:spPr>
          <a:xfrm>
            <a:off x="685800" y="1737360"/>
            <a:ext cx="411480" cy="411480"/>
          </a:xfrm>
          <a:prstGeom prst="rect">
            <a:avLst/>
          </a:prstGeom>
        </p:spPr>
      </p:pic>
      <p:sp>
        <p:nvSpPr>
          <p:cNvPr id="8" name="Text 5"/>
          <p:cNvSpPr txBox="1"/>
          <p:nvPr/>
        </p:nvSpPr>
        <p:spPr>
          <a:xfrm>
            <a:off x="1234440" y="1600200"/>
            <a:ext cx="4069080" cy="685800"/>
          </a:xfrm>
          <a:prstGeom prst="rect">
            <a:avLst/>
          </a:prstGeom>
          <a:noFill/>
          <a:ln/>
        </p:spPr>
        <p:txBody>
          <a:bodyPr wrap="square" lIns="0" tIns="0" rIns="0" bIns="0" rtlCol="0" anchor="ctr"/>
          <a:lstStyle/>
          <a:p>
            <a:pPr indent="0" marL="0">
              <a:buNone/>
            </a:pPr>
            <a:r>
              <a:rPr lang="en-US" sz="1500" dirty="0">
                <a:solidFill>
                  <a:srgbClr val="404040"/>
                </a:solidFill>
              </a:rPr>
              <a:t>think more where 3 quick answers disagree, or train when to think</a:t>
            </a:r>
            <a:endParaRPr lang="en-US" sz="1500" dirty="0"/>
          </a:p>
        </p:txBody>
      </p:sp>
      <p:sp>
        <p:nvSpPr>
          <p:cNvPr id="9" name="arrow 0"/>
          <p:cNvSpPr/>
          <p:nvPr/>
        </p:nvSpPr>
        <p:spPr>
          <a:xfrm>
            <a:off x="5577840" y="1755648"/>
            <a:ext cx="1005840" cy="384048"/>
          </a:xfrm>
          <a:prstGeom prst="rightArrow">
            <a:avLst/>
          </a:prstGeom>
          <a:solidFill>
            <a:srgbClr val="4472C4"/>
          </a:solidFill>
          <a:ln w="12700">
            <a:solidFill>
              <a:srgbClr val="4472C4"/>
            </a:solidFill>
            <a:prstDash val="solid"/>
          </a:ln>
        </p:spPr>
      </p:sp>
      <p:sp>
        <p:nvSpPr>
          <p:cNvPr id="10" name="box "/>
          <p:cNvSpPr/>
          <p:nvPr/>
        </p:nvSpPr>
        <p:spPr>
          <a:xfrm>
            <a:off x="6766560" y="1600200"/>
            <a:ext cx="4846320" cy="685800"/>
          </a:xfrm>
          <a:prstGeom prst="roundRect">
            <a:avLst>
              <a:gd name="adj" fmla="val 8000"/>
            </a:avLst>
          </a:prstGeom>
          <a:solidFill>
            <a:srgbClr val="DEEBF7"/>
          </a:solidFill>
          <a:ln w="9525">
            <a:solidFill>
              <a:srgbClr val="BFBFBF"/>
            </a:solidFill>
            <a:prstDash val="solid"/>
          </a:ln>
        </p:spPr>
      </p:sp>
      <p:sp>
        <p:nvSpPr>
          <p:cNvPr id="11" name="Text 8"/>
          <p:cNvSpPr txBox="1"/>
          <p:nvPr/>
        </p:nvSpPr>
        <p:spPr>
          <a:xfrm>
            <a:off x="6839712" y="1600200"/>
            <a:ext cx="4700016" cy="685800"/>
          </a:xfrm>
          <a:prstGeom prst="rect">
            <a:avLst/>
          </a:prstGeom>
          <a:noFill/>
          <a:ln/>
        </p:spPr>
        <p:txBody>
          <a:bodyPr wrap="square" lIns="0" tIns="0" rIns="0" bIns="0" rtlCol="0" anchor="ctr"/>
          <a:lstStyle/>
          <a:p>
            <a:pPr algn="ctr" indent="0" marL="0">
              <a:buNone/>
            </a:pPr>
            <a:endParaRPr lang="en-US" sz="1500" dirty="0"/>
          </a:p>
        </p:txBody>
      </p:sp>
      <p:pic>
        <p:nvPicPr>
          <p:cNvPr id="12" name="ours icon 0" descr="/NAS/SJ/POSTECH/nlp/figs/icons/check.png">    </p:cNvPr>
          <p:cNvPicPr>
            <a:picLocks noChangeAspect="1"/>
          </p:cNvPicPr>
          <p:nvPr/>
        </p:nvPicPr>
        <p:blipFill>
          <a:blip r:embed="rId2"/>
          <a:stretch>
            <a:fillRect/>
          </a:stretch>
        </p:blipFill>
        <p:spPr>
          <a:xfrm>
            <a:off x="6903720" y="1737360"/>
            <a:ext cx="411480" cy="411480"/>
          </a:xfrm>
          <a:prstGeom prst="rect">
            <a:avLst/>
          </a:prstGeom>
        </p:spPr>
      </p:pic>
      <p:sp>
        <p:nvSpPr>
          <p:cNvPr id="13" name="Text 9"/>
          <p:cNvSpPr txBox="1"/>
          <p:nvPr/>
        </p:nvSpPr>
        <p:spPr>
          <a:xfrm>
            <a:off x="7452360" y="1600200"/>
            <a:ext cx="4069080" cy="685800"/>
          </a:xfrm>
          <a:prstGeom prst="rect">
            <a:avLst/>
          </a:prstGeom>
          <a:noFill/>
          <a:ln/>
        </p:spPr>
        <p:txBody>
          <a:bodyPr wrap="square" lIns="0" tIns="0" rIns="0" bIns="0" rtlCol="0" anchor="ctr"/>
          <a:lstStyle/>
          <a:p>
            <a:pPr indent="0" marL="0">
              <a:buNone/>
            </a:pPr>
            <a:r>
              <a:rPr lang="en-US" sz="1500" b="1" dirty="0">
                <a:solidFill>
                  <a:srgbClr val="1F3864"/>
                </a:solidFill>
              </a:rPr>
              <a:t>think only when a free check fails, no training: 87% vs 74% on the same 208 problems</a:t>
            </a:r>
            <a:endParaRPr lang="en-US" sz="1500" dirty="0"/>
          </a:p>
        </p:txBody>
      </p:sp>
      <p:sp>
        <p:nvSpPr>
          <p:cNvPr id="14" name="box "/>
          <p:cNvSpPr/>
          <p:nvPr/>
        </p:nvSpPr>
        <p:spPr>
          <a:xfrm>
            <a:off x="548640" y="2423160"/>
            <a:ext cx="4846320" cy="685800"/>
          </a:xfrm>
          <a:prstGeom prst="roundRect">
            <a:avLst>
              <a:gd name="adj" fmla="val 8000"/>
            </a:avLst>
          </a:prstGeom>
          <a:solidFill>
            <a:srgbClr val="F2F2F2"/>
          </a:solidFill>
          <a:ln w="9525">
            <a:solidFill>
              <a:srgbClr val="BFBFBF"/>
            </a:solidFill>
            <a:prstDash val="solid"/>
          </a:ln>
        </p:spPr>
      </p:sp>
      <p:sp>
        <p:nvSpPr>
          <p:cNvPr id="15" name="Text 11"/>
          <p:cNvSpPr txBox="1"/>
          <p:nvPr/>
        </p:nvSpPr>
        <p:spPr>
          <a:xfrm>
            <a:off x="621792" y="2423160"/>
            <a:ext cx="4700016" cy="685800"/>
          </a:xfrm>
          <a:prstGeom prst="rect">
            <a:avLst/>
          </a:prstGeom>
          <a:noFill/>
          <a:ln/>
        </p:spPr>
        <p:txBody>
          <a:bodyPr wrap="square" lIns="0" tIns="0" rIns="0" bIns="0" rtlCol="0" anchor="ctr"/>
          <a:lstStyle/>
          <a:p>
            <a:pPr algn="ctr" indent="0" marL="0">
              <a:buNone/>
            </a:pPr>
            <a:endParaRPr lang="en-US" sz="1500" dirty="0"/>
          </a:p>
        </p:txBody>
      </p:sp>
      <p:pic>
        <p:nvPicPr>
          <p:cNvPr id="16" name="usual icon 1" descr="/NAS/SJ/POSTECH/nlp/figs/icons/page.png">    </p:cNvPr>
          <p:cNvPicPr>
            <a:picLocks noChangeAspect="1"/>
          </p:cNvPicPr>
          <p:nvPr/>
        </p:nvPicPr>
        <p:blipFill>
          <a:blip r:embed="rId3"/>
          <a:stretch>
            <a:fillRect/>
          </a:stretch>
        </p:blipFill>
        <p:spPr>
          <a:xfrm>
            <a:off x="685800" y="2560320"/>
            <a:ext cx="411480" cy="411480"/>
          </a:xfrm>
          <a:prstGeom prst="rect">
            <a:avLst/>
          </a:prstGeom>
        </p:spPr>
      </p:pic>
      <p:sp>
        <p:nvSpPr>
          <p:cNvPr id="17" name="Text 12"/>
          <p:cNvSpPr txBox="1"/>
          <p:nvPr/>
        </p:nvSpPr>
        <p:spPr>
          <a:xfrm>
            <a:off x="1234440" y="2423160"/>
            <a:ext cx="4069080" cy="685800"/>
          </a:xfrm>
          <a:prstGeom prst="rect">
            <a:avLst/>
          </a:prstGeom>
          <a:noFill/>
          <a:ln/>
        </p:spPr>
        <p:txBody>
          <a:bodyPr wrap="square" lIns="0" tIns="0" rIns="0" bIns="0" rtlCol="0" anchor="ctr"/>
          <a:lstStyle/>
          <a:p>
            <a:pPr indent="0" marL="0">
              <a:buNone/>
            </a:pPr>
            <a:r>
              <a:rPr lang="en-US" sz="1500" dirty="0">
                <a:solidFill>
                  <a:srgbClr val="404040"/>
                </a:solidFill>
              </a:rPr>
              <a:t>give the manual, or a teacher's programs checked against answers</a:t>
            </a:r>
            <a:endParaRPr lang="en-US" sz="1500" dirty="0"/>
          </a:p>
        </p:txBody>
      </p:sp>
      <p:sp>
        <p:nvSpPr>
          <p:cNvPr id="18" name="arrow 1"/>
          <p:cNvSpPr/>
          <p:nvPr/>
        </p:nvSpPr>
        <p:spPr>
          <a:xfrm>
            <a:off x="5577840" y="2578608"/>
            <a:ext cx="1005840" cy="384048"/>
          </a:xfrm>
          <a:prstGeom prst="rightArrow">
            <a:avLst/>
          </a:prstGeom>
          <a:solidFill>
            <a:srgbClr val="4472C4"/>
          </a:solidFill>
          <a:ln w="12700">
            <a:solidFill>
              <a:srgbClr val="4472C4"/>
            </a:solidFill>
            <a:prstDash val="solid"/>
          </a:ln>
        </p:spPr>
      </p:sp>
      <p:sp>
        <p:nvSpPr>
          <p:cNvPr id="19" name="box "/>
          <p:cNvSpPr/>
          <p:nvPr/>
        </p:nvSpPr>
        <p:spPr>
          <a:xfrm>
            <a:off x="6766560" y="2423160"/>
            <a:ext cx="4846320" cy="685800"/>
          </a:xfrm>
          <a:prstGeom prst="roundRect">
            <a:avLst>
              <a:gd name="adj" fmla="val 8000"/>
            </a:avLst>
          </a:prstGeom>
          <a:solidFill>
            <a:srgbClr val="DEEBF7"/>
          </a:solidFill>
          <a:ln w="9525">
            <a:solidFill>
              <a:srgbClr val="BFBFBF"/>
            </a:solidFill>
            <a:prstDash val="solid"/>
          </a:ln>
        </p:spPr>
      </p:sp>
      <p:sp>
        <p:nvSpPr>
          <p:cNvPr id="20" name="Text 15"/>
          <p:cNvSpPr txBox="1"/>
          <p:nvPr/>
        </p:nvSpPr>
        <p:spPr>
          <a:xfrm>
            <a:off x="6839712" y="2423160"/>
            <a:ext cx="4700016" cy="685800"/>
          </a:xfrm>
          <a:prstGeom prst="rect">
            <a:avLst/>
          </a:prstGeom>
          <a:noFill/>
          <a:ln/>
        </p:spPr>
        <p:txBody>
          <a:bodyPr wrap="square" lIns="0" tIns="0" rIns="0" bIns="0" rtlCol="0" anchor="ctr"/>
          <a:lstStyle/>
          <a:p>
            <a:pPr algn="ctr" indent="0" marL="0">
              <a:buNone/>
            </a:pPr>
            <a:endParaRPr lang="en-US" sz="1500" dirty="0"/>
          </a:p>
        </p:txBody>
      </p:sp>
      <p:pic>
        <p:nvPicPr>
          <p:cNvPr id="21" name="ours icon 1" descr="/NAS/SJ/POSTECH/nlp/figs/icons/fact.png">    </p:cNvPr>
          <p:cNvPicPr>
            <a:picLocks noChangeAspect="1"/>
          </p:cNvPicPr>
          <p:nvPr/>
        </p:nvPicPr>
        <p:blipFill>
          <a:blip r:embed="rId4"/>
          <a:stretch>
            <a:fillRect/>
          </a:stretch>
        </p:blipFill>
        <p:spPr>
          <a:xfrm>
            <a:off x="6903720" y="2560320"/>
            <a:ext cx="411480" cy="411480"/>
          </a:xfrm>
          <a:prstGeom prst="rect">
            <a:avLst/>
          </a:prstGeom>
        </p:spPr>
      </p:pic>
      <p:sp>
        <p:nvSpPr>
          <p:cNvPr id="22" name="Text 16"/>
          <p:cNvSpPr txBox="1"/>
          <p:nvPr/>
        </p:nvSpPr>
        <p:spPr>
          <a:xfrm>
            <a:off x="7452360" y="2423160"/>
            <a:ext cx="4069080" cy="685800"/>
          </a:xfrm>
          <a:prstGeom prst="rect">
            <a:avLst/>
          </a:prstGeom>
          <a:noFill/>
          <a:ln/>
        </p:spPr>
        <p:txBody>
          <a:bodyPr wrap="square" lIns="0" tIns="0" rIns="0" bIns="0" rtlCol="0" anchor="ctr"/>
          <a:lstStyle/>
          <a:p>
            <a:pPr indent="0" marL="0">
              <a:buNone/>
            </a:pPr>
            <a:r>
              <a:rPr lang="en-US" sz="1500" b="1" dirty="0">
                <a:solidFill>
                  <a:srgbClr val="1F3864"/>
                </a:solidFill>
              </a:rPr>
              <a:t>one short hint: the model's own program that passed the check; no answer key</a:t>
            </a:r>
            <a:endParaRPr lang="en-US" sz="1500" dirty="0"/>
          </a:p>
        </p:txBody>
      </p:sp>
      <p:sp>
        <p:nvSpPr>
          <p:cNvPr id="23" name="box "/>
          <p:cNvSpPr/>
          <p:nvPr/>
        </p:nvSpPr>
        <p:spPr>
          <a:xfrm>
            <a:off x="548640" y="3246120"/>
            <a:ext cx="4846320" cy="685800"/>
          </a:xfrm>
          <a:prstGeom prst="roundRect">
            <a:avLst>
              <a:gd name="adj" fmla="val 8000"/>
            </a:avLst>
          </a:prstGeom>
          <a:solidFill>
            <a:srgbClr val="F2F2F2"/>
          </a:solidFill>
          <a:ln w="9525">
            <a:solidFill>
              <a:srgbClr val="BFBFBF"/>
            </a:solidFill>
            <a:prstDash val="solid"/>
          </a:ln>
        </p:spPr>
      </p:sp>
      <p:sp>
        <p:nvSpPr>
          <p:cNvPr id="24" name="Text 18"/>
          <p:cNvSpPr txBox="1"/>
          <p:nvPr/>
        </p:nvSpPr>
        <p:spPr>
          <a:xfrm>
            <a:off x="621792" y="3246120"/>
            <a:ext cx="4700016" cy="685800"/>
          </a:xfrm>
          <a:prstGeom prst="rect">
            <a:avLst/>
          </a:prstGeom>
          <a:noFill/>
          <a:ln/>
        </p:spPr>
        <p:txBody>
          <a:bodyPr wrap="square" lIns="0" tIns="0" rIns="0" bIns="0" rtlCol="0" anchor="ctr"/>
          <a:lstStyle/>
          <a:p>
            <a:pPr algn="ctr" indent="0" marL="0">
              <a:buNone/>
            </a:pPr>
            <a:endParaRPr lang="en-US" sz="1500" dirty="0"/>
          </a:p>
        </p:txBody>
      </p:sp>
      <p:pic>
        <p:nvPicPr>
          <p:cNvPr id="25" name="usual icon 2" descr="/NAS/SJ/POSTECH/nlp/figs/icons/robot.png">    </p:cNvPr>
          <p:cNvPicPr>
            <a:picLocks noChangeAspect="1"/>
          </p:cNvPicPr>
          <p:nvPr/>
        </p:nvPicPr>
        <p:blipFill>
          <a:blip r:embed="rId5"/>
          <a:stretch>
            <a:fillRect/>
          </a:stretch>
        </p:blipFill>
        <p:spPr>
          <a:xfrm>
            <a:off x="685800" y="3383280"/>
            <a:ext cx="411480" cy="411480"/>
          </a:xfrm>
          <a:prstGeom prst="rect">
            <a:avLst/>
          </a:prstGeom>
        </p:spPr>
      </p:pic>
      <p:sp>
        <p:nvSpPr>
          <p:cNvPr id="26" name="Text 19"/>
          <p:cNvSpPr txBox="1"/>
          <p:nvPr/>
        </p:nvSpPr>
        <p:spPr>
          <a:xfrm>
            <a:off x="1234440" y="3246120"/>
            <a:ext cx="4069080" cy="685800"/>
          </a:xfrm>
          <a:prstGeom prst="rect">
            <a:avLst/>
          </a:prstGeom>
          <a:noFill/>
          <a:ln/>
        </p:spPr>
        <p:txBody>
          <a:bodyPr wrap="square" lIns="0" tIns="0" rIns="0" bIns="0" rtlCol="0" anchor="ctr"/>
          <a:lstStyle/>
          <a:p>
            <a:pPr indent="0" marL="0">
              <a:buNone/>
            </a:pPr>
            <a:r>
              <a:rPr lang="en-US" sz="1500" dirty="0">
                <a:solidFill>
                  <a:srgbClr val="404040"/>
                </a:solidFill>
              </a:rPr>
              <a:t>fine-tune a specialist (ORLM-8B): 69.5% on MAMO, 1.1k tokens</a:t>
            </a:r>
            <a:endParaRPr lang="en-US" sz="1500" dirty="0"/>
          </a:p>
        </p:txBody>
      </p:sp>
      <p:sp>
        <p:nvSpPr>
          <p:cNvPr id="27" name="arrow 2"/>
          <p:cNvSpPr/>
          <p:nvPr/>
        </p:nvSpPr>
        <p:spPr>
          <a:xfrm>
            <a:off x="5577840" y="3401568"/>
            <a:ext cx="1005840" cy="384048"/>
          </a:xfrm>
          <a:prstGeom prst="rightArrow">
            <a:avLst/>
          </a:prstGeom>
          <a:solidFill>
            <a:srgbClr val="4472C4"/>
          </a:solidFill>
          <a:ln w="12700">
            <a:solidFill>
              <a:srgbClr val="4472C4"/>
            </a:solidFill>
            <a:prstDash val="solid"/>
          </a:ln>
        </p:spPr>
      </p:sp>
      <p:sp>
        <p:nvSpPr>
          <p:cNvPr id="28" name="box "/>
          <p:cNvSpPr/>
          <p:nvPr/>
        </p:nvSpPr>
        <p:spPr>
          <a:xfrm>
            <a:off x="6766560" y="3246120"/>
            <a:ext cx="4846320" cy="685800"/>
          </a:xfrm>
          <a:prstGeom prst="roundRect">
            <a:avLst>
              <a:gd name="adj" fmla="val 8000"/>
            </a:avLst>
          </a:prstGeom>
          <a:solidFill>
            <a:srgbClr val="DEEBF7"/>
          </a:solidFill>
          <a:ln w="9525">
            <a:solidFill>
              <a:srgbClr val="BFBFBF"/>
            </a:solidFill>
            <a:prstDash val="solid"/>
          </a:ln>
        </p:spPr>
      </p:sp>
      <p:sp>
        <p:nvSpPr>
          <p:cNvPr id="29" name="Text 22"/>
          <p:cNvSpPr txBox="1"/>
          <p:nvPr/>
        </p:nvSpPr>
        <p:spPr>
          <a:xfrm>
            <a:off x="6839712" y="3246120"/>
            <a:ext cx="4700016" cy="685800"/>
          </a:xfrm>
          <a:prstGeom prst="rect">
            <a:avLst/>
          </a:prstGeom>
          <a:noFill/>
          <a:ln/>
        </p:spPr>
        <p:txBody>
          <a:bodyPr wrap="square" lIns="0" tIns="0" rIns="0" bIns="0" rtlCol="0" anchor="ctr"/>
          <a:lstStyle/>
          <a:p>
            <a:pPr algn="ctr" indent="0" marL="0">
              <a:buNone/>
            </a:pPr>
            <a:endParaRPr lang="en-US" sz="1500" dirty="0"/>
          </a:p>
        </p:txBody>
      </p:sp>
      <p:pic>
        <p:nvPicPr>
          <p:cNvPr id="30" name="ours icon 2" descr="/NAS/SJ/POSTECH/nlp/figs/icons/gpu.png">    </p:cNvPr>
          <p:cNvPicPr>
            <a:picLocks noChangeAspect="1"/>
          </p:cNvPicPr>
          <p:nvPr/>
        </p:nvPicPr>
        <p:blipFill>
          <a:blip r:embed="rId6"/>
          <a:stretch>
            <a:fillRect/>
          </a:stretch>
        </p:blipFill>
        <p:spPr>
          <a:xfrm>
            <a:off x="6903720" y="3383280"/>
            <a:ext cx="411480" cy="411480"/>
          </a:xfrm>
          <a:prstGeom prst="rect">
            <a:avLst/>
          </a:prstGeom>
        </p:spPr>
      </p:pic>
      <p:sp>
        <p:nvSpPr>
          <p:cNvPr id="31" name="Text 23"/>
          <p:cNvSpPr txBox="1"/>
          <p:nvPr/>
        </p:nvSpPr>
        <p:spPr>
          <a:xfrm>
            <a:off x="7452360" y="3246120"/>
            <a:ext cx="4069080" cy="685800"/>
          </a:xfrm>
          <a:prstGeom prst="rect">
            <a:avLst/>
          </a:prstGeom>
          <a:noFill/>
          <a:ln/>
        </p:spPr>
        <p:txBody>
          <a:bodyPr wrap="square" lIns="0" tIns="0" rIns="0" bIns="0" rtlCol="0" anchor="ctr"/>
          <a:lstStyle/>
          <a:p>
            <a:pPr indent="0" marL="0">
              <a:buNone/>
            </a:pPr>
            <a:r>
              <a:rPr lang="en-US" sz="1500" b="1" dirty="0">
                <a:solidFill>
                  <a:srgbClr val="1F3864"/>
                </a:solidFill>
              </a:rPr>
              <a:t>untrained Qwen3-8B + that hint, one 24 GB GPU: 69.5% at 1.0k tokens</a:t>
            </a:r>
            <a:endParaRPr lang="en-US" sz="1500" dirty="0"/>
          </a:p>
        </p:txBody>
      </p:sp>
      <p:sp>
        <p:nvSpPr>
          <p:cNvPr id="32" name="Text 24"/>
          <p:cNvSpPr txBox="1"/>
          <p:nvPr/>
        </p:nvSpPr>
        <p:spPr>
          <a:xfrm>
            <a:off x="548640" y="4114800"/>
            <a:ext cx="11064240" cy="365760"/>
          </a:xfrm>
          <a:prstGeom prst="rect">
            <a:avLst/>
          </a:prstGeom>
          <a:noFill/>
          <a:ln/>
        </p:spPr>
        <p:txBody>
          <a:bodyPr wrap="square" lIns="0" tIns="0" rIns="0" bIns="0" rtlCol="0" anchor="ctr"/>
          <a:lstStyle/>
          <a:p>
            <a:pPr indent="0" marL="0">
              <a:buNone/>
            </a:pPr>
            <a:r>
              <a:rPr lang="en-US" sz="1600" b="1" dirty="0">
                <a:solidFill>
                  <a:schemeClr val="tx1"/>
                </a:solidFill>
              </a:rPr>
              <a:t>Next, until the final report</a:t>
            </a:r>
            <a:endParaRPr lang="en-US" sz="1600" dirty="0"/>
          </a:p>
        </p:txBody>
      </p:sp>
      <p:sp>
        <p:nvSpPr>
          <p:cNvPr id="33" name="Shape 25"/>
          <p:cNvSpPr/>
          <p:nvPr/>
        </p:nvSpPr>
        <p:spPr>
          <a:xfrm>
            <a:off x="2194560" y="4800600"/>
            <a:ext cx="7772400" cy="0"/>
          </a:xfrm>
          <a:prstGeom prst="line">
            <a:avLst/>
          </a:prstGeom>
          <a:noFill/>
          <a:ln w="38100">
            <a:solidFill>
              <a:srgbClr val="BFBFBF"/>
            </a:solidFill>
            <a:prstDash val="solid"/>
          </a:ln>
        </p:spPr>
      </p:sp>
      <p:sp>
        <p:nvSpPr>
          <p:cNvPr id="34" name="milestone 0"/>
          <p:cNvSpPr/>
          <p:nvPr/>
        </p:nvSpPr>
        <p:spPr>
          <a:xfrm>
            <a:off x="1920240" y="4526280"/>
            <a:ext cx="548640" cy="548640"/>
          </a:xfrm>
          <a:prstGeom prst="ellipse">
            <a:avLst/>
          </a:prstGeom>
          <a:solidFill>
            <a:srgbClr val="FFFFFF"/>
          </a:solidFill>
          <a:ln w="25400">
            <a:solidFill>
              <a:srgbClr val="4472C4"/>
            </a:solidFill>
            <a:prstDash val="solid"/>
          </a:ln>
        </p:spPr>
      </p:sp>
      <p:pic>
        <p:nvPicPr>
          <p:cNvPr id="35" name="milestone icon 0" descr="/NAS/SJ/POSTECH/nlp/figs/icons/check.png">    </p:cNvPr>
          <p:cNvPicPr>
            <a:picLocks noChangeAspect="1"/>
          </p:cNvPicPr>
          <p:nvPr/>
        </p:nvPicPr>
        <p:blipFill>
          <a:blip r:embed="rId7"/>
          <a:stretch>
            <a:fillRect/>
          </a:stretch>
        </p:blipFill>
        <p:spPr>
          <a:xfrm>
            <a:off x="2020824" y="4626864"/>
            <a:ext cx="347472" cy="347472"/>
          </a:xfrm>
          <a:prstGeom prst="rect">
            <a:avLst/>
          </a:prstGeom>
        </p:spPr>
      </p:pic>
      <p:sp>
        <p:nvSpPr>
          <p:cNvPr id="36" name="Text 27"/>
          <p:cNvSpPr txBox="1"/>
          <p:nvPr/>
        </p:nvSpPr>
        <p:spPr>
          <a:xfrm>
            <a:off x="548640" y="5102352"/>
            <a:ext cx="3291840" cy="502920"/>
          </a:xfrm>
          <a:prstGeom prst="rect">
            <a:avLst/>
          </a:prstGeom>
          <a:noFill/>
          <a:ln/>
        </p:spPr>
        <p:txBody>
          <a:bodyPr wrap="square" lIns="0" tIns="0" rIns="0" bIns="0" rtlCol="0" anchor="t"/>
          <a:lstStyle/>
          <a:p>
            <a:pPr algn="ctr" indent="0" marL="0">
              <a:buNone/>
            </a:pPr>
            <a:r>
              <a:rPr lang="en-US" sz="1500" dirty="0">
                <a:solidFill>
                  <a:schemeClr val="tx1"/>
                </a:solidFill>
              </a:rPr>
              <a:t>finish the held-out test on more models</a:t>
            </a:r>
            <a:endParaRPr lang="en-US" sz="1500" dirty="0"/>
          </a:p>
        </p:txBody>
      </p:sp>
      <p:sp>
        <p:nvSpPr>
          <p:cNvPr id="37" name="milestone 1"/>
          <p:cNvSpPr/>
          <p:nvPr/>
        </p:nvSpPr>
        <p:spPr>
          <a:xfrm>
            <a:off x="5806440" y="4526280"/>
            <a:ext cx="548640" cy="548640"/>
          </a:xfrm>
          <a:prstGeom prst="ellipse">
            <a:avLst/>
          </a:prstGeom>
          <a:solidFill>
            <a:srgbClr val="FFFFFF"/>
          </a:solidFill>
          <a:ln w="25400">
            <a:solidFill>
              <a:srgbClr val="4472C4"/>
            </a:solidFill>
            <a:prstDash val="solid"/>
          </a:ln>
        </p:spPr>
      </p:sp>
      <p:pic>
        <p:nvPicPr>
          <p:cNvPr id="38" name="milestone icon 1" descr="/NAS/SJ/POSTECH/nlp/figs/icons/warn.png">    </p:cNvPr>
          <p:cNvPicPr>
            <a:picLocks noChangeAspect="1"/>
          </p:cNvPicPr>
          <p:nvPr/>
        </p:nvPicPr>
        <p:blipFill>
          <a:blip r:embed="rId8"/>
          <a:stretch>
            <a:fillRect/>
          </a:stretch>
        </p:blipFill>
        <p:spPr>
          <a:xfrm>
            <a:off x="5907024" y="4626864"/>
            <a:ext cx="347472" cy="347472"/>
          </a:xfrm>
          <a:prstGeom prst="rect">
            <a:avLst/>
          </a:prstGeom>
        </p:spPr>
      </p:pic>
      <p:sp>
        <p:nvSpPr>
          <p:cNvPr id="39" name="Text 29"/>
          <p:cNvSpPr txBox="1"/>
          <p:nvPr/>
        </p:nvSpPr>
        <p:spPr>
          <a:xfrm>
            <a:off x="4434840" y="5102352"/>
            <a:ext cx="3291840" cy="502920"/>
          </a:xfrm>
          <a:prstGeom prst="rect">
            <a:avLst/>
          </a:prstGeom>
          <a:noFill/>
          <a:ln/>
        </p:spPr>
        <p:txBody>
          <a:bodyPr wrap="square" lIns="0" tIns="0" rIns="0" bIns="0" rtlCol="0" anchor="t"/>
          <a:lstStyle/>
          <a:p>
            <a:pPr algn="ctr" indent="0" marL="0">
              <a:buNone/>
            </a:pPr>
            <a:r>
              <a:rPr lang="en-US" sz="1500" dirty="0">
                <a:solidFill>
                  <a:schemeClr val="tx1"/>
                </a:solidFill>
              </a:rPr>
              <a:t>errors no check catches: programs that run but model the problem wrong</a:t>
            </a:r>
            <a:endParaRPr lang="en-US" sz="1500" dirty="0"/>
          </a:p>
        </p:txBody>
      </p:sp>
      <p:sp>
        <p:nvSpPr>
          <p:cNvPr id="40" name="milestone 2"/>
          <p:cNvSpPr/>
          <p:nvPr/>
        </p:nvSpPr>
        <p:spPr>
          <a:xfrm>
            <a:off x="9692640" y="4526280"/>
            <a:ext cx="548640" cy="548640"/>
          </a:xfrm>
          <a:prstGeom prst="ellipse">
            <a:avLst/>
          </a:prstGeom>
          <a:solidFill>
            <a:srgbClr val="FFFFFF"/>
          </a:solidFill>
          <a:ln w="25400">
            <a:solidFill>
              <a:srgbClr val="4472C4"/>
            </a:solidFill>
            <a:prstDash val="solid"/>
          </a:ln>
        </p:spPr>
      </p:sp>
      <p:pic>
        <p:nvPicPr>
          <p:cNvPr id="41" name="milestone icon 2" descr="/NAS/SJ/POSTECH/nlp/figs/icons/code.png">    </p:cNvPr>
          <p:cNvPicPr>
            <a:picLocks noChangeAspect="1"/>
          </p:cNvPicPr>
          <p:nvPr/>
        </p:nvPicPr>
        <p:blipFill>
          <a:blip r:embed="rId9"/>
          <a:stretch>
            <a:fillRect/>
          </a:stretch>
        </p:blipFill>
        <p:spPr>
          <a:xfrm>
            <a:off x="9793224" y="4626864"/>
            <a:ext cx="347472" cy="347472"/>
          </a:xfrm>
          <a:prstGeom prst="rect">
            <a:avLst/>
          </a:prstGeom>
        </p:spPr>
      </p:pic>
      <p:sp>
        <p:nvSpPr>
          <p:cNvPr id="42" name="Text 31"/>
          <p:cNvSpPr txBox="1"/>
          <p:nvPr/>
        </p:nvSpPr>
        <p:spPr>
          <a:xfrm>
            <a:off x="8321040" y="5102352"/>
            <a:ext cx="3291840" cy="502920"/>
          </a:xfrm>
          <a:prstGeom prst="rect">
            <a:avLst/>
          </a:prstGeom>
          <a:noFill/>
          <a:ln/>
        </p:spPr>
        <p:txBody>
          <a:bodyPr wrap="square" lIns="0" tIns="0" rIns="0" bIns="0" rtlCol="0" anchor="t"/>
          <a:lstStyle/>
          <a:p>
            <a:pPr algn="ctr" indent="0" marL="0">
              <a:buNone/>
            </a:pPr>
            <a:r>
              <a:rPr lang="en-US" sz="1500" dirty="0">
                <a:solidFill>
                  <a:schemeClr val="tx1"/>
                </a:solidFill>
              </a:rPr>
              <a:t>hints for every problem type; report and code</a:t>
            </a:r>
            <a:endParaRPr lang="en-US" sz="1500" dirty="0"/>
          </a:p>
        </p:txBody>
      </p:sp>
      <p:sp>
        <p:nvSpPr>
          <p:cNvPr id="43" name="Text 32"/>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Takeaway: give a short hint first, and think only where a free check fails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527048" y="1280160"/>
            <a:ext cx="9144000" cy="2194560"/>
          </a:xfrm>
          <a:prstGeom prst="rect">
            <a:avLst/>
          </a:prstGeom>
          <a:noFill/>
          <a:ln/>
        </p:spPr>
        <p:txBody>
          <a:bodyPr wrap="square" rtlCol="0" anchor="b"/>
          <a:lstStyle/>
          <a:p>
            <a:pPr algn="ctr" indent="0" marL="0">
              <a:buNone/>
            </a:pPr>
            <a:r>
              <a:rPr lang="en-US" sz="5400" dirty="0">
                <a:solidFill>
                  <a:schemeClr val="tx1"/>
                </a:solidFill>
              </a:rPr>
              <a:t>Thank you</a:t>
            </a:r>
            <a:endParaRPr lang="en-US" sz="5400" dirty="0"/>
          </a:p>
        </p:txBody>
      </p:sp>
      <p:sp>
        <p:nvSpPr>
          <p:cNvPr id="3" name="Text 0"/>
          <p:cNvSpPr/>
          <p:nvPr>
            <p:ph idx="101" type="body" hasCustomPrompt="1"/>
          </p:nvPr>
        </p:nvSpPr>
        <p:spPr>
          <a:xfrm>
            <a:off x="1527048" y="3657600"/>
            <a:ext cx="9144000" cy="1554480"/>
          </a:xfrm>
          <a:prstGeom prst="rect">
            <a:avLst/>
          </a:prstGeom>
          <a:noFill/>
          <a:ln/>
        </p:spPr>
        <p:txBody>
          <a:bodyPr wrap="square" rtlCol="0" anchor="t"/>
          <a:lstStyle/>
          <a:p>
            <a:pPr algn="ctr" indent="0" marL="0">
              <a:buNone/>
            </a:pPr>
            <a:r>
              <a:rPr lang="en-US" sz="2200" dirty="0">
                <a:solidFill>
                  <a:schemeClr val="tx1"/>
                </a:solidFill>
              </a:rPr>
              <a:t>Questions?</a:t>
            </a:r>
            <a:endParaRPr lang="en-US" sz="2200" dirty="0"/>
          </a:p>
          <a:p>
            <a:pPr algn="ctr" indent="0" marL="0">
              <a:buNone/>
            </a:pPr>
            <a:r>
              <a:rPr lang="en-US" sz="1600" dirty="0">
                <a:solidFill>
                  <a:srgbClr val="44546A"/>
                </a:solidFill>
              </a:rPr>
              <a:t>Team 5: Sangjun Lee, Seongbin Park</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why these problems, and how do they differ?</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Exact answers that code can grade, a free check for each, and code that agents already write</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920240"/>
                <a:gridCol w="2286000"/>
                <a:gridCol w="2286000"/>
                <a:gridCol w="2286000"/>
                <a:gridCol w="2286000"/>
              </a:tblGrid>
              <a:tr h="438912">
                <a:tc>
                  <a:txBody>
                    <a:bodyPr/>
                    <a:lstStyle/>
                    <a:p>
                      <a:pPr indent="0" marL="0">
                        <a:buNone/>
                      </a:pP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gridSpan="2">
                  <a:txBody>
                    <a:bodyPr/>
                    <a:lstStyle/>
                    <a:p>
                      <a:pPr algn="ctr" indent="0" marL="0">
                        <a:buNone/>
                      </a:pPr>
                      <a:r>
                        <a:rPr lang="en-US" sz="1300" b="1" dirty="0">
                          <a:solidFill>
                            <a:srgbClr val="FFFFFF"/>
                          </a:solidFill>
                        </a:rPr>
                        <a:t>needs the right algorithm</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hMerge="1">
                  <a:tcPr/>
                </a:tc>
                <a:tc gridSpan="2">
                  <a:txBody>
                    <a:bodyPr/>
                    <a:lstStyle/>
                    <a:p>
                      <a:pPr algn="ctr" indent="0" marL="0">
                        <a:buNone/>
                      </a:pPr>
                      <a:r>
                        <a:rPr lang="en-US" sz="1300" b="1" dirty="0">
                          <a:solidFill>
                            <a:srgbClr val="FFFFFF"/>
                          </a:solidFill>
                        </a:rPr>
                        <a:t>needs the right solver call</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38761D"/>
                    </a:solidFill>
                  </a:tcPr>
                </a:tc>
                <a:tc hMerge="1">
                  <a:tcPr/>
                </a:tc>
              </a:tr>
              <a:tr h="438912">
                <a:tc>
                  <a:txBody>
                    <a:bodyPr/>
                    <a:lstStyle/>
                    <a:p>
                      <a:pPr indent="0" marL="0">
                        <a:buNone/>
                      </a:pP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rPr>
                        <a:t>Geometry</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rPr>
                        <a:t>Contest problems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rPr>
                        <a:t>Routing, scheduling</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rPr>
                        <a:t>Word problems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438912">
                <a:tc>
                  <a:txBody>
                    <a:bodyPr/>
                    <a:lstStyle/>
                    <a:p>
                      <a:pPr indent="0" marL="0">
                        <a:buNone/>
                      </a:pPr>
                      <a:r>
                        <a:rPr lang="en-US" sz="1300" b="1" dirty="0">
                          <a:solidFill>
                            <a:schemeClr val="tx1"/>
                          </a:solidFill>
                        </a:rPr>
                        <a:t>Input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points, polygons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 story with an input format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data: customers, loads, time windows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 paragraph of text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chemeClr val="tx1"/>
                          </a:solidFill>
                        </a:rPr>
                        <a:t>The program</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 textbook algorithm in plain Python</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 harder algorithm (Codeforces Master level)</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 call to a solver library (OR-Tools)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text → equations, then a solver call</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chemeClr val="tx1"/>
                          </a:solidFill>
                        </a:rPr>
                        <a:t>Free check</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move or turn the input; two versions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the examples; a brute-force program</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code checks every rule of the plan</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two programs must agree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chemeClr val="tx1"/>
                          </a:solidFill>
                        </a:rPr>
                        <a:t>Typical failure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 wrong method, steered by offered tools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wrong reasoning</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an invented library name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an invented name, or a wrong model of the text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chemeClr val="tx1"/>
                          </a:solidFill>
                        </a:rPr>
                        <a:t>What helps most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a free check, then think</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think only when the check fails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the exact usage; reuse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the hint, then the check</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chemeClr val="tx1"/>
                          </a:solidFill>
                        </a:rPr>
                        <a:t>Size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108 problems (9 tasks)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311 problems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100 (8 types) + 56 Solomon + 82 job-shop</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1,208 (NL4OPT, IndustryOR, MAMO)</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Text 2"/>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Two needs, an algorithm or a library hint, so we can see where extra effort pays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do the findings cover every kind?</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Where each result was measured (models and numbers as on the talk slides)</a:t>
            </a:r>
            <a:endParaRPr lang="en-US" sz="1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2286000"/>
                <a:gridCol w="2194560"/>
                <a:gridCol w="2194560"/>
                <a:gridCol w="2194560"/>
                <a:gridCol w="2194560"/>
              </a:tblGrid>
              <a:tr h="411480">
                <a:tc>
                  <a:txBody>
                    <a:bodyPr/>
                    <a:lstStyle/>
                    <a:p>
                      <a:pPr indent="0" marL="0">
                        <a:buNone/>
                      </a:pP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Geometry</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Contest problems</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Routing, scheduling</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400" b="1" dirty="0">
                          <a:solidFill>
                            <a:srgbClr val="FFFFFF"/>
                          </a:solidFill>
                        </a:rPr>
                        <a:t>Word problems</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777240">
                <a:tc>
                  <a:txBody>
                    <a:bodyPr/>
                    <a:lstStyle/>
                    <a:p>
                      <a:pPr indent="0" marL="0">
                        <a:buNone/>
                      </a:pPr>
                      <a:r>
                        <a:rPr lang="en-US" sz="1400" b="1" dirty="0">
                          <a:solidFill>
                            <a:schemeClr val="tx1"/>
                          </a:solidFill>
                        </a:rPr>
                        <a:t>Give the hint</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only the needed tools: 92% vs 75%</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C00000"/>
                          </a:solidFill>
                        </a:rPr>
                        <a:t>✗ no library to hint; 8 geometry helpers hurt: 37.7% → 33.4% (gpt-oss-20b)</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23% → 77–90%; 6% → 100% valid plans</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65% → 72%; small models +44 points</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77240">
                <a:tc>
                  <a:txBody>
                    <a:bodyPr/>
                    <a:lstStyle/>
                    <a:p>
                      <a:pPr indent="0" marL="0">
                        <a:buNone/>
                      </a:pPr>
                      <a:r>
                        <a:rPr lang="en-US" sz="1400" b="1" dirty="0">
                          <a:solidFill>
                            <a:schemeClr val="tx1"/>
                          </a:solidFill>
                        </a:rPr>
                        <a:t>Free check, think on failure</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99% @ 4.3k vs 98% @ 5.9k</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66.3% @ 24.7k vs 66.2% @ 30.1k (examples + brute force)</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part of the 87% below</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beats always thinking at 12–22% of its tokens</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77240">
                <a:tc>
                  <a:txBody>
                    <a:bodyPr/>
                    <a:lstStyle/>
                    <a:p>
                      <a:pPr indent="0" marL="0">
                        <a:buNone/>
                      </a:pPr>
                      <a:r>
                        <a:rPr lang="en-US" sz="1400" b="1" dirty="0">
                          <a:solidFill>
                            <a:schemeClr val="tx1"/>
                          </a:solidFill>
                        </a:rPr>
                        <a:t>Whole recipe</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87% @ 2.5k vs 74% @ 4.1k, with routing</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C55A11"/>
                          </a:solidFill>
                        </a:rPr>
                        <a:t>~ steps 3–4 only (no library, so no hint): same 66% at 18% fewer tokens</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87% @ 2.5k vs 74% @ 4.1k, with geometry</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held-out MAMO: automatic hint = hand-written</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48640">
                <a:tc>
                  <a:txBody>
                    <a:bodyPr/>
                    <a:lstStyle/>
                    <a:p>
                      <a:pPr indent="0" marL="0">
                        <a:buNone/>
                      </a:pPr>
                      <a:r>
                        <a:rPr lang="en-US" sz="1400" b="1" dirty="0">
                          <a:solidFill>
                            <a:schemeClr val="tx1"/>
                          </a:solidFill>
                        </a:rPr>
                        <a:t>Reuse a checked program</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8C8C8C"/>
                          </a:solidFill>
                        </a:rPr>
                        <a:t>– not tested</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8C8C8C"/>
                          </a:solidFill>
                        </a:rPr>
                        <a:t>– each problem is new</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38761D"/>
                          </a:solidFill>
                        </a:rPr>
                        <a:t>✓ 94% vs 7% of days valid</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8C8C8C"/>
                          </a:solidFill>
                        </a:rPr>
                        <a:t>– not tested</a:t>
                      </a:r>
                      <a:endParaRPr lang="en-US" sz="14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5" name="Text 2"/>
          <p:cNvSpPr txBox="1"/>
          <p:nvPr/>
        </p:nvSpPr>
        <p:spPr>
          <a:xfrm>
            <a:off x="548640" y="5257800"/>
            <a:ext cx="11064240" cy="365760"/>
          </a:xfrm>
          <a:prstGeom prst="rect">
            <a:avLst/>
          </a:prstGeom>
          <a:noFill/>
          <a:ln/>
        </p:spPr>
        <p:txBody>
          <a:bodyPr wrap="square" lIns="0" tIns="0" rIns="0" bIns="0" rtlCol="0" anchor="ctr"/>
          <a:lstStyle/>
          <a:p>
            <a:pPr indent="0" marL="0">
              <a:buNone/>
            </a:pPr>
            <a:r>
              <a:rPr lang="en-US" sz="1400" dirty="0">
                <a:solidFill>
                  <a:schemeClr val="tx2"/>
                </a:solidFill>
              </a:rPr>
              <a:t>✓ holds   ~ partly   ✗ does not help   – not tested.   The 87% pools 108 geometry and 100 optimization problems, each solved by 3 models.</a:t>
            </a:r>
            <a:endParaRPr lang="en-US" sz="1400" dirty="0"/>
          </a:p>
        </p:txBody>
      </p:sp>
      <p:sp>
        <p:nvSpPr>
          <p:cNvPr id="6" name="Text 3"/>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Contest problems need no library, so no hint: the check and thinking alone, at 18% fewer tokens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how hard, by contest ranks and exams</a:t>
            </a:r>
            <a:endParaRPr lang="en-US" sz="3600" dirty="0"/>
          </a:p>
        </p:txBody>
      </p:sp>
      <p:sp>
        <p:nvSpPr>
          <p:cNvPr id="3" name="kind Geometry"/>
          <p:cNvSpPr/>
          <p:nvPr/>
        </p:nvSpPr>
        <p:spPr>
          <a:xfrm>
            <a:off x="548640" y="1188720"/>
            <a:ext cx="2651760" cy="2148840"/>
          </a:xfrm>
          <a:prstGeom prst="roundRect">
            <a:avLst>
              <a:gd name="adj" fmla="val 3404"/>
            </a:avLst>
          </a:prstGeom>
          <a:solidFill>
            <a:srgbClr val="F7F7F7"/>
          </a:solidFill>
          <a:ln w="9525">
            <a:solidFill>
              <a:srgbClr val="D9D9D9"/>
            </a:solidFill>
            <a:prstDash val="solid"/>
          </a:ln>
        </p:spPr>
      </p:sp>
      <p:pic>
        <p:nvPicPr>
          <p:cNvPr id="4" name="icon shapes" descr="/NAS/SJ/POSTECH/nlp/figs/icons/shapes.png">    </p:cNvPr>
          <p:cNvPicPr>
            <a:picLocks noChangeAspect="1"/>
          </p:cNvPicPr>
          <p:nvPr/>
        </p:nvPicPr>
        <p:blipFill>
          <a:blip r:embed="rId1"/>
          <a:stretch>
            <a:fillRect/>
          </a:stretch>
        </p:blipFill>
        <p:spPr>
          <a:xfrm>
            <a:off x="685800" y="1298448"/>
            <a:ext cx="438912" cy="438912"/>
          </a:xfrm>
          <a:prstGeom prst="rect">
            <a:avLst/>
          </a:prstGeom>
        </p:spPr>
      </p:pic>
      <p:sp>
        <p:nvSpPr>
          <p:cNvPr id="5" name="Text 2"/>
          <p:cNvSpPr txBox="1"/>
          <p:nvPr/>
        </p:nvSpPr>
        <p:spPr>
          <a:xfrm>
            <a:off x="1188720" y="1280160"/>
            <a:ext cx="1965960" cy="502920"/>
          </a:xfrm>
          <a:prstGeom prst="rect">
            <a:avLst/>
          </a:prstGeom>
          <a:noFill/>
          <a:ln/>
        </p:spPr>
        <p:txBody>
          <a:bodyPr wrap="square" lIns="0" tIns="0" rIns="0" bIns="0" rtlCol="0" anchor="ctr"/>
          <a:lstStyle/>
          <a:p>
            <a:pPr indent="0" marL="0">
              <a:buNone/>
            </a:pPr>
            <a:r>
              <a:rPr lang="en-US" sz="1600" b="1" dirty="0">
                <a:solidFill>
                  <a:schemeClr val="tx1"/>
                </a:solidFill>
              </a:rPr>
              <a:t>Geometry</a:t>
            </a:r>
            <a:endParaRPr lang="en-US" sz="1600" dirty="0"/>
          </a:p>
        </p:txBody>
      </p:sp>
      <p:sp>
        <p:nvSpPr>
          <p:cNvPr id="6" name="Text 3"/>
          <p:cNvSpPr txBox="1"/>
          <p:nvPr/>
        </p:nvSpPr>
        <p:spPr>
          <a:xfrm>
            <a:off x="685800" y="1828800"/>
            <a:ext cx="2377440" cy="822960"/>
          </a:xfrm>
          <a:prstGeom prst="rect">
            <a:avLst/>
          </a:prstGeom>
          <a:noFill/>
          <a:ln/>
        </p:spPr>
        <p:txBody>
          <a:bodyPr wrap="square" lIns="0" tIns="0" rIns="0" bIns="0" rtlCol="0" anchor="t"/>
          <a:lstStyle/>
          <a:p>
            <a:pPr indent="0" marL="0">
              <a:buNone/>
            </a:pPr>
            <a:r>
              <a:rPr lang="en-US" sz="1400" dirty="0">
                <a:solidFill>
                  <a:schemeClr val="tx1"/>
                </a:solidFill>
              </a:rPr>
              <a:t>How many corners does the rubber band around 10 points have?</a:t>
            </a:r>
            <a:endParaRPr lang="en-US" sz="1400" dirty="0"/>
          </a:p>
        </p:txBody>
      </p:sp>
      <p:sp>
        <p:nvSpPr>
          <p:cNvPr id="7" name="tag Geometry"/>
          <p:cNvSpPr/>
          <p:nvPr/>
        </p:nvSpPr>
        <p:spPr>
          <a:xfrm>
            <a:off x="640080" y="2697480"/>
            <a:ext cx="2468880" cy="548640"/>
          </a:xfrm>
          <a:prstGeom prst="roundRect">
            <a:avLst>
              <a:gd name="adj" fmla="val 16667"/>
            </a:avLst>
          </a:prstGeom>
          <a:solidFill>
            <a:srgbClr val="FFFFFF"/>
          </a:solidFill>
          <a:ln w="12700">
            <a:solidFill>
              <a:srgbClr val="4472C4"/>
            </a:solidFill>
            <a:prstDash val="solid"/>
          </a:ln>
        </p:spPr>
      </p:sp>
      <p:sp>
        <p:nvSpPr>
          <p:cNvPr id="8" name="Text 5"/>
          <p:cNvSpPr txBox="1"/>
          <p:nvPr/>
        </p:nvSpPr>
        <p:spPr>
          <a:xfrm>
            <a:off x="685800" y="2697480"/>
            <a:ext cx="2377440" cy="548640"/>
          </a:xfrm>
          <a:prstGeom prst="rect">
            <a:avLst/>
          </a:prstGeom>
          <a:noFill/>
          <a:ln/>
        </p:spPr>
        <p:txBody>
          <a:bodyPr wrap="square" lIns="0" tIns="0" rIns="0" bIns="0" rtlCol="0" anchor="ctr"/>
          <a:lstStyle/>
          <a:p>
            <a:pPr algn="ctr" indent="0" marL="0">
              <a:buNone/>
            </a:pPr>
            <a:r>
              <a:rPr lang="en-US" sz="1300" b="1" dirty="0">
                <a:solidFill>
                  <a:srgbClr val="4472C4"/>
                </a:solidFill>
              </a:rPr>
              <a:t>textbook algorithms, exact on every copy</a:t>
            </a:r>
            <a:endParaRPr lang="en-US" sz="1300" dirty="0"/>
          </a:p>
        </p:txBody>
      </p:sp>
      <p:sp>
        <p:nvSpPr>
          <p:cNvPr id="9" name="kind Contest problems"/>
          <p:cNvSpPr/>
          <p:nvPr/>
        </p:nvSpPr>
        <p:spPr>
          <a:xfrm>
            <a:off x="3355848" y="1188720"/>
            <a:ext cx="2651760" cy="2148840"/>
          </a:xfrm>
          <a:prstGeom prst="roundRect">
            <a:avLst>
              <a:gd name="adj" fmla="val 3404"/>
            </a:avLst>
          </a:prstGeom>
          <a:solidFill>
            <a:srgbClr val="F7F7F7"/>
          </a:solidFill>
          <a:ln w="9525">
            <a:solidFill>
              <a:srgbClr val="D9D9D9"/>
            </a:solidFill>
            <a:prstDash val="solid"/>
          </a:ln>
        </p:spPr>
      </p:sp>
      <p:pic>
        <p:nvPicPr>
          <p:cNvPr id="10" name="icon trophy" descr="/NAS/SJ/POSTECH/nlp/figs/icons/trophy.png">    </p:cNvPr>
          <p:cNvPicPr>
            <a:picLocks noChangeAspect="1"/>
          </p:cNvPicPr>
          <p:nvPr/>
        </p:nvPicPr>
        <p:blipFill>
          <a:blip r:embed="rId2"/>
          <a:stretch>
            <a:fillRect/>
          </a:stretch>
        </p:blipFill>
        <p:spPr>
          <a:xfrm>
            <a:off x="3493008" y="1298448"/>
            <a:ext cx="438912" cy="438912"/>
          </a:xfrm>
          <a:prstGeom prst="rect">
            <a:avLst/>
          </a:prstGeom>
        </p:spPr>
      </p:pic>
      <p:sp>
        <p:nvSpPr>
          <p:cNvPr id="11" name="Text 7"/>
          <p:cNvSpPr txBox="1"/>
          <p:nvPr/>
        </p:nvSpPr>
        <p:spPr>
          <a:xfrm>
            <a:off x="3995928" y="1280160"/>
            <a:ext cx="1965960" cy="502920"/>
          </a:xfrm>
          <a:prstGeom prst="rect">
            <a:avLst/>
          </a:prstGeom>
          <a:noFill/>
          <a:ln/>
        </p:spPr>
        <p:txBody>
          <a:bodyPr wrap="square" lIns="0" tIns="0" rIns="0" bIns="0" rtlCol="0" anchor="ctr"/>
          <a:lstStyle/>
          <a:p>
            <a:pPr indent="0" marL="0">
              <a:buNone/>
            </a:pPr>
            <a:r>
              <a:rPr lang="en-US" sz="1600" b="1" dirty="0">
                <a:solidFill>
                  <a:schemeClr val="tx1"/>
                </a:solidFill>
              </a:rPr>
              <a:t>Contest problems</a:t>
            </a:r>
            <a:endParaRPr lang="en-US" sz="1600" dirty="0"/>
          </a:p>
        </p:txBody>
      </p:sp>
      <p:sp>
        <p:nvSpPr>
          <p:cNvPr id="12" name="Text 8"/>
          <p:cNvSpPr txBox="1"/>
          <p:nvPr/>
        </p:nvSpPr>
        <p:spPr>
          <a:xfrm>
            <a:off x="3493008" y="1828800"/>
            <a:ext cx="2377440" cy="822960"/>
          </a:xfrm>
          <a:prstGeom prst="rect">
            <a:avLst/>
          </a:prstGeom>
          <a:noFill/>
          <a:ln/>
        </p:spPr>
        <p:txBody>
          <a:bodyPr wrap="square" lIns="0" tIns="0" rIns="0" bIns="0" rtlCol="0" anchor="t"/>
          <a:lstStyle/>
          <a:p>
            <a:pPr indent="0" marL="0">
              <a:buNone/>
            </a:pPr>
            <a:r>
              <a:rPr lang="en-US" sz="1400" dirty="0">
                <a:solidFill>
                  <a:schemeClr val="tx1"/>
                </a:solidFill>
              </a:rPr>
              <a:t>311 Codeforces geometry problems, hidden tests</a:t>
            </a:r>
            <a:endParaRPr lang="en-US" sz="1400" dirty="0"/>
          </a:p>
        </p:txBody>
      </p:sp>
      <p:sp>
        <p:nvSpPr>
          <p:cNvPr id="13" name="tag Contest problems"/>
          <p:cNvSpPr/>
          <p:nvPr/>
        </p:nvSpPr>
        <p:spPr>
          <a:xfrm>
            <a:off x="3447288" y="2697480"/>
            <a:ext cx="2468880" cy="548640"/>
          </a:xfrm>
          <a:prstGeom prst="roundRect">
            <a:avLst>
              <a:gd name="adj" fmla="val 16667"/>
            </a:avLst>
          </a:prstGeom>
          <a:solidFill>
            <a:srgbClr val="FFFFFF"/>
          </a:solidFill>
          <a:ln w="12700">
            <a:solidFill>
              <a:srgbClr val="C00000"/>
            </a:solidFill>
            <a:prstDash val="solid"/>
          </a:ln>
        </p:spPr>
      </p:sp>
      <p:sp>
        <p:nvSpPr>
          <p:cNvPr id="14" name="Text 10"/>
          <p:cNvSpPr txBox="1"/>
          <p:nvPr/>
        </p:nvSpPr>
        <p:spPr>
          <a:xfrm>
            <a:off x="3493008" y="2697480"/>
            <a:ext cx="2377440" cy="548640"/>
          </a:xfrm>
          <a:prstGeom prst="rect">
            <a:avLst/>
          </a:prstGeom>
          <a:noFill/>
          <a:ln/>
        </p:spPr>
        <p:txBody>
          <a:bodyPr wrap="square" lIns="0" tIns="0" rIns="0" bIns="0" rtlCol="0" anchor="ctr"/>
          <a:lstStyle/>
          <a:p>
            <a:pPr algn="ctr" indent="0" marL="0">
              <a:buNone/>
            </a:pPr>
            <a:r>
              <a:rPr lang="en-US" sz="1300" b="1" dirty="0">
                <a:solidFill>
                  <a:srgbClr val="C00000"/>
                </a:solidFill>
              </a:rPr>
              <a:t>Codeforces Master to Grandmaster level</a:t>
            </a:r>
            <a:endParaRPr lang="en-US" sz="1300" dirty="0"/>
          </a:p>
        </p:txBody>
      </p:sp>
      <p:sp>
        <p:nvSpPr>
          <p:cNvPr id="15" name="kind Routing, scheduling"/>
          <p:cNvSpPr/>
          <p:nvPr/>
        </p:nvSpPr>
        <p:spPr>
          <a:xfrm>
            <a:off x="6163056" y="1188720"/>
            <a:ext cx="2651760" cy="2148840"/>
          </a:xfrm>
          <a:prstGeom prst="roundRect">
            <a:avLst>
              <a:gd name="adj" fmla="val 3404"/>
            </a:avLst>
          </a:prstGeom>
          <a:solidFill>
            <a:srgbClr val="F7F7F7"/>
          </a:solidFill>
          <a:ln w="9525">
            <a:solidFill>
              <a:srgbClr val="D9D9D9"/>
            </a:solidFill>
            <a:prstDash val="solid"/>
          </a:ln>
        </p:spPr>
      </p:sp>
      <p:pic>
        <p:nvPicPr>
          <p:cNvPr id="16" name="icon truck" descr="/NAS/SJ/POSTECH/nlp/figs/icons/truck.png">    </p:cNvPr>
          <p:cNvPicPr>
            <a:picLocks noChangeAspect="1"/>
          </p:cNvPicPr>
          <p:nvPr/>
        </p:nvPicPr>
        <p:blipFill>
          <a:blip r:embed="rId3"/>
          <a:stretch>
            <a:fillRect/>
          </a:stretch>
        </p:blipFill>
        <p:spPr>
          <a:xfrm>
            <a:off x="6300216" y="1298448"/>
            <a:ext cx="438912" cy="438912"/>
          </a:xfrm>
          <a:prstGeom prst="rect">
            <a:avLst/>
          </a:prstGeom>
        </p:spPr>
      </p:pic>
      <p:sp>
        <p:nvSpPr>
          <p:cNvPr id="17" name="Text 12"/>
          <p:cNvSpPr txBox="1"/>
          <p:nvPr/>
        </p:nvSpPr>
        <p:spPr>
          <a:xfrm>
            <a:off x="6803136" y="1280160"/>
            <a:ext cx="1965960" cy="502920"/>
          </a:xfrm>
          <a:prstGeom prst="rect">
            <a:avLst/>
          </a:prstGeom>
          <a:noFill/>
          <a:ln/>
        </p:spPr>
        <p:txBody>
          <a:bodyPr wrap="square" lIns="0" tIns="0" rIns="0" bIns="0" rtlCol="0" anchor="ctr"/>
          <a:lstStyle/>
          <a:p>
            <a:pPr indent="0" marL="0">
              <a:buNone/>
            </a:pPr>
            <a:r>
              <a:rPr lang="en-US" sz="1600" b="1" dirty="0">
                <a:solidFill>
                  <a:schemeClr val="tx1"/>
                </a:solidFill>
              </a:rPr>
              <a:t>Routing, scheduling</a:t>
            </a:r>
            <a:endParaRPr lang="en-US" sz="1600" dirty="0"/>
          </a:p>
        </p:txBody>
      </p:sp>
      <p:sp>
        <p:nvSpPr>
          <p:cNvPr id="18" name="Text 13"/>
          <p:cNvSpPr txBox="1"/>
          <p:nvPr/>
        </p:nvSpPr>
        <p:spPr>
          <a:xfrm>
            <a:off x="6300216" y="1828800"/>
            <a:ext cx="2377440" cy="822960"/>
          </a:xfrm>
          <a:prstGeom prst="rect">
            <a:avLst/>
          </a:prstGeom>
          <a:noFill/>
          <a:ln/>
        </p:spPr>
        <p:txBody>
          <a:bodyPr wrap="square" lIns="0" tIns="0" rIns="0" bIns="0" rtlCol="0" anchor="t"/>
          <a:lstStyle/>
          <a:p>
            <a:pPr indent="0" marL="0">
              <a:buNone/>
            </a:pPr>
            <a:r>
              <a:rPr lang="en-US" sz="1400" dirty="0">
                <a:solidFill>
                  <a:schemeClr val="tx1"/>
                </a:solidFill>
              </a:rPr>
              <a:t>routes for 100 customers with time windows</a:t>
            </a:r>
            <a:endParaRPr lang="en-US" sz="1400" dirty="0"/>
          </a:p>
        </p:txBody>
      </p:sp>
      <p:sp>
        <p:nvSpPr>
          <p:cNvPr id="19" name="tag Routing, scheduling"/>
          <p:cNvSpPr/>
          <p:nvPr/>
        </p:nvSpPr>
        <p:spPr>
          <a:xfrm>
            <a:off x="6254496" y="2697480"/>
            <a:ext cx="2468880" cy="548640"/>
          </a:xfrm>
          <a:prstGeom prst="roundRect">
            <a:avLst>
              <a:gd name="adj" fmla="val 16667"/>
            </a:avLst>
          </a:prstGeom>
          <a:solidFill>
            <a:srgbClr val="FFFFFF"/>
          </a:solidFill>
          <a:ln w="12700">
            <a:solidFill>
              <a:srgbClr val="ED7D31"/>
            </a:solidFill>
            <a:prstDash val="solid"/>
          </a:ln>
        </p:spPr>
      </p:sp>
      <p:sp>
        <p:nvSpPr>
          <p:cNvPr id="20" name="Text 15"/>
          <p:cNvSpPr txBox="1"/>
          <p:nvPr/>
        </p:nvSpPr>
        <p:spPr>
          <a:xfrm>
            <a:off x="6300216" y="2697480"/>
            <a:ext cx="2377440" cy="548640"/>
          </a:xfrm>
          <a:prstGeom prst="rect">
            <a:avLst/>
          </a:prstGeom>
          <a:noFill/>
          <a:ln/>
        </p:spPr>
        <p:txBody>
          <a:bodyPr wrap="square" lIns="0" tIns="0" rIns="0" bIns="0" rtlCol="0" anchor="ctr"/>
          <a:lstStyle/>
          <a:p>
            <a:pPr algn="ctr" indent="0" marL="0">
              <a:buNone/>
            </a:pPr>
            <a:r>
              <a:rPr lang="en-US" sz="1300" b="1" dirty="0">
                <a:solidFill>
                  <a:srgbClr val="ED7D31"/>
                </a:solidFill>
              </a:rPr>
              <a:t>classic OR benchmark: a greedy plan is 48% worse</a:t>
            </a:r>
            <a:endParaRPr lang="en-US" sz="1300" dirty="0"/>
          </a:p>
        </p:txBody>
      </p:sp>
      <p:sp>
        <p:nvSpPr>
          <p:cNvPr id="21" name="kind Word problems"/>
          <p:cNvSpPr/>
          <p:nvPr/>
        </p:nvSpPr>
        <p:spPr>
          <a:xfrm>
            <a:off x="8970264" y="1188720"/>
            <a:ext cx="2651760" cy="2148840"/>
          </a:xfrm>
          <a:prstGeom prst="roundRect">
            <a:avLst>
              <a:gd name="adj" fmla="val 3404"/>
            </a:avLst>
          </a:prstGeom>
          <a:solidFill>
            <a:srgbClr val="F7F7F7"/>
          </a:solidFill>
          <a:ln w="9525">
            <a:solidFill>
              <a:srgbClr val="D9D9D9"/>
            </a:solidFill>
            <a:prstDash val="solid"/>
          </a:ln>
        </p:spPr>
      </p:sp>
      <p:pic>
        <p:nvPicPr>
          <p:cNvPr id="22" name="icon calc" descr="/NAS/SJ/POSTECH/nlp/figs/icons/calc.png">    </p:cNvPr>
          <p:cNvPicPr>
            <a:picLocks noChangeAspect="1"/>
          </p:cNvPicPr>
          <p:nvPr/>
        </p:nvPicPr>
        <p:blipFill>
          <a:blip r:embed="rId4"/>
          <a:stretch>
            <a:fillRect/>
          </a:stretch>
        </p:blipFill>
        <p:spPr>
          <a:xfrm>
            <a:off x="9107424" y="1298448"/>
            <a:ext cx="438912" cy="438912"/>
          </a:xfrm>
          <a:prstGeom prst="rect">
            <a:avLst/>
          </a:prstGeom>
        </p:spPr>
      </p:pic>
      <p:sp>
        <p:nvSpPr>
          <p:cNvPr id="23" name="Text 17"/>
          <p:cNvSpPr txBox="1"/>
          <p:nvPr/>
        </p:nvSpPr>
        <p:spPr>
          <a:xfrm>
            <a:off x="9610344" y="1280160"/>
            <a:ext cx="1965960" cy="502920"/>
          </a:xfrm>
          <a:prstGeom prst="rect">
            <a:avLst/>
          </a:prstGeom>
          <a:noFill/>
          <a:ln/>
        </p:spPr>
        <p:txBody>
          <a:bodyPr wrap="square" lIns="0" tIns="0" rIns="0" bIns="0" rtlCol="0" anchor="ctr"/>
          <a:lstStyle/>
          <a:p>
            <a:pPr indent="0" marL="0">
              <a:buNone/>
            </a:pPr>
            <a:r>
              <a:rPr lang="en-US" sz="1600" b="1" dirty="0">
                <a:solidFill>
                  <a:schemeClr val="tx1"/>
                </a:solidFill>
              </a:rPr>
              <a:t>Word problems</a:t>
            </a:r>
            <a:endParaRPr lang="en-US" sz="1600" dirty="0"/>
          </a:p>
        </p:txBody>
      </p:sp>
      <p:sp>
        <p:nvSpPr>
          <p:cNvPr id="24" name="Text 18"/>
          <p:cNvSpPr txBox="1"/>
          <p:nvPr/>
        </p:nvSpPr>
        <p:spPr>
          <a:xfrm>
            <a:off x="9107424" y="1828800"/>
            <a:ext cx="2377440" cy="822960"/>
          </a:xfrm>
          <a:prstGeom prst="rect">
            <a:avLst/>
          </a:prstGeom>
          <a:noFill/>
          <a:ln/>
        </p:spPr>
        <p:txBody>
          <a:bodyPr wrap="square" lIns="0" tIns="0" rIns="0" bIns="0" rtlCol="0" anchor="t"/>
          <a:lstStyle/>
          <a:p>
            <a:pPr indent="0" marL="0">
              <a:buNone/>
            </a:pPr>
            <a:r>
              <a:rPr lang="en-US" sz="1400" dirty="0">
                <a:solidFill>
                  <a:schemeClr val="tx1"/>
                </a:solidFill>
              </a:rPr>
              <a:t>most coins from 500 gold and 300 wires?</a:t>
            </a:r>
            <a:endParaRPr lang="en-US" sz="1400" dirty="0"/>
          </a:p>
        </p:txBody>
      </p:sp>
      <p:sp>
        <p:nvSpPr>
          <p:cNvPr id="25" name="tag Word problems"/>
          <p:cNvSpPr/>
          <p:nvPr/>
        </p:nvSpPr>
        <p:spPr>
          <a:xfrm>
            <a:off x="9061704" y="2697480"/>
            <a:ext cx="2468880" cy="548640"/>
          </a:xfrm>
          <a:prstGeom prst="roundRect">
            <a:avLst>
              <a:gd name="adj" fmla="val 16667"/>
            </a:avLst>
          </a:prstGeom>
          <a:solidFill>
            <a:srgbClr val="FFFFFF"/>
          </a:solidFill>
          <a:ln w="12700">
            <a:solidFill>
              <a:srgbClr val="38761D"/>
            </a:solidFill>
            <a:prstDash val="solid"/>
          </a:ln>
        </p:spPr>
      </p:sp>
      <p:sp>
        <p:nvSpPr>
          <p:cNvPr id="26" name="Text 20"/>
          <p:cNvSpPr txBox="1"/>
          <p:nvPr/>
        </p:nvSpPr>
        <p:spPr>
          <a:xfrm>
            <a:off x="9107424" y="2697480"/>
            <a:ext cx="2377440" cy="548640"/>
          </a:xfrm>
          <a:prstGeom prst="rect">
            <a:avLst/>
          </a:prstGeom>
          <a:noFill/>
          <a:ln/>
        </p:spPr>
        <p:txBody>
          <a:bodyPr wrap="square" lIns="0" tIns="0" rIns="0" bIns="0" rtlCol="0" anchor="ctr"/>
          <a:lstStyle/>
          <a:p>
            <a:pPr algn="ctr" indent="0" marL="0">
              <a:buNone/>
            </a:pPr>
            <a:r>
              <a:rPr lang="en-US" sz="1300" b="1" dirty="0">
                <a:solidFill>
                  <a:srgbClr val="38761D"/>
                </a:solidFill>
              </a:rPr>
              <a:t>OR-course exercises (NL4OPT, NeurIPS 2022)</a:t>
            </a:r>
            <a:endParaRPr lang="en-US" sz="1300" dirty="0"/>
          </a:p>
        </p:txBody>
      </p:sp>
      <p:sp>
        <p:nvSpPr>
          <p:cNvPr id="27" name="Text 21"/>
          <p:cNvSpPr txBox="1"/>
          <p:nvPr/>
        </p:nvSpPr>
        <p:spPr>
          <a:xfrm>
            <a:off x="548640" y="3474720"/>
            <a:ext cx="11064240" cy="365760"/>
          </a:xfrm>
          <a:prstGeom prst="rect">
            <a:avLst/>
          </a:prstGeom>
          <a:noFill/>
          <a:ln/>
        </p:spPr>
        <p:txBody>
          <a:bodyPr wrap="square" lIns="0" tIns="0" rIns="0" bIns="0" rtlCol="0" anchor="ctr"/>
          <a:lstStyle/>
          <a:p>
            <a:pPr indent="0" marL="0">
              <a:buNone/>
            </a:pPr>
            <a:r>
              <a:rPr lang="en-US" sz="1500" b="1" dirty="0">
                <a:solidFill>
                  <a:schemeClr val="tx1"/>
                </a:solidFill>
              </a:rPr>
              <a:t>Our 311 contest problems by Codeforces rating, with the human rank at that level</a:t>
            </a:r>
            <a:endParaRPr lang="en-US" sz="1500" dirty="0"/>
          </a:p>
        </p:txBody>
      </p:sp>
      <p:sp>
        <p:nvSpPr>
          <p:cNvPr id="28" name="zone Newbie"/>
          <p:cNvSpPr/>
          <p:nvPr/>
        </p:nvSpPr>
        <p:spPr>
          <a:xfrm>
            <a:off x="914400" y="4983480"/>
            <a:ext cx="1489166" cy="347472"/>
          </a:xfrm>
          <a:prstGeom prst="rect">
            <a:avLst/>
          </a:prstGeom>
          <a:solidFill>
            <a:srgbClr val="E2F0D9"/>
          </a:solidFill>
          <a:ln w="12700">
            <a:solidFill>
              <a:srgbClr val="FFFFFF"/>
            </a:solidFill>
            <a:prstDash val="solid"/>
          </a:ln>
        </p:spPr>
      </p:sp>
      <p:sp>
        <p:nvSpPr>
          <p:cNvPr id="29" name="Text 23"/>
          <p:cNvSpPr txBox="1"/>
          <p:nvPr/>
        </p:nvSpPr>
        <p:spPr>
          <a:xfrm>
            <a:off x="914400" y="4983480"/>
            <a:ext cx="1489166" cy="347472"/>
          </a:xfrm>
          <a:prstGeom prst="rect">
            <a:avLst/>
          </a:prstGeom>
          <a:noFill/>
          <a:ln/>
        </p:spPr>
        <p:txBody>
          <a:bodyPr wrap="square" lIns="0" tIns="0" rIns="0" bIns="0" rtlCol="0" anchor="ctr"/>
          <a:lstStyle/>
          <a:p>
            <a:pPr algn="ctr" indent="0" marL="0">
              <a:buNone/>
            </a:pPr>
            <a:r>
              <a:rPr lang="en-US" sz="1300" b="1" dirty="0">
                <a:solidFill>
                  <a:schemeClr val="tx1"/>
                </a:solidFill>
              </a:rPr>
              <a:t>Newbie</a:t>
            </a:r>
            <a:endParaRPr lang="en-US" sz="1300" dirty="0"/>
          </a:p>
        </p:txBody>
      </p:sp>
      <p:sp>
        <p:nvSpPr>
          <p:cNvPr id="30" name="zone Pupil, Specialist"/>
          <p:cNvSpPr/>
          <p:nvPr/>
        </p:nvSpPr>
        <p:spPr>
          <a:xfrm>
            <a:off x="2403566" y="4983480"/>
            <a:ext cx="1489166" cy="347472"/>
          </a:xfrm>
          <a:prstGeom prst="rect">
            <a:avLst/>
          </a:prstGeom>
          <a:solidFill>
            <a:srgbClr val="FFF2CC"/>
          </a:solidFill>
          <a:ln w="12700">
            <a:solidFill>
              <a:srgbClr val="FFFFFF"/>
            </a:solidFill>
            <a:prstDash val="solid"/>
          </a:ln>
        </p:spPr>
      </p:sp>
      <p:sp>
        <p:nvSpPr>
          <p:cNvPr id="31" name="Text 25"/>
          <p:cNvSpPr txBox="1"/>
          <p:nvPr/>
        </p:nvSpPr>
        <p:spPr>
          <a:xfrm>
            <a:off x="2403566" y="4983480"/>
            <a:ext cx="1489166" cy="347472"/>
          </a:xfrm>
          <a:prstGeom prst="rect">
            <a:avLst/>
          </a:prstGeom>
          <a:noFill/>
          <a:ln/>
        </p:spPr>
        <p:txBody>
          <a:bodyPr wrap="square" lIns="0" tIns="0" rIns="0" bIns="0" rtlCol="0" anchor="ctr"/>
          <a:lstStyle/>
          <a:p>
            <a:pPr algn="ctr" indent="0" marL="0">
              <a:buNone/>
            </a:pPr>
            <a:r>
              <a:rPr lang="en-US" sz="1300" b="1" dirty="0">
                <a:solidFill>
                  <a:schemeClr val="tx1"/>
                </a:solidFill>
              </a:rPr>
              <a:t>Pupil, Specialist</a:t>
            </a:r>
            <a:endParaRPr lang="en-US" sz="1300" dirty="0"/>
          </a:p>
        </p:txBody>
      </p:sp>
      <p:sp>
        <p:nvSpPr>
          <p:cNvPr id="32" name="zone Expert, Cand. Master"/>
          <p:cNvSpPr/>
          <p:nvPr/>
        </p:nvSpPr>
        <p:spPr>
          <a:xfrm>
            <a:off x="3892731" y="4983480"/>
            <a:ext cx="1861457" cy="347472"/>
          </a:xfrm>
          <a:prstGeom prst="rect">
            <a:avLst/>
          </a:prstGeom>
          <a:solidFill>
            <a:srgbClr val="FCE4D6"/>
          </a:solidFill>
          <a:ln w="12700">
            <a:solidFill>
              <a:srgbClr val="FFFFFF"/>
            </a:solidFill>
            <a:prstDash val="solid"/>
          </a:ln>
        </p:spPr>
      </p:sp>
      <p:sp>
        <p:nvSpPr>
          <p:cNvPr id="33" name="Text 27"/>
          <p:cNvSpPr txBox="1"/>
          <p:nvPr/>
        </p:nvSpPr>
        <p:spPr>
          <a:xfrm>
            <a:off x="3892731" y="4983480"/>
            <a:ext cx="1861457" cy="347472"/>
          </a:xfrm>
          <a:prstGeom prst="rect">
            <a:avLst/>
          </a:prstGeom>
          <a:noFill/>
          <a:ln/>
        </p:spPr>
        <p:txBody>
          <a:bodyPr wrap="square" lIns="0" tIns="0" rIns="0" bIns="0" rtlCol="0" anchor="ctr"/>
          <a:lstStyle/>
          <a:p>
            <a:pPr algn="ctr" indent="0" marL="0">
              <a:buNone/>
            </a:pPr>
            <a:r>
              <a:rPr lang="en-US" sz="1300" b="1" dirty="0">
                <a:solidFill>
                  <a:schemeClr val="tx1"/>
                </a:solidFill>
              </a:rPr>
              <a:t>Expert, Cand. Master</a:t>
            </a:r>
            <a:endParaRPr lang="en-US" sz="1300" dirty="0"/>
          </a:p>
        </p:txBody>
      </p:sp>
      <p:sp>
        <p:nvSpPr>
          <p:cNvPr id="34" name="zone Master, Int. Master"/>
          <p:cNvSpPr/>
          <p:nvPr/>
        </p:nvSpPr>
        <p:spPr>
          <a:xfrm>
            <a:off x="5754189" y="4983480"/>
            <a:ext cx="1116874" cy="347472"/>
          </a:xfrm>
          <a:prstGeom prst="rect">
            <a:avLst/>
          </a:prstGeom>
          <a:solidFill>
            <a:srgbClr val="F8CBAD"/>
          </a:solidFill>
          <a:ln w="12700">
            <a:solidFill>
              <a:srgbClr val="FFFFFF"/>
            </a:solidFill>
            <a:prstDash val="solid"/>
          </a:ln>
        </p:spPr>
      </p:sp>
      <p:sp>
        <p:nvSpPr>
          <p:cNvPr id="35" name="Text 29"/>
          <p:cNvSpPr txBox="1"/>
          <p:nvPr/>
        </p:nvSpPr>
        <p:spPr>
          <a:xfrm>
            <a:off x="5754189" y="4983480"/>
            <a:ext cx="1116874" cy="347472"/>
          </a:xfrm>
          <a:prstGeom prst="rect">
            <a:avLst/>
          </a:prstGeom>
          <a:noFill/>
          <a:ln/>
        </p:spPr>
        <p:txBody>
          <a:bodyPr wrap="square" lIns="0" tIns="0" rIns="0" bIns="0" rtlCol="0" anchor="ctr"/>
          <a:lstStyle/>
          <a:p>
            <a:pPr algn="ctr" indent="0" marL="0">
              <a:buNone/>
            </a:pPr>
            <a:r>
              <a:rPr lang="en-US" sz="1300" b="1" dirty="0">
                <a:solidFill>
                  <a:schemeClr val="tx1"/>
                </a:solidFill>
              </a:rPr>
              <a:t>Master, Int. Master</a:t>
            </a:r>
            <a:endParaRPr lang="en-US" sz="1300" dirty="0"/>
          </a:p>
        </p:txBody>
      </p:sp>
      <p:sp>
        <p:nvSpPr>
          <p:cNvPr id="36" name="zone Grandmaster and above"/>
          <p:cNvSpPr/>
          <p:nvPr/>
        </p:nvSpPr>
        <p:spPr>
          <a:xfrm>
            <a:off x="6871063" y="4983480"/>
            <a:ext cx="4467497" cy="347472"/>
          </a:xfrm>
          <a:prstGeom prst="rect">
            <a:avLst/>
          </a:prstGeom>
          <a:solidFill>
            <a:srgbClr val="FADBD8"/>
          </a:solidFill>
          <a:ln w="12700">
            <a:solidFill>
              <a:srgbClr val="FFFFFF"/>
            </a:solidFill>
            <a:prstDash val="solid"/>
          </a:ln>
        </p:spPr>
      </p:sp>
      <p:sp>
        <p:nvSpPr>
          <p:cNvPr id="37" name="Text 31"/>
          <p:cNvSpPr txBox="1"/>
          <p:nvPr/>
        </p:nvSpPr>
        <p:spPr>
          <a:xfrm>
            <a:off x="6871063" y="4983480"/>
            <a:ext cx="4467497" cy="347472"/>
          </a:xfrm>
          <a:prstGeom prst="rect">
            <a:avLst/>
          </a:prstGeom>
          <a:noFill/>
          <a:ln/>
        </p:spPr>
        <p:txBody>
          <a:bodyPr wrap="square" lIns="0" tIns="0" rIns="0" bIns="0" rtlCol="0" anchor="ctr"/>
          <a:lstStyle/>
          <a:p>
            <a:pPr algn="ctr" indent="0" marL="0">
              <a:buNone/>
            </a:pPr>
            <a:r>
              <a:rPr lang="en-US" sz="1300" b="1" dirty="0">
                <a:solidFill>
                  <a:schemeClr val="tx1"/>
                </a:solidFill>
              </a:rPr>
              <a:t>Grandmaster and above</a:t>
            </a:r>
            <a:endParaRPr lang="en-US" sz="1300" dirty="0"/>
          </a:p>
        </p:txBody>
      </p:sp>
      <p:sp>
        <p:nvSpPr>
          <p:cNvPr id="38" name="rating 800"/>
          <p:cNvSpPr/>
          <p:nvPr/>
        </p:nvSpPr>
        <p:spPr>
          <a:xfrm>
            <a:off x="987552" y="4688183"/>
            <a:ext cx="1342862" cy="249577"/>
          </a:xfrm>
          <a:prstGeom prst="rect">
            <a:avLst/>
          </a:prstGeom>
          <a:solidFill>
            <a:srgbClr val="7F7F7F"/>
          </a:solidFill>
          <a:ln w="6350">
            <a:solidFill>
              <a:srgbClr val="FFFFFF"/>
            </a:solidFill>
            <a:prstDash val="solid"/>
          </a:ln>
        </p:spPr>
      </p:sp>
      <p:sp>
        <p:nvSpPr>
          <p:cNvPr id="39" name="Text 33"/>
          <p:cNvSpPr txBox="1"/>
          <p:nvPr/>
        </p:nvSpPr>
        <p:spPr>
          <a:xfrm>
            <a:off x="987552" y="4413863"/>
            <a:ext cx="1342862" cy="256032"/>
          </a:xfrm>
          <a:prstGeom prst="rect">
            <a:avLst/>
          </a:prstGeom>
          <a:noFill/>
          <a:ln/>
        </p:spPr>
        <p:txBody>
          <a:bodyPr wrap="square" lIns="0" tIns="0" rIns="0" bIns="0" rtlCol="0" anchor="ctr"/>
          <a:lstStyle/>
          <a:p>
            <a:pPr algn="ctr" indent="0" marL="0">
              <a:buNone/>
            </a:pPr>
            <a:r>
              <a:rPr lang="en-US" sz="1300" b="1" dirty="0">
                <a:solidFill>
                  <a:srgbClr val="404040"/>
                </a:solidFill>
              </a:rPr>
              <a:t>29</a:t>
            </a:r>
            <a:endParaRPr lang="en-US" sz="1300" dirty="0"/>
          </a:p>
        </p:txBody>
      </p:sp>
      <p:sp>
        <p:nvSpPr>
          <p:cNvPr id="40" name="Text 34"/>
          <p:cNvSpPr txBox="1"/>
          <p:nvPr/>
        </p:nvSpPr>
        <p:spPr>
          <a:xfrm>
            <a:off x="640080"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800</a:t>
            </a:r>
            <a:endParaRPr lang="en-US" sz="1100" dirty="0"/>
          </a:p>
        </p:txBody>
      </p:sp>
      <p:sp>
        <p:nvSpPr>
          <p:cNvPr id="41" name="rating 1200"/>
          <p:cNvSpPr/>
          <p:nvPr/>
        </p:nvSpPr>
        <p:spPr>
          <a:xfrm>
            <a:off x="2476718" y="4731213"/>
            <a:ext cx="1342862" cy="206547"/>
          </a:xfrm>
          <a:prstGeom prst="rect">
            <a:avLst/>
          </a:prstGeom>
          <a:solidFill>
            <a:srgbClr val="7F7F7F"/>
          </a:solidFill>
          <a:ln w="6350">
            <a:solidFill>
              <a:srgbClr val="FFFFFF"/>
            </a:solidFill>
            <a:prstDash val="solid"/>
          </a:ln>
        </p:spPr>
      </p:sp>
      <p:sp>
        <p:nvSpPr>
          <p:cNvPr id="42" name="Text 36"/>
          <p:cNvSpPr txBox="1"/>
          <p:nvPr/>
        </p:nvSpPr>
        <p:spPr>
          <a:xfrm>
            <a:off x="2476718" y="4456893"/>
            <a:ext cx="1342862" cy="256032"/>
          </a:xfrm>
          <a:prstGeom prst="rect">
            <a:avLst/>
          </a:prstGeom>
          <a:noFill/>
          <a:ln/>
        </p:spPr>
        <p:txBody>
          <a:bodyPr wrap="square" lIns="0" tIns="0" rIns="0" bIns="0" rtlCol="0" anchor="ctr"/>
          <a:lstStyle/>
          <a:p>
            <a:pPr algn="ctr" indent="0" marL="0">
              <a:buNone/>
            </a:pPr>
            <a:r>
              <a:rPr lang="en-US" sz="1300" b="1" dirty="0">
                <a:solidFill>
                  <a:srgbClr val="404040"/>
                </a:solidFill>
              </a:rPr>
              <a:t>24</a:t>
            </a:r>
            <a:endParaRPr lang="en-US" sz="1300" dirty="0"/>
          </a:p>
        </p:txBody>
      </p:sp>
      <p:sp>
        <p:nvSpPr>
          <p:cNvPr id="43" name="Text 37"/>
          <p:cNvSpPr txBox="1"/>
          <p:nvPr/>
        </p:nvSpPr>
        <p:spPr>
          <a:xfrm>
            <a:off x="2129246"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1200</a:t>
            </a:r>
            <a:endParaRPr lang="en-US" sz="1100" dirty="0"/>
          </a:p>
        </p:txBody>
      </p:sp>
      <p:sp>
        <p:nvSpPr>
          <p:cNvPr id="44" name="rating 1600"/>
          <p:cNvSpPr/>
          <p:nvPr/>
        </p:nvSpPr>
        <p:spPr>
          <a:xfrm>
            <a:off x="3965883" y="4429999"/>
            <a:ext cx="1342862" cy="507761"/>
          </a:xfrm>
          <a:prstGeom prst="rect">
            <a:avLst/>
          </a:prstGeom>
          <a:solidFill>
            <a:srgbClr val="7F7F7F"/>
          </a:solidFill>
          <a:ln w="6350">
            <a:solidFill>
              <a:srgbClr val="FFFFFF"/>
            </a:solidFill>
            <a:prstDash val="solid"/>
          </a:ln>
        </p:spPr>
      </p:sp>
      <p:sp>
        <p:nvSpPr>
          <p:cNvPr id="45" name="Text 39"/>
          <p:cNvSpPr txBox="1"/>
          <p:nvPr/>
        </p:nvSpPr>
        <p:spPr>
          <a:xfrm>
            <a:off x="3965883" y="4155679"/>
            <a:ext cx="1342862" cy="256032"/>
          </a:xfrm>
          <a:prstGeom prst="rect">
            <a:avLst/>
          </a:prstGeom>
          <a:noFill/>
          <a:ln/>
        </p:spPr>
        <p:txBody>
          <a:bodyPr wrap="square" lIns="0" tIns="0" rIns="0" bIns="0" rtlCol="0" anchor="ctr"/>
          <a:lstStyle/>
          <a:p>
            <a:pPr algn="ctr" indent="0" marL="0">
              <a:buNone/>
            </a:pPr>
            <a:r>
              <a:rPr lang="en-US" sz="1300" b="1" dirty="0">
                <a:solidFill>
                  <a:srgbClr val="404040"/>
                </a:solidFill>
              </a:rPr>
              <a:t>59</a:t>
            </a:r>
            <a:endParaRPr lang="en-US" sz="1300" dirty="0"/>
          </a:p>
        </p:txBody>
      </p:sp>
      <p:sp>
        <p:nvSpPr>
          <p:cNvPr id="46" name="Text 40"/>
          <p:cNvSpPr txBox="1"/>
          <p:nvPr/>
        </p:nvSpPr>
        <p:spPr>
          <a:xfrm>
            <a:off x="3618411"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1600</a:t>
            </a:r>
            <a:endParaRPr lang="en-US" sz="1100" dirty="0"/>
          </a:p>
        </p:txBody>
      </p:sp>
      <p:sp>
        <p:nvSpPr>
          <p:cNvPr id="47" name="rating 2000"/>
          <p:cNvSpPr/>
          <p:nvPr/>
        </p:nvSpPr>
        <p:spPr>
          <a:xfrm>
            <a:off x="5455049" y="4481636"/>
            <a:ext cx="1342862" cy="456124"/>
          </a:xfrm>
          <a:prstGeom prst="rect">
            <a:avLst/>
          </a:prstGeom>
          <a:solidFill>
            <a:srgbClr val="7F7F7F"/>
          </a:solidFill>
          <a:ln w="6350">
            <a:solidFill>
              <a:srgbClr val="FFFFFF"/>
            </a:solidFill>
            <a:prstDash val="solid"/>
          </a:ln>
        </p:spPr>
      </p:sp>
      <p:sp>
        <p:nvSpPr>
          <p:cNvPr id="48" name="Text 42"/>
          <p:cNvSpPr txBox="1"/>
          <p:nvPr/>
        </p:nvSpPr>
        <p:spPr>
          <a:xfrm>
            <a:off x="5455049" y="4207316"/>
            <a:ext cx="1342862" cy="256032"/>
          </a:xfrm>
          <a:prstGeom prst="rect">
            <a:avLst/>
          </a:prstGeom>
          <a:noFill/>
          <a:ln/>
        </p:spPr>
        <p:txBody>
          <a:bodyPr wrap="square" lIns="0" tIns="0" rIns="0" bIns="0" rtlCol="0" anchor="ctr"/>
          <a:lstStyle/>
          <a:p>
            <a:pPr algn="ctr" indent="0" marL="0">
              <a:buNone/>
            </a:pPr>
            <a:r>
              <a:rPr lang="en-US" sz="1300" b="1" dirty="0">
                <a:solidFill>
                  <a:srgbClr val="404040"/>
                </a:solidFill>
              </a:rPr>
              <a:t>53</a:t>
            </a:r>
            <a:endParaRPr lang="en-US" sz="1300" dirty="0"/>
          </a:p>
        </p:txBody>
      </p:sp>
      <p:sp>
        <p:nvSpPr>
          <p:cNvPr id="49" name="Text 43"/>
          <p:cNvSpPr txBox="1"/>
          <p:nvPr/>
        </p:nvSpPr>
        <p:spPr>
          <a:xfrm>
            <a:off x="5107577"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2000</a:t>
            </a:r>
            <a:endParaRPr lang="en-US" sz="1100" dirty="0"/>
          </a:p>
        </p:txBody>
      </p:sp>
      <p:sp>
        <p:nvSpPr>
          <p:cNvPr id="50" name="rating 2400"/>
          <p:cNvSpPr/>
          <p:nvPr/>
        </p:nvSpPr>
        <p:spPr>
          <a:xfrm>
            <a:off x="6944215" y="4206240"/>
            <a:ext cx="1342862" cy="731520"/>
          </a:xfrm>
          <a:prstGeom prst="rect">
            <a:avLst/>
          </a:prstGeom>
          <a:solidFill>
            <a:srgbClr val="C00000"/>
          </a:solidFill>
          <a:ln w="6350">
            <a:solidFill>
              <a:srgbClr val="FFFFFF"/>
            </a:solidFill>
            <a:prstDash val="solid"/>
          </a:ln>
        </p:spPr>
      </p:sp>
      <p:sp>
        <p:nvSpPr>
          <p:cNvPr id="51" name="Text 45"/>
          <p:cNvSpPr txBox="1"/>
          <p:nvPr/>
        </p:nvSpPr>
        <p:spPr>
          <a:xfrm>
            <a:off x="6944215" y="3931920"/>
            <a:ext cx="1342862" cy="256032"/>
          </a:xfrm>
          <a:prstGeom prst="rect">
            <a:avLst/>
          </a:prstGeom>
          <a:noFill/>
          <a:ln/>
        </p:spPr>
        <p:txBody>
          <a:bodyPr wrap="square" lIns="0" tIns="0" rIns="0" bIns="0" rtlCol="0" anchor="ctr"/>
          <a:lstStyle/>
          <a:p>
            <a:pPr algn="ctr" indent="0" marL="0">
              <a:buNone/>
            </a:pPr>
            <a:r>
              <a:rPr lang="en-US" sz="1300" b="1" dirty="0">
                <a:solidFill>
                  <a:srgbClr val="C00000"/>
                </a:solidFill>
              </a:rPr>
              <a:t>85</a:t>
            </a:r>
            <a:endParaRPr lang="en-US" sz="1300" dirty="0"/>
          </a:p>
        </p:txBody>
      </p:sp>
      <p:sp>
        <p:nvSpPr>
          <p:cNvPr id="52" name="Text 46"/>
          <p:cNvSpPr txBox="1"/>
          <p:nvPr/>
        </p:nvSpPr>
        <p:spPr>
          <a:xfrm>
            <a:off x="6596743"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2400</a:t>
            </a:r>
            <a:endParaRPr lang="en-US" sz="1100" dirty="0"/>
          </a:p>
        </p:txBody>
      </p:sp>
      <p:sp>
        <p:nvSpPr>
          <p:cNvPr id="53" name="rating 2800"/>
          <p:cNvSpPr/>
          <p:nvPr/>
        </p:nvSpPr>
        <p:spPr>
          <a:xfrm>
            <a:off x="8433381" y="4593515"/>
            <a:ext cx="1342862" cy="344245"/>
          </a:xfrm>
          <a:prstGeom prst="rect">
            <a:avLst/>
          </a:prstGeom>
          <a:solidFill>
            <a:srgbClr val="C00000"/>
          </a:solidFill>
          <a:ln w="6350">
            <a:solidFill>
              <a:srgbClr val="FFFFFF"/>
            </a:solidFill>
            <a:prstDash val="solid"/>
          </a:ln>
        </p:spPr>
      </p:sp>
      <p:sp>
        <p:nvSpPr>
          <p:cNvPr id="54" name="Text 48"/>
          <p:cNvSpPr txBox="1"/>
          <p:nvPr/>
        </p:nvSpPr>
        <p:spPr>
          <a:xfrm>
            <a:off x="8433381" y="4319195"/>
            <a:ext cx="1342862" cy="256032"/>
          </a:xfrm>
          <a:prstGeom prst="rect">
            <a:avLst/>
          </a:prstGeom>
          <a:noFill/>
          <a:ln/>
        </p:spPr>
        <p:txBody>
          <a:bodyPr wrap="square" lIns="0" tIns="0" rIns="0" bIns="0" rtlCol="0" anchor="ctr"/>
          <a:lstStyle/>
          <a:p>
            <a:pPr algn="ctr" indent="0" marL="0">
              <a:buNone/>
            </a:pPr>
            <a:r>
              <a:rPr lang="en-US" sz="1300" b="1" dirty="0">
                <a:solidFill>
                  <a:srgbClr val="C00000"/>
                </a:solidFill>
              </a:rPr>
              <a:t>40</a:t>
            </a:r>
            <a:endParaRPr lang="en-US" sz="1300" dirty="0"/>
          </a:p>
        </p:txBody>
      </p:sp>
      <p:sp>
        <p:nvSpPr>
          <p:cNvPr id="55" name="Text 49"/>
          <p:cNvSpPr txBox="1"/>
          <p:nvPr/>
        </p:nvSpPr>
        <p:spPr>
          <a:xfrm>
            <a:off x="8085909"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2800</a:t>
            </a:r>
            <a:endParaRPr lang="en-US" sz="1100" dirty="0"/>
          </a:p>
        </p:txBody>
      </p:sp>
      <p:sp>
        <p:nvSpPr>
          <p:cNvPr id="56" name="rating 3200"/>
          <p:cNvSpPr/>
          <p:nvPr/>
        </p:nvSpPr>
        <p:spPr>
          <a:xfrm>
            <a:off x="9922546" y="4791456"/>
            <a:ext cx="1342862" cy="146304"/>
          </a:xfrm>
          <a:prstGeom prst="rect">
            <a:avLst/>
          </a:prstGeom>
          <a:solidFill>
            <a:srgbClr val="C00000"/>
          </a:solidFill>
          <a:ln w="6350">
            <a:solidFill>
              <a:srgbClr val="FFFFFF"/>
            </a:solidFill>
            <a:prstDash val="solid"/>
          </a:ln>
        </p:spPr>
      </p:sp>
      <p:sp>
        <p:nvSpPr>
          <p:cNvPr id="57" name="Text 51"/>
          <p:cNvSpPr txBox="1"/>
          <p:nvPr/>
        </p:nvSpPr>
        <p:spPr>
          <a:xfrm>
            <a:off x="9922546" y="4517136"/>
            <a:ext cx="1342862" cy="256032"/>
          </a:xfrm>
          <a:prstGeom prst="rect">
            <a:avLst/>
          </a:prstGeom>
          <a:noFill/>
          <a:ln/>
        </p:spPr>
        <p:txBody>
          <a:bodyPr wrap="square" lIns="0" tIns="0" rIns="0" bIns="0" rtlCol="0" anchor="ctr"/>
          <a:lstStyle/>
          <a:p>
            <a:pPr algn="ctr" indent="0" marL="0">
              <a:buNone/>
            </a:pPr>
            <a:r>
              <a:rPr lang="en-US" sz="1300" b="1" dirty="0">
                <a:solidFill>
                  <a:srgbClr val="C00000"/>
                </a:solidFill>
              </a:rPr>
              <a:t>17</a:t>
            </a:r>
            <a:endParaRPr lang="en-US" sz="1300" dirty="0"/>
          </a:p>
        </p:txBody>
      </p:sp>
      <p:sp>
        <p:nvSpPr>
          <p:cNvPr id="58" name="Text 52"/>
          <p:cNvSpPr txBox="1"/>
          <p:nvPr/>
        </p:nvSpPr>
        <p:spPr>
          <a:xfrm>
            <a:off x="9575074"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3200</a:t>
            </a:r>
            <a:endParaRPr lang="en-US" sz="1100" dirty="0"/>
          </a:p>
        </p:txBody>
      </p:sp>
      <p:sp>
        <p:nvSpPr>
          <p:cNvPr id="59" name="Text 53"/>
          <p:cNvSpPr txBox="1"/>
          <p:nvPr/>
        </p:nvSpPr>
        <p:spPr>
          <a:xfrm>
            <a:off x="11064240" y="5349240"/>
            <a:ext cx="548640" cy="228600"/>
          </a:xfrm>
          <a:prstGeom prst="rect">
            <a:avLst/>
          </a:prstGeom>
          <a:noFill/>
          <a:ln/>
        </p:spPr>
        <p:txBody>
          <a:bodyPr wrap="square" lIns="0" tIns="0" rIns="0" bIns="0" rtlCol="0" anchor="ctr"/>
          <a:lstStyle/>
          <a:p>
            <a:pPr algn="ctr" indent="0" marL="0">
              <a:buNone/>
            </a:pPr>
            <a:r>
              <a:rPr lang="en-US" sz="1100" dirty="0">
                <a:solidFill>
                  <a:schemeClr val="tx2"/>
                </a:solidFill>
              </a:rPr>
              <a:t>3600</a:t>
            </a:r>
            <a:endParaRPr lang="en-US" sz="1100" dirty="0"/>
          </a:p>
        </p:txBody>
      </p:sp>
      <p:sp>
        <p:nvSpPr>
          <p:cNvPr id="60" name="Text 54"/>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Median 2200 = Master; 46% at Grandmaster level, where even gpt-oss-120b solves only 48%</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two versions catch each other's mistakes</a:t>
            </a:r>
            <a:endParaRPr lang="en-US" sz="36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800" dirty="0">
                <a:solidFill>
                  <a:schemeClr val="tx1"/>
                </a:solidFill>
              </a:rPr>
              <a:t>Extra tools can mislead the model. Write the program with and without them, and compare:</a:t>
            </a:r>
            <a:endParaRPr lang="en-US" sz="1800" dirty="0"/>
          </a:p>
        </p:txBody>
      </p:sp>
      <p:pic>
        <p:nvPicPr>
          <p:cNvPr id="4" name="ten points and their hull" descr="10 points; the rubber band touches 6 of them">    </p:cNvPr>
          <p:cNvPicPr>
            <a:picLocks noChangeAspect="1"/>
          </p:cNvPicPr>
          <p:nvPr/>
        </p:nvPicPr>
        <p:blipFill>
          <a:blip r:embed="rId1"/>
          <a:stretch>
            <a:fillRect/>
          </a:stretch>
        </p:blipFill>
        <p:spPr>
          <a:xfrm>
            <a:off x="685800" y="1783080"/>
            <a:ext cx="1874520" cy="1874520"/>
          </a:xfrm>
          <a:prstGeom prst="rect">
            <a:avLst/>
          </a:prstGeom>
        </p:spPr>
      </p:pic>
      <p:sp>
        <p:nvSpPr>
          <p:cNvPr id="5" name="Text 2"/>
          <p:cNvSpPr txBox="1"/>
          <p:nvPr/>
        </p:nvSpPr>
        <p:spPr>
          <a:xfrm>
            <a:off x="365760" y="3657600"/>
            <a:ext cx="2514600" cy="365760"/>
          </a:xfrm>
          <a:prstGeom prst="rect">
            <a:avLst/>
          </a:prstGeom>
          <a:noFill/>
          <a:ln/>
        </p:spPr>
        <p:txBody>
          <a:bodyPr wrap="square" lIns="0" tIns="0" rIns="0" bIns="0" rtlCol="0" anchor="ctr"/>
          <a:lstStyle/>
          <a:p>
            <a:pPr algn="ctr" indent="0" marL="0">
              <a:buNone/>
            </a:pPr>
            <a:r>
              <a:rPr lang="en-US" sz="1200" b="1" dirty="0">
                <a:solidFill>
                  <a:srgbClr val="70AD47"/>
                </a:solidFill>
              </a:rPr>
              <a:t>rubber band around 10 points: 6 corners</a:t>
            </a:r>
            <a:endParaRPr lang="en-US" sz="1200" dirty="0"/>
          </a:p>
        </p:txBody>
      </p:sp>
      <p:sp>
        <p:nvSpPr>
          <p:cNvPr id="6" name="prompt Prompt A: only the task"/>
          <p:cNvSpPr/>
          <p:nvPr/>
        </p:nvSpPr>
        <p:spPr>
          <a:xfrm>
            <a:off x="3246120" y="1783080"/>
            <a:ext cx="3749040" cy="914400"/>
          </a:xfrm>
          <a:prstGeom prst="rect">
            <a:avLst/>
          </a:prstGeom>
          <a:solidFill>
            <a:srgbClr val="FFFFFF"/>
          </a:solidFill>
          <a:ln w="9525">
            <a:solidFill>
              <a:srgbClr val="BFBFBF"/>
            </a:solidFill>
            <a:prstDash val="solid"/>
          </a:ln>
        </p:spPr>
      </p:sp>
      <p:sp>
        <p:nvSpPr>
          <p:cNvPr id="7" name="Text 4"/>
          <p:cNvSpPr txBox="1"/>
          <p:nvPr/>
        </p:nvSpPr>
        <p:spPr>
          <a:xfrm>
            <a:off x="3355848" y="1837944"/>
            <a:ext cx="3529584" cy="80467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Prompt A: only the task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Points: (20,-40) (-26,-18) ...</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How many corners does the rubber</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band have? Write a Python program.</a:t>
            </a:r>
            <a:endParaRPr lang="en-US" sz="1150" dirty="0"/>
          </a:p>
        </p:txBody>
      </p:sp>
      <p:sp>
        <p:nvSpPr>
          <p:cNvPr id="8" name="Shape 5"/>
          <p:cNvSpPr/>
          <p:nvPr/>
        </p:nvSpPr>
        <p:spPr>
          <a:xfrm>
            <a:off x="6995160" y="2240280"/>
            <a:ext cx="411480" cy="0"/>
          </a:xfrm>
          <a:prstGeom prst="line">
            <a:avLst/>
          </a:prstGeom>
          <a:noFill/>
          <a:ln w="25400">
            <a:solidFill>
              <a:srgbClr val="7F7F7F"/>
            </a:solidFill>
            <a:prstDash val="solid"/>
            <a:tailEnd type="triangle"/>
          </a:ln>
        </p:spPr>
      </p:sp>
      <p:sp>
        <p:nvSpPr>
          <p:cNvPr id="9" name="answer 6 ✓"/>
          <p:cNvSpPr/>
          <p:nvPr/>
        </p:nvSpPr>
        <p:spPr>
          <a:xfrm>
            <a:off x="7452360" y="1965960"/>
            <a:ext cx="1554480" cy="548640"/>
          </a:xfrm>
          <a:prstGeom prst="roundRect">
            <a:avLst>
              <a:gd name="adj" fmla="val 16667"/>
            </a:avLst>
          </a:prstGeom>
          <a:solidFill>
            <a:srgbClr val="E2F0D9"/>
          </a:solidFill>
          <a:ln w="12700">
            <a:solidFill>
              <a:srgbClr val="70AD47"/>
            </a:solidFill>
            <a:prstDash val="solid"/>
          </a:ln>
        </p:spPr>
      </p:sp>
      <p:sp>
        <p:nvSpPr>
          <p:cNvPr id="10" name="Text 7"/>
          <p:cNvSpPr txBox="1"/>
          <p:nvPr/>
        </p:nvSpPr>
        <p:spPr>
          <a:xfrm>
            <a:off x="7452360" y="1965960"/>
            <a:ext cx="1554480" cy="548640"/>
          </a:xfrm>
          <a:prstGeom prst="rect">
            <a:avLst/>
          </a:prstGeom>
          <a:noFill/>
          <a:ln/>
        </p:spPr>
        <p:txBody>
          <a:bodyPr wrap="square" lIns="0" tIns="0" rIns="0" bIns="0" rtlCol="0" anchor="ctr"/>
          <a:lstStyle/>
          <a:p>
            <a:pPr algn="ctr" indent="0" marL="0">
              <a:buNone/>
            </a:pPr>
            <a:r>
              <a:rPr lang="en-US" sz="2200" b="1" dirty="0">
                <a:solidFill>
                  <a:srgbClr val="38761D"/>
                </a:solidFill>
              </a:rPr>
              <a:t>6 ✓</a:t>
            </a:r>
            <a:endParaRPr lang="en-US" sz="2200" dirty="0"/>
          </a:p>
        </p:txBody>
      </p:sp>
      <p:sp>
        <p:nvSpPr>
          <p:cNvPr id="11" name="prompt Prompt B: the task + 8 helpers"/>
          <p:cNvSpPr/>
          <p:nvPr/>
        </p:nvSpPr>
        <p:spPr>
          <a:xfrm>
            <a:off x="3246120" y="2834640"/>
            <a:ext cx="3749040" cy="1261872"/>
          </a:xfrm>
          <a:prstGeom prst="rect">
            <a:avLst/>
          </a:prstGeom>
          <a:solidFill>
            <a:srgbClr val="FCE4D6"/>
          </a:solidFill>
          <a:ln w="9525">
            <a:solidFill>
              <a:srgbClr val="BFBFBF"/>
            </a:solidFill>
            <a:prstDash val="solid"/>
          </a:ln>
        </p:spPr>
      </p:sp>
      <p:sp>
        <p:nvSpPr>
          <p:cNvPr id="12" name="Text 9"/>
          <p:cNvSpPr txBox="1"/>
          <p:nvPr/>
        </p:nvSpPr>
        <p:spPr>
          <a:xfrm>
            <a:off x="3355848" y="2889504"/>
            <a:ext cx="3529584" cy="1152144"/>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Prompt B: the task + 8 helpers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...same task...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You may use these helpers:</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orient(a, b, c)    # side of a line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polar_sort(pts, o) # sort by angle</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 and 6 more</a:t>
            </a:r>
            <a:endParaRPr lang="en-US" sz="1150" dirty="0"/>
          </a:p>
        </p:txBody>
      </p:sp>
      <p:sp>
        <p:nvSpPr>
          <p:cNvPr id="13" name="Shape 10"/>
          <p:cNvSpPr/>
          <p:nvPr/>
        </p:nvSpPr>
        <p:spPr>
          <a:xfrm>
            <a:off x="6995160" y="3401568"/>
            <a:ext cx="411480" cy="0"/>
          </a:xfrm>
          <a:prstGeom prst="line">
            <a:avLst/>
          </a:prstGeom>
          <a:noFill/>
          <a:ln w="25400">
            <a:solidFill>
              <a:srgbClr val="7F7F7F"/>
            </a:solidFill>
            <a:prstDash val="solid"/>
            <a:tailEnd type="triangle"/>
          </a:ln>
        </p:spPr>
      </p:sp>
      <p:sp>
        <p:nvSpPr>
          <p:cNvPr id="14" name="answer 0 ✗"/>
          <p:cNvSpPr/>
          <p:nvPr/>
        </p:nvSpPr>
        <p:spPr>
          <a:xfrm>
            <a:off x="7452360" y="3127248"/>
            <a:ext cx="1554480" cy="548640"/>
          </a:xfrm>
          <a:prstGeom prst="roundRect">
            <a:avLst>
              <a:gd name="adj" fmla="val 16667"/>
            </a:avLst>
          </a:prstGeom>
          <a:solidFill>
            <a:srgbClr val="FADBD8"/>
          </a:solidFill>
          <a:ln w="12700">
            <a:solidFill>
              <a:srgbClr val="C00000"/>
            </a:solidFill>
            <a:prstDash val="solid"/>
          </a:ln>
        </p:spPr>
      </p:sp>
      <p:sp>
        <p:nvSpPr>
          <p:cNvPr id="15" name="Text 12"/>
          <p:cNvSpPr txBox="1"/>
          <p:nvPr/>
        </p:nvSpPr>
        <p:spPr>
          <a:xfrm>
            <a:off x="7452360" y="3127248"/>
            <a:ext cx="1554480" cy="548640"/>
          </a:xfrm>
          <a:prstGeom prst="rect">
            <a:avLst/>
          </a:prstGeom>
          <a:noFill/>
          <a:ln/>
        </p:spPr>
        <p:txBody>
          <a:bodyPr wrap="square" lIns="0" tIns="0" rIns="0" bIns="0" rtlCol="0" anchor="ctr"/>
          <a:lstStyle/>
          <a:p>
            <a:pPr algn="ctr" indent="0" marL="0">
              <a:buNone/>
            </a:pPr>
            <a:r>
              <a:rPr lang="en-US" sz="2200" b="1" dirty="0">
                <a:solidFill>
                  <a:srgbClr val="C00000"/>
                </a:solidFill>
              </a:rPr>
              <a:t>0 ✗</a:t>
            </a:r>
            <a:endParaRPr lang="en-US" sz="2200" dirty="0"/>
          </a:p>
        </p:txBody>
      </p:sp>
      <p:sp>
        <p:nvSpPr>
          <p:cNvPr id="16" name="Text 13"/>
          <p:cNvSpPr txBox="1"/>
          <p:nvPr/>
        </p:nvSpPr>
        <p:spPr>
          <a:xfrm>
            <a:off x="7315200" y="3703320"/>
            <a:ext cx="2011680" cy="320040"/>
          </a:xfrm>
          <a:prstGeom prst="rect">
            <a:avLst/>
          </a:prstGeom>
          <a:noFill/>
          <a:ln/>
        </p:spPr>
        <p:txBody>
          <a:bodyPr wrap="square" lIns="0" tIns="0" rIns="0" bIns="0" rtlCol="0" anchor="ctr"/>
          <a:lstStyle/>
          <a:p>
            <a:pPr algn="ctr" indent="0" marL="0">
              <a:buNone/>
            </a:pPr>
            <a:r>
              <a:rPr lang="en-US" sz="1200" dirty="0">
                <a:solidFill>
                  <a:schemeClr val="tx2"/>
                </a:solidFill>
              </a:rPr>
              <a:t>used polar_sort: wrong method</a:t>
            </a:r>
            <a:endParaRPr lang="en-US" sz="1200" dirty="0"/>
          </a:p>
        </p:txBody>
      </p:sp>
      <p:sp>
        <p:nvSpPr>
          <p:cNvPr id="17" name="Shape 14"/>
          <p:cNvSpPr/>
          <p:nvPr/>
        </p:nvSpPr>
        <p:spPr>
          <a:xfrm>
            <a:off x="9052560" y="2240280"/>
            <a:ext cx="411480" cy="411480"/>
          </a:xfrm>
          <a:prstGeom prst="line">
            <a:avLst/>
          </a:prstGeom>
          <a:noFill/>
          <a:ln w="25400">
            <a:solidFill>
              <a:srgbClr val="7F7F7F"/>
            </a:solidFill>
            <a:prstDash val="solid"/>
            <a:tailEnd type="triangle"/>
          </a:ln>
        </p:spPr>
      </p:sp>
      <p:sp>
        <p:nvSpPr>
          <p:cNvPr id="18" name="Shape 15"/>
          <p:cNvSpPr/>
          <p:nvPr/>
        </p:nvSpPr>
        <p:spPr>
          <a:xfrm flipV="1">
            <a:off x="9052560" y="3017520"/>
            <a:ext cx="411480" cy="384048"/>
          </a:xfrm>
          <a:prstGeom prst="line">
            <a:avLst/>
          </a:prstGeom>
          <a:noFill/>
          <a:ln w="25400">
            <a:solidFill>
              <a:srgbClr val="7F7F7F"/>
            </a:solidFill>
            <a:prstDash val="solid"/>
            <a:tailEnd type="triangle"/>
          </a:ln>
        </p:spPr>
      </p:sp>
      <p:sp>
        <p:nvSpPr>
          <p:cNvPr id="19" name="box answers differ → thi"/>
          <p:cNvSpPr/>
          <p:nvPr/>
        </p:nvSpPr>
        <p:spPr>
          <a:xfrm>
            <a:off x="9464040" y="2240280"/>
            <a:ext cx="2148840" cy="1188720"/>
          </a:xfrm>
          <a:prstGeom prst="roundRect">
            <a:avLst>
              <a:gd name="adj" fmla="val 4615"/>
            </a:avLst>
          </a:prstGeom>
          <a:solidFill>
            <a:srgbClr val="DEEBF7"/>
          </a:solidFill>
          <a:ln w="9525">
            <a:solidFill>
              <a:srgbClr val="BFBFBF"/>
            </a:solidFill>
            <a:prstDash val="solid"/>
          </a:ln>
        </p:spPr>
      </p:sp>
      <p:sp>
        <p:nvSpPr>
          <p:cNvPr id="20" name="Text 17"/>
          <p:cNvSpPr txBox="1"/>
          <p:nvPr/>
        </p:nvSpPr>
        <p:spPr>
          <a:xfrm>
            <a:off x="9537192" y="2240280"/>
            <a:ext cx="2002536" cy="1188720"/>
          </a:xfrm>
          <a:prstGeom prst="rect">
            <a:avLst/>
          </a:prstGeom>
          <a:noFill/>
          <a:ln/>
        </p:spPr>
        <p:txBody>
          <a:bodyPr wrap="square" lIns="0" tIns="0" rIns="0" bIns="0" rtlCol="0" anchor="ctr"/>
          <a:lstStyle/>
          <a:p>
            <a:pPr algn="ctr" indent="0" marL="0">
              <a:buNone/>
            </a:pPr>
            <a:r>
              <a:rPr lang="en-US" sz="1500" dirty="0">
                <a:solidFill>
                  <a:schemeClr val="tx1"/>
                </a:solidFill>
              </a:rPr>
              <a:t>answers differ → think it through → 6 ✓</a:t>
            </a:r>
            <a:endParaRPr lang="en-US" sz="1500" dirty="0"/>
          </a:p>
        </p:txBody>
      </p:sp>
      <p:sp>
        <p:nvSpPr>
          <p:cNvPr id="21" name="Text 18"/>
          <p:cNvSpPr txBox="1"/>
          <p:nvPr/>
        </p:nvSpPr>
        <p:spPr>
          <a:xfrm>
            <a:off x="548640" y="4206240"/>
            <a:ext cx="11064240" cy="365760"/>
          </a:xfrm>
          <a:prstGeom prst="rect">
            <a:avLst/>
          </a:prstGeom>
          <a:noFill/>
          <a:ln/>
        </p:spPr>
        <p:txBody>
          <a:bodyPr wrap="square" lIns="0" tIns="0" rIns="0" bIns="0" rtlCol="0" anchor="ctr"/>
          <a:lstStyle/>
          <a:p>
            <a:pPr indent="0" marL="0">
              <a:buNone/>
            </a:pPr>
            <a:r>
              <a:rPr lang="en-US" sz="1700" b="1" dirty="0">
                <a:solidFill>
                  <a:schemeClr val="tx1"/>
                </a:solidFill>
              </a:rPr>
              <a:t>Over 108 geometry problems (Qwen3-32B, 3 runs): how often the answer is right, and tokens per problem</a:t>
            </a:r>
            <a:endParaRPr lang="en-US" sz="1700" dirty="0"/>
          </a:p>
        </p:txBody>
      </p:sp>
      <p:sp>
        <p:nvSpPr>
          <p:cNvPr id="22" name="Text 19"/>
          <p:cNvSpPr txBox="1"/>
          <p:nvPr/>
        </p:nvSpPr>
        <p:spPr>
          <a:xfrm>
            <a:off x="548640" y="457200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Always Prompt B (+ helpers)</a:t>
            </a:r>
            <a:endParaRPr lang="en-US" sz="1600" dirty="0"/>
          </a:p>
        </p:txBody>
      </p:sp>
      <p:sp>
        <p:nvSpPr>
          <p:cNvPr id="23" name="bar Always Prompt B (+ helpers)"/>
          <p:cNvSpPr/>
          <p:nvPr/>
        </p:nvSpPr>
        <p:spPr>
          <a:xfrm>
            <a:off x="4434840" y="4626864"/>
            <a:ext cx="3183026" cy="182880"/>
          </a:xfrm>
          <a:prstGeom prst="rect">
            <a:avLst/>
          </a:prstGeom>
          <a:solidFill>
            <a:srgbClr val="C00000"/>
          </a:solidFill>
          <a:ln w="6350">
            <a:solidFill>
              <a:srgbClr val="C00000"/>
            </a:solidFill>
            <a:prstDash val="solid"/>
          </a:ln>
        </p:spPr>
      </p:sp>
      <p:sp>
        <p:nvSpPr>
          <p:cNvPr id="24" name="Text 21"/>
          <p:cNvSpPr txBox="1"/>
          <p:nvPr/>
        </p:nvSpPr>
        <p:spPr>
          <a:xfrm>
            <a:off x="7709306" y="4572000"/>
            <a:ext cx="1737360" cy="292608"/>
          </a:xfrm>
          <a:prstGeom prst="rect">
            <a:avLst/>
          </a:prstGeom>
          <a:noFill/>
          <a:ln/>
        </p:spPr>
        <p:txBody>
          <a:bodyPr wrap="square" lIns="0" tIns="0" rIns="0" bIns="0" rtlCol="0" anchor="ctr"/>
          <a:lstStyle/>
          <a:p>
            <a:pPr indent="0" marL="0">
              <a:buNone/>
            </a:pPr>
            <a:r>
              <a:rPr lang="en-US" sz="1800" b="1" dirty="0">
                <a:solidFill>
                  <a:srgbClr val="C00000"/>
                </a:solidFill>
              </a:rPr>
              <a:t>59% · 0.6k</a:t>
            </a:r>
            <a:endParaRPr lang="en-US" sz="1800" dirty="0"/>
          </a:p>
        </p:txBody>
      </p:sp>
      <p:sp>
        <p:nvSpPr>
          <p:cNvPr id="25" name="Text 22"/>
          <p:cNvSpPr txBox="1"/>
          <p:nvPr/>
        </p:nvSpPr>
        <p:spPr>
          <a:xfrm>
            <a:off x="548640" y="493776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Always Prompt A (task only)</a:t>
            </a:r>
            <a:endParaRPr lang="en-US" sz="1600" dirty="0"/>
          </a:p>
        </p:txBody>
      </p:sp>
      <p:sp>
        <p:nvSpPr>
          <p:cNvPr id="26" name="bar Always Prompt A (task only)"/>
          <p:cNvSpPr/>
          <p:nvPr/>
        </p:nvSpPr>
        <p:spPr>
          <a:xfrm>
            <a:off x="4434840" y="4992624"/>
            <a:ext cx="4154119" cy="182880"/>
          </a:xfrm>
          <a:prstGeom prst="rect">
            <a:avLst/>
          </a:prstGeom>
          <a:solidFill>
            <a:srgbClr val="7F7F7F"/>
          </a:solidFill>
          <a:ln w="6350">
            <a:solidFill>
              <a:srgbClr val="7F7F7F"/>
            </a:solidFill>
            <a:prstDash val="solid"/>
          </a:ln>
        </p:spPr>
      </p:sp>
      <p:sp>
        <p:nvSpPr>
          <p:cNvPr id="27" name="Text 24"/>
          <p:cNvSpPr txBox="1"/>
          <p:nvPr/>
        </p:nvSpPr>
        <p:spPr>
          <a:xfrm>
            <a:off x="8680399" y="4937760"/>
            <a:ext cx="1737360" cy="292608"/>
          </a:xfrm>
          <a:prstGeom prst="rect">
            <a:avLst/>
          </a:prstGeom>
          <a:noFill/>
          <a:ln/>
        </p:spPr>
        <p:txBody>
          <a:bodyPr wrap="square" lIns="0" tIns="0" rIns="0" bIns="0" rtlCol="0" anchor="ctr"/>
          <a:lstStyle/>
          <a:p>
            <a:pPr indent="0" marL="0">
              <a:buNone/>
            </a:pPr>
            <a:r>
              <a:rPr lang="en-US" sz="1800" b="1" dirty="0">
                <a:solidFill>
                  <a:srgbClr val="7F7F7F"/>
                </a:solidFill>
              </a:rPr>
              <a:t>77% · 0.4k</a:t>
            </a:r>
            <a:endParaRPr lang="en-US" sz="1800" dirty="0"/>
          </a:p>
        </p:txBody>
      </p:sp>
      <p:sp>
        <p:nvSpPr>
          <p:cNvPr id="28" name="Text 25"/>
          <p:cNvSpPr txBox="1"/>
          <p:nvPr/>
        </p:nvSpPr>
        <p:spPr>
          <a:xfrm>
            <a:off x="548640" y="530352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Always think long</a:t>
            </a:r>
            <a:endParaRPr lang="en-US" sz="1600" dirty="0"/>
          </a:p>
        </p:txBody>
      </p:sp>
      <p:sp>
        <p:nvSpPr>
          <p:cNvPr id="29" name="bar Always think long"/>
          <p:cNvSpPr/>
          <p:nvPr/>
        </p:nvSpPr>
        <p:spPr>
          <a:xfrm>
            <a:off x="4434840" y="5358384"/>
            <a:ext cx="5287061" cy="182880"/>
          </a:xfrm>
          <a:prstGeom prst="rect">
            <a:avLst/>
          </a:prstGeom>
          <a:solidFill>
            <a:srgbClr val="7F7F7F"/>
          </a:solidFill>
          <a:ln w="6350">
            <a:solidFill>
              <a:srgbClr val="7F7F7F"/>
            </a:solidFill>
            <a:prstDash val="solid"/>
          </a:ln>
        </p:spPr>
      </p:sp>
      <p:sp>
        <p:nvSpPr>
          <p:cNvPr id="30" name="Text 27"/>
          <p:cNvSpPr txBox="1"/>
          <p:nvPr/>
        </p:nvSpPr>
        <p:spPr>
          <a:xfrm>
            <a:off x="9813341" y="5303520"/>
            <a:ext cx="1737360" cy="292608"/>
          </a:xfrm>
          <a:prstGeom prst="rect">
            <a:avLst/>
          </a:prstGeom>
          <a:noFill/>
          <a:ln/>
        </p:spPr>
        <p:txBody>
          <a:bodyPr wrap="square" lIns="0" tIns="0" rIns="0" bIns="0" rtlCol="0" anchor="ctr"/>
          <a:lstStyle/>
          <a:p>
            <a:pPr indent="0" marL="0">
              <a:buNone/>
            </a:pPr>
            <a:r>
              <a:rPr lang="en-US" sz="1800" b="1" dirty="0">
                <a:solidFill>
                  <a:srgbClr val="7F7F7F"/>
                </a:solidFill>
              </a:rPr>
              <a:t>98% · 5.9k</a:t>
            </a:r>
            <a:endParaRPr lang="en-US" sz="1800" dirty="0"/>
          </a:p>
        </p:txBody>
      </p:sp>
      <p:sp>
        <p:nvSpPr>
          <p:cNvPr id="31" name="Text 28"/>
          <p:cNvSpPr txBox="1"/>
          <p:nvPr/>
        </p:nvSpPr>
        <p:spPr>
          <a:xfrm>
            <a:off x="548640" y="5669280"/>
            <a:ext cx="3749040" cy="292608"/>
          </a:xfrm>
          <a:prstGeom prst="rect">
            <a:avLst/>
          </a:prstGeom>
          <a:noFill/>
          <a:ln/>
        </p:spPr>
        <p:txBody>
          <a:bodyPr wrap="square" lIns="0" tIns="0" rIns="0" bIns="0" rtlCol="0" anchor="ctr"/>
          <a:lstStyle/>
          <a:p>
            <a:pPr algn="r" indent="0" marL="0">
              <a:buNone/>
            </a:pPr>
            <a:r>
              <a:rPr lang="en-US" sz="1600" dirty="0">
                <a:solidFill>
                  <a:schemeClr val="tx1"/>
                </a:solidFill>
              </a:rPr>
              <a:t>Both prompts, think only if they differ</a:t>
            </a:r>
            <a:endParaRPr lang="en-US" sz="1600" dirty="0"/>
          </a:p>
        </p:txBody>
      </p:sp>
      <p:sp>
        <p:nvSpPr>
          <p:cNvPr id="32" name="bar Both prompts, think only if they differ"/>
          <p:cNvSpPr/>
          <p:nvPr/>
        </p:nvSpPr>
        <p:spPr>
          <a:xfrm>
            <a:off x="4434840" y="5724144"/>
            <a:ext cx="5341010" cy="182880"/>
          </a:xfrm>
          <a:prstGeom prst="rect">
            <a:avLst/>
          </a:prstGeom>
          <a:solidFill>
            <a:srgbClr val="4472C4"/>
          </a:solidFill>
          <a:ln w="6350">
            <a:solidFill>
              <a:srgbClr val="4472C4"/>
            </a:solidFill>
            <a:prstDash val="solid"/>
          </a:ln>
        </p:spPr>
      </p:sp>
      <p:sp>
        <p:nvSpPr>
          <p:cNvPr id="33" name="Text 30"/>
          <p:cNvSpPr txBox="1"/>
          <p:nvPr/>
        </p:nvSpPr>
        <p:spPr>
          <a:xfrm>
            <a:off x="9867290" y="5669280"/>
            <a:ext cx="1737360" cy="292608"/>
          </a:xfrm>
          <a:prstGeom prst="rect">
            <a:avLst/>
          </a:prstGeom>
          <a:noFill/>
          <a:ln/>
        </p:spPr>
        <p:txBody>
          <a:bodyPr wrap="square" lIns="0" tIns="0" rIns="0" bIns="0" rtlCol="0" anchor="ctr"/>
          <a:lstStyle/>
          <a:p>
            <a:pPr indent="0" marL="0">
              <a:buNone/>
            </a:pPr>
            <a:r>
              <a:rPr lang="en-US" sz="1800" b="1" dirty="0">
                <a:solidFill>
                  <a:srgbClr val="4472C4"/>
                </a:solidFill>
              </a:rPr>
              <a:t>99% · 4.3k</a:t>
            </a:r>
            <a:endParaRPr lang="en-US" sz="18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what exactly is the hint? Isn't it the answer?</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The hint for the routing problems of Finding 1: how to call OR-Tools (excerpt of the 11-line snippet)</a:t>
            </a:r>
            <a:endParaRPr lang="en-US" sz="1700" dirty="0"/>
          </a:p>
        </p:txBody>
      </p:sp>
      <p:sp>
        <p:nvSpPr>
          <p:cNvPr id="4" name="the fact, excerpt"/>
          <p:cNvSpPr/>
          <p:nvPr/>
        </p:nvSpPr>
        <p:spPr>
          <a:xfrm>
            <a:off x="548640" y="1783080"/>
            <a:ext cx="6675120" cy="3611880"/>
          </a:xfrm>
          <a:prstGeom prst="rect">
            <a:avLst/>
          </a:prstGeom>
          <a:solidFill>
            <a:srgbClr val="F7F7F7"/>
          </a:solidFill>
          <a:ln w="9525">
            <a:solidFill>
              <a:srgbClr val="BFBFBF"/>
            </a:solidFill>
            <a:prstDash val="solid"/>
          </a:ln>
        </p:spPr>
      </p:sp>
      <p:sp>
        <p:nvSpPr>
          <p:cNvPr id="5" name="Text 3"/>
          <p:cNvSpPr txBox="1"/>
          <p:nvPr/>
        </p:nvSpPr>
        <p:spPr>
          <a:xfrm>
            <a:off x="731520" y="1874520"/>
            <a:ext cx="6400800" cy="342900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mgr = pywrapcp.RoutingIndexManager(n + 1, K, 0)</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r = pywrapcp.RoutingModel(mgr)</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cb = r.RegisterTransitCallback(cost)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r.SetArcCostEvaluatorOfAllVehicles(cb)</a:t>
            </a:r>
            <a:endParaRPr lang="en-US" sz="1400" dirty="0"/>
          </a:p>
          <a:p>
            <a:pPr indent="0" marL="0">
              <a:buNone/>
            </a:pPr>
            <a:r>
              <a:rPr lang="en-US" sz="1400" b="1" dirty="0">
                <a:solidFill>
                  <a:srgbClr val="38761D"/>
                </a:solidFill>
                <a:latin typeface="Courier New" pitchFamily="34" charset="0"/>
                <a:ea typeface="Courier New" pitchFamily="34" charset="-122"/>
                <a:cs typeface="Courier New" pitchFamily="34" charset="-120"/>
              </a:rPr>
              <a:t>dcb = r.RegisterUnaryTransitCallback(demand)</a:t>
            </a:r>
            <a:endParaRPr lang="en-US" sz="1400" dirty="0"/>
          </a:p>
          <a:p>
            <a:pPr indent="0" marL="0">
              <a:buNone/>
            </a:pPr>
            <a:r>
              <a:rPr lang="en-US" sz="1400" b="1" dirty="0">
                <a:solidFill>
                  <a:srgbClr val="38761D"/>
                </a:solidFill>
                <a:latin typeface="Courier New" pitchFamily="34" charset="0"/>
                <a:ea typeface="Courier New" pitchFamily="34" charset="-122"/>
                <a:cs typeface="Courier New" pitchFamily="34" charset="-120"/>
              </a:rPr>
              <a:t>r.AddDimensionWithVehicleCapacity(dcb, 0, [Q] * K,</a:t>
            </a:r>
            <a:endParaRPr lang="en-US" sz="1400" dirty="0"/>
          </a:p>
          <a:p>
            <a:pPr indent="0" marL="0">
              <a:buNone/>
            </a:pPr>
            <a:r>
              <a:rPr lang="en-US" sz="1400" b="1" dirty="0">
                <a:solidFill>
                  <a:srgbClr val="38761D"/>
                </a:solidFill>
                <a:latin typeface="Courier New" pitchFamily="34" charset="0"/>
                <a:ea typeface="Courier New" pitchFamily="34" charset="-122"/>
                <a:cs typeface="Courier New" pitchFamily="34" charset="-120"/>
              </a:rPr>
              <a:t>                 True, "Load")</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p.first_solution_strategy = ...PATH_CHEAPEST_ARC</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sol = r.SolveWithParameters(p)</a:t>
            </a:r>
            <a:endParaRPr lang="en-US" sz="1400" dirty="0"/>
          </a:p>
          <a:p>
            <a:pPr indent="0" marL="0">
              <a:buNone/>
            </a:pPr>
            <a:r>
              <a:rPr lang="en-US" sz="1400" dirty="0">
                <a:solidFill>
                  <a:srgbClr val="7F7F7F"/>
                </a:solidFill>
                <a:latin typeface="Courier New" pitchFamily="34" charset="0"/>
                <a:ea typeface="Courier New" pitchFamily="34" charset="-122"/>
                <a:cs typeface="Courier New" pitchFamily="34" charset="-120"/>
              </a:rPr>
              <a:t>...  (11 lines in all)</a:t>
            </a:r>
            <a:endParaRPr lang="en-US" sz="1400" dirty="0"/>
          </a:p>
        </p:txBody>
      </p:sp>
      <p:sp>
        <p:nvSpPr>
          <p:cNvPr id="6" name="Text 4"/>
          <p:cNvSpPr txBox="1"/>
          <p:nvPr/>
        </p:nvSpPr>
        <p:spPr>
          <a:xfrm>
            <a:off x="7498080" y="1783080"/>
            <a:ext cx="320040" cy="457200"/>
          </a:xfrm>
          <a:prstGeom prst="rect">
            <a:avLst/>
          </a:prstGeom>
          <a:noFill/>
          <a:ln/>
        </p:spPr>
        <p:txBody>
          <a:bodyPr wrap="square" lIns="0" tIns="0" rIns="0" bIns="0" rtlCol="0" anchor="ctr"/>
          <a:lstStyle/>
          <a:p>
            <a:pPr indent="0" marL="0">
              <a:buNone/>
            </a:pPr>
            <a:r>
              <a:rPr lang="en-US" sz="1800" b="1" dirty="0">
                <a:solidFill>
                  <a:srgbClr val="38761D"/>
                </a:solidFill>
              </a:rPr>
              <a:t>✓</a:t>
            </a:r>
            <a:endParaRPr lang="en-US" sz="1800" dirty="0"/>
          </a:p>
        </p:txBody>
      </p:sp>
      <p:sp>
        <p:nvSpPr>
          <p:cNvPr id="7" name="Text 5"/>
          <p:cNvSpPr txBox="1"/>
          <p:nvPr/>
        </p:nvSpPr>
        <p:spPr>
          <a:xfrm>
            <a:off x="7818120" y="1783080"/>
            <a:ext cx="3794760" cy="457200"/>
          </a:xfrm>
          <a:prstGeom prst="rect">
            <a:avLst/>
          </a:prstGeom>
          <a:noFill/>
          <a:ln/>
        </p:spPr>
        <p:txBody>
          <a:bodyPr wrap="square" lIns="0" tIns="0" rIns="0" bIns="0" rtlCol="0" anchor="ctr"/>
          <a:lstStyle/>
          <a:p>
            <a:pPr indent="0" marL="0">
              <a:buNone/>
            </a:pPr>
            <a:r>
              <a:rPr lang="en-US" sz="1500" dirty="0">
                <a:solidFill>
                  <a:schemeClr val="tx1"/>
                </a:solidFill>
              </a:rPr>
              <a:t>how to call the library: names and arguments</a:t>
            </a:r>
            <a:endParaRPr lang="en-US" sz="1500" dirty="0"/>
          </a:p>
        </p:txBody>
      </p:sp>
      <p:sp>
        <p:nvSpPr>
          <p:cNvPr id="8" name="Text 6"/>
          <p:cNvSpPr txBox="1"/>
          <p:nvPr/>
        </p:nvSpPr>
        <p:spPr>
          <a:xfrm>
            <a:off x="7498080" y="2286000"/>
            <a:ext cx="320040" cy="457200"/>
          </a:xfrm>
          <a:prstGeom prst="rect">
            <a:avLst/>
          </a:prstGeom>
          <a:noFill/>
          <a:ln/>
        </p:spPr>
        <p:txBody>
          <a:bodyPr wrap="square" lIns="0" tIns="0" rIns="0" bIns="0" rtlCol="0" anchor="ctr"/>
          <a:lstStyle/>
          <a:p>
            <a:pPr indent="0" marL="0">
              <a:buNone/>
            </a:pPr>
            <a:r>
              <a:rPr lang="en-US" sz="1800" b="1" dirty="0">
                <a:solidFill>
                  <a:srgbClr val="38761D"/>
                </a:solidFill>
              </a:rPr>
              <a:t>✓</a:t>
            </a:r>
            <a:endParaRPr lang="en-US" sz="1800" dirty="0"/>
          </a:p>
        </p:txBody>
      </p:sp>
      <p:sp>
        <p:nvSpPr>
          <p:cNvPr id="9" name="Text 7"/>
          <p:cNvSpPr txBox="1"/>
          <p:nvPr/>
        </p:nvSpPr>
        <p:spPr>
          <a:xfrm>
            <a:off x="7818120" y="2286000"/>
            <a:ext cx="3794760" cy="457200"/>
          </a:xfrm>
          <a:prstGeom prst="rect">
            <a:avLst/>
          </a:prstGeom>
          <a:noFill/>
          <a:ln/>
        </p:spPr>
        <p:txBody>
          <a:bodyPr wrap="square" lIns="0" tIns="0" rIns="0" bIns="0" rtlCol="0" anchor="ctr"/>
          <a:lstStyle/>
          <a:p>
            <a:pPr indent="0" marL="0">
              <a:buNone/>
            </a:pPr>
            <a:r>
              <a:rPr lang="en-US" sz="1500" dirty="0">
                <a:solidFill>
                  <a:schemeClr val="tx1"/>
                </a:solidFill>
              </a:rPr>
              <a:t>the same text for all 30 problems of this kind</a:t>
            </a:r>
            <a:endParaRPr lang="en-US" sz="1500" dirty="0"/>
          </a:p>
        </p:txBody>
      </p:sp>
      <p:sp>
        <p:nvSpPr>
          <p:cNvPr id="10" name="Text 8"/>
          <p:cNvSpPr txBox="1"/>
          <p:nvPr/>
        </p:nvSpPr>
        <p:spPr>
          <a:xfrm>
            <a:off x="7498080" y="2788920"/>
            <a:ext cx="320040" cy="457200"/>
          </a:xfrm>
          <a:prstGeom prst="rect">
            <a:avLst/>
          </a:prstGeom>
          <a:noFill/>
          <a:ln/>
        </p:spPr>
        <p:txBody>
          <a:bodyPr wrap="square" lIns="0" tIns="0" rIns="0" bIns="0" rtlCol="0" anchor="ctr"/>
          <a:lstStyle/>
          <a:p>
            <a:pPr indent="0" marL="0">
              <a:buNone/>
            </a:pPr>
            <a:r>
              <a:rPr lang="en-US" sz="1800" b="1" dirty="0">
                <a:solidFill>
                  <a:srgbClr val="C00000"/>
                </a:solidFill>
              </a:rPr>
              <a:t>✗</a:t>
            </a:r>
            <a:endParaRPr lang="en-US" sz="1800" dirty="0"/>
          </a:p>
        </p:txBody>
      </p:sp>
      <p:sp>
        <p:nvSpPr>
          <p:cNvPr id="11" name="Text 9"/>
          <p:cNvSpPr txBox="1"/>
          <p:nvPr/>
        </p:nvSpPr>
        <p:spPr>
          <a:xfrm>
            <a:off x="7818120" y="2788920"/>
            <a:ext cx="3794760" cy="457200"/>
          </a:xfrm>
          <a:prstGeom prst="rect">
            <a:avLst/>
          </a:prstGeom>
          <a:noFill/>
          <a:ln/>
        </p:spPr>
        <p:txBody>
          <a:bodyPr wrap="square" lIns="0" tIns="0" rIns="0" bIns="0" rtlCol="0" anchor="ctr"/>
          <a:lstStyle/>
          <a:p>
            <a:pPr indent="0" marL="0">
              <a:buNone/>
            </a:pPr>
            <a:r>
              <a:rPr lang="en-US" sz="1500" dirty="0">
                <a:solidFill>
                  <a:schemeClr val="tx1"/>
                </a:solidFill>
              </a:rPr>
              <a:t>no route, no numbers, no answer</a:t>
            </a:r>
            <a:endParaRPr lang="en-US" sz="1500" dirty="0"/>
          </a:p>
        </p:txBody>
      </p:sp>
      <p:sp>
        <p:nvSpPr>
          <p:cNvPr id="12" name="why the sheet hurts"/>
          <p:cNvSpPr/>
          <p:nvPr/>
        </p:nvSpPr>
        <p:spPr>
          <a:xfrm>
            <a:off x="7498080" y="3429000"/>
            <a:ext cx="4114800" cy="1965960"/>
          </a:xfrm>
          <a:prstGeom prst="roundRect">
            <a:avLst>
              <a:gd name="adj" fmla="val 3721"/>
            </a:avLst>
          </a:prstGeom>
          <a:solidFill>
            <a:srgbClr val="F2F2F2"/>
          </a:solidFill>
          <a:ln w="9525">
            <a:solidFill>
              <a:srgbClr val="D9D9D9"/>
            </a:solidFill>
            <a:prstDash val="solid"/>
          </a:ln>
        </p:spPr>
      </p:sp>
      <p:sp>
        <p:nvSpPr>
          <p:cNvPr id="13" name="Text 11"/>
          <p:cNvSpPr txBox="1"/>
          <p:nvPr/>
        </p:nvSpPr>
        <p:spPr>
          <a:xfrm>
            <a:off x="7680960" y="3520440"/>
            <a:ext cx="3749040" cy="1783080"/>
          </a:xfrm>
          <a:prstGeom prst="rect">
            <a:avLst/>
          </a:prstGeom>
          <a:noFill/>
          <a:ln/>
        </p:spPr>
        <p:txBody>
          <a:bodyPr wrap="square" lIns="0" tIns="0" rIns="0" bIns="0" rtlCol="0" anchor="t"/>
          <a:lstStyle/>
          <a:p>
            <a:pPr indent="0" marL="0">
              <a:buNone/>
            </a:pPr>
            <a:r>
              <a:rPr lang="en-US" sz="1400" b="1" dirty="0">
                <a:solidFill>
                  <a:schemeClr val="tx1"/>
                </a:solidFill>
              </a:rPr>
              <a:t>Why is a long reference sheet worse than nothing (7% vs 23%)?</a:t>
            </a:r>
            <a:endParaRPr lang="en-US" sz="1400" dirty="0"/>
          </a:p>
          <a:p>
            <a:pPr indent="0" marL="0">
              <a:buNone/>
            </a:pPr>
            <a:r>
              <a:rPr lang="en-US" sz="1400" dirty="0">
                <a:solidFill>
                  <a:schemeClr val="tx1"/>
                </a:solidFill>
              </a:rPr>
              <a:t>It shows routing, but not the capacity rule. The model fills the gap with a call that does not exist (10 programs: RegisterUnaryLongLivingCallback).</a:t>
            </a:r>
            <a:endParaRPr lang="en-US" sz="1400" dirty="0"/>
          </a:p>
        </p:txBody>
      </p:sp>
      <p:sp>
        <p:nvSpPr>
          <p:cNvPr id="14" name="Text 12"/>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The hint says how to call the library, not how to solve the problem</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how do we get the exact hint?</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One hint per problem type, put in the prompt before the task; it shows only the calls that type needs</a:t>
            </a:r>
            <a:endParaRPr lang="en-US" sz="1700" dirty="0"/>
          </a:p>
        </p:txBody>
      </p:sp>
      <p:sp>
        <p:nvSpPr>
          <p:cNvPr id="4" name="how hint Written by hand"/>
          <p:cNvSpPr/>
          <p:nvPr/>
        </p:nvSpPr>
        <p:spPr>
          <a:xfrm>
            <a:off x="548640" y="1737360"/>
            <a:ext cx="3566160" cy="3794760"/>
          </a:xfrm>
          <a:prstGeom prst="roundRect">
            <a:avLst>
              <a:gd name="adj" fmla="val 2051"/>
            </a:avLst>
          </a:prstGeom>
          <a:solidFill>
            <a:srgbClr val="F2F2F2"/>
          </a:solidFill>
          <a:ln w="9525">
            <a:solidFill>
              <a:srgbClr val="D9D9D9"/>
            </a:solidFill>
            <a:prstDash val="solid"/>
          </a:ln>
        </p:spPr>
      </p:sp>
      <p:pic>
        <p:nvPicPr>
          <p:cNvPr id="5" name="icon pen" descr="/NAS/SJ/POSTECH/nlp/figs/icons/pen.png">    </p:cNvPr>
          <p:cNvPicPr>
            <a:picLocks noChangeAspect="1"/>
          </p:cNvPicPr>
          <p:nvPr/>
        </p:nvPicPr>
        <p:blipFill>
          <a:blip r:embed="rId1"/>
          <a:stretch>
            <a:fillRect/>
          </a:stretch>
        </p:blipFill>
        <p:spPr>
          <a:xfrm>
            <a:off x="731520" y="1847088"/>
            <a:ext cx="411480" cy="411480"/>
          </a:xfrm>
          <a:prstGeom prst="rect">
            <a:avLst/>
          </a:prstGeom>
        </p:spPr>
      </p:pic>
      <p:sp>
        <p:nvSpPr>
          <p:cNvPr id="6" name="Text 3"/>
          <p:cNvSpPr txBox="1"/>
          <p:nvPr/>
        </p:nvSpPr>
        <p:spPr>
          <a:xfrm>
            <a:off x="1234440" y="1828800"/>
            <a:ext cx="2743200" cy="457200"/>
          </a:xfrm>
          <a:prstGeom prst="rect">
            <a:avLst/>
          </a:prstGeom>
          <a:noFill/>
          <a:ln/>
        </p:spPr>
        <p:txBody>
          <a:bodyPr wrap="square" lIns="0" tIns="0" rIns="0" bIns="0" rtlCol="0" anchor="ctr"/>
          <a:lstStyle/>
          <a:p>
            <a:pPr indent="0" marL="0">
              <a:buNone/>
            </a:pPr>
            <a:r>
              <a:rPr lang="en-US" sz="1700" b="1" dirty="0">
                <a:solidFill>
                  <a:srgbClr val="4472C4"/>
                </a:solidFill>
              </a:rPr>
              <a:t>Written by hand</a:t>
            </a:r>
            <a:endParaRPr lang="en-US" sz="1700" dirty="0"/>
          </a:p>
        </p:txBody>
      </p:sp>
      <p:sp>
        <p:nvSpPr>
          <p:cNvPr id="7" name="Text 4"/>
          <p:cNvSpPr txBox="1"/>
          <p:nvPr/>
        </p:nvSpPr>
        <p:spPr>
          <a:xfrm>
            <a:off x="731520" y="2377440"/>
            <a:ext cx="3200400" cy="1051560"/>
          </a:xfrm>
          <a:prstGeom prst="rect">
            <a:avLst/>
          </a:prstGeom>
          <a:noFill/>
          <a:ln/>
        </p:spPr>
        <p:txBody>
          <a:bodyPr wrap="square" lIns="0" tIns="0" rIns="0" bIns="0" rtlCol="0" anchor="t"/>
          <a:lstStyle/>
          <a:p>
            <a:pPr indent="0" marL="0">
              <a:buNone/>
            </a:pPr>
            <a:r>
              <a:rPr lang="en-US" sz="1400" b="1" dirty="0">
                <a:solidFill>
                  <a:schemeClr val="tx1"/>
                </a:solidFill>
              </a:rPr>
              <a:t>How: </a:t>
            </a:r>
            <a:pPr indent="0" marL="0">
              <a:buNone/>
            </a:pPr>
            <a:r>
              <a:rPr lang="en-US" sz="1400" dirty="0">
                <a:solidFill>
                  <a:schemeClr val="tx1"/>
                </a:solidFill>
              </a:rPr>
              <a:t>once per problem type: the exact library usage (e.g. 11 lines for truck routing)</a:t>
            </a:r>
            <a:endParaRPr lang="en-US" sz="1400" dirty="0"/>
          </a:p>
        </p:txBody>
      </p:sp>
      <p:sp>
        <p:nvSpPr>
          <p:cNvPr id="8" name="Text 5"/>
          <p:cNvSpPr txBox="1"/>
          <p:nvPr/>
        </p:nvSpPr>
        <p:spPr>
          <a:xfrm>
            <a:off x="731520" y="3474720"/>
            <a:ext cx="3200400" cy="1051560"/>
          </a:xfrm>
          <a:prstGeom prst="rect">
            <a:avLst/>
          </a:prstGeom>
          <a:noFill/>
          <a:ln/>
        </p:spPr>
        <p:txBody>
          <a:bodyPr wrap="square" lIns="0" tIns="0" rIns="0" bIns="0" rtlCol="0" anchor="t"/>
          <a:lstStyle/>
          <a:p>
            <a:pPr indent="0" marL="0">
              <a:buNone/>
            </a:pPr>
            <a:r>
              <a:rPr lang="en-US" sz="1400" b="1" dirty="0">
                <a:solidFill>
                  <a:srgbClr val="38761D"/>
                </a:solidFill>
              </a:rPr>
              <a:t>Result: </a:t>
            </a:r>
            <a:pPr indent="0" marL="0">
              <a:buNone/>
            </a:pPr>
            <a:r>
              <a:rPr lang="en-US" sz="1400" dirty="0">
                <a:solidFill>
                  <a:srgbClr val="38761D"/>
                </a:solidFill>
              </a:rPr>
              <a:t>routing 23% → 77–90%; word problems 65% → 72% (Qwen3-32B)</a:t>
            </a:r>
            <a:endParaRPr lang="en-US" sz="1400" dirty="0"/>
          </a:p>
        </p:txBody>
      </p:sp>
      <p:sp>
        <p:nvSpPr>
          <p:cNvPr id="9" name="Text 6"/>
          <p:cNvSpPr txBox="1"/>
          <p:nvPr/>
        </p:nvSpPr>
        <p:spPr>
          <a:xfrm>
            <a:off x="731520" y="4572000"/>
            <a:ext cx="3200400" cy="868680"/>
          </a:xfrm>
          <a:prstGeom prst="rect">
            <a:avLst/>
          </a:prstGeom>
          <a:noFill/>
          <a:ln/>
        </p:spPr>
        <p:txBody>
          <a:bodyPr wrap="square" lIns="0" tIns="0" rIns="0" bIns="0" rtlCol="0" anchor="t"/>
          <a:lstStyle/>
          <a:p>
            <a:pPr indent="0" marL="0">
              <a:buNone/>
            </a:pPr>
            <a:r>
              <a:rPr lang="en-US" sz="1400" b="1" dirty="0">
                <a:solidFill>
                  <a:srgbClr val="C00000"/>
                </a:solidFill>
              </a:rPr>
              <a:t>Limit: </a:t>
            </a:r>
            <a:pPr indent="0" marL="0">
              <a:buNone/>
            </a:pPr>
            <a:r>
              <a:rPr lang="en-US" sz="1400" dirty="0">
                <a:solidFill>
                  <a:srgbClr val="C00000"/>
                </a:solidFill>
              </a:rPr>
              <a:t>needs someone who knows the library</a:t>
            </a:r>
            <a:endParaRPr lang="en-US" sz="1400" dirty="0"/>
          </a:p>
        </p:txBody>
      </p:sp>
      <p:sp>
        <p:nvSpPr>
          <p:cNvPr id="10" name="how hint Found by search"/>
          <p:cNvSpPr/>
          <p:nvPr/>
        </p:nvSpPr>
        <p:spPr>
          <a:xfrm>
            <a:off x="4297680" y="1737360"/>
            <a:ext cx="3566160" cy="3794760"/>
          </a:xfrm>
          <a:prstGeom prst="roundRect">
            <a:avLst>
              <a:gd name="adj" fmla="val 2051"/>
            </a:avLst>
          </a:prstGeom>
          <a:solidFill>
            <a:srgbClr val="F2F2F2"/>
          </a:solidFill>
          <a:ln w="9525">
            <a:solidFill>
              <a:srgbClr val="D9D9D9"/>
            </a:solidFill>
            <a:prstDash val="solid"/>
          </a:ln>
        </p:spPr>
      </p:sp>
      <p:pic>
        <p:nvPicPr>
          <p:cNvPr id="11" name="icon shapes" descr="/NAS/SJ/POSTECH/nlp/figs/icons/shapes.png">    </p:cNvPr>
          <p:cNvPicPr>
            <a:picLocks noChangeAspect="1"/>
          </p:cNvPicPr>
          <p:nvPr/>
        </p:nvPicPr>
        <p:blipFill>
          <a:blip r:embed="rId2"/>
          <a:stretch>
            <a:fillRect/>
          </a:stretch>
        </p:blipFill>
        <p:spPr>
          <a:xfrm>
            <a:off x="4480560" y="1847088"/>
            <a:ext cx="411480" cy="411480"/>
          </a:xfrm>
          <a:prstGeom prst="rect">
            <a:avLst/>
          </a:prstGeom>
        </p:spPr>
      </p:pic>
      <p:sp>
        <p:nvSpPr>
          <p:cNvPr id="12" name="Text 8"/>
          <p:cNvSpPr txBox="1"/>
          <p:nvPr/>
        </p:nvSpPr>
        <p:spPr>
          <a:xfrm>
            <a:off x="4983480" y="1828800"/>
            <a:ext cx="2743200" cy="457200"/>
          </a:xfrm>
          <a:prstGeom prst="rect">
            <a:avLst/>
          </a:prstGeom>
          <a:noFill/>
          <a:ln/>
        </p:spPr>
        <p:txBody>
          <a:bodyPr wrap="square" lIns="0" tIns="0" rIns="0" bIns="0" rtlCol="0" anchor="ctr"/>
          <a:lstStyle/>
          <a:p>
            <a:pPr indent="0" marL="0">
              <a:buNone/>
            </a:pPr>
            <a:r>
              <a:rPr lang="en-US" sz="1700" b="1" dirty="0">
                <a:solidFill>
                  <a:srgbClr val="4472C4"/>
                </a:solidFill>
              </a:rPr>
              <a:t>Found by search</a:t>
            </a:r>
            <a:endParaRPr lang="en-US" sz="1700" dirty="0"/>
          </a:p>
        </p:txBody>
      </p:sp>
      <p:sp>
        <p:nvSpPr>
          <p:cNvPr id="13" name="Text 9"/>
          <p:cNvSpPr txBox="1"/>
          <p:nvPr/>
        </p:nvSpPr>
        <p:spPr>
          <a:xfrm>
            <a:off x="4480560" y="2377440"/>
            <a:ext cx="3200400" cy="1051560"/>
          </a:xfrm>
          <a:prstGeom prst="rect">
            <a:avLst/>
          </a:prstGeom>
          <a:noFill/>
          <a:ln/>
        </p:spPr>
        <p:txBody>
          <a:bodyPr wrap="square" lIns="0" tIns="0" rIns="0" bIns="0" rtlCol="0" anchor="t"/>
          <a:lstStyle/>
          <a:p>
            <a:pPr indent="0" marL="0">
              <a:buNone/>
            </a:pPr>
            <a:r>
              <a:rPr lang="en-US" sz="1400" b="1" dirty="0">
                <a:solidFill>
                  <a:schemeClr val="tx1"/>
                </a:solidFill>
              </a:rPr>
              <a:t>How: </a:t>
            </a:r>
            <a:pPr indent="0" marL="0">
              <a:buNone/>
            </a:pPr>
            <a:r>
              <a:rPr lang="en-US" sz="1400" dirty="0">
                <a:solidFill>
                  <a:schemeClr val="tx1"/>
                </a:solidFill>
              </a:rPr>
              <a:t>BM25 over a small library of titled usage snippets; take the top one</a:t>
            </a:r>
            <a:endParaRPr lang="en-US" sz="1400" dirty="0"/>
          </a:p>
        </p:txBody>
      </p:sp>
      <p:sp>
        <p:nvSpPr>
          <p:cNvPr id="14" name="Text 10"/>
          <p:cNvSpPr txBox="1"/>
          <p:nvPr/>
        </p:nvSpPr>
        <p:spPr>
          <a:xfrm>
            <a:off x="4480560" y="3474720"/>
            <a:ext cx="3200400" cy="1051560"/>
          </a:xfrm>
          <a:prstGeom prst="rect">
            <a:avLst/>
          </a:prstGeom>
          <a:noFill/>
          <a:ln/>
        </p:spPr>
        <p:txBody>
          <a:bodyPr wrap="square" lIns="0" tIns="0" rIns="0" bIns="0" rtlCol="0" anchor="t"/>
          <a:lstStyle/>
          <a:p>
            <a:pPr indent="0" marL="0">
              <a:buNone/>
            </a:pPr>
            <a:r>
              <a:rPr lang="en-US" sz="1400" b="1" dirty="0">
                <a:solidFill>
                  <a:srgbClr val="38761D"/>
                </a:solidFill>
              </a:rPr>
              <a:t>Result: </a:t>
            </a:r>
            <a:pPr indent="0" marL="0">
              <a:buNone/>
            </a:pPr>
            <a:r>
              <a:rPr lang="en-US" sz="1400" dirty="0">
                <a:solidFill>
                  <a:srgbClr val="38761D"/>
                </a:solidFill>
              </a:rPr>
              <a:t>97% vs 96% by hand (6 optimization problems); 84% vs 87% on the 208-problem suite</a:t>
            </a:r>
            <a:endParaRPr lang="en-US" sz="1400" dirty="0"/>
          </a:p>
        </p:txBody>
      </p:sp>
      <p:sp>
        <p:nvSpPr>
          <p:cNvPr id="15" name="Text 11"/>
          <p:cNvSpPr txBox="1"/>
          <p:nvPr/>
        </p:nvSpPr>
        <p:spPr>
          <a:xfrm>
            <a:off x="4480560" y="4572000"/>
            <a:ext cx="3200400" cy="868680"/>
          </a:xfrm>
          <a:prstGeom prst="rect">
            <a:avLst/>
          </a:prstGeom>
          <a:noFill/>
          <a:ln/>
        </p:spPr>
        <p:txBody>
          <a:bodyPr wrap="square" lIns="0" tIns="0" rIns="0" bIns="0" rtlCol="0" anchor="t"/>
          <a:lstStyle/>
          <a:p>
            <a:pPr indent="0" marL="0">
              <a:buNone/>
            </a:pPr>
            <a:r>
              <a:rPr lang="en-US" sz="1400" b="1" dirty="0">
                <a:solidFill>
                  <a:srgbClr val="C00000"/>
                </a:solidFill>
              </a:rPr>
              <a:t>Limit: </a:t>
            </a:r>
            <a:pPr indent="0" marL="0">
              <a:buNone/>
            </a:pPr>
            <a:r>
              <a:rPr lang="en-US" sz="1400" dirty="0">
                <a:solidFill>
                  <a:srgbClr val="C00000"/>
                </a:solidFill>
              </a:rPr>
              <a:t>a near-miss page hurts: routing 83% → 57%</a:t>
            </a:r>
            <a:endParaRPr lang="en-US" sz="1400" dirty="0"/>
          </a:p>
        </p:txBody>
      </p:sp>
      <p:sp>
        <p:nvSpPr>
          <p:cNvPr id="16" name="how hint Taken from the model's own work"/>
          <p:cNvSpPr/>
          <p:nvPr/>
        </p:nvSpPr>
        <p:spPr>
          <a:xfrm>
            <a:off x="8046720" y="1737360"/>
            <a:ext cx="3566160" cy="3794760"/>
          </a:xfrm>
          <a:prstGeom prst="roundRect">
            <a:avLst>
              <a:gd name="adj" fmla="val 2051"/>
            </a:avLst>
          </a:prstGeom>
          <a:solidFill>
            <a:srgbClr val="F2F2F2"/>
          </a:solidFill>
          <a:ln w="9525">
            <a:solidFill>
              <a:srgbClr val="D9D9D9"/>
            </a:solidFill>
            <a:prstDash val="solid"/>
          </a:ln>
        </p:spPr>
      </p:sp>
      <p:pic>
        <p:nvPicPr>
          <p:cNvPr id="17" name="icon check" descr="/NAS/SJ/POSTECH/nlp/figs/icons/check.png">    </p:cNvPr>
          <p:cNvPicPr>
            <a:picLocks noChangeAspect="1"/>
          </p:cNvPicPr>
          <p:nvPr/>
        </p:nvPicPr>
        <p:blipFill>
          <a:blip r:embed="rId3"/>
          <a:stretch>
            <a:fillRect/>
          </a:stretch>
        </p:blipFill>
        <p:spPr>
          <a:xfrm>
            <a:off x="8229600" y="1847088"/>
            <a:ext cx="411480" cy="411480"/>
          </a:xfrm>
          <a:prstGeom prst="rect">
            <a:avLst/>
          </a:prstGeom>
        </p:spPr>
      </p:pic>
      <p:sp>
        <p:nvSpPr>
          <p:cNvPr id="18" name="Text 13"/>
          <p:cNvSpPr txBox="1"/>
          <p:nvPr/>
        </p:nvSpPr>
        <p:spPr>
          <a:xfrm>
            <a:off x="8732520" y="1828800"/>
            <a:ext cx="2743200" cy="457200"/>
          </a:xfrm>
          <a:prstGeom prst="rect">
            <a:avLst/>
          </a:prstGeom>
          <a:noFill/>
          <a:ln/>
        </p:spPr>
        <p:txBody>
          <a:bodyPr wrap="square" lIns="0" tIns="0" rIns="0" bIns="0" rtlCol="0" anchor="ctr"/>
          <a:lstStyle/>
          <a:p>
            <a:pPr indent="0" marL="0">
              <a:buNone/>
            </a:pPr>
            <a:r>
              <a:rPr lang="en-US" sz="1700" b="1" dirty="0">
                <a:solidFill>
                  <a:srgbClr val="4472C4"/>
                </a:solidFill>
              </a:rPr>
              <a:t>Taken from the model's own work</a:t>
            </a:r>
            <a:endParaRPr lang="en-US" sz="1700" dirty="0"/>
          </a:p>
        </p:txBody>
      </p:sp>
      <p:sp>
        <p:nvSpPr>
          <p:cNvPr id="19" name="Text 14"/>
          <p:cNvSpPr txBox="1"/>
          <p:nvPr/>
        </p:nvSpPr>
        <p:spPr>
          <a:xfrm>
            <a:off x="8229600" y="2377440"/>
            <a:ext cx="3200400" cy="1051560"/>
          </a:xfrm>
          <a:prstGeom prst="rect">
            <a:avLst/>
          </a:prstGeom>
          <a:noFill/>
          <a:ln/>
        </p:spPr>
        <p:txBody>
          <a:bodyPr wrap="square" lIns="0" tIns="0" rIns="0" bIns="0" rtlCol="0" anchor="t"/>
          <a:lstStyle/>
          <a:p>
            <a:pPr indent="0" marL="0">
              <a:buNone/>
            </a:pPr>
            <a:r>
              <a:rPr lang="en-US" sz="1400" b="1" dirty="0">
                <a:solidFill>
                  <a:schemeClr val="tx1"/>
                </a:solidFill>
              </a:rPr>
              <a:t>How: </a:t>
            </a:r>
            <a:pPr indent="0" marL="0">
              <a:buNone/>
            </a:pPr>
            <a:r>
              <a:rPr lang="en-US" sz="1400" dirty="0">
                <a:solidFill>
                  <a:schemeClr val="tx1"/>
                </a:solidFill>
              </a:rPr>
              <a:t>run the model on other problems of the same type; keep programs that pass the free check; use the shortest</a:t>
            </a:r>
            <a:endParaRPr lang="en-US" sz="1400" dirty="0"/>
          </a:p>
        </p:txBody>
      </p:sp>
      <p:sp>
        <p:nvSpPr>
          <p:cNvPr id="20" name="Text 15"/>
          <p:cNvSpPr txBox="1"/>
          <p:nvPr/>
        </p:nvSpPr>
        <p:spPr>
          <a:xfrm>
            <a:off x="8229600" y="3474720"/>
            <a:ext cx="3200400" cy="1051560"/>
          </a:xfrm>
          <a:prstGeom prst="rect">
            <a:avLst/>
          </a:prstGeom>
          <a:noFill/>
          <a:ln/>
        </p:spPr>
        <p:txBody>
          <a:bodyPr wrap="square" lIns="0" tIns="0" rIns="0" bIns="0" rtlCol="0" anchor="t"/>
          <a:lstStyle/>
          <a:p>
            <a:pPr indent="0" marL="0">
              <a:buNone/>
            </a:pPr>
            <a:r>
              <a:rPr lang="en-US" sz="1400" b="1" dirty="0">
                <a:solidFill>
                  <a:srgbClr val="38761D"/>
                </a:solidFill>
              </a:rPr>
              <a:t>Result: </a:t>
            </a:r>
            <a:pPr indent="0" marL="0">
              <a:buNone/>
            </a:pPr>
            <a:r>
              <a:rPr lang="en-US" sz="1400" dirty="0">
                <a:solidFill>
                  <a:srgbClr val="38761D"/>
                </a:solidFill>
              </a:rPr>
              <a:t>held-out MAMO (863), automatic vs by hand: 79% = 79% (gpt-oss-20b), 72% vs 71% (Qwen3-14B), 71% vs 72% (Qwen3-8B)</a:t>
            </a:r>
            <a:endParaRPr lang="en-US" sz="1400" dirty="0"/>
          </a:p>
        </p:txBody>
      </p:sp>
      <p:sp>
        <p:nvSpPr>
          <p:cNvPr id="21" name="Text 16"/>
          <p:cNvSpPr txBox="1"/>
          <p:nvPr/>
        </p:nvSpPr>
        <p:spPr>
          <a:xfrm>
            <a:off x="8229600" y="4572000"/>
            <a:ext cx="3200400" cy="868680"/>
          </a:xfrm>
          <a:prstGeom prst="rect">
            <a:avLst/>
          </a:prstGeom>
          <a:noFill/>
          <a:ln/>
        </p:spPr>
        <p:txBody>
          <a:bodyPr wrap="square" lIns="0" tIns="0" rIns="0" bIns="0" rtlCol="0" anchor="t"/>
          <a:lstStyle/>
          <a:p>
            <a:pPr indent="0" marL="0">
              <a:buNone/>
            </a:pPr>
            <a:r>
              <a:rPr lang="en-US" sz="1400" b="1" dirty="0">
                <a:solidFill>
                  <a:srgbClr val="C00000"/>
                </a:solidFill>
              </a:rPr>
              <a:t>Limit: </a:t>
            </a:r>
            <a:pPr indent="0" marL="0">
              <a:buNone/>
            </a:pPr>
            <a:r>
              <a:rPr lang="en-US" sz="1400" dirty="0">
                <a:solidFill>
                  <a:srgbClr val="C00000"/>
                </a:solidFill>
              </a:rPr>
              <a:t>only within one problem type: another type's program costs 14–21 points</a:t>
            </a:r>
            <a:endParaRPr lang="en-US" sz="1400" dirty="0"/>
          </a:p>
        </p:txBody>
      </p:sp>
      <p:sp>
        <p:nvSpPr>
          <p:cNvPr id="22" name="Text 17"/>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Only the needed calls: with all helpers 75%, with only the needed ones 92% (geometry)</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can retrieval (RAG) find the hint?</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BM25 search over a library of titled snippets, Qwen3-32B, % solved optimally (seed 1)</a:t>
            </a:r>
            <a:endParaRPr lang="en-US" sz="1700" dirty="0"/>
          </a:p>
        </p:txBody>
      </p:sp>
      <p:sp>
        <p:nvSpPr>
          <p:cNvPr id="4" name="rag 6 optimization problems"/>
          <p:cNvSpPr/>
          <p:nvPr/>
        </p:nvSpPr>
        <p:spPr>
          <a:xfrm>
            <a:off x="548640" y="1737360"/>
            <a:ext cx="5440680" cy="3383280"/>
          </a:xfrm>
          <a:prstGeom prst="roundRect">
            <a:avLst>
              <a:gd name="adj" fmla="val 2162"/>
            </a:avLst>
          </a:prstGeom>
          <a:solidFill>
            <a:srgbClr val="F2F2F2"/>
          </a:solidFill>
          <a:ln w="9525">
            <a:solidFill>
              <a:srgbClr val="D9D9D9"/>
            </a:solidFill>
            <a:prstDash val="solid"/>
          </a:ln>
        </p:spPr>
      </p:sp>
      <p:sp>
        <p:nvSpPr>
          <p:cNvPr id="5" name="Text 3"/>
          <p:cNvSpPr txBox="1"/>
          <p:nvPr/>
        </p:nvSpPr>
        <p:spPr>
          <a:xfrm>
            <a:off x="777240" y="1828800"/>
            <a:ext cx="4983480" cy="411480"/>
          </a:xfrm>
          <a:prstGeom prst="rect">
            <a:avLst/>
          </a:prstGeom>
          <a:noFill/>
          <a:ln/>
        </p:spPr>
        <p:txBody>
          <a:bodyPr wrap="square" lIns="0" tIns="0" rIns="0" bIns="0" rtlCol="0" anchor="ctr"/>
          <a:lstStyle/>
          <a:p>
            <a:pPr indent="0" marL="0">
              <a:buNone/>
            </a:pPr>
            <a:r>
              <a:rPr lang="en-US" sz="1800" b="1" dirty="0">
                <a:solidFill>
                  <a:srgbClr val="4472C4"/>
                </a:solidFill>
              </a:rPr>
              <a:t>6 optimization problems</a:t>
            </a:r>
            <a:endParaRPr lang="en-US" sz="1800" dirty="0"/>
          </a:p>
        </p:txBody>
      </p:sp>
      <p:sp>
        <p:nvSpPr>
          <p:cNvPr id="6" name="Text 4"/>
          <p:cNvSpPr txBox="1"/>
          <p:nvPr/>
        </p:nvSpPr>
        <p:spPr>
          <a:xfrm>
            <a:off x="777240" y="2331720"/>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no hint</a:t>
            </a:r>
            <a:endParaRPr lang="en-US" sz="1600" dirty="0"/>
          </a:p>
        </p:txBody>
      </p:sp>
      <p:sp>
        <p:nvSpPr>
          <p:cNvPr id="7" name="bar no fact"/>
          <p:cNvSpPr/>
          <p:nvPr/>
        </p:nvSpPr>
        <p:spPr>
          <a:xfrm>
            <a:off x="3017520" y="2411273"/>
            <a:ext cx="1378458" cy="265176"/>
          </a:xfrm>
          <a:prstGeom prst="rect">
            <a:avLst/>
          </a:prstGeom>
          <a:solidFill>
            <a:srgbClr val="7F7F7F"/>
          </a:solidFill>
          <a:ln w="6350">
            <a:solidFill>
              <a:srgbClr val="7F7F7F"/>
            </a:solidFill>
            <a:prstDash val="solid"/>
          </a:ln>
        </p:spPr>
      </p:sp>
      <p:sp>
        <p:nvSpPr>
          <p:cNvPr id="8" name="Text 6"/>
          <p:cNvSpPr txBox="1"/>
          <p:nvPr/>
        </p:nvSpPr>
        <p:spPr>
          <a:xfrm>
            <a:off x="4487418" y="2331720"/>
            <a:ext cx="685800" cy="424282"/>
          </a:xfrm>
          <a:prstGeom prst="rect">
            <a:avLst/>
          </a:prstGeom>
          <a:noFill/>
          <a:ln/>
        </p:spPr>
        <p:txBody>
          <a:bodyPr wrap="square" lIns="0" tIns="0" rIns="0" bIns="0" rtlCol="0" anchor="ctr"/>
          <a:lstStyle/>
          <a:p>
            <a:pPr indent="0" marL="0">
              <a:buNone/>
            </a:pPr>
            <a:r>
              <a:rPr lang="en-US" sz="1800" b="1" dirty="0">
                <a:solidFill>
                  <a:srgbClr val="7F7F7F"/>
                </a:solidFill>
              </a:rPr>
              <a:t>67%</a:t>
            </a:r>
            <a:endParaRPr lang="en-US" sz="1800" dirty="0"/>
          </a:p>
        </p:txBody>
      </p:sp>
      <p:sp>
        <p:nvSpPr>
          <p:cNvPr id="9" name="Text 7"/>
          <p:cNvSpPr txBox="1"/>
          <p:nvPr/>
        </p:nvSpPr>
        <p:spPr>
          <a:xfrm>
            <a:off x="777240" y="2862072"/>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hand-written hint</a:t>
            </a:r>
            <a:endParaRPr lang="en-US" sz="1600" dirty="0"/>
          </a:p>
        </p:txBody>
      </p:sp>
      <p:sp>
        <p:nvSpPr>
          <p:cNvPr id="10" name="bar hand-written fact"/>
          <p:cNvSpPr/>
          <p:nvPr/>
        </p:nvSpPr>
        <p:spPr>
          <a:xfrm>
            <a:off x="3017520" y="2941625"/>
            <a:ext cx="1975104" cy="265176"/>
          </a:xfrm>
          <a:prstGeom prst="rect">
            <a:avLst/>
          </a:prstGeom>
          <a:solidFill>
            <a:srgbClr val="7F7F7F"/>
          </a:solidFill>
          <a:ln w="6350">
            <a:solidFill>
              <a:srgbClr val="7F7F7F"/>
            </a:solidFill>
            <a:prstDash val="solid"/>
          </a:ln>
        </p:spPr>
      </p:sp>
      <p:sp>
        <p:nvSpPr>
          <p:cNvPr id="11" name="Text 9"/>
          <p:cNvSpPr txBox="1"/>
          <p:nvPr/>
        </p:nvSpPr>
        <p:spPr>
          <a:xfrm>
            <a:off x="5084064" y="2862072"/>
            <a:ext cx="685800" cy="424282"/>
          </a:xfrm>
          <a:prstGeom prst="rect">
            <a:avLst/>
          </a:prstGeom>
          <a:noFill/>
          <a:ln/>
        </p:spPr>
        <p:txBody>
          <a:bodyPr wrap="square" lIns="0" tIns="0" rIns="0" bIns="0" rtlCol="0" anchor="ctr"/>
          <a:lstStyle/>
          <a:p>
            <a:pPr indent="0" marL="0">
              <a:buNone/>
            </a:pPr>
            <a:r>
              <a:rPr lang="en-US" sz="1800" b="1" dirty="0">
                <a:solidFill>
                  <a:srgbClr val="7F7F7F"/>
                </a:solidFill>
              </a:rPr>
              <a:t>96%</a:t>
            </a:r>
            <a:endParaRPr lang="en-US" sz="1800" dirty="0"/>
          </a:p>
        </p:txBody>
      </p:sp>
      <p:sp>
        <p:nvSpPr>
          <p:cNvPr id="12" name="Text 10"/>
          <p:cNvSpPr txBox="1"/>
          <p:nvPr/>
        </p:nvSpPr>
        <p:spPr>
          <a:xfrm>
            <a:off x="777240" y="3392424"/>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retrieved, top 1</a:t>
            </a:r>
            <a:endParaRPr lang="en-US" sz="1600" dirty="0"/>
          </a:p>
        </p:txBody>
      </p:sp>
      <p:sp>
        <p:nvSpPr>
          <p:cNvPr id="13" name="bar retrieved, top 1"/>
          <p:cNvSpPr/>
          <p:nvPr/>
        </p:nvSpPr>
        <p:spPr>
          <a:xfrm>
            <a:off x="3017520" y="3471977"/>
            <a:ext cx="1995678" cy="265176"/>
          </a:xfrm>
          <a:prstGeom prst="rect">
            <a:avLst/>
          </a:prstGeom>
          <a:solidFill>
            <a:srgbClr val="4472C4"/>
          </a:solidFill>
          <a:ln w="6350">
            <a:solidFill>
              <a:srgbClr val="4472C4"/>
            </a:solidFill>
            <a:prstDash val="solid"/>
          </a:ln>
        </p:spPr>
      </p:sp>
      <p:sp>
        <p:nvSpPr>
          <p:cNvPr id="14" name="Text 12"/>
          <p:cNvSpPr txBox="1"/>
          <p:nvPr/>
        </p:nvSpPr>
        <p:spPr>
          <a:xfrm>
            <a:off x="5104638" y="3392424"/>
            <a:ext cx="685800" cy="424282"/>
          </a:xfrm>
          <a:prstGeom prst="rect">
            <a:avLst/>
          </a:prstGeom>
          <a:noFill/>
          <a:ln/>
        </p:spPr>
        <p:txBody>
          <a:bodyPr wrap="square" lIns="0" tIns="0" rIns="0" bIns="0" rtlCol="0" anchor="ctr"/>
          <a:lstStyle/>
          <a:p>
            <a:pPr indent="0" marL="0">
              <a:buNone/>
            </a:pPr>
            <a:r>
              <a:rPr lang="en-US" sz="1800" b="1" dirty="0">
                <a:solidFill>
                  <a:srgbClr val="4472C4"/>
                </a:solidFill>
              </a:rPr>
              <a:t>97%</a:t>
            </a:r>
            <a:endParaRPr lang="en-US" sz="1800" dirty="0"/>
          </a:p>
        </p:txBody>
      </p:sp>
      <p:sp>
        <p:nvSpPr>
          <p:cNvPr id="15" name="Text 13"/>
          <p:cNvSpPr txBox="1"/>
          <p:nvPr/>
        </p:nvSpPr>
        <p:spPr>
          <a:xfrm>
            <a:off x="777240" y="3922776"/>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retrieved, top 3</a:t>
            </a:r>
            <a:endParaRPr lang="en-US" sz="1600" dirty="0"/>
          </a:p>
        </p:txBody>
      </p:sp>
      <p:sp>
        <p:nvSpPr>
          <p:cNvPr id="16" name="bar retrieved, top 3"/>
          <p:cNvSpPr/>
          <p:nvPr/>
        </p:nvSpPr>
        <p:spPr>
          <a:xfrm>
            <a:off x="3017520" y="4002329"/>
            <a:ext cx="1913382" cy="265176"/>
          </a:xfrm>
          <a:prstGeom prst="rect">
            <a:avLst/>
          </a:prstGeom>
          <a:solidFill>
            <a:srgbClr val="4472C4"/>
          </a:solidFill>
          <a:ln w="6350">
            <a:solidFill>
              <a:srgbClr val="4472C4"/>
            </a:solidFill>
            <a:prstDash val="solid"/>
          </a:ln>
        </p:spPr>
      </p:sp>
      <p:sp>
        <p:nvSpPr>
          <p:cNvPr id="17" name="Text 15"/>
          <p:cNvSpPr txBox="1"/>
          <p:nvPr/>
        </p:nvSpPr>
        <p:spPr>
          <a:xfrm>
            <a:off x="5022342" y="3922776"/>
            <a:ext cx="685800" cy="424282"/>
          </a:xfrm>
          <a:prstGeom prst="rect">
            <a:avLst/>
          </a:prstGeom>
          <a:noFill/>
          <a:ln/>
        </p:spPr>
        <p:txBody>
          <a:bodyPr wrap="square" lIns="0" tIns="0" rIns="0" bIns="0" rtlCol="0" anchor="ctr"/>
          <a:lstStyle/>
          <a:p>
            <a:pPr indent="0" marL="0">
              <a:buNone/>
            </a:pPr>
            <a:r>
              <a:rPr lang="en-US" sz="1800" b="1" dirty="0">
                <a:solidFill>
                  <a:srgbClr val="4472C4"/>
                </a:solidFill>
              </a:rPr>
              <a:t>93%</a:t>
            </a:r>
            <a:endParaRPr lang="en-US" sz="1800" dirty="0"/>
          </a:p>
        </p:txBody>
      </p:sp>
      <p:sp>
        <p:nvSpPr>
          <p:cNvPr id="18" name="Text 16"/>
          <p:cNvSpPr txBox="1"/>
          <p:nvPr/>
        </p:nvSpPr>
        <p:spPr>
          <a:xfrm>
            <a:off x="777240" y="4453128"/>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untitled pages, top 3</a:t>
            </a:r>
            <a:endParaRPr lang="en-US" sz="1600" dirty="0"/>
          </a:p>
        </p:txBody>
      </p:sp>
      <p:sp>
        <p:nvSpPr>
          <p:cNvPr id="19" name="bar untitled pages, top 3"/>
          <p:cNvSpPr/>
          <p:nvPr/>
        </p:nvSpPr>
        <p:spPr>
          <a:xfrm>
            <a:off x="3017520" y="4532681"/>
            <a:ext cx="1851660" cy="265176"/>
          </a:xfrm>
          <a:prstGeom prst="rect">
            <a:avLst/>
          </a:prstGeom>
          <a:solidFill>
            <a:srgbClr val="7F7F7F"/>
          </a:solidFill>
          <a:ln w="6350">
            <a:solidFill>
              <a:srgbClr val="7F7F7F"/>
            </a:solidFill>
            <a:prstDash val="solid"/>
          </a:ln>
        </p:spPr>
      </p:sp>
      <p:sp>
        <p:nvSpPr>
          <p:cNvPr id="20" name="Text 18"/>
          <p:cNvSpPr txBox="1"/>
          <p:nvPr/>
        </p:nvSpPr>
        <p:spPr>
          <a:xfrm>
            <a:off x="4960620" y="4453128"/>
            <a:ext cx="685800" cy="424282"/>
          </a:xfrm>
          <a:prstGeom prst="rect">
            <a:avLst/>
          </a:prstGeom>
          <a:noFill/>
          <a:ln/>
        </p:spPr>
        <p:txBody>
          <a:bodyPr wrap="square" lIns="0" tIns="0" rIns="0" bIns="0" rtlCol="0" anchor="ctr"/>
          <a:lstStyle/>
          <a:p>
            <a:pPr indent="0" marL="0">
              <a:buNone/>
            </a:pPr>
            <a:r>
              <a:rPr lang="en-US" sz="1800" b="1" dirty="0">
                <a:solidFill>
                  <a:srgbClr val="7F7F7F"/>
                </a:solidFill>
              </a:rPr>
              <a:t>90%</a:t>
            </a:r>
            <a:endParaRPr lang="en-US" sz="1800" dirty="0"/>
          </a:p>
        </p:txBody>
      </p:sp>
      <p:sp>
        <p:nvSpPr>
          <p:cNvPr id="21" name="rag Routing (30 CVRP problems)"/>
          <p:cNvSpPr/>
          <p:nvPr/>
        </p:nvSpPr>
        <p:spPr>
          <a:xfrm>
            <a:off x="6172200" y="1737360"/>
            <a:ext cx="5440680" cy="3383280"/>
          </a:xfrm>
          <a:prstGeom prst="roundRect">
            <a:avLst>
              <a:gd name="adj" fmla="val 2162"/>
            </a:avLst>
          </a:prstGeom>
          <a:solidFill>
            <a:srgbClr val="F2F2F2"/>
          </a:solidFill>
          <a:ln w="9525">
            <a:solidFill>
              <a:srgbClr val="D9D9D9"/>
            </a:solidFill>
            <a:prstDash val="solid"/>
          </a:ln>
        </p:spPr>
      </p:sp>
      <p:sp>
        <p:nvSpPr>
          <p:cNvPr id="22" name="Text 20"/>
          <p:cNvSpPr txBox="1"/>
          <p:nvPr/>
        </p:nvSpPr>
        <p:spPr>
          <a:xfrm>
            <a:off x="6400800" y="1828800"/>
            <a:ext cx="4983480" cy="411480"/>
          </a:xfrm>
          <a:prstGeom prst="rect">
            <a:avLst/>
          </a:prstGeom>
          <a:noFill/>
          <a:ln/>
        </p:spPr>
        <p:txBody>
          <a:bodyPr wrap="square" lIns="0" tIns="0" rIns="0" bIns="0" rtlCol="0" anchor="ctr"/>
          <a:lstStyle/>
          <a:p>
            <a:pPr indent="0" marL="0">
              <a:buNone/>
            </a:pPr>
            <a:r>
              <a:rPr lang="en-US" sz="1800" b="1" dirty="0">
                <a:solidFill>
                  <a:srgbClr val="4472C4"/>
                </a:solidFill>
              </a:rPr>
              <a:t>Routing (30 CVRP problems)</a:t>
            </a:r>
            <a:endParaRPr lang="en-US" sz="1800" dirty="0"/>
          </a:p>
        </p:txBody>
      </p:sp>
      <p:sp>
        <p:nvSpPr>
          <p:cNvPr id="23" name="Text 21"/>
          <p:cNvSpPr txBox="1"/>
          <p:nvPr/>
        </p:nvSpPr>
        <p:spPr>
          <a:xfrm>
            <a:off x="6400800" y="2331720"/>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no hint</a:t>
            </a:r>
            <a:endParaRPr lang="en-US" sz="1600" dirty="0"/>
          </a:p>
        </p:txBody>
      </p:sp>
      <p:sp>
        <p:nvSpPr>
          <p:cNvPr id="24" name="bar no fact"/>
          <p:cNvSpPr/>
          <p:nvPr/>
        </p:nvSpPr>
        <p:spPr>
          <a:xfrm>
            <a:off x="8641080" y="2411273"/>
            <a:ext cx="473202" cy="265176"/>
          </a:xfrm>
          <a:prstGeom prst="rect">
            <a:avLst/>
          </a:prstGeom>
          <a:solidFill>
            <a:srgbClr val="7F7F7F"/>
          </a:solidFill>
          <a:ln w="6350">
            <a:solidFill>
              <a:srgbClr val="7F7F7F"/>
            </a:solidFill>
            <a:prstDash val="solid"/>
          </a:ln>
        </p:spPr>
      </p:sp>
      <p:sp>
        <p:nvSpPr>
          <p:cNvPr id="25" name="Text 23"/>
          <p:cNvSpPr txBox="1"/>
          <p:nvPr/>
        </p:nvSpPr>
        <p:spPr>
          <a:xfrm>
            <a:off x="9205722" y="2331720"/>
            <a:ext cx="685800" cy="424282"/>
          </a:xfrm>
          <a:prstGeom prst="rect">
            <a:avLst/>
          </a:prstGeom>
          <a:noFill/>
          <a:ln/>
        </p:spPr>
        <p:txBody>
          <a:bodyPr wrap="square" lIns="0" tIns="0" rIns="0" bIns="0" rtlCol="0" anchor="ctr"/>
          <a:lstStyle/>
          <a:p>
            <a:pPr indent="0" marL="0">
              <a:buNone/>
            </a:pPr>
            <a:r>
              <a:rPr lang="en-US" sz="1800" b="1" dirty="0">
                <a:solidFill>
                  <a:srgbClr val="7F7F7F"/>
                </a:solidFill>
              </a:rPr>
              <a:t>23%</a:t>
            </a:r>
            <a:endParaRPr lang="en-US" sz="1800" dirty="0"/>
          </a:p>
        </p:txBody>
      </p:sp>
      <p:sp>
        <p:nvSpPr>
          <p:cNvPr id="26" name="Text 24"/>
          <p:cNvSpPr txBox="1"/>
          <p:nvPr/>
        </p:nvSpPr>
        <p:spPr>
          <a:xfrm>
            <a:off x="6400800" y="2862072"/>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hand-written hint</a:t>
            </a:r>
            <a:endParaRPr lang="en-US" sz="1600" dirty="0"/>
          </a:p>
        </p:txBody>
      </p:sp>
      <p:sp>
        <p:nvSpPr>
          <p:cNvPr id="27" name="bar hand-written fact"/>
          <p:cNvSpPr/>
          <p:nvPr/>
        </p:nvSpPr>
        <p:spPr>
          <a:xfrm>
            <a:off x="8641080" y="2941625"/>
            <a:ext cx="1707642" cy="265176"/>
          </a:xfrm>
          <a:prstGeom prst="rect">
            <a:avLst/>
          </a:prstGeom>
          <a:solidFill>
            <a:srgbClr val="7F7F7F"/>
          </a:solidFill>
          <a:ln w="6350">
            <a:solidFill>
              <a:srgbClr val="7F7F7F"/>
            </a:solidFill>
            <a:prstDash val="solid"/>
          </a:ln>
        </p:spPr>
      </p:sp>
      <p:sp>
        <p:nvSpPr>
          <p:cNvPr id="28" name="Text 26"/>
          <p:cNvSpPr txBox="1"/>
          <p:nvPr/>
        </p:nvSpPr>
        <p:spPr>
          <a:xfrm>
            <a:off x="10440162" y="2862072"/>
            <a:ext cx="685800" cy="424282"/>
          </a:xfrm>
          <a:prstGeom prst="rect">
            <a:avLst/>
          </a:prstGeom>
          <a:noFill/>
          <a:ln/>
        </p:spPr>
        <p:txBody>
          <a:bodyPr wrap="square" lIns="0" tIns="0" rIns="0" bIns="0" rtlCol="0" anchor="ctr"/>
          <a:lstStyle/>
          <a:p>
            <a:pPr indent="0" marL="0">
              <a:buNone/>
            </a:pPr>
            <a:r>
              <a:rPr lang="en-US" sz="1800" b="1" dirty="0">
                <a:solidFill>
                  <a:srgbClr val="7F7F7F"/>
                </a:solidFill>
              </a:rPr>
              <a:t>83%</a:t>
            </a:r>
            <a:endParaRPr lang="en-US" sz="1800" dirty="0"/>
          </a:p>
        </p:txBody>
      </p:sp>
      <p:sp>
        <p:nvSpPr>
          <p:cNvPr id="29" name="Text 27"/>
          <p:cNvSpPr txBox="1"/>
          <p:nvPr/>
        </p:nvSpPr>
        <p:spPr>
          <a:xfrm>
            <a:off x="6400800" y="3392424"/>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retrieved, top 1</a:t>
            </a:r>
            <a:endParaRPr lang="en-US" sz="1600" dirty="0"/>
          </a:p>
        </p:txBody>
      </p:sp>
      <p:sp>
        <p:nvSpPr>
          <p:cNvPr id="30" name="bar retrieved, top 1"/>
          <p:cNvSpPr/>
          <p:nvPr/>
        </p:nvSpPr>
        <p:spPr>
          <a:xfrm>
            <a:off x="8641080" y="3471977"/>
            <a:ext cx="1440180" cy="265176"/>
          </a:xfrm>
          <a:prstGeom prst="rect">
            <a:avLst/>
          </a:prstGeom>
          <a:solidFill>
            <a:srgbClr val="4472C4"/>
          </a:solidFill>
          <a:ln w="6350">
            <a:solidFill>
              <a:srgbClr val="4472C4"/>
            </a:solidFill>
            <a:prstDash val="solid"/>
          </a:ln>
        </p:spPr>
      </p:sp>
      <p:sp>
        <p:nvSpPr>
          <p:cNvPr id="31" name="Text 29"/>
          <p:cNvSpPr txBox="1"/>
          <p:nvPr/>
        </p:nvSpPr>
        <p:spPr>
          <a:xfrm>
            <a:off x="10172700" y="3392424"/>
            <a:ext cx="685800" cy="424282"/>
          </a:xfrm>
          <a:prstGeom prst="rect">
            <a:avLst/>
          </a:prstGeom>
          <a:noFill/>
          <a:ln/>
        </p:spPr>
        <p:txBody>
          <a:bodyPr wrap="square" lIns="0" tIns="0" rIns="0" bIns="0" rtlCol="0" anchor="ctr"/>
          <a:lstStyle/>
          <a:p>
            <a:pPr indent="0" marL="0">
              <a:buNone/>
            </a:pPr>
            <a:r>
              <a:rPr lang="en-US" sz="1800" b="1" dirty="0">
                <a:solidFill>
                  <a:srgbClr val="4472C4"/>
                </a:solidFill>
              </a:rPr>
              <a:t>70%</a:t>
            </a:r>
            <a:endParaRPr lang="en-US" sz="1800" dirty="0"/>
          </a:p>
        </p:txBody>
      </p:sp>
      <p:sp>
        <p:nvSpPr>
          <p:cNvPr id="32" name="Text 30"/>
          <p:cNvSpPr txBox="1"/>
          <p:nvPr/>
        </p:nvSpPr>
        <p:spPr>
          <a:xfrm>
            <a:off x="6400800" y="3922776"/>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top 3 (+ a near miss)</a:t>
            </a:r>
            <a:endParaRPr lang="en-US" sz="1600" dirty="0"/>
          </a:p>
        </p:txBody>
      </p:sp>
      <p:sp>
        <p:nvSpPr>
          <p:cNvPr id="33" name="bar top 3 (+ a near miss)"/>
          <p:cNvSpPr/>
          <p:nvPr/>
        </p:nvSpPr>
        <p:spPr>
          <a:xfrm>
            <a:off x="8641080" y="4002329"/>
            <a:ext cx="1172718" cy="265176"/>
          </a:xfrm>
          <a:prstGeom prst="rect">
            <a:avLst/>
          </a:prstGeom>
          <a:solidFill>
            <a:srgbClr val="C00000"/>
          </a:solidFill>
          <a:ln w="6350">
            <a:solidFill>
              <a:srgbClr val="C00000"/>
            </a:solidFill>
            <a:prstDash val="solid"/>
          </a:ln>
        </p:spPr>
      </p:sp>
      <p:sp>
        <p:nvSpPr>
          <p:cNvPr id="34" name="Text 32"/>
          <p:cNvSpPr txBox="1"/>
          <p:nvPr/>
        </p:nvSpPr>
        <p:spPr>
          <a:xfrm>
            <a:off x="9905238" y="3922776"/>
            <a:ext cx="685800" cy="424282"/>
          </a:xfrm>
          <a:prstGeom prst="rect">
            <a:avLst/>
          </a:prstGeom>
          <a:noFill/>
          <a:ln/>
        </p:spPr>
        <p:txBody>
          <a:bodyPr wrap="square" lIns="0" tIns="0" rIns="0" bIns="0" rtlCol="0" anchor="ctr"/>
          <a:lstStyle/>
          <a:p>
            <a:pPr indent="0" marL="0">
              <a:buNone/>
            </a:pPr>
            <a:r>
              <a:rPr lang="en-US" sz="1800" b="1" dirty="0">
                <a:solidFill>
                  <a:srgbClr val="C00000"/>
                </a:solidFill>
              </a:rPr>
              <a:t>57%</a:t>
            </a:r>
            <a:endParaRPr lang="en-US" sz="1800" dirty="0"/>
          </a:p>
        </p:txBody>
      </p:sp>
      <p:sp>
        <p:nvSpPr>
          <p:cNvPr id="35" name="Text 33"/>
          <p:cNvSpPr txBox="1"/>
          <p:nvPr/>
        </p:nvSpPr>
        <p:spPr>
          <a:xfrm>
            <a:off x="6400800" y="4453128"/>
            <a:ext cx="2103120" cy="424282"/>
          </a:xfrm>
          <a:prstGeom prst="rect">
            <a:avLst/>
          </a:prstGeom>
          <a:noFill/>
          <a:ln/>
        </p:spPr>
        <p:txBody>
          <a:bodyPr wrap="square" lIns="0" tIns="0" rIns="0" bIns="0" rtlCol="0" anchor="ctr"/>
          <a:lstStyle/>
          <a:p>
            <a:pPr algn="r" indent="0" marL="0">
              <a:buNone/>
            </a:pPr>
            <a:r>
              <a:rPr lang="en-US" sz="1600" dirty="0">
                <a:solidFill>
                  <a:schemeClr val="tx1"/>
                </a:solidFill>
              </a:rPr>
              <a:t>untitled pages, top 3</a:t>
            </a:r>
            <a:endParaRPr lang="en-US" sz="1600" dirty="0"/>
          </a:p>
        </p:txBody>
      </p:sp>
      <p:sp>
        <p:nvSpPr>
          <p:cNvPr id="36" name="bar untitled pages, top 3"/>
          <p:cNvSpPr/>
          <p:nvPr/>
        </p:nvSpPr>
        <p:spPr>
          <a:xfrm>
            <a:off x="8641080" y="4532681"/>
            <a:ext cx="1090422" cy="265176"/>
          </a:xfrm>
          <a:prstGeom prst="rect">
            <a:avLst/>
          </a:prstGeom>
          <a:solidFill>
            <a:srgbClr val="7F7F7F"/>
          </a:solidFill>
          <a:ln w="6350">
            <a:solidFill>
              <a:srgbClr val="7F7F7F"/>
            </a:solidFill>
            <a:prstDash val="solid"/>
          </a:ln>
        </p:spPr>
      </p:sp>
      <p:sp>
        <p:nvSpPr>
          <p:cNvPr id="37" name="Text 35"/>
          <p:cNvSpPr txBox="1"/>
          <p:nvPr/>
        </p:nvSpPr>
        <p:spPr>
          <a:xfrm>
            <a:off x="9822942" y="4453128"/>
            <a:ext cx="685800" cy="424282"/>
          </a:xfrm>
          <a:prstGeom prst="rect">
            <a:avLst/>
          </a:prstGeom>
          <a:noFill/>
          <a:ln/>
        </p:spPr>
        <p:txBody>
          <a:bodyPr wrap="square" lIns="0" tIns="0" rIns="0" bIns="0" rtlCol="0" anchor="ctr"/>
          <a:lstStyle/>
          <a:p>
            <a:pPr indent="0" marL="0">
              <a:buNone/>
            </a:pPr>
            <a:r>
              <a:rPr lang="en-US" sz="1800" b="1" dirty="0">
                <a:solidFill>
                  <a:srgbClr val="7F7F7F"/>
                </a:solidFill>
              </a:rPr>
              <a:t>53%</a:t>
            </a:r>
            <a:endParaRPr lang="en-US" sz="1800" dirty="0"/>
          </a:p>
        </p:txBody>
      </p:sp>
      <p:sp>
        <p:nvSpPr>
          <p:cNvPr id="38" name="Text 36"/>
          <p:cNvSpPr txBox="1"/>
          <p:nvPr/>
        </p:nvSpPr>
        <p:spPr>
          <a:xfrm>
            <a:off x="548640" y="5166360"/>
            <a:ext cx="11064240" cy="457200"/>
          </a:xfrm>
          <a:prstGeom prst="rect">
            <a:avLst/>
          </a:prstGeom>
          <a:noFill/>
          <a:ln/>
        </p:spPr>
        <p:txBody>
          <a:bodyPr wrap="square" lIns="0" tIns="0" rIns="0" bIns="0" rtlCol="0" anchor="ctr"/>
          <a:lstStyle/>
          <a:p>
            <a:pPr indent="0" marL="0">
              <a:buNone/>
            </a:pPr>
            <a:r>
              <a:rPr lang="en-US" sz="1500" dirty="0">
                <a:solidFill>
                  <a:schemeClr val="tx2"/>
                </a:solidFill>
              </a:rPr>
              <a:t>The near miss: top 3 also brings the TSP routing page. No documentation at all? The model's own checked program is the hint (page 20).</a:t>
            </a:r>
            <a:endParaRPr lang="en-US" sz="1500" dirty="0"/>
          </a:p>
        </p:txBody>
      </p:sp>
      <p:sp>
        <p:nvSpPr>
          <p:cNvPr id="39" name="Text 37"/>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Precise retrieval works like a hand-written hint; a near-miss page can cost 26 points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why can thinking make it worse?</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Qwen3-32B writes OR-Tools programs for optimization word problems (NL4OPT + IndustryOR)</a:t>
            </a:r>
            <a:endParaRPr lang="en-US" sz="1700" dirty="0"/>
          </a:p>
        </p:txBody>
      </p:sp>
      <p:sp>
        <p:nvSpPr>
          <p:cNvPr id="4" name="box thinking, no fact"/>
          <p:cNvSpPr/>
          <p:nvPr/>
        </p:nvSpPr>
        <p:spPr>
          <a:xfrm>
            <a:off x="548640" y="1783080"/>
            <a:ext cx="2468880" cy="548640"/>
          </a:xfrm>
          <a:prstGeom prst="roundRect">
            <a:avLst>
              <a:gd name="adj" fmla="val 10000"/>
            </a:avLst>
          </a:prstGeom>
          <a:solidFill>
            <a:srgbClr val="FCE4D6"/>
          </a:solidFill>
          <a:ln w="9525">
            <a:solidFill>
              <a:srgbClr val="BFBFBF"/>
            </a:solidFill>
            <a:prstDash val="solid"/>
          </a:ln>
        </p:spPr>
      </p:sp>
      <p:sp>
        <p:nvSpPr>
          <p:cNvPr id="5" name="Text 3"/>
          <p:cNvSpPr txBox="1"/>
          <p:nvPr/>
        </p:nvSpPr>
        <p:spPr>
          <a:xfrm>
            <a:off x="621792" y="1783080"/>
            <a:ext cx="2322576" cy="548640"/>
          </a:xfrm>
          <a:prstGeom prst="rect">
            <a:avLst/>
          </a:prstGeom>
          <a:noFill/>
          <a:ln/>
        </p:spPr>
        <p:txBody>
          <a:bodyPr wrap="square" lIns="0" tIns="0" rIns="0" bIns="0" rtlCol="0" anchor="ctr"/>
          <a:lstStyle/>
          <a:p>
            <a:pPr algn="ctr" indent="0" marL="0">
              <a:buNone/>
            </a:pPr>
            <a:r>
              <a:rPr lang="en-US" sz="1600" b="1" dirty="0">
                <a:solidFill>
                  <a:schemeClr val="tx1"/>
                </a:solidFill>
              </a:rPr>
              <a:t>thinking, no hint</a:t>
            </a:r>
            <a:endParaRPr lang="en-US" sz="1600" dirty="0"/>
          </a:p>
        </p:txBody>
      </p:sp>
      <p:sp>
        <p:nvSpPr>
          <p:cNvPr id="6" name="Shape 4"/>
          <p:cNvSpPr/>
          <p:nvPr/>
        </p:nvSpPr>
        <p:spPr>
          <a:xfrm>
            <a:off x="3017520" y="2057400"/>
            <a:ext cx="320040" cy="0"/>
          </a:xfrm>
          <a:prstGeom prst="line">
            <a:avLst/>
          </a:prstGeom>
          <a:noFill/>
          <a:ln w="25400">
            <a:solidFill>
              <a:srgbClr val="7F7F7F"/>
            </a:solidFill>
            <a:prstDash val="solid"/>
            <a:tailEnd type="triangle"/>
          </a:ln>
        </p:spPr>
      </p:sp>
      <p:sp>
        <p:nvSpPr>
          <p:cNvPr id="7" name="code Objective().SetMaxim"/>
          <p:cNvSpPr/>
          <p:nvPr/>
        </p:nvSpPr>
        <p:spPr>
          <a:xfrm>
            <a:off x="3337560" y="1783080"/>
            <a:ext cx="4480560" cy="548640"/>
          </a:xfrm>
          <a:prstGeom prst="rect">
            <a:avLst/>
          </a:prstGeom>
          <a:solidFill>
            <a:srgbClr val="FFFFFF"/>
          </a:solidFill>
          <a:ln w="9525">
            <a:solidFill>
              <a:srgbClr val="BFBFBF"/>
            </a:solidFill>
            <a:prstDash val="solid"/>
          </a:ln>
        </p:spPr>
      </p:sp>
      <p:sp>
        <p:nvSpPr>
          <p:cNvPr id="8" name="Text 6"/>
          <p:cNvSpPr txBox="1"/>
          <p:nvPr/>
        </p:nvSpPr>
        <p:spPr>
          <a:xfrm>
            <a:off x="3447288" y="1783080"/>
            <a:ext cx="4261104" cy="548640"/>
          </a:xfrm>
          <a:prstGeom prst="rect">
            <a:avLst/>
          </a:prstGeom>
          <a:noFill/>
          <a:ln/>
        </p:spPr>
        <p:txBody>
          <a:bodyPr wrap="square" lIns="0" tIns="0" rIns="0" bIns="0" rtlCol="0" anchor="ctr"/>
          <a:lstStyle/>
          <a:p>
            <a:pPr indent="0" marL="0">
              <a:buNone/>
            </a:pPr>
            <a:r>
              <a:rPr lang="en-US" sz="1500" dirty="0">
                <a:solidFill>
                  <a:srgbClr val="C00000"/>
                </a:solidFill>
                <a:latin typeface="Courier New" pitchFamily="34" charset="0"/>
                <a:ea typeface="Courier New" pitchFamily="34" charset="-122"/>
                <a:cs typeface="Courier New" pitchFamily="34" charset="-120"/>
              </a:rPr>
              <a:t>Objective().SetMaximize()</a:t>
            </a:r>
            <a:endParaRPr lang="en-US" sz="1500" dirty="0"/>
          </a:p>
        </p:txBody>
      </p:sp>
      <p:sp>
        <p:nvSpPr>
          <p:cNvPr id="9" name="Text 7"/>
          <p:cNvSpPr txBox="1"/>
          <p:nvPr/>
        </p:nvSpPr>
        <p:spPr>
          <a:xfrm>
            <a:off x="8001000" y="1783080"/>
            <a:ext cx="3566160" cy="548640"/>
          </a:xfrm>
          <a:prstGeom prst="rect">
            <a:avLst/>
          </a:prstGeom>
          <a:noFill/>
          <a:ln/>
        </p:spPr>
        <p:txBody>
          <a:bodyPr wrap="square" lIns="0" tIns="0" rIns="0" bIns="0" rtlCol="0" anchor="ctr"/>
          <a:lstStyle/>
          <a:p>
            <a:pPr indent="0" marL="0">
              <a:buNone/>
            </a:pPr>
            <a:r>
              <a:rPr lang="en-US" sz="1700" b="1" dirty="0">
                <a:solidFill>
                  <a:srgbClr val="C00000"/>
                </a:solidFill>
              </a:rPr>
              <a:t>✗ invented method: crash</a:t>
            </a:r>
            <a:endParaRPr lang="en-US" sz="1700" dirty="0"/>
          </a:p>
        </p:txBody>
      </p:sp>
      <p:sp>
        <p:nvSpPr>
          <p:cNvPr id="10" name="box exact usage first"/>
          <p:cNvSpPr/>
          <p:nvPr/>
        </p:nvSpPr>
        <p:spPr>
          <a:xfrm>
            <a:off x="548640" y="2514600"/>
            <a:ext cx="2468880" cy="548640"/>
          </a:xfrm>
          <a:prstGeom prst="roundRect">
            <a:avLst>
              <a:gd name="adj" fmla="val 10000"/>
            </a:avLst>
          </a:prstGeom>
          <a:solidFill>
            <a:srgbClr val="E2F0D9"/>
          </a:solidFill>
          <a:ln w="9525">
            <a:solidFill>
              <a:srgbClr val="BFBFBF"/>
            </a:solidFill>
            <a:prstDash val="solid"/>
          </a:ln>
        </p:spPr>
      </p:sp>
      <p:sp>
        <p:nvSpPr>
          <p:cNvPr id="11" name="Text 9"/>
          <p:cNvSpPr txBox="1"/>
          <p:nvPr/>
        </p:nvSpPr>
        <p:spPr>
          <a:xfrm>
            <a:off x="621792" y="2514600"/>
            <a:ext cx="2322576" cy="548640"/>
          </a:xfrm>
          <a:prstGeom prst="rect">
            <a:avLst/>
          </a:prstGeom>
          <a:noFill/>
          <a:ln/>
        </p:spPr>
        <p:txBody>
          <a:bodyPr wrap="square" lIns="0" tIns="0" rIns="0" bIns="0" rtlCol="0" anchor="ctr"/>
          <a:lstStyle/>
          <a:p>
            <a:pPr algn="ctr" indent="0" marL="0">
              <a:buNone/>
            </a:pPr>
            <a:r>
              <a:rPr lang="en-US" sz="1600" b="1" dirty="0">
                <a:solidFill>
                  <a:schemeClr val="tx1"/>
                </a:solidFill>
              </a:rPr>
              <a:t>exact usage first</a:t>
            </a:r>
            <a:endParaRPr lang="en-US" sz="1600" dirty="0"/>
          </a:p>
        </p:txBody>
      </p:sp>
      <p:sp>
        <p:nvSpPr>
          <p:cNvPr id="12" name="Shape 10"/>
          <p:cNvSpPr/>
          <p:nvPr/>
        </p:nvSpPr>
        <p:spPr>
          <a:xfrm>
            <a:off x="3017520" y="2788920"/>
            <a:ext cx="320040" cy="0"/>
          </a:xfrm>
          <a:prstGeom prst="line">
            <a:avLst/>
          </a:prstGeom>
          <a:noFill/>
          <a:ln w="25400">
            <a:solidFill>
              <a:srgbClr val="7F7F7F"/>
            </a:solidFill>
            <a:prstDash val="solid"/>
            <a:tailEnd type="triangle"/>
          </a:ln>
        </p:spPr>
      </p:sp>
      <p:sp>
        <p:nvSpPr>
          <p:cNvPr id="13" name="code solver.Maximize(...)"/>
          <p:cNvSpPr/>
          <p:nvPr/>
        </p:nvSpPr>
        <p:spPr>
          <a:xfrm>
            <a:off x="3337560" y="2514600"/>
            <a:ext cx="4480560" cy="548640"/>
          </a:xfrm>
          <a:prstGeom prst="rect">
            <a:avLst/>
          </a:prstGeom>
          <a:solidFill>
            <a:srgbClr val="FFFFFF"/>
          </a:solidFill>
          <a:ln w="9525">
            <a:solidFill>
              <a:srgbClr val="BFBFBF"/>
            </a:solidFill>
            <a:prstDash val="solid"/>
          </a:ln>
        </p:spPr>
      </p:sp>
      <p:sp>
        <p:nvSpPr>
          <p:cNvPr id="14" name="Text 12"/>
          <p:cNvSpPr txBox="1"/>
          <p:nvPr/>
        </p:nvSpPr>
        <p:spPr>
          <a:xfrm>
            <a:off x="3447288" y="2514600"/>
            <a:ext cx="4261104" cy="548640"/>
          </a:xfrm>
          <a:prstGeom prst="rect">
            <a:avLst/>
          </a:prstGeom>
          <a:noFill/>
          <a:ln/>
        </p:spPr>
        <p:txBody>
          <a:bodyPr wrap="square" lIns="0" tIns="0" rIns="0" bIns="0" rtlCol="0" anchor="ctr"/>
          <a:lstStyle/>
          <a:p>
            <a:pPr indent="0" marL="0">
              <a:buNone/>
            </a:pPr>
            <a:r>
              <a:rPr lang="en-US" sz="1500" dirty="0">
                <a:solidFill>
                  <a:srgbClr val="38761D"/>
                </a:solidFill>
                <a:latin typeface="Courier New" pitchFamily="34" charset="0"/>
                <a:ea typeface="Courier New" pitchFamily="34" charset="-122"/>
                <a:cs typeface="Courier New" pitchFamily="34" charset="-120"/>
              </a:rPr>
              <a:t>solver.Maximize(...)</a:t>
            </a:r>
            <a:endParaRPr lang="en-US" sz="1500" dirty="0"/>
          </a:p>
        </p:txBody>
      </p:sp>
      <p:sp>
        <p:nvSpPr>
          <p:cNvPr id="15" name="Text 13"/>
          <p:cNvSpPr txBox="1"/>
          <p:nvPr/>
        </p:nvSpPr>
        <p:spPr>
          <a:xfrm>
            <a:off x="8001000" y="2514600"/>
            <a:ext cx="3566160" cy="548640"/>
          </a:xfrm>
          <a:prstGeom prst="rect">
            <a:avLst/>
          </a:prstGeom>
          <a:noFill/>
          <a:ln/>
        </p:spPr>
        <p:txBody>
          <a:bodyPr wrap="square" lIns="0" tIns="0" rIns="0" bIns="0" rtlCol="0" anchor="ctr"/>
          <a:lstStyle/>
          <a:p>
            <a:pPr indent="0" marL="0">
              <a:buNone/>
            </a:pPr>
            <a:r>
              <a:rPr lang="en-US" sz="1700" b="1" dirty="0">
                <a:solidFill>
                  <a:srgbClr val="38761D"/>
                </a:solidFill>
              </a:rPr>
              <a:t>✓ the real call: runs</a:t>
            </a:r>
            <a:endParaRPr lang="en-US" sz="1700" dirty="0"/>
          </a:p>
        </p:txBody>
      </p:sp>
      <p:sp>
        <p:nvSpPr>
          <p:cNvPr id="16" name="Text 14"/>
          <p:cNvSpPr txBox="1"/>
          <p:nvPr/>
        </p:nvSpPr>
        <p:spPr>
          <a:xfrm>
            <a:off x="548640" y="3291840"/>
            <a:ext cx="11064240" cy="365760"/>
          </a:xfrm>
          <a:prstGeom prst="rect">
            <a:avLst/>
          </a:prstGeom>
          <a:noFill/>
          <a:ln/>
        </p:spPr>
        <p:txBody>
          <a:bodyPr wrap="square" lIns="0" tIns="0" rIns="0" bIns="0" rtlCol="0" anchor="ctr"/>
          <a:lstStyle/>
          <a:p>
            <a:pPr indent="0" marL="0">
              <a:buNone/>
            </a:pPr>
            <a:r>
              <a:rPr lang="en-US" sz="1700" b="1" dirty="0">
                <a:solidFill>
                  <a:schemeClr val="tx1"/>
                </a:solidFill>
              </a:rPr>
              <a:t>% solved:</a:t>
            </a:r>
            <a:endParaRPr lang="en-US" sz="1700" dirty="0"/>
          </a:p>
        </p:txBody>
      </p:sp>
      <p:sp>
        <p:nvSpPr>
          <p:cNvPr id="17" name="Text 15"/>
          <p:cNvSpPr txBox="1"/>
          <p:nvPr/>
        </p:nvSpPr>
        <p:spPr>
          <a:xfrm>
            <a:off x="548640" y="3657600"/>
            <a:ext cx="3108960" cy="365760"/>
          </a:xfrm>
          <a:prstGeom prst="rect">
            <a:avLst/>
          </a:prstGeom>
          <a:noFill/>
          <a:ln/>
        </p:spPr>
        <p:txBody>
          <a:bodyPr wrap="square" lIns="0" tIns="0" rIns="0" bIns="0" rtlCol="0" anchor="ctr"/>
          <a:lstStyle/>
          <a:p>
            <a:pPr algn="r" indent="0" marL="0">
              <a:buNone/>
            </a:pPr>
            <a:r>
              <a:rPr lang="en-US" sz="1600" dirty="0">
                <a:solidFill>
                  <a:schemeClr val="tx1"/>
                </a:solidFill>
              </a:rPr>
              <a:t>no hint, no thinking</a:t>
            </a:r>
            <a:endParaRPr lang="en-US" sz="1600" dirty="0"/>
          </a:p>
        </p:txBody>
      </p:sp>
      <p:sp>
        <p:nvSpPr>
          <p:cNvPr id="18" name="bar no fact, no thinking"/>
          <p:cNvSpPr/>
          <p:nvPr/>
        </p:nvSpPr>
        <p:spPr>
          <a:xfrm>
            <a:off x="3794760" y="3726180"/>
            <a:ext cx="3528304" cy="228600"/>
          </a:xfrm>
          <a:prstGeom prst="rect">
            <a:avLst/>
          </a:prstGeom>
          <a:solidFill>
            <a:srgbClr val="7F7F7F"/>
          </a:solidFill>
          <a:ln w="6350">
            <a:solidFill>
              <a:srgbClr val="7F7F7F"/>
            </a:solidFill>
            <a:prstDash val="solid"/>
          </a:ln>
        </p:spPr>
      </p:sp>
      <p:sp>
        <p:nvSpPr>
          <p:cNvPr id="19" name="Text 17"/>
          <p:cNvSpPr txBox="1"/>
          <p:nvPr/>
        </p:nvSpPr>
        <p:spPr>
          <a:xfrm>
            <a:off x="7414504" y="3657600"/>
            <a:ext cx="2377440" cy="365760"/>
          </a:xfrm>
          <a:prstGeom prst="rect">
            <a:avLst/>
          </a:prstGeom>
          <a:noFill/>
          <a:ln/>
        </p:spPr>
        <p:txBody>
          <a:bodyPr wrap="square" lIns="0" tIns="0" rIns="0" bIns="0" rtlCol="0" anchor="ctr"/>
          <a:lstStyle/>
          <a:p>
            <a:pPr indent="0" marL="0">
              <a:buNone/>
            </a:pPr>
            <a:r>
              <a:rPr lang="en-US" sz="1800" b="1" dirty="0">
                <a:solidFill>
                  <a:srgbClr val="7F7F7F"/>
                </a:solidFill>
              </a:rPr>
              <a:t>65.4%</a:t>
            </a:r>
            <a:endParaRPr lang="en-US" sz="1800" dirty="0"/>
          </a:p>
        </p:txBody>
      </p:sp>
      <p:sp>
        <p:nvSpPr>
          <p:cNvPr id="20" name="Text 18"/>
          <p:cNvSpPr txBox="1"/>
          <p:nvPr/>
        </p:nvSpPr>
        <p:spPr>
          <a:xfrm>
            <a:off x="548640" y="4114800"/>
            <a:ext cx="3108960" cy="365760"/>
          </a:xfrm>
          <a:prstGeom prst="rect">
            <a:avLst/>
          </a:prstGeom>
          <a:noFill/>
          <a:ln/>
        </p:spPr>
        <p:txBody>
          <a:bodyPr wrap="square" lIns="0" tIns="0" rIns="0" bIns="0" rtlCol="0" anchor="ctr"/>
          <a:lstStyle/>
          <a:p>
            <a:pPr algn="r" indent="0" marL="0">
              <a:buNone/>
            </a:pPr>
            <a:r>
              <a:rPr lang="en-US" sz="1600" dirty="0">
                <a:solidFill>
                  <a:schemeClr val="tx1"/>
                </a:solidFill>
              </a:rPr>
              <a:t>no hint, thinking</a:t>
            </a:r>
            <a:endParaRPr lang="en-US" sz="1600" dirty="0"/>
          </a:p>
        </p:txBody>
      </p:sp>
      <p:sp>
        <p:nvSpPr>
          <p:cNvPr id="21" name="bar no fact, thinking"/>
          <p:cNvSpPr/>
          <p:nvPr/>
        </p:nvSpPr>
        <p:spPr>
          <a:xfrm>
            <a:off x="3794760" y="4183380"/>
            <a:ext cx="2805379" cy="228600"/>
          </a:xfrm>
          <a:prstGeom prst="rect">
            <a:avLst/>
          </a:prstGeom>
          <a:solidFill>
            <a:srgbClr val="C00000"/>
          </a:solidFill>
          <a:ln w="6350">
            <a:solidFill>
              <a:srgbClr val="C00000"/>
            </a:solidFill>
            <a:prstDash val="solid"/>
          </a:ln>
        </p:spPr>
      </p:sp>
      <p:sp>
        <p:nvSpPr>
          <p:cNvPr id="22" name="Text 20"/>
          <p:cNvSpPr txBox="1"/>
          <p:nvPr/>
        </p:nvSpPr>
        <p:spPr>
          <a:xfrm>
            <a:off x="6691579" y="4114800"/>
            <a:ext cx="2377440" cy="365760"/>
          </a:xfrm>
          <a:prstGeom prst="rect">
            <a:avLst/>
          </a:prstGeom>
          <a:noFill/>
          <a:ln/>
        </p:spPr>
        <p:txBody>
          <a:bodyPr wrap="square" lIns="0" tIns="0" rIns="0" bIns="0" rtlCol="0" anchor="ctr"/>
          <a:lstStyle/>
          <a:p>
            <a:pPr indent="0" marL="0">
              <a:buNone/>
            </a:pPr>
            <a:r>
              <a:rPr lang="en-US" sz="1800" b="1" dirty="0">
                <a:solidFill>
                  <a:srgbClr val="C00000"/>
                </a:solidFill>
              </a:rPr>
              <a:t>52.0%</a:t>
            </a:r>
            <a:endParaRPr lang="en-US" sz="1800" dirty="0"/>
          </a:p>
        </p:txBody>
      </p:sp>
      <p:sp>
        <p:nvSpPr>
          <p:cNvPr id="23" name="Text 21"/>
          <p:cNvSpPr txBox="1"/>
          <p:nvPr/>
        </p:nvSpPr>
        <p:spPr>
          <a:xfrm>
            <a:off x="548640" y="4572000"/>
            <a:ext cx="3108960" cy="365760"/>
          </a:xfrm>
          <a:prstGeom prst="rect">
            <a:avLst/>
          </a:prstGeom>
          <a:noFill/>
          <a:ln/>
        </p:spPr>
        <p:txBody>
          <a:bodyPr wrap="square" lIns="0" tIns="0" rIns="0" bIns="0" rtlCol="0" anchor="ctr"/>
          <a:lstStyle/>
          <a:p>
            <a:pPr algn="r" indent="0" marL="0">
              <a:buNone/>
            </a:pPr>
            <a:r>
              <a:rPr lang="en-US" sz="1600" dirty="0">
                <a:solidFill>
                  <a:schemeClr val="tx1"/>
                </a:solidFill>
              </a:rPr>
              <a:t>hint, always thinking</a:t>
            </a:r>
            <a:endParaRPr lang="en-US" sz="1600" dirty="0"/>
          </a:p>
        </p:txBody>
      </p:sp>
      <p:sp>
        <p:nvSpPr>
          <p:cNvPr id="24" name="bar fact, always thinking"/>
          <p:cNvSpPr/>
          <p:nvPr/>
        </p:nvSpPr>
        <p:spPr>
          <a:xfrm>
            <a:off x="3794760" y="4640580"/>
            <a:ext cx="3884371" cy="228600"/>
          </a:xfrm>
          <a:prstGeom prst="rect">
            <a:avLst/>
          </a:prstGeom>
          <a:solidFill>
            <a:srgbClr val="7F7F7F"/>
          </a:solidFill>
          <a:ln w="6350">
            <a:solidFill>
              <a:srgbClr val="7F7F7F"/>
            </a:solidFill>
            <a:prstDash val="solid"/>
          </a:ln>
        </p:spPr>
      </p:sp>
      <p:sp>
        <p:nvSpPr>
          <p:cNvPr id="25" name="Text 23"/>
          <p:cNvSpPr txBox="1"/>
          <p:nvPr/>
        </p:nvSpPr>
        <p:spPr>
          <a:xfrm>
            <a:off x="7770571" y="4572000"/>
            <a:ext cx="2377440" cy="365760"/>
          </a:xfrm>
          <a:prstGeom prst="rect">
            <a:avLst/>
          </a:prstGeom>
          <a:noFill/>
          <a:ln/>
        </p:spPr>
        <p:txBody>
          <a:bodyPr wrap="square" lIns="0" tIns="0" rIns="0" bIns="0" rtlCol="0" anchor="ctr"/>
          <a:lstStyle/>
          <a:p>
            <a:pPr indent="0" marL="0">
              <a:buNone/>
            </a:pPr>
            <a:r>
              <a:rPr lang="en-US" sz="1800" b="1" dirty="0">
                <a:solidFill>
                  <a:srgbClr val="7F7F7F"/>
                </a:solidFill>
              </a:rPr>
              <a:t>72.0% · 5.5k tokens</a:t>
            </a:r>
            <a:endParaRPr lang="en-US" sz="1800" dirty="0"/>
          </a:p>
        </p:txBody>
      </p:sp>
      <p:sp>
        <p:nvSpPr>
          <p:cNvPr id="26" name="Text 24"/>
          <p:cNvSpPr txBox="1"/>
          <p:nvPr/>
        </p:nvSpPr>
        <p:spPr>
          <a:xfrm>
            <a:off x="548640" y="5029200"/>
            <a:ext cx="3108960" cy="365760"/>
          </a:xfrm>
          <a:prstGeom prst="rect">
            <a:avLst/>
          </a:prstGeom>
          <a:noFill/>
          <a:ln/>
        </p:spPr>
        <p:txBody>
          <a:bodyPr wrap="square" lIns="0" tIns="0" rIns="0" bIns="0" rtlCol="0" anchor="ctr"/>
          <a:lstStyle/>
          <a:p>
            <a:pPr algn="r" indent="0" marL="0">
              <a:buNone/>
            </a:pPr>
            <a:r>
              <a:rPr lang="en-US" sz="1600" dirty="0">
                <a:solidFill>
                  <a:schemeClr val="tx1"/>
                </a:solidFill>
              </a:rPr>
              <a:t>hint first, think on failure</a:t>
            </a:r>
            <a:endParaRPr lang="en-US" sz="1600" dirty="0"/>
          </a:p>
        </p:txBody>
      </p:sp>
      <p:sp>
        <p:nvSpPr>
          <p:cNvPr id="27" name="bar fact first, think on failure"/>
          <p:cNvSpPr/>
          <p:nvPr/>
        </p:nvSpPr>
        <p:spPr>
          <a:xfrm>
            <a:off x="3794760" y="5097780"/>
            <a:ext cx="3905951" cy="228600"/>
          </a:xfrm>
          <a:prstGeom prst="rect">
            <a:avLst/>
          </a:prstGeom>
          <a:solidFill>
            <a:srgbClr val="4472C4"/>
          </a:solidFill>
          <a:ln w="6350">
            <a:solidFill>
              <a:srgbClr val="4472C4"/>
            </a:solidFill>
            <a:prstDash val="solid"/>
          </a:ln>
        </p:spPr>
      </p:sp>
      <p:sp>
        <p:nvSpPr>
          <p:cNvPr id="28" name="Text 26"/>
          <p:cNvSpPr txBox="1"/>
          <p:nvPr/>
        </p:nvSpPr>
        <p:spPr>
          <a:xfrm>
            <a:off x="7792151" y="5029200"/>
            <a:ext cx="2377440" cy="365760"/>
          </a:xfrm>
          <a:prstGeom prst="rect">
            <a:avLst/>
          </a:prstGeom>
          <a:noFill/>
          <a:ln/>
        </p:spPr>
        <p:txBody>
          <a:bodyPr wrap="square" lIns="0" tIns="0" rIns="0" bIns="0" rtlCol="0" anchor="ctr"/>
          <a:lstStyle/>
          <a:p>
            <a:pPr indent="0" marL="0">
              <a:buNone/>
            </a:pPr>
            <a:r>
              <a:rPr lang="en-US" sz="1800" b="1" dirty="0">
                <a:solidFill>
                  <a:srgbClr val="4472C4"/>
                </a:solidFill>
              </a:rPr>
              <a:t>72.4% · 1.3k tokens</a:t>
            </a:r>
            <a:endParaRPr lang="en-US" sz="1800" dirty="0"/>
          </a:p>
        </p:txBody>
      </p:sp>
      <p:sp>
        <p:nvSpPr>
          <p:cNvPr id="29" name="Text 27"/>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Thinking cannot add what the model does not know; given the hint first, thinking helps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what if a wrong program passes the check?</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It happens, but a perfect check would buy little: thinking rarely fixes those problems</a:t>
            </a:r>
            <a:endParaRPr lang="en-US" sz="1700" dirty="0"/>
          </a:p>
        </p:txBody>
      </p:sp>
      <p:sp>
        <p:nvSpPr>
          <p:cNvPr id="4" name="leak 24–37%"/>
          <p:cNvSpPr/>
          <p:nvPr/>
        </p:nvSpPr>
        <p:spPr>
          <a:xfrm>
            <a:off x="548640" y="1783080"/>
            <a:ext cx="3611880" cy="1737360"/>
          </a:xfrm>
          <a:prstGeom prst="roundRect">
            <a:avLst>
              <a:gd name="adj" fmla="val 4211"/>
            </a:avLst>
          </a:prstGeom>
          <a:solidFill>
            <a:srgbClr val="F2F2F2"/>
          </a:solidFill>
          <a:ln w="9525">
            <a:solidFill>
              <a:srgbClr val="D9D9D9"/>
            </a:solidFill>
            <a:prstDash val="solid"/>
          </a:ln>
        </p:spPr>
      </p:sp>
      <p:sp>
        <p:nvSpPr>
          <p:cNvPr id="5" name="Text 3"/>
          <p:cNvSpPr txBox="1"/>
          <p:nvPr/>
        </p:nvSpPr>
        <p:spPr>
          <a:xfrm>
            <a:off x="777240" y="1874520"/>
            <a:ext cx="3200400" cy="685800"/>
          </a:xfrm>
          <a:prstGeom prst="rect">
            <a:avLst/>
          </a:prstGeom>
          <a:noFill/>
          <a:ln/>
        </p:spPr>
        <p:txBody>
          <a:bodyPr wrap="square" lIns="0" tIns="0" rIns="0" bIns="0" rtlCol="0" anchor="ctr"/>
          <a:lstStyle/>
          <a:p>
            <a:pPr indent="0" marL="0">
              <a:buNone/>
            </a:pPr>
            <a:r>
              <a:rPr lang="en-US" sz="3600" b="1" dirty="0">
                <a:solidFill>
                  <a:srgbClr val="C00000"/>
                </a:solidFill>
              </a:rPr>
              <a:t>24–37%</a:t>
            </a:r>
            <a:endParaRPr lang="en-US" sz="3600" dirty="0"/>
          </a:p>
        </p:txBody>
      </p:sp>
      <p:sp>
        <p:nvSpPr>
          <p:cNvPr id="6" name="Text 4"/>
          <p:cNvSpPr txBox="1"/>
          <p:nvPr/>
        </p:nvSpPr>
        <p:spPr>
          <a:xfrm>
            <a:off x="777240" y="2606040"/>
            <a:ext cx="3200400" cy="822960"/>
          </a:xfrm>
          <a:prstGeom prst="rect">
            <a:avLst/>
          </a:prstGeom>
          <a:noFill/>
          <a:ln/>
        </p:spPr>
        <p:txBody>
          <a:bodyPr wrap="square" lIns="0" tIns="0" rIns="0" bIns="0" rtlCol="0" anchor="t"/>
          <a:lstStyle/>
          <a:p>
            <a:pPr indent="0" marL="0">
              <a:buNone/>
            </a:pPr>
            <a:r>
              <a:rPr lang="en-US" sz="1500" dirty="0">
                <a:solidFill>
                  <a:schemeClr val="tx1"/>
                </a:solidFill>
              </a:rPr>
              <a:t>of gpt-oss-120b's wrong contest programs pass the problem's examples</a:t>
            </a:r>
            <a:endParaRPr lang="en-US" sz="1500" dirty="0"/>
          </a:p>
        </p:txBody>
      </p:sp>
      <p:sp>
        <p:nvSpPr>
          <p:cNvPr id="7" name="leak 12–16%"/>
          <p:cNvSpPr/>
          <p:nvPr/>
        </p:nvSpPr>
        <p:spPr>
          <a:xfrm>
            <a:off x="4297680" y="1783080"/>
            <a:ext cx="3611880" cy="1737360"/>
          </a:xfrm>
          <a:prstGeom prst="roundRect">
            <a:avLst>
              <a:gd name="adj" fmla="val 4211"/>
            </a:avLst>
          </a:prstGeom>
          <a:solidFill>
            <a:srgbClr val="F2F2F2"/>
          </a:solidFill>
          <a:ln w="9525">
            <a:solidFill>
              <a:srgbClr val="D9D9D9"/>
            </a:solidFill>
            <a:prstDash val="solid"/>
          </a:ln>
        </p:spPr>
      </p:sp>
      <p:sp>
        <p:nvSpPr>
          <p:cNvPr id="8" name="Text 6"/>
          <p:cNvSpPr txBox="1"/>
          <p:nvPr/>
        </p:nvSpPr>
        <p:spPr>
          <a:xfrm>
            <a:off x="4526280" y="1874520"/>
            <a:ext cx="3200400" cy="685800"/>
          </a:xfrm>
          <a:prstGeom prst="rect">
            <a:avLst/>
          </a:prstGeom>
          <a:noFill/>
          <a:ln/>
        </p:spPr>
        <p:txBody>
          <a:bodyPr wrap="square" lIns="0" tIns="0" rIns="0" bIns="0" rtlCol="0" anchor="ctr"/>
          <a:lstStyle/>
          <a:p>
            <a:pPr indent="0" marL="0">
              <a:buNone/>
            </a:pPr>
            <a:r>
              <a:rPr lang="en-US" sz="3600" b="1" dirty="0">
                <a:solidFill>
                  <a:srgbClr val="C00000"/>
                </a:solidFill>
              </a:rPr>
              <a:t>12–16%</a:t>
            </a:r>
            <a:endParaRPr lang="en-US" sz="3600" dirty="0"/>
          </a:p>
        </p:txBody>
      </p:sp>
      <p:sp>
        <p:nvSpPr>
          <p:cNvPr id="9" name="Text 7"/>
          <p:cNvSpPr txBox="1"/>
          <p:nvPr/>
        </p:nvSpPr>
        <p:spPr>
          <a:xfrm>
            <a:off x="4526280" y="2606040"/>
            <a:ext cx="3200400" cy="822960"/>
          </a:xfrm>
          <a:prstGeom prst="rect">
            <a:avLst/>
          </a:prstGeom>
          <a:noFill/>
          <a:ln/>
        </p:spPr>
        <p:txBody>
          <a:bodyPr wrap="square" lIns="0" tIns="0" rIns="0" bIns="0" rtlCol="0" anchor="t"/>
          <a:lstStyle/>
          <a:p>
            <a:pPr indent="0" marL="0">
              <a:buNone/>
            </a:pPr>
            <a:r>
              <a:rPr lang="en-US" sz="1500" dirty="0">
                <a:solidFill>
                  <a:schemeClr val="tx1"/>
                </a:solidFill>
              </a:rPr>
              <a:t>of word problems: both programs agree and both are wrong (14B+ models)</a:t>
            </a:r>
            <a:endParaRPr lang="en-US" sz="1500" dirty="0"/>
          </a:p>
        </p:txBody>
      </p:sp>
      <p:sp>
        <p:nvSpPr>
          <p:cNvPr id="10" name="example Find Color"/>
          <p:cNvSpPr/>
          <p:nvPr/>
        </p:nvSpPr>
        <p:spPr>
          <a:xfrm>
            <a:off x="8046720" y="1783080"/>
            <a:ext cx="3566160" cy="1737360"/>
          </a:xfrm>
          <a:prstGeom prst="roundRect">
            <a:avLst>
              <a:gd name="adj" fmla="val 4211"/>
            </a:avLst>
          </a:prstGeom>
          <a:solidFill>
            <a:srgbClr val="F2F2F2"/>
          </a:solidFill>
          <a:ln w="9525">
            <a:solidFill>
              <a:srgbClr val="D9D9D9"/>
            </a:solidFill>
            <a:prstDash val="solid"/>
          </a:ln>
        </p:spPr>
      </p:sp>
      <p:sp>
        <p:nvSpPr>
          <p:cNvPr id="11" name="Text 9"/>
          <p:cNvSpPr txBox="1"/>
          <p:nvPr/>
        </p:nvSpPr>
        <p:spPr>
          <a:xfrm>
            <a:off x="8275320" y="1920240"/>
            <a:ext cx="3154680" cy="1463040"/>
          </a:xfrm>
          <a:prstGeom prst="rect">
            <a:avLst/>
          </a:prstGeom>
          <a:noFill/>
          <a:ln/>
        </p:spPr>
        <p:txBody>
          <a:bodyPr wrap="square" lIns="0" tIns="0" rIns="0" bIns="0" rtlCol="0" anchor="t"/>
          <a:lstStyle/>
          <a:p>
            <a:pPr indent="0" marL="0">
              <a:buNone/>
            </a:pPr>
            <a:r>
              <a:rPr lang="en-US" sz="1500" b="1" dirty="0">
                <a:solidFill>
                  <a:schemeClr val="tx1"/>
                </a:solidFill>
              </a:rPr>
              <a:t>Example: "Find Color" (contest)</a:t>
            </a:r>
            <a:endParaRPr lang="en-US" sz="1500" dirty="0"/>
          </a:p>
          <a:p>
            <a:pPr indent="0" marL="0">
              <a:buNone/>
            </a:pPr>
            <a:r>
              <a:rPr lang="en-US" sz="1500" dirty="0">
                <a:solidFill>
                  <a:schemeClr val="tx1"/>
                </a:solidFill>
              </a:rPr>
              <a:t>passes all 3 examples → submitted</a:t>
            </a:r>
            <a:endParaRPr lang="en-US" sz="1500" dirty="0"/>
          </a:p>
          <a:p>
            <a:pPr indent="0" marL="0">
              <a:buNone/>
            </a:pPr>
            <a:r>
              <a:rPr lang="en-US" sz="1500" b="1" dirty="0">
                <a:solidFill>
                  <a:srgbClr val="C00000"/>
                </a:solidFill>
              </a:rPr>
              <a:t>✗ fails hidden test 11</a:t>
            </a:r>
            <a:endParaRPr lang="en-US" sz="1500" dirty="0"/>
          </a:p>
        </p:txBody>
      </p:sp>
      <p:sp>
        <p:nvSpPr>
          <p:cNvPr id="12" name="perfect check"/>
          <p:cNvSpPr/>
          <p:nvPr/>
        </p:nvSpPr>
        <p:spPr>
          <a:xfrm>
            <a:off x="548640" y="3749040"/>
            <a:ext cx="11064240" cy="1691640"/>
          </a:xfrm>
          <a:prstGeom prst="roundRect">
            <a:avLst>
              <a:gd name="adj" fmla="val 4324"/>
            </a:avLst>
          </a:prstGeom>
          <a:solidFill>
            <a:srgbClr val="F2F2F2"/>
          </a:solidFill>
          <a:ln w="9525">
            <a:solidFill>
              <a:srgbClr val="D9D9D9"/>
            </a:solidFill>
            <a:prstDash val="solid"/>
          </a:ln>
        </p:spPr>
      </p:sp>
      <p:sp>
        <p:nvSpPr>
          <p:cNvPr id="13" name="Text 11"/>
          <p:cNvSpPr txBox="1"/>
          <p:nvPr/>
        </p:nvSpPr>
        <p:spPr>
          <a:xfrm>
            <a:off x="777240" y="3794760"/>
            <a:ext cx="10607040" cy="411480"/>
          </a:xfrm>
          <a:prstGeom prst="rect">
            <a:avLst/>
          </a:prstGeom>
          <a:noFill/>
          <a:ln/>
        </p:spPr>
        <p:txBody>
          <a:bodyPr wrap="square" lIns="0" tIns="0" rIns="0" bIns="0" rtlCol="0" anchor="ctr"/>
          <a:lstStyle/>
          <a:p>
            <a:pPr indent="0" marL="0">
              <a:buNone/>
            </a:pPr>
            <a:r>
              <a:rPr lang="en-US" sz="1600" b="1" dirty="0">
                <a:solidFill>
                  <a:schemeClr val="tx1"/>
                </a:solidFill>
              </a:rPr>
              <a:t>If the check were perfect (word problems, every seed):</a:t>
            </a:r>
            <a:endParaRPr lang="en-US" sz="1600" dirty="0"/>
          </a:p>
        </p:txBody>
      </p:sp>
      <p:sp>
        <p:nvSpPr>
          <p:cNvPr id="14" name="box the leaked problems "/>
          <p:cNvSpPr/>
          <p:nvPr/>
        </p:nvSpPr>
        <p:spPr>
          <a:xfrm>
            <a:off x="777240" y="4297680"/>
            <a:ext cx="2377440" cy="914400"/>
          </a:xfrm>
          <a:prstGeom prst="roundRect">
            <a:avLst>
              <a:gd name="adj" fmla="val 6000"/>
            </a:avLst>
          </a:prstGeom>
          <a:solidFill>
            <a:srgbClr val="FFFFFF"/>
          </a:solidFill>
          <a:ln w="9525">
            <a:solidFill>
              <a:srgbClr val="BFBFBF"/>
            </a:solidFill>
            <a:prstDash val="solid"/>
          </a:ln>
        </p:spPr>
      </p:sp>
      <p:sp>
        <p:nvSpPr>
          <p:cNvPr id="15" name="Text 13"/>
          <p:cNvSpPr txBox="1"/>
          <p:nvPr/>
        </p:nvSpPr>
        <p:spPr>
          <a:xfrm>
            <a:off x="850392" y="4297680"/>
            <a:ext cx="2231136" cy="914400"/>
          </a:xfrm>
          <a:prstGeom prst="rect">
            <a:avLst/>
          </a:prstGeom>
          <a:noFill/>
          <a:ln/>
        </p:spPr>
        <p:txBody>
          <a:bodyPr wrap="square" lIns="0" tIns="0" rIns="0" bIns="0" rtlCol="0" anchor="ctr"/>
          <a:lstStyle/>
          <a:p>
            <a:pPr algn="ctr" indent="0" marL="0">
              <a:buNone/>
            </a:pPr>
            <a:r>
              <a:rPr lang="en-US" sz="1500" dirty="0">
                <a:solidFill>
                  <a:schemeClr val="tx1"/>
                </a:solidFill>
              </a:rPr>
              <a:t>the leaked problems go to thinking</a:t>
            </a:r>
            <a:endParaRPr lang="en-US" sz="1500" dirty="0"/>
          </a:p>
        </p:txBody>
      </p:sp>
      <p:sp>
        <p:nvSpPr>
          <p:cNvPr id="16" name="Shape 14"/>
          <p:cNvSpPr/>
          <p:nvPr/>
        </p:nvSpPr>
        <p:spPr>
          <a:xfrm>
            <a:off x="3154680" y="4754880"/>
            <a:ext cx="365760" cy="0"/>
          </a:xfrm>
          <a:prstGeom prst="line">
            <a:avLst/>
          </a:prstGeom>
          <a:noFill/>
          <a:ln w="25400">
            <a:solidFill>
              <a:srgbClr val="7F7F7F"/>
            </a:solidFill>
            <a:prstDash val="solid"/>
            <a:tailEnd type="triangle"/>
          </a:ln>
        </p:spPr>
      </p:sp>
      <p:sp>
        <p:nvSpPr>
          <p:cNvPr id="17" name="box thinking fixes only "/>
          <p:cNvSpPr/>
          <p:nvPr/>
        </p:nvSpPr>
        <p:spPr>
          <a:xfrm>
            <a:off x="3520440" y="4297680"/>
            <a:ext cx="2377440" cy="914400"/>
          </a:xfrm>
          <a:prstGeom prst="roundRect">
            <a:avLst>
              <a:gd name="adj" fmla="val 6000"/>
            </a:avLst>
          </a:prstGeom>
          <a:solidFill>
            <a:srgbClr val="FFFFFF"/>
          </a:solidFill>
          <a:ln w="9525">
            <a:solidFill>
              <a:srgbClr val="BFBFBF"/>
            </a:solidFill>
            <a:prstDash val="solid"/>
          </a:ln>
        </p:spPr>
      </p:sp>
      <p:sp>
        <p:nvSpPr>
          <p:cNvPr id="18" name="Text 16"/>
          <p:cNvSpPr txBox="1"/>
          <p:nvPr/>
        </p:nvSpPr>
        <p:spPr>
          <a:xfrm>
            <a:off x="3593592" y="4297680"/>
            <a:ext cx="2231136" cy="914400"/>
          </a:xfrm>
          <a:prstGeom prst="rect">
            <a:avLst/>
          </a:prstGeom>
          <a:noFill/>
          <a:ln/>
        </p:spPr>
        <p:txBody>
          <a:bodyPr wrap="square" lIns="0" tIns="0" rIns="0" bIns="0" rtlCol="0" anchor="ctr"/>
          <a:lstStyle/>
          <a:p>
            <a:pPr algn="ctr" indent="0" marL="0">
              <a:buNone/>
            </a:pPr>
            <a:r>
              <a:rPr lang="en-US" sz="1500" dirty="0">
                <a:solidFill>
                  <a:schemeClr val="tx1"/>
                </a:solidFill>
              </a:rPr>
              <a:t>thinking fixes only 7–16% of them</a:t>
            </a:r>
            <a:endParaRPr lang="en-US" sz="1500" dirty="0"/>
          </a:p>
        </p:txBody>
      </p:sp>
      <p:sp>
        <p:nvSpPr>
          <p:cNvPr id="19" name="Shape 17"/>
          <p:cNvSpPr/>
          <p:nvPr/>
        </p:nvSpPr>
        <p:spPr>
          <a:xfrm>
            <a:off x="5897880" y="4754880"/>
            <a:ext cx="365760" cy="0"/>
          </a:xfrm>
          <a:prstGeom prst="line">
            <a:avLst/>
          </a:prstGeom>
          <a:noFill/>
          <a:ln w="25400">
            <a:solidFill>
              <a:srgbClr val="7F7F7F"/>
            </a:solidFill>
            <a:prstDash val="solid"/>
            <a:tailEnd type="triangle"/>
          </a:ln>
        </p:spPr>
      </p:sp>
      <p:sp>
        <p:nvSpPr>
          <p:cNvPr id="20" name="box +0.8 to +2.6 points "/>
          <p:cNvSpPr/>
          <p:nvPr/>
        </p:nvSpPr>
        <p:spPr>
          <a:xfrm>
            <a:off x="6263640" y="4297680"/>
            <a:ext cx="2377440" cy="914400"/>
          </a:xfrm>
          <a:prstGeom prst="roundRect">
            <a:avLst>
              <a:gd name="adj" fmla="val 6000"/>
            </a:avLst>
          </a:prstGeom>
          <a:solidFill>
            <a:srgbClr val="DEEBF7"/>
          </a:solidFill>
          <a:ln w="9525">
            <a:solidFill>
              <a:srgbClr val="BFBFBF"/>
            </a:solidFill>
            <a:prstDash val="solid"/>
          </a:ln>
        </p:spPr>
      </p:sp>
      <p:sp>
        <p:nvSpPr>
          <p:cNvPr id="21" name="Text 19"/>
          <p:cNvSpPr txBox="1"/>
          <p:nvPr/>
        </p:nvSpPr>
        <p:spPr>
          <a:xfrm>
            <a:off x="6336792" y="4297680"/>
            <a:ext cx="2231136" cy="914400"/>
          </a:xfrm>
          <a:prstGeom prst="rect">
            <a:avLst/>
          </a:prstGeom>
          <a:noFill/>
          <a:ln/>
        </p:spPr>
        <p:txBody>
          <a:bodyPr wrap="square" lIns="0" tIns="0" rIns="0" bIns="0" rtlCol="0" anchor="ctr"/>
          <a:lstStyle/>
          <a:p>
            <a:pPr algn="ctr" indent="0" marL="0">
              <a:buNone/>
            </a:pPr>
            <a:r>
              <a:rPr lang="en-US" sz="1500" b="1" dirty="0">
                <a:solidFill>
                  <a:srgbClr val="1F3864"/>
                </a:solidFill>
              </a:rPr>
              <a:t>+0.8 to +2.6 points (Qwen3-8B: +5.6)</a:t>
            </a:r>
            <a:endParaRPr lang="en-US" sz="1500" dirty="0"/>
          </a:p>
        </p:txBody>
      </p:sp>
      <p:sp>
        <p:nvSpPr>
          <p:cNvPr id="22" name="Text 20"/>
          <p:cNvSpPr txBox="1"/>
          <p:nvPr/>
        </p:nvSpPr>
        <p:spPr>
          <a:xfrm>
            <a:off x="9006840" y="4297680"/>
            <a:ext cx="2468880" cy="914400"/>
          </a:xfrm>
          <a:prstGeom prst="rect">
            <a:avLst/>
          </a:prstGeom>
          <a:noFill/>
          <a:ln/>
        </p:spPr>
        <p:txBody>
          <a:bodyPr wrap="square" lIns="0" tIns="0" rIns="0" bIns="0" rtlCol="0" anchor="ctr"/>
          <a:lstStyle/>
          <a:p>
            <a:pPr indent="0" marL="0">
              <a:buNone/>
            </a:pPr>
            <a:r>
              <a:rPr lang="en-US" sz="1400" dirty="0">
                <a:solidFill>
                  <a:schemeClr val="tx2"/>
                </a:solidFill>
              </a:rPr>
              <a:t>some 'wrong' answers are wrong labels: nl4opt-174 gold 7500, true 5625 (3 of 4 we read)</a:t>
            </a:r>
            <a:endParaRPr lang="en-US" sz="1400" dirty="0"/>
          </a:p>
        </p:txBody>
      </p:sp>
      <p:sp>
        <p:nvSpPr>
          <p:cNvPr id="23" name="Text 21"/>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Next target: programs that run and agree but model the problem wrong</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is there always a free check?</a:t>
            </a:r>
            <a:endParaRPr lang="en-US" sz="3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4572000"/>
                <a:gridCol w="4297680"/>
              </a:tblGrid>
              <a:tr h="731520">
                <a:tc>
                  <a:txBody>
                    <a:bodyPr/>
                    <a:lstStyle/>
                    <a:p>
                      <a:pPr indent="0" marL="0">
                        <a:buNone/>
                      </a:pPr>
                      <a:r>
                        <a:rPr lang="en-US" sz="1500" b="1" dirty="0">
                          <a:solidFill>
                            <a:srgbClr val="FFFFFF"/>
                          </a:solidFill>
                        </a:rPr>
                        <a:t>Problem</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Free check (no answer key)</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How well it works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731520">
                <a:tc>
                  <a:txBody>
                    <a:bodyPr/>
                    <a:lstStyle/>
                    <a:p>
                      <a:pPr indent="0" marL="0">
                        <a:buNone/>
                      </a:pPr>
                      <a:r>
                        <a:rPr lang="en-US" sz="1500" dirty="0">
                          <a:solidFill>
                            <a:schemeClr val="tx1"/>
                          </a:solidFill>
                        </a:rPr>
                        <a:t>Contest problems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the examples printed in the problem; a quick brute-force program must agree</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examples never reject a right program, but 24–37% of wrong ones pass; with brute force: 66.3% = always thinking</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31520">
                <a:tc>
                  <a:txBody>
                    <a:bodyPr/>
                    <a:lstStyle/>
                    <a:p>
                      <a:pPr indent="0" marL="0">
                        <a:buNone/>
                      </a:pPr>
                      <a:r>
                        <a:rPr lang="en-US" sz="1500" dirty="0">
                          <a:solidFill>
                            <a:schemeClr val="tx1"/>
                          </a:solidFill>
                        </a:rPr>
                        <a:t>Geometry</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move or turn the input: the answer must not change; or two versions must agree</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picks the right program 99.7% of the time (majority vote: 95.7%)</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31520">
                <a:tc>
                  <a:txBody>
                    <a:bodyPr/>
                    <a:lstStyle/>
                    <a:p>
                      <a:pPr indent="0" marL="0">
                        <a:buNone/>
                      </a:pPr>
                      <a:r>
                        <a:rPr lang="en-US" sz="1500" dirty="0">
                          <a:solidFill>
                            <a:schemeClr val="tx1"/>
                          </a:solidFill>
                        </a:rPr>
                        <a:t>Routing, scheduling</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code checks every rule of the plan (capacity, time windows)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exact for the rules; whether the plan is the best is not checked</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731520">
                <a:tc>
                  <a:txBody>
                    <a:bodyPr/>
                    <a:lstStyle/>
                    <a:p>
                      <a:pPr indent="0" marL="0">
                        <a:buNone/>
                      </a:pPr>
                      <a:r>
                        <a:rPr lang="en-US" sz="1500" dirty="0">
                          <a:solidFill>
                            <a:schemeClr val="tx1"/>
                          </a:solidFill>
                        </a:rPr>
                        <a:t>Word problems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two programs must agree</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12–16% agree but are both wrong</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Every task here has a free check; how much it catches decides how much thinking it saves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the hint can be found without a human</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600" dirty="0">
                <a:solidFill>
                  <a:schemeClr val="tx1"/>
                </a:solidFill>
              </a:rPr>
              <a:t>Example (Qwen3-8B, MAMO): products X, Y, Z cost $10, $15, $20; X+Y ≤ 5000, Y+Z ≤ 4000, X+Z ≥ 2000. Minimum cost? (20000)</a:t>
            </a:r>
            <a:endParaRPr lang="en-US" sz="1600" dirty="0"/>
          </a:p>
        </p:txBody>
      </p:sp>
      <p:sp>
        <p:nvSpPr>
          <p:cNvPr id="4" name="Text 2"/>
          <p:cNvSpPr txBox="1"/>
          <p:nvPr/>
        </p:nvSpPr>
        <p:spPr>
          <a:xfrm>
            <a:off x="548640" y="1691640"/>
            <a:ext cx="6126480" cy="320040"/>
          </a:xfrm>
          <a:prstGeom prst="rect">
            <a:avLst/>
          </a:prstGeom>
          <a:noFill/>
          <a:ln/>
        </p:spPr>
        <p:txBody>
          <a:bodyPr wrap="square" lIns="0" tIns="0" rIns="0" bIns="0" rtlCol="0" anchor="ctr"/>
          <a:lstStyle/>
          <a:p>
            <a:pPr indent="0" marL="0">
              <a:buNone/>
            </a:pPr>
            <a:r>
              <a:rPr lang="en-US" sz="1500" b="1" dirty="0">
                <a:solidFill>
                  <a:schemeClr val="tx1"/>
                </a:solidFill>
              </a:rPr>
              <a:t>No hint</a:t>
            </a:r>
            <a:endParaRPr lang="en-US" sz="1500" dirty="0"/>
          </a:p>
        </p:txBody>
      </p:sp>
      <p:sp>
        <p:nvSpPr>
          <p:cNvPr id="5" name="code solver.Objective().M"/>
          <p:cNvSpPr/>
          <p:nvPr/>
        </p:nvSpPr>
        <p:spPr>
          <a:xfrm>
            <a:off x="548640" y="2011680"/>
            <a:ext cx="4023360" cy="457200"/>
          </a:xfrm>
          <a:prstGeom prst="rect">
            <a:avLst/>
          </a:prstGeom>
          <a:solidFill>
            <a:srgbClr val="FFFFFF"/>
          </a:solidFill>
          <a:ln w="9525">
            <a:solidFill>
              <a:srgbClr val="BFBFBF"/>
            </a:solidFill>
            <a:prstDash val="solid"/>
          </a:ln>
        </p:spPr>
      </p:sp>
      <p:sp>
        <p:nvSpPr>
          <p:cNvPr id="6" name="Text 4"/>
          <p:cNvSpPr txBox="1"/>
          <p:nvPr/>
        </p:nvSpPr>
        <p:spPr>
          <a:xfrm>
            <a:off x="658368" y="2011680"/>
            <a:ext cx="3803904" cy="457200"/>
          </a:xfrm>
          <a:prstGeom prst="rect">
            <a:avLst/>
          </a:prstGeom>
          <a:noFill/>
          <a:ln/>
        </p:spPr>
        <p:txBody>
          <a:bodyPr wrap="square" lIns="0" tIns="0" rIns="0" bIns="0" rtlCol="0" anchor="ctr"/>
          <a:lstStyle/>
          <a:p>
            <a:pPr indent="0" marL="0">
              <a:buNone/>
            </a:pPr>
            <a:r>
              <a:rPr lang="en-US" sz="1300" dirty="0">
                <a:solidFill>
                  <a:srgbClr val="C00000"/>
                </a:solidFill>
                <a:latin typeface="Courier New" pitchFamily="34" charset="0"/>
                <a:ea typeface="Courier New" pitchFamily="34" charset="-122"/>
                <a:cs typeface="Courier New" pitchFamily="34" charset="-120"/>
              </a:rPr>
              <a:t>solver.Objective().Minimize()</a:t>
            </a:r>
            <a:endParaRPr lang="en-US" sz="1300" dirty="0"/>
          </a:p>
        </p:txBody>
      </p:sp>
      <p:sp>
        <p:nvSpPr>
          <p:cNvPr id="7" name="Text 5"/>
          <p:cNvSpPr txBox="1"/>
          <p:nvPr/>
        </p:nvSpPr>
        <p:spPr>
          <a:xfrm>
            <a:off x="4709160" y="2011680"/>
            <a:ext cx="2011680" cy="457200"/>
          </a:xfrm>
          <a:prstGeom prst="rect">
            <a:avLst/>
          </a:prstGeom>
          <a:noFill/>
          <a:ln/>
        </p:spPr>
        <p:txBody>
          <a:bodyPr wrap="square" lIns="0" tIns="0" rIns="0" bIns="0" rtlCol="0" anchor="ctr"/>
          <a:lstStyle/>
          <a:p>
            <a:pPr indent="0" marL="0">
              <a:buNone/>
            </a:pPr>
            <a:r>
              <a:rPr lang="en-US" sz="1400" b="1" dirty="0">
                <a:solidFill>
                  <a:srgbClr val="C00000"/>
                </a:solidFill>
              </a:rPr>
              <a:t>✗ crash: no such method</a:t>
            </a:r>
            <a:endParaRPr lang="en-US" sz="1400" dirty="0"/>
          </a:p>
        </p:txBody>
      </p:sp>
      <p:sp>
        <p:nvSpPr>
          <p:cNvPr id="8" name="prompt The fact: its own program for another problem (vans and trucks) that passed the free check"/>
          <p:cNvSpPr/>
          <p:nvPr/>
        </p:nvSpPr>
        <p:spPr>
          <a:xfrm>
            <a:off x="548640" y="2651760"/>
            <a:ext cx="6126480" cy="1325880"/>
          </a:xfrm>
          <a:prstGeom prst="rect">
            <a:avLst/>
          </a:prstGeom>
          <a:solidFill>
            <a:srgbClr val="E2F0D9"/>
          </a:solidFill>
          <a:ln w="9525">
            <a:solidFill>
              <a:srgbClr val="BFBFBF"/>
            </a:solidFill>
            <a:prstDash val="solid"/>
          </a:ln>
        </p:spPr>
      </p:sp>
      <p:sp>
        <p:nvSpPr>
          <p:cNvPr id="9" name="Text 7"/>
          <p:cNvSpPr txBox="1"/>
          <p:nvPr/>
        </p:nvSpPr>
        <p:spPr>
          <a:xfrm>
            <a:off x="658368" y="2706624"/>
            <a:ext cx="5907024" cy="1216152"/>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The hint: its own program for another problem (vans and trucks) that passed the free check</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solver = pywraplp.Solver.CreateSolver('SCIP')</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v = solver.IntVar(0, solver.infinity(), 'v')</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solver.Minimize(v)</a:t>
            </a:r>
            <a:endParaRPr lang="en-US" sz="1150" dirty="0"/>
          </a:p>
          <a:p>
            <a:pPr indent="0" marL="0">
              <a:buNone/>
            </a:pPr>
            <a:r>
              <a:rPr lang="en-US" sz="1150" dirty="0">
                <a:solidFill>
                  <a:schemeClr val="tx1"/>
                </a:solidFill>
                <a:latin typeface="Courier New" pitchFamily="34" charset="0"/>
                <a:ea typeface="Courier New" pitchFamily="34" charset="-122"/>
                <a:cs typeface="Courier New" pitchFamily="34" charset="-120"/>
              </a:rPr>
              <a:t>status = solver.Solve()</a:t>
            </a:r>
            <a:endParaRPr lang="en-US" sz="1150" dirty="0"/>
          </a:p>
        </p:txBody>
      </p:sp>
      <p:sp>
        <p:nvSpPr>
          <p:cNvPr id="10" name="Text 8"/>
          <p:cNvSpPr txBox="1"/>
          <p:nvPr/>
        </p:nvSpPr>
        <p:spPr>
          <a:xfrm>
            <a:off x="548640" y="4114800"/>
            <a:ext cx="6126480" cy="320040"/>
          </a:xfrm>
          <a:prstGeom prst="rect">
            <a:avLst/>
          </a:prstGeom>
          <a:noFill/>
          <a:ln/>
        </p:spPr>
        <p:txBody>
          <a:bodyPr wrap="square" lIns="0" tIns="0" rIns="0" bIns="0" rtlCol="0" anchor="ctr"/>
          <a:lstStyle/>
          <a:p>
            <a:pPr indent="0" marL="0">
              <a:buNone/>
            </a:pPr>
            <a:r>
              <a:rPr lang="en-US" sz="1500" b="1" dirty="0">
                <a:solidFill>
                  <a:schemeClr val="tx1"/>
                </a:solidFill>
              </a:rPr>
              <a:t>With the hint (written twice; both agree, so no thinking)</a:t>
            </a:r>
            <a:endParaRPr lang="en-US" sz="1500" dirty="0"/>
          </a:p>
        </p:txBody>
      </p:sp>
      <p:sp>
        <p:nvSpPr>
          <p:cNvPr id="11" name="code solver.Minimize(10*x"/>
          <p:cNvSpPr/>
          <p:nvPr/>
        </p:nvSpPr>
        <p:spPr>
          <a:xfrm>
            <a:off x="548640" y="4434840"/>
            <a:ext cx="4023360" cy="457200"/>
          </a:xfrm>
          <a:prstGeom prst="rect">
            <a:avLst/>
          </a:prstGeom>
          <a:solidFill>
            <a:srgbClr val="FFFFFF"/>
          </a:solidFill>
          <a:ln w="9525">
            <a:solidFill>
              <a:srgbClr val="BFBFBF"/>
            </a:solidFill>
            <a:prstDash val="solid"/>
          </a:ln>
        </p:spPr>
      </p:sp>
      <p:sp>
        <p:nvSpPr>
          <p:cNvPr id="12" name="Text 10"/>
          <p:cNvSpPr txBox="1"/>
          <p:nvPr/>
        </p:nvSpPr>
        <p:spPr>
          <a:xfrm>
            <a:off x="658368" y="4434840"/>
            <a:ext cx="3803904" cy="457200"/>
          </a:xfrm>
          <a:prstGeom prst="rect">
            <a:avLst/>
          </a:prstGeom>
          <a:noFill/>
          <a:ln/>
        </p:spPr>
        <p:txBody>
          <a:bodyPr wrap="square" lIns="0" tIns="0" rIns="0" bIns="0" rtlCol="0" anchor="ctr"/>
          <a:lstStyle/>
          <a:p>
            <a:pPr indent="0" marL="0">
              <a:buNone/>
            </a:pPr>
            <a:r>
              <a:rPr lang="en-US" sz="1300" dirty="0">
                <a:solidFill>
                  <a:srgbClr val="70AD47"/>
                </a:solidFill>
                <a:latin typeface="Courier New" pitchFamily="34" charset="0"/>
                <a:ea typeface="Courier New" pitchFamily="34" charset="-122"/>
                <a:cs typeface="Courier New" pitchFamily="34" charset="-120"/>
              </a:rPr>
              <a:t>solver.Minimize(10*x + 15*y + 20*z)</a:t>
            </a:r>
            <a:endParaRPr lang="en-US" sz="1300" dirty="0"/>
          </a:p>
        </p:txBody>
      </p:sp>
      <p:sp>
        <p:nvSpPr>
          <p:cNvPr id="13" name="Text 11"/>
          <p:cNvSpPr txBox="1"/>
          <p:nvPr/>
        </p:nvSpPr>
        <p:spPr>
          <a:xfrm>
            <a:off x="4709160" y="4434840"/>
            <a:ext cx="2194560" cy="457200"/>
          </a:xfrm>
          <a:prstGeom prst="rect">
            <a:avLst/>
          </a:prstGeom>
          <a:noFill/>
          <a:ln/>
        </p:spPr>
        <p:txBody>
          <a:bodyPr wrap="square" lIns="0" tIns="0" rIns="0" bIns="0" rtlCol="0" anchor="ctr"/>
          <a:lstStyle/>
          <a:p>
            <a:pPr indent="0" marL="0">
              <a:buNone/>
            </a:pPr>
            <a:r>
              <a:rPr lang="en-US" sz="1300" b="1" dirty="0">
                <a:solidFill>
                  <a:srgbClr val="70AD47"/>
                </a:solidFill>
              </a:rPr>
              <a:t>✓ 20000 · 0.6k tokens (thinking: 5.3k)</a:t>
            </a:r>
            <a:endParaRPr lang="en-US" sz="1300" dirty="0"/>
          </a:p>
        </p:txBody>
      </p:sp>
      <p:graphicFrame>
        <p:nvGraphicFramePr>
          <p:cNvPr id="14" name="automatic fact on held-out MAMO" descr=""/>
          <p:cNvGraphicFramePr/>
          <p:nvPr/>
        </p:nvGraphicFramePr>
        <p:xfrm>
          <a:off x="7040880" y="169164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7040880" y="5029200"/>
            <a:ext cx="4572000" cy="548640"/>
          </a:xfrm>
          <a:prstGeom prst="rect">
            <a:avLst/>
          </a:prstGeom>
          <a:noFill/>
          <a:ln/>
        </p:spPr>
        <p:txBody>
          <a:bodyPr wrap="square" lIns="0" tIns="0" rIns="0" bIns="0" rtlCol="0" anchor="t"/>
          <a:lstStyle/>
          <a:p>
            <a:pPr indent="0" marL="0">
              <a:buNone/>
            </a:pPr>
            <a:r>
              <a:rPr lang="en-US" sz="1300" dirty="0">
                <a:solidFill>
                  <a:srgbClr val="C00000"/>
                </a:solidFill>
              </a:rPr>
              <a:t>Does not work: a program of a different problem type (−14 to −21 points); a list of the library's names (66% → 56%)</a:t>
            </a:r>
            <a:endParaRPr lang="en-US" sz="1300" dirty="0"/>
          </a:p>
        </p:txBody>
      </p:sp>
      <p:sp>
        <p:nvSpPr>
          <p:cNvPr id="16" name="Text 13"/>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No human writes the hint: the model's own checked program shows the right call</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is 'think on the hardest' a weak baseline?</a:t>
            </a:r>
            <a:endParaRPr lang="en-US" sz="3600" dirty="0"/>
          </a:p>
        </p:txBody>
      </p:sp>
      <p:sp>
        <p:nvSpPr>
          <p:cNvPr id="3" name="Text 1"/>
          <p:cNvSpPr txBox="1"/>
          <p:nvPr/>
        </p:nvSpPr>
        <p:spPr>
          <a:xfrm>
            <a:off x="548640" y="1188720"/>
            <a:ext cx="11064240" cy="411480"/>
          </a:xfrm>
          <a:prstGeom prst="rect">
            <a:avLst/>
          </a:prstGeom>
          <a:noFill/>
          <a:ln/>
        </p:spPr>
        <p:txBody>
          <a:bodyPr wrap="square" lIns="0" tIns="0" rIns="0" bIns="0" rtlCol="0" anchor="ctr"/>
          <a:lstStyle/>
          <a:p>
            <a:pPr indent="0" marL="0">
              <a:buNone/>
            </a:pPr>
            <a:r>
              <a:rPr lang="en-US" sz="1700" dirty="0">
                <a:solidFill>
                  <a:schemeClr val="tx1"/>
                </a:solidFill>
              </a:rPr>
              <a:t>We gave the router each problem's true Codeforces rating (exploratory; 311 contest problems, gpt-oss-120b, 3 seeds)</a:t>
            </a:r>
            <a:endParaRPr lang="en-US" sz="1700" dirty="0"/>
          </a:p>
        </p:txBody>
      </p:sp>
      <p:sp>
        <p:nvSpPr>
          <p:cNvPr id="4" name="Text 2"/>
          <p:cNvSpPr txBox="1"/>
          <p:nvPr/>
        </p:nvSpPr>
        <p:spPr>
          <a:xfrm>
            <a:off x="548640" y="1737360"/>
            <a:ext cx="7132320" cy="365760"/>
          </a:xfrm>
          <a:prstGeom prst="rect">
            <a:avLst/>
          </a:prstGeom>
          <a:noFill/>
          <a:ln/>
        </p:spPr>
        <p:txBody>
          <a:bodyPr wrap="square" lIns="0" tIns="0" rIns="0" bIns="0" rtlCol="0" anchor="ctr"/>
          <a:lstStyle/>
          <a:p>
            <a:pPr indent="0" marL="0">
              <a:buNone/>
            </a:pPr>
            <a:r>
              <a:rPr lang="en-US" sz="1600" b="1" dirty="0">
                <a:solidFill>
                  <a:schemeClr val="tx1"/>
                </a:solidFill>
              </a:rPr>
              <a:t>Send a problem to high effort when ...</a:t>
            </a:r>
            <a:endParaRPr lang="en-US" sz="1600" dirty="0"/>
          </a:p>
        </p:txBody>
      </p:sp>
      <p:sp>
        <p:nvSpPr>
          <p:cNvPr id="5" name="Text 3"/>
          <p:cNvSpPr txBox="1"/>
          <p:nvPr/>
        </p:nvSpPr>
        <p:spPr>
          <a:xfrm>
            <a:off x="3566160" y="2103120"/>
            <a:ext cx="822960" cy="320040"/>
          </a:xfrm>
          <a:prstGeom prst="rect">
            <a:avLst/>
          </a:prstGeom>
          <a:noFill/>
          <a:ln/>
        </p:spPr>
        <p:txBody>
          <a:bodyPr wrap="square" lIns="0" tIns="0" rIns="0" bIns="0" rtlCol="0" anchor="ctr"/>
          <a:lstStyle/>
          <a:p>
            <a:pPr algn="ctr" indent="0" marL="0">
              <a:buNone/>
            </a:pPr>
            <a:r>
              <a:rPr lang="en-US" sz="1400" dirty="0">
                <a:solidFill>
                  <a:srgbClr val="7F7F7F"/>
                </a:solidFill>
              </a:rPr>
              <a:t>solved</a:t>
            </a:r>
            <a:endParaRPr lang="en-US" sz="1400" dirty="0"/>
          </a:p>
        </p:txBody>
      </p:sp>
      <p:sp>
        <p:nvSpPr>
          <p:cNvPr id="6" name="Text 4"/>
          <p:cNvSpPr txBox="1"/>
          <p:nvPr/>
        </p:nvSpPr>
        <p:spPr>
          <a:xfrm>
            <a:off x="4480560" y="2103120"/>
            <a:ext cx="3200400" cy="320040"/>
          </a:xfrm>
          <a:prstGeom prst="rect">
            <a:avLst/>
          </a:prstGeom>
          <a:noFill/>
          <a:ln/>
        </p:spPr>
        <p:txBody>
          <a:bodyPr wrap="square" lIns="0" tIns="0" rIns="0" bIns="0" rtlCol="0" anchor="ctr"/>
          <a:lstStyle/>
          <a:p>
            <a:pPr indent="0" marL="0">
              <a:buNone/>
            </a:pPr>
            <a:r>
              <a:rPr lang="en-US" sz="1400" dirty="0">
                <a:solidFill>
                  <a:srgbClr val="7F7F7F"/>
                </a:solidFill>
              </a:rPr>
              <a:t>tokens per problem</a:t>
            </a:r>
            <a:endParaRPr lang="en-US" sz="1400" dirty="0"/>
          </a:p>
        </p:txBody>
      </p:sp>
      <p:sp>
        <p:nvSpPr>
          <p:cNvPr id="7" name="Text 5"/>
          <p:cNvSpPr txBox="1"/>
          <p:nvPr/>
        </p:nvSpPr>
        <p:spPr>
          <a:xfrm>
            <a:off x="548640" y="2468880"/>
            <a:ext cx="2926080" cy="457200"/>
          </a:xfrm>
          <a:prstGeom prst="rect">
            <a:avLst/>
          </a:prstGeom>
          <a:noFill/>
          <a:ln/>
        </p:spPr>
        <p:txBody>
          <a:bodyPr wrap="square" lIns="0" tIns="0" rIns="0" bIns="0" rtlCol="0" anchor="ctr"/>
          <a:lstStyle/>
          <a:p>
            <a:pPr algn="r" indent="0" marL="0">
              <a:buNone/>
            </a:pPr>
            <a:r>
              <a:rPr lang="en-US" sz="1500" dirty="0">
                <a:solidFill>
                  <a:schemeClr val="tx1"/>
                </a:solidFill>
              </a:rPr>
              <a:t>true rating ≥ 2600</a:t>
            </a:r>
            <a:endParaRPr lang="en-US" sz="1500" dirty="0"/>
          </a:p>
        </p:txBody>
      </p:sp>
      <p:sp>
        <p:nvSpPr>
          <p:cNvPr id="8" name="Text 6"/>
          <p:cNvSpPr txBox="1"/>
          <p:nvPr/>
        </p:nvSpPr>
        <p:spPr>
          <a:xfrm>
            <a:off x="3566160" y="2468880"/>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61.4%</a:t>
            </a:r>
            <a:endParaRPr lang="en-US" sz="1700" dirty="0"/>
          </a:p>
        </p:txBody>
      </p:sp>
      <p:sp>
        <p:nvSpPr>
          <p:cNvPr id="9" name="tokens true rating ≥ 2600"/>
          <p:cNvSpPr/>
          <p:nvPr/>
        </p:nvSpPr>
        <p:spPr>
          <a:xfrm>
            <a:off x="4480560" y="2569464"/>
            <a:ext cx="1591238" cy="256032"/>
          </a:xfrm>
          <a:prstGeom prst="rect">
            <a:avLst/>
          </a:prstGeom>
          <a:solidFill>
            <a:srgbClr val="7F7F7F"/>
          </a:solidFill>
          <a:ln w="6350">
            <a:solidFill>
              <a:srgbClr val="7F7F7F"/>
            </a:solidFill>
            <a:prstDash val="solid"/>
          </a:ln>
        </p:spPr>
      </p:sp>
      <p:sp>
        <p:nvSpPr>
          <p:cNvPr id="10" name="Text 8"/>
          <p:cNvSpPr txBox="1"/>
          <p:nvPr/>
        </p:nvSpPr>
        <p:spPr>
          <a:xfrm>
            <a:off x="6163238" y="2468880"/>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19.4k</a:t>
            </a:r>
            <a:endParaRPr lang="en-US" sz="1500" dirty="0"/>
          </a:p>
        </p:txBody>
      </p:sp>
      <p:sp>
        <p:nvSpPr>
          <p:cNvPr id="11" name="Text 9"/>
          <p:cNvSpPr txBox="1"/>
          <p:nvPr/>
        </p:nvSpPr>
        <p:spPr>
          <a:xfrm>
            <a:off x="548640" y="2999232"/>
            <a:ext cx="2926080" cy="457200"/>
          </a:xfrm>
          <a:prstGeom prst="rect">
            <a:avLst/>
          </a:prstGeom>
          <a:noFill/>
          <a:ln/>
        </p:spPr>
        <p:txBody>
          <a:bodyPr wrap="square" lIns="0" tIns="0" rIns="0" bIns="0" rtlCol="0" anchor="ctr"/>
          <a:lstStyle/>
          <a:p>
            <a:pPr algn="r" indent="0" marL="0">
              <a:buNone/>
            </a:pPr>
            <a:r>
              <a:rPr lang="en-US" sz="1500" dirty="0">
                <a:solidFill>
                  <a:schemeClr val="tx1"/>
                </a:solidFill>
              </a:rPr>
              <a:t>true rating ≥ 2400</a:t>
            </a:r>
            <a:endParaRPr lang="en-US" sz="1500" dirty="0"/>
          </a:p>
        </p:txBody>
      </p:sp>
      <p:sp>
        <p:nvSpPr>
          <p:cNvPr id="12" name="Text 10"/>
          <p:cNvSpPr txBox="1"/>
          <p:nvPr/>
        </p:nvSpPr>
        <p:spPr>
          <a:xfrm>
            <a:off x="3566160" y="2999232"/>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63.3%</a:t>
            </a:r>
            <a:endParaRPr lang="en-US" sz="1700" dirty="0"/>
          </a:p>
        </p:txBody>
      </p:sp>
      <p:sp>
        <p:nvSpPr>
          <p:cNvPr id="13" name="tokens true rating ≥ 2400"/>
          <p:cNvSpPr/>
          <p:nvPr/>
        </p:nvSpPr>
        <p:spPr>
          <a:xfrm>
            <a:off x="4480560" y="3099816"/>
            <a:ext cx="1861913" cy="256032"/>
          </a:xfrm>
          <a:prstGeom prst="rect">
            <a:avLst/>
          </a:prstGeom>
          <a:solidFill>
            <a:srgbClr val="7F7F7F"/>
          </a:solidFill>
          <a:ln w="6350">
            <a:solidFill>
              <a:srgbClr val="7F7F7F"/>
            </a:solidFill>
            <a:prstDash val="solid"/>
          </a:ln>
        </p:spPr>
      </p:sp>
      <p:sp>
        <p:nvSpPr>
          <p:cNvPr id="14" name="Text 12"/>
          <p:cNvSpPr txBox="1"/>
          <p:nvPr/>
        </p:nvSpPr>
        <p:spPr>
          <a:xfrm>
            <a:off x="6433913" y="2999232"/>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22.7k</a:t>
            </a:r>
            <a:endParaRPr lang="en-US" sz="1500" dirty="0"/>
          </a:p>
        </p:txBody>
      </p:sp>
      <p:sp>
        <p:nvSpPr>
          <p:cNvPr id="15" name="Text 13"/>
          <p:cNvSpPr txBox="1"/>
          <p:nvPr/>
        </p:nvSpPr>
        <p:spPr>
          <a:xfrm>
            <a:off x="548640" y="3529584"/>
            <a:ext cx="2926080" cy="457200"/>
          </a:xfrm>
          <a:prstGeom prst="rect">
            <a:avLst/>
          </a:prstGeom>
          <a:noFill/>
          <a:ln/>
        </p:spPr>
        <p:txBody>
          <a:bodyPr wrap="square" lIns="0" tIns="0" rIns="0" bIns="0" rtlCol="0" anchor="ctr"/>
          <a:lstStyle/>
          <a:p>
            <a:pPr algn="r" indent="0" marL="0">
              <a:buNone/>
            </a:pPr>
            <a:r>
              <a:rPr lang="en-US" sz="1500" dirty="0">
                <a:solidFill>
                  <a:schemeClr val="tx1"/>
                </a:solidFill>
              </a:rPr>
              <a:t>true rating ≥ 1800</a:t>
            </a:r>
            <a:endParaRPr lang="en-US" sz="1500" dirty="0"/>
          </a:p>
        </p:txBody>
      </p:sp>
      <p:sp>
        <p:nvSpPr>
          <p:cNvPr id="16" name="Text 14"/>
          <p:cNvSpPr txBox="1"/>
          <p:nvPr/>
        </p:nvSpPr>
        <p:spPr>
          <a:xfrm>
            <a:off x="3566160" y="3529584"/>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65.3%</a:t>
            </a:r>
            <a:endParaRPr lang="en-US" sz="1700" dirty="0"/>
          </a:p>
        </p:txBody>
      </p:sp>
      <p:sp>
        <p:nvSpPr>
          <p:cNvPr id="17" name="tokens true rating ≥ 1800"/>
          <p:cNvSpPr/>
          <p:nvPr/>
        </p:nvSpPr>
        <p:spPr>
          <a:xfrm>
            <a:off x="4480560" y="3630168"/>
            <a:ext cx="2280228" cy="256032"/>
          </a:xfrm>
          <a:prstGeom prst="rect">
            <a:avLst/>
          </a:prstGeom>
          <a:solidFill>
            <a:srgbClr val="7F7F7F"/>
          </a:solidFill>
          <a:ln w="6350">
            <a:solidFill>
              <a:srgbClr val="7F7F7F"/>
            </a:solidFill>
            <a:prstDash val="solid"/>
          </a:ln>
        </p:spPr>
      </p:sp>
      <p:sp>
        <p:nvSpPr>
          <p:cNvPr id="18" name="Text 16"/>
          <p:cNvSpPr txBox="1"/>
          <p:nvPr/>
        </p:nvSpPr>
        <p:spPr>
          <a:xfrm>
            <a:off x="6852228" y="3529584"/>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27.8k</a:t>
            </a:r>
            <a:endParaRPr lang="en-US" sz="1500" dirty="0"/>
          </a:p>
        </p:txBody>
      </p:sp>
      <p:sp>
        <p:nvSpPr>
          <p:cNvPr id="19" name="Text 17"/>
          <p:cNvSpPr txBox="1"/>
          <p:nvPr/>
        </p:nvSpPr>
        <p:spPr>
          <a:xfrm>
            <a:off x="548640" y="4059936"/>
            <a:ext cx="2926080" cy="457200"/>
          </a:xfrm>
          <a:prstGeom prst="rect">
            <a:avLst/>
          </a:prstGeom>
          <a:noFill/>
          <a:ln/>
        </p:spPr>
        <p:txBody>
          <a:bodyPr wrap="square" lIns="0" tIns="0" rIns="0" bIns="0" rtlCol="0" anchor="ctr"/>
          <a:lstStyle/>
          <a:p>
            <a:pPr algn="r" indent="0" marL="0">
              <a:buNone/>
            </a:pPr>
            <a:r>
              <a:rPr lang="en-US" sz="1500" dirty="0">
                <a:solidFill>
                  <a:schemeClr val="tx1"/>
                </a:solidFill>
              </a:rPr>
              <a:t>its first answer is long</a:t>
            </a:r>
            <a:endParaRPr lang="en-US" sz="1500" dirty="0"/>
          </a:p>
        </p:txBody>
      </p:sp>
      <p:sp>
        <p:nvSpPr>
          <p:cNvPr id="20" name="Text 18"/>
          <p:cNvSpPr txBox="1"/>
          <p:nvPr/>
        </p:nvSpPr>
        <p:spPr>
          <a:xfrm>
            <a:off x="3566160" y="4059936"/>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62.1%</a:t>
            </a:r>
            <a:endParaRPr lang="en-US" sz="1700" dirty="0"/>
          </a:p>
        </p:txBody>
      </p:sp>
      <p:sp>
        <p:nvSpPr>
          <p:cNvPr id="21" name="tokens its first answer is long"/>
          <p:cNvSpPr/>
          <p:nvPr/>
        </p:nvSpPr>
        <p:spPr>
          <a:xfrm>
            <a:off x="4480560" y="4160520"/>
            <a:ext cx="1886520" cy="256032"/>
          </a:xfrm>
          <a:prstGeom prst="rect">
            <a:avLst/>
          </a:prstGeom>
          <a:solidFill>
            <a:srgbClr val="7F7F7F"/>
          </a:solidFill>
          <a:ln w="6350">
            <a:solidFill>
              <a:srgbClr val="7F7F7F"/>
            </a:solidFill>
            <a:prstDash val="solid"/>
          </a:ln>
        </p:spPr>
      </p:sp>
      <p:sp>
        <p:nvSpPr>
          <p:cNvPr id="22" name="Text 20"/>
          <p:cNvSpPr txBox="1"/>
          <p:nvPr/>
        </p:nvSpPr>
        <p:spPr>
          <a:xfrm>
            <a:off x="6458520" y="4059936"/>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23.0k</a:t>
            </a:r>
            <a:endParaRPr lang="en-US" sz="1500" dirty="0"/>
          </a:p>
        </p:txBody>
      </p:sp>
      <p:sp>
        <p:nvSpPr>
          <p:cNvPr id="23" name="Text 21"/>
          <p:cNvSpPr txBox="1"/>
          <p:nvPr/>
        </p:nvSpPr>
        <p:spPr>
          <a:xfrm>
            <a:off x="548640" y="4590288"/>
            <a:ext cx="2926080" cy="457200"/>
          </a:xfrm>
          <a:prstGeom prst="rect">
            <a:avLst/>
          </a:prstGeom>
          <a:noFill/>
          <a:ln/>
        </p:spPr>
        <p:txBody>
          <a:bodyPr wrap="square" lIns="0" tIns="0" rIns="0" bIns="0" rtlCol="0" anchor="ctr"/>
          <a:lstStyle/>
          <a:p>
            <a:pPr algn="r" indent="0" marL="0">
              <a:buNone/>
            </a:pPr>
            <a:r>
              <a:rPr lang="en-US" sz="1500" dirty="0">
                <a:solidFill>
                  <a:schemeClr val="tx1"/>
                </a:solidFill>
              </a:rPr>
              <a:t>always</a:t>
            </a:r>
            <a:endParaRPr lang="en-US" sz="1500" dirty="0"/>
          </a:p>
        </p:txBody>
      </p:sp>
      <p:sp>
        <p:nvSpPr>
          <p:cNvPr id="24" name="Text 22"/>
          <p:cNvSpPr txBox="1"/>
          <p:nvPr/>
        </p:nvSpPr>
        <p:spPr>
          <a:xfrm>
            <a:off x="3566160" y="4590288"/>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66.2%</a:t>
            </a:r>
            <a:endParaRPr lang="en-US" sz="1700" dirty="0"/>
          </a:p>
        </p:txBody>
      </p:sp>
      <p:sp>
        <p:nvSpPr>
          <p:cNvPr id="25" name="tokens always"/>
          <p:cNvSpPr/>
          <p:nvPr/>
        </p:nvSpPr>
        <p:spPr>
          <a:xfrm>
            <a:off x="4480560" y="4690872"/>
            <a:ext cx="2468880" cy="256032"/>
          </a:xfrm>
          <a:prstGeom prst="rect">
            <a:avLst/>
          </a:prstGeom>
          <a:solidFill>
            <a:srgbClr val="7F7F7F"/>
          </a:solidFill>
          <a:ln w="6350">
            <a:solidFill>
              <a:srgbClr val="7F7F7F"/>
            </a:solidFill>
            <a:prstDash val="solid"/>
          </a:ln>
        </p:spPr>
      </p:sp>
      <p:sp>
        <p:nvSpPr>
          <p:cNvPr id="26" name="Text 24"/>
          <p:cNvSpPr txBox="1"/>
          <p:nvPr/>
        </p:nvSpPr>
        <p:spPr>
          <a:xfrm>
            <a:off x="7040880" y="4590288"/>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30.1k</a:t>
            </a:r>
            <a:endParaRPr lang="en-US" sz="1500" dirty="0"/>
          </a:p>
        </p:txBody>
      </p:sp>
      <p:sp>
        <p:nvSpPr>
          <p:cNvPr id="27" name="Text 25"/>
          <p:cNvSpPr txBox="1"/>
          <p:nvPr/>
        </p:nvSpPr>
        <p:spPr>
          <a:xfrm>
            <a:off x="548640" y="5120640"/>
            <a:ext cx="2926080" cy="457200"/>
          </a:xfrm>
          <a:prstGeom prst="rect">
            <a:avLst/>
          </a:prstGeom>
          <a:noFill/>
          <a:ln/>
        </p:spPr>
        <p:txBody>
          <a:bodyPr wrap="square" lIns="0" tIns="0" rIns="0" bIns="0" rtlCol="0" anchor="ctr"/>
          <a:lstStyle/>
          <a:p>
            <a:pPr algn="r" indent="0" marL="0">
              <a:buNone/>
            </a:pPr>
            <a:r>
              <a:rPr lang="en-US" sz="1500" dirty="0">
                <a:solidFill>
                  <a:schemeClr val="tx1"/>
                </a:solidFill>
              </a:rPr>
              <a:t>an example fails (free check)</a:t>
            </a:r>
            <a:endParaRPr lang="en-US" sz="1500" dirty="0"/>
          </a:p>
        </p:txBody>
      </p:sp>
      <p:sp>
        <p:nvSpPr>
          <p:cNvPr id="28" name="Text 26"/>
          <p:cNvSpPr txBox="1"/>
          <p:nvPr/>
        </p:nvSpPr>
        <p:spPr>
          <a:xfrm>
            <a:off x="3566160" y="5120640"/>
            <a:ext cx="822960" cy="457200"/>
          </a:xfrm>
          <a:prstGeom prst="rect">
            <a:avLst/>
          </a:prstGeom>
          <a:noFill/>
          <a:ln/>
        </p:spPr>
        <p:txBody>
          <a:bodyPr wrap="square" lIns="0" tIns="0" rIns="0" bIns="0" rtlCol="0" anchor="ctr"/>
          <a:lstStyle/>
          <a:p>
            <a:pPr algn="ctr" indent="0" marL="0">
              <a:buNone/>
            </a:pPr>
            <a:r>
              <a:rPr lang="en-US" sz="1700" b="1" dirty="0">
                <a:solidFill>
                  <a:srgbClr val="4472C4"/>
                </a:solidFill>
              </a:rPr>
              <a:t>65.0%</a:t>
            </a:r>
            <a:endParaRPr lang="en-US" sz="1700" dirty="0"/>
          </a:p>
        </p:txBody>
      </p:sp>
      <p:sp>
        <p:nvSpPr>
          <p:cNvPr id="29" name="tokens an example fails (free check)"/>
          <p:cNvSpPr/>
          <p:nvPr/>
        </p:nvSpPr>
        <p:spPr>
          <a:xfrm>
            <a:off x="4480560" y="5221224"/>
            <a:ext cx="1656856" cy="256032"/>
          </a:xfrm>
          <a:prstGeom prst="rect">
            <a:avLst/>
          </a:prstGeom>
          <a:solidFill>
            <a:srgbClr val="4472C4"/>
          </a:solidFill>
          <a:ln w="6350">
            <a:solidFill>
              <a:srgbClr val="4472C4"/>
            </a:solidFill>
            <a:prstDash val="solid"/>
          </a:ln>
        </p:spPr>
      </p:sp>
      <p:sp>
        <p:nvSpPr>
          <p:cNvPr id="30" name="Text 28"/>
          <p:cNvSpPr txBox="1"/>
          <p:nvPr/>
        </p:nvSpPr>
        <p:spPr>
          <a:xfrm>
            <a:off x="6228856" y="5120640"/>
            <a:ext cx="731520" cy="457200"/>
          </a:xfrm>
          <a:prstGeom prst="rect">
            <a:avLst/>
          </a:prstGeom>
          <a:noFill/>
          <a:ln/>
        </p:spPr>
        <p:txBody>
          <a:bodyPr wrap="square" lIns="0" tIns="0" rIns="0" bIns="0" rtlCol="0" anchor="ctr"/>
          <a:lstStyle/>
          <a:p>
            <a:pPr indent="0" marL="0">
              <a:buNone/>
            </a:pPr>
            <a:r>
              <a:rPr lang="en-US" sz="1500" b="1" dirty="0">
                <a:solidFill>
                  <a:srgbClr val="4472C4"/>
                </a:solidFill>
              </a:rPr>
              <a:t>20.2k</a:t>
            </a:r>
            <a:endParaRPr lang="en-US" sz="1500" dirty="0"/>
          </a:p>
        </p:txBody>
      </p:sp>
      <p:sp>
        <p:nvSpPr>
          <p:cNvPr id="31" name="Text 29"/>
          <p:cNvSpPr txBox="1"/>
          <p:nvPr/>
        </p:nvSpPr>
        <p:spPr>
          <a:xfrm>
            <a:off x="8046720" y="1783080"/>
            <a:ext cx="3566160" cy="594360"/>
          </a:xfrm>
          <a:prstGeom prst="rect">
            <a:avLst/>
          </a:prstGeom>
          <a:noFill/>
          <a:ln/>
        </p:spPr>
        <p:txBody>
          <a:bodyPr wrap="square" lIns="0" tIns="0" rIns="0" bIns="0" rtlCol="0" anchor="ctr"/>
          <a:lstStyle/>
          <a:p>
            <a:pPr indent="0" marL="0">
              <a:buNone/>
            </a:pPr>
            <a:r>
              <a:rPr lang="en-US" sz="3200" b="1" dirty="0">
                <a:solidFill>
                  <a:srgbClr val="4472C4"/>
                </a:solidFill>
              </a:rPr>
              <a:t>74% → 87%</a:t>
            </a:r>
            <a:endParaRPr lang="en-US" sz="3200" dirty="0"/>
          </a:p>
        </p:txBody>
      </p:sp>
      <p:sp>
        <p:nvSpPr>
          <p:cNvPr id="32" name="Text 30"/>
          <p:cNvSpPr txBox="1"/>
          <p:nvPr/>
        </p:nvSpPr>
        <p:spPr>
          <a:xfrm>
            <a:off x="8046720" y="2423160"/>
            <a:ext cx="3566160" cy="822960"/>
          </a:xfrm>
          <a:prstGeom prst="rect">
            <a:avLst/>
          </a:prstGeom>
          <a:noFill/>
          <a:ln/>
        </p:spPr>
        <p:txBody>
          <a:bodyPr wrap="square" lIns="0" tIns="0" rIns="0" bIns="0" rtlCol="0" anchor="t"/>
          <a:lstStyle/>
          <a:p>
            <a:pPr indent="0" marL="0">
              <a:buNone/>
            </a:pPr>
            <a:r>
              <a:rPr lang="en-US" sz="1500" dirty="0">
                <a:solidFill>
                  <a:schemeClr val="tx1"/>
                </a:solidFill>
              </a:rPr>
              <a:t>208 geometry and optimization problems × 3 models: think on the hardest-looking (Snell et al.) → hint first, think on failure</a:t>
            </a:r>
            <a:endParaRPr lang="en-US" sz="1500" dirty="0"/>
          </a:p>
        </p:txBody>
      </p:sp>
      <p:sp>
        <p:nvSpPr>
          <p:cNvPr id="33" name="Text 31"/>
          <p:cNvSpPr txBox="1"/>
          <p:nvPr/>
        </p:nvSpPr>
        <p:spPr>
          <a:xfrm>
            <a:off x="8046720" y="3429000"/>
            <a:ext cx="3566160" cy="594360"/>
          </a:xfrm>
          <a:prstGeom prst="rect">
            <a:avLst/>
          </a:prstGeom>
          <a:noFill/>
          <a:ln/>
        </p:spPr>
        <p:txBody>
          <a:bodyPr wrap="square" lIns="0" tIns="0" rIns="0" bIns="0" rtlCol="0" anchor="ctr"/>
          <a:lstStyle/>
          <a:p>
            <a:pPr indent="0" marL="0">
              <a:buNone/>
            </a:pPr>
            <a:r>
              <a:rPr lang="en-US" sz="3200" b="1" dirty="0">
                <a:solidFill>
                  <a:srgbClr val="4472C4"/>
                </a:solidFill>
              </a:rPr>
              <a:t>79%</a:t>
            </a:r>
            <a:endParaRPr lang="en-US" sz="3200" dirty="0"/>
          </a:p>
        </p:txBody>
      </p:sp>
      <p:sp>
        <p:nvSpPr>
          <p:cNvPr id="34" name="Text 32"/>
          <p:cNvSpPr txBox="1"/>
          <p:nvPr/>
        </p:nvSpPr>
        <p:spPr>
          <a:xfrm>
            <a:off x="8046720" y="4069080"/>
            <a:ext cx="3566160" cy="822960"/>
          </a:xfrm>
          <a:prstGeom prst="rect">
            <a:avLst/>
          </a:prstGeom>
          <a:noFill/>
          <a:ln/>
        </p:spPr>
        <p:txBody>
          <a:bodyPr wrap="square" lIns="0" tIns="0" rIns="0" bIns="0" rtlCol="0" anchor="t"/>
          <a:lstStyle/>
          <a:p>
            <a:pPr indent="0" marL="0">
              <a:buNone/>
            </a:pPr>
            <a:r>
              <a:rPr lang="en-US" sz="1500" dirty="0">
                <a:solidFill>
                  <a:schemeClr val="tx1"/>
                </a:solidFill>
              </a:rPr>
              <a:t>even with the best fix chosen per difficulty level</a:t>
            </a:r>
            <a:endParaRPr lang="en-US" sz="1500" dirty="0"/>
          </a:p>
        </p:txBody>
      </p:sp>
      <p:sp>
        <p:nvSpPr>
          <p:cNvPr id="35" name="Text 33"/>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Even the true difficulty does not say which program is wrong; a free check does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compared with published methods</a:t>
            </a:r>
            <a:endParaRPr lang="en-US" sz="3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03120"/>
                <a:gridCol w="3566160"/>
                <a:gridCol w="2011680"/>
                <a:gridCol w="3383280"/>
              </a:tblGrid>
              <a:tr h="521208">
                <a:tc>
                  <a:txBody>
                    <a:bodyPr/>
                    <a:lstStyle/>
                    <a:p>
                      <a:pPr indent="0" marL="0">
                        <a:buNone/>
                      </a:pPr>
                      <a:r>
                        <a:rPr lang="en-US" sz="1500" b="1" dirty="0">
                          <a:solidFill>
                            <a:srgbClr val="FFFFFF"/>
                          </a:solidFill>
                        </a:rPr>
                        <a:t>Task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Published method</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Its result</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Ours (same problems)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521208">
                <a:tc>
                  <a:txBody>
                    <a:bodyPr/>
                    <a:lstStyle/>
                    <a:p>
                      <a:pPr indent="0" marL="0">
                        <a:buNone/>
                      </a:pPr>
                      <a:r>
                        <a:rPr lang="en-US" sz="1500" dirty="0">
                          <a:solidFill>
                            <a:schemeClr val="tx1"/>
                          </a:solidFill>
                        </a:rPr>
                        <a:t>Where to spend thinking</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think on the hardest-looking problems (Snell et al. 2025)</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74% · 4.1k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hint first, think on failure: 87% · 2.5k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500" dirty="0">
                          <a:solidFill>
                            <a:schemeClr val="tx1"/>
                          </a:solidFill>
                        </a:rPr>
                        <a:t>Contest geometry</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always high effort (reasoning-model default)</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66.2% · 30.1k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think when the examples or a brute-force check fail: 66.3% · 24.7k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500" dirty="0">
                          <a:solidFill>
                            <a:schemeClr val="tx1"/>
                          </a:solidFill>
                        </a:rPr>
                        <a:t>Pick 1 of 3 programs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CodeT: the model writes tests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96.0% (+340 tokens)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symmetry check: 99.7% (0 tokens)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500" dirty="0">
                          <a:solidFill>
                            <a:schemeClr val="tx1"/>
                          </a:solidFill>
                        </a:rPr>
                        <a:t>Library documentation</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DRoC: decompose, retrieve per constraint (ICLR 2025)</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72% · 2.1k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exact snippet: 77% · 1.7k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500" dirty="0">
                          <a:solidFill>
                            <a:schemeClr val="tx1"/>
                          </a:solidFill>
                        </a:rPr>
                        <a:t>Unneeded tools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System 2 Attention / a "use only if needed" sentence</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64% / 76%</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only the needed tools: 92%</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500" dirty="0">
                          <a:solidFill>
                            <a:schemeClr val="tx1"/>
                          </a:solidFill>
                        </a:rPr>
                        <a:t>Daily routing</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Dynamic Cheatsheet: the model's own notes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31–40%</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reuse a checked program: 94%</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500" dirty="0">
                          <a:solidFill>
                            <a:schemeClr val="tx1"/>
                          </a:solidFill>
                        </a:rPr>
                        <a:t>Word problems (held-out MAMO)</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ORLM-8B: a fine-tuned modeling specialist</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69.5% · 1.1k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Qwen3-8B, no training: 69.5% · 1.0k; gpt-oss-20b 78.8%</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Measured here with the same problems and models: the recipe is more accurate, cheaper, or both</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where this work sits in related research</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377440"/>
                <a:gridCol w="4480560"/>
                <a:gridCol w="4206240"/>
              </a:tblGrid>
              <a:tr h="521208">
                <a:tc>
                  <a:txBody>
                    <a:bodyPr/>
                    <a:lstStyle/>
                    <a:p>
                      <a:pPr indent="0" marL="0">
                        <a:buNone/>
                      </a:pPr>
                      <a:r>
                        <a:rPr lang="en-US" sz="1300" b="1" dirty="0">
                          <a:solidFill>
                            <a:srgbClr val="FFFFFF"/>
                          </a:solidFill>
                        </a:rPr>
                        <a:t>Theme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rPr>
                        <a:t>Closest work</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300" b="1" dirty="0">
                          <a:solidFill>
                            <a:srgbClr val="FFFFFF"/>
                          </a:solidFill>
                        </a:rPr>
                        <a:t>What we add</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521208">
                <a:tc>
                  <a:txBody>
                    <a:bodyPr/>
                    <a:lstStyle/>
                    <a:p>
                      <a:pPr indent="0" marL="0">
                        <a:buNone/>
                      </a:pPr>
                      <a:r>
                        <a:rPr lang="en-US" sz="1300" dirty="0">
                          <a:solidFill>
                            <a:schemeClr val="tx1"/>
                          </a:solidFill>
                        </a:rPr>
                        <a:t>Programs instead of text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PAL, Program-of-Thoughts, Mixture-of-Thought (ICLR 2024)</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38761D"/>
                          </a:solidFill>
                        </a:rPr>
                        <a:t>a program for computation; two versions of it as a free check</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300" dirty="0">
                          <a:solidFill>
                            <a:schemeClr val="tx1"/>
                          </a:solidFill>
                        </a:rPr>
                        <a:t>Library hints for code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DRoC (ICLR 2025), CP-Bench, CloudAPIBench, DRAFT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38761D"/>
                          </a:solidFill>
                        </a:rPr>
                        <a:t>an exact snippet beats the manual and thinking; hints mined without a human</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300" dirty="0">
                          <a:solidFill>
                            <a:schemeClr val="tx1"/>
                          </a:solidFill>
                        </a:rPr>
                        <a:t>Misleading context</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Invisible Lottery (2606.04057), unneeded tools (2609.14157), CodeCrash, S2A</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38761D"/>
                          </a:solidFill>
                        </a:rPr>
                        <a:t>the harm on exact geometry, turned into a check</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300" dirty="0">
                          <a:solidFill>
                            <a:schemeClr val="tx1"/>
                          </a:solidFill>
                        </a:rPr>
                        <a:t>Choosing a program</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CodeT, MBR-exec, AlphaCode's example filter, DeepConf</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38761D"/>
                          </a:solidFill>
                        </a:rPr>
                        <a:t>symmetry check of one program: 99.7% vs CodeT 96.0%</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300" dirty="0">
                          <a:solidFill>
                            <a:schemeClr val="tx1"/>
                          </a:solidFill>
                        </a:rPr>
                        <a:t>Spending test-time compute</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Snell et al. 2025, FrugalGPT, DART, Thinkless, AdaptThink</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38761D"/>
                          </a:solidFill>
                        </a:rPr>
                        <a:t>hint + execution check, no training: 87% vs 74%</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300" dirty="0">
                          <a:solidFill>
                            <a:schemeClr val="tx1"/>
                          </a:solidFill>
                        </a:rPr>
                        <a:t>Optimization modeling</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ORLM, STORM, EVOM, OR-R1 (trained); OptiMUS, OptiSkill (agents)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38761D"/>
                          </a:solidFill>
                        </a:rPr>
                        <a:t>training-free, no answers; matches fine-tuned ORLM-8B</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21208">
                <a:tc>
                  <a:txBody>
                    <a:bodyPr/>
                    <a:lstStyle/>
                    <a:p>
                      <a:pPr indent="0" marL="0">
                        <a:buNone/>
                      </a:pPr>
                      <a:r>
                        <a:rPr lang="en-US" sz="1300" dirty="0">
                          <a:solidFill>
                            <a:schemeClr val="tx1"/>
                          </a:solidFill>
                        </a:rPr>
                        <a:t>One program, many instances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chemeClr val="tx1"/>
                          </a:solidFill>
                        </a:rPr>
                        <a:t>FunSearch, HeuriGym, ARS, 2605.14141</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38761D"/>
                          </a:solidFill>
                        </a:rPr>
                        <a:t>measured 7% → 94%; edit a verified program for new rules</a:t>
                      </a:r>
                      <a:endParaRPr lang="en-US" sz="13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numbers reported in papers, next to ours</a:t>
            </a:r>
            <a:endParaRPr lang="en-US" sz="3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94560"/>
                <a:gridCol w="4572000"/>
                <a:gridCol w="4297680"/>
              </a:tblGrid>
              <a:tr h="457200">
                <a:tc>
                  <a:txBody>
                    <a:bodyPr/>
                    <a:lstStyle/>
                    <a:p>
                      <a:pPr indent="0" marL="0">
                        <a:buNone/>
                      </a:pPr>
                      <a:r>
                        <a:rPr lang="en-US" sz="1500" b="1" dirty="0">
                          <a:solidFill>
                            <a:srgbClr val="FFFFFF"/>
                          </a:solidFill>
                        </a:rPr>
                        <a:t>Benchmark</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Reported in the paper or model card</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c>
                  <a:txBody>
                    <a:bodyPr/>
                    <a:lstStyle/>
                    <a:p>
                      <a:pPr indent="0" marL="0">
                        <a:buNone/>
                      </a:pPr>
                      <a:r>
                        <a:rPr lang="en-US" sz="1500" b="1" dirty="0">
                          <a:solidFill>
                            <a:srgbClr val="FFFFFF"/>
                          </a:solidFill>
                        </a:rPr>
                        <a:t>Ours</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4472C4"/>
                    </a:solidFill>
                  </a:tcPr>
                </a:tc>
              </a:tr>
              <a:tr h="1188720">
                <a:tc>
                  <a:txBody>
                    <a:bodyPr/>
                    <a:lstStyle/>
                    <a:p>
                      <a:pPr indent="0" marL="0">
                        <a:buNone/>
                      </a:pPr>
                      <a:r>
                        <a:rPr lang="en-US" sz="1500" dirty="0">
                          <a:solidFill>
                            <a:schemeClr val="tx1"/>
                          </a:solidFill>
                        </a:rPr>
                        <a:t>MAMO Easy / Complex</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dirty="0">
                          <a:solidFill>
                            <a:schemeClr val="tx1"/>
                          </a:solidFill>
                        </a:rPr>
                        <a:t>ORLM-LLaMA-3-8B 82.3 / 37.4% (fine-tuned)</a:t>
                      </a:r>
                      <a:endParaRPr lang="en-US" sz="1500" dirty="0"/>
                    </a:p>
                    <a:p>
                      <a:pPr indent="0" marL="0">
                        <a:buNone/>
                      </a:pPr>
                      <a:r>
                        <a:rPr lang="en-US" sz="1500" dirty="0">
                          <a:solidFill>
                            <a:schemeClr val="tx1"/>
                          </a:solidFill>
                        </a:rPr>
                        <a:t>STORM-Qwen3-4B 86.3 / 70.3% (SFT + RL)</a:t>
                      </a:r>
                      <a:endParaRPr lang="en-US" sz="1500" dirty="0"/>
                    </a:p>
                    <a:p>
                      <a:pPr indent="0" marL="0">
                        <a:buNone/>
                      </a:pPr>
                      <a:r>
                        <a:rPr lang="en-US" sz="1500" dirty="0">
                          <a:solidFill>
                            <a:schemeClr val="tx1"/>
                          </a:solidFill>
                        </a:rPr>
                        <a:t>OptiSkill with frontier models 90.8–94.3 / 56.8–64.0%</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500" b="1" dirty="0">
                          <a:solidFill>
                            <a:srgbClr val="38761D"/>
                          </a:solidFill>
                        </a:rPr>
                        <a:t>no training: Qwen3-14B 82.8 / 37.4%, gpt-oss-20b 85.6 / 57.8%</a:t>
                      </a:r>
                      <a:endParaRPr lang="en-US" sz="1500" dirty="0"/>
                    </a:p>
                    <a:p>
                      <a:pPr indent="0" marL="0">
                        <a:buNone/>
                      </a:pPr>
                      <a:r>
                        <a:rPr lang="en-US" sz="1500" b="1" dirty="0">
                          <a:solidFill>
                            <a:srgbClr val="38761D"/>
                          </a:solidFill>
                        </a:rPr>
                        <a:t>ORLM-8B in our harness: 80.5 / 35.5%</a:t>
                      </a:r>
                      <a:endParaRPr lang="en-US" sz="1500" dirty="0"/>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Different harnesses and graders: for orientation only</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why not majority voting?</a:t>
            </a:r>
            <a:endParaRPr lang="en-US" sz="3600" dirty="0"/>
          </a:p>
        </p:txBody>
      </p:sp>
      <p:sp>
        <p:nvSpPr>
          <p:cNvPr id="3" name="pick one of three"/>
          <p:cNvSpPr/>
          <p:nvPr/>
        </p:nvSpPr>
        <p:spPr>
          <a:xfrm>
            <a:off x="548640" y="1234440"/>
            <a:ext cx="5440680" cy="4251960"/>
          </a:xfrm>
          <a:prstGeom prst="roundRect">
            <a:avLst>
              <a:gd name="adj" fmla="val 1720"/>
            </a:avLst>
          </a:prstGeom>
          <a:solidFill>
            <a:srgbClr val="F2F2F2"/>
          </a:solidFill>
          <a:ln w="9525">
            <a:solidFill>
              <a:srgbClr val="D9D9D9"/>
            </a:solidFill>
            <a:prstDash val="solid"/>
          </a:ln>
        </p:spPr>
      </p:sp>
      <p:sp>
        <p:nvSpPr>
          <p:cNvPr id="4" name="Text 2"/>
          <p:cNvSpPr txBox="1"/>
          <p:nvPr/>
        </p:nvSpPr>
        <p:spPr>
          <a:xfrm>
            <a:off x="777240" y="1325880"/>
            <a:ext cx="5029200" cy="640080"/>
          </a:xfrm>
          <a:prstGeom prst="rect">
            <a:avLst/>
          </a:prstGeom>
          <a:noFill/>
          <a:ln/>
        </p:spPr>
        <p:txBody>
          <a:bodyPr wrap="square" lIns="0" tIns="0" rIns="0" bIns="0" rtlCol="0" anchor="t"/>
          <a:lstStyle/>
          <a:p>
            <a:pPr indent="0" marL="0">
              <a:buNone/>
            </a:pPr>
            <a:r>
              <a:rPr lang="en-US" sz="1600" b="1" dirty="0">
                <a:solidFill>
                  <a:schemeClr val="tx1"/>
                </a:solidFill>
              </a:rPr>
              <a:t>Pick 1 of 3 programs (Qwen3-8B, 300 geometry problems): % picked wrong</a:t>
            </a:r>
            <a:endParaRPr lang="en-US" sz="1600" dirty="0"/>
          </a:p>
        </p:txBody>
      </p:sp>
      <p:sp>
        <p:nvSpPr>
          <p:cNvPr id="5" name="Text 3"/>
          <p:cNvSpPr txBox="1"/>
          <p:nvPr/>
        </p:nvSpPr>
        <p:spPr>
          <a:xfrm>
            <a:off x="777240" y="2057400"/>
            <a:ext cx="2011680" cy="402336"/>
          </a:xfrm>
          <a:prstGeom prst="rect">
            <a:avLst/>
          </a:prstGeom>
          <a:noFill/>
          <a:ln/>
        </p:spPr>
        <p:txBody>
          <a:bodyPr wrap="square" lIns="0" tIns="0" rIns="0" bIns="0" rtlCol="0" anchor="ctr"/>
          <a:lstStyle/>
          <a:p>
            <a:pPr algn="r" indent="0" marL="0">
              <a:buNone/>
            </a:pPr>
            <a:r>
              <a:rPr lang="en-US" sz="1600" dirty="0">
                <a:solidFill>
                  <a:schemeClr val="tx1"/>
                </a:solidFill>
              </a:rPr>
              <a:t>majority vote</a:t>
            </a:r>
            <a:endParaRPr lang="en-US" sz="1600" dirty="0"/>
          </a:p>
        </p:txBody>
      </p:sp>
      <p:sp>
        <p:nvSpPr>
          <p:cNvPr id="6" name="bar majority vote"/>
          <p:cNvSpPr/>
          <p:nvPr/>
        </p:nvSpPr>
        <p:spPr>
          <a:xfrm>
            <a:off x="2926080" y="2132838"/>
            <a:ext cx="865022" cy="251460"/>
          </a:xfrm>
          <a:prstGeom prst="rect">
            <a:avLst/>
          </a:prstGeom>
          <a:solidFill>
            <a:srgbClr val="7F7F7F"/>
          </a:solidFill>
          <a:ln w="6350">
            <a:solidFill>
              <a:srgbClr val="7F7F7F"/>
            </a:solidFill>
            <a:prstDash val="solid"/>
          </a:ln>
        </p:spPr>
      </p:sp>
      <p:sp>
        <p:nvSpPr>
          <p:cNvPr id="7" name="Text 5"/>
          <p:cNvSpPr txBox="1"/>
          <p:nvPr/>
        </p:nvSpPr>
        <p:spPr>
          <a:xfrm>
            <a:off x="3882542" y="2057400"/>
            <a:ext cx="822960" cy="402336"/>
          </a:xfrm>
          <a:prstGeom prst="rect">
            <a:avLst/>
          </a:prstGeom>
          <a:noFill/>
          <a:ln/>
        </p:spPr>
        <p:txBody>
          <a:bodyPr wrap="square" lIns="0" tIns="0" rIns="0" bIns="0" rtlCol="0" anchor="ctr"/>
          <a:lstStyle/>
          <a:p>
            <a:pPr indent="0" marL="0">
              <a:buNone/>
            </a:pPr>
            <a:r>
              <a:rPr lang="en-US" sz="1800" b="1" dirty="0">
                <a:solidFill>
                  <a:srgbClr val="7F7F7F"/>
                </a:solidFill>
              </a:rPr>
              <a:t>4.3%</a:t>
            </a:r>
            <a:endParaRPr lang="en-US" sz="1800" dirty="0"/>
          </a:p>
        </p:txBody>
      </p:sp>
      <p:sp>
        <p:nvSpPr>
          <p:cNvPr id="8" name="Text 6"/>
          <p:cNvSpPr txBox="1"/>
          <p:nvPr/>
        </p:nvSpPr>
        <p:spPr>
          <a:xfrm>
            <a:off x="777240" y="2560320"/>
            <a:ext cx="2011680" cy="402336"/>
          </a:xfrm>
          <a:prstGeom prst="rect">
            <a:avLst/>
          </a:prstGeom>
          <a:noFill/>
          <a:ln/>
        </p:spPr>
        <p:txBody>
          <a:bodyPr wrap="square" lIns="0" tIns="0" rIns="0" bIns="0" rtlCol="0" anchor="ctr"/>
          <a:lstStyle/>
          <a:p>
            <a:pPr algn="r" indent="0" marL="0">
              <a:buNone/>
            </a:pPr>
            <a:r>
              <a:rPr lang="en-US" sz="1600" dirty="0">
                <a:solidFill>
                  <a:schemeClr val="tx1"/>
                </a:solidFill>
              </a:rPr>
              <a:t>CodeT (+340 tokens)</a:t>
            </a:r>
            <a:endParaRPr lang="en-US" sz="1600" dirty="0"/>
          </a:p>
        </p:txBody>
      </p:sp>
      <p:sp>
        <p:nvSpPr>
          <p:cNvPr id="9" name="bar CodeT (+340 tokens)"/>
          <p:cNvSpPr/>
          <p:nvPr/>
        </p:nvSpPr>
        <p:spPr>
          <a:xfrm>
            <a:off x="2926080" y="2635758"/>
            <a:ext cx="804672" cy="251460"/>
          </a:xfrm>
          <a:prstGeom prst="rect">
            <a:avLst/>
          </a:prstGeom>
          <a:solidFill>
            <a:srgbClr val="7F7F7F"/>
          </a:solidFill>
          <a:ln w="6350">
            <a:solidFill>
              <a:srgbClr val="7F7F7F"/>
            </a:solidFill>
            <a:prstDash val="solid"/>
          </a:ln>
        </p:spPr>
      </p:sp>
      <p:sp>
        <p:nvSpPr>
          <p:cNvPr id="10" name="Text 8"/>
          <p:cNvSpPr txBox="1"/>
          <p:nvPr/>
        </p:nvSpPr>
        <p:spPr>
          <a:xfrm>
            <a:off x="3822192" y="2560320"/>
            <a:ext cx="822960" cy="402336"/>
          </a:xfrm>
          <a:prstGeom prst="rect">
            <a:avLst/>
          </a:prstGeom>
          <a:noFill/>
          <a:ln/>
        </p:spPr>
        <p:txBody>
          <a:bodyPr wrap="square" lIns="0" tIns="0" rIns="0" bIns="0" rtlCol="0" anchor="ctr"/>
          <a:lstStyle/>
          <a:p>
            <a:pPr indent="0" marL="0">
              <a:buNone/>
            </a:pPr>
            <a:r>
              <a:rPr lang="en-US" sz="1800" b="1" dirty="0">
                <a:solidFill>
                  <a:srgbClr val="7F7F7F"/>
                </a:solidFill>
              </a:rPr>
              <a:t>4.0%</a:t>
            </a:r>
            <a:endParaRPr lang="en-US" sz="1800" dirty="0"/>
          </a:p>
        </p:txBody>
      </p:sp>
      <p:sp>
        <p:nvSpPr>
          <p:cNvPr id="11" name="Text 9"/>
          <p:cNvSpPr txBox="1"/>
          <p:nvPr/>
        </p:nvSpPr>
        <p:spPr>
          <a:xfrm>
            <a:off x="777240" y="3063240"/>
            <a:ext cx="2011680" cy="402336"/>
          </a:xfrm>
          <a:prstGeom prst="rect">
            <a:avLst/>
          </a:prstGeom>
          <a:noFill/>
          <a:ln/>
        </p:spPr>
        <p:txBody>
          <a:bodyPr wrap="square" lIns="0" tIns="0" rIns="0" bIns="0" rtlCol="0" anchor="ctr"/>
          <a:lstStyle/>
          <a:p>
            <a:pPr algn="r" indent="0" marL="0">
              <a:buNone/>
            </a:pPr>
            <a:r>
              <a:rPr lang="en-US" sz="1600" dirty="0">
                <a:solidFill>
                  <a:schemeClr val="tx1"/>
                </a:solidFill>
              </a:rPr>
              <a:t>DeepConf</a:t>
            </a:r>
            <a:endParaRPr lang="en-US" sz="1600" dirty="0"/>
          </a:p>
        </p:txBody>
      </p:sp>
      <p:sp>
        <p:nvSpPr>
          <p:cNvPr id="12" name="bar DeepConf"/>
          <p:cNvSpPr/>
          <p:nvPr/>
        </p:nvSpPr>
        <p:spPr>
          <a:xfrm>
            <a:off x="2926080" y="3138678"/>
            <a:ext cx="1066190" cy="251460"/>
          </a:xfrm>
          <a:prstGeom prst="rect">
            <a:avLst/>
          </a:prstGeom>
          <a:solidFill>
            <a:srgbClr val="7F7F7F"/>
          </a:solidFill>
          <a:ln w="6350">
            <a:solidFill>
              <a:srgbClr val="7F7F7F"/>
            </a:solidFill>
            <a:prstDash val="solid"/>
          </a:ln>
        </p:spPr>
      </p:sp>
      <p:sp>
        <p:nvSpPr>
          <p:cNvPr id="13" name="Text 11"/>
          <p:cNvSpPr txBox="1"/>
          <p:nvPr/>
        </p:nvSpPr>
        <p:spPr>
          <a:xfrm>
            <a:off x="4083710" y="3063240"/>
            <a:ext cx="822960" cy="402336"/>
          </a:xfrm>
          <a:prstGeom prst="rect">
            <a:avLst/>
          </a:prstGeom>
          <a:noFill/>
          <a:ln/>
        </p:spPr>
        <p:txBody>
          <a:bodyPr wrap="square" lIns="0" tIns="0" rIns="0" bIns="0" rtlCol="0" anchor="ctr"/>
          <a:lstStyle/>
          <a:p>
            <a:pPr indent="0" marL="0">
              <a:buNone/>
            </a:pPr>
            <a:r>
              <a:rPr lang="en-US" sz="1800" b="1" dirty="0">
                <a:solidFill>
                  <a:srgbClr val="7F7F7F"/>
                </a:solidFill>
              </a:rPr>
              <a:t>5.3%</a:t>
            </a:r>
            <a:endParaRPr lang="en-US" sz="1800" dirty="0"/>
          </a:p>
        </p:txBody>
      </p:sp>
      <p:sp>
        <p:nvSpPr>
          <p:cNvPr id="14" name="Text 12"/>
          <p:cNvSpPr txBox="1"/>
          <p:nvPr/>
        </p:nvSpPr>
        <p:spPr>
          <a:xfrm>
            <a:off x="777240" y="3566160"/>
            <a:ext cx="2011680" cy="402336"/>
          </a:xfrm>
          <a:prstGeom prst="rect">
            <a:avLst/>
          </a:prstGeom>
          <a:noFill/>
          <a:ln/>
        </p:spPr>
        <p:txBody>
          <a:bodyPr wrap="square" lIns="0" tIns="0" rIns="0" bIns="0" rtlCol="0" anchor="ctr"/>
          <a:lstStyle/>
          <a:p>
            <a:pPr algn="r" indent="0" marL="0">
              <a:buNone/>
            </a:pPr>
            <a:r>
              <a:rPr lang="en-US" sz="1600" dirty="0">
                <a:solidFill>
                  <a:schemeClr val="tx1"/>
                </a:solidFill>
              </a:rPr>
              <a:t>MBR-exec</a:t>
            </a:r>
            <a:endParaRPr lang="en-US" sz="1600" dirty="0"/>
          </a:p>
        </p:txBody>
      </p:sp>
      <p:sp>
        <p:nvSpPr>
          <p:cNvPr id="15" name="bar MBR-exec"/>
          <p:cNvSpPr/>
          <p:nvPr/>
        </p:nvSpPr>
        <p:spPr>
          <a:xfrm>
            <a:off x="2926080" y="3641598"/>
            <a:ext cx="1267358" cy="251460"/>
          </a:xfrm>
          <a:prstGeom prst="rect">
            <a:avLst/>
          </a:prstGeom>
          <a:solidFill>
            <a:srgbClr val="7F7F7F"/>
          </a:solidFill>
          <a:ln w="6350">
            <a:solidFill>
              <a:srgbClr val="7F7F7F"/>
            </a:solidFill>
            <a:prstDash val="solid"/>
          </a:ln>
        </p:spPr>
      </p:sp>
      <p:sp>
        <p:nvSpPr>
          <p:cNvPr id="16" name="Text 14"/>
          <p:cNvSpPr txBox="1"/>
          <p:nvPr/>
        </p:nvSpPr>
        <p:spPr>
          <a:xfrm>
            <a:off x="4284878" y="3566160"/>
            <a:ext cx="822960" cy="402336"/>
          </a:xfrm>
          <a:prstGeom prst="rect">
            <a:avLst/>
          </a:prstGeom>
          <a:noFill/>
          <a:ln/>
        </p:spPr>
        <p:txBody>
          <a:bodyPr wrap="square" lIns="0" tIns="0" rIns="0" bIns="0" rtlCol="0" anchor="ctr"/>
          <a:lstStyle/>
          <a:p>
            <a:pPr indent="0" marL="0">
              <a:buNone/>
            </a:pPr>
            <a:r>
              <a:rPr lang="en-US" sz="1800" b="1" dirty="0">
                <a:solidFill>
                  <a:srgbClr val="7F7F7F"/>
                </a:solidFill>
              </a:rPr>
              <a:t>6.3%</a:t>
            </a:r>
            <a:endParaRPr lang="en-US" sz="1800" dirty="0"/>
          </a:p>
        </p:txBody>
      </p:sp>
      <p:sp>
        <p:nvSpPr>
          <p:cNvPr id="17" name="Text 15"/>
          <p:cNvSpPr txBox="1"/>
          <p:nvPr/>
        </p:nvSpPr>
        <p:spPr>
          <a:xfrm>
            <a:off x="777240" y="4069080"/>
            <a:ext cx="2011680" cy="402336"/>
          </a:xfrm>
          <a:prstGeom prst="rect">
            <a:avLst/>
          </a:prstGeom>
          <a:noFill/>
          <a:ln/>
        </p:spPr>
        <p:txBody>
          <a:bodyPr wrap="square" lIns="0" tIns="0" rIns="0" bIns="0" rtlCol="0" anchor="ctr"/>
          <a:lstStyle/>
          <a:p>
            <a:pPr algn="r" indent="0" marL="0">
              <a:buNone/>
            </a:pPr>
            <a:r>
              <a:rPr lang="en-US" sz="1600" dirty="0">
                <a:solidFill>
                  <a:schemeClr val="tx1"/>
                </a:solidFill>
              </a:rPr>
              <a:t>symmetry check</a:t>
            </a:r>
            <a:endParaRPr lang="en-US" sz="1600" dirty="0"/>
          </a:p>
        </p:txBody>
      </p:sp>
      <p:sp>
        <p:nvSpPr>
          <p:cNvPr id="18" name="bar symmetry check"/>
          <p:cNvSpPr/>
          <p:nvPr/>
        </p:nvSpPr>
        <p:spPr>
          <a:xfrm>
            <a:off x="2926080" y="4144518"/>
            <a:ext cx="60350" cy="251460"/>
          </a:xfrm>
          <a:prstGeom prst="rect">
            <a:avLst/>
          </a:prstGeom>
          <a:solidFill>
            <a:srgbClr val="4472C4"/>
          </a:solidFill>
          <a:ln w="6350">
            <a:solidFill>
              <a:srgbClr val="4472C4"/>
            </a:solidFill>
            <a:prstDash val="solid"/>
          </a:ln>
        </p:spPr>
      </p:sp>
      <p:sp>
        <p:nvSpPr>
          <p:cNvPr id="19" name="Text 17"/>
          <p:cNvSpPr txBox="1"/>
          <p:nvPr/>
        </p:nvSpPr>
        <p:spPr>
          <a:xfrm>
            <a:off x="3077870" y="4069080"/>
            <a:ext cx="822960" cy="402336"/>
          </a:xfrm>
          <a:prstGeom prst="rect">
            <a:avLst/>
          </a:prstGeom>
          <a:noFill/>
          <a:ln/>
        </p:spPr>
        <p:txBody>
          <a:bodyPr wrap="square" lIns="0" tIns="0" rIns="0" bIns="0" rtlCol="0" anchor="ctr"/>
          <a:lstStyle/>
          <a:p>
            <a:pPr indent="0" marL="0">
              <a:buNone/>
            </a:pPr>
            <a:r>
              <a:rPr lang="en-US" sz="1800" b="1" dirty="0">
                <a:solidFill>
                  <a:srgbClr val="4472C4"/>
                </a:solidFill>
              </a:rPr>
              <a:t>0.3%</a:t>
            </a:r>
            <a:endParaRPr lang="en-US" sz="1800" dirty="0"/>
          </a:p>
        </p:txBody>
      </p:sp>
      <p:sp>
        <p:nvSpPr>
          <p:cNvPr id="20" name="Text 18"/>
          <p:cNvSpPr txBox="1"/>
          <p:nvPr/>
        </p:nvSpPr>
        <p:spPr>
          <a:xfrm>
            <a:off x="777240" y="4663440"/>
            <a:ext cx="5029200" cy="731520"/>
          </a:xfrm>
          <a:prstGeom prst="rect">
            <a:avLst/>
          </a:prstGeom>
          <a:noFill/>
          <a:ln/>
        </p:spPr>
        <p:txBody>
          <a:bodyPr wrap="square" lIns="0" tIns="0" rIns="0" bIns="0" rtlCol="0" anchor="t"/>
          <a:lstStyle/>
          <a:p>
            <a:pPr indent="0" marL="0">
              <a:buNone/>
            </a:pPr>
            <a:r>
              <a:rPr lang="en-US" sz="1400" dirty="0">
                <a:solidFill>
                  <a:schemeClr val="tx2"/>
                </a:solidFill>
              </a:rPr>
              <a:t>symmetry check: run the program on a moved copy; a right program gives the same answer (no extra tokens)</a:t>
            </a:r>
            <a:endParaRPr lang="en-US" sz="1400" dirty="0"/>
          </a:p>
        </p:txBody>
      </p:sp>
      <p:sp>
        <p:nvSpPr>
          <p:cNvPr id="21" name="votes vs checks"/>
          <p:cNvSpPr/>
          <p:nvPr/>
        </p:nvSpPr>
        <p:spPr>
          <a:xfrm>
            <a:off x="6172200" y="1234440"/>
            <a:ext cx="5440680" cy="4251960"/>
          </a:xfrm>
          <a:prstGeom prst="roundRect">
            <a:avLst>
              <a:gd name="adj" fmla="val 1720"/>
            </a:avLst>
          </a:prstGeom>
          <a:solidFill>
            <a:srgbClr val="F2F2F2"/>
          </a:solidFill>
          <a:ln w="9525">
            <a:solidFill>
              <a:srgbClr val="D9D9D9"/>
            </a:solidFill>
            <a:prstDash val="solid"/>
          </a:ln>
        </p:spPr>
      </p:sp>
      <p:sp>
        <p:nvSpPr>
          <p:cNvPr id="22" name="Text 20"/>
          <p:cNvSpPr txBox="1"/>
          <p:nvPr/>
        </p:nvSpPr>
        <p:spPr>
          <a:xfrm>
            <a:off x="6400800" y="1325880"/>
            <a:ext cx="4983480" cy="365760"/>
          </a:xfrm>
          <a:prstGeom prst="rect">
            <a:avLst/>
          </a:prstGeom>
          <a:noFill/>
          <a:ln/>
        </p:spPr>
        <p:txBody>
          <a:bodyPr wrap="square" lIns="0" tIns="0" rIns="0" bIns="0" rtlCol="0" anchor="ctr"/>
          <a:lstStyle/>
          <a:p>
            <a:pPr indent="0" marL="0">
              <a:buNone/>
            </a:pPr>
            <a:r>
              <a:rPr lang="en-US" sz="1600" b="1" dirty="0">
                <a:solidFill>
                  <a:schemeClr val="tx1"/>
                </a:solidFill>
              </a:rPr>
              <a:t>Qwen3-32B, word problems</a:t>
            </a:r>
            <a:endParaRPr lang="en-US" sz="1600" dirty="0"/>
          </a:p>
        </p:txBody>
      </p:sp>
      <p:sp>
        <p:nvSpPr>
          <p:cNvPr id="23" name="Text 21"/>
          <p:cNvSpPr txBox="1"/>
          <p:nvPr/>
        </p:nvSpPr>
        <p:spPr>
          <a:xfrm>
            <a:off x="8686800" y="1691640"/>
            <a:ext cx="822960" cy="320040"/>
          </a:xfrm>
          <a:prstGeom prst="rect">
            <a:avLst/>
          </a:prstGeom>
          <a:noFill/>
          <a:ln/>
        </p:spPr>
        <p:txBody>
          <a:bodyPr wrap="square" lIns="0" tIns="0" rIns="0" bIns="0" rtlCol="0" anchor="ctr"/>
          <a:lstStyle/>
          <a:p>
            <a:pPr algn="ctr" indent="0" marL="0">
              <a:buNone/>
            </a:pPr>
            <a:r>
              <a:rPr lang="en-US" sz="1400" dirty="0">
                <a:solidFill>
                  <a:srgbClr val="7F7F7F"/>
                </a:solidFill>
              </a:rPr>
              <a:t>solved</a:t>
            </a:r>
            <a:endParaRPr lang="en-US" sz="1400" dirty="0"/>
          </a:p>
        </p:txBody>
      </p:sp>
      <p:sp>
        <p:nvSpPr>
          <p:cNvPr id="24" name="Text 22"/>
          <p:cNvSpPr txBox="1"/>
          <p:nvPr/>
        </p:nvSpPr>
        <p:spPr>
          <a:xfrm>
            <a:off x="9601200" y="1691640"/>
            <a:ext cx="1783080" cy="320040"/>
          </a:xfrm>
          <a:prstGeom prst="rect">
            <a:avLst/>
          </a:prstGeom>
          <a:noFill/>
          <a:ln/>
        </p:spPr>
        <p:txBody>
          <a:bodyPr wrap="square" lIns="0" tIns="0" rIns="0" bIns="0" rtlCol="0" anchor="ctr"/>
          <a:lstStyle/>
          <a:p>
            <a:pPr indent="0" marL="0">
              <a:buNone/>
            </a:pPr>
            <a:r>
              <a:rPr lang="en-US" sz="1400" dirty="0">
                <a:solidFill>
                  <a:srgbClr val="7F7F7F"/>
                </a:solidFill>
              </a:rPr>
              <a:t>tokens per problem</a:t>
            </a:r>
            <a:endParaRPr lang="en-US" sz="1400" dirty="0"/>
          </a:p>
        </p:txBody>
      </p:sp>
      <p:sp>
        <p:nvSpPr>
          <p:cNvPr id="25" name="Text 23"/>
          <p:cNvSpPr txBox="1"/>
          <p:nvPr/>
        </p:nvSpPr>
        <p:spPr>
          <a:xfrm>
            <a:off x="6400800" y="2057400"/>
            <a:ext cx="2194560" cy="457200"/>
          </a:xfrm>
          <a:prstGeom prst="rect">
            <a:avLst/>
          </a:prstGeom>
          <a:noFill/>
          <a:ln/>
        </p:spPr>
        <p:txBody>
          <a:bodyPr wrap="square" lIns="0" tIns="0" rIns="0" bIns="0" rtlCol="0" anchor="ctr"/>
          <a:lstStyle/>
          <a:p>
            <a:pPr algn="r" indent="0" marL="0">
              <a:buNone/>
            </a:pPr>
            <a:r>
              <a:rPr lang="en-US" sz="1500" dirty="0">
                <a:solidFill>
                  <a:schemeClr val="tx1"/>
                </a:solidFill>
              </a:rPr>
              <a:t>vote of 3 programs</a:t>
            </a:r>
            <a:endParaRPr lang="en-US" sz="1500" dirty="0"/>
          </a:p>
        </p:txBody>
      </p:sp>
      <p:sp>
        <p:nvSpPr>
          <p:cNvPr id="26" name="Text 24"/>
          <p:cNvSpPr txBox="1"/>
          <p:nvPr/>
        </p:nvSpPr>
        <p:spPr>
          <a:xfrm>
            <a:off x="8686800" y="2057400"/>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68.4%</a:t>
            </a:r>
            <a:endParaRPr lang="en-US" sz="1700" dirty="0"/>
          </a:p>
        </p:txBody>
      </p:sp>
      <p:sp>
        <p:nvSpPr>
          <p:cNvPr id="27" name="tokens vote of 3 programs"/>
          <p:cNvSpPr/>
          <p:nvPr/>
        </p:nvSpPr>
        <p:spPr>
          <a:xfrm>
            <a:off x="9601200" y="2157984"/>
            <a:ext cx="70531" cy="256032"/>
          </a:xfrm>
          <a:prstGeom prst="rect">
            <a:avLst/>
          </a:prstGeom>
          <a:solidFill>
            <a:srgbClr val="7F7F7F"/>
          </a:solidFill>
          <a:ln w="6350">
            <a:solidFill>
              <a:srgbClr val="7F7F7F"/>
            </a:solidFill>
            <a:prstDash val="solid"/>
          </a:ln>
        </p:spPr>
      </p:sp>
      <p:sp>
        <p:nvSpPr>
          <p:cNvPr id="28" name="Text 26"/>
          <p:cNvSpPr txBox="1"/>
          <p:nvPr/>
        </p:nvSpPr>
        <p:spPr>
          <a:xfrm>
            <a:off x="9763171" y="2057400"/>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1.1k</a:t>
            </a:r>
            <a:endParaRPr lang="en-US" sz="1500" dirty="0"/>
          </a:p>
        </p:txBody>
      </p:sp>
      <p:sp>
        <p:nvSpPr>
          <p:cNvPr id="29" name="Text 27"/>
          <p:cNvSpPr txBox="1"/>
          <p:nvPr/>
        </p:nvSpPr>
        <p:spPr>
          <a:xfrm>
            <a:off x="6400800" y="2587752"/>
            <a:ext cx="2194560" cy="457200"/>
          </a:xfrm>
          <a:prstGeom prst="rect">
            <a:avLst/>
          </a:prstGeom>
          <a:noFill/>
          <a:ln/>
        </p:spPr>
        <p:txBody>
          <a:bodyPr wrap="square" lIns="0" tIns="0" rIns="0" bIns="0" rtlCol="0" anchor="ctr"/>
          <a:lstStyle/>
          <a:p>
            <a:pPr algn="r" indent="0" marL="0">
              <a:buNone/>
            </a:pPr>
            <a:r>
              <a:rPr lang="en-US" sz="1500" dirty="0">
                <a:solidFill>
                  <a:schemeClr val="tx1"/>
                </a:solidFill>
              </a:rPr>
              <a:t>vote of 3 thinking runs</a:t>
            </a:r>
            <a:endParaRPr lang="en-US" sz="1500" dirty="0"/>
          </a:p>
        </p:txBody>
      </p:sp>
      <p:sp>
        <p:nvSpPr>
          <p:cNvPr id="30" name="Text 28"/>
          <p:cNvSpPr txBox="1"/>
          <p:nvPr/>
        </p:nvSpPr>
        <p:spPr>
          <a:xfrm>
            <a:off x="8686800" y="2587752"/>
            <a:ext cx="822960" cy="457200"/>
          </a:xfrm>
          <a:prstGeom prst="rect">
            <a:avLst/>
          </a:prstGeom>
          <a:noFill/>
          <a:ln/>
        </p:spPr>
        <p:txBody>
          <a:bodyPr wrap="square" lIns="0" tIns="0" rIns="0" bIns="0" rtlCol="0" anchor="ctr"/>
          <a:lstStyle/>
          <a:p>
            <a:pPr algn="ctr" indent="0" marL="0">
              <a:buNone/>
            </a:pPr>
            <a:r>
              <a:rPr lang="en-US" sz="1700" b="1" dirty="0">
                <a:solidFill>
                  <a:srgbClr val="7F7F7F"/>
                </a:solidFill>
              </a:rPr>
              <a:t>79.4%</a:t>
            </a:r>
            <a:endParaRPr lang="en-US" sz="1700" dirty="0"/>
          </a:p>
        </p:txBody>
      </p:sp>
      <p:sp>
        <p:nvSpPr>
          <p:cNvPr id="31" name="tokens vote of 3 thinking runs"/>
          <p:cNvSpPr/>
          <p:nvPr/>
        </p:nvSpPr>
        <p:spPr>
          <a:xfrm>
            <a:off x="9601200" y="2688336"/>
            <a:ext cx="1051560" cy="256032"/>
          </a:xfrm>
          <a:prstGeom prst="rect">
            <a:avLst/>
          </a:prstGeom>
          <a:solidFill>
            <a:srgbClr val="7F7F7F"/>
          </a:solidFill>
          <a:ln w="6350">
            <a:solidFill>
              <a:srgbClr val="7F7F7F"/>
            </a:solidFill>
            <a:prstDash val="solid"/>
          </a:ln>
        </p:spPr>
      </p:sp>
      <p:sp>
        <p:nvSpPr>
          <p:cNvPr id="32" name="Text 30"/>
          <p:cNvSpPr txBox="1"/>
          <p:nvPr/>
        </p:nvSpPr>
        <p:spPr>
          <a:xfrm>
            <a:off x="10744200" y="2587752"/>
            <a:ext cx="731520" cy="457200"/>
          </a:xfrm>
          <a:prstGeom prst="rect">
            <a:avLst/>
          </a:prstGeom>
          <a:noFill/>
          <a:ln/>
        </p:spPr>
        <p:txBody>
          <a:bodyPr wrap="square" lIns="0" tIns="0" rIns="0" bIns="0" rtlCol="0" anchor="ctr"/>
          <a:lstStyle/>
          <a:p>
            <a:pPr indent="0" marL="0">
              <a:buNone/>
            </a:pPr>
            <a:r>
              <a:rPr lang="en-US" sz="1500" b="1" dirty="0">
                <a:solidFill>
                  <a:srgbClr val="7F7F7F"/>
                </a:solidFill>
              </a:rPr>
              <a:t>16.4k</a:t>
            </a:r>
            <a:endParaRPr lang="en-US" sz="1500" dirty="0"/>
          </a:p>
        </p:txBody>
      </p:sp>
      <p:sp>
        <p:nvSpPr>
          <p:cNvPr id="33" name="Text 31"/>
          <p:cNvSpPr txBox="1"/>
          <p:nvPr/>
        </p:nvSpPr>
        <p:spPr>
          <a:xfrm>
            <a:off x="6400800" y="3118104"/>
            <a:ext cx="2194560" cy="457200"/>
          </a:xfrm>
          <a:prstGeom prst="rect">
            <a:avLst/>
          </a:prstGeom>
          <a:noFill/>
          <a:ln/>
        </p:spPr>
        <p:txBody>
          <a:bodyPr wrap="square" lIns="0" tIns="0" rIns="0" bIns="0" rtlCol="0" anchor="ctr"/>
          <a:lstStyle/>
          <a:p>
            <a:pPr algn="r" indent="0" marL="0">
              <a:buNone/>
            </a:pPr>
            <a:r>
              <a:rPr lang="en-US" sz="1500" dirty="0">
                <a:solidFill>
                  <a:schemeClr val="tx1"/>
                </a:solidFill>
              </a:rPr>
              <a:t>hint first, think on failure</a:t>
            </a:r>
            <a:endParaRPr lang="en-US" sz="1500" dirty="0"/>
          </a:p>
        </p:txBody>
      </p:sp>
      <p:sp>
        <p:nvSpPr>
          <p:cNvPr id="34" name="Text 32"/>
          <p:cNvSpPr txBox="1"/>
          <p:nvPr/>
        </p:nvSpPr>
        <p:spPr>
          <a:xfrm>
            <a:off x="8686800" y="3118104"/>
            <a:ext cx="822960" cy="457200"/>
          </a:xfrm>
          <a:prstGeom prst="rect">
            <a:avLst/>
          </a:prstGeom>
          <a:noFill/>
          <a:ln/>
        </p:spPr>
        <p:txBody>
          <a:bodyPr wrap="square" lIns="0" tIns="0" rIns="0" bIns="0" rtlCol="0" anchor="ctr"/>
          <a:lstStyle/>
          <a:p>
            <a:pPr algn="ctr" indent="0" marL="0">
              <a:buNone/>
            </a:pPr>
            <a:r>
              <a:rPr lang="en-US" sz="1700" b="1" dirty="0">
                <a:solidFill>
                  <a:srgbClr val="4472C4"/>
                </a:solidFill>
              </a:rPr>
              <a:t>72.4%</a:t>
            </a:r>
            <a:endParaRPr lang="en-US" sz="1700" dirty="0"/>
          </a:p>
        </p:txBody>
      </p:sp>
      <p:sp>
        <p:nvSpPr>
          <p:cNvPr id="35" name="tokens fact first, think on failure"/>
          <p:cNvSpPr/>
          <p:nvPr/>
        </p:nvSpPr>
        <p:spPr>
          <a:xfrm>
            <a:off x="9601200" y="3218688"/>
            <a:ext cx="83355" cy="256032"/>
          </a:xfrm>
          <a:prstGeom prst="rect">
            <a:avLst/>
          </a:prstGeom>
          <a:solidFill>
            <a:srgbClr val="4472C4"/>
          </a:solidFill>
          <a:ln w="6350">
            <a:solidFill>
              <a:srgbClr val="4472C4"/>
            </a:solidFill>
            <a:prstDash val="solid"/>
          </a:ln>
        </p:spPr>
      </p:sp>
      <p:sp>
        <p:nvSpPr>
          <p:cNvPr id="36" name="Text 34"/>
          <p:cNvSpPr txBox="1"/>
          <p:nvPr/>
        </p:nvSpPr>
        <p:spPr>
          <a:xfrm>
            <a:off x="9775995" y="3118104"/>
            <a:ext cx="731520" cy="457200"/>
          </a:xfrm>
          <a:prstGeom prst="rect">
            <a:avLst/>
          </a:prstGeom>
          <a:noFill/>
          <a:ln/>
        </p:spPr>
        <p:txBody>
          <a:bodyPr wrap="square" lIns="0" tIns="0" rIns="0" bIns="0" rtlCol="0" anchor="ctr"/>
          <a:lstStyle/>
          <a:p>
            <a:pPr indent="0" marL="0">
              <a:buNone/>
            </a:pPr>
            <a:r>
              <a:rPr lang="en-US" sz="1500" b="1" dirty="0">
                <a:solidFill>
                  <a:srgbClr val="4472C4"/>
                </a:solidFill>
              </a:rPr>
              <a:t>1.3k</a:t>
            </a:r>
            <a:endParaRPr lang="en-US" sz="1500" dirty="0"/>
          </a:p>
        </p:txBody>
      </p:sp>
      <p:sp>
        <p:nvSpPr>
          <p:cNvPr id="37" name="Text 35"/>
          <p:cNvSpPr txBox="1"/>
          <p:nvPr/>
        </p:nvSpPr>
        <p:spPr>
          <a:xfrm>
            <a:off x="6400800" y="3886200"/>
            <a:ext cx="4983480" cy="822960"/>
          </a:xfrm>
          <a:prstGeom prst="rect">
            <a:avLst/>
          </a:prstGeom>
          <a:noFill/>
          <a:ln/>
        </p:spPr>
        <p:txBody>
          <a:bodyPr wrap="square" lIns="0" tIns="0" rIns="0" bIns="0" rtlCol="0" anchor="t"/>
          <a:lstStyle/>
          <a:p>
            <a:pPr indent="0" marL="0">
              <a:buNone/>
            </a:pPr>
            <a:r>
              <a:rPr lang="en-US" sz="1500" dirty="0">
                <a:solidFill>
                  <a:schemeClr val="tx2"/>
                </a:solidFill>
              </a:rPr>
              <a:t>Voting three thinking runs is 7 points better here, but costs 12× the tokens of a free check.</a:t>
            </a:r>
            <a:endParaRPr lang="en-US" sz="1500" dirty="0"/>
          </a:p>
        </p:txBody>
      </p:sp>
      <p:sp>
        <p:nvSpPr>
          <p:cNvPr id="38" name="Text 36"/>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A check picks the right answer, a vote the popular one; 3 thinking runs win only at 12× tokens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Q: is the comparison fair?</a:t>
            </a:r>
            <a:endParaRPr lang="en-US" sz="3600" dirty="0"/>
          </a:p>
        </p:txBody>
      </p:sp>
      <p:sp>
        <p:nvSpPr>
          <p:cNvPr id="3" name="fair Input tokens count too"/>
          <p:cNvSpPr/>
          <p:nvPr/>
        </p:nvSpPr>
        <p:spPr>
          <a:xfrm>
            <a:off x="548640" y="1280160"/>
            <a:ext cx="3566160" cy="4160520"/>
          </a:xfrm>
          <a:prstGeom prst="roundRect">
            <a:avLst>
              <a:gd name="adj" fmla="val 2051"/>
            </a:avLst>
          </a:prstGeom>
          <a:solidFill>
            <a:srgbClr val="F2F2F2"/>
          </a:solidFill>
          <a:ln w="9525">
            <a:solidFill>
              <a:srgbClr val="D9D9D9"/>
            </a:solidFill>
            <a:prstDash val="solid"/>
          </a:ln>
        </p:spPr>
      </p:sp>
      <p:pic>
        <p:nvPicPr>
          <p:cNvPr id="4" name="icon coins" descr="/NAS/SJ/POSTECH/nlp/figs/icons/coins.png">    </p:cNvPr>
          <p:cNvPicPr>
            <a:picLocks noChangeAspect="1"/>
          </p:cNvPicPr>
          <p:nvPr/>
        </p:nvPicPr>
        <p:blipFill>
          <a:blip r:embed="rId1"/>
          <a:stretch>
            <a:fillRect/>
          </a:stretch>
        </p:blipFill>
        <p:spPr>
          <a:xfrm>
            <a:off x="777240" y="1463040"/>
            <a:ext cx="502920" cy="502920"/>
          </a:xfrm>
          <a:prstGeom prst="rect">
            <a:avLst/>
          </a:prstGeom>
        </p:spPr>
      </p:pic>
      <p:sp>
        <p:nvSpPr>
          <p:cNvPr id="5" name="Text 2"/>
          <p:cNvSpPr txBox="1"/>
          <p:nvPr/>
        </p:nvSpPr>
        <p:spPr>
          <a:xfrm>
            <a:off x="1417320" y="1463040"/>
            <a:ext cx="2560320" cy="502920"/>
          </a:xfrm>
          <a:prstGeom prst="rect">
            <a:avLst/>
          </a:prstGeom>
          <a:noFill/>
          <a:ln/>
        </p:spPr>
        <p:txBody>
          <a:bodyPr wrap="square" lIns="0" tIns="0" rIns="0" bIns="0" rtlCol="0" anchor="ctr"/>
          <a:lstStyle/>
          <a:p>
            <a:pPr indent="0" marL="0">
              <a:buNone/>
            </a:pPr>
            <a:r>
              <a:rPr lang="en-US" sz="1800" b="1" dirty="0">
                <a:solidFill>
                  <a:schemeClr val="tx1"/>
                </a:solidFill>
              </a:rPr>
              <a:t>Input tokens count too</a:t>
            </a:r>
            <a:endParaRPr lang="en-US" sz="1800" dirty="0"/>
          </a:p>
        </p:txBody>
      </p:sp>
      <p:sp>
        <p:nvSpPr>
          <p:cNvPr id="6" name="Text 3"/>
          <p:cNvSpPr txBox="1"/>
          <p:nvPr/>
        </p:nvSpPr>
        <p:spPr>
          <a:xfrm>
            <a:off x="777240" y="2148840"/>
            <a:ext cx="3108960" cy="685800"/>
          </a:xfrm>
          <a:prstGeom prst="rect">
            <a:avLst/>
          </a:prstGeom>
          <a:noFill/>
          <a:ln/>
        </p:spPr>
        <p:txBody>
          <a:bodyPr wrap="square" lIns="0" tIns="0" rIns="0" bIns="0" rtlCol="0" anchor="ctr"/>
          <a:lstStyle/>
          <a:p>
            <a:pPr indent="0" marL="0">
              <a:buNone/>
            </a:pPr>
            <a:r>
              <a:rPr lang="en-US" sz="3200" b="1" dirty="0">
                <a:solidFill>
                  <a:srgbClr val="4472C4"/>
                </a:solidFill>
              </a:rPr>
              <a:t>+213 tokens</a:t>
            </a:r>
            <a:endParaRPr lang="en-US" sz="3200" dirty="0"/>
          </a:p>
        </p:txBody>
      </p:sp>
      <p:sp>
        <p:nvSpPr>
          <p:cNvPr id="7" name="Text 4"/>
          <p:cNvSpPr txBox="1"/>
          <p:nvPr/>
        </p:nvSpPr>
        <p:spPr>
          <a:xfrm>
            <a:off x="777240" y="2926080"/>
            <a:ext cx="3108960" cy="2377440"/>
          </a:xfrm>
          <a:prstGeom prst="rect">
            <a:avLst/>
          </a:prstGeom>
          <a:noFill/>
          <a:ln/>
        </p:spPr>
        <p:txBody>
          <a:bodyPr wrap="square" lIns="0" tIns="0" rIns="0" bIns="0" rtlCol="0" anchor="t"/>
          <a:lstStyle/>
          <a:p>
            <a:pPr indent="0" marL="0">
              <a:buNone/>
            </a:pPr>
            <a:r>
              <a:rPr lang="en-US" sz="1500" dirty="0">
                <a:solidFill>
                  <a:schemeClr val="tx1"/>
                </a:solidFill>
              </a:rPr>
              <a:t>input tokens for the exact snippet (701 vs 488); a long reference sheet adds 413, extra tools 912. Input is cheaper and cacheable: no conclusion flips. Running programs uses CPU, which we do not count.</a:t>
            </a:r>
            <a:endParaRPr lang="en-US" sz="1500" dirty="0"/>
          </a:p>
        </p:txBody>
      </p:sp>
      <p:sp>
        <p:nvSpPr>
          <p:cNvPr id="8" name="fair Memorized problems?"/>
          <p:cNvSpPr/>
          <p:nvPr/>
        </p:nvSpPr>
        <p:spPr>
          <a:xfrm>
            <a:off x="4297680" y="1280160"/>
            <a:ext cx="3566160" cy="4160520"/>
          </a:xfrm>
          <a:prstGeom prst="roundRect">
            <a:avLst>
              <a:gd name="adj" fmla="val 2051"/>
            </a:avLst>
          </a:prstGeom>
          <a:solidFill>
            <a:srgbClr val="F2F2F2"/>
          </a:solidFill>
          <a:ln w="9525">
            <a:solidFill>
              <a:srgbClr val="D9D9D9"/>
            </a:solidFill>
            <a:prstDash val="solid"/>
          </a:ln>
        </p:spPr>
      </p:sp>
      <p:pic>
        <p:nvPicPr>
          <p:cNvPr id="9" name="icon trophy" descr="/NAS/SJ/POSTECH/nlp/figs/icons/trophy.png">    </p:cNvPr>
          <p:cNvPicPr>
            <a:picLocks noChangeAspect="1"/>
          </p:cNvPicPr>
          <p:nvPr/>
        </p:nvPicPr>
        <p:blipFill>
          <a:blip r:embed="rId2"/>
          <a:stretch>
            <a:fillRect/>
          </a:stretch>
        </p:blipFill>
        <p:spPr>
          <a:xfrm>
            <a:off x="4526280" y="1463040"/>
            <a:ext cx="502920" cy="502920"/>
          </a:xfrm>
          <a:prstGeom prst="rect">
            <a:avLst/>
          </a:prstGeom>
        </p:spPr>
      </p:pic>
      <p:sp>
        <p:nvSpPr>
          <p:cNvPr id="10" name="Text 6"/>
          <p:cNvSpPr txBox="1"/>
          <p:nvPr/>
        </p:nvSpPr>
        <p:spPr>
          <a:xfrm>
            <a:off x="5166360" y="1463040"/>
            <a:ext cx="2560320" cy="502920"/>
          </a:xfrm>
          <a:prstGeom prst="rect">
            <a:avLst/>
          </a:prstGeom>
          <a:noFill/>
          <a:ln/>
        </p:spPr>
        <p:txBody>
          <a:bodyPr wrap="square" lIns="0" tIns="0" rIns="0" bIns="0" rtlCol="0" anchor="ctr"/>
          <a:lstStyle/>
          <a:p>
            <a:pPr indent="0" marL="0">
              <a:buNone/>
            </a:pPr>
            <a:r>
              <a:rPr lang="en-US" sz="1800" b="1" dirty="0">
                <a:solidFill>
                  <a:schemeClr val="tx1"/>
                </a:solidFill>
              </a:rPr>
              <a:t>Memorized problems?</a:t>
            </a:r>
            <a:endParaRPr lang="en-US" sz="1800" dirty="0"/>
          </a:p>
        </p:txBody>
      </p:sp>
      <p:sp>
        <p:nvSpPr>
          <p:cNvPr id="11" name="Text 7"/>
          <p:cNvSpPr txBox="1"/>
          <p:nvPr/>
        </p:nvSpPr>
        <p:spPr>
          <a:xfrm>
            <a:off x="4526280" y="2148840"/>
            <a:ext cx="3108960" cy="685800"/>
          </a:xfrm>
          <a:prstGeom prst="rect">
            <a:avLst/>
          </a:prstGeom>
          <a:noFill/>
          <a:ln/>
        </p:spPr>
        <p:txBody>
          <a:bodyPr wrap="square" lIns="0" tIns="0" rIns="0" bIns="0" rtlCol="0" anchor="ctr"/>
          <a:lstStyle/>
          <a:p>
            <a:pPr indent="0" marL="0">
              <a:buNone/>
            </a:pPr>
            <a:r>
              <a:rPr lang="en-US" sz="3200" b="1" dirty="0">
                <a:solidFill>
                  <a:srgbClr val="4472C4"/>
                </a:solidFill>
              </a:rPr>
              <a:t>81% vs 83%</a:t>
            </a:r>
            <a:endParaRPr lang="en-US" sz="3200" dirty="0"/>
          </a:p>
        </p:txBody>
      </p:sp>
      <p:sp>
        <p:nvSpPr>
          <p:cNvPr id="12" name="Text 8"/>
          <p:cNvSpPr txBox="1"/>
          <p:nvPr/>
        </p:nvSpPr>
        <p:spPr>
          <a:xfrm>
            <a:off x="4526280" y="2926080"/>
            <a:ext cx="3108960" cy="2377440"/>
          </a:xfrm>
          <a:prstGeom prst="rect">
            <a:avLst/>
          </a:prstGeom>
          <a:noFill/>
          <a:ln/>
        </p:spPr>
        <p:txBody>
          <a:bodyPr wrap="square" lIns="0" tIns="0" rIns="0" bIns="0" rtlCol="0" anchor="t"/>
          <a:lstStyle/>
          <a:p>
            <a:pPr indent="0" marL="0">
              <a:buNone/>
            </a:pPr>
            <a:r>
              <a:rPr lang="en-US" sz="1500" dirty="0">
                <a:solidFill>
                  <a:schemeClr val="tx1"/>
                </a:solidFill>
              </a:rPr>
              <a:t>older vs newer contests at the same difficulty (rating below 2000): no sign of memory, though all are before 2022. MAMO was held out until the end, and every method runs on the same model.</a:t>
            </a:r>
            <a:endParaRPr lang="en-US" sz="1500" dirty="0"/>
          </a:p>
        </p:txBody>
      </p:sp>
      <p:sp>
        <p:nvSpPr>
          <p:cNvPr id="13" name="fair Small differences"/>
          <p:cNvSpPr/>
          <p:nvPr/>
        </p:nvSpPr>
        <p:spPr>
          <a:xfrm>
            <a:off x="8046720" y="1280160"/>
            <a:ext cx="3566160" cy="4160520"/>
          </a:xfrm>
          <a:prstGeom prst="roundRect">
            <a:avLst>
              <a:gd name="adj" fmla="val 2051"/>
            </a:avLst>
          </a:prstGeom>
          <a:solidFill>
            <a:srgbClr val="F2F2F2"/>
          </a:solidFill>
          <a:ln w="9525">
            <a:solidFill>
              <a:srgbClr val="D9D9D9"/>
            </a:solidFill>
            <a:prstDash val="solid"/>
          </a:ln>
        </p:spPr>
      </p:sp>
      <p:pic>
        <p:nvPicPr>
          <p:cNvPr id="14" name="icon check" descr="/NAS/SJ/POSTECH/nlp/figs/icons/check.png">    </p:cNvPr>
          <p:cNvPicPr>
            <a:picLocks noChangeAspect="1"/>
          </p:cNvPicPr>
          <p:nvPr/>
        </p:nvPicPr>
        <p:blipFill>
          <a:blip r:embed="rId3"/>
          <a:stretch>
            <a:fillRect/>
          </a:stretch>
        </p:blipFill>
        <p:spPr>
          <a:xfrm>
            <a:off x="8275320" y="1463040"/>
            <a:ext cx="502920" cy="502920"/>
          </a:xfrm>
          <a:prstGeom prst="rect">
            <a:avLst/>
          </a:prstGeom>
        </p:spPr>
      </p:pic>
      <p:sp>
        <p:nvSpPr>
          <p:cNvPr id="15" name="Text 10"/>
          <p:cNvSpPr txBox="1"/>
          <p:nvPr/>
        </p:nvSpPr>
        <p:spPr>
          <a:xfrm>
            <a:off x="8915400" y="1463040"/>
            <a:ext cx="2560320" cy="502920"/>
          </a:xfrm>
          <a:prstGeom prst="rect">
            <a:avLst/>
          </a:prstGeom>
          <a:noFill/>
          <a:ln/>
        </p:spPr>
        <p:txBody>
          <a:bodyPr wrap="square" lIns="0" tIns="0" rIns="0" bIns="0" rtlCol="0" anchor="ctr"/>
          <a:lstStyle/>
          <a:p>
            <a:pPr indent="0" marL="0">
              <a:buNone/>
            </a:pPr>
            <a:r>
              <a:rPr lang="en-US" sz="1800" b="1" dirty="0">
                <a:solidFill>
                  <a:schemeClr val="tx1"/>
                </a:solidFill>
              </a:rPr>
              <a:t>Small differences</a:t>
            </a:r>
            <a:endParaRPr lang="en-US" sz="1800" dirty="0"/>
          </a:p>
        </p:txBody>
      </p:sp>
      <p:sp>
        <p:nvSpPr>
          <p:cNvPr id="16" name="Text 11"/>
          <p:cNvSpPr txBox="1"/>
          <p:nvPr/>
        </p:nvSpPr>
        <p:spPr>
          <a:xfrm>
            <a:off x="8275320" y="2148840"/>
            <a:ext cx="3108960" cy="685800"/>
          </a:xfrm>
          <a:prstGeom prst="rect">
            <a:avLst/>
          </a:prstGeom>
          <a:noFill/>
          <a:ln/>
        </p:spPr>
        <p:txBody>
          <a:bodyPr wrap="square" lIns="0" tIns="0" rIns="0" bIns="0" rtlCol="0" anchor="ctr"/>
          <a:lstStyle/>
          <a:p>
            <a:pPr indent="0" marL="0">
              <a:buNone/>
            </a:pPr>
            <a:r>
              <a:rPr lang="en-US" sz="3200" b="1" dirty="0">
                <a:solidFill>
                  <a:srgbClr val="4472C4"/>
                </a:solidFill>
              </a:rPr>
              <a:t>3 seeds</a:t>
            </a:r>
            <a:endParaRPr lang="en-US" sz="3200" dirty="0"/>
          </a:p>
        </p:txBody>
      </p:sp>
      <p:sp>
        <p:nvSpPr>
          <p:cNvPr id="17" name="Text 12"/>
          <p:cNvSpPr txBox="1"/>
          <p:nvPr/>
        </p:nvSpPr>
        <p:spPr>
          <a:xfrm>
            <a:off x="8275320" y="2926080"/>
            <a:ext cx="3108960" cy="2377440"/>
          </a:xfrm>
          <a:prstGeom prst="rect">
            <a:avLst/>
          </a:prstGeom>
          <a:noFill/>
          <a:ln/>
        </p:spPr>
        <p:txBody>
          <a:bodyPr wrap="square" lIns="0" tIns="0" rIns="0" bIns="0" rtlCol="0" anchor="t"/>
          <a:lstStyle/>
          <a:p>
            <a:pPr indent="0" marL="0">
              <a:buNone/>
            </a:pPr>
            <a:r>
              <a:rPr lang="en-US" sz="1500" dirty="0">
                <a:solidFill>
                  <a:schemeClr val="tx1"/>
                </a:solidFill>
              </a:rPr>
              <a:t>every claim pre-registered; when the gap is 1–4 problems we say 'same accuracy, fewer tokens', not 'better' (3 vs 1 problems: p = 0.62).</a:t>
            </a:r>
            <a:endParaRPr lang="en-US" sz="1500" dirty="0"/>
          </a:p>
        </p:txBody>
      </p:sp>
      <p:sp>
        <p:nvSpPr>
          <p:cNvPr id="18" name="Text 13"/>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Same models, problems and grader for every method; every accuracy comes with its cost</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one hint helps small models most</a:t>
            </a:r>
            <a:endParaRPr lang="en-US" sz="36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indent="0" marL="0">
              <a:buNone/>
            </a:pPr>
            <a:r>
              <a:rPr lang="en-US" sz="1800" dirty="0">
                <a:solidFill>
                  <a:schemeClr val="tx1"/>
                </a:solidFill>
              </a:rPr>
              <a:t>Word problems → optimization programs (NL4OPT + IndustryOR, 345 problems, 3 runs): % solved</a:t>
            </a:r>
            <a:endParaRPr lang="en-US" sz="1800" dirty="0"/>
          </a:p>
        </p:txBody>
      </p:sp>
      <p:graphicFrame>
        <p:nvGraphicFramePr>
          <p:cNvPr id="4" name="fact gain by model size" descr=""/>
          <p:cNvGraphicFramePr/>
          <p:nvPr/>
        </p:nvGraphicFramePr>
        <p:xfrm>
          <a:off x="548640" y="1691640"/>
          <a:ext cx="7498080" cy="3840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412480" y="1783080"/>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+44</a:t>
            </a:r>
            <a:endParaRPr lang="en-US" sz="2200" dirty="0"/>
          </a:p>
        </p:txBody>
      </p:sp>
      <p:sp>
        <p:nvSpPr>
          <p:cNvPr id="6" name="Text 3"/>
          <p:cNvSpPr txBox="1"/>
          <p:nvPr/>
        </p:nvSpPr>
        <p:spPr>
          <a:xfrm>
            <a:off x="9464040" y="1783080"/>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Qwen3-1.7B</a:t>
            </a:r>
            <a:endParaRPr lang="en-US" sz="1500" dirty="0"/>
          </a:p>
        </p:txBody>
      </p:sp>
      <p:sp>
        <p:nvSpPr>
          <p:cNvPr id="7" name="Text 4"/>
          <p:cNvSpPr txBox="1"/>
          <p:nvPr/>
        </p:nvSpPr>
        <p:spPr>
          <a:xfrm>
            <a:off x="8412480" y="2350008"/>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+31</a:t>
            </a:r>
            <a:endParaRPr lang="en-US" sz="2200" dirty="0"/>
          </a:p>
        </p:txBody>
      </p:sp>
      <p:sp>
        <p:nvSpPr>
          <p:cNvPr id="8" name="Text 5"/>
          <p:cNvSpPr txBox="1"/>
          <p:nvPr/>
        </p:nvSpPr>
        <p:spPr>
          <a:xfrm>
            <a:off x="9464040" y="2350008"/>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Qwen3-4B</a:t>
            </a:r>
            <a:endParaRPr lang="en-US" sz="1500" dirty="0"/>
          </a:p>
        </p:txBody>
      </p:sp>
      <p:sp>
        <p:nvSpPr>
          <p:cNvPr id="9" name="Text 6"/>
          <p:cNvSpPr txBox="1"/>
          <p:nvPr/>
        </p:nvSpPr>
        <p:spPr>
          <a:xfrm>
            <a:off x="8412480" y="2916936"/>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+17</a:t>
            </a:r>
            <a:endParaRPr lang="en-US" sz="2200" dirty="0"/>
          </a:p>
        </p:txBody>
      </p:sp>
      <p:sp>
        <p:nvSpPr>
          <p:cNvPr id="10" name="Text 7"/>
          <p:cNvSpPr txBox="1"/>
          <p:nvPr/>
        </p:nvSpPr>
        <p:spPr>
          <a:xfrm>
            <a:off x="9464040" y="2916936"/>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Qwen3-8B</a:t>
            </a:r>
            <a:endParaRPr lang="en-US" sz="1500" dirty="0"/>
          </a:p>
        </p:txBody>
      </p:sp>
      <p:sp>
        <p:nvSpPr>
          <p:cNvPr id="11" name="Text 8"/>
          <p:cNvSpPr txBox="1"/>
          <p:nvPr/>
        </p:nvSpPr>
        <p:spPr>
          <a:xfrm>
            <a:off x="8412480" y="3483864"/>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+8</a:t>
            </a:r>
            <a:endParaRPr lang="en-US" sz="2200" dirty="0"/>
          </a:p>
        </p:txBody>
      </p:sp>
      <p:sp>
        <p:nvSpPr>
          <p:cNvPr id="12" name="Text 9"/>
          <p:cNvSpPr txBox="1"/>
          <p:nvPr/>
        </p:nvSpPr>
        <p:spPr>
          <a:xfrm>
            <a:off x="9464040" y="3483864"/>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Qwen3-14B</a:t>
            </a:r>
            <a:endParaRPr lang="en-US" sz="1500" dirty="0"/>
          </a:p>
        </p:txBody>
      </p:sp>
      <p:sp>
        <p:nvSpPr>
          <p:cNvPr id="13" name="Text 10"/>
          <p:cNvSpPr txBox="1"/>
          <p:nvPr/>
        </p:nvSpPr>
        <p:spPr>
          <a:xfrm>
            <a:off x="8412480" y="4050792"/>
            <a:ext cx="914400" cy="457200"/>
          </a:xfrm>
          <a:prstGeom prst="rect">
            <a:avLst/>
          </a:prstGeom>
          <a:noFill/>
          <a:ln/>
        </p:spPr>
        <p:txBody>
          <a:bodyPr wrap="square" lIns="0" tIns="0" rIns="0" bIns="0" rtlCol="0" anchor="ctr"/>
          <a:lstStyle/>
          <a:p>
            <a:pPr algn="r" indent="0" marL="0">
              <a:buNone/>
            </a:pPr>
            <a:r>
              <a:rPr lang="en-US" sz="2200" b="1" dirty="0">
                <a:solidFill>
                  <a:srgbClr val="4472C4"/>
                </a:solidFill>
              </a:rPr>
              <a:t>+1</a:t>
            </a:r>
            <a:endParaRPr lang="en-US" sz="2200" dirty="0"/>
          </a:p>
        </p:txBody>
      </p:sp>
      <p:sp>
        <p:nvSpPr>
          <p:cNvPr id="14" name="Text 11"/>
          <p:cNvSpPr txBox="1"/>
          <p:nvPr/>
        </p:nvSpPr>
        <p:spPr>
          <a:xfrm>
            <a:off x="9464040" y="4050792"/>
            <a:ext cx="2194560" cy="457200"/>
          </a:xfrm>
          <a:prstGeom prst="rect">
            <a:avLst/>
          </a:prstGeom>
          <a:noFill/>
          <a:ln/>
        </p:spPr>
        <p:txBody>
          <a:bodyPr wrap="square" lIns="0" tIns="0" rIns="0" bIns="0" rtlCol="0" anchor="ctr"/>
          <a:lstStyle/>
          <a:p>
            <a:pPr indent="0" marL="0">
              <a:buNone/>
            </a:pPr>
            <a:r>
              <a:rPr lang="en-US" sz="1500" dirty="0">
                <a:solidFill>
                  <a:schemeClr val="tx1"/>
                </a:solidFill>
              </a:rPr>
              <a:t>Qwen3-32B</a:t>
            </a:r>
            <a:endParaRPr lang="en-US" sz="1500" dirty="0"/>
          </a:p>
        </p:txBody>
      </p:sp>
      <p:sp>
        <p:nvSpPr>
          <p:cNvPr id="15" name="Text 12"/>
          <p:cNvSpPr txBox="1"/>
          <p:nvPr/>
        </p:nvSpPr>
        <p:spPr>
          <a:xfrm>
            <a:off x="8412480" y="4663440"/>
            <a:ext cx="3200400" cy="365760"/>
          </a:xfrm>
          <a:prstGeom prst="rect">
            <a:avLst/>
          </a:prstGeom>
          <a:noFill/>
          <a:ln/>
        </p:spPr>
        <p:txBody>
          <a:bodyPr wrap="square" lIns="0" tIns="0" rIns="0" bIns="0" rtlCol="0" anchor="ctr"/>
          <a:lstStyle/>
          <a:p>
            <a:pPr indent="0" marL="0">
              <a:buNone/>
            </a:pPr>
            <a:r>
              <a:rPr lang="en-US" sz="1300" dirty="0">
                <a:solidFill>
                  <a:schemeClr val="tx2"/>
                </a:solidFill>
              </a:rPr>
              <a:t>hint gain (points)</a:t>
            </a:r>
            <a:endParaRPr lang="en-US" sz="1300" dirty="0"/>
          </a:p>
        </p:txBody>
      </p:sp>
      <p:sp>
        <p:nvSpPr>
          <p:cNvPr id="16" name="Text 13"/>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With the hint, a model on one 24 GB GPU matches Qwen3-32B (73% vs 72%) at 1/8 of the tokens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all policies, cost vs accuracy</a:t>
            </a:r>
            <a:endParaRPr lang="en-US" sz="3600" dirty="0"/>
          </a:p>
        </p:txBody>
      </p:sp>
      <p:sp>
        <p:nvSpPr>
          <p:cNvPr id="3" name="Text 1"/>
          <p:cNvSpPr txBox="1"/>
          <p:nvPr/>
        </p:nvSpPr>
        <p:spPr>
          <a:xfrm>
            <a:off x="548640" y="1234440"/>
            <a:ext cx="11064240" cy="411480"/>
          </a:xfrm>
          <a:prstGeom prst="rect">
            <a:avLst/>
          </a:prstGeom>
          <a:noFill/>
          <a:ln/>
        </p:spPr>
        <p:txBody>
          <a:bodyPr wrap="square" lIns="0" tIns="0" rIns="0" bIns="0" rtlCol="0" anchor="ctr"/>
          <a:lstStyle/>
          <a:p>
            <a:pPr indent="0" marL="0">
              <a:buNone/>
            </a:pPr>
            <a:r>
              <a:rPr lang="en-US" sz="1800" dirty="0">
                <a:solidFill>
                  <a:schemeClr val="tx1"/>
                </a:solidFill>
              </a:rPr>
              <a:t>Same 208 geometry and optimization problems × 3 models: % solved · tokens per problem</a:t>
            </a:r>
            <a:endParaRPr lang="en-US" sz="1800" dirty="0"/>
          </a:p>
        </p:txBody>
      </p:sp>
      <p:sp>
        <p:nvSpPr>
          <p:cNvPr id="4" name="Text 2"/>
          <p:cNvSpPr txBox="1"/>
          <p:nvPr/>
        </p:nvSpPr>
        <p:spPr>
          <a:xfrm>
            <a:off x="548640" y="1783080"/>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First program, no help</a:t>
            </a:r>
            <a:endParaRPr lang="en-US" sz="1600" dirty="0"/>
          </a:p>
        </p:txBody>
      </p:sp>
      <p:sp>
        <p:nvSpPr>
          <p:cNvPr id="5" name="bar First program, no help"/>
          <p:cNvSpPr/>
          <p:nvPr/>
        </p:nvSpPr>
        <p:spPr>
          <a:xfrm>
            <a:off x="3337560" y="1868119"/>
            <a:ext cx="1958645" cy="283464"/>
          </a:xfrm>
          <a:prstGeom prst="rect">
            <a:avLst/>
          </a:prstGeom>
          <a:solidFill>
            <a:srgbClr val="A5A5A5"/>
          </a:solidFill>
          <a:ln w="6350">
            <a:solidFill>
              <a:srgbClr val="A5A5A5"/>
            </a:solidFill>
            <a:prstDash val="solid"/>
          </a:ln>
        </p:spPr>
      </p:sp>
      <p:sp>
        <p:nvSpPr>
          <p:cNvPr id="6" name="Text 4"/>
          <p:cNvSpPr txBox="1"/>
          <p:nvPr/>
        </p:nvSpPr>
        <p:spPr>
          <a:xfrm>
            <a:off x="5387645" y="1783080"/>
            <a:ext cx="1554480" cy="453542"/>
          </a:xfrm>
          <a:prstGeom prst="rect">
            <a:avLst/>
          </a:prstGeom>
          <a:noFill/>
          <a:ln/>
        </p:spPr>
        <p:txBody>
          <a:bodyPr wrap="square" lIns="0" tIns="0" rIns="0" bIns="0" rtlCol="0" anchor="ctr"/>
          <a:lstStyle/>
          <a:p>
            <a:pPr indent="0" marL="0">
              <a:buNone/>
            </a:pPr>
            <a:r>
              <a:rPr lang="en-US" sz="1800" b="1" dirty="0">
                <a:solidFill>
                  <a:srgbClr val="A5A5A5"/>
                </a:solidFill>
              </a:rPr>
              <a:t>63% · 0.7k</a:t>
            </a:r>
            <a:endParaRPr lang="en-US" sz="1800" dirty="0"/>
          </a:p>
        </p:txBody>
      </p:sp>
      <p:sp>
        <p:nvSpPr>
          <p:cNvPr id="7" name="Text 5"/>
          <p:cNvSpPr txBox="1"/>
          <p:nvPr/>
        </p:nvSpPr>
        <p:spPr>
          <a:xfrm>
            <a:off x="548640" y="2350008"/>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Think on hardest-looking</a:t>
            </a:r>
            <a:endParaRPr lang="en-US" sz="1600" dirty="0"/>
          </a:p>
        </p:txBody>
      </p:sp>
      <p:sp>
        <p:nvSpPr>
          <p:cNvPr id="8" name="bar Think on hardest-looking"/>
          <p:cNvSpPr/>
          <p:nvPr/>
        </p:nvSpPr>
        <p:spPr>
          <a:xfrm>
            <a:off x="3337560" y="2435047"/>
            <a:ext cx="2300630" cy="283464"/>
          </a:xfrm>
          <a:prstGeom prst="rect">
            <a:avLst/>
          </a:prstGeom>
          <a:solidFill>
            <a:srgbClr val="7F7F7F"/>
          </a:solidFill>
          <a:ln w="6350">
            <a:solidFill>
              <a:srgbClr val="7F7F7F"/>
            </a:solidFill>
            <a:prstDash val="solid"/>
          </a:ln>
        </p:spPr>
      </p:sp>
      <p:sp>
        <p:nvSpPr>
          <p:cNvPr id="9" name="Text 7"/>
          <p:cNvSpPr txBox="1"/>
          <p:nvPr/>
        </p:nvSpPr>
        <p:spPr>
          <a:xfrm>
            <a:off x="5729630" y="2350008"/>
            <a:ext cx="1554480" cy="453542"/>
          </a:xfrm>
          <a:prstGeom prst="rect">
            <a:avLst/>
          </a:prstGeom>
          <a:noFill/>
          <a:ln/>
        </p:spPr>
        <p:txBody>
          <a:bodyPr wrap="square" lIns="0" tIns="0" rIns="0" bIns="0" rtlCol="0" anchor="ctr"/>
          <a:lstStyle/>
          <a:p>
            <a:pPr indent="0" marL="0">
              <a:buNone/>
            </a:pPr>
            <a:r>
              <a:rPr lang="en-US" sz="1800" b="1" dirty="0">
                <a:solidFill>
                  <a:srgbClr val="7F7F7F"/>
                </a:solidFill>
              </a:rPr>
              <a:t>74% · 4.1k</a:t>
            </a:r>
            <a:endParaRPr lang="en-US" sz="1800" dirty="0"/>
          </a:p>
        </p:txBody>
      </p:sp>
      <p:sp>
        <p:nvSpPr>
          <p:cNvPr id="10" name="Text 8"/>
          <p:cNvSpPr txBox="1"/>
          <p:nvPr/>
        </p:nvSpPr>
        <p:spPr>
          <a:xfrm>
            <a:off x="548640" y="2916936"/>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Think when check fails</a:t>
            </a:r>
            <a:endParaRPr lang="en-US" sz="1600" dirty="0"/>
          </a:p>
        </p:txBody>
      </p:sp>
      <p:sp>
        <p:nvSpPr>
          <p:cNvPr id="11" name="bar Think when check fails"/>
          <p:cNvSpPr/>
          <p:nvPr/>
        </p:nvSpPr>
        <p:spPr>
          <a:xfrm>
            <a:off x="3337560" y="3001975"/>
            <a:ext cx="2393899" cy="283464"/>
          </a:xfrm>
          <a:prstGeom prst="rect">
            <a:avLst/>
          </a:prstGeom>
          <a:solidFill>
            <a:srgbClr val="7F7F7F"/>
          </a:solidFill>
          <a:ln w="6350">
            <a:solidFill>
              <a:srgbClr val="7F7F7F"/>
            </a:solidFill>
            <a:prstDash val="solid"/>
          </a:ln>
        </p:spPr>
      </p:sp>
      <p:sp>
        <p:nvSpPr>
          <p:cNvPr id="12" name="Text 10"/>
          <p:cNvSpPr txBox="1"/>
          <p:nvPr/>
        </p:nvSpPr>
        <p:spPr>
          <a:xfrm>
            <a:off x="5822899" y="2916936"/>
            <a:ext cx="1554480" cy="453542"/>
          </a:xfrm>
          <a:prstGeom prst="rect">
            <a:avLst/>
          </a:prstGeom>
          <a:noFill/>
          <a:ln/>
        </p:spPr>
        <p:txBody>
          <a:bodyPr wrap="square" lIns="0" tIns="0" rIns="0" bIns="0" rtlCol="0" anchor="ctr"/>
          <a:lstStyle/>
          <a:p>
            <a:pPr indent="0" marL="0">
              <a:buNone/>
            </a:pPr>
            <a:r>
              <a:rPr lang="en-US" sz="1800" b="1" dirty="0">
                <a:solidFill>
                  <a:srgbClr val="7F7F7F"/>
                </a:solidFill>
              </a:rPr>
              <a:t>77% · 4.2k</a:t>
            </a:r>
            <a:endParaRPr lang="en-US" sz="1800" dirty="0"/>
          </a:p>
        </p:txBody>
      </p:sp>
      <p:sp>
        <p:nvSpPr>
          <p:cNvPr id="13" name="Text 11"/>
          <p:cNvSpPr txBox="1"/>
          <p:nvPr/>
        </p:nvSpPr>
        <p:spPr>
          <a:xfrm>
            <a:off x="548640" y="3483864"/>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Fix by failure type</a:t>
            </a:r>
            <a:endParaRPr lang="en-US" sz="1600" dirty="0"/>
          </a:p>
        </p:txBody>
      </p:sp>
      <p:sp>
        <p:nvSpPr>
          <p:cNvPr id="14" name="bar Fix by failure type"/>
          <p:cNvSpPr/>
          <p:nvPr/>
        </p:nvSpPr>
        <p:spPr>
          <a:xfrm>
            <a:off x="3337560" y="3568903"/>
            <a:ext cx="2580437" cy="283464"/>
          </a:xfrm>
          <a:prstGeom prst="rect">
            <a:avLst/>
          </a:prstGeom>
          <a:solidFill>
            <a:srgbClr val="ED7D31"/>
          </a:solidFill>
          <a:ln w="6350">
            <a:solidFill>
              <a:srgbClr val="ED7D31"/>
            </a:solidFill>
            <a:prstDash val="solid"/>
          </a:ln>
        </p:spPr>
      </p:sp>
      <p:sp>
        <p:nvSpPr>
          <p:cNvPr id="15" name="Text 13"/>
          <p:cNvSpPr txBox="1"/>
          <p:nvPr/>
        </p:nvSpPr>
        <p:spPr>
          <a:xfrm>
            <a:off x="6009437" y="3483864"/>
            <a:ext cx="1554480" cy="453542"/>
          </a:xfrm>
          <a:prstGeom prst="rect">
            <a:avLst/>
          </a:prstGeom>
          <a:noFill/>
          <a:ln/>
        </p:spPr>
        <p:txBody>
          <a:bodyPr wrap="square" lIns="0" tIns="0" rIns="0" bIns="0" rtlCol="0" anchor="ctr"/>
          <a:lstStyle/>
          <a:p>
            <a:pPr indent="0" marL="0">
              <a:buNone/>
            </a:pPr>
            <a:r>
              <a:rPr lang="en-US" sz="1800" b="1" dirty="0">
                <a:solidFill>
                  <a:srgbClr val="ED7D31"/>
                </a:solidFill>
              </a:rPr>
              <a:t>83% · 4.2k</a:t>
            </a:r>
            <a:endParaRPr lang="en-US" sz="1800" dirty="0"/>
          </a:p>
        </p:txBody>
      </p:sp>
      <p:sp>
        <p:nvSpPr>
          <p:cNvPr id="16" name="Text 14"/>
          <p:cNvSpPr txBox="1"/>
          <p:nvPr/>
        </p:nvSpPr>
        <p:spPr>
          <a:xfrm>
            <a:off x="548640" y="4050792"/>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Retrieved hint, then think</a:t>
            </a:r>
            <a:endParaRPr lang="en-US" sz="1600" dirty="0"/>
          </a:p>
        </p:txBody>
      </p:sp>
      <p:sp>
        <p:nvSpPr>
          <p:cNvPr id="17" name="bar Retrieved fact, then think"/>
          <p:cNvSpPr/>
          <p:nvPr/>
        </p:nvSpPr>
        <p:spPr>
          <a:xfrm>
            <a:off x="3337560" y="4135831"/>
            <a:ext cx="2611526" cy="283464"/>
          </a:xfrm>
          <a:prstGeom prst="rect">
            <a:avLst/>
          </a:prstGeom>
          <a:solidFill>
            <a:srgbClr val="5B9BD5"/>
          </a:solidFill>
          <a:ln w="6350">
            <a:solidFill>
              <a:srgbClr val="5B9BD5"/>
            </a:solidFill>
            <a:prstDash val="solid"/>
          </a:ln>
        </p:spPr>
      </p:sp>
      <p:sp>
        <p:nvSpPr>
          <p:cNvPr id="18" name="Text 16"/>
          <p:cNvSpPr txBox="1"/>
          <p:nvPr/>
        </p:nvSpPr>
        <p:spPr>
          <a:xfrm>
            <a:off x="6040526" y="4050792"/>
            <a:ext cx="1554480" cy="453542"/>
          </a:xfrm>
          <a:prstGeom prst="rect">
            <a:avLst/>
          </a:prstGeom>
          <a:noFill/>
          <a:ln/>
        </p:spPr>
        <p:txBody>
          <a:bodyPr wrap="square" lIns="0" tIns="0" rIns="0" bIns="0" rtlCol="0" anchor="ctr"/>
          <a:lstStyle/>
          <a:p>
            <a:pPr indent="0" marL="0">
              <a:buNone/>
            </a:pPr>
            <a:r>
              <a:rPr lang="en-US" sz="1800" b="1" dirty="0">
                <a:solidFill>
                  <a:srgbClr val="5B9BD5"/>
                </a:solidFill>
              </a:rPr>
              <a:t>84% · 3.3k</a:t>
            </a:r>
            <a:endParaRPr lang="en-US" sz="1800" dirty="0"/>
          </a:p>
        </p:txBody>
      </p:sp>
      <p:sp>
        <p:nvSpPr>
          <p:cNvPr id="19" name="Text 17"/>
          <p:cNvSpPr txBox="1"/>
          <p:nvPr/>
        </p:nvSpPr>
        <p:spPr>
          <a:xfrm>
            <a:off x="548640" y="4617720"/>
            <a:ext cx="2651760" cy="453542"/>
          </a:xfrm>
          <a:prstGeom prst="rect">
            <a:avLst/>
          </a:prstGeom>
          <a:noFill/>
          <a:ln/>
        </p:spPr>
        <p:txBody>
          <a:bodyPr wrap="square" lIns="0" tIns="0" rIns="0" bIns="0" rtlCol="0" anchor="ctr"/>
          <a:lstStyle/>
          <a:p>
            <a:pPr algn="r" indent="0" marL="0">
              <a:buNone/>
            </a:pPr>
            <a:r>
              <a:rPr lang="en-US" sz="1600" dirty="0">
                <a:solidFill>
                  <a:schemeClr val="tx1"/>
                </a:solidFill>
              </a:rPr>
              <a:t>Hint first, then think</a:t>
            </a:r>
            <a:endParaRPr lang="en-US" sz="1600" dirty="0"/>
          </a:p>
        </p:txBody>
      </p:sp>
      <p:sp>
        <p:nvSpPr>
          <p:cNvPr id="20" name="bar Fact first, then think"/>
          <p:cNvSpPr/>
          <p:nvPr/>
        </p:nvSpPr>
        <p:spPr>
          <a:xfrm>
            <a:off x="3337560" y="4702759"/>
            <a:ext cx="2704795" cy="283464"/>
          </a:xfrm>
          <a:prstGeom prst="rect">
            <a:avLst/>
          </a:prstGeom>
          <a:solidFill>
            <a:srgbClr val="4472C4"/>
          </a:solidFill>
          <a:ln w="6350">
            <a:solidFill>
              <a:srgbClr val="4472C4"/>
            </a:solidFill>
            <a:prstDash val="solid"/>
          </a:ln>
        </p:spPr>
      </p:sp>
      <p:sp>
        <p:nvSpPr>
          <p:cNvPr id="21" name="Text 19"/>
          <p:cNvSpPr txBox="1"/>
          <p:nvPr/>
        </p:nvSpPr>
        <p:spPr>
          <a:xfrm>
            <a:off x="6133795" y="4617720"/>
            <a:ext cx="1554480" cy="453542"/>
          </a:xfrm>
          <a:prstGeom prst="rect">
            <a:avLst/>
          </a:prstGeom>
          <a:noFill/>
          <a:ln/>
        </p:spPr>
        <p:txBody>
          <a:bodyPr wrap="square" lIns="0" tIns="0" rIns="0" bIns="0" rtlCol="0" anchor="ctr"/>
          <a:lstStyle/>
          <a:p>
            <a:pPr indent="0" marL="0">
              <a:buNone/>
            </a:pPr>
            <a:r>
              <a:rPr lang="en-US" sz="1800" b="1" dirty="0">
                <a:solidFill>
                  <a:srgbClr val="4472C4"/>
                </a:solidFill>
              </a:rPr>
              <a:t>87% · 2.5k</a:t>
            </a:r>
            <a:endParaRPr lang="en-US" sz="1800" dirty="0"/>
          </a:p>
        </p:txBody>
      </p:sp>
      <p:sp>
        <p:nvSpPr>
          <p:cNvPr id="22" name="new task"/>
          <p:cNvSpPr/>
          <p:nvPr/>
        </p:nvSpPr>
        <p:spPr>
          <a:xfrm>
            <a:off x="8229600" y="1737360"/>
            <a:ext cx="3383280" cy="3566160"/>
          </a:xfrm>
          <a:prstGeom prst="roundRect">
            <a:avLst>
              <a:gd name="adj" fmla="val 2162"/>
            </a:avLst>
          </a:prstGeom>
          <a:solidFill>
            <a:srgbClr val="F2F2F2"/>
          </a:solidFill>
          <a:ln w="9525">
            <a:solidFill>
              <a:srgbClr val="D9D9D9"/>
            </a:solidFill>
            <a:prstDash val="solid"/>
          </a:ln>
        </p:spPr>
      </p:sp>
      <p:sp>
        <p:nvSpPr>
          <p:cNvPr id="23" name="Text 21"/>
          <p:cNvSpPr txBox="1"/>
          <p:nvPr/>
        </p:nvSpPr>
        <p:spPr>
          <a:xfrm>
            <a:off x="8412480" y="1828800"/>
            <a:ext cx="3017520" cy="685800"/>
          </a:xfrm>
          <a:prstGeom prst="rect">
            <a:avLst/>
          </a:prstGeom>
          <a:noFill/>
          <a:ln/>
        </p:spPr>
        <p:txBody>
          <a:bodyPr wrap="square" lIns="0" tIns="0" rIns="0" bIns="0" rtlCol="0" anchor="t"/>
          <a:lstStyle/>
          <a:p>
            <a:pPr indent="0" marL="0">
              <a:buNone/>
            </a:pPr>
            <a:r>
              <a:rPr lang="en-US" sz="1700" b="1" dirty="0">
                <a:solidFill>
                  <a:schemeClr val="tx1"/>
                </a:solidFill>
              </a:rPr>
              <a:t>A new task? Label 30 problems</a:t>
            </a:r>
            <a:endParaRPr lang="en-US" sz="1700" dirty="0"/>
          </a:p>
        </p:txBody>
      </p:sp>
      <p:sp>
        <p:nvSpPr>
          <p:cNvPr id="24" name="Text 22"/>
          <p:cNvSpPr txBox="1"/>
          <p:nvPr/>
        </p:nvSpPr>
        <p:spPr>
          <a:xfrm>
            <a:off x="8412480" y="2514600"/>
            <a:ext cx="3017520" cy="548640"/>
          </a:xfrm>
          <a:prstGeom prst="rect">
            <a:avLst/>
          </a:prstGeom>
          <a:noFill/>
          <a:ln/>
        </p:spPr>
        <p:txBody>
          <a:bodyPr wrap="square" lIns="0" tIns="0" rIns="0" bIns="0" rtlCol="0" anchor="t"/>
          <a:lstStyle/>
          <a:p>
            <a:pPr indent="0" marL="0">
              <a:buNone/>
            </a:pPr>
            <a:r>
              <a:rPr lang="en-US" sz="1300" dirty="0">
                <a:solidFill>
                  <a:schemeClr val="tx2"/>
                </a:solidFill>
              </a:rPr>
              <a:t>points lost vs the best policy, over 63 settings (lower is better)</a:t>
            </a:r>
            <a:endParaRPr lang="en-US" sz="1300" dirty="0"/>
          </a:p>
        </p:txBody>
      </p:sp>
      <p:sp>
        <p:nvSpPr>
          <p:cNvPr id="25" name="Text 23"/>
          <p:cNvSpPr txBox="1"/>
          <p:nvPr/>
        </p:nvSpPr>
        <p:spPr>
          <a:xfrm>
            <a:off x="8412480" y="3200400"/>
            <a:ext cx="3017520" cy="274320"/>
          </a:xfrm>
          <a:prstGeom prst="rect">
            <a:avLst/>
          </a:prstGeom>
          <a:noFill/>
          <a:ln/>
        </p:spPr>
        <p:txBody>
          <a:bodyPr wrap="square" lIns="0" tIns="0" rIns="0" bIns="0" rtlCol="0" anchor="ctr"/>
          <a:lstStyle/>
          <a:p>
            <a:pPr indent="0" marL="0">
              <a:buNone/>
            </a:pPr>
            <a:r>
              <a:rPr lang="en-US" sz="1400" dirty="0">
                <a:solidFill>
                  <a:schemeClr val="tx1"/>
                </a:solidFill>
              </a:rPr>
              <a:t>always think</a:t>
            </a:r>
            <a:endParaRPr lang="en-US" sz="1400" dirty="0"/>
          </a:p>
        </p:txBody>
      </p:sp>
      <p:sp>
        <p:nvSpPr>
          <p:cNvPr id="26" name="loss always think"/>
          <p:cNvSpPr/>
          <p:nvPr/>
        </p:nvSpPr>
        <p:spPr>
          <a:xfrm>
            <a:off x="8412480" y="3493008"/>
            <a:ext cx="2304288" cy="201168"/>
          </a:xfrm>
          <a:prstGeom prst="rect">
            <a:avLst/>
          </a:prstGeom>
          <a:solidFill>
            <a:srgbClr val="A5A5A5"/>
          </a:solidFill>
          <a:ln w="6350">
            <a:solidFill>
              <a:srgbClr val="A5A5A5"/>
            </a:solidFill>
            <a:prstDash val="solid"/>
          </a:ln>
        </p:spPr>
      </p:sp>
      <p:sp>
        <p:nvSpPr>
          <p:cNvPr id="27" name="Text 25"/>
          <p:cNvSpPr txBox="1"/>
          <p:nvPr/>
        </p:nvSpPr>
        <p:spPr>
          <a:xfrm>
            <a:off x="10808208" y="3429000"/>
            <a:ext cx="548640" cy="320040"/>
          </a:xfrm>
          <a:prstGeom prst="rect">
            <a:avLst/>
          </a:prstGeom>
          <a:noFill/>
          <a:ln/>
        </p:spPr>
        <p:txBody>
          <a:bodyPr wrap="square" lIns="0" tIns="0" rIns="0" bIns="0" rtlCol="0" anchor="ctr"/>
          <a:lstStyle/>
          <a:p>
            <a:pPr indent="0" marL="0">
              <a:buNone/>
            </a:pPr>
            <a:r>
              <a:rPr lang="en-US" sz="1400" b="1" dirty="0">
                <a:solidFill>
                  <a:srgbClr val="595959"/>
                </a:solidFill>
              </a:rPr>
              <a:t>8.4</a:t>
            </a:r>
            <a:endParaRPr lang="en-US" sz="1400" dirty="0"/>
          </a:p>
        </p:txBody>
      </p:sp>
      <p:sp>
        <p:nvSpPr>
          <p:cNvPr id="28" name="Text 26"/>
          <p:cNvSpPr txBox="1"/>
          <p:nvPr/>
        </p:nvSpPr>
        <p:spPr>
          <a:xfrm>
            <a:off x="8412480" y="3840480"/>
            <a:ext cx="3017520" cy="274320"/>
          </a:xfrm>
          <a:prstGeom prst="rect">
            <a:avLst/>
          </a:prstGeom>
          <a:noFill/>
          <a:ln/>
        </p:spPr>
        <p:txBody>
          <a:bodyPr wrap="square" lIns="0" tIns="0" rIns="0" bIns="0" rtlCol="0" anchor="ctr"/>
          <a:lstStyle/>
          <a:p>
            <a:pPr indent="0" marL="0">
              <a:buNone/>
            </a:pPr>
            <a:r>
              <a:rPr lang="en-US" sz="1400" dirty="0">
                <a:solidFill>
                  <a:schemeClr val="tx1"/>
                </a:solidFill>
              </a:rPr>
              <a:t>hint first (default)</a:t>
            </a:r>
            <a:endParaRPr lang="en-US" sz="1400" dirty="0"/>
          </a:p>
        </p:txBody>
      </p:sp>
      <p:sp>
        <p:nvSpPr>
          <p:cNvPr id="29" name="loss fact first (default)"/>
          <p:cNvSpPr/>
          <p:nvPr/>
        </p:nvSpPr>
        <p:spPr>
          <a:xfrm>
            <a:off x="8412480" y="4133088"/>
            <a:ext cx="384048" cy="201168"/>
          </a:xfrm>
          <a:prstGeom prst="rect">
            <a:avLst/>
          </a:prstGeom>
          <a:solidFill>
            <a:srgbClr val="4472C4"/>
          </a:solidFill>
          <a:ln w="6350">
            <a:solidFill>
              <a:srgbClr val="4472C4"/>
            </a:solidFill>
            <a:prstDash val="solid"/>
          </a:ln>
        </p:spPr>
      </p:sp>
      <p:sp>
        <p:nvSpPr>
          <p:cNvPr id="30" name="Text 28"/>
          <p:cNvSpPr txBox="1"/>
          <p:nvPr/>
        </p:nvSpPr>
        <p:spPr>
          <a:xfrm>
            <a:off x="8887968" y="4069080"/>
            <a:ext cx="548640" cy="320040"/>
          </a:xfrm>
          <a:prstGeom prst="rect">
            <a:avLst/>
          </a:prstGeom>
          <a:noFill/>
          <a:ln/>
        </p:spPr>
        <p:txBody>
          <a:bodyPr wrap="square" lIns="0" tIns="0" rIns="0" bIns="0" rtlCol="0" anchor="ctr"/>
          <a:lstStyle/>
          <a:p>
            <a:pPr indent="0" marL="0">
              <a:buNone/>
            </a:pPr>
            <a:r>
              <a:rPr lang="en-US" sz="1400" b="1" dirty="0">
                <a:solidFill>
                  <a:srgbClr val="4472C4"/>
                </a:solidFill>
              </a:rPr>
              <a:t>1.4</a:t>
            </a:r>
            <a:endParaRPr lang="en-US" sz="1400" dirty="0"/>
          </a:p>
        </p:txBody>
      </p:sp>
      <p:sp>
        <p:nvSpPr>
          <p:cNvPr id="31" name="Text 29"/>
          <p:cNvSpPr txBox="1"/>
          <p:nvPr/>
        </p:nvSpPr>
        <p:spPr>
          <a:xfrm>
            <a:off x="8412480" y="4480560"/>
            <a:ext cx="3017520" cy="274320"/>
          </a:xfrm>
          <a:prstGeom prst="rect">
            <a:avLst/>
          </a:prstGeom>
          <a:noFill/>
          <a:ln/>
        </p:spPr>
        <p:txBody>
          <a:bodyPr wrap="square" lIns="0" tIns="0" rIns="0" bIns="0" rtlCol="0" anchor="ctr"/>
          <a:lstStyle/>
          <a:p>
            <a:pPr indent="0" marL="0">
              <a:buNone/>
            </a:pPr>
            <a:r>
              <a:rPr lang="en-US" sz="1400" dirty="0">
                <a:solidFill>
                  <a:schemeClr val="tx1"/>
                </a:solidFill>
              </a:rPr>
              <a:t>pick on 30 labels</a:t>
            </a:r>
            <a:endParaRPr lang="en-US" sz="1400" dirty="0"/>
          </a:p>
        </p:txBody>
      </p:sp>
      <p:sp>
        <p:nvSpPr>
          <p:cNvPr id="32" name="loss pick on 30 labels"/>
          <p:cNvSpPr/>
          <p:nvPr/>
        </p:nvSpPr>
        <p:spPr>
          <a:xfrm>
            <a:off x="8412480" y="4773168"/>
            <a:ext cx="164592" cy="201168"/>
          </a:xfrm>
          <a:prstGeom prst="rect">
            <a:avLst/>
          </a:prstGeom>
          <a:solidFill>
            <a:srgbClr val="4472C4"/>
          </a:solidFill>
          <a:ln w="6350">
            <a:solidFill>
              <a:srgbClr val="4472C4"/>
            </a:solidFill>
            <a:prstDash val="solid"/>
          </a:ln>
        </p:spPr>
      </p:sp>
      <p:sp>
        <p:nvSpPr>
          <p:cNvPr id="33" name="Text 31"/>
          <p:cNvSpPr txBox="1"/>
          <p:nvPr/>
        </p:nvSpPr>
        <p:spPr>
          <a:xfrm>
            <a:off x="8668512" y="4709160"/>
            <a:ext cx="548640" cy="320040"/>
          </a:xfrm>
          <a:prstGeom prst="rect">
            <a:avLst/>
          </a:prstGeom>
          <a:noFill/>
          <a:ln/>
        </p:spPr>
        <p:txBody>
          <a:bodyPr wrap="square" lIns="0" tIns="0" rIns="0" bIns="0" rtlCol="0" anchor="ctr"/>
          <a:lstStyle/>
          <a:p>
            <a:pPr indent="0" marL="0">
              <a:buNone/>
            </a:pPr>
            <a:r>
              <a:rPr lang="en-US" sz="1400" b="1" dirty="0">
                <a:solidFill>
                  <a:srgbClr val="4472C4"/>
                </a:solidFill>
              </a:rPr>
              <a:t>0.6</a:t>
            </a:r>
            <a:endParaRPr lang="en-US" sz="1400" dirty="0"/>
          </a:p>
        </p:txBody>
      </p:sp>
      <p:sp>
        <p:nvSpPr>
          <p:cNvPr id="34" name="Text 32"/>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Most accurate and among the cheapest on all 3 seeds: spend thinking where a check fails</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where the recipe stops, and what is next</a:t>
            </a:r>
            <a:endParaRPr lang="en-US" sz="3600" dirty="0"/>
          </a:p>
        </p:txBody>
      </p:sp>
      <p:sp>
        <p:nvSpPr>
          <p:cNvPr id="3" name="Where it stops"/>
          <p:cNvSpPr/>
          <p:nvPr/>
        </p:nvSpPr>
        <p:spPr>
          <a:xfrm>
            <a:off x="548640" y="1417320"/>
            <a:ext cx="5440680" cy="3749040"/>
          </a:xfrm>
          <a:prstGeom prst="roundRect">
            <a:avLst>
              <a:gd name="adj" fmla="val 1951"/>
            </a:avLst>
          </a:prstGeom>
          <a:solidFill>
            <a:srgbClr val="F2F2F2"/>
          </a:solidFill>
          <a:ln w="9525">
            <a:solidFill>
              <a:srgbClr val="D9D9D9"/>
            </a:solidFill>
            <a:prstDash val="solid"/>
          </a:ln>
        </p:spPr>
      </p:sp>
      <p:sp>
        <p:nvSpPr>
          <p:cNvPr id="4" name="Text 2"/>
          <p:cNvSpPr txBox="1"/>
          <p:nvPr/>
        </p:nvSpPr>
        <p:spPr>
          <a:xfrm>
            <a:off x="822960" y="1554480"/>
            <a:ext cx="4892040" cy="548640"/>
          </a:xfrm>
          <a:prstGeom prst="rect">
            <a:avLst/>
          </a:prstGeom>
          <a:noFill/>
          <a:ln/>
        </p:spPr>
        <p:txBody>
          <a:bodyPr wrap="square" lIns="0" tIns="0" rIns="0" bIns="0" rtlCol="0" anchor="ctr"/>
          <a:lstStyle/>
          <a:p>
            <a:pPr indent="0" marL="0">
              <a:buNone/>
            </a:pPr>
            <a:r>
              <a:rPr lang="en-US" sz="2600" b="1" dirty="0">
                <a:solidFill>
                  <a:srgbClr val="C00000"/>
                </a:solidFill>
              </a:rPr>
              <a:t>Where it stops</a:t>
            </a:r>
            <a:endParaRPr lang="en-US" sz="2600" dirty="0"/>
          </a:p>
        </p:txBody>
      </p:sp>
      <p:sp>
        <p:nvSpPr>
          <p:cNvPr id="5" name="Text 3"/>
          <p:cNvSpPr txBox="1"/>
          <p:nvPr/>
        </p:nvSpPr>
        <p:spPr>
          <a:xfrm>
            <a:off x="822960" y="2194560"/>
            <a:ext cx="4892040" cy="283464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Automatic hints only within one kind of problem</a:t>
            </a:r>
            <a:endParaRPr lang="en-US" sz="1700" dirty="0"/>
          </a:p>
          <a:p>
            <a:pPr marL="342900" indent="-342900">
              <a:spcAft>
                <a:spcPts val="800"/>
              </a:spcAft>
              <a:buSzPct val="100000"/>
              <a:buChar char="•"/>
            </a:pPr>
            <a:r>
              <a:rPr lang="en-US" sz="1700" dirty="0">
                <a:solidFill>
                  <a:schemeClr val="tx1"/>
                </a:solidFill>
              </a:rPr>
              <a:t>Checks leak: 24–37% of wrong contest programs pass the examples</a:t>
            </a:r>
            <a:endParaRPr lang="en-US" sz="1700" dirty="0"/>
          </a:p>
          <a:p>
            <a:pPr marL="342900" indent="-342900">
              <a:spcAft>
                <a:spcPts val="800"/>
              </a:spcAft>
              <a:buSzPct val="100000"/>
              <a:buChar char="•"/>
            </a:pPr>
            <a:r>
              <a:rPr lang="en-US" sz="1700" dirty="0">
                <a:solidFill>
                  <a:schemeClr val="tx1"/>
                </a:solidFill>
              </a:rPr>
              <a:t>Missing world knowledge: thinking adds 2–5 points at 70–200× tokens</a:t>
            </a:r>
            <a:endParaRPr lang="en-US" sz="1700" dirty="0"/>
          </a:p>
        </p:txBody>
      </p:sp>
      <p:sp>
        <p:nvSpPr>
          <p:cNvPr id="6" name="Next"/>
          <p:cNvSpPr/>
          <p:nvPr/>
        </p:nvSpPr>
        <p:spPr>
          <a:xfrm>
            <a:off x="6172200" y="1417320"/>
            <a:ext cx="5440680" cy="3749040"/>
          </a:xfrm>
          <a:prstGeom prst="roundRect">
            <a:avLst>
              <a:gd name="adj" fmla="val 1951"/>
            </a:avLst>
          </a:prstGeom>
          <a:solidFill>
            <a:srgbClr val="F2F2F2"/>
          </a:solidFill>
          <a:ln w="9525">
            <a:solidFill>
              <a:srgbClr val="D9D9D9"/>
            </a:solidFill>
            <a:prstDash val="solid"/>
          </a:ln>
        </p:spPr>
      </p:sp>
      <p:sp>
        <p:nvSpPr>
          <p:cNvPr id="7" name="Text 5"/>
          <p:cNvSpPr txBox="1"/>
          <p:nvPr/>
        </p:nvSpPr>
        <p:spPr>
          <a:xfrm>
            <a:off x="6446520" y="1554480"/>
            <a:ext cx="4892040" cy="548640"/>
          </a:xfrm>
          <a:prstGeom prst="rect">
            <a:avLst/>
          </a:prstGeom>
          <a:noFill/>
          <a:ln/>
        </p:spPr>
        <p:txBody>
          <a:bodyPr wrap="square" lIns="0" tIns="0" rIns="0" bIns="0" rtlCol="0" anchor="ctr"/>
          <a:lstStyle/>
          <a:p>
            <a:pPr indent="0" marL="0">
              <a:buNone/>
            </a:pPr>
            <a:r>
              <a:rPr lang="en-US" sz="2600" b="1" dirty="0">
                <a:solidFill>
                  <a:srgbClr val="4472C4"/>
                </a:solidFill>
              </a:rPr>
              <a:t>Next</a:t>
            </a:r>
            <a:endParaRPr lang="en-US" sz="2600" dirty="0"/>
          </a:p>
        </p:txBody>
      </p:sp>
      <p:sp>
        <p:nvSpPr>
          <p:cNvPr id="8" name="Text 6"/>
          <p:cNvSpPr txBox="1"/>
          <p:nvPr/>
        </p:nvSpPr>
        <p:spPr>
          <a:xfrm>
            <a:off x="6446520" y="2194560"/>
            <a:ext cx="4892040" cy="283464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chemeClr val="tx1"/>
                </a:solidFill>
              </a:rPr>
              <a:t>Finish the held-out MAMO test (more models, 3 seeds)</a:t>
            </a:r>
            <a:endParaRPr lang="en-US" sz="1700" dirty="0"/>
          </a:p>
          <a:p>
            <a:pPr marL="342900" indent="-342900">
              <a:spcAft>
                <a:spcPts val="800"/>
              </a:spcAft>
              <a:buSzPct val="100000"/>
              <a:buChar char="•"/>
            </a:pPr>
            <a:r>
              <a:rPr lang="en-US" sz="1700" dirty="0">
                <a:solidFill>
                  <a:schemeClr val="tx1"/>
                </a:solidFill>
              </a:rPr>
              <a:t>Errors no check catches: a perfect check adds only 1–3 points on word problems; the rest run but model the problem wrong</a:t>
            </a:r>
            <a:endParaRPr lang="en-US" sz="1700" dirty="0"/>
          </a:p>
          <a:p>
            <a:pPr marL="342900" indent="-342900">
              <a:spcAft>
                <a:spcPts val="800"/>
              </a:spcAft>
              <a:buSzPct val="100000"/>
              <a:buChar char="•"/>
            </a:pPr>
            <a:r>
              <a:rPr lang="en-US" sz="1700" dirty="0">
                <a:solidFill>
                  <a:schemeClr val="tx1"/>
                </a:solidFill>
              </a:rPr>
              <a:t>Automatic hints for each problem type; final report</a:t>
            </a:r>
            <a:endParaRPr lang="en-US" sz="1700" dirty="0"/>
          </a:p>
        </p:txBody>
      </p:sp>
      <p:sp>
        <p:nvSpPr>
          <p:cNvPr id="9" name="Text 7"/>
          <p:cNvSpPr txBox="1"/>
          <p:nvPr/>
        </p:nvSpPr>
        <p:spPr>
          <a:xfrm>
            <a:off x="548640" y="5669280"/>
            <a:ext cx="11064240" cy="548640"/>
          </a:xfrm>
          <a:prstGeom prst="rect">
            <a:avLst/>
          </a:prstGeom>
          <a:noFill/>
          <a:ln/>
        </p:spPr>
        <p:txBody>
          <a:bodyPr wrap="square" lIns="0" tIns="0" rIns="0" bIns="0" rtlCol="0" anchor="ctr"/>
          <a:lstStyle/>
          <a:p>
            <a:pPr algn="ctr" indent="0" marL="0">
              <a:buNone/>
            </a:pPr>
            <a:r>
              <a:rPr lang="en-US" sz="2000" dirty="0">
                <a:solidFill>
                  <a:schemeClr val="tx1"/>
                </a:solidFill>
              </a:rPr>
              <a:t>Every claim pre-registered and checked on 3 seeds; accuracy always reported with its token cost</a:t>
            </a:r>
            <a:endParaRPr lang="en-US" sz="20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repeated problems need one checked program</a:t>
            </a:r>
            <a:endParaRPr lang="en-US" sz="3600" dirty="0"/>
          </a:p>
        </p:txBody>
      </p:sp>
      <p:sp>
        <p:nvSpPr>
          <p:cNvPr id="3" name="Text 1"/>
          <p:cNvSpPr txBox="1"/>
          <p:nvPr/>
        </p:nvSpPr>
        <p:spPr>
          <a:xfrm>
            <a:off x="548640" y="1280160"/>
            <a:ext cx="11064240" cy="411480"/>
          </a:xfrm>
          <a:prstGeom prst="rect">
            <a:avLst/>
          </a:prstGeom>
          <a:noFill/>
          <a:ln/>
        </p:spPr>
        <p:txBody>
          <a:bodyPr wrap="square" lIns="0" tIns="0" rIns="0" bIns="0" rtlCol="0" anchor="ctr"/>
          <a:lstStyle/>
          <a:p>
            <a:pPr indent="0" marL="0">
              <a:buNone/>
            </a:pPr>
            <a:r>
              <a:rPr lang="en-US" sz="1800" dirty="0">
                <a:solidFill>
                  <a:schemeClr val="tx1"/>
                </a:solidFill>
              </a:rPr>
              <a:t>A delivery company plans routes every day: the same kind of problem, new customers each day (gpt-oss-120b)</a:t>
            </a:r>
            <a:endParaRPr lang="en-US" sz="1800" dirty="0"/>
          </a:p>
        </p:txBody>
      </p:sp>
      <p:sp>
        <p:nvSpPr>
          <p:cNvPr id="4" name="Text 2"/>
          <p:cNvSpPr txBox="1"/>
          <p:nvPr/>
        </p:nvSpPr>
        <p:spPr>
          <a:xfrm>
            <a:off x="548640" y="1965960"/>
            <a:ext cx="3108960" cy="1188720"/>
          </a:xfrm>
          <a:prstGeom prst="rect">
            <a:avLst/>
          </a:prstGeom>
          <a:noFill/>
          <a:ln/>
        </p:spPr>
        <p:txBody>
          <a:bodyPr wrap="square" lIns="0" tIns="0" rIns="0" bIns="0" rtlCol="0" anchor="ctr"/>
          <a:lstStyle/>
          <a:p>
            <a:pPr indent="0" marL="0">
              <a:buNone/>
            </a:pPr>
            <a:r>
              <a:rPr lang="en-US" sz="1700" b="1" dirty="0">
                <a:solidFill>
                  <a:schemeClr val="tx1"/>
                </a:solidFill>
              </a:rPr>
              <a:t>A: ask for a new program every day</a:t>
            </a:r>
            <a:endParaRPr lang="en-US" sz="1700" dirty="0"/>
          </a:p>
        </p:txBody>
      </p:sp>
      <p:sp>
        <p:nvSpPr>
          <p:cNvPr id="5" name="A: ask for a new program every day day 0"/>
          <p:cNvSpPr/>
          <p:nvPr/>
        </p:nvSpPr>
        <p:spPr>
          <a:xfrm>
            <a:off x="3749040" y="1965960"/>
            <a:ext cx="246888" cy="310896"/>
          </a:xfrm>
          <a:prstGeom prst="rect">
            <a:avLst/>
          </a:prstGeom>
          <a:solidFill>
            <a:srgbClr val="70AD47"/>
          </a:solidFill>
          <a:ln w="6350">
            <a:solidFill>
              <a:srgbClr val="70AD47"/>
            </a:solidFill>
            <a:prstDash val="solid"/>
          </a:ln>
        </p:spPr>
      </p:sp>
      <p:sp>
        <p:nvSpPr>
          <p:cNvPr id="6" name="A: ask for a new program every day day 1"/>
          <p:cNvSpPr/>
          <p:nvPr/>
        </p:nvSpPr>
        <p:spPr>
          <a:xfrm>
            <a:off x="4050792" y="1965960"/>
            <a:ext cx="246888" cy="310896"/>
          </a:xfrm>
          <a:prstGeom prst="rect">
            <a:avLst/>
          </a:prstGeom>
          <a:solidFill>
            <a:srgbClr val="70AD47"/>
          </a:solidFill>
          <a:ln w="6350">
            <a:solidFill>
              <a:srgbClr val="70AD47"/>
            </a:solidFill>
            <a:prstDash val="solid"/>
          </a:ln>
        </p:spPr>
      </p:sp>
      <p:sp>
        <p:nvSpPr>
          <p:cNvPr id="7" name="A: ask for a new program every day day 2"/>
          <p:cNvSpPr/>
          <p:nvPr/>
        </p:nvSpPr>
        <p:spPr>
          <a:xfrm>
            <a:off x="4352544" y="1965960"/>
            <a:ext cx="246888" cy="310896"/>
          </a:xfrm>
          <a:prstGeom prst="rect">
            <a:avLst/>
          </a:prstGeom>
          <a:solidFill>
            <a:srgbClr val="70AD47"/>
          </a:solidFill>
          <a:ln w="6350">
            <a:solidFill>
              <a:srgbClr val="70AD47"/>
            </a:solidFill>
            <a:prstDash val="solid"/>
          </a:ln>
        </p:spPr>
      </p:sp>
      <p:sp>
        <p:nvSpPr>
          <p:cNvPr id="8" name="A: ask for a new program every day day 3"/>
          <p:cNvSpPr/>
          <p:nvPr/>
        </p:nvSpPr>
        <p:spPr>
          <a:xfrm>
            <a:off x="4654296" y="1965960"/>
            <a:ext cx="246888" cy="310896"/>
          </a:xfrm>
          <a:prstGeom prst="rect">
            <a:avLst/>
          </a:prstGeom>
          <a:solidFill>
            <a:srgbClr val="FADBD8"/>
          </a:solidFill>
          <a:ln w="6350">
            <a:solidFill>
              <a:srgbClr val="E6B8B7"/>
            </a:solidFill>
            <a:prstDash val="solid"/>
          </a:ln>
        </p:spPr>
      </p:sp>
      <p:sp>
        <p:nvSpPr>
          <p:cNvPr id="9" name="A: ask for a new program every day day 4"/>
          <p:cNvSpPr/>
          <p:nvPr/>
        </p:nvSpPr>
        <p:spPr>
          <a:xfrm>
            <a:off x="4956048" y="1965960"/>
            <a:ext cx="246888" cy="310896"/>
          </a:xfrm>
          <a:prstGeom prst="rect">
            <a:avLst/>
          </a:prstGeom>
          <a:solidFill>
            <a:srgbClr val="FADBD8"/>
          </a:solidFill>
          <a:ln w="6350">
            <a:solidFill>
              <a:srgbClr val="E6B8B7"/>
            </a:solidFill>
            <a:prstDash val="solid"/>
          </a:ln>
        </p:spPr>
      </p:sp>
      <p:sp>
        <p:nvSpPr>
          <p:cNvPr id="10" name="A: ask for a new program every day day 5"/>
          <p:cNvSpPr/>
          <p:nvPr/>
        </p:nvSpPr>
        <p:spPr>
          <a:xfrm>
            <a:off x="5257800" y="1965960"/>
            <a:ext cx="246888" cy="310896"/>
          </a:xfrm>
          <a:prstGeom prst="rect">
            <a:avLst/>
          </a:prstGeom>
          <a:solidFill>
            <a:srgbClr val="FADBD8"/>
          </a:solidFill>
          <a:ln w="6350">
            <a:solidFill>
              <a:srgbClr val="E6B8B7"/>
            </a:solidFill>
            <a:prstDash val="solid"/>
          </a:ln>
        </p:spPr>
      </p:sp>
      <p:sp>
        <p:nvSpPr>
          <p:cNvPr id="11" name="A: ask for a new program every day day 6"/>
          <p:cNvSpPr/>
          <p:nvPr/>
        </p:nvSpPr>
        <p:spPr>
          <a:xfrm>
            <a:off x="5559552" y="1965960"/>
            <a:ext cx="246888" cy="310896"/>
          </a:xfrm>
          <a:prstGeom prst="rect">
            <a:avLst/>
          </a:prstGeom>
          <a:solidFill>
            <a:srgbClr val="FADBD8"/>
          </a:solidFill>
          <a:ln w="6350">
            <a:solidFill>
              <a:srgbClr val="E6B8B7"/>
            </a:solidFill>
            <a:prstDash val="solid"/>
          </a:ln>
        </p:spPr>
      </p:sp>
      <p:sp>
        <p:nvSpPr>
          <p:cNvPr id="12" name="A: ask for a new program every day day 7"/>
          <p:cNvSpPr/>
          <p:nvPr/>
        </p:nvSpPr>
        <p:spPr>
          <a:xfrm>
            <a:off x="5861304" y="1965960"/>
            <a:ext cx="246888" cy="310896"/>
          </a:xfrm>
          <a:prstGeom prst="rect">
            <a:avLst/>
          </a:prstGeom>
          <a:solidFill>
            <a:srgbClr val="FADBD8"/>
          </a:solidFill>
          <a:ln w="6350">
            <a:solidFill>
              <a:srgbClr val="E6B8B7"/>
            </a:solidFill>
            <a:prstDash val="solid"/>
          </a:ln>
        </p:spPr>
      </p:sp>
      <p:sp>
        <p:nvSpPr>
          <p:cNvPr id="13" name="A: ask for a new program every day day 8"/>
          <p:cNvSpPr/>
          <p:nvPr/>
        </p:nvSpPr>
        <p:spPr>
          <a:xfrm>
            <a:off x="6163056" y="1965960"/>
            <a:ext cx="246888" cy="310896"/>
          </a:xfrm>
          <a:prstGeom prst="rect">
            <a:avLst/>
          </a:prstGeom>
          <a:solidFill>
            <a:srgbClr val="FADBD8"/>
          </a:solidFill>
          <a:ln w="6350">
            <a:solidFill>
              <a:srgbClr val="E6B8B7"/>
            </a:solidFill>
            <a:prstDash val="solid"/>
          </a:ln>
        </p:spPr>
      </p:sp>
      <p:sp>
        <p:nvSpPr>
          <p:cNvPr id="14" name="A: ask for a new program every day day 9"/>
          <p:cNvSpPr/>
          <p:nvPr/>
        </p:nvSpPr>
        <p:spPr>
          <a:xfrm>
            <a:off x="6464808" y="1965960"/>
            <a:ext cx="246888" cy="310896"/>
          </a:xfrm>
          <a:prstGeom prst="rect">
            <a:avLst/>
          </a:prstGeom>
          <a:solidFill>
            <a:srgbClr val="FADBD8"/>
          </a:solidFill>
          <a:ln w="6350">
            <a:solidFill>
              <a:srgbClr val="E6B8B7"/>
            </a:solidFill>
            <a:prstDash val="solid"/>
          </a:ln>
        </p:spPr>
      </p:sp>
      <p:sp>
        <p:nvSpPr>
          <p:cNvPr id="15" name="A: ask for a new program every day day 10"/>
          <p:cNvSpPr/>
          <p:nvPr/>
        </p:nvSpPr>
        <p:spPr>
          <a:xfrm>
            <a:off x="6766560" y="1965960"/>
            <a:ext cx="246888" cy="310896"/>
          </a:xfrm>
          <a:prstGeom prst="rect">
            <a:avLst/>
          </a:prstGeom>
          <a:solidFill>
            <a:srgbClr val="FADBD8"/>
          </a:solidFill>
          <a:ln w="6350">
            <a:solidFill>
              <a:srgbClr val="E6B8B7"/>
            </a:solidFill>
            <a:prstDash val="solid"/>
          </a:ln>
        </p:spPr>
      </p:sp>
      <p:sp>
        <p:nvSpPr>
          <p:cNvPr id="16" name="A: ask for a new program every day day 11"/>
          <p:cNvSpPr/>
          <p:nvPr/>
        </p:nvSpPr>
        <p:spPr>
          <a:xfrm>
            <a:off x="7068312" y="1965960"/>
            <a:ext cx="246888" cy="310896"/>
          </a:xfrm>
          <a:prstGeom prst="rect">
            <a:avLst/>
          </a:prstGeom>
          <a:solidFill>
            <a:srgbClr val="FADBD8"/>
          </a:solidFill>
          <a:ln w="6350">
            <a:solidFill>
              <a:srgbClr val="E6B8B7"/>
            </a:solidFill>
            <a:prstDash val="solid"/>
          </a:ln>
        </p:spPr>
      </p:sp>
      <p:sp>
        <p:nvSpPr>
          <p:cNvPr id="17" name="A: ask for a new program every day day 12"/>
          <p:cNvSpPr/>
          <p:nvPr/>
        </p:nvSpPr>
        <p:spPr>
          <a:xfrm>
            <a:off x="7370064" y="1965960"/>
            <a:ext cx="246888" cy="310896"/>
          </a:xfrm>
          <a:prstGeom prst="rect">
            <a:avLst/>
          </a:prstGeom>
          <a:solidFill>
            <a:srgbClr val="FADBD8"/>
          </a:solidFill>
          <a:ln w="6350">
            <a:solidFill>
              <a:srgbClr val="E6B8B7"/>
            </a:solidFill>
            <a:prstDash val="solid"/>
          </a:ln>
        </p:spPr>
      </p:sp>
      <p:sp>
        <p:nvSpPr>
          <p:cNvPr id="18" name="A: ask for a new program every day day 13"/>
          <p:cNvSpPr/>
          <p:nvPr/>
        </p:nvSpPr>
        <p:spPr>
          <a:xfrm>
            <a:off x="7671816" y="1965960"/>
            <a:ext cx="246888" cy="310896"/>
          </a:xfrm>
          <a:prstGeom prst="rect">
            <a:avLst/>
          </a:prstGeom>
          <a:solidFill>
            <a:srgbClr val="FADBD8"/>
          </a:solidFill>
          <a:ln w="6350">
            <a:solidFill>
              <a:srgbClr val="E6B8B7"/>
            </a:solidFill>
            <a:prstDash val="solid"/>
          </a:ln>
        </p:spPr>
      </p:sp>
      <p:sp>
        <p:nvSpPr>
          <p:cNvPr id="19" name="A: ask for a new program every day day 14"/>
          <p:cNvSpPr/>
          <p:nvPr/>
        </p:nvSpPr>
        <p:spPr>
          <a:xfrm>
            <a:off x="7973568" y="1965960"/>
            <a:ext cx="246888" cy="310896"/>
          </a:xfrm>
          <a:prstGeom prst="rect">
            <a:avLst/>
          </a:prstGeom>
          <a:solidFill>
            <a:srgbClr val="FADBD8"/>
          </a:solidFill>
          <a:ln w="6350">
            <a:solidFill>
              <a:srgbClr val="E6B8B7"/>
            </a:solidFill>
            <a:prstDash val="solid"/>
          </a:ln>
        </p:spPr>
      </p:sp>
      <p:sp>
        <p:nvSpPr>
          <p:cNvPr id="20" name="A: ask for a new program every day day 15"/>
          <p:cNvSpPr/>
          <p:nvPr/>
        </p:nvSpPr>
        <p:spPr>
          <a:xfrm>
            <a:off x="8275320" y="1965960"/>
            <a:ext cx="246888" cy="310896"/>
          </a:xfrm>
          <a:prstGeom prst="rect">
            <a:avLst/>
          </a:prstGeom>
          <a:solidFill>
            <a:srgbClr val="FADBD8"/>
          </a:solidFill>
          <a:ln w="6350">
            <a:solidFill>
              <a:srgbClr val="E6B8B7"/>
            </a:solidFill>
            <a:prstDash val="solid"/>
          </a:ln>
        </p:spPr>
      </p:sp>
      <p:sp>
        <p:nvSpPr>
          <p:cNvPr id="21" name="A: ask for a new program every day day 16"/>
          <p:cNvSpPr/>
          <p:nvPr/>
        </p:nvSpPr>
        <p:spPr>
          <a:xfrm>
            <a:off x="3749040" y="2350008"/>
            <a:ext cx="246888" cy="310896"/>
          </a:xfrm>
          <a:prstGeom prst="rect">
            <a:avLst/>
          </a:prstGeom>
          <a:solidFill>
            <a:srgbClr val="FADBD8"/>
          </a:solidFill>
          <a:ln w="6350">
            <a:solidFill>
              <a:srgbClr val="E6B8B7"/>
            </a:solidFill>
            <a:prstDash val="solid"/>
          </a:ln>
        </p:spPr>
      </p:sp>
      <p:sp>
        <p:nvSpPr>
          <p:cNvPr id="22" name="A: ask for a new program every day day 17"/>
          <p:cNvSpPr/>
          <p:nvPr/>
        </p:nvSpPr>
        <p:spPr>
          <a:xfrm>
            <a:off x="4050792" y="2350008"/>
            <a:ext cx="246888" cy="310896"/>
          </a:xfrm>
          <a:prstGeom prst="rect">
            <a:avLst/>
          </a:prstGeom>
          <a:solidFill>
            <a:srgbClr val="FADBD8"/>
          </a:solidFill>
          <a:ln w="6350">
            <a:solidFill>
              <a:srgbClr val="E6B8B7"/>
            </a:solidFill>
            <a:prstDash val="solid"/>
          </a:ln>
        </p:spPr>
      </p:sp>
      <p:sp>
        <p:nvSpPr>
          <p:cNvPr id="23" name="A: ask for a new program every day day 18"/>
          <p:cNvSpPr/>
          <p:nvPr/>
        </p:nvSpPr>
        <p:spPr>
          <a:xfrm>
            <a:off x="4352544" y="2350008"/>
            <a:ext cx="246888" cy="310896"/>
          </a:xfrm>
          <a:prstGeom prst="rect">
            <a:avLst/>
          </a:prstGeom>
          <a:solidFill>
            <a:srgbClr val="FADBD8"/>
          </a:solidFill>
          <a:ln w="6350">
            <a:solidFill>
              <a:srgbClr val="E6B8B7"/>
            </a:solidFill>
            <a:prstDash val="solid"/>
          </a:ln>
        </p:spPr>
      </p:sp>
      <p:sp>
        <p:nvSpPr>
          <p:cNvPr id="24" name="A: ask for a new program every day day 19"/>
          <p:cNvSpPr/>
          <p:nvPr/>
        </p:nvSpPr>
        <p:spPr>
          <a:xfrm>
            <a:off x="4654296" y="2350008"/>
            <a:ext cx="246888" cy="310896"/>
          </a:xfrm>
          <a:prstGeom prst="rect">
            <a:avLst/>
          </a:prstGeom>
          <a:solidFill>
            <a:srgbClr val="FADBD8"/>
          </a:solidFill>
          <a:ln w="6350">
            <a:solidFill>
              <a:srgbClr val="E6B8B7"/>
            </a:solidFill>
            <a:prstDash val="solid"/>
          </a:ln>
        </p:spPr>
      </p:sp>
      <p:sp>
        <p:nvSpPr>
          <p:cNvPr id="25" name="A: ask for a new program every day day 20"/>
          <p:cNvSpPr/>
          <p:nvPr/>
        </p:nvSpPr>
        <p:spPr>
          <a:xfrm>
            <a:off x="4956048" y="2350008"/>
            <a:ext cx="246888" cy="310896"/>
          </a:xfrm>
          <a:prstGeom prst="rect">
            <a:avLst/>
          </a:prstGeom>
          <a:solidFill>
            <a:srgbClr val="FADBD8"/>
          </a:solidFill>
          <a:ln w="6350">
            <a:solidFill>
              <a:srgbClr val="E6B8B7"/>
            </a:solidFill>
            <a:prstDash val="solid"/>
          </a:ln>
        </p:spPr>
      </p:sp>
      <p:sp>
        <p:nvSpPr>
          <p:cNvPr id="26" name="A: ask for a new program every day day 21"/>
          <p:cNvSpPr/>
          <p:nvPr/>
        </p:nvSpPr>
        <p:spPr>
          <a:xfrm>
            <a:off x="5257800" y="2350008"/>
            <a:ext cx="246888" cy="310896"/>
          </a:xfrm>
          <a:prstGeom prst="rect">
            <a:avLst/>
          </a:prstGeom>
          <a:solidFill>
            <a:srgbClr val="FADBD8"/>
          </a:solidFill>
          <a:ln w="6350">
            <a:solidFill>
              <a:srgbClr val="E6B8B7"/>
            </a:solidFill>
            <a:prstDash val="solid"/>
          </a:ln>
        </p:spPr>
      </p:sp>
      <p:sp>
        <p:nvSpPr>
          <p:cNvPr id="27" name="A: ask for a new program every day day 22"/>
          <p:cNvSpPr/>
          <p:nvPr/>
        </p:nvSpPr>
        <p:spPr>
          <a:xfrm>
            <a:off x="5559552" y="2350008"/>
            <a:ext cx="246888" cy="310896"/>
          </a:xfrm>
          <a:prstGeom prst="rect">
            <a:avLst/>
          </a:prstGeom>
          <a:solidFill>
            <a:srgbClr val="FADBD8"/>
          </a:solidFill>
          <a:ln w="6350">
            <a:solidFill>
              <a:srgbClr val="E6B8B7"/>
            </a:solidFill>
            <a:prstDash val="solid"/>
          </a:ln>
        </p:spPr>
      </p:sp>
      <p:sp>
        <p:nvSpPr>
          <p:cNvPr id="28" name="A: ask for a new program every day day 23"/>
          <p:cNvSpPr/>
          <p:nvPr/>
        </p:nvSpPr>
        <p:spPr>
          <a:xfrm>
            <a:off x="5861304" y="2350008"/>
            <a:ext cx="246888" cy="310896"/>
          </a:xfrm>
          <a:prstGeom prst="rect">
            <a:avLst/>
          </a:prstGeom>
          <a:solidFill>
            <a:srgbClr val="FADBD8"/>
          </a:solidFill>
          <a:ln w="6350">
            <a:solidFill>
              <a:srgbClr val="E6B8B7"/>
            </a:solidFill>
            <a:prstDash val="solid"/>
          </a:ln>
        </p:spPr>
      </p:sp>
      <p:sp>
        <p:nvSpPr>
          <p:cNvPr id="29" name="A: ask for a new program every day day 24"/>
          <p:cNvSpPr/>
          <p:nvPr/>
        </p:nvSpPr>
        <p:spPr>
          <a:xfrm>
            <a:off x="6163056" y="2350008"/>
            <a:ext cx="246888" cy="310896"/>
          </a:xfrm>
          <a:prstGeom prst="rect">
            <a:avLst/>
          </a:prstGeom>
          <a:solidFill>
            <a:srgbClr val="FADBD8"/>
          </a:solidFill>
          <a:ln w="6350">
            <a:solidFill>
              <a:srgbClr val="E6B8B7"/>
            </a:solidFill>
            <a:prstDash val="solid"/>
          </a:ln>
        </p:spPr>
      </p:sp>
      <p:sp>
        <p:nvSpPr>
          <p:cNvPr id="30" name="A: ask for a new program every day day 25"/>
          <p:cNvSpPr/>
          <p:nvPr/>
        </p:nvSpPr>
        <p:spPr>
          <a:xfrm>
            <a:off x="6464808" y="2350008"/>
            <a:ext cx="246888" cy="310896"/>
          </a:xfrm>
          <a:prstGeom prst="rect">
            <a:avLst/>
          </a:prstGeom>
          <a:solidFill>
            <a:srgbClr val="FADBD8"/>
          </a:solidFill>
          <a:ln w="6350">
            <a:solidFill>
              <a:srgbClr val="E6B8B7"/>
            </a:solidFill>
            <a:prstDash val="solid"/>
          </a:ln>
        </p:spPr>
      </p:sp>
      <p:sp>
        <p:nvSpPr>
          <p:cNvPr id="31" name="A: ask for a new program every day day 26"/>
          <p:cNvSpPr/>
          <p:nvPr/>
        </p:nvSpPr>
        <p:spPr>
          <a:xfrm>
            <a:off x="6766560" y="2350008"/>
            <a:ext cx="246888" cy="310896"/>
          </a:xfrm>
          <a:prstGeom prst="rect">
            <a:avLst/>
          </a:prstGeom>
          <a:solidFill>
            <a:srgbClr val="FADBD8"/>
          </a:solidFill>
          <a:ln w="6350">
            <a:solidFill>
              <a:srgbClr val="E6B8B7"/>
            </a:solidFill>
            <a:prstDash val="solid"/>
          </a:ln>
        </p:spPr>
      </p:sp>
      <p:sp>
        <p:nvSpPr>
          <p:cNvPr id="32" name="A: ask for a new program every day day 27"/>
          <p:cNvSpPr/>
          <p:nvPr/>
        </p:nvSpPr>
        <p:spPr>
          <a:xfrm>
            <a:off x="7068312" y="2350008"/>
            <a:ext cx="246888" cy="310896"/>
          </a:xfrm>
          <a:prstGeom prst="rect">
            <a:avLst/>
          </a:prstGeom>
          <a:solidFill>
            <a:srgbClr val="FADBD8"/>
          </a:solidFill>
          <a:ln w="6350">
            <a:solidFill>
              <a:srgbClr val="E6B8B7"/>
            </a:solidFill>
            <a:prstDash val="solid"/>
          </a:ln>
        </p:spPr>
      </p:sp>
      <p:sp>
        <p:nvSpPr>
          <p:cNvPr id="33" name="A: ask for a new program every day day 28"/>
          <p:cNvSpPr/>
          <p:nvPr/>
        </p:nvSpPr>
        <p:spPr>
          <a:xfrm>
            <a:off x="7370064" y="2350008"/>
            <a:ext cx="246888" cy="310896"/>
          </a:xfrm>
          <a:prstGeom prst="rect">
            <a:avLst/>
          </a:prstGeom>
          <a:solidFill>
            <a:srgbClr val="FADBD8"/>
          </a:solidFill>
          <a:ln w="6350">
            <a:solidFill>
              <a:srgbClr val="E6B8B7"/>
            </a:solidFill>
            <a:prstDash val="solid"/>
          </a:ln>
        </p:spPr>
      </p:sp>
      <p:sp>
        <p:nvSpPr>
          <p:cNvPr id="34" name="A: ask for a new program every day day 29"/>
          <p:cNvSpPr/>
          <p:nvPr/>
        </p:nvSpPr>
        <p:spPr>
          <a:xfrm>
            <a:off x="7671816" y="2350008"/>
            <a:ext cx="246888" cy="310896"/>
          </a:xfrm>
          <a:prstGeom prst="rect">
            <a:avLst/>
          </a:prstGeom>
          <a:solidFill>
            <a:srgbClr val="FADBD8"/>
          </a:solidFill>
          <a:ln w="6350">
            <a:solidFill>
              <a:srgbClr val="E6B8B7"/>
            </a:solidFill>
            <a:prstDash val="solid"/>
          </a:ln>
        </p:spPr>
      </p:sp>
      <p:sp>
        <p:nvSpPr>
          <p:cNvPr id="35" name="A: ask for a new program every day day 30"/>
          <p:cNvSpPr/>
          <p:nvPr/>
        </p:nvSpPr>
        <p:spPr>
          <a:xfrm>
            <a:off x="7973568" y="2350008"/>
            <a:ext cx="246888" cy="310896"/>
          </a:xfrm>
          <a:prstGeom prst="rect">
            <a:avLst/>
          </a:prstGeom>
          <a:solidFill>
            <a:srgbClr val="FADBD8"/>
          </a:solidFill>
          <a:ln w="6350">
            <a:solidFill>
              <a:srgbClr val="E6B8B7"/>
            </a:solidFill>
            <a:prstDash val="solid"/>
          </a:ln>
        </p:spPr>
      </p:sp>
      <p:sp>
        <p:nvSpPr>
          <p:cNvPr id="36" name="A: ask for a new program every day day 31"/>
          <p:cNvSpPr/>
          <p:nvPr/>
        </p:nvSpPr>
        <p:spPr>
          <a:xfrm>
            <a:off x="8275320" y="2350008"/>
            <a:ext cx="246888" cy="310896"/>
          </a:xfrm>
          <a:prstGeom prst="rect">
            <a:avLst/>
          </a:prstGeom>
          <a:solidFill>
            <a:srgbClr val="FADBD8"/>
          </a:solidFill>
          <a:ln w="6350">
            <a:solidFill>
              <a:srgbClr val="E6B8B7"/>
            </a:solidFill>
            <a:prstDash val="solid"/>
          </a:ln>
        </p:spPr>
      </p:sp>
      <p:sp>
        <p:nvSpPr>
          <p:cNvPr id="37" name="A: ask for a new program every day day 32"/>
          <p:cNvSpPr/>
          <p:nvPr/>
        </p:nvSpPr>
        <p:spPr>
          <a:xfrm>
            <a:off x="3749040" y="2734056"/>
            <a:ext cx="246888" cy="310896"/>
          </a:xfrm>
          <a:prstGeom prst="rect">
            <a:avLst/>
          </a:prstGeom>
          <a:solidFill>
            <a:srgbClr val="FADBD8"/>
          </a:solidFill>
          <a:ln w="6350">
            <a:solidFill>
              <a:srgbClr val="E6B8B7"/>
            </a:solidFill>
            <a:prstDash val="solid"/>
          </a:ln>
        </p:spPr>
      </p:sp>
      <p:sp>
        <p:nvSpPr>
          <p:cNvPr id="38" name="A: ask for a new program every day day 33"/>
          <p:cNvSpPr/>
          <p:nvPr/>
        </p:nvSpPr>
        <p:spPr>
          <a:xfrm>
            <a:off x="4050792" y="2734056"/>
            <a:ext cx="246888" cy="310896"/>
          </a:xfrm>
          <a:prstGeom prst="rect">
            <a:avLst/>
          </a:prstGeom>
          <a:solidFill>
            <a:srgbClr val="FADBD8"/>
          </a:solidFill>
          <a:ln w="6350">
            <a:solidFill>
              <a:srgbClr val="E6B8B7"/>
            </a:solidFill>
            <a:prstDash val="solid"/>
          </a:ln>
        </p:spPr>
      </p:sp>
      <p:sp>
        <p:nvSpPr>
          <p:cNvPr id="39" name="A: ask for a new program every day day 34"/>
          <p:cNvSpPr/>
          <p:nvPr/>
        </p:nvSpPr>
        <p:spPr>
          <a:xfrm>
            <a:off x="4352544" y="2734056"/>
            <a:ext cx="246888" cy="310896"/>
          </a:xfrm>
          <a:prstGeom prst="rect">
            <a:avLst/>
          </a:prstGeom>
          <a:solidFill>
            <a:srgbClr val="FADBD8"/>
          </a:solidFill>
          <a:ln w="6350">
            <a:solidFill>
              <a:srgbClr val="E6B8B7"/>
            </a:solidFill>
            <a:prstDash val="solid"/>
          </a:ln>
        </p:spPr>
      </p:sp>
      <p:sp>
        <p:nvSpPr>
          <p:cNvPr id="40" name="A: ask for a new program every day day 35"/>
          <p:cNvSpPr/>
          <p:nvPr/>
        </p:nvSpPr>
        <p:spPr>
          <a:xfrm>
            <a:off x="4654296" y="2734056"/>
            <a:ext cx="246888" cy="310896"/>
          </a:xfrm>
          <a:prstGeom prst="rect">
            <a:avLst/>
          </a:prstGeom>
          <a:solidFill>
            <a:srgbClr val="FADBD8"/>
          </a:solidFill>
          <a:ln w="6350">
            <a:solidFill>
              <a:srgbClr val="E6B8B7"/>
            </a:solidFill>
            <a:prstDash val="solid"/>
          </a:ln>
        </p:spPr>
      </p:sp>
      <p:sp>
        <p:nvSpPr>
          <p:cNvPr id="41" name="A: ask for a new program every day day 36"/>
          <p:cNvSpPr/>
          <p:nvPr/>
        </p:nvSpPr>
        <p:spPr>
          <a:xfrm>
            <a:off x="4956048" y="2734056"/>
            <a:ext cx="246888" cy="310896"/>
          </a:xfrm>
          <a:prstGeom prst="rect">
            <a:avLst/>
          </a:prstGeom>
          <a:solidFill>
            <a:srgbClr val="FADBD8"/>
          </a:solidFill>
          <a:ln w="6350">
            <a:solidFill>
              <a:srgbClr val="E6B8B7"/>
            </a:solidFill>
            <a:prstDash val="solid"/>
          </a:ln>
        </p:spPr>
      </p:sp>
      <p:sp>
        <p:nvSpPr>
          <p:cNvPr id="42" name="A: ask for a new program every day day 37"/>
          <p:cNvSpPr/>
          <p:nvPr/>
        </p:nvSpPr>
        <p:spPr>
          <a:xfrm>
            <a:off x="5257800" y="2734056"/>
            <a:ext cx="246888" cy="310896"/>
          </a:xfrm>
          <a:prstGeom prst="rect">
            <a:avLst/>
          </a:prstGeom>
          <a:solidFill>
            <a:srgbClr val="FADBD8"/>
          </a:solidFill>
          <a:ln w="6350">
            <a:solidFill>
              <a:srgbClr val="E6B8B7"/>
            </a:solidFill>
            <a:prstDash val="solid"/>
          </a:ln>
        </p:spPr>
      </p:sp>
      <p:sp>
        <p:nvSpPr>
          <p:cNvPr id="43" name="A: ask for a new program every day day 38"/>
          <p:cNvSpPr/>
          <p:nvPr/>
        </p:nvSpPr>
        <p:spPr>
          <a:xfrm>
            <a:off x="5559552" y="2734056"/>
            <a:ext cx="246888" cy="310896"/>
          </a:xfrm>
          <a:prstGeom prst="rect">
            <a:avLst/>
          </a:prstGeom>
          <a:solidFill>
            <a:srgbClr val="FADBD8"/>
          </a:solidFill>
          <a:ln w="6350">
            <a:solidFill>
              <a:srgbClr val="E6B8B7"/>
            </a:solidFill>
            <a:prstDash val="solid"/>
          </a:ln>
        </p:spPr>
      </p:sp>
      <p:sp>
        <p:nvSpPr>
          <p:cNvPr id="44" name="A: ask for a new program every day day 39"/>
          <p:cNvSpPr/>
          <p:nvPr/>
        </p:nvSpPr>
        <p:spPr>
          <a:xfrm>
            <a:off x="5861304" y="2734056"/>
            <a:ext cx="246888" cy="310896"/>
          </a:xfrm>
          <a:prstGeom prst="rect">
            <a:avLst/>
          </a:prstGeom>
          <a:solidFill>
            <a:srgbClr val="FADBD8"/>
          </a:solidFill>
          <a:ln w="6350">
            <a:solidFill>
              <a:srgbClr val="E6B8B7"/>
            </a:solidFill>
            <a:prstDash val="solid"/>
          </a:ln>
        </p:spPr>
      </p:sp>
      <p:sp>
        <p:nvSpPr>
          <p:cNvPr id="45" name="A: ask for a new program every day day 40"/>
          <p:cNvSpPr/>
          <p:nvPr/>
        </p:nvSpPr>
        <p:spPr>
          <a:xfrm>
            <a:off x="6163056" y="2734056"/>
            <a:ext cx="246888" cy="310896"/>
          </a:xfrm>
          <a:prstGeom prst="rect">
            <a:avLst/>
          </a:prstGeom>
          <a:solidFill>
            <a:srgbClr val="FADBD8"/>
          </a:solidFill>
          <a:ln w="6350">
            <a:solidFill>
              <a:srgbClr val="E6B8B7"/>
            </a:solidFill>
            <a:prstDash val="solid"/>
          </a:ln>
        </p:spPr>
      </p:sp>
      <p:sp>
        <p:nvSpPr>
          <p:cNvPr id="46" name="A: ask for a new program every day day 41"/>
          <p:cNvSpPr/>
          <p:nvPr/>
        </p:nvSpPr>
        <p:spPr>
          <a:xfrm>
            <a:off x="6464808" y="2734056"/>
            <a:ext cx="246888" cy="310896"/>
          </a:xfrm>
          <a:prstGeom prst="rect">
            <a:avLst/>
          </a:prstGeom>
          <a:solidFill>
            <a:srgbClr val="FADBD8"/>
          </a:solidFill>
          <a:ln w="6350">
            <a:solidFill>
              <a:srgbClr val="E6B8B7"/>
            </a:solidFill>
            <a:prstDash val="solid"/>
          </a:ln>
        </p:spPr>
      </p:sp>
      <p:sp>
        <p:nvSpPr>
          <p:cNvPr id="47" name="A: ask for a new program every day day 42"/>
          <p:cNvSpPr/>
          <p:nvPr/>
        </p:nvSpPr>
        <p:spPr>
          <a:xfrm>
            <a:off x="6766560" y="2734056"/>
            <a:ext cx="246888" cy="310896"/>
          </a:xfrm>
          <a:prstGeom prst="rect">
            <a:avLst/>
          </a:prstGeom>
          <a:solidFill>
            <a:srgbClr val="FADBD8"/>
          </a:solidFill>
          <a:ln w="6350">
            <a:solidFill>
              <a:srgbClr val="E6B8B7"/>
            </a:solidFill>
            <a:prstDash val="solid"/>
          </a:ln>
        </p:spPr>
      </p:sp>
      <p:sp>
        <p:nvSpPr>
          <p:cNvPr id="48" name="A: ask for a new program every day day 43"/>
          <p:cNvSpPr/>
          <p:nvPr/>
        </p:nvSpPr>
        <p:spPr>
          <a:xfrm>
            <a:off x="7068312" y="2734056"/>
            <a:ext cx="246888" cy="310896"/>
          </a:xfrm>
          <a:prstGeom prst="rect">
            <a:avLst/>
          </a:prstGeom>
          <a:solidFill>
            <a:srgbClr val="FADBD8"/>
          </a:solidFill>
          <a:ln w="6350">
            <a:solidFill>
              <a:srgbClr val="E6B8B7"/>
            </a:solidFill>
            <a:prstDash val="solid"/>
          </a:ln>
        </p:spPr>
      </p:sp>
      <p:sp>
        <p:nvSpPr>
          <p:cNvPr id="49" name="A: ask for a new program every day day 44"/>
          <p:cNvSpPr/>
          <p:nvPr/>
        </p:nvSpPr>
        <p:spPr>
          <a:xfrm>
            <a:off x="7370064" y="2734056"/>
            <a:ext cx="246888" cy="310896"/>
          </a:xfrm>
          <a:prstGeom prst="rect">
            <a:avLst/>
          </a:prstGeom>
          <a:solidFill>
            <a:srgbClr val="FADBD8"/>
          </a:solidFill>
          <a:ln w="6350">
            <a:solidFill>
              <a:srgbClr val="E6B8B7"/>
            </a:solidFill>
            <a:prstDash val="solid"/>
          </a:ln>
        </p:spPr>
      </p:sp>
      <p:sp>
        <p:nvSpPr>
          <p:cNvPr id="50" name="A: ask for a new program every day day 45"/>
          <p:cNvSpPr/>
          <p:nvPr/>
        </p:nvSpPr>
        <p:spPr>
          <a:xfrm>
            <a:off x="7671816" y="2734056"/>
            <a:ext cx="246888" cy="310896"/>
          </a:xfrm>
          <a:prstGeom prst="rect">
            <a:avLst/>
          </a:prstGeom>
          <a:solidFill>
            <a:srgbClr val="FADBD8"/>
          </a:solidFill>
          <a:ln w="6350">
            <a:solidFill>
              <a:srgbClr val="E6B8B7"/>
            </a:solidFill>
            <a:prstDash val="solid"/>
          </a:ln>
        </p:spPr>
      </p:sp>
      <p:sp>
        <p:nvSpPr>
          <p:cNvPr id="51" name="A: ask for a new program every day day 46"/>
          <p:cNvSpPr/>
          <p:nvPr/>
        </p:nvSpPr>
        <p:spPr>
          <a:xfrm>
            <a:off x="7973568" y="2734056"/>
            <a:ext cx="246888" cy="310896"/>
          </a:xfrm>
          <a:prstGeom prst="rect">
            <a:avLst/>
          </a:prstGeom>
          <a:solidFill>
            <a:srgbClr val="FADBD8"/>
          </a:solidFill>
          <a:ln w="6350">
            <a:solidFill>
              <a:srgbClr val="E6B8B7"/>
            </a:solidFill>
            <a:prstDash val="solid"/>
          </a:ln>
        </p:spPr>
      </p:sp>
      <p:sp>
        <p:nvSpPr>
          <p:cNvPr id="52" name="A: ask for a new program every day day 47"/>
          <p:cNvSpPr/>
          <p:nvPr/>
        </p:nvSpPr>
        <p:spPr>
          <a:xfrm>
            <a:off x="8275320" y="2734056"/>
            <a:ext cx="246888" cy="310896"/>
          </a:xfrm>
          <a:prstGeom prst="rect">
            <a:avLst/>
          </a:prstGeom>
          <a:solidFill>
            <a:srgbClr val="FADBD8"/>
          </a:solidFill>
          <a:ln w="6350">
            <a:solidFill>
              <a:srgbClr val="E6B8B7"/>
            </a:solidFill>
            <a:prstDash val="solid"/>
          </a:ln>
        </p:spPr>
      </p:sp>
      <p:sp>
        <p:nvSpPr>
          <p:cNvPr id="53" name="Text 51"/>
          <p:cNvSpPr txBox="1"/>
          <p:nvPr/>
        </p:nvSpPr>
        <p:spPr>
          <a:xfrm>
            <a:off x="8778240" y="1965960"/>
            <a:ext cx="2834640" cy="1188720"/>
          </a:xfrm>
          <a:prstGeom prst="rect">
            <a:avLst/>
          </a:prstGeom>
          <a:noFill/>
          <a:ln/>
        </p:spPr>
        <p:txBody>
          <a:bodyPr wrap="square" lIns="0" tIns="0" rIns="0" bIns="0" rtlCol="0" anchor="ctr"/>
          <a:lstStyle/>
          <a:p>
            <a:pPr indent="0" marL="0">
              <a:buNone/>
            </a:pPr>
            <a:r>
              <a:rPr lang="en-US" sz="1700" b="1" dirty="0">
                <a:solidFill>
                  <a:srgbClr val="C00000"/>
                </a:solidFill>
              </a:rPr>
              <a:t>valid on 7% of days</a:t>
            </a:r>
            <a:endParaRPr lang="en-US" sz="1700" dirty="0"/>
          </a:p>
          <a:p>
            <a:pPr indent="0" marL="0">
              <a:buNone/>
            </a:pPr>
            <a:r>
              <a:rPr lang="en-US" sz="1700" b="1" dirty="0">
                <a:solidFill>
                  <a:srgbClr val="C00000"/>
                </a:solidFill>
              </a:rPr>
              <a:t>≈ 86k tokens</a:t>
            </a:r>
            <a:endParaRPr lang="en-US" sz="1700" dirty="0"/>
          </a:p>
        </p:txBody>
      </p:sp>
      <p:sp>
        <p:nvSpPr>
          <p:cNvPr id="54" name="Text 52"/>
          <p:cNvSpPr txBox="1"/>
          <p:nvPr/>
        </p:nvSpPr>
        <p:spPr>
          <a:xfrm>
            <a:off x="548640" y="3520440"/>
            <a:ext cx="3108960" cy="1188720"/>
          </a:xfrm>
          <a:prstGeom prst="rect">
            <a:avLst/>
          </a:prstGeom>
          <a:noFill/>
          <a:ln/>
        </p:spPr>
        <p:txBody>
          <a:bodyPr wrap="square" lIns="0" tIns="0" rIns="0" bIns="0" rtlCol="0" anchor="ctr"/>
          <a:lstStyle/>
          <a:p>
            <a:pPr indent="0" marL="0">
              <a:buNone/>
            </a:pPr>
            <a:r>
              <a:rPr lang="en-US" sz="1700" b="1" dirty="0">
                <a:solidFill>
                  <a:schemeClr val="tx1"/>
                </a:solidFill>
              </a:rPr>
              <a:t>B: the model writes 16 programs; keep the one valid on 8 past days; reuse it</a:t>
            </a:r>
            <a:endParaRPr lang="en-US" sz="1700" dirty="0"/>
          </a:p>
        </p:txBody>
      </p:sp>
      <p:sp>
        <p:nvSpPr>
          <p:cNvPr id="55" name="B: the model writes 16 programs; keep the one valid on 8 past days; reuse it day 0"/>
          <p:cNvSpPr/>
          <p:nvPr/>
        </p:nvSpPr>
        <p:spPr>
          <a:xfrm>
            <a:off x="3749040" y="3520440"/>
            <a:ext cx="246888" cy="310896"/>
          </a:xfrm>
          <a:prstGeom prst="rect">
            <a:avLst/>
          </a:prstGeom>
          <a:solidFill>
            <a:srgbClr val="70AD47"/>
          </a:solidFill>
          <a:ln w="6350">
            <a:solidFill>
              <a:srgbClr val="70AD47"/>
            </a:solidFill>
            <a:prstDash val="solid"/>
          </a:ln>
        </p:spPr>
      </p:sp>
      <p:sp>
        <p:nvSpPr>
          <p:cNvPr id="56" name="B: the model writes 16 programs; keep the one valid on 8 past days; reuse it day 1"/>
          <p:cNvSpPr/>
          <p:nvPr/>
        </p:nvSpPr>
        <p:spPr>
          <a:xfrm>
            <a:off x="4050792" y="3520440"/>
            <a:ext cx="246888" cy="310896"/>
          </a:xfrm>
          <a:prstGeom prst="rect">
            <a:avLst/>
          </a:prstGeom>
          <a:solidFill>
            <a:srgbClr val="70AD47"/>
          </a:solidFill>
          <a:ln w="6350">
            <a:solidFill>
              <a:srgbClr val="70AD47"/>
            </a:solidFill>
            <a:prstDash val="solid"/>
          </a:ln>
        </p:spPr>
      </p:sp>
      <p:sp>
        <p:nvSpPr>
          <p:cNvPr id="57" name="B: the model writes 16 programs; keep the one valid on 8 past days; reuse it day 2"/>
          <p:cNvSpPr/>
          <p:nvPr/>
        </p:nvSpPr>
        <p:spPr>
          <a:xfrm>
            <a:off x="4352544" y="3520440"/>
            <a:ext cx="246888" cy="310896"/>
          </a:xfrm>
          <a:prstGeom prst="rect">
            <a:avLst/>
          </a:prstGeom>
          <a:solidFill>
            <a:srgbClr val="70AD47"/>
          </a:solidFill>
          <a:ln w="6350">
            <a:solidFill>
              <a:srgbClr val="70AD47"/>
            </a:solidFill>
            <a:prstDash val="solid"/>
          </a:ln>
        </p:spPr>
      </p:sp>
      <p:sp>
        <p:nvSpPr>
          <p:cNvPr id="58" name="B: the model writes 16 programs; keep the one valid on 8 past days; reuse it day 3"/>
          <p:cNvSpPr/>
          <p:nvPr/>
        </p:nvSpPr>
        <p:spPr>
          <a:xfrm>
            <a:off x="4654296" y="3520440"/>
            <a:ext cx="246888" cy="310896"/>
          </a:xfrm>
          <a:prstGeom prst="rect">
            <a:avLst/>
          </a:prstGeom>
          <a:solidFill>
            <a:srgbClr val="70AD47"/>
          </a:solidFill>
          <a:ln w="6350">
            <a:solidFill>
              <a:srgbClr val="70AD47"/>
            </a:solidFill>
            <a:prstDash val="solid"/>
          </a:ln>
        </p:spPr>
      </p:sp>
      <p:sp>
        <p:nvSpPr>
          <p:cNvPr id="59" name="B: the model writes 16 programs; keep the one valid on 8 past days; reuse it day 4"/>
          <p:cNvSpPr/>
          <p:nvPr/>
        </p:nvSpPr>
        <p:spPr>
          <a:xfrm>
            <a:off x="4956048" y="3520440"/>
            <a:ext cx="246888" cy="310896"/>
          </a:xfrm>
          <a:prstGeom prst="rect">
            <a:avLst/>
          </a:prstGeom>
          <a:solidFill>
            <a:srgbClr val="70AD47"/>
          </a:solidFill>
          <a:ln w="6350">
            <a:solidFill>
              <a:srgbClr val="70AD47"/>
            </a:solidFill>
            <a:prstDash val="solid"/>
          </a:ln>
        </p:spPr>
      </p:sp>
      <p:sp>
        <p:nvSpPr>
          <p:cNvPr id="60" name="B: the model writes 16 programs; keep the one valid on 8 past days; reuse it day 5"/>
          <p:cNvSpPr/>
          <p:nvPr/>
        </p:nvSpPr>
        <p:spPr>
          <a:xfrm>
            <a:off x="5257800" y="3520440"/>
            <a:ext cx="246888" cy="310896"/>
          </a:xfrm>
          <a:prstGeom prst="rect">
            <a:avLst/>
          </a:prstGeom>
          <a:solidFill>
            <a:srgbClr val="70AD47"/>
          </a:solidFill>
          <a:ln w="6350">
            <a:solidFill>
              <a:srgbClr val="70AD47"/>
            </a:solidFill>
            <a:prstDash val="solid"/>
          </a:ln>
        </p:spPr>
      </p:sp>
      <p:sp>
        <p:nvSpPr>
          <p:cNvPr id="61" name="B: the model writes 16 programs; keep the one valid on 8 past days; reuse it day 6"/>
          <p:cNvSpPr/>
          <p:nvPr/>
        </p:nvSpPr>
        <p:spPr>
          <a:xfrm>
            <a:off x="5559552" y="3520440"/>
            <a:ext cx="246888" cy="310896"/>
          </a:xfrm>
          <a:prstGeom prst="rect">
            <a:avLst/>
          </a:prstGeom>
          <a:solidFill>
            <a:srgbClr val="70AD47"/>
          </a:solidFill>
          <a:ln w="6350">
            <a:solidFill>
              <a:srgbClr val="70AD47"/>
            </a:solidFill>
            <a:prstDash val="solid"/>
          </a:ln>
        </p:spPr>
      </p:sp>
      <p:sp>
        <p:nvSpPr>
          <p:cNvPr id="62" name="B: the model writes 16 programs; keep the one valid on 8 past days; reuse it day 7"/>
          <p:cNvSpPr/>
          <p:nvPr/>
        </p:nvSpPr>
        <p:spPr>
          <a:xfrm>
            <a:off x="5861304" y="3520440"/>
            <a:ext cx="246888" cy="310896"/>
          </a:xfrm>
          <a:prstGeom prst="rect">
            <a:avLst/>
          </a:prstGeom>
          <a:solidFill>
            <a:srgbClr val="70AD47"/>
          </a:solidFill>
          <a:ln w="6350">
            <a:solidFill>
              <a:srgbClr val="70AD47"/>
            </a:solidFill>
            <a:prstDash val="solid"/>
          </a:ln>
        </p:spPr>
      </p:sp>
      <p:sp>
        <p:nvSpPr>
          <p:cNvPr id="63" name="B: the model writes 16 programs; keep the one valid on 8 past days; reuse it day 8"/>
          <p:cNvSpPr/>
          <p:nvPr/>
        </p:nvSpPr>
        <p:spPr>
          <a:xfrm>
            <a:off x="6163056" y="3520440"/>
            <a:ext cx="246888" cy="310896"/>
          </a:xfrm>
          <a:prstGeom prst="rect">
            <a:avLst/>
          </a:prstGeom>
          <a:solidFill>
            <a:srgbClr val="70AD47"/>
          </a:solidFill>
          <a:ln w="6350">
            <a:solidFill>
              <a:srgbClr val="70AD47"/>
            </a:solidFill>
            <a:prstDash val="solid"/>
          </a:ln>
        </p:spPr>
      </p:sp>
      <p:sp>
        <p:nvSpPr>
          <p:cNvPr id="64" name="B: the model writes 16 programs; keep the one valid on 8 past days; reuse it day 9"/>
          <p:cNvSpPr/>
          <p:nvPr/>
        </p:nvSpPr>
        <p:spPr>
          <a:xfrm>
            <a:off x="6464808" y="3520440"/>
            <a:ext cx="246888" cy="310896"/>
          </a:xfrm>
          <a:prstGeom prst="rect">
            <a:avLst/>
          </a:prstGeom>
          <a:solidFill>
            <a:srgbClr val="70AD47"/>
          </a:solidFill>
          <a:ln w="6350">
            <a:solidFill>
              <a:srgbClr val="70AD47"/>
            </a:solidFill>
            <a:prstDash val="solid"/>
          </a:ln>
        </p:spPr>
      </p:sp>
      <p:sp>
        <p:nvSpPr>
          <p:cNvPr id="65" name="B: the model writes 16 programs; keep the one valid on 8 past days; reuse it day 10"/>
          <p:cNvSpPr/>
          <p:nvPr/>
        </p:nvSpPr>
        <p:spPr>
          <a:xfrm>
            <a:off x="6766560" y="3520440"/>
            <a:ext cx="246888" cy="310896"/>
          </a:xfrm>
          <a:prstGeom prst="rect">
            <a:avLst/>
          </a:prstGeom>
          <a:solidFill>
            <a:srgbClr val="70AD47"/>
          </a:solidFill>
          <a:ln w="6350">
            <a:solidFill>
              <a:srgbClr val="70AD47"/>
            </a:solidFill>
            <a:prstDash val="solid"/>
          </a:ln>
        </p:spPr>
      </p:sp>
      <p:sp>
        <p:nvSpPr>
          <p:cNvPr id="66" name="B: the model writes 16 programs; keep the one valid on 8 past days; reuse it day 11"/>
          <p:cNvSpPr/>
          <p:nvPr/>
        </p:nvSpPr>
        <p:spPr>
          <a:xfrm>
            <a:off x="7068312" y="3520440"/>
            <a:ext cx="246888" cy="310896"/>
          </a:xfrm>
          <a:prstGeom prst="rect">
            <a:avLst/>
          </a:prstGeom>
          <a:solidFill>
            <a:srgbClr val="70AD47"/>
          </a:solidFill>
          <a:ln w="6350">
            <a:solidFill>
              <a:srgbClr val="70AD47"/>
            </a:solidFill>
            <a:prstDash val="solid"/>
          </a:ln>
        </p:spPr>
      </p:sp>
      <p:sp>
        <p:nvSpPr>
          <p:cNvPr id="67" name="B: the model writes 16 programs; keep the one valid on 8 past days; reuse it day 12"/>
          <p:cNvSpPr/>
          <p:nvPr/>
        </p:nvSpPr>
        <p:spPr>
          <a:xfrm>
            <a:off x="7370064" y="3520440"/>
            <a:ext cx="246888" cy="310896"/>
          </a:xfrm>
          <a:prstGeom prst="rect">
            <a:avLst/>
          </a:prstGeom>
          <a:solidFill>
            <a:srgbClr val="70AD47"/>
          </a:solidFill>
          <a:ln w="6350">
            <a:solidFill>
              <a:srgbClr val="70AD47"/>
            </a:solidFill>
            <a:prstDash val="solid"/>
          </a:ln>
        </p:spPr>
      </p:sp>
      <p:sp>
        <p:nvSpPr>
          <p:cNvPr id="68" name="B: the model writes 16 programs; keep the one valid on 8 past days; reuse it day 13"/>
          <p:cNvSpPr/>
          <p:nvPr/>
        </p:nvSpPr>
        <p:spPr>
          <a:xfrm>
            <a:off x="7671816" y="3520440"/>
            <a:ext cx="246888" cy="310896"/>
          </a:xfrm>
          <a:prstGeom prst="rect">
            <a:avLst/>
          </a:prstGeom>
          <a:solidFill>
            <a:srgbClr val="70AD47"/>
          </a:solidFill>
          <a:ln w="6350">
            <a:solidFill>
              <a:srgbClr val="70AD47"/>
            </a:solidFill>
            <a:prstDash val="solid"/>
          </a:ln>
        </p:spPr>
      </p:sp>
      <p:sp>
        <p:nvSpPr>
          <p:cNvPr id="69" name="B: the model writes 16 programs; keep the one valid on 8 past days; reuse it day 14"/>
          <p:cNvSpPr/>
          <p:nvPr/>
        </p:nvSpPr>
        <p:spPr>
          <a:xfrm>
            <a:off x="7973568" y="3520440"/>
            <a:ext cx="246888" cy="310896"/>
          </a:xfrm>
          <a:prstGeom prst="rect">
            <a:avLst/>
          </a:prstGeom>
          <a:solidFill>
            <a:srgbClr val="70AD47"/>
          </a:solidFill>
          <a:ln w="6350">
            <a:solidFill>
              <a:srgbClr val="70AD47"/>
            </a:solidFill>
            <a:prstDash val="solid"/>
          </a:ln>
        </p:spPr>
      </p:sp>
      <p:sp>
        <p:nvSpPr>
          <p:cNvPr id="70" name="B: the model writes 16 programs; keep the one valid on 8 past days; reuse it day 15"/>
          <p:cNvSpPr/>
          <p:nvPr/>
        </p:nvSpPr>
        <p:spPr>
          <a:xfrm>
            <a:off x="8275320" y="3520440"/>
            <a:ext cx="246888" cy="310896"/>
          </a:xfrm>
          <a:prstGeom prst="rect">
            <a:avLst/>
          </a:prstGeom>
          <a:solidFill>
            <a:srgbClr val="70AD47"/>
          </a:solidFill>
          <a:ln w="6350">
            <a:solidFill>
              <a:srgbClr val="70AD47"/>
            </a:solidFill>
            <a:prstDash val="solid"/>
          </a:ln>
        </p:spPr>
      </p:sp>
      <p:sp>
        <p:nvSpPr>
          <p:cNvPr id="71" name="B: the model writes 16 programs; keep the one valid on 8 past days; reuse it day 16"/>
          <p:cNvSpPr/>
          <p:nvPr/>
        </p:nvSpPr>
        <p:spPr>
          <a:xfrm>
            <a:off x="3749040" y="3904488"/>
            <a:ext cx="246888" cy="310896"/>
          </a:xfrm>
          <a:prstGeom prst="rect">
            <a:avLst/>
          </a:prstGeom>
          <a:solidFill>
            <a:srgbClr val="70AD47"/>
          </a:solidFill>
          <a:ln w="6350">
            <a:solidFill>
              <a:srgbClr val="70AD47"/>
            </a:solidFill>
            <a:prstDash val="solid"/>
          </a:ln>
        </p:spPr>
      </p:sp>
      <p:sp>
        <p:nvSpPr>
          <p:cNvPr id="72" name="B: the model writes 16 programs; keep the one valid on 8 past days; reuse it day 17"/>
          <p:cNvSpPr/>
          <p:nvPr/>
        </p:nvSpPr>
        <p:spPr>
          <a:xfrm>
            <a:off x="4050792" y="3904488"/>
            <a:ext cx="246888" cy="310896"/>
          </a:xfrm>
          <a:prstGeom prst="rect">
            <a:avLst/>
          </a:prstGeom>
          <a:solidFill>
            <a:srgbClr val="70AD47"/>
          </a:solidFill>
          <a:ln w="6350">
            <a:solidFill>
              <a:srgbClr val="70AD47"/>
            </a:solidFill>
            <a:prstDash val="solid"/>
          </a:ln>
        </p:spPr>
      </p:sp>
      <p:sp>
        <p:nvSpPr>
          <p:cNvPr id="73" name="B: the model writes 16 programs; keep the one valid on 8 past days; reuse it day 18"/>
          <p:cNvSpPr/>
          <p:nvPr/>
        </p:nvSpPr>
        <p:spPr>
          <a:xfrm>
            <a:off x="4352544" y="3904488"/>
            <a:ext cx="246888" cy="310896"/>
          </a:xfrm>
          <a:prstGeom prst="rect">
            <a:avLst/>
          </a:prstGeom>
          <a:solidFill>
            <a:srgbClr val="70AD47"/>
          </a:solidFill>
          <a:ln w="6350">
            <a:solidFill>
              <a:srgbClr val="70AD47"/>
            </a:solidFill>
            <a:prstDash val="solid"/>
          </a:ln>
        </p:spPr>
      </p:sp>
      <p:sp>
        <p:nvSpPr>
          <p:cNvPr id="74" name="B: the model writes 16 programs; keep the one valid on 8 past days; reuse it day 19"/>
          <p:cNvSpPr/>
          <p:nvPr/>
        </p:nvSpPr>
        <p:spPr>
          <a:xfrm>
            <a:off x="4654296" y="3904488"/>
            <a:ext cx="246888" cy="310896"/>
          </a:xfrm>
          <a:prstGeom prst="rect">
            <a:avLst/>
          </a:prstGeom>
          <a:solidFill>
            <a:srgbClr val="70AD47"/>
          </a:solidFill>
          <a:ln w="6350">
            <a:solidFill>
              <a:srgbClr val="70AD47"/>
            </a:solidFill>
            <a:prstDash val="solid"/>
          </a:ln>
        </p:spPr>
      </p:sp>
      <p:sp>
        <p:nvSpPr>
          <p:cNvPr id="75" name="B: the model writes 16 programs; keep the one valid on 8 past days; reuse it day 20"/>
          <p:cNvSpPr/>
          <p:nvPr/>
        </p:nvSpPr>
        <p:spPr>
          <a:xfrm>
            <a:off x="4956048" y="3904488"/>
            <a:ext cx="246888" cy="310896"/>
          </a:xfrm>
          <a:prstGeom prst="rect">
            <a:avLst/>
          </a:prstGeom>
          <a:solidFill>
            <a:srgbClr val="70AD47"/>
          </a:solidFill>
          <a:ln w="6350">
            <a:solidFill>
              <a:srgbClr val="70AD47"/>
            </a:solidFill>
            <a:prstDash val="solid"/>
          </a:ln>
        </p:spPr>
      </p:sp>
      <p:sp>
        <p:nvSpPr>
          <p:cNvPr id="76" name="B: the model writes 16 programs; keep the one valid on 8 past days; reuse it day 21"/>
          <p:cNvSpPr/>
          <p:nvPr/>
        </p:nvSpPr>
        <p:spPr>
          <a:xfrm>
            <a:off x="5257800" y="3904488"/>
            <a:ext cx="246888" cy="310896"/>
          </a:xfrm>
          <a:prstGeom prst="rect">
            <a:avLst/>
          </a:prstGeom>
          <a:solidFill>
            <a:srgbClr val="70AD47"/>
          </a:solidFill>
          <a:ln w="6350">
            <a:solidFill>
              <a:srgbClr val="70AD47"/>
            </a:solidFill>
            <a:prstDash val="solid"/>
          </a:ln>
        </p:spPr>
      </p:sp>
      <p:sp>
        <p:nvSpPr>
          <p:cNvPr id="77" name="B: the model writes 16 programs; keep the one valid on 8 past days; reuse it day 22"/>
          <p:cNvSpPr/>
          <p:nvPr/>
        </p:nvSpPr>
        <p:spPr>
          <a:xfrm>
            <a:off x="5559552" y="3904488"/>
            <a:ext cx="246888" cy="310896"/>
          </a:xfrm>
          <a:prstGeom prst="rect">
            <a:avLst/>
          </a:prstGeom>
          <a:solidFill>
            <a:srgbClr val="70AD47"/>
          </a:solidFill>
          <a:ln w="6350">
            <a:solidFill>
              <a:srgbClr val="70AD47"/>
            </a:solidFill>
            <a:prstDash val="solid"/>
          </a:ln>
        </p:spPr>
      </p:sp>
      <p:sp>
        <p:nvSpPr>
          <p:cNvPr id="78" name="B: the model writes 16 programs; keep the one valid on 8 past days; reuse it day 23"/>
          <p:cNvSpPr/>
          <p:nvPr/>
        </p:nvSpPr>
        <p:spPr>
          <a:xfrm>
            <a:off x="5861304" y="3904488"/>
            <a:ext cx="246888" cy="310896"/>
          </a:xfrm>
          <a:prstGeom prst="rect">
            <a:avLst/>
          </a:prstGeom>
          <a:solidFill>
            <a:srgbClr val="70AD47"/>
          </a:solidFill>
          <a:ln w="6350">
            <a:solidFill>
              <a:srgbClr val="70AD47"/>
            </a:solidFill>
            <a:prstDash val="solid"/>
          </a:ln>
        </p:spPr>
      </p:sp>
      <p:sp>
        <p:nvSpPr>
          <p:cNvPr id="79" name="B: the model writes 16 programs; keep the one valid on 8 past days; reuse it day 24"/>
          <p:cNvSpPr/>
          <p:nvPr/>
        </p:nvSpPr>
        <p:spPr>
          <a:xfrm>
            <a:off x="6163056" y="3904488"/>
            <a:ext cx="246888" cy="310896"/>
          </a:xfrm>
          <a:prstGeom prst="rect">
            <a:avLst/>
          </a:prstGeom>
          <a:solidFill>
            <a:srgbClr val="70AD47"/>
          </a:solidFill>
          <a:ln w="6350">
            <a:solidFill>
              <a:srgbClr val="70AD47"/>
            </a:solidFill>
            <a:prstDash val="solid"/>
          </a:ln>
        </p:spPr>
      </p:sp>
      <p:sp>
        <p:nvSpPr>
          <p:cNvPr id="80" name="B: the model writes 16 programs; keep the one valid on 8 past days; reuse it day 25"/>
          <p:cNvSpPr/>
          <p:nvPr/>
        </p:nvSpPr>
        <p:spPr>
          <a:xfrm>
            <a:off x="6464808" y="3904488"/>
            <a:ext cx="246888" cy="310896"/>
          </a:xfrm>
          <a:prstGeom prst="rect">
            <a:avLst/>
          </a:prstGeom>
          <a:solidFill>
            <a:srgbClr val="70AD47"/>
          </a:solidFill>
          <a:ln w="6350">
            <a:solidFill>
              <a:srgbClr val="70AD47"/>
            </a:solidFill>
            <a:prstDash val="solid"/>
          </a:ln>
        </p:spPr>
      </p:sp>
      <p:sp>
        <p:nvSpPr>
          <p:cNvPr id="81" name="B: the model writes 16 programs; keep the one valid on 8 past days; reuse it day 26"/>
          <p:cNvSpPr/>
          <p:nvPr/>
        </p:nvSpPr>
        <p:spPr>
          <a:xfrm>
            <a:off x="6766560" y="3904488"/>
            <a:ext cx="246888" cy="310896"/>
          </a:xfrm>
          <a:prstGeom prst="rect">
            <a:avLst/>
          </a:prstGeom>
          <a:solidFill>
            <a:srgbClr val="70AD47"/>
          </a:solidFill>
          <a:ln w="6350">
            <a:solidFill>
              <a:srgbClr val="70AD47"/>
            </a:solidFill>
            <a:prstDash val="solid"/>
          </a:ln>
        </p:spPr>
      </p:sp>
      <p:sp>
        <p:nvSpPr>
          <p:cNvPr id="82" name="B: the model writes 16 programs; keep the one valid on 8 past days; reuse it day 27"/>
          <p:cNvSpPr/>
          <p:nvPr/>
        </p:nvSpPr>
        <p:spPr>
          <a:xfrm>
            <a:off x="7068312" y="3904488"/>
            <a:ext cx="246888" cy="310896"/>
          </a:xfrm>
          <a:prstGeom prst="rect">
            <a:avLst/>
          </a:prstGeom>
          <a:solidFill>
            <a:srgbClr val="70AD47"/>
          </a:solidFill>
          <a:ln w="6350">
            <a:solidFill>
              <a:srgbClr val="70AD47"/>
            </a:solidFill>
            <a:prstDash val="solid"/>
          </a:ln>
        </p:spPr>
      </p:sp>
      <p:sp>
        <p:nvSpPr>
          <p:cNvPr id="83" name="B: the model writes 16 programs; keep the one valid on 8 past days; reuse it day 28"/>
          <p:cNvSpPr/>
          <p:nvPr/>
        </p:nvSpPr>
        <p:spPr>
          <a:xfrm>
            <a:off x="7370064" y="3904488"/>
            <a:ext cx="246888" cy="310896"/>
          </a:xfrm>
          <a:prstGeom prst="rect">
            <a:avLst/>
          </a:prstGeom>
          <a:solidFill>
            <a:srgbClr val="70AD47"/>
          </a:solidFill>
          <a:ln w="6350">
            <a:solidFill>
              <a:srgbClr val="70AD47"/>
            </a:solidFill>
            <a:prstDash val="solid"/>
          </a:ln>
        </p:spPr>
      </p:sp>
      <p:sp>
        <p:nvSpPr>
          <p:cNvPr id="84" name="B: the model writes 16 programs; keep the one valid on 8 past days; reuse it day 29"/>
          <p:cNvSpPr/>
          <p:nvPr/>
        </p:nvSpPr>
        <p:spPr>
          <a:xfrm>
            <a:off x="7671816" y="3904488"/>
            <a:ext cx="246888" cy="310896"/>
          </a:xfrm>
          <a:prstGeom prst="rect">
            <a:avLst/>
          </a:prstGeom>
          <a:solidFill>
            <a:srgbClr val="70AD47"/>
          </a:solidFill>
          <a:ln w="6350">
            <a:solidFill>
              <a:srgbClr val="70AD47"/>
            </a:solidFill>
            <a:prstDash val="solid"/>
          </a:ln>
        </p:spPr>
      </p:sp>
      <p:sp>
        <p:nvSpPr>
          <p:cNvPr id="85" name="B: the model writes 16 programs; keep the one valid on 8 past days; reuse it day 30"/>
          <p:cNvSpPr/>
          <p:nvPr/>
        </p:nvSpPr>
        <p:spPr>
          <a:xfrm>
            <a:off x="7973568" y="3904488"/>
            <a:ext cx="246888" cy="310896"/>
          </a:xfrm>
          <a:prstGeom prst="rect">
            <a:avLst/>
          </a:prstGeom>
          <a:solidFill>
            <a:srgbClr val="70AD47"/>
          </a:solidFill>
          <a:ln w="6350">
            <a:solidFill>
              <a:srgbClr val="70AD47"/>
            </a:solidFill>
            <a:prstDash val="solid"/>
          </a:ln>
        </p:spPr>
      </p:sp>
      <p:sp>
        <p:nvSpPr>
          <p:cNvPr id="86" name="B: the model writes 16 programs; keep the one valid on 8 past days; reuse it day 31"/>
          <p:cNvSpPr/>
          <p:nvPr/>
        </p:nvSpPr>
        <p:spPr>
          <a:xfrm>
            <a:off x="8275320" y="3904488"/>
            <a:ext cx="246888" cy="310896"/>
          </a:xfrm>
          <a:prstGeom prst="rect">
            <a:avLst/>
          </a:prstGeom>
          <a:solidFill>
            <a:srgbClr val="70AD47"/>
          </a:solidFill>
          <a:ln w="6350">
            <a:solidFill>
              <a:srgbClr val="70AD47"/>
            </a:solidFill>
            <a:prstDash val="solid"/>
          </a:ln>
        </p:spPr>
      </p:sp>
      <p:sp>
        <p:nvSpPr>
          <p:cNvPr id="87" name="B: the model writes 16 programs; keep the one valid on 8 past days; reuse it day 32"/>
          <p:cNvSpPr/>
          <p:nvPr/>
        </p:nvSpPr>
        <p:spPr>
          <a:xfrm>
            <a:off x="3749040" y="4288536"/>
            <a:ext cx="246888" cy="310896"/>
          </a:xfrm>
          <a:prstGeom prst="rect">
            <a:avLst/>
          </a:prstGeom>
          <a:solidFill>
            <a:srgbClr val="70AD47"/>
          </a:solidFill>
          <a:ln w="6350">
            <a:solidFill>
              <a:srgbClr val="70AD47"/>
            </a:solidFill>
            <a:prstDash val="solid"/>
          </a:ln>
        </p:spPr>
      </p:sp>
      <p:sp>
        <p:nvSpPr>
          <p:cNvPr id="88" name="B: the model writes 16 programs; keep the one valid on 8 past days; reuse it day 33"/>
          <p:cNvSpPr/>
          <p:nvPr/>
        </p:nvSpPr>
        <p:spPr>
          <a:xfrm>
            <a:off x="4050792" y="4288536"/>
            <a:ext cx="246888" cy="310896"/>
          </a:xfrm>
          <a:prstGeom prst="rect">
            <a:avLst/>
          </a:prstGeom>
          <a:solidFill>
            <a:srgbClr val="70AD47"/>
          </a:solidFill>
          <a:ln w="6350">
            <a:solidFill>
              <a:srgbClr val="70AD47"/>
            </a:solidFill>
            <a:prstDash val="solid"/>
          </a:ln>
        </p:spPr>
      </p:sp>
      <p:sp>
        <p:nvSpPr>
          <p:cNvPr id="89" name="B: the model writes 16 programs; keep the one valid on 8 past days; reuse it day 34"/>
          <p:cNvSpPr/>
          <p:nvPr/>
        </p:nvSpPr>
        <p:spPr>
          <a:xfrm>
            <a:off x="4352544" y="4288536"/>
            <a:ext cx="246888" cy="310896"/>
          </a:xfrm>
          <a:prstGeom prst="rect">
            <a:avLst/>
          </a:prstGeom>
          <a:solidFill>
            <a:srgbClr val="70AD47"/>
          </a:solidFill>
          <a:ln w="6350">
            <a:solidFill>
              <a:srgbClr val="70AD47"/>
            </a:solidFill>
            <a:prstDash val="solid"/>
          </a:ln>
        </p:spPr>
      </p:sp>
      <p:sp>
        <p:nvSpPr>
          <p:cNvPr id="90" name="B: the model writes 16 programs; keep the one valid on 8 past days; reuse it day 35"/>
          <p:cNvSpPr/>
          <p:nvPr/>
        </p:nvSpPr>
        <p:spPr>
          <a:xfrm>
            <a:off x="4654296" y="4288536"/>
            <a:ext cx="246888" cy="310896"/>
          </a:xfrm>
          <a:prstGeom prst="rect">
            <a:avLst/>
          </a:prstGeom>
          <a:solidFill>
            <a:srgbClr val="70AD47"/>
          </a:solidFill>
          <a:ln w="6350">
            <a:solidFill>
              <a:srgbClr val="70AD47"/>
            </a:solidFill>
            <a:prstDash val="solid"/>
          </a:ln>
        </p:spPr>
      </p:sp>
      <p:sp>
        <p:nvSpPr>
          <p:cNvPr id="91" name="B: the model writes 16 programs; keep the one valid on 8 past days; reuse it day 36"/>
          <p:cNvSpPr/>
          <p:nvPr/>
        </p:nvSpPr>
        <p:spPr>
          <a:xfrm>
            <a:off x="4956048" y="4288536"/>
            <a:ext cx="246888" cy="310896"/>
          </a:xfrm>
          <a:prstGeom prst="rect">
            <a:avLst/>
          </a:prstGeom>
          <a:solidFill>
            <a:srgbClr val="70AD47"/>
          </a:solidFill>
          <a:ln w="6350">
            <a:solidFill>
              <a:srgbClr val="70AD47"/>
            </a:solidFill>
            <a:prstDash val="solid"/>
          </a:ln>
        </p:spPr>
      </p:sp>
      <p:sp>
        <p:nvSpPr>
          <p:cNvPr id="92" name="B: the model writes 16 programs; keep the one valid on 8 past days; reuse it day 37"/>
          <p:cNvSpPr/>
          <p:nvPr/>
        </p:nvSpPr>
        <p:spPr>
          <a:xfrm>
            <a:off x="5257800" y="4288536"/>
            <a:ext cx="246888" cy="310896"/>
          </a:xfrm>
          <a:prstGeom prst="rect">
            <a:avLst/>
          </a:prstGeom>
          <a:solidFill>
            <a:srgbClr val="70AD47"/>
          </a:solidFill>
          <a:ln w="6350">
            <a:solidFill>
              <a:srgbClr val="70AD47"/>
            </a:solidFill>
            <a:prstDash val="solid"/>
          </a:ln>
        </p:spPr>
      </p:sp>
      <p:sp>
        <p:nvSpPr>
          <p:cNvPr id="93" name="B: the model writes 16 programs; keep the one valid on 8 past days; reuse it day 38"/>
          <p:cNvSpPr/>
          <p:nvPr/>
        </p:nvSpPr>
        <p:spPr>
          <a:xfrm>
            <a:off x="5559552" y="4288536"/>
            <a:ext cx="246888" cy="310896"/>
          </a:xfrm>
          <a:prstGeom prst="rect">
            <a:avLst/>
          </a:prstGeom>
          <a:solidFill>
            <a:srgbClr val="70AD47"/>
          </a:solidFill>
          <a:ln w="6350">
            <a:solidFill>
              <a:srgbClr val="70AD47"/>
            </a:solidFill>
            <a:prstDash val="solid"/>
          </a:ln>
        </p:spPr>
      </p:sp>
      <p:sp>
        <p:nvSpPr>
          <p:cNvPr id="94" name="B: the model writes 16 programs; keep the one valid on 8 past days; reuse it day 39"/>
          <p:cNvSpPr/>
          <p:nvPr/>
        </p:nvSpPr>
        <p:spPr>
          <a:xfrm>
            <a:off x="5861304" y="4288536"/>
            <a:ext cx="246888" cy="310896"/>
          </a:xfrm>
          <a:prstGeom prst="rect">
            <a:avLst/>
          </a:prstGeom>
          <a:solidFill>
            <a:srgbClr val="70AD47"/>
          </a:solidFill>
          <a:ln w="6350">
            <a:solidFill>
              <a:srgbClr val="70AD47"/>
            </a:solidFill>
            <a:prstDash val="solid"/>
          </a:ln>
        </p:spPr>
      </p:sp>
      <p:sp>
        <p:nvSpPr>
          <p:cNvPr id="95" name="B: the model writes 16 programs; keep the one valid on 8 past days; reuse it day 40"/>
          <p:cNvSpPr/>
          <p:nvPr/>
        </p:nvSpPr>
        <p:spPr>
          <a:xfrm>
            <a:off x="6163056" y="4288536"/>
            <a:ext cx="246888" cy="310896"/>
          </a:xfrm>
          <a:prstGeom prst="rect">
            <a:avLst/>
          </a:prstGeom>
          <a:solidFill>
            <a:srgbClr val="70AD47"/>
          </a:solidFill>
          <a:ln w="6350">
            <a:solidFill>
              <a:srgbClr val="70AD47"/>
            </a:solidFill>
            <a:prstDash val="solid"/>
          </a:ln>
        </p:spPr>
      </p:sp>
      <p:sp>
        <p:nvSpPr>
          <p:cNvPr id="96" name="B: the model writes 16 programs; keep the one valid on 8 past days; reuse it day 41"/>
          <p:cNvSpPr/>
          <p:nvPr/>
        </p:nvSpPr>
        <p:spPr>
          <a:xfrm>
            <a:off x="6464808" y="4288536"/>
            <a:ext cx="246888" cy="310896"/>
          </a:xfrm>
          <a:prstGeom prst="rect">
            <a:avLst/>
          </a:prstGeom>
          <a:solidFill>
            <a:srgbClr val="70AD47"/>
          </a:solidFill>
          <a:ln w="6350">
            <a:solidFill>
              <a:srgbClr val="70AD47"/>
            </a:solidFill>
            <a:prstDash val="solid"/>
          </a:ln>
        </p:spPr>
      </p:sp>
      <p:sp>
        <p:nvSpPr>
          <p:cNvPr id="97" name="B: the model writes 16 programs; keep the one valid on 8 past days; reuse it day 42"/>
          <p:cNvSpPr/>
          <p:nvPr/>
        </p:nvSpPr>
        <p:spPr>
          <a:xfrm>
            <a:off x="6766560" y="4288536"/>
            <a:ext cx="246888" cy="310896"/>
          </a:xfrm>
          <a:prstGeom prst="rect">
            <a:avLst/>
          </a:prstGeom>
          <a:solidFill>
            <a:srgbClr val="70AD47"/>
          </a:solidFill>
          <a:ln w="6350">
            <a:solidFill>
              <a:srgbClr val="70AD47"/>
            </a:solidFill>
            <a:prstDash val="solid"/>
          </a:ln>
        </p:spPr>
      </p:sp>
      <p:sp>
        <p:nvSpPr>
          <p:cNvPr id="98" name="B: the model writes 16 programs; keep the one valid on 8 past days; reuse it day 43"/>
          <p:cNvSpPr/>
          <p:nvPr/>
        </p:nvSpPr>
        <p:spPr>
          <a:xfrm>
            <a:off x="7068312" y="4288536"/>
            <a:ext cx="246888" cy="310896"/>
          </a:xfrm>
          <a:prstGeom prst="rect">
            <a:avLst/>
          </a:prstGeom>
          <a:solidFill>
            <a:srgbClr val="70AD47"/>
          </a:solidFill>
          <a:ln w="6350">
            <a:solidFill>
              <a:srgbClr val="70AD47"/>
            </a:solidFill>
            <a:prstDash val="solid"/>
          </a:ln>
        </p:spPr>
      </p:sp>
      <p:sp>
        <p:nvSpPr>
          <p:cNvPr id="99" name="B: the model writes 16 programs; keep the one valid on 8 past days; reuse it day 44"/>
          <p:cNvSpPr/>
          <p:nvPr/>
        </p:nvSpPr>
        <p:spPr>
          <a:xfrm>
            <a:off x="7370064" y="4288536"/>
            <a:ext cx="246888" cy="310896"/>
          </a:xfrm>
          <a:prstGeom prst="rect">
            <a:avLst/>
          </a:prstGeom>
          <a:solidFill>
            <a:srgbClr val="70AD47"/>
          </a:solidFill>
          <a:ln w="6350">
            <a:solidFill>
              <a:srgbClr val="70AD47"/>
            </a:solidFill>
            <a:prstDash val="solid"/>
          </a:ln>
        </p:spPr>
      </p:sp>
      <p:sp>
        <p:nvSpPr>
          <p:cNvPr id="100" name="B: the model writes 16 programs; keep the one valid on 8 past days; reuse it day 45"/>
          <p:cNvSpPr/>
          <p:nvPr/>
        </p:nvSpPr>
        <p:spPr>
          <a:xfrm>
            <a:off x="7671816" y="4288536"/>
            <a:ext cx="246888" cy="310896"/>
          </a:xfrm>
          <a:prstGeom prst="rect">
            <a:avLst/>
          </a:prstGeom>
          <a:solidFill>
            <a:srgbClr val="FADBD8"/>
          </a:solidFill>
          <a:ln w="6350">
            <a:solidFill>
              <a:srgbClr val="E6B8B7"/>
            </a:solidFill>
            <a:prstDash val="solid"/>
          </a:ln>
        </p:spPr>
      </p:sp>
      <p:sp>
        <p:nvSpPr>
          <p:cNvPr id="101" name="B: the model writes 16 programs; keep the one valid on 8 past days; reuse it day 46"/>
          <p:cNvSpPr/>
          <p:nvPr/>
        </p:nvSpPr>
        <p:spPr>
          <a:xfrm>
            <a:off x="7973568" y="4288536"/>
            <a:ext cx="246888" cy="310896"/>
          </a:xfrm>
          <a:prstGeom prst="rect">
            <a:avLst/>
          </a:prstGeom>
          <a:solidFill>
            <a:srgbClr val="FADBD8"/>
          </a:solidFill>
          <a:ln w="6350">
            <a:solidFill>
              <a:srgbClr val="E6B8B7"/>
            </a:solidFill>
            <a:prstDash val="solid"/>
          </a:ln>
        </p:spPr>
      </p:sp>
      <p:sp>
        <p:nvSpPr>
          <p:cNvPr id="102" name="B: the model writes 16 programs; keep the one valid on 8 past days; reuse it day 47"/>
          <p:cNvSpPr/>
          <p:nvPr/>
        </p:nvSpPr>
        <p:spPr>
          <a:xfrm>
            <a:off x="8275320" y="4288536"/>
            <a:ext cx="246888" cy="310896"/>
          </a:xfrm>
          <a:prstGeom prst="rect">
            <a:avLst/>
          </a:prstGeom>
          <a:solidFill>
            <a:srgbClr val="FADBD8"/>
          </a:solidFill>
          <a:ln w="6350">
            <a:solidFill>
              <a:srgbClr val="E6B8B7"/>
            </a:solidFill>
            <a:prstDash val="solid"/>
          </a:ln>
        </p:spPr>
      </p:sp>
      <p:sp>
        <p:nvSpPr>
          <p:cNvPr id="103" name="Text 101"/>
          <p:cNvSpPr txBox="1"/>
          <p:nvPr/>
        </p:nvSpPr>
        <p:spPr>
          <a:xfrm>
            <a:off x="8778240" y="3520440"/>
            <a:ext cx="2834640" cy="1188720"/>
          </a:xfrm>
          <a:prstGeom prst="rect">
            <a:avLst/>
          </a:prstGeom>
          <a:noFill/>
          <a:ln/>
        </p:spPr>
        <p:txBody>
          <a:bodyPr wrap="square" lIns="0" tIns="0" rIns="0" bIns="0" rtlCol="0" anchor="ctr"/>
          <a:lstStyle/>
          <a:p>
            <a:pPr indent="0" marL="0">
              <a:buNone/>
            </a:pPr>
            <a:r>
              <a:rPr lang="en-US" sz="1700" b="1" dirty="0">
                <a:solidFill>
                  <a:srgbClr val="38761D"/>
                </a:solidFill>
              </a:rPr>
              <a:t>valid on 94% of days</a:t>
            </a:r>
            <a:endParaRPr lang="en-US" sz="1700" dirty="0"/>
          </a:p>
          <a:p>
            <a:pPr indent="0" marL="0">
              <a:buNone/>
            </a:pPr>
            <a:r>
              <a:rPr lang="en-US" sz="1700" b="1" dirty="0">
                <a:solidFill>
                  <a:srgbClr val="38761D"/>
                </a:solidFill>
              </a:rPr>
              <a:t>28k tokens in total</a:t>
            </a:r>
            <a:endParaRPr lang="en-US" sz="1700" dirty="0"/>
          </a:p>
        </p:txBody>
      </p:sp>
      <p:sp>
        <p:nvSpPr>
          <p:cNvPr id="104" name="Text 102"/>
          <p:cNvSpPr txBox="1"/>
          <p:nvPr/>
        </p:nvSpPr>
        <p:spPr>
          <a:xfrm>
            <a:off x="3749040" y="4800600"/>
            <a:ext cx="7863840" cy="365760"/>
          </a:xfrm>
          <a:prstGeom prst="rect">
            <a:avLst/>
          </a:prstGeom>
          <a:noFill/>
          <a:ln/>
        </p:spPr>
        <p:txBody>
          <a:bodyPr wrap="square" lIns="0" tIns="0" rIns="0" bIns="0" rtlCol="0" anchor="ctr"/>
          <a:lstStyle/>
          <a:p>
            <a:pPr indent="0" marL="0">
              <a:buNone/>
            </a:pPr>
            <a:r>
              <a:rPr lang="en-US" sz="1400" dirty="0">
                <a:solidFill>
                  <a:schemeClr val="tx2"/>
                </a:solidFill>
              </a:rPr>
              <a:t>each square = one of 48 new days · green = a valid route plan</a:t>
            </a:r>
            <a:endParaRPr lang="en-US" sz="1400" dirty="0"/>
          </a:p>
        </p:txBody>
      </p:sp>
      <p:sp>
        <p:nvSpPr>
          <p:cNvPr id="105" name="Text 103"/>
          <p:cNvSpPr txBox="1"/>
          <p:nvPr/>
        </p:nvSpPr>
        <p:spPr>
          <a:xfrm>
            <a:off x="548640" y="5349240"/>
            <a:ext cx="11064240" cy="548640"/>
          </a:xfrm>
          <a:prstGeom prst="rect">
            <a:avLst/>
          </a:prstGeom>
          <a:noFill/>
          <a:ln/>
        </p:spPr>
        <p:txBody>
          <a:bodyPr wrap="square" lIns="0" tIns="0" rIns="0" bIns="0" rtlCol="0" anchor="ctr"/>
          <a:lstStyle/>
          <a:p>
            <a:pPr indent="0" marL="0">
              <a:buNone/>
            </a:pPr>
            <a:r>
              <a:rPr lang="en-US" sz="1700" dirty="0">
                <a:solidFill>
                  <a:schemeClr val="tx1"/>
                </a:solidFill>
              </a:rPr>
              <a:t>Only the data change, so one checked program keeps working (also on 4× bigger days). New rule? Ask the model to edit it.</a:t>
            </a:r>
            <a:endParaRPr lang="en-US" sz="17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914400"/>
          </a:xfrm>
          <a:prstGeom prst="rect">
            <a:avLst/>
          </a:prstGeom>
          <a:noFill/>
          <a:ln/>
        </p:spPr>
        <p:txBody>
          <a:bodyPr wrap="square" rtlCol="0" anchor="ctr"/>
          <a:lstStyle/>
          <a:p>
            <a:pPr algn="l" indent="0" marL="0">
              <a:buNone/>
            </a:pPr>
            <a:r>
              <a:rPr lang="en-US" sz="3600" dirty="0">
                <a:solidFill>
                  <a:schemeClr val="tx1"/>
                </a:solidFill>
              </a:rPr>
              <a:t>Extra: setup, scoring and hardware</a:t>
            </a:r>
            <a:endParaRPr lang="en-US" sz="3600" dirty="0"/>
          </a:p>
        </p:txBody>
      </p:sp>
      <p:sp>
        <p:nvSpPr>
          <p:cNvPr id="3" name="Models"/>
          <p:cNvSpPr/>
          <p:nvPr/>
        </p:nvSpPr>
        <p:spPr>
          <a:xfrm>
            <a:off x="548640" y="1280160"/>
            <a:ext cx="5440680" cy="1463040"/>
          </a:xfrm>
          <a:prstGeom prst="roundRect">
            <a:avLst>
              <a:gd name="adj" fmla="val 5000"/>
            </a:avLst>
          </a:prstGeom>
          <a:solidFill>
            <a:srgbClr val="F2F2F2"/>
          </a:solidFill>
          <a:ln w="9525">
            <a:solidFill>
              <a:srgbClr val="D9D9D9"/>
            </a:solidFill>
            <a:prstDash val="solid"/>
          </a:ln>
        </p:spPr>
      </p:sp>
      <p:pic>
        <p:nvPicPr>
          <p:cNvPr id="4" name="icon robot" descr="/NAS/SJ/POSTECH/nlp/figs/icons/robot.png">    </p:cNvPr>
          <p:cNvPicPr>
            <a:picLocks noChangeAspect="1"/>
          </p:cNvPicPr>
          <p:nvPr/>
        </p:nvPicPr>
        <p:blipFill>
          <a:blip r:embed="rId1"/>
          <a:stretch>
            <a:fillRect/>
          </a:stretch>
        </p:blipFill>
        <p:spPr>
          <a:xfrm>
            <a:off x="731520" y="1463040"/>
            <a:ext cx="457200" cy="457200"/>
          </a:xfrm>
          <a:prstGeom prst="rect">
            <a:avLst/>
          </a:prstGeom>
        </p:spPr>
      </p:pic>
      <p:sp>
        <p:nvSpPr>
          <p:cNvPr id="5" name="Text 2"/>
          <p:cNvSpPr txBox="1"/>
          <p:nvPr/>
        </p:nvSpPr>
        <p:spPr>
          <a:xfrm>
            <a:off x="1325880" y="1417320"/>
            <a:ext cx="4480560" cy="457200"/>
          </a:xfrm>
          <a:prstGeom prst="rect">
            <a:avLst/>
          </a:prstGeom>
          <a:noFill/>
          <a:ln/>
        </p:spPr>
        <p:txBody>
          <a:bodyPr wrap="square" lIns="0" tIns="0" rIns="0" bIns="0" rtlCol="0" anchor="ctr"/>
          <a:lstStyle/>
          <a:p>
            <a:pPr indent="0" marL="0">
              <a:buNone/>
            </a:pPr>
            <a:r>
              <a:rPr lang="en-US" sz="1800" b="1" dirty="0">
                <a:solidFill>
                  <a:schemeClr val="tx1"/>
                </a:solidFill>
              </a:rPr>
              <a:t>Models</a:t>
            </a:r>
            <a:endParaRPr lang="en-US" sz="1800" dirty="0"/>
          </a:p>
        </p:txBody>
      </p:sp>
      <p:sp>
        <p:nvSpPr>
          <p:cNvPr id="6" name="Text 3"/>
          <p:cNvSpPr txBox="1"/>
          <p:nvPr/>
        </p:nvSpPr>
        <p:spPr>
          <a:xfrm>
            <a:off x="1325880" y="1874520"/>
            <a:ext cx="4526280" cy="822960"/>
          </a:xfrm>
          <a:prstGeom prst="rect">
            <a:avLst/>
          </a:prstGeom>
          <a:noFill/>
          <a:ln/>
        </p:spPr>
        <p:txBody>
          <a:bodyPr wrap="square" lIns="0" tIns="0" rIns="0" bIns="0" rtlCol="0" anchor="t"/>
          <a:lstStyle/>
          <a:p>
            <a:pPr indent="0" marL="0">
              <a:buNone/>
            </a:pPr>
            <a:r>
              <a:rPr lang="en-US" sz="1400" dirty="0">
                <a:solidFill>
                  <a:schemeClr val="tx1"/>
                </a:solidFill>
              </a:rPr>
              <a:t>open models run locally: Qwen3 1.7B–32B, Qwen3.6-35B, gpt-oss-20b and 120b</a:t>
            </a:r>
            <a:endParaRPr lang="en-US" sz="1400" dirty="0"/>
          </a:p>
        </p:txBody>
      </p:sp>
      <p:sp>
        <p:nvSpPr>
          <p:cNvPr id="7" name="Benchmarks"/>
          <p:cNvSpPr/>
          <p:nvPr/>
        </p:nvSpPr>
        <p:spPr>
          <a:xfrm>
            <a:off x="6172200" y="1280160"/>
            <a:ext cx="5440680" cy="1463040"/>
          </a:xfrm>
          <a:prstGeom prst="roundRect">
            <a:avLst>
              <a:gd name="adj" fmla="val 5000"/>
            </a:avLst>
          </a:prstGeom>
          <a:solidFill>
            <a:srgbClr val="F2F2F2"/>
          </a:solidFill>
          <a:ln w="9525">
            <a:solidFill>
              <a:srgbClr val="D9D9D9"/>
            </a:solidFill>
            <a:prstDash val="solid"/>
          </a:ln>
        </p:spPr>
      </p:sp>
      <p:pic>
        <p:nvPicPr>
          <p:cNvPr id="8" name="icon shapes" descr="/NAS/SJ/POSTECH/nlp/figs/icons/shapes.png">    </p:cNvPr>
          <p:cNvPicPr>
            <a:picLocks noChangeAspect="1"/>
          </p:cNvPicPr>
          <p:nvPr/>
        </p:nvPicPr>
        <p:blipFill>
          <a:blip r:embed="rId2"/>
          <a:stretch>
            <a:fillRect/>
          </a:stretch>
        </p:blipFill>
        <p:spPr>
          <a:xfrm>
            <a:off x="6355080" y="1463040"/>
            <a:ext cx="457200" cy="457200"/>
          </a:xfrm>
          <a:prstGeom prst="rect">
            <a:avLst/>
          </a:prstGeom>
        </p:spPr>
      </p:pic>
      <p:sp>
        <p:nvSpPr>
          <p:cNvPr id="9" name="Text 5"/>
          <p:cNvSpPr txBox="1"/>
          <p:nvPr/>
        </p:nvSpPr>
        <p:spPr>
          <a:xfrm>
            <a:off x="6949440" y="1417320"/>
            <a:ext cx="4480560" cy="457200"/>
          </a:xfrm>
          <a:prstGeom prst="rect">
            <a:avLst/>
          </a:prstGeom>
          <a:noFill/>
          <a:ln/>
        </p:spPr>
        <p:txBody>
          <a:bodyPr wrap="square" lIns="0" tIns="0" rIns="0" bIns="0" rtlCol="0" anchor="ctr"/>
          <a:lstStyle/>
          <a:p>
            <a:pPr indent="0" marL="0">
              <a:buNone/>
            </a:pPr>
            <a:r>
              <a:rPr lang="en-US" sz="1800" b="1" dirty="0">
                <a:solidFill>
                  <a:schemeClr val="tx1"/>
                </a:solidFill>
              </a:rPr>
              <a:t>Benchmarks</a:t>
            </a:r>
            <a:endParaRPr lang="en-US" sz="1800" dirty="0"/>
          </a:p>
        </p:txBody>
      </p:sp>
      <p:sp>
        <p:nvSpPr>
          <p:cNvPr id="10" name="Text 6"/>
          <p:cNvSpPr txBox="1"/>
          <p:nvPr/>
        </p:nvSpPr>
        <p:spPr>
          <a:xfrm>
            <a:off x="6949440" y="1874520"/>
            <a:ext cx="4526280" cy="822960"/>
          </a:xfrm>
          <a:prstGeom prst="rect">
            <a:avLst/>
          </a:prstGeom>
          <a:noFill/>
          <a:ln/>
        </p:spPr>
        <p:txBody>
          <a:bodyPr wrap="square" lIns="0" tIns="0" rIns="0" bIns="0" rtlCol="0" anchor="t"/>
          <a:lstStyle/>
          <a:p>
            <a:pPr indent="0" marL="0">
              <a:buNone/>
            </a:pPr>
            <a:r>
              <a:rPr lang="en-US" sz="1400" dirty="0">
                <a:solidFill>
                  <a:schemeClr val="tx1"/>
                </a:solidFill>
              </a:rPr>
              <a:t>13 geometry and 8 optimization tasks (generated); 311 Codeforces geometry; 56 Solomon routing; 82 job-shop; 1,208 word problems (NL4OPT, IndustryOR, MAMO)</a:t>
            </a:r>
            <a:endParaRPr lang="en-US" sz="1400" dirty="0"/>
          </a:p>
        </p:txBody>
      </p:sp>
      <p:sp>
        <p:nvSpPr>
          <p:cNvPr id="11" name="Exact scoring"/>
          <p:cNvSpPr/>
          <p:nvPr/>
        </p:nvSpPr>
        <p:spPr>
          <a:xfrm>
            <a:off x="548640" y="2880360"/>
            <a:ext cx="5440680" cy="1463040"/>
          </a:xfrm>
          <a:prstGeom prst="roundRect">
            <a:avLst>
              <a:gd name="adj" fmla="val 5000"/>
            </a:avLst>
          </a:prstGeom>
          <a:solidFill>
            <a:srgbClr val="F2F2F2"/>
          </a:solidFill>
          <a:ln w="9525">
            <a:solidFill>
              <a:srgbClr val="D9D9D9"/>
            </a:solidFill>
            <a:prstDash val="solid"/>
          </a:ln>
        </p:spPr>
      </p:sp>
      <p:pic>
        <p:nvPicPr>
          <p:cNvPr id="12" name="icon check" descr="/NAS/SJ/POSTECH/nlp/figs/icons/check.png">    </p:cNvPr>
          <p:cNvPicPr>
            <a:picLocks noChangeAspect="1"/>
          </p:cNvPicPr>
          <p:nvPr/>
        </p:nvPicPr>
        <p:blipFill>
          <a:blip r:embed="rId3"/>
          <a:stretch>
            <a:fillRect/>
          </a:stretch>
        </p:blipFill>
        <p:spPr>
          <a:xfrm>
            <a:off x="731520" y="3063240"/>
            <a:ext cx="457200" cy="457200"/>
          </a:xfrm>
          <a:prstGeom prst="rect">
            <a:avLst/>
          </a:prstGeom>
        </p:spPr>
      </p:pic>
      <p:sp>
        <p:nvSpPr>
          <p:cNvPr id="13" name="Text 8"/>
          <p:cNvSpPr txBox="1"/>
          <p:nvPr/>
        </p:nvSpPr>
        <p:spPr>
          <a:xfrm>
            <a:off x="1325880" y="3017520"/>
            <a:ext cx="4480560" cy="457200"/>
          </a:xfrm>
          <a:prstGeom prst="rect">
            <a:avLst/>
          </a:prstGeom>
          <a:noFill/>
          <a:ln/>
        </p:spPr>
        <p:txBody>
          <a:bodyPr wrap="square" lIns="0" tIns="0" rIns="0" bIns="0" rtlCol="0" anchor="ctr"/>
          <a:lstStyle/>
          <a:p>
            <a:pPr indent="0" marL="0">
              <a:buNone/>
            </a:pPr>
            <a:r>
              <a:rPr lang="en-US" sz="1800" b="1" dirty="0">
                <a:solidFill>
                  <a:schemeClr val="tx1"/>
                </a:solidFill>
              </a:rPr>
              <a:t>Exact scoring</a:t>
            </a:r>
            <a:endParaRPr lang="en-US" sz="1800" dirty="0"/>
          </a:p>
        </p:txBody>
      </p:sp>
      <p:sp>
        <p:nvSpPr>
          <p:cNvPr id="14" name="Text 9"/>
          <p:cNvSpPr txBox="1"/>
          <p:nvPr/>
        </p:nvSpPr>
        <p:spPr>
          <a:xfrm>
            <a:off x="1325880" y="3474720"/>
            <a:ext cx="4526280" cy="822960"/>
          </a:xfrm>
          <a:prstGeom prst="rect">
            <a:avLst/>
          </a:prstGeom>
          <a:noFill/>
          <a:ln/>
        </p:spPr>
        <p:txBody>
          <a:bodyPr wrap="square" lIns="0" tIns="0" rIns="0" bIns="0" rtlCol="0" anchor="t"/>
          <a:lstStyle/>
          <a:p>
            <a:pPr indent="0" marL="0">
              <a:buNone/>
            </a:pPr>
            <a:r>
              <a:rPr lang="en-US" sz="1400" dirty="0">
                <a:solidFill>
                  <a:schemeClr val="tx1"/>
                </a:solidFill>
              </a:rPr>
              <a:t>geometry right on all 8 moved copies; plans obey every rule; contest programs pass all official tests; word problems by exact answer</a:t>
            </a:r>
            <a:endParaRPr lang="en-US" sz="1400" dirty="0"/>
          </a:p>
        </p:txBody>
      </p:sp>
      <p:sp>
        <p:nvSpPr>
          <p:cNvPr id="15" name="Fair comparisons"/>
          <p:cNvSpPr/>
          <p:nvPr/>
        </p:nvSpPr>
        <p:spPr>
          <a:xfrm>
            <a:off x="6172200" y="2880360"/>
            <a:ext cx="5440680" cy="1463040"/>
          </a:xfrm>
          <a:prstGeom prst="roundRect">
            <a:avLst>
              <a:gd name="adj" fmla="val 5000"/>
            </a:avLst>
          </a:prstGeom>
          <a:solidFill>
            <a:srgbClr val="F2F2F2"/>
          </a:solidFill>
          <a:ln w="9525">
            <a:solidFill>
              <a:srgbClr val="D9D9D9"/>
            </a:solidFill>
            <a:prstDash val="solid"/>
          </a:ln>
        </p:spPr>
      </p:sp>
      <p:pic>
        <p:nvPicPr>
          <p:cNvPr id="16" name="icon fact" descr="/NAS/SJ/POSTECH/nlp/figs/icons/fact.png">    </p:cNvPr>
          <p:cNvPicPr>
            <a:picLocks noChangeAspect="1"/>
          </p:cNvPicPr>
          <p:nvPr/>
        </p:nvPicPr>
        <p:blipFill>
          <a:blip r:embed="rId4"/>
          <a:stretch>
            <a:fillRect/>
          </a:stretch>
        </p:blipFill>
        <p:spPr>
          <a:xfrm>
            <a:off x="6355080" y="3063240"/>
            <a:ext cx="457200" cy="457200"/>
          </a:xfrm>
          <a:prstGeom prst="rect">
            <a:avLst/>
          </a:prstGeom>
        </p:spPr>
      </p:pic>
      <p:sp>
        <p:nvSpPr>
          <p:cNvPr id="17" name="Text 11"/>
          <p:cNvSpPr txBox="1"/>
          <p:nvPr/>
        </p:nvSpPr>
        <p:spPr>
          <a:xfrm>
            <a:off x="6949440" y="3017520"/>
            <a:ext cx="4480560" cy="457200"/>
          </a:xfrm>
          <a:prstGeom prst="rect">
            <a:avLst/>
          </a:prstGeom>
          <a:noFill/>
          <a:ln/>
        </p:spPr>
        <p:txBody>
          <a:bodyPr wrap="square" lIns="0" tIns="0" rIns="0" bIns="0" rtlCol="0" anchor="ctr"/>
          <a:lstStyle/>
          <a:p>
            <a:pPr indent="0" marL="0">
              <a:buNone/>
            </a:pPr>
            <a:r>
              <a:rPr lang="en-US" sz="1800" b="1" dirty="0">
                <a:solidFill>
                  <a:schemeClr val="tx1"/>
                </a:solidFill>
              </a:rPr>
              <a:t>Fair comparisons</a:t>
            </a:r>
            <a:endParaRPr lang="en-US" sz="1800" dirty="0"/>
          </a:p>
        </p:txBody>
      </p:sp>
      <p:sp>
        <p:nvSpPr>
          <p:cNvPr id="18" name="Text 12"/>
          <p:cNvSpPr txBox="1"/>
          <p:nvPr/>
        </p:nvSpPr>
        <p:spPr>
          <a:xfrm>
            <a:off x="6949440" y="3474720"/>
            <a:ext cx="4526280" cy="822960"/>
          </a:xfrm>
          <a:prstGeom prst="rect">
            <a:avLst/>
          </a:prstGeom>
          <a:noFill/>
          <a:ln/>
        </p:spPr>
        <p:txBody>
          <a:bodyPr wrap="square" lIns="0" tIns="0" rIns="0" bIns="0" rtlCol="0" anchor="t"/>
          <a:lstStyle/>
          <a:p>
            <a:pPr indent="0" marL="0">
              <a:buNone/>
            </a:pPr>
            <a:r>
              <a:rPr lang="en-US" sz="1400" dirty="0">
                <a:solidFill>
                  <a:schemeClr val="tx1"/>
                </a:solidFill>
              </a:rPr>
              <a:t>one change at a time; predictions written before each run; every claim on 3 seeds; baselines run in our own harness</a:t>
            </a:r>
            <a:endParaRPr lang="en-US" sz="1400" dirty="0"/>
          </a:p>
        </p:txBody>
      </p:sp>
      <p:sp>
        <p:nvSpPr>
          <p:cNvPr id="19" name="Cost"/>
          <p:cNvSpPr/>
          <p:nvPr/>
        </p:nvSpPr>
        <p:spPr>
          <a:xfrm>
            <a:off x="548640" y="4480560"/>
            <a:ext cx="5440680" cy="1463040"/>
          </a:xfrm>
          <a:prstGeom prst="roundRect">
            <a:avLst>
              <a:gd name="adj" fmla="val 5000"/>
            </a:avLst>
          </a:prstGeom>
          <a:solidFill>
            <a:srgbClr val="F2F2F2"/>
          </a:solidFill>
          <a:ln w="9525">
            <a:solidFill>
              <a:srgbClr val="D9D9D9"/>
            </a:solidFill>
            <a:prstDash val="solid"/>
          </a:ln>
        </p:spPr>
      </p:sp>
      <p:pic>
        <p:nvPicPr>
          <p:cNvPr id="20" name="icon coins" descr="/NAS/SJ/POSTECH/nlp/figs/icons/coins.png">    </p:cNvPr>
          <p:cNvPicPr>
            <a:picLocks noChangeAspect="1"/>
          </p:cNvPicPr>
          <p:nvPr/>
        </p:nvPicPr>
        <p:blipFill>
          <a:blip r:embed="rId5"/>
          <a:stretch>
            <a:fillRect/>
          </a:stretch>
        </p:blipFill>
        <p:spPr>
          <a:xfrm>
            <a:off x="731520" y="4663440"/>
            <a:ext cx="457200" cy="457200"/>
          </a:xfrm>
          <a:prstGeom prst="rect">
            <a:avLst/>
          </a:prstGeom>
        </p:spPr>
      </p:pic>
      <p:sp>
        <p:nvSpPr>
          <p:cNvPr id="21" name="Text 14"/>
          <p:cNvSpPr txBox="1"/>
          <p:nvPr/>
        </p:nvSpPr>
        <p:spPr>
          <a:xfrm>
            <a:off x="1325880" y="4617720"/>
            <a:ext cx="4480560" cy="457200"/>
          </a:xfrm>
          <a:prstGeom prst="rect">
            <a:avLst/>
          </a:prstGeom>
          <a:noFill/>
          <a:ln/>
        </p:spPr>
        <p:txBody>
          <a:bodyPr wrap="square" lIns="0" tIns="0" rIns="0" bIns="0" rtlCol="0" anchor="ctr"/>
          <a:lstStyle/>
          <a:p>
            <a:pPr indent="0" marL="0">
              <a:buNone/>
            </a:pPr>
            <a:r>
              <a:rPr lang="en-US" sz="1800" b="1" dirty="0">
                <a:solidFill>
                  <a:schemeClr val="tx1"/>
                </a:solidFill>
              </a:rPr>
              <a:t>Cost</a:t>
            </a:r>
            <a:endParaRPr lang="en-US" sz="1800" dirty="0"/>
          </a:p>
        </p:txBody>
      </p:sp>
      <p:sp>
        <p:nvSpPr>
          <p:cNvPr id="22" name="Text 15"/>
          <p:cNvSpPr txBox="1"/>
          <p:nvPr/>
        </p:nvSpPr>
        <p:spPr>
          <a:xfrm>
            <a:off x="1325880" y="5074920"/>
            <a:ext cx="4526280" cy="822960"/>
          </a:xfrm>
          <a:prstGeom prst="rect">
            <a:avLst/>
          </a:prstGeom>
          <a:noFill/>
          <a:ln/>
        </p:spPr>
        <p:txBody>
          <a:bodyPr wrap="square" lIns="0" tIns="0" rIns="0" bIns="0" rtlCol="0" anchor="t"/>
          <a:lstStyle/>
          <a:p>
            <a:pPr indent="0" marL="0">
              <a:buNone/>
            </a:pPr>
            <a:r>
              <a:rPr lang="en-US" sz="1400" dirty="0">
                <a:solidFill>
                  <a:schemeClr val="tx1"/>
                </a:solidFill>
              </a:rPr>
              <a:t>every result reported with its output tokens per problem</a:t>
            </a:r>
            <a:endParaRPr lang="en-US" sz="1400" dirty="0"/>
          </a:p>
        </p:txBody>
      </p:sp>
      <p:sp>
        <p:nvSpPr>
          <p:cNvPr id="23" name="Hardware"/>
          <p:cNvSpPr/>
          <p:nvPr/>
        </p:nvSpPr>
        <p:spPr>
          <a:xfrm>
            <a:off x="6172200" y="4480560"/>
            <a:ext cx="5440680" cy="1463040"/>
          </a:xfrm>
          <a:prstGeom prst="roundRect">
            <a:avLst>
              <a:gd name="adj" fmla="val 5000"/>
            </a:avLst>
          </a:prstGeom>
          <a:solidFill>
            <a:srgbClr val="F2F2F2"/>
          </a:solidFill>
          <a:ln w="9525">
            <a:solidFill>
              <a:srgbClr val="D9D9D9"/>
            </a:solidFill>
            <a:prstDash val="solid"/>
          </a:ln>
        </p:spPr>
      </p:sp>
      <p:pic>
        <p:nvPicPr>
          <p:cNvPr id="24" name="icon gpu" descr="/NAS/SJ/POSTECH/nlp/figs/icons/gpu.png">    </p:cNvPr>
          <p:cNvPicPr>
            <a:picLocks noChangeAspect="1"/>
          </p:cNvPicPr>
          <p:nvPr/>
        </p:nvPicPr>
        <p:blipFill>
          <a:blip r:embed="rId6"/>
          <a:stretch>
            <a:fillRect/>
          </a:stretch>
        </p:blipFill>
        <p:spPr>
          <a:xfrm>
            <a:off x="6355080" y="4663440"/>
            <a:ext cx="457200" cy="457200"/>
          </a:xfrm>
          <a:prstGeom prst="rect">
            <a:avLst/>
          </a:prstGeom>
        </p:spPr>
      </p:pic>
      <p:sp>
        <p:nvSpPr>
          <p:cNvPr id="25" name="Text 17"/>
          <p:cNvSpPr txBox="1"/>
          <p:nvPr/>
        </p:nvSpPr>
        <p:spPr>
          <a:xfrm>
            <a:off x="6949440" y="4617720"/>
            <a:ext cx="4480560" cy="457200"/>
          </a:xfrm>
          <a:prstGeom prst="rect">
            <a:avLst/>
          </a:prstGeom>
          <a:noFill/>
          <a:ln/>
        </p:spPr>
        <p:txBody>
          <a:bodyPr wrap="square" lIns="0" tIns="0" rIns="0" bIns="0" rtlCol="0" anchor="ctr"/>
          <a:lstStyle/>
          <a:p>
            <a:pPr indent="0" marL="0">
              <a:buNone/>
            </a:pPr>
            <a:r>
              <a:rPr lang="en-US" sz="1800" b="1" dirty="0">
                <a:solidFill>
                  <a:schemeClr val="tx1"/>
                </a:solidFill>
              </a:rPr>
              <a:t>Hardware</a:t>
            </a:r>
            <a:endParaRPr lang="en-US" sz="1800" dirty="0"/>
          </a:p>
        </p:txBody>
      </p:sp>
      <p:sp>
        <p:nvSpPr>
          <p:cNvPr id="26" name="Text 18"/>
          <p:cNvSpPr txBox="1"/>
          <p:nvPr/>
        </p:nvSpPr>
        <p:spPr>
          <a:xfrm>
            <a:off x="6949440" y="5074920"/>
            <a:ext cx="4526280" cy="822960"/>
          </a:xfrm>
          <a:prstGeom prst="rect">
            <a:avLst/>
          </a:prstGeom>
          <a:noFill/>
          <a:ln/>
        </p:spPr>
        <p:txBody>
          <a:bodyPr wrap="square" lIns="0" tIns="0" rIns="0" bIns="0" rtlCol="0" anchor="t"/>
          <a:lstStyle/>
          <a:p>
            <a:pPr indent="0" marL="0">
              <a:buNone/>
            </a:pPr>
            <a:r>
              <a:rPr lang="en-US" sz="1400" dirty="0">
                <a:solidFill>
                  <a:schemeClr val="tx1"/>
                </a:solidFill>
              </a:rPr>
              <a:t>one model per GPU (RTX PRO 6000, 96 GB); the small models fit one 24 GB GPU</a:t>
            </a:r>
            <a:endParaRPr lang="en-US" sz="1400" dirty="0"/>
          </a:p>
        </p:txBody>
      </p:sp>
      <p:sp>
        <p:nvSpPr>
          <p:cNvPr id="25" name="Slide Number Placeholder 0"/>
          <p:cNvSpPr>
            <a:spLocks noGrp="1"/>
          </p:cNvSpPr>
          <p:nvPr>
            <p:ph type="sldNum" sz="quarter" idx="4294967295"/>
          </p:nvPr>
        </p:nvSpPr>
        <p:spPr>
          <a:xfrm>
            <a:off x="11155680" y="6355080"/>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8C8C8C"/>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Solving Computational Math with LLMs, Accurately and Cheaply</dc:title>
  <dc:subject>PptxGenJS Presentation</dc:subject>
  <dc:creator>POSTECH graduate NLP course project</dc:creator>
  <cp:lastModifiedBy>POSTECH graduate NLP course project</cp:lastModifiedBy>
  <cp:revision>1</cp:revision>
  <dcterms:created xsi:type="dcterms:W3CDTF">2026-10-19T18:46:15Z</dcterms:created>
  <dcterms:modified xsi:type="dcterms:W3CDTF">2026-10-19T18:46:15Z</dcterms:modified>
</cp:coreProperties>
</file>