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a6159a21-e486-e3f4-7fea-0d037da4046d}">
          <p14:sldIdLst>
            <p14:sldId id="256"/>
            <p14:sldId id="257"/>
            <p14:sldId id="258"/>
            <p14:sldId id="259"/>
            <p14:sldId id="260"/>
            <p14:sldId id="261"/>
            <p14:sldId id="262"/>
            <p14:sldId id="263"/>
            <p14:sldId id="264"/>
          </p14:sldIdLst>
        </p14:section>
        <p14:section name="Extra pages" id="{bccce8ad-3a88-0b23-5b38-79d070f82f99}">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짧은 힌트를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것은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두 발견을 합친 것이 저희 방법입니다. 실제 최적화 문제로 보겠습니다. 1단계, 모델이 없는 메서드를 불러서 죽습니다. 2단계, 힌트를 줍니다. 이 힌트는 사람이 쓴 것이 아니라, 모델이 다른 문제에서 짜서 검사를 통과한 자기 프로그램에서 자동으로 가져옵니다. 3단계, 두 버전의 답이 20000으로 같으니, 4단계 생각은 건너뜁니다. 생각만 했다면 5.3k 토큰이 들었을 문제를 0.6k로 풉니다. 5단계, 같은 종류의 새 데이터에는 검사된 프로그램을 재사용합니다. 기하와 최적화 208문제를 세 모델로 풀면, 어려워 보이는 문제에 생각을 몰아주는 방식은 74%, 사람이 쓴 힌트로 저희 방법을 쓰면 87%이고 토큰도 더 적습니다. 단계 아래 아이콘은 그 단계를 어디에 쓰는지입니다. 경시 문제는 라이브러리 없이 알고리즘만 짜서 힌트가 필요 없고, 검사와 생각만 씁니다. 재사용은 같은 문제가 반복되는 경로 문제에만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마지막으로 새로운 점과 다음 계획입니다. 왼쪽이 흔히 쓰는 방법, 오른쪽이 저희 방법입니다. 첫째, 기존에는 어려워 보이는 문제에 생각을 몰아주거나 언제 생각할지를 학습시키지만, 저희는 학습 없이 공짜 검사가 실패한 문제에만 생각을 써서 74%를 87%로 올리고 토큰도 줄였습니다. 둘째, 기존에는 매뉴얼이나 교사 모델이 짠 프로그램을 주지만, 저희는 모델 자신이 짜서 검사를 통과한 프로그램을 짧은 힌트로 주므로 사람도 정답도 필요 없습니다. 셋째, 특화 모델을 파인튜닝하지 않고도 24GB GPU 한 장으로 같은 69.5%를 냅니다. 다음으로는 더 많은 모델로 검증을 마치고, 실행은 되지만 문제를 잘못 수식으로 옮긴 오류를 힌트로 고칠 수 있는지 시험하고,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최적화 문장제용으로 파인튜닝한 ORLM-8B가 MAMO에서 69.5%인데, 학습하지 않은 Qwen3-8B도 같은 69.5%를 더 적은 토큰으로 냅니다.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Can retrieval (RAG) find the hint? (slide 5)
16: Why can thinking make it worse? (slide 5)
17: What if a wrong program passes the check? (slide 6)
18: Is there always a free check? (slide 6)
19: Who writes the hint? (slide 7)
20: Is 'think on the hardest' a weak baseline? (slide 7)
29: What if the same problem repeats? (slide 7)
11: Why no hint for contest problems? (slide 7)
28: Where does the recipe stop? (slide 7)
21, 22, 23: What is new vs PAL and cascades? (slide 8)
24: Why not majority voting? (slide 8)
25, 30: Is the comparison fair? (slide 8)
26: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image" Target="../media/image-7-3.png"/><Relationship Id="rId20" Type="http://schemas.openxmlformats.org/officeDocument/2006/relationships/image" Target="../media/image-7-4.png"/><Relationship Id="rId21" Type="http://schemas.openxmlformats.org/officeDocument/2006/relationships/image" Target="../media/image-7-5.png"/><Relationship Id="rId22" Type="http://schemas.openxmlformats.org/officeDocument/2006/relationships/image" Target="../media/image-7-6.png"/><Relationship Id="rId23" Type="http://schemas.openxmlformats.org/officeDocument/2006/relationships/slideLayout" Target="../slideLayouts/slideLayout3.xml"/><Relationship Id="rId2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3"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4"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5"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6"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7"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8"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19"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0"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1"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2"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3"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4"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5"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6"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7"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8"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29"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0"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1"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2"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4"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5"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6"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7"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8"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39"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0"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1"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2"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3"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4"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5"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6"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7"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8"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49"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7863840" y="987552"/>
            <a:ext cx="3749040" cy="274320"/>
          </a:xfrm>
          <a:prstGeom prst="rect">
            <a:avLst/>
          </a:prstGeom>
          <a:noFill/>
          <a:ln/>
        </p:spPr>
        <p:txBody>
          <a:bodyPr wrap="square" lIns="0" tIns="0" rIns="0" bIns="0" rtlCol="0" anchor="ctr"/>
          <a:lstStyle/>
          <a:p>
            <a:pPr algn="r" indent="0" marL="0">
              <a:buNone/>
            </a:pPr>
            <a:r>
              <a:rPr lang="en-US" sz="1400" dirty="0">
                <a:solidFill>
                  <a:srgbClr val="7F7F7F"/>
                </a:solidFill>
              </a:rPr>
              <a:t>icons under each step: where it is used</a:t>
            </a:r>
            <a:endParaRPr lang="en-US" sz="1400" dirty="0"/>
          </a:p>
        </p:txBody>
      </p:sp>
      <p:sp>
        <p:nvSpPr>
          <p:cNvPr id="10"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1"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2"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3"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4"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hint</a:t>
            </a:r>
            <a:endParaRPr lang="en-US" sz="1400" dirty="0"/>
          </a:p>
        </p:txBody>
      </p:sp>
      <p:sp>
        <p:nvSpPr>
          <p:cNvPr id="15" name="Shape 11"/>
          <p:cNvSpPr/>
          <p:nvPr/>
        </p:nvSpPr>
        <p:spPr>
          <a:xfrm>
            <a:off x="2651760" y="2670048"/>
            <a:ext cx="137160" cy="0"/>
          </a:xfrm>
          <a:prstGeom prst="line">
            <a:avLst/>
          </a:prstGeom>
          <a:noFill/>
          <a:ln w="25400">
            <a:solidFill>
              <a:srgbClr val="7F7F7F"/>
            </a:solidFill>
            <a:prstDash val="solid"/>
            <a:tailEnd type="triangle"/>
          </a:ln>
        </p:spPr>
      </p:sp>
      <p:pic>
        <p:nvPicPr>
          <p:cNvPr id="16" name="step 1 used on shapes" descr="/NAS/SJ/POSTECH/nlp/figs/icons/shapes.png">    </p:cNvPr>
          <p:cNvPicPr>
            <a:picLocks noChangeAspect="1"/>
          </p:cNvPicPr>
          <p:nvPr/>
        </p:nvPicPr>
        <p:blipFill>
          <a:blip r:embed="rId3"/>
          <a:stretch>
            <a:fillRect/>
          </a:stretch>
        </p:blipFill>
        <p:spPr>
          <a:xfrm>
            <a:off x="1042416" y="3401568"/>
            <a:ext cx="237744" cy="237744"/>
          </a:xfrm>
          <a:prstGeom prst="rect">
            <a:avLst/>
          </a:prstGeom>
        </p:spPr>
      </p:pic>
      <p:pic>
        <p:nvPicPr>
          <p:cNvPr id="17" name="step 1 used on trophy" descr="/NAS/SJ/POSTECH/nlp/figs/icons/trophy.png">    </p:cNvPr>
          <p:cNvPicPr>
            <a:picLocks noChangeAspect="1"/>
          </p:cNvPicPr>
          <p:nvPr/>
        </p:nvPicPr>
        <p:blipFill>
          <a:blip r:embed="rId4"/>
          <a:stretch>
            <a:fillRect/>
          </a:stretch>
        </p:blipFill>
        <p:spPr>
          <a:xfrm>
            <a:off x="1335024" y="3401568"/>
            <a:ext cx="237744" cy="237744"/>
          </a:xfrm>
          <a:prstGeom prst="rect">
            <a:avLst/>
          </a:prstGeom>
        </p:spPr>
      </p:pic>
      <p:pic>
        <p:nvPicPr>
          <p:cNvPr id="18" name="step 1 used on truck" descr="/NAS/SJ/POSTECH/nlp/figs/icons/truck.png">    </p:cNvPr>
          <p:cNvPicPr>
            <a:picLocks noChangeAspect="1"/>
          </p:cNvPicPr>
          <p:nvPr/>
        </p:nvPicPr>
        <p:blipFill>
          <a:blip r:embed="rId5"/>
          <a:stretch>
            <a:fillRect/>
          </a:stretch>
        </p:blipFill>
        <p:spPr>
          <a:xfrm>
            <a:off x="1627632" y="3401568"/>
            <a:ext cx="237744" cy="237744"/>
          </a:xfrm>
          <a:prstGeom prst="rect">
            <a:avLst/>
          </a:prstGeom>
        </p:spPr>
      </p:pic>
      <p:pic>
        <p:nvPicPr>
          <p:cNvPr id="19" name="step 1 used on calc" descr="/NAS/SJ/POSTECH/nlp/figs/icons/calc.png">    </p:cNvPr>
          <p:cNvPicPr>
            <a:picLocks noChangeAspect="1"/>
          </p:cNvPicPr>
          <p:nvPr/>
        </p:nvPicPr>
        <p:blipFill>
          <a:blip r:embed="rId6"/>
          <a:stretch>
            <a:fillRect/>
          </a:stretch>
        </p:blipFill>
        <p:spPr>
          <a:xfrm>
            <a:off x="1920240" y="3401568"/>
            <a:ext cx="237744" cy="237744"/>
          </a:xfrm>
          <a:prstGeom prst="rect">
            <a:avLst/>
          </a:prstGeom>
        </p:spPr>
      </p:pic>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Hint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pic>
        <p:nvPicPr>
          <p:cNvPr id="25" name="step 2 used on shapes" descr="/NAS/SJ/POSTECH/nlp/figs/icons/shapes.png">    </p:cNvPr>
          <p:cNvPicPr>
            <a:picLocks noChangeAspect="1"/>
          </p:cNvPicPr>
          <p:nvPr/>
        </p:nvPicPr>
        <p:blipFill>
          <a:blip r:embed="rId7"/>
          <a:stretch>
            <a:fillRect/>
          </a:stretch>
        </p:blipFill>
        <p:spPr>
          <a:xfrm>
            <a:off x="3282696" y="3401568"/>
            <a:ext cx="237744" cy="237744"/>
          </a:xfrm>
          <a:prstGeom prst="rect">
            <a:avLst/>
          </a:prstGeom>
        </p:spPr>
      </p:pic>
      <p:pic>
        <p:nvPicPr>
          <p:cNvPr id="26" name="step 2 not needed on trophy" descr="/NAS/SJ/POSTECH/nlp/figs/icons/trophy.png">    </p:cNvPr>
          <p:cNvPicPr>
            <a:picLocks noChangeAspect="1"/>
          </p:cNvPicPr>
          <p:nvPr/>
        </p:nvPicPr>
        <p:blipFill>
          <a:blip r:embed="rId8">
            <a:alphaModFix amt="18000"/>
          </a:blip>
          <a:stretch>
            <a:fillRect/>
          </a:stretch>
        </p:blipFill>
        <p:spPr>
          <a:xfrm>
            <a:off x="3575304" y="3401568"/>
            <a:ext cx="237744" cy="237744"/>
          </a:xfrm>
          <a:prstGeom prst="rect">
            <a:avLst/>
          </a:prstGeom>
        </p:spPr>
      </p:pic>
      <p:pic>
        <p:nvPicPr>
          <p:cNvPr id="27" name="step 2 used on truck" descr="/NAS/SJ/POSTECH/nlp/figs/icons/truck.png">    </p:cNvPr>
          <p:cNvPicPr>
            <a:picLocks noChangeAspect="1"/>
          </p:cNvPicPr>
          <p:nvPr/>
        </p:nvPicPr>
        <p:blipFill>
          <a:blip r:embed="rId9"/>
          <a:stretch>
            <a:fillRect/>
          </a:stretch>
        </p:blipFill>
        <p:spPr>
          <a:xfrm>
            <a:off x="3867912" y="3401568"/>
            <a:ext cx="237744" cy="237744"/>
          </a:xfrm>
          <a:prstGeom prst="rect">
            <a:avLst/>
          </a:prstGeom>
        </p:spPr>
      </p:pic>
      <p:pic>
        <p:nvPicPr>
          <p:cNvPr id="28" name="step 2 used on calc" descr="/NAS/SJ/POSTECH/nlp/figs/icons/calc.png">    </p:cNvPr>
          <p:cNvPicPr>
            <a:picLocks noChangeAspect="1"/>
          </p:cNvPicPr>
          <p:nvPr/>
        </p:nvPicPr>
        <p:blipFill>
          <a:blip r:embed="rId10"/>
          <a:stretch>
            <a:fillRect/>
          </a:stretch>
        </p:blipFill>
        <p:spPr>
          <a:xfrm>
            <a:off x="4160520" y="3401568"/>
            <a:ext cx="237744" cy="237744"/>
          </a:xfrm>
          <a:prstGeom prst="rect">
            <a:avLst/>
          </a:prstGeom>
        </p:spPr>
      </p:pic>
      <p:sp>
        <p:nvSpPr>
          <p:cNvPr id="29"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30"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31"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32"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3" name="Shape 21"/>
          <p:cNvSpPr/>
          <p:nvPr/>
        </p:nvSpPr>
        <p:spPr>
          <a:xfrm>
            <a:off x="7132320" y="2670048"/>
            <a:ext cx="137160" cy="0"/>
          </a:xfrm>
          <a:prstGeom prst="line">
            <a:avLst/>
          </a:prstGeom>
          <a:noFill/>
          <a:ln w="25400">
            <a:solidFill>
              <a:srgbClr val="7F7F7F"/>
            </a:solidFill>
            <a:prstDash val="solid"/>
            <a:tailEnd type="triangle"/>
          </a:ln>
        </p:spPr>
      </p:sp>
      <p:pic>
        <p:nvPicPr>
          <p:cNvPr id="34" name="step 3 used on shapes" descr="/NAS/SJ/POSTECH/nlp/figs/icons/shapes.png">    </p:cNvPr>
          <p:cNvPicPr>
            <a:picLocks noChangeAspect="1"/>
          </p:cNvPicPr>
          <p:nvPr/>
        </p:nvPicPr>
        <p:blipFill>
          <a:blip r:embed="rId11"/>
          <a:stretch>
            <a:fillRect/>
          </a:stretch>
        </p:blipFill>
        <p:spPr>
          <a:xfrm>
            <a:off x="5522976" y="3401568"/>
            <a:ext cx="237744" cy="237744"/>
          </a:xfrm>
          <a:prstGeom prst="rect">
            <a:avLst/>
          </a:prstGeom>
        </p:spPr>
      </p:pic>
      <p:pic>
        <p:nvPicPr>
          <p:cNvPr id="35" name="step 3 used on trophy" descr="/NAS/SJ/POSTECH/nlp/figs/icons/trophy.png">    </p:cNvPr>
          <p:cNvPicPr>
            <a:picLocks noChangeAspect="1"/>
          </p:cNvPicPr>
          <p:nvPr/>
        </p:nvPicPr>
        <p:blipFill>
          <a:blip r:embed="rId12"/>
          <a:stretch>
            <a:fillRect/>
          </a:stretch>
        </p:blipFill>
        <p:spPr>
          <a:xfrm>
            <a:off x="5815584" y="3401568"/>
            <a:ext cx="237744" cy="237744"/>
          </a:xfrm>
          <a:prstGeom prst="rect">
            <a:avLst/>
          </a:prstGeom>
        </p:spPr>
      </p:pic>
      <p:pic>
        <p:nvPicPr>
          <p:cNvPr id="36" name="step 3 used on truck" descr="/NAS/SJ/POSTECH/nlp/figs/icons/truck.png">    </p:cNvPr>
          <p:cNvPicPr>
            <a:picLocks noChangeAspect="1"/>
          </p:cNvPicPr>
          <p:nvPr/>
        </p:nvPicPr>
        <p:blipFill>
          <a:blip r:embed="rId13"/>
          <a:stretch>
            <a:fillRect/>
          </a:stretch>
        </p:blipFill>
        <p:spPr>
          <a:xfrm>
            <a:off x="6108192" y="3401568"/>
            <a:ext cx="237744" cy="237744"/>
          </a:xfrm>
          <a:prstGeom prst="rect">
            <a:avLst/>
          </a:prstGeom>
        </p:spPr>
      </p:pic>
      <p:pic>
        <p:nvPicPr>
          <p:cNvPr id="37" name="step 3 used on calc" descr="/NAS/SJ/POSTECH/nlp/figs/icons/calc.png">    </p:cNvPr>
          <p:cNvPicPr>
            <a:picLocks noChangeAspect="1"/>
          </p:cNvPicPr>
          <p:nvPr/>
        </p:nvPicPr>
        <p:blipFill>
          <a:blip r:embed="rId14"/>
          <a:stretch>
            <a:fillRect/>
          </a:stretch>
        </p:blipFill>
        <p:spPr>
          <a:xfrm>
            <a:off x="6400800" y="3401568"/>
            <a:ext cx="237744" cy="237744"/>
          </a:xfrm>
          <a:prstGeom prst="rect">
            <a:avLst/>
          </a:prstGeom>
        </p:spPr>
      </p:pic>
      <p:sp>
        <p:nvSpPr>
          <p:cNvPr id="38"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9"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40"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41"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42" name="Shape 26"/>
          <p:cNvSpPr/>
          <p:nvPr/>
        </p:nvSpPr>
        <p:spPr>
          <a:xfrm>
            <a:off x="9372600" y="2670048"/>
            <a:ext cx="137160" cy="0"/>
          </a:xfrm>
          <a:prstGeom prst="line">
            <a:avLst/>
          </a:prstGeom>
          <a:noFill/>
          <a:ln w="25400">
            <a:solidFill>
              <a:srgbClr val="7F7F7F"/>
            </a:solidFill>
            <a:prstDash val="solid"/>
            <a:tailEnd type="triangle"/>
          </a:ln>
        </p:spPr>
      </p:sp>
      <p:pic>
        <p:nvPicPr>
          <p:cNvPr id="43" name="step 4 used on shapes" descr="/NAS/SJ/POSTECH/nlp/figs/icons/shapes.png">    </p:cNvPr>
          <p:cNvPicPr>
            <a:picLocks noChangeAspect="1"/>
          </p:cNvPicPr>
          <p:nvPr/>
        </p:nvPicPr>
        <p:blipFill>
          <a:blip r:embed="rId15"/>
          <a:stretch>
            <a:fillRect/>
          </a:stretch>
        </p:blipFill>
        <p:spPr>
          <a:xfrm>
            <a:off x="7763256" y="3401568"/>
            <a:ext cx="237744" cy="237744"/>
          </a:xfrm>
          <a:prstGeom prst="rect">
            <a:avLst/>
          </a:prstGeom>
        </p:spPr>
      </p:pic>
      <p:pic>
        <p:nvPicPr>
          <p:cNvPr id="44" name="step 4 used on trophy" descr="/NAS/SJ/POSTECH/nlp/figs/icons/trophy.png">    </p:cNvPr>
          <p:cNvPicPr>
            <a:picLocks noChangeAspect="1"/>
          </p:cNvPicPr>
          <p:nvPr/>
        </p:nvPicPr>
        <p:blipFill>
          <a:blip r:embed="rId16"/>
          <a:stretch>
            <a:fillRect/>
          </a:stretch>
        </p:blipFill>
        <p:spPr>
          <a:xfrm>
            <a:off x="8055864" y="3401568"/>
            <a:ext cx="237744" cy="237744"/>
          </a:xfrm>
          <a:prstGeom prst="rect">
            <a:avLst/>
          </a:prstGeom>
        </p:spPr>
      </p:pic>
      <p:pic>
        <p:nvPicPr>
          <p:cNvPr id="45" name="step 4 used on truck" descr="/NAS/SJ/POSTECH/nlp/figs/icons/truck.png">    </p:cNvPr>
          <p:cNvPicPr>
            <a:picLocks noChangeAspect="1"/>
          </p:cNvPicPr>
          <p:nvPr/>
        </p:nvPicPr>
        <p:blipFill>
          <a:blip r:embed="rId17"/>
          <a:stretch>
            <a:fillRect/>
          </a:stretch>
        </p:blipFill>
        <p:spPr>
          <a:xfrm>
            <a:off x="8348472" y="3401568"/>
            <a:ext cx="237744" cy="237744"/>
          </a:xfrm>
          <a:prstGeom prst="rect">
            <a:avLst/>
          </a:prstGeom>
        </p:spPr>
      </p:pic>
      <p:pic>
        <p:nvPicPr>
          <p:cNvPr id="46" name="step 4 used on calc" descr="/NAS/SJ/POSTECH/nlp/figs/icons/calc.png">    </p:cNvPr>
          <p:cNvPicPr>
            <a:picLocks noChangeAspect="1"/>
          </p:cNvPicPr>
          <p:nvPr/>
        </p:nvPicPr>
        <p:blipFill>
          <a:blip r:embed="rId18"/>
          <a:stretch>
            <a:fillRect/>
          </a:stretch>
        </p:blipFill>
        <p:spPr>
          <a:xfrm>
            <a:off x="8641080" y="3401568"/>
            <a:ext cx="237744" cy="237744"/>
          </a:xfrm>
          <a:prstGeom prst="rect">
            <a:avLst/>
          </a:prstGeom>
        </p:spPr>
      </p:pic>
      <p:sp>
        <p:nvSpPr>
          <p:cNvPr id="47"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48"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49"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50"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pic>
        <p:nvPicPr>
          <p:cNvPr id="51" name="step 5 not needed on shapes" descr="/NAS/SJ/POSTECH/nlp/figs/icons/shapes.png">    </p:cNvPr>
          <p:cNvPicPr>
            <a:picLocks noChangeAspect="1"/>
          </p:cNvPicPr>
          <p:nvPr/>
        </p:nvPicPr>
        <p:blipFill>
          <a:blip r:embed="rId19">
            <a:alphaModFix amt="18000"/>
          </a:blip>
          <a:stretch>
            <a:fillRect/>
          </a:stretch>
        </p:blipFill>
        <p:spPr>
          <a:xfrm>
            <a:off x="10003536" y="3401568"/>
            <a:ext cx="237744" cy="237744"/>
          </a:xfrm>
          <a:prstGeom prst="rect">
            <a:avLst/>
          </a:prstGeom>
        </p:spPr>
      </p:pic>
      <p:pic>
        <p:nvPicPr>
          <p:cNvPr id="52" name="step 5 not needed on trophy" descr="/NAS/SJ/POSTECH/nlp/figs/icons/trophy.png">    </p:cNvPr>
          <p:cNvPicPr>
            <a:picLocks noChangeAspect="1"/>
          </p:cNvPicPr>
          <p:nvPr/>
        </p:nvPicPr>
        <p:blipFill>
          <a:blip r:embed="rId20">
            <a:alphaModFix amt="18000"/>
          </a:blip>
          <a:stretch>
            <a:fillRect/>
          </a:stretch>
        </p:blipFill>
        <p:spPr>
          <a:xfrm>
            <a:off x="10296144" y="3401568"/>
            <a:ext cx="237744" cy="237744"/>
          </a:xfrm>
          <a:prstGeom prst="rect">
            <a:avLst/>
          </a:prstGeom>
        </p:spPr>
      </p:pic>
      <p:pic>
        <p:nvPicPr>
          <p:cNvPr id="53" name="step 5 used on truck" descr="/NAS/SJ/POSTECH/nlp/figs/icons/truck.png">    </p:cNvPr>
          <p:cNvPicPr>
            <a:picLocks noChangeAspect="1"/>
          </p:cNvPicPr>
          <p:nvPr/>
        </p:nvPicPr>
        <p:blipFill>
          <a:blip r:embed="rId21"/>
          <a:stretch>
            <a:fillRect/>
          </a:stretch>
        </p:blipFill>
        <p:spPr>
          <a:xfrm>
            <a:off x="10588752" y="3401568"/>
            <a:ext cx="237744" cy="237744"/>
          </a:xfrm>
          <a:prstGeom prst="rect">
            <a:avLst/>
          </a:prstGeom>
        </p:spPr>
      </p:pic>
      <p:pic>
        <p:nvPicPr>
          <p:cNvPr id="54" name="step 5 not needed on calc" descr="/NAS/SJ/POSTECH/nlp/figs/icons/calc.png">    </p:cNvPr>
          <p:cNvPicPr>
            <a:picLocks noChangeAspect="1"/>
          </p:cNvPicPr>
          <p:nvPr/>
        </p:nvPicPr>
        <p:blipFill>
          <a:blip r:embed="rId22">
            <a:alphaModFix amt="18000"/>
          </a:blip>
          <a:stretch>
            <a:fillRect/>
          </a:stretch>
        </p:blipFill>
        <p:spPr>
          <a:xfrm>
            <a:off x="10881360" y="3401568"/>
            <a:ext cx="237744" cy="237744"/>
          </a:xfrm>
          <a:prstGeom prst="rect">
            <a:avLst/>
          </a:prstGeom>
        </p:spPr>
      </p:pic>
      <p:sp>
        <p:nvSpPr>
          <p:cNvPr id="55" name="Text 31"/>
          <p:cNvSpPr txBox="1"/>
          <p:nvPr/>
        </p:nvSpPr>
        <p:spPr>
          <a:xfrm>
            <a:off x="548640" y="3730752"/>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56" name="Text 32"/>
          <p:cNvSpPr txBox="1"/>
          <p:nvPr/>
        </p:nvSpPr>
        <p:spPr>
          <a:xfrm>
            <a:off x="2834640" y="406908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7" name="Text 33"/>
          <p:cNvSpPr txBox="1"/>
          <p:nvPr/>
        </p:nvSpPr>
        <p:spPr>
          <a:xfrm>
            <a:off x="3749040" y="406908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8" name="Text 34"/>
          <p:cNvSpPr txBox="1"/>
          <p:nvPr/>
        </p:nvSpPr>
        <p:spPr>
          <a:xfrm>
            <a:off x="548640" y="443484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59" name="Text 35"/>
          <p:cNvSpPr txBox="1"/>
          <p:nvPr/>
        </p:nvSpPr>
        <p:spPr>
          <a:xfrm>
            <a:off x="2834640" y="443484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60" name="tokens think on hardest-looking"/>
          <p:cNvSpPr/>
          <p:nvPr/>
        </p:nvSpPr>
        <p:spPr>
          <a:xfrm>
            <a:off x="3749040" y="4535424"/>
            <a:ext cx="2468880" cy="256032"/>
          </a:xfrm>
          <a:prstGeom prst="rect">
            <a:avLst/>
          </a:prstGeom>
          <a:solidFill>
            <a:srgbClr val="7F7F7F"/>
          </a:solidFill>
          <a:ln w="6350">
            <a:solidFill>
              <a:srgbClr val="7F7F7F"/>
            </a:solidFill>
            <a:prstDash val="solid"/>
          </a:ln>
        </p:spPr>
      </p:sp>
      <p:sp>
        <p:nvSpPr>
          <p:cNvPr id="61" name="Text 37"/>
          <p:cNvSpPr txBox="1"/>
          <p:nvPr/>
        </p:nvSpPr>
        <p:spPr>
          <a:xfrm>
            <a:off x="6309360" y="443484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2" name="Text 38"/>
          <p:cNvSpPr txBox="1"/>
          <p:nvPr/>
        </p:nvSpPr>
        <p:spPr>
          <a:xfrm>
            <a:off x="548640" y="496519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3" name="Text 39"/>
          <p:cNvSpPr txBox="1"/>
          <p:nvPr/>
        </p:nvSpPr>
        <p:spPr>
          <a:xfrm>
            <a:off x="2834640" y="49651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4" name="tokens ours, hand-written hint"/>
          <p:cNvSpPr/>
          <p:nvPr/>
        </p:nvSpPr>
        <p:spPr>
          <a:xfrm>
            <a:off x="3749040" y="5065776"/>
            <a:ext cx="1505415" cy="256032"/>
          </a:xfrm>
          <a:prstGeom prst="rect">
            <a:avLst/>
          </a:prstGeom>
          <a:solidFill>
            <a:srgbClr val="4472C4"/>
          </a:solidFill>
          <a:ln w="6350">
            <a:solidFill>
              <a:srgbClr val="4472C4"/>
            </a:solidFill>
            <a:prstDash val="solid"/>
          </a:ln>
        </p:spPr>
      </p:sp>
      <p:sp>
        <p:nvSpPr>
          <p:cNvPr id="65" name="Text 41"/>
          <p:cNvSpPr txBox="1"/>
          <p:nvPr/>
        </p:nvSpPr>
        <p:spPr>
          <a:xfrm>
            <a:off x="5345895" y="49651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6" name="Text 42"/>
          <p:cNvSpPr txBox="1"/>
          <p:nvPr/>
        </p:nvSpPr>
        <p:spPr>
          <a:xfrm>
            <a:off x="7498080" y="37307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67" name="Text 43"/>
          <p:cNvSpPr txBox="1"/>
          <p:nvPr/>
        </p:nvSpPr>
        <p:spPr>
          <a:xfrm>
            <a:off x="7498080" y="4169664"/>
            <a:ext cx="4114800" cy="457200"/>
          </a:xfrm>
          <a:prstGeom prst="rect">
            <a:avLst/>
          </a:prstGeom>
          <a:noFill/>
          <a:ln/>
        </p:spPr>
        <p:txBody>
          <a:bodyPr wrap="square" lIns="0" tIns="0" rIns="0" bIns="0" rtlCol="0" anchor="t"/>
          <a:lstStyle/>
          <a:p>
            <a:pPr indent="0" marL="0">
              <a:buNone/>
            </a:pPr>
            <a:r>
              <a:rPr lang="en-US" sz="1400" dirty="0">
                <a:solidFill>
                  <a:schemeClr val="tx1"/>
                </a:solidFill>
              </a:rPr>
              <a:t>the hint found automatically (its own earlier checked program) = a hand-written hint, on new problems</a:t>
            </a:r>
            <a:endParaRPr lang="en-US" sz="1400" dirty="0"/>
          </a:p>
        </p:txBody>
      </p:sp>
      <p:sp>
        <p:nvSpPr>
          <p:cNvPr id="68" name="Text 44"/>
          <p:cNvSpPr txBox="1"/>
          <p:nvPr/>
        </p:nvSpPr>
        <p:spPr>
          <a:xfrm>
            <a:off x="7498080" y="46451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69" name="Text 45"/>
          <p:cNvSpPr txBox="1"/>
          <p:nvPr/>
        </p:nvSpPr>
        <p:spPr>
          <a:xfrm>
            <a:off x="7498080" y="5084064"/>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70"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hint: the model's own checked program;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19).</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2026-10-19T18:28:11Z</dcterms:created>
  <dcterms:modified xsi:type="dcterms:W3CDTF">2026-10-19T18:28:11Z</dcterms:modified>
</cp:coreProperties>
</file>