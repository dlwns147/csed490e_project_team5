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3.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4.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199d0fb3-3911-dfbd-0f1f-56eae52baec3}">
          <p14:sldIdLst>
            <p14:sldId id="256"/>
            <p14:sldId id="257"/>
            <p14:sldId id="258"/>
            <p14:sldId id="259"/>
            <p14:sldId id="260"/>
            <p14:sldId id="261"/>
            <p14:sldId id="262"/>
            <p14:sldId id="263"/>
            <p14:sldId id="264"/>
          </p14:sldIdLst>
        </p14:section>
        <p14:section name="Extra pages" id="{104f1de4-a923-5024-c565-a396ff4f7f48}">
          <p14:sldIdLst>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(15초) 안녕하세요, 5조입니다. LLM으로 계산 수학 문제를 정확하고 싸게 푸는 방법을 제안합니다. 질문은 하나입니다. 추가 노력을 사실, 검사, 생각 중 어디에 써야 할까요?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저희가 푸는 문제는 다섯 종류입니다. 기하 계산, Codeforces 기하 문제, 배송 경로, 최적화 문장제, 그리고 확장으로 경시 수학과 증명입니다. 쉽지 않습니다. 경시 문제의 중앙값은 Codeforces Master 수준이고, AIME는 고등학생 상위 5% 정도가 치는 시험입니다. 이 문제들을 고른 이유는, 답이 정확히 하나라 코드로 채점할 수 있고, 종류마다 필요한 것이 달라서 추가 노력을 어디에 써야 할지 비교할 수 있기 때문입니다. 기하와 경시는 맞는 알고리즘이, 경로와 문장제는 솔버를 맞게 부르는 법이 필요합니다. 공개 모델 Qwen3와 gpt-oss로 맞힌 문제 수와 토큰 수를 함께 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(20초) LLM은 말로 답할 수도 있고, 프로그램을 짤 수도 있습니다. Qwen3-8B에게 같은 도형의 넓이의 두 배를 물었습니다. 옮기고 돌리고 뒤집어도 답은 436입니다. 말로 답하면 매번 다른 답이 나오지만, 프로그램은 네 번 모두 436입니다. 계산에는 프로그램이 맞는 도구입니다.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하지만 두 가지 문제가 있습니다. 첫째, 프로그램은 조용히 틀립니다. 같은 문제인데 프롬프트에 보조 코드만 더하면 6 대신 0을 출력하고, 에러 메시지도 없습니다. 없는 라이브러리 함수를 불러서 죽기도 합니다. 둘째, 오래 생각하면 비쌉니다. 경시 문제 311개에서 gpt-oss-120b는 오래 생각하면 57%에서 66%로 오르지만, 토큰은 4.4배를 씁니다. 그래서 질문입니다. 추가 노력을 빠진 사실, 공짜 검사, 더 많은 생각 중 어디에 써야 할까요?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첫 번째 발견입니다. 매뉴얼이 아니라 사실을 주세요. Qwen3-32B가 OR-Tools로 배송 경로 프로그램을 짭니다. 긴 참조 문서를 주면 존재하지 않는 함수를 불러서 죽고, 정확한 사용법 열한 줄을 주면 최적 경로를 찾습니다. 경로 문제 30개에서 최적해를 찾는 비율은 아무것도 안 주면 23%, 오래 생각하면 오히려 3%, 긴 참조 문서는 7%, 정확한 사용법은 77에서 90%입니다. 최적화 문장제와 기하에서도 같았습니다. 모르는 사실은 생각한다고 생기지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두 번째 발견입니다. 공짜 검사가 실패할 때만 생각하게 하세요. 검사 A는 문제에 적힌 예제입니다. 예제를 통과하면 바로 제출하고, 틀리면 그 문제만 더 생각합니다. 예제만 쓰면 65%로 조금 낮고, 모든 경우를 다 따져 보는 짧은 프로그램과도 답을 맞춰 보면 66%가 됩니다. 검사 B는 프로그램을 두 버전으로 짜서, 답이 다를 때만 생각합니다. 두 경우 모두 항상 생각할 때와 정확도는 같고, 토큰은 18에서 27% 적습니다. 두 검사 모두 정답이 필요 없고, 기하, 경시, 경로, 문장제에서 모두 통했습니다.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(55초) 두 발견을 합친 것이 저희 방법입니다. 실제 최적화 문제로 보겠습니다. 1단계, 모델이 없는 메서드를 불러서 죽습니다. 2단계, 사실을 줍니다. 이 사실은 사람이 쓴 것이 아니라, 모델이 다른 문제에서 짜서 검사를 통과한 자기 프로그램에서 자동으로 가져옵니다. 3단계, 두 버전의 답이 20000으로 같으니, 4단계 생각은 건너뜁니다. 생각만 했다면 5.3k 토큰이 들었을 문제를 0.6k로 풉니다. 5단계, 같은 종류의 새 데이터에는 검사된 프로그램을 재사용합니다. 기하와 최적화 208문제를 세 모델로 풀면, 어려워 보이는 문제에 생각을 몰아주면 74%, 저희 방법은 87%이고 토큰도 더 적습니다. 처음 써 본 문장제 벤치마크에서도, 자동으로 찾은 사실이 사람이 쓴 사실과 같은 79%였습니다.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새로운 점은 세 가지입니다. 학습 없이, 공짜 검사가 실패할 때만 생각합니다. 정답 없이, 모델 자신의 검사된 프로그램을 사실로 줍니다. 그리고 특화 모델을 파인튜닝하지 않고도, 24GB GPU 한 장으로 같은 정확도를 냅니다. 다음으로는 더 많은 모델로 검증을 마치고, 검사로 못 잡는 오류, 즉 실행은 되지만 문제를 잘못 모델링한 프로그램을 다루겠습니다. 정리하면, 빠진 사실을 먼저 주고, 공짜 검사가 실패한 곳에서만 생각하게 하자는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(10초) 감사합니다. 질문 받겠습니다. 예상 질문마다 보충 슬라이드를 준비했으니, 번호를 누르면 바로 넘어갑니다.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 이유입니다. 답이 정확히 하나라 코드로 채점할 수 있고, 정답 없이 쓸 수 있는 검사가 있으며, 실제 코딩 에이전트가 이미 경로 계획, 스케줄러, 기하 코드를 씁니다. 그리고 종류마다 필요한 것이 다릅니다. 기하와 경시는 맞는 알고리즘이 필요하고, 둘의 차이는 난이도입니다. 경로와 문장제는 솔버 라이브러리를 맞게 부르는 사실이 필요하고, 문장제는 글을 수식으로 옮기는 단계가 더 있습니다. 그래서 추가 노력을 사실, 검사, 생각 중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아니요, 모든 결과를 다섯 종류 전부에서 잰 것은 아닙니다. 사실 주기는 기하, 경로, 문장제에서, 공짜 검사는 기하, 경시, 경로, 문장제에서 확인했습니다. 전체 방법의 87% 대 74%는 기하 108문제와 최적화 100문제를 세 모델로 푼 결과입니다. 경시 수학은 말로 답해도 충분하고, 증명은 특화된 증명 모델이 필요해서 이 방법의 범위 밖입니다.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 기준으로 보면, 경시 문제 311개의 Codeforces 레이팅 중앙값은 2200으로 Master 수준이고, 46%는 Grandmaster 수준인 2400 이상입니다. 그 구간에서는 gpt-oss-120b도 48%만 풉니다. 경로 문제는 단순한 탐욕 계획이 최선보다 48% 길고, AIME는 AMC 응시자 중 상위 2.5에서 5%만 초대받는 시험입니다.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항상은 아닙니다. 답을 계산해야 하는 문제에서는 말로 답하면 8개 복사본 중 1개만 맞고, 프로그램은 8개 모두 맞습니다. 하지만 짧은 답의 경시 수학인 MATH-500에서는 말이 98.3%로 프로그램 86.8%보다 낫습니다. 거기서는 프로그램을 두 번째 의견으로 씁니다. 말과 프로그램이 일치하면 틀린 경우가 0.3%뿐이고, 말 두 개가 일치할 때는 1.5%입니다.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보조 코드를 주면 모델이 그 함수에 맞춰 방법을 짭니다. 이 예에서는 필요 없는 polar_sort로 각도 정렬을 하다가 0을 출력했습니다. 기하 108문제에서 보조 코드가 있으면 59%, 없으면 77%입니다. 두 버전을 모두 짜서 답이 다를 때만 생각하면 99%를 4.3k 토큰에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사실은 라이브러리를 어떻게 부르는지, 즉 함수 이름과 인자를 보여 주는 11줄짜리 코드 조각입니다. 같은 종류의 30문제에 똑같이 붙이고, 경로나 숫자나 정답은 들어 있지 않습니다. 긴 참조 문서가 아무것도 안 준 것보다 나쁜 이유는, 경로 설명은 있지만 용량 규칙이 없어서 모델이 빈 곳을 없는 함수로 채우기 때문입니다. 10개 프로그램이 RegisterUnaryLongLivingCallback을 불렀습니다.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제목이 붙은 코드 조각 라이브러리에서 BM25로 찾으면, 최적화 6문제에서 손으로 쓴 사실과 같은 수준입니다. 97% 대 96%입니다. 다만 비슷하지만 다른 문서가 섞이면 손해가 큽니다. 경로 문제에서 TSP 문서가 함께 들어오면 83%에서 57%로 떨어집니다. 문서가 아예 없으면 모델 자신의 검사된 프로그램을 사실로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모르는 함수를 생각하는 동안 지어내기 때문입니다. Qwen3-32B는 문장제에서 생각을 켜면 65.4%에서 52.0%로 떨어지는데, 존재하지 않는 Objective().SetMaximize를 부릅니다. 정확한 사용법을 먼저 주면 생각이 도움이 되어 72%가 되고, 실패할 때만 생각하면 같은 정확도를 1.3k 토큰에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생깁니다. 경시 문제에서는 틀린 프로그램의 24에서 37%가 예제를 통과하고, 문장제에서는 12에서 16%가 두 프로그램이 같은 오답을 냅니다. 하지만 이런 문제를 완벽한 검사로 모두 생각에 보내도 생각이 7에서 16%만 고치기 때문에, 14B 이상 모델에서는 1에서 3점밖에 오르지 않습니다. 일부는 정답 레이블 자체가 틀렸습니다. 그래서 다음 목표는 실행은 되지만 문제를 잘못 모델링한 프로그램입니다.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저희가 다룬 문제에는 모두 정답 없이 쓸 수 있는 검사가 있습니다. 경시는 예제와 모든 경우를 따지는 짧은 프로그램, 기하는 입력을 옮기거나 돌려도 답이 같아야 한다는 검사나 두 버전의 일치, 경로는 계획이 모든 규칙을 지키는지 코드로 확인, 문장제는 두 프로그램의 일치, 경시 수학은 말과 프로그램의 일치, 증명은 Lean의 검사입니다. 검사가 얼마나 잡아내느냐가 생각을 얼마나 아낄지를 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사람이 쓰지 않습니다. 모델이 다른 문제에서 짜서 공짜 검사를 통과한 자기 프로그램 중 가장 짧은 것을 사실로 붙입니다. 끝까지 쓰지 않고 남겨 둔 MAMO 863문제에서 세 모델 모두 사람이 쓴 사실과 약 2점 안에 들었습니다. 단, 다른 종류의 문제에서 가져온 프로그램은 오히려 14에서 21점 손해이고, 라이브러리 이름 목록만 주면 66%에서 56%로 떨어집니다.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오히려 강한 기준선을 만들어 봤습니다. 각 문제의 실제 Codeforces 레이팅을 알려 주고 어려운 문제만 높은 노력으로 보내도 예제 검사보다 못합니다. 레이팅 2600 이상만 보내면 61.4%, 1800 이상이면 65.3%인데 토큰이 27.8k로, 예제 검사의 65.0%, 20.2k보다 비쌉니다. 이 분석은 탐색적이라 사전 등록은 하지 않았습니다. 기하와 최적화에서도 난이도 기준 배분은 74%, 저희 방법은 87%입니다.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문제와 같은 모델로 기존 방법을 직접 돌려 비교했습니다. 난이도별 생각 배분은 74%, 4.1k 대 저희 87%, 2.5k이고, 항상 높은 노력은 66.2%, 30.1k 대 66.3%, 24.7k이고, 모델이 테스트를 쓰는 CodeT는 96.0% 대 대칭 검사 99.7%입니다. 특화 모델 ORLM-8B의 69.5%는 학습 없는 Qwen3-8B도 같은 69.5%입니다. 저희 방법은 더 정확하거나, 더 싸거나, 둘 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관련 연구는 여덟 갈래입니다. 텍스트 대신 프로그램, 코드용 라이브러리 문서, 오도하는 문맥, 프로그램 고르기, 테스트 시간 계산 배분, 최적화 모델링, 한 프로그램 재사용, 그리고 증명입니다. 저희가 더하는 것은 실패 원인에 맞춰 사실과 공짜 검사를 먼저 쓰고, 학습도 정답도 없이 생각을 아끼는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논문 수치와 나란히 놓으면, MAMO Easy에서 학습 없는 Qwen3-14B가 82.8%로 파인튜닝한 ORLM의 82.3%와 비슷하고, gpt-oss-20b는 85.6%입니다. 프런티어 모델을 쓰는 OptiSkill의 90.8에서 94.3%보다는 낮습니다. miniF2F에서 Goedel-Prover-V2-8B는 논문 84.6%, 저희 환경에서 76.6%입니다. 평가 환경이 달라서 참고용입니다.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다수결은 많이 나온 답을 고르고, 검사는 맞는 답을 고릅니다. 기하에서 세 프로그램 중 하나를 고를 때 다수결은 4.3% 틀리고, 대칭 검사는 0.3%만 틀립니다. 문장제에서 생각 세 번의 다수결은 79.4%로 저희보다 7점 높지만, 토큰이 16.4k로 12배입니다. MATH-500에서는 말 답 세 개의 다수결 89.2%보다 말과 프로그램 일치 검사가 97.2%로 높습니다.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가지를 확인했습니다. 첫째, 입력 토큰입니다. 사실 조각은 입력을 213토큰 늘리고, 입력은 출력보다 싸고 캐시되므로 결론이 바뀌지 않습니다. 다만 프로그램을 돌리는 CPU 시간은 세지 않았습니다. 둘째, 암기입니다. 같은 난이도에서 오래된 대회와 최근 대회의 정답률이 81% 대 83%로 차이가 없고, MAMO는 끝까지 쓰지 않았으며, 모든 방법이 같은 모델을 씁니다. 셋째, 작은 차이는 '더 낫다'가 아니라 '같은 정확도에 더 적은 토큰'이라고만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작은 모델일수록 효과가 큽니다. 문장제 345문제에서 사실 하나로 Qwen3-1.7B는 44점, 4B는 31점 오르고, 32B는 1점 오릅니다. 그래서 24GB GPU 한 장에 들어가는 gpt-oss-20b가 사실과 함께 73%로, Qwen3-32B의 72%를 토큰 8분의 1로 따라잡습니다.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기하와 최적화 208문제를 세 모델로 푼 정책 비교입니다. 사실을 먼저 주고 실패할 때만 생각하는 정책이 87%, 2.5k로 가장 정확하고 가장 싼 편입니다. 새 과제라면 30문제만 라벨링해서 네 정책 중 고르면, 63개 설정에서 최선 대비 손실이 0.6점입니다. 이 정책을 기본값으로 쓰면 1.4점, 항상 생각하면 8.4점 손해입니다.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증명은 사실이 아니라 기술이 부족합니다. miniF2F 244문제에서 특화 증명 모델 Goedel-Prover-V2-8B가 74%를 증명하고, 일반 모델은 13에서 55%입니다. 일반 모델에는 비슷한 문제의 증명, 생각, 부등식 도구 모음 모두 도움이 되지 않았습니다. 이 8B 모델은 24GB GPU 한 장에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방법이 멈추는 곳은 네 가지입니다. 증명, 다른 종류의 문제 사이의 자동 사실, 예제를 통과하는 틀린 프로그램, 그리고 세계 지식이 필요한 문제입니다. 다음으로는 MAMO 검증을 더 많은 모델로 마치고, 검사로 못 잡는 문제 모델링 오류를 다루고, 문제 종류마다 자동 사실을 찾겠습니다.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종류의 문제가 데이터만 바뀌어 반복되면, 검사된 프로그램 하나를 재사용합니다. 배송 경로 48일 동안 매일 새 프로그램을 쓰면 7%의 날만 유효하고 86k 토큰이 듭니다. 16개 프로그램을 한 번 쓰고 지난 8일에 유효한 것을 재사용하면 94%의 날이 유효하고 모두 28k 토큰입니다. 4배 큰 입력에서도 통했고, 규칙이 바뀌면 모델에게 고치게 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모델은 Qwen3 1.7B에서 32B, Qwen3.6-35B, gpt-oss-20b와 120b, 증명용 Goedel과 DeepSeek-Prover이고 모두 직접 돌렸습니다. 채점은 정확히 맞았는지만 보고, 모든 결과에 토큰 비용을 함께 적습니다. 예측을 먼저 적고 한 번에 하나만 바꾸며 3개 시드로 확인했습니다. GPU는 96GB 한 장이고, 작은 모델은 24GB 한 장에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2.png"/><Relationship Id="rId4" Type="http://schemas.openxmlformats.org/officeDocument/2006/relationships/image" Target="../media/image-4-2.png"/><Relationship Id="rId5" Type="http://schemas.openxmlformats.org/officeDocument/2006/relationships/image" Target="../media/image-4-2.png"/><Relationship Id="rId6" Type="http://schemas.openxmlformats.org/officeDocument/2006/relationships/image" Target="../media/image-4-2.png"/><Relationship Id="rId7" Type="http://schemas.openxmlformats.org/officeDocument/2006/relationships/image" Target="../media/image-4-2.png"/><Relationship Id="rId8" Type="http://schemas.openxmlformats.org/officeDocument/2006/relationships/image" Target="../media/image-4-2.png"/><Relationship Id="rId9" Type="http://schemas.openxmlformats.org/officeDocument/2006/relationships/image" Target="../media/image-4-2.png"/><Relationship Id="rId10" Type="http://schemas.openxmlformats.org/officeDocument/2006/relationships/image" Target="../media/image-4-2.png"/><Relationship Id="rId11" Type="http://schemas.openxmlformats.org/officeDocument/2006/relationships/image" Target="../media/image-4-2.png"/><Relationship Id="rId12" Type="http://schemas.openxmlformats.org/officeDocument/2006/relationships/image" Target="../media/image-4-12.png"/><Relationship Id="rId13" Type="http://schemas.openxmlformats.org/officeDocument/2006/relationships/image" Target="../media/image-4-12.png"/><Relationship Id="rId14" Type="http://schemas.openxmlformats.org/officeDocument/2006/relationships/image" Target="../media/image-4-12.png"/><Relationship Id="rId15" Type="http://schemas.openxmlformats.org/officeDocument/2006/relationships/image" Target="../media/image-4-12.png"/><Relationship Id="rId16" Type="http://schemas.openxmlformats.org/officeDocument/2006/relationships/image" Target="../media/image-4-12.png"/><Relationship Id="rId17" Type="http://schemas.openxmlformats.org/officeDocument/2006/relationships/image" Target="../media/image-4-12.png"/><Relationship Id="rId18" Type="http://schemas.openxmlformats.org/officeDocument/2006/relationships/image" Target="../media/image-4-12.png"/><Relationship Id="rId19" Type="http://schemas.openxmlformats.org/officeDocument/2006/relationships/image" Target="../media/image-4-12.png"/><Relationship Id="rId20" Type="http://schemas.openxmlformats.org/officeDocument/2006/relationships/image" Target="../media/image-4-12.png"/><Relationship Id="rId21" Type="http://schemas.openxmlformats.org/officeDocument/2006/relationships/image" Target="../media/image-4-12.png"/><Relationship Id="rId22" Type="http://schemas.openxmlformats.org/officeDocument/2006/relationships/image" Target="../media/image-4-12.png"/><Relationship Id="rId23" Type="http://schemas.openxmlformats.org/officeDocument/2006/relationships/image" Target="../media/image-4-12.png"/><Relationship Id="rId24" Type="http://schemas.openxmlformats.org/officeDocument/2006/relationships/image" Target="../media/image-4-12.png"/><Relationship Id="rId25" Type="http://schemas.openxmlformats.org/officeDocument/2006/relationships/image" Target="../media/image-4-12.png"/><Relationship Id="rId26" Type="http://schemas.openxmlformats.org/officeDocument/2006/relationships/image" Target="../media/image-4-12.png"/><Relationship Id="rId27" Type="http://schemas.openxmlformats.org/officeDocument/2006/relationships/image" Target="../media/image-4-12.png"/><Relationship Id="rId28" Type="http://schemas.openxmlformats.org/officeDocument/2006/relationships/image" Target="../media/image-4-12.png"/><Relationship Id="rId29" Type="http://schemas.openxmlformats.org/officeDocument/2006/relationships/image" Target="../media/image-4-12.png"/><Relationship Id="rId30" Type="http://schemas.openxmlformats.org/officeDocument/2006/relationships/image" Target="../media/image-4-12.png"/><Relationship Id="rId31" Type="http://schemas.openxmlformats.org/officeDocument/2006/relationships/image" Target="../media/image-4-12.png"/><Relationship Id="rId32" Type="http://schemas.openxmlformats.org/officeDocument/2006/relationships/image" Target="../media/image-4-12.png"/><Relationship Id="rId33" Type="http://schemas.openxmlformats.org/officeDocument/2006/relationships/image" Target="../media/image-4-12.png"/><Relationship Id="rId34" Type="http://schemas.openxmlformats.org/officeDocument/2006/relationships/image" Target="../media/image-4-12.png"/><Relationship Id="rId35" Type="http://schemas.openxmlformats.org/officeDocument/2006/relationships/image" Target="../media/image-4-12.png"/><Relationship Id="rId36" Type="http://schemas.openxmlformats.org/officeDocument/2006/relationships/image" Target="../media/image-4-12.png"/><Relationship Id="rId37" Type="http://schemas.openxmlformats.org/officeDocument/2006/relationships/image" Target="../media/image-4-12.png"/><Relationship Id="rId38" Type="http://schemas.openxmlformats.org/officeDocument/2006/relationships/image" Target="../media/image-4-12.png"/><Relationship Id="rId39" Type="http://schemas.openxmlformats.org/officeDocument/2006/relationships/image" Target="../media/image-4-12.png"/><Relationship Id="rId40" Type="http://schemas.openxmlformats.org/officeDocument/2006/relationships/image" Target="../media/image-4-12.png"/><Relationship Id="rId41" Type="http://schemas.openxmlformats.org/officeDocument/2006/relationships/image" Target="../media/image-4-12.png"/><Relationship Id="rId42" Type="http://schemas.openxmlformats.org/officeDocument/2006/relationships/image" Target="../media/image-4-12.png"/><Relationship Id="rId43" Type="http://schemas.openxmlformats.org/officeDocument/2006/relationships/image" Target="../media/image-4-12.png"/><Relationship Id="rId44" Type="http://schemas.openxmlformats.org/officeDocument/2006/relationships/image" Target="../media/image-4-12.png"/><Relationship Id="rId45" Type="http://schemas.openxmlformats.org/officeDocument/2006/relationships/image" Target="../media/image-4-12.png"/><Relationship Id="rId46" Type="http://schemas.openxmlformats.org/officeDocument/2006/relationships/image" Target="../media/image-4-12.png"/><Relationship Id="rId47" Type="http://schemas.openxmlformats.org/officeDocument/2006/relationships/image" Target="../media/image-4-12.png"/><Relationship Id="rId48" Type="http://schemas.openxmlformats.org/officeDocument/2006/relationships/image" Target="../media/image-4-12.png"/><Relationship Id="rId49" Type="http://schemas.openxmlformats.org/officeDocument/2006/relationships/image" Target="../media/image-4-12.png"/><Relationship Id="rId50" Type="http://schemas.openxmlformats.org/officeDocument/2006/relationships/image" Target="../media/image-4-12.png"/><Relationship Id="rId51" Type="http://schemas.openxmlformats.org/officeDocument/2006/relationships/image" Target="../media/image-4-12.png"/><Relationship Id="rId52" Type="http://schemas.openxmlformats.org/officeDocument/2006/relationships/image" Target="../media/image-4-12.png"/><Relationship Id="rId53" Type="http://schemas.openxmlformats.org/officeDocument/2006/relationships/image" Target="../media/image-4-12.png"/><Relationship Id="rId54" Type="http://schemas.openxmlformats.org/officeDocument/2006/relationships/image" Target="../media/image-4-12.png"/><Relationship Id="rId55" Type="http://schemas.openxmlformats.org/officeDocument/2006/relationships/image" Target="../media/image-4-55.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slideLayout" Target="../slideLayouts/slideLayout3.xml"/><Relationship Id="rId5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3.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2.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slideLayout" Target="../slideLayouts/slideLayout3.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3.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slideLayout" Target="../slideLayouts/slideLayout3.xml"/><Relationship Id="rId8"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POSTECH CSED490E (Graduate NLP) · Team 5</a:t>
            </a:r>
            <a:endParaRPr lang="en-US" sz="2200" dirty="0"/>
          </a:p>
        </p:txBody>
      </p:sp>
      <p:sp>
        <p:nvSpPr>
          <p:cNvPr id="4" name="choice a missing fact"/>
          <p:cNvSpPr/>
          <p:nvPr/>
        </p:nvSpPr>
        <p:spPr>
          <a:xfrm>
            <a:off x="3145536" y="4892040"/>
            <a:ext cx="1874520" cy="502920"/>
          </a:xfrm>
          <a:prstGeom prst="roundRect">
            <a:avLst>
              <a:gd name="adj" fmla="val 36364"/>
            </a:avLst>
          </a:prstGeom>
          <a:solidFill>
            <a:srgbClr val="E2F0D9"/>
          </a:solidFill>
          <a:ln w="12700">
            <a:solidFill>
              <a:srgbClr val="38761D"/>
            </a:solidFill>
            <a:prstDash val="solid"/>
          </a:ln>
        </p:spPr>
      </p:sp>
      <p:pic>
        <p:nvPicPr>
          <p:cNvPr id="5" name="choice icon fact" descr="/NAS/SJ/POSTECH/nlp/figs/icons/fact.png">    </p:cNvPr>
          <p:cNvPicPr>
            <a:picLocks noChangeAspect="1"/>
          </p:cNvPicPr>
          <p:nvPr/>
        </p:nvPicPr>
        <p:blipFill>
          <a:blip r:embed="rId1"/>
          <a:stretch>
            <a:fillRect/>
          </a:stretch>
        </p:blipFill>
        <p:spPr>
          <a:xfrm>
            <a:off x="3255264" y="4978908"/>
            <a:ext cx="329184" cy="329184"/>
          </a:xfrm>
          <a:prstGeom prst="rect">
            <a:avLst/>
          </a:prstGeom>
        </p:spPr>
      </p:pic>
      <p:sp>
        <p:nvSpPr>
          <p:cNvPr id="6" name="Text 3"/>
          <p:cNvSpPr txBox="1"/>
          <p:nvPr/>
        </p:nvSpPr>
        <p:spPr>
          <a:xfrm>
            <a:off x="3648456" y="4892040"/>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missing fact</a:t>
            </a:r>
            <a:endParaRPr lang="en-US" sz="1500" dirty="0"/>
          </a:p>
        </p:txBody>
      </p:sp>
      <p:sp>
        <p:nvSpPr>
          <p:cNvPr id="7" name="choice a free check"/>
          <p:cNvSpPr/>
          <p:nvPr/>
        </p:nvSpPr>
        <p:spPr>
          <a:xfrm>
            <a:off x="5157216" y="4892040"/>
            <a:ext cx="1874520" cy="502920"/>
          </a:xfrm>
          <a:prstGeom prst="roundRect">
            <a:avLst>
              <a:gd name="adj" fmla="val 36364"/>
            </a:avLst>
          </a:prstGeom>
          <a:solidFill>
            <a:srgbClr val="E2F0D9"/>
          </a:solidFill>
          <a:ln w="12700">
            <a:solidFill>
              <a:srgbClr val="38761D"/>
            </a:solidFill>
            <a:prstDash val="solid"/>
          </a:ln>
        </p:spPr>
      </p:sp>
      <p:pic>
        <p:nvPicPr>
          <p:cNvPr id="8" name="choice icon check" descr="/NAS/SJ/POSTECH/nlp/figs/icons/check.png">    </p:cNvPr>
          <p:cNvPicPr>
            <a:picLocks noChangeAspect="1"/>
          </p:cNvPicPr>
          <p:nvPr/>
        </p:nvPicPr>
        <p:blipFill>
          <a:blip r:embed="rId2"/>
          <a:stretch>
            <a:fillRect/>
          </a:stretch>
        </p:blipFill>
        <p:spPr>
          <a:xfrm>
            <a:off x="5266944" y="4978908"/>
            <a:ext cx="329184" cy="329184"/>
          </a:xfrm>
          <a:prstGeom prst="rect">
            <a:avLst/>
          </a:prstGeom>
        </p:spPr>
      </p:pic>
      <p:sp>
        <p:nvSpPr>
          <p:cNvPr id="9" name="Text 5"/>
          <p:cNvSpPr txBox="1"/>
          <p:nvPr/>
        </p:nvSpPr>
        <p:spPr>
          <a:xfrm>
            <a:off x="5660136" y="4892040"/>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10" name="choice more thinking"/>
          <p:cNvSpPr/>
          <p:nvPr/>
        </p:nvSpPr>
        <p:spPr>
          <a:xfrm>
            <a:off x="7168896" y="4892040"/>
            <a:ext cx="1874520" cy="502920"/>
          </a:xfrm>
          <a:prstGeom prst="roundRect">
            <a:avLst>
              <a:gd name="adj" fmla="val 36364"/>
            </a:avLst>
          </a:prstGeom>
          <a:solidFill>
            <a:srgbClr val="FADBD8"/>
          </a:solidFill>
          <a:ln w="12700">
            <a:solidFill>
              <a:srgbClr val="C00000"/>
            </a:solidFill>
            <a:prstDash val="solid"/>
          </a:ln>
        </p:spPr>
      </p:sp>
      <p:pic>
        <p:nvPicPr>
          <p:cNvPr id="11" name="choice icon brain" descr="/NAS/SJ/POSTECH/nlp/figs/icons/brain.png">    </p:cNvPr>
          <p:cNvPicPr>
            <a:picLocks noChangeAspect="1"/>
          </p:cNvPicPr>
          <p:nvPr/>
        </p:nvPicPr>
        <p:blipFill>
          <a:blip r:embed="rId3"/>
          <a:stretch>
            <a:fillRect/>
          </a:stretch>
        </p:blipFill>
        <p:spPr>
          <a:xfrm>
            <a:off x="7278624" y="4978908"/>
            <a:ext cx="329184" cy="329184"/>
          </a:xfrm>
          <a:prstGeom prst="rect">
            <a:avLst/>
          </a:prstGeom>
        </p:spPr>
      </p:pic>
      <p:sp>
        <p:nvSpPr>
          <p:cNvPr id="12" name="Text 7"/>
          <p:cNvSpPr txBox="1"/>
          <p:nvPr/>
        </p:nvSpPr>
        <p:spPr>
          <a:xfrm>
            <a:off x="7671816" y="4892040"/>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we solve, and how hard it is</a:t>
            </a:r>
            <a:endParaRPr lang="en-US" sz="3600" dirty="0"/>
          </a:p>
        </p:txBody>
      </p:sp>
      <p:sp>
        <p:nvSpPr>
          <p:cNvPr id="3" name="kind Geometry"/>
          <p:cNvSpPr/>
          <p:nvPr/>
        </p:nvSpPr>
        <p:spPr>
          <a:xfrm>
            <a:off x="548640" y="1280160"/>
            <a:ext cx="2103120" cy="406908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1234440" y="1463040"/>
            <a:ext cx="731520" cy="731520"/>
          </a:xfrm>
          <a:prstGeom prst="rect">
            <a:avLst/>
          </a:prstGeom>
        </p:spPr>
      </p:pic>
      <p:sp>
        <p:nvSpPr>
          <p:cNvPr id="5" name="Text 2"/>
          <p:cNvSpPr txBox="1"/>
          <p:nvPr/>
        </p:nvSpPr>
        <p:spPr>
          <a:xfrm>
            <a:off x="640080" y="2286000"/>
            <a:ext cx="1920240" cy="731520"/>
          </a:xfrm>
          <a:prstGeom prst="rect">
            <a:avLst/>
          </a:prstGeom>
          <a:noFill/>
          <a:ln/>
        </p:spPr>
        <p:txBody>
          <a:bodyPr wrap="square" lIns="0" tIns="0" rIns="0" bIns="0" rtlCol="0" anchor="ctr"/>
          <a:lstStyle/>
          <a:p>
            <a:pPr algn="ctr" indent="0" marL="0">
              <a:buNone/>
            </a:pPr>
            <a:r>
              <a:rPr lang="en-US" sz="1800" b="1" dirty="0">
                <a:solidFill>
                  <a:schemeClr val="tx1"/>
                </a:solidFill>
              </a:rPr>
              <a:t>Geometry</a:t>
            </a:r>
            <a:endParaRPr lang="en-US" sz="1800" dirty="0"/>
          </a:p>
        </p:txBody>
      </p:sp>
      <p:sp>
        <p:nvSpPr>
          <p:cNvPr id="6" name="Text 3"/>
          <p:cNvSpPr txBox="1"/>
          <p:nvPr/>
        </p:nvSpPr>
        <p:spPr>
          <a:xfrm>
            <a:off x="685800" y="3063240"/>
            <a:ext cx="1828800" cy="1097280"/>
          </a:xfrm>
          <a:prstGeom prst="rect">
            <a:avLst/>
          </a:prstGeom>
          <a:noFill/>
          <a:ln/>
        </p:spPr>
        <p:txBody>
          <a:bodyPr wrap="square" lIns="0" tIns="0" rIns="0" bIns="0" rtlCol="0" anchor="t"/>
          <a:lstStyle/>
          <a:p>
            <a:pPr algn="ctr" indent="0" marL="0">
              <a:buNone/>
            </a:pPr>
            <a:r>
              <a:rPr lang="en-US" sz="1500" dirty="0">
                <a:solidFill>
                  <a:schemeClr val="tx1"/>
                </a:solidFill>
              </a:rPr>
              <a:t>corners of the rubber band around 10 points</a:t>
            </a:r>
            <a:endParaRPr lang="en-US" sz="1500" dirty="0"/>
          </a:p>
        </p:txBody>
      </p:sp>
      <p:sp>
        <p:nvSpPr>
          <p:cNvPr id="7" name="tag Geometry"/>
          <p:cNvSpPr/>
          <p:nvPr/>
        </p:nvSpPr>
        <p:spPr>
          <a:xfrm>
            <a:off x="640080" y="4297680"/>
            <a:ext cx="1920240" cy="868680"/>
          </a:xfrm>
          <a:prstGeom prst="roundRect">
            <a:avLst>
              <a:gd name="adj" fmla="val 10526"/>
            </a:avLst>
          </a:prstGeom>
          <a:solidFill>
            <a:srgbClr val="FFFFFF"/>
          </a:solidFill>
          <a:ln w="15875">
            <a:solidFill>
              <a:srgbClr val="4472C4"/>
            </a:solidFill>
            <a:prstDash val="solid"/>
          </a:ln>
        </p:spPr>
      </p:sp>
      <p:sp>
        <p:nvSpPr>
          <p:cNvPr id="8" name="Text 5"/>
          <p:cNvSpPr txBox="1"/>
          <p:nvPr/>
        </p:nvSpPr>
        <p:spPr>
          <a:xfrm>
            <a:off x="685800" y="4297680"/>
            <a:ext cx="1828800" cy="868680"/>
          </a:xfrm>
          <a:prstGeom prst="rect">
            <a:avLst/>
          </a:prstGeom>
          <a:noFill/>
          <a:ln/>
        </p:spPr>
        <p:txBody>
          <a:bodyPr wrap="square" lIns="0" tIns="0" rIns="0" bIns="0" rtlCol="0" anchor="ctr"/>
          <a:lstStyle/>
          <a:p>
            <a:pPr algn="ctr" indent="0" marL="0">
              <a:buNone/>
            </a:pPr>
            <a:r>
              <a:rPr lang="en-US" sz="1500" b="1" dirty="0">
                <a:solidFill>
                  <a:srgbClr val="4472C4"/>
                </a:solidFill>
              </a:rPr>
              <a:t>textbook algorithms, exact on every copy</a:t>
            </a:r>
            <a:endParaRPr lang="en-US" sz="1500" dirty="0"/>
          </a:p>
        </p:txBody>
      </p:sp>
      <p:sp>
        <p:nvSpPr>
          <p:cNvPr id="9" name="kind Contest problems"/>
          <p:cNvSpPr/>
          <p:nvPr/>
        </p:nvSpPr>
        <p:spPr>
          <a:xfrm>
            <a:off x="2788920" y="1280160"/>
            <a:ext cx="2103120" cy="406908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3474720" y="1463040"/>
            <a:ext cx="731520" cy="731520"/>
          </a:xfrm>
          <a:prstGeom prst="rect">
            <a:avLst/>
          </a:prstGeom>
        </p:spPr>
      </p:pic>
      <p:sp>
        <p:nvSpPr>
          <p:cNvPr id="11" name="Text 7"/>
          <p:cNvSpPr txBox="1"/>
          <p:nvPr/>
        </p:nvSpPr>
        <p:spPr>
          <a:xfrm>
            <a:off x="2880360" y="2286000"/>
            <a:ext cx="1920240" cy="731520"/>
          </a:xfrm>
          <a:prstGeom prst="rect">
            <a:avLst/>
          </a:prstGeom>
          <a:noFill/>
          <a:ln/>
        </p:spPr>
        <p:txBody>
          <a:bodyPr wrap="square" lIns="0" tIns="0" rIns="0" bIns="0" rtlCol="0" anchor="ctr"/>
          <a:lstStyle/>
          <a:p>
            <a:pPr algn="ctr" indent="0" marL="0">
              <a:buNone/>
            </a:pPr>
            <a:r>
              <a:rPr lang="en-US" sz="1800" b="1" dirty="0">
                <a:solidFill>
                  <a:schemeClr val="tx1"/>
                </a:solidFill>
              </a:rPr>
              <a:t>Contest problems</a:t>
            </a:r>
            <a:endParaRPr lang="en-US" sz="1800" dirty="0"/>
          </a:p>
        </p:txBody>
      </p:sp>
      <p:sp>
        <p:nvSpPr>
          <p:cNvPr id="12" name="Text 8"/>
          <p:cNvSpPr txBox="1"/>
          <p:nvPr/>
        </p:nvSpPr>
        <p:spPr>
          <a:xfrm>
            <a:off x="2926080" y="3063240"/>
            <a:ext cx="1828800" cy="1097280"/>
          </a:xfrm>
          <a:prstGeom prst="rect">
            <a:avLst/>
          </a:prstGeom>
          <a:noFill/>
          <a:ln/>
        </p:spPr>
        <p:txBody>
          <a:bodyPr wrap="square" lIns="0" tIns="0" rIns="0" bIns="0" rtlCol="0" anchor="t"/>
          <a:lstStyle/>
          <a:p>
            <a:pPr algn="ctr" indent="0" marL="0">
              <a:buNone/>
            </a:pPr>
            <a:r>
              <a:rPr lang="en-US" sz="1500" dirty="0">
                <a:solidFill>
                  <a:schemeClr val="tx1"/>
                </a:solidFill>
              </a:rPr>
              <a:t>311 Codeforces geometry problems</a:t>
            </a:r>
            <a:endParaRPr lang="en-US" sz="1500" dirty="0"/>
          </a:p>
        </p:txBody>
      </p:sp>
      <p:sp>
        <p:nvSpPr>
          <p:cNvPr id="13" name="tag Contest problems"/>
          <p:cNvSpPr/>
          <p:nvPr/>
        </p:nvSpPr>
        <p:spPr>
          <a:xfrm>
            <a:off x="2880360" y="4297680"/>
            <a:ext cx="1920240" cy="868680"/>
          </a:xfrm>
          <a:prstGeom prst="roundRect">
            <a:avLst>
              <a:gd name="adj" fmla="val 10526"/>
            </a:avLst>
          </a:prstGeom>
          <a:solidFill>
            <a:srgbClr val="FFFFFF"/>
          </a:solidFill>
          <a:ln w="15875">
            <a:solidFill>
              <a:srgbClr val="C00000"/>
            </a:solidFill>
            <a:prstDash val="solid"/>
          </a:ln>
        </p:spPr>
      </p:sp>
      <p:sp>
        <p:nvSpPr>
          <p:cNvPr id="14" name="Text 10"/>
          <p:cNvSpPr txBox="1"/>
          <p:nvPr/>
        </p:nvSpPr>
        <p:spPr>
          <a:xfrm>
            <a:off x="2926080" y="4297680"/>
            <a:ext cx="1828800" cy="868680"/>
          </a:xfrm>
          <a:prstGeom prst="rect">
            <a:avLst/>
          </a:prstGeom>
          <a:noFill/>
          <a:ln/>
        </p:spPr>
        <p:txBody>
          <a:bodyPr wrap="square" lIns="0" tIns="0" rIns="0" bIns="0" rtlCol="0" anchor="ctr"/>
          <a:lstStyle/>
          <a:p>
            <a:pPr algn="ctr" indent="0" marL="0">
              <a:buNone/>
            </a:pPr>
            <a:r>
              <a:rPr lang="en-US" sz="1500" b="1" dirty="0">
                <a:solidFill>
                  <a:srgbClr val="C00000"/>
                </a:solidFill>
              </a:rPr>
              <a:t>Codeforces Master to Grandmaster level</a:t>
            </a:r>
            <a:endParaRPr lang="en-US" sz="1500" dirty="0"/>
          </a:p>
        </p:txBody>
      </p:sp>
      <p:sp>
        <p:nvSpPr>
          <p:cNvPr id="15" name="kind Routing, scheduling"/>
          <p:cNvSpPr/>
          <p:nvPr/>
        </p:nvSpPr>
        <p:spPr>
          <a:xfrm>
            <a:off x="5029200" y="1280160"/>
            <a:ext cx="2103120" cy="406908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715000" y="1463040"/>
            <a:ext cx="731520" cy="731520"/>
          </a:xfrm>
          <a:prstGeom prst="rect">
            <a:avLst/>
          </a:prstGeom>
        </p:spPr>
      </p:pic>
      <p:sp>
        <p:nvSpPr>
          <p:cNvPr id="17" name="Text 12"/>
          <p:cNvSpPr txBox="1"/>
          <p:nvPr/>
        </p:nvSpPr>
        <p:spPr>
          <a:xfrm>
            <a:off x="5120640" y="2286000"/>
            <a:ext cx="1920240" cy="731520"/>
          </a:xfrm>
          <a:prstGeom prst="rect">
            <a:avLst/>
          </a:prstGeom>
          <a:noFill/>
          <a:ln/>
        </p:spPr>
        <p:txBody>
          <a:bodyPr wrap="square" lIns="0" tIns="0" rIns="0" bIns="0" rtlCol="0" anchor="ctr"/>
          <a:lstStyle/>
          <a:p>
            <a:pPr algn="ctr" indent="0" marL="0">
              <a:buNone/>
            </a:pPr>
            <a:r>
              <a:rPr lang="en-US" sz="1800" b="1" dirty="0">
                <a:solidFill>
                  <a:schemeClr val="tx1"/>
                </a:solidFill>
              </a:rPr>
              <a:t>Routing, scheduling</a:t>
            </a:r>
            <a:endParaRPr lang="en-US" sz="1800" dirty="0"/>
          </a:p>
        </p:txBody>
      </p:sp>
      <p:sp>
        <p:nvSpPr>
          <p:cNvPr id="18" name="Text 13"/>
          <p:cNvSpPr txBox="1"/>
          <p:nvPr/>
        </p:nvSpPr>
        <p:spPr>
          <a:xfrm>
            <a:off x="5166360" y="3063240"/>
            <a:ext cx="1828800" cy="1097280"/>
          </a:xfrm>
          <a:prstGeom prst="rect">
            <a:avLst/>
          </a:prstGeom>
          <a:noFill/>
          <a:ln/>
        </p:spPr>
        <p:txBody>
          <a:bodyPr wrap="square" lIns="0" tIns="0" rIns="0" bIns="0" rtlCol="0" anchor="t"/>
          <a:lstStyle/>
          <a:p>
            <a:pPr algn="ctr" indent="0" marL="0">
              <a:buNone/>
            </a:pPr>
            <a:r>
              <a:rPr lang="en-US" sz="1500" dirty="0">
                <a:solidFill>
                  <a:schemeClr val="tx1"/>
                </a:solidFill>
              </a:rPr>
              <a:t>routes for 100 customers with time windows</a:t>
            </a:r>
            <a:endParaRPr lang="en-US" sz="1500" dirty="0"/>
          </a:p>
        </p:txBody>
      </p:sp>
      <p:sp>
        <p:nvSpPr>
          <p:cNvPr id="19" name="tag Routing, scheduling"/>
          <p:cNvSpPr/>
          <p:nvPr/>
        </p:nvSpPr>
        <p:spPr>
          <a:xfrm>
            <a:off x="5120640" y="4297680"/>
            <a:ext cx="1920240" cy="868680"/>
          </a:xfrm>
          <a:prstGeom prst="roundRect">
            <a:avLst>
              <a:gd name="adj" fmla="val 10526"/>
            </a:avLst>
          </a:prstGeom>
          <a:solidFill>
            <a:srgbClr val="FFFFFF"/>
          </a:solidFill>
          <a:ln w="15875">
            <a:solidFill>
              <a:srgbClr val="ED7D31"/>
            </a:solidFill>
            <a:prstDash val="solid"/>
          </a:ln>
        </p:spPr>
      </p:sp>
      <p:sp>
        <p:nvSpPr>
          <p:cNvPr id="20" name="Text 15"/>
          <p:cNvSpPr txBox="1"/>
          <p:nvPr/>
        </p:nvSpPr>
        <p:spPr>
          <a:xfrm>
            <a:off x="5166360" y="4297680"/>
            <a:ext cx="1828800" cy="868680"/>
          </a:xfrm>
          <a:prstGeom prst="rect">
            <a:avLst/>
          </a:prstGeom>
          <a:noFill/>
          <a:ln/>
        </p:spPr>
        <p:txBody>
          <a:bodyPr wrap="square" lIns="0" tIns="0" rIns="0" bIns="0" rtlCol="0" anchor="ctr"/>
          <a:lstStyle/>
          <a:p>
            <a:pPr algn="ctr" indent="0" marL="0">
              <a:buNone/>
            </a:pPr>
            <a:r>
              <a:rPr lang="en-US" sz="1500" b="1" dirty="0">
                <a:solidFill>
                  <a:srgbClr val="ED7D31"/>
                </a:solidFill>
              </a:rPr>
              <a:t>a simple plan drives 48% farther</a:t>
            </a:r>
            <a:endParaRPr lang="en-US" sz="1500" dirty="0"/>
          </a:p>
        </p:txBody>
      </p:sp>
      <p:sp>
        <p:nvSpPr>
          <p:cNvPr id="21" name="kind Word problems"/>
          <p:cNvSpPr/>
          <p:nvPr/>
        </p:nvSpPr>
        <p:spPr>
          <a:xfrm>
            <a:off x="7269480" y="1280160"/>
            <a:ext cx="2103120" cy="406908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955280" y="1463040"/>
            <a:ext cx="731520" cy="731520"/>
          </a:xfrm>
          <a:prstGeom prst="rect">
            <a:avLst/>
          </a:prstGeom>
        </p:spPr>
      </p:pic>
      <p:sp>
        <p:nvSpPr>
          <p:cNvPr id="23" name="Text 17"/>
          <p:cNvSpPr txBox="1"/>
          <p:nvPr/>
        </p:nvSpPr>
        <p:spPr>
          <a:xfrm>
            <a:off x="7360920" y="2286000"/>
            <a:ext cx="1920240" cy="731520"/>
          </a:xfrm>
          <a:prstGeom prst="rect">
            <a:avLst/>
          </a:prstGeom>
          <a:noFill/>
          <a:ln/>
        </p:spPr>
        <p:txBody>
          <a:bodyPr wrap="square" lIns="0" tIns="0" rIns="0" bIns="0" rtlCol="0" anchor="ctr"/>
          <a:lstStyle/>
          <a:p>
            <a:pPr algn="ctr" indent="0" marL="0">
              <a:buNone/>
            </a:pPr>
            <a:r>
              <a:rPr lang="en-US" sz="1800" b="1" dirty="0">
                <a:solidFill>
                  <a:schemeClr val="tx1"/>
                </a:solidFill>
              </a:rPr>
              <a:t>Word problems</a:t>
            </a:r>
            <a:endParaRPr lang="en-US" sz="1800" dirty="0"/>
          </a:p>
        </p:txBody>
      </p:sp>
      <p:sp>
        <p:nvSpPr>
          <p:cNvPr id="24" name="Text 18"/>
          <p:cNvSpPr txBox="1"/>
          <p:nvPr/>
        </p:nvSpPr>
        <p:spPr>
          <a:xfrm>
            <a:off x="7406640" y="3063240"/>
            <a:ext cx="1828800" cy="1097280"/>
          </a:xfrm>
          <a:prstGeom prst="rect">
            <a:avLst/>
          </a:prstGeom>
          <a:noFill/>
          <a:ln/>
        </p:spPr>
        <p:txBody>
          <a:bodyPr wrap="square" lIns="0" tIns="0" rIns="0" bIns="0" rtlCol="0" anchor="t"/>
          <a:lstStyle/>
          <a:p>
            <a:pPr algn="ctr" indent="0" marL="0">
              <a:buNone/>
            </a:pPr>
            <a:r>
              <a:rPr lang="en-US" sz="1500" dirty="0">
                <a:solidFill>
                  <a:schemeClr val="tx1"/>
                </a:solidFill>
              </a:rPr>
              <a:t>most coins from 500 gold and 300 wires?</a:t>
            </a:r>
            <a:endParaRPr lang="en-US" sz="1500" dirty="0"/>
          </a:p>
        </p:txBody>
      </p:sp>
      <p:sp>
        <p:nvSpPr>
          <p:cNvPr id="25" name="tag Word problems"/>
          <p:cNvSpPr/>
          <p:nvPr/>
        </p:nvSpPr>
        <p:spPr>
          <a:xfrm>
            <a:off x="7360920" y="4297680"/>
            <a:ext cx="1920240" cy="868680"/>
          </a:xfrm>
          <a:prstGeom prst="roundRect">
            <a:avLst>
              <a:gd name="adj" fmla="val 10526"/>
            </a:avLst>
          </a:prstGeom>
          <a:solidFill>
            <a:srgbClr val="FFFFFF"/>
          </a:solidFill>
          <a:ln w="15875">
            <a:solidFill>
              <a:srgbClr val="38761D"/>
            </a:solidFill>
            <a:prstDash val="solid"/>
          </a:ln>
        </p:spPr>
      </p:sp>
      <p:sp>
        <p:nvSpPr>
          <p:cNvPr id="26" name="Text 20"/>
          <p:cNvSpPr txBox="1"/>
          <p:nvPr/>
        </p:nvSpPr>
        <p:spPr>
          <a:xfrm>
            <a:off x="7406640" y="4297680"/>
            <a:ext cx="1828800" cy="868680"/>
          </a:xfrm>
          <a:prstGeom prst="rect">
            <a:avLst/>
          </a:prstGeom>
          <a:noFill/>
          <a:ln/>
        </p:spPr>
        <p:txBody>
          <a:bodyPr wrap="square" lIns="0" tIns="0" rIns="0" bIns="0" rtlCol="0" anchor="ctr"/>
          <a:lstStyle/>
          <a:p>
            <a:pPr algn="ctr" indent="0" marL="0">
              <a:buNone/>
            </a:pPr>
            <a:r>
              <a:rPr lang="en-US" sz="1500" b="1" dirty="0">
                <a:solidFill>
                  <a:srgbClr val="38761D"/>
                </a:solidFill>
              </a:rPr>
              <a:t>university operations-research exercises</a:t>
            </a:r>
            <a:endParaRPr lang="en-US" sz="1500" dirty="0"/>
          </a:p>
        </p:txBody>
      </p:sp>
      <p:sp>
        <p:nvSpPr>
          <p:cNvPr id="27" name="kind Math and proofs"/>
          <p:cNvSpPr/>
          <p:nvPr/>
        </p:nvSpPr>
        <p:spPr>
          <a:xfrm>
            <a:off x="9509760" y="1280160"/>
            <a:ext cx="2103120" cy="4069080"/>
          </a:xfrm>
          <a:prstGeom prst="roundRect">
            <a:avLst>
              <a:gd name="adj" fmla="val 3478"/>
            </a:avLst>
          </a:prstGeom>
          <a:solidFill>
            <a:srgbClr val="F7F7F7"/>
          </a:solidFill>
          <a:ln w="15875">
            <a:solidFill>
              <a:srgbClr val="A6A6A6"/>
            </a:solidFill>
            <a:prstDash val="dash"/>
          </a:ln>
        </p:spPr>
      </p:sp>
      <p:pic>
        <p:nvPicPr>
          <p:cNvPr id="28" name="icon sqrt" descr="/NAS/SJ/POSTECH/nlp/figs/icons/sqrt.png">    </p:cNvPr>
          <p:cNvPicPr>
            <a:picLocks noChangeAspect="1"/>
          </p:cNvPicPr>
          <p:nvPr/>
        </p:nvPicPr>
        <p:blipFill>
          <a:blip r:embed="rId5"/>
          <a:stretch>
            <a:fillRect/>
          </a:stretch>
        </p:blipFill>
        <p:spPr>
          <a:xfrm>
            <a:off x="10195560" y="1463040"/>
            <a:ext cx="731520" cy="731520"/>
          </a:xfrm>
          <a:prstGeom prst="rect">
            <a:avLst/>
          </a:prstGeom>
        </p:spPr>
      </p:pic>
      <p:sp>
        <p:nvSpPr>
          <p:cNvPr id="29" name="Text 22"/>
          <p:cNvSpPr txBox="1"/>
          <p:nvPr/>
        </p:nvSpPr>
        <p:spPr>
          <a:xfrm>
            <a:off x="9601200" y="2286000"/>
            <a:ext cx="1920240" cy="731520"/>
          </a:xfrm>
          <a:prstGeom prst="rect">
            <a:avLst/>
          </a:prstGeom>
          <a:noFill/>
          <a:ln/>
        </p:spPr>
        <p:txBody>
          <a:bodyPr wrap="square" lIns="0" tIns="0" rIns="0" bIns="0" rtlCol="0" anchor="ctr"/>
          <a:lstStyle/>
          <a:p>
            <a:pPr algn="ctr" indent="0" marL="0">
              <a:buNone/>
            </a:pPr>
            <a:r>
              <a:rPr lang="en-US" sz="1800" b="1" dirty="0">
                <a:solidFill>
                  <a:schemeClr val="tx1"/>
                </a:solidFill>
              </a:rPr>
              <a:t>Math and proofs</a:t>
            </a:r>
            <a:endParaRPr lang="en-US" sz="1800" dirty="0"/>
          </a:p>
          <a:p>
            <a:pPr algn="ctr" indent="0" marL="0">
              <a:buNone/>
            </a:pPr>
            <a:r>
              <a:rPr lang="en-US" sz="1500" b="1" dirty="0">
                <a:solidFill>
                  <a:srgbClr val="7F7F7F"/>
                </a:solidFill>
              </a:rPr>
              <a:t>(extension)</a:t>
            </a:r>
            <a:endParaRPr lang="en-US" sz="1800" dirty="0"/>
          </a:p>
        </p:txBody>
      </p:sp>
      <p:sp>
        <p:nvSpPr>
          <p:cNvPr id="30" name="Text 23"/>
          <p:cNvSpPr txBox="1"/>
          <p:nvPr/>
        </p:nvSpPr>
        <p:spPr>
          <a:xfrm>
            <a:off x="9646920" y="3063240"/>
            <a:ext cx="1828800" cy="1097280"/>
          </a:xfrm>
          <a:prstGeom prst="rect">
            <a:avLst/>
          </a:prstGeom>
          <a:noFill/>
          <a:ln/>
        </p:spPr>
        <p:txBody>
          <a:bodyPr wrap="square" lIns="0" tIns="0" rIns="0" bIns="0" rtlCol="0" anchor="t"/>
          <a:lstStyle/>
          <a:p>
            <a:pPr algn="ctr" indent="0" marL="0">
              <a:buNone/>
            </a:pPr>
            <a:r>
              <a:rPr lang="en-US" sz="1500" dirty="0">
                <a:solidFill>
                  <a:schemeClr val="tx1"/>
                </a:solidFill>
              </a:rPr>
              <a:t>contest answers; machine-checked proofs</a:t>
            </a:r>
            <a:endParaRPr lang="en-US" sz="1500" dirty="0"/>
          </a:p>
        </p:txBody>
      </p:sp>
      <p:sp>
        <p:nvSpPr>
          <p:cNvPr id="31" name="tag Math and proofs"/>
          <p:cNvSpPr/>
          <p:nvPr/>
        </p:nvSpPr>
        <p:spPr>
          <a:xfrm>
            <a:off x="9601200" y="4297680"/>
            <a:ext cx="1920240" cy="868680"/>
          </a:xfrm>
          <a:prstGeom prst="roundRect">
            <a:avLst>
              <a:gd name="adj" fmla="val 10526"/>
            </a:avLst>
          </a:prstGeom>
          <a:solidFill>
            <a:srgbClr val="FFFFFF"/>
          </a:solidFill>
          <a:ln w="15875">
            <a:solidFill>
              <a:srgbClr val="595959"/>
            </a:solidFill>
            <a:prstDash val="solid"/>
          </a:ln>
        </p:spPr>
      </p:sp>
      <p:sp>
        <p:nvSpPr>
          <p:cNvPr id="32" name="Text 25"/>
          <p:cNvSpPr txBox="1"/>
          <p:nvPr/>
        </p:nvSpPr>
        <p:spPr>
          <a:xfrm>
            <a:off x="9646920" y="4297680"/>
            <a:ext cx="1828800" cy="868680"/>
          </a:xfrm>
          <a:prstGeom prst="rect">
            <a:avLst/>
          </a:prstGeom>
          <a:noFill/>
          <a:ln/>
        </p:spPr>
        <p:txBody>
          <a:bodyPr wrap="square" lIns="0" tIns="0" rIns="0" bIns="0" rtlCol="0" anchor="ctr"/>
          <a:lstStyle/>
          <a:p>
            <a:pPr algn="ctr" indent="0" marL="0">
              <a:buNone/>
            </a:pPr>
            <a:r>
              <a:rPr lang="en-US" sz="1500" b="1" dirty="0">
                <a:solidFill>
                  <a:srgbClr val="595959"/>
                </a:solidFill>
              </a:rPr>
              <a:t>AIME: top ~5% of high-school contestants</a:t>
            </a:r>
            <a:endParaRPr lang="en-US" sz="1500" dirty="0"/>
          </a:p>
        </p:txBody>
      </p:sp>
      <p:sp>
        <p:nvSpPr>
          <p:cNvPr id="33" name="Text 2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Why these: exact answers that code can grade, and each kind needs something different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algn="ctr" indent="0" marL="0">
              <a:buNone/>
            </a:pPr>
            <a:r>
              <a:rPr lang="en-US" sz="1800" dirty="0">
                <a:solidFill>
                  <a:schemeClr val="tx1"/>
                </a:solidFill>
              </a:rPr>
              <a:t>Qwen3-8B, asked for twice the area of one shape: moved, turned or flipped, it is always 436</a:t>
            </a:r>
            <a:endParaRPr lang="en-US" sz="18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783080"/>
            <a:ext cx="8046720" cy="1737360"/>
          </a:xfrm>
          <a:prstGeom prst="rect">
            <a:avLst/>
          </a:prstGeom>
        </p:spPr>
      </p:pic>
      <p:sp>
        <p:nvSpPr>
          <p:cNvPr id="5" name="Text 2"/>
          <p:cNvSpPr txBox="1"/>
          <p:nvPr/>
        </p:nvSpPr>
        <p:spPr>
          <a:xfrm>
            <a:off x="548640" y="388620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Answer in words</a:t>
            </a:r>
            <a:endParaRPr lang="en-US" sz="2200" dirty="0"/>
          </a:p>
        </p:txBody>
      </p:sp>
      <p:sp>
        <p:nvSpPr>
          <p:cNvPr id="6" name="answer 436 ✓"/>
          <p:cNvSpPr/>
          <p:nvPr/>
        </p:nvSpPr>
        <p:spPr>
          <a:xfrm>
            <a:off x="3794760" y="3886200"/>
            <a:ext cx="1554480" cy="548640"/>
          </a:xfrm>
          <a:prstGeom prst="roundRect">
            <a:avLst>
              <a:gd name="adj" fmla="val 16667"/>
            </a:avLst>
          </a:prstGeom>
          <a:solidFill>
            <a:srgbClr val="E2F0D9"/>
          </a:solidFill>
          <a:ln w="12700">
            <a:solidFill>
              <a:srgbClr val="70AD47"/>
            </a:solidFill>
            <a:prstDash val="solid"/>
          </a:ln>
        </p:spPr>
      </p:sp>
      <p:sp>
        <p:nvSpPr>
          <p:cNvPr id="7" name="Text 4"/>
          <p:cNvSpPr txBox="1"/>
          <p:nvPr/>
        </p:nvSpPr>
        <p:spPr>
          <a:xfrm>
            <a:off x="3794760" y="388620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8" name="answer 2944 ✗"/>
          <p:cNvSpPr/>
          <p:nvPr/>
        </p:nvSpPr>
        <p:spPr>
          <a:xfrm>
            <a:off x="5806440" y="3886200"/>
            <a:ext cx="1554480" cy="548640"/>
          </a:xfrm>
          <a:prstGeom prst="roundRect">
            <a:avLst>
              <a:gd name="adj" fmla="val 16667"/>
            </a:avLst>
          </a:prstGeom>
          <a:solidFill>
            <a:srgbClr val="FADBD8"/>
          </a:solidFill>
          <a:ln w="12700">
            <a:solidFill>
              <a:srgbClr val="C00000"/>
            </a:solidFill>
            <a:prstDash val="solid"/>
          </a:ln>
        </p:spPr>
      </p:sp>
      <p:sp>
        <p:nvSpPr>
          <p:cNvPr id="9" name="Text 6"/>
          <p:cNvSpPr txBox="1"/>
          <p:nvPr/>
        </p:nvSpPr>
        <p:spPr>
          <a:xfrm>
            <a:off x="580644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0" name="answer 392 ✗"/>
          <p:cNvSpPr/>
          <p:nvPr/>
        </p:nvSpPr>
        <p:spPr>
          <a:xfrm>
            <a:off x="7818120" y="3886200"/>
            <a:ext cx="1554480" cy="548640"/>
          </a:xfrm>
          <a:prstGeom prst="roundRect">
            <a:avLst>
              <a:gd name="adj" fmla="val 16667"/>
            </a:avLst>
          </a:prstGeom>
          <a:solidFill>
            <a:srgbClr val="FADBD8"/>
          </a:solidFill>
          <a:ln w="12700">
            <a:solidFill>
              <a:srgbClr val="C00000"/>
            </a:solidFill>
            <a:prstDash val="solid"/>
          </a:ln>
        </p:spPr>
      </p:sp>
      <p:sp>
        <p:nvSpPr>
          <p:cNvPr id="11" name="Text 8"/>
          <p:cNvSpPr txBox="1"/>
          <p:nvPr/>
        </p:nvSpPr>
        <p:spPr>
          <a:xfrm>
            <a:off x="781812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2" name="answer 728 ✗"/>
          <p:cNvSpPr/>
          <p:nvPr/>
        </p:nvSpPr>
        <p:spPr>
          <a:xfrm>
            <a:off x="9829800" y="388620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982980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4" name="Text 11"/>
          <p:cNvSpPr txBox="1"/>
          <p:nvPr/>
        </p:nvSpPr>
        <p:spPr>
          <a:xfrm>
            <a:off x="548640" y="466344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Write a program</a:t>
            </a:r>
            <a:endParaRPr lang="en-US" sz="2200" dirty="0"/>
          </a:p>
        </p:txBody>
      </p:sp>
      <p:sp>
        <p:nvSpPr>
          <p:cNvPr id="15" name="answer 436 ✓"/>
          <p:cNvSpPr/>
          <p:nvPr/>
        </p:nvSpPr>
        <p:spPr>
          <a:xfrm>
            <a:off x="3794760" y="4663440"/>
            <a:ext cx="1554480" cy="548640"/>
          </a:xfrm>
          <a:prstGeom prst="roundRect">
            <a:avLst>
              <a:gd name="adj" fmla="val 16667"/>
            </a:avLst>
          </a:prstGeom>
          <a:solidFill>
            <a:srgbClr val="E2F0D9"/>
          </a:solidFill>
          <a:ln w="12700">
            <a:solidFill>
              <a:srgbClr val="70AD47"/>
            </a:solidFill>
            <a:prstDash val="solid"/>
          </a:ln>
        </p:spPr>
      </p:sp>
      <p:sp>
        <p:nvSpPr>
          <p:cNvPr id="16" name="Text 13"/>
          <p:cNvSpPr txBox="1"/>
          <p:nvPr/>
        </p:nvSpPr>
        <p:spPr>
          <a:xfrm>
            <a:off x="379476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7" name="answer 436 ✓"/>
          <p:cNvSpPr/>
          <p:nvPr/>
        </p:nvSpPr>
        <p:spPr>
          <a:xfrm>
            <a:off x="5806440" y="4663440"/>
            <a:ext cx="1554480" cy="548640"/>
          </a:xfrm>
          <a:prstGeom prst="roundRect">
            <a:avLst>
              <a:gd name="adj" fmla="val 16667"/>
            </a:avLst>
          </a:prstGeom>
          <a:solidFill>
            <a:srgbClr val="E2F0D9"/>
          </a:solidFill>
          <a:ln w="12700">
            <a:solidFill>
              <a:srgbClr val="70AD47"/>
            </a:solidFill>
            <a:prstDash val="solid"/>
          </a:ln>
        </p:spPr>
      </p:sp>
      <p:sp>
        <p:nvSpPr>
          <p:cNvPr id="18" name="Text 15"/>
          <p:cNvSpPr txBox="1"/>
          <p:nvPr/>
        </p:nvSpPr>
        <p:spPr>
          <a:xfrm>
            <a:off x="580644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9" name="answer 436 ✓"/>
          <p:cNvSpPr/>
          <p:nvPr/>
        </p:nvSpPr>
        <p:spPr>
          <a:xfrm>
            <a:off x="7818120" y="466344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781812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9829800" y="466344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982980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For computation, a program is the right tool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But two things go wrong</a:t>
            </a:r>
            <a:endParaRPr lang="en-US" sz="3600" dirty="0"/>
          </a:p>
        </p:txBody>
      </p:sp>
      <p:sp>
        <p:nvSpPr>
          <p:cNvPr id="3" name="pane 1. Programs fail, often silently"/>
          <p:cNvSpPr/>
          <p:nvPr/>
        </p:nvSpPr>
        <p:spPr>
          <a:xfrm>
            <a:off x="548640" y="1234440"/>
            <a:ext cx="5440680" cy="3794760"/>
          </a:xfrm>
          <a:prstGeom prst="roundRect">
            <a:avLst>
              <a:gd name="adj" fmla="val 1928"/>
            </a:avLst>
          </a:prstGeom>
          <a:solidFill>
            <a:srgbClr val="FDF2F1"/>
          </a:solidFill>
          <a:ln w="12700">
            <a:solidFill>
              <a:srgbClr val="C00000"/>
            </a:solidFill>
            <a:prstDash val="solid"/>
          </a:ln>
        </p:spPr>
      </p:sp>
      <p:sp>
        <p:nvSpPr>
          <p:cNvPr id="4" name="Text 2"/>
          <p:cNvSpPr txBox="1"/>
          <p:nvPr/>
        </p:nvSpPr>
        <p:spPr>
          <a:xfrm>
            <a:off x="777240" y="1325880"/>
            <a:ext cx="4983480" cy="502920"/>
          </a:xfrm>
          <a:prstGeom prst="rect">
            <a:avLst/>
          </a:prstGeom>
          <a:noFill/>
          <a:ln/>
        </p:spPr>
        <p:txBody>
          <a:bodyPr wrap="square" lIns="0" tIns="0" rIns="0" bIns="0" rtlCol="0" anchor="ctr"/>
          <a:lstStyle/>
          <a:p>
            <a:pPr indent="0" marL="0">
              <a:buNone/>
            </a:pPr>
            <a:r>
              <a:rPr lang="en-US" sz="2200" b="1" dirty="0">
                <a:solidFill>
                  <a:srgbClr val="C00000"/>
                </a:solidFill>
              </a:rPr>
              <a:t>1. Programs fail, often silently</a:t>
            </a:r>
            <a:endParaRPr lang="en-US" sz="2200" dirty="0"/>
          </a:p>
        </p:txBody>
      </p:sp>
      <p:sp>
        <p:nvSpPr>
          <p:cNvPr id="5" name="Text 3"/>
          <p:cNvSpPr txBox="1"/>
          <p:nvPr/>
        </p:nvSpPr>
        <p:spPr>
          <a:xfrm>
            <a:off x="77724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How many corners does the rubber band have?</a:t>
            </a:r>
            <a:endParaRPr lang="en-US" sz="1500" dirty="0"/>
          </a:p>
        </p:txBody>
      </p:sp>
      <p:pic>
        <p:nvPicPr>
          <p:cNvPr id="6" name="ten points and their hull" descr="10 points; the rubber band touches 6 of them">    </p:cNvPr>
          <p:cNvPicPr>
            <a:picLocks noChangeAspect="1"/>
          </p:cNvPicPr>
          <p:nvPr/>
        </p:nvPicPr>
        <p:blipFill>
          <a:blip r:embed="rId1"/>
          <a:stretch>
            <a:fillRect/>
          </a:stretch>
        </p:blipFill>
        <p:spPr>
          <a:xfrm>
            <a:off x="868680" y="2286000"/>
            <a:ext cx="1828800" cy="1828800"/>
          </a:xfrm>
          <a:prstGeom prst="rect">
            <a:avLst/>
          </a:prstGeom>
        </p:spPr>
      </p:pic>
      <p:sp>
        <p:nvSpPr>
          <p:cNvPr id="7" name="Text 4"/>
          <p:cNvSpPr txBox="1"/>
          <p:nvPr/>
        </p:nvSpPr>
        <p:spPr>
          <a:xfrm>
            <a:off x="685800" y="4114800"/>
            <a:ext cx="2194560" cy="320040"/>
          </a:xfrm>
          <a:prstGeom prst="rect">
            <a:avLst/>
          </a:prstGeom>
          <a:noFill/>
          <a:ln/>
        </p:spPr>
        <p:txBody>
          <a:bodyPr wrap="square" lIns="0" tIns="0" rIns="0" bIns="0" rtlCol="0" anchor="ctr"/>
          <a:lstStyle/>
          <a:p>
            <a:pPr algn="ctr" indent="0" marL="0">
              <a:buNone/>
            </a:pPr>
            <a:r>
              <a:rPr lang="en-US" sz="1500" b="1" dirty="0">
                <a:solidFill>
                  <a:srgbClr val="70AD47"/>
                </a:solidFill>
              </a:rPr>
              <a:t>answer: 6 corners</a:t>
            </a:r>
            <a:endParaRPr lang="en-US" sz="1500" dirty="0"/>
          </a:p>
        </p:txBody>
      </p:sp>
      <p:sp>
        <p:nvSpPr>
          <p:cNvPr id="8" name="terminal"/>
          <p:cNvSpPr/>
          <p:nvPr/>
        </p:nvSpPr>
        <p:spPr>
          <a:xfrm>
            <a:off x="2971800" y="2331720"/>
            <a:ext cx="2834640" cy="1417320"/>
          </a:xfrm>
          <a:prstGeom prst="roundRect">
            <a:avLst>
              <a:gd name="adj" fmla="val 3226"/>
            </a:avLst>
          </a:prstGeom>
          <a:solidFill>
            <a:srgbClr val="262626"/>
          </a:solidFill>
          <a:ln w="12700">
            <a:solidFill>
              <a:srgbClr val="262626"/>
            </a:solidFill>
            <a:prstDash val="solid"/>
          </a:ln>
        </p:spPr>
      </p:sp>
      <p:sp>
        <p:nvSpPr>
          <p:cNvPr id="9" name="Text 6"/>
          <p:cNvSpPr txBox="1"/>
          <p:nvPr/>
        </p:nvSpPr>
        <p:spPr>
          <a:xfrm>
            <a:off x="3154680" y="2331720"/>
            <a:ext cx="2560320" cy="1417320"/>
          </a:xfrm>
          <a:prstGeom prst="rect">
            <a:avLst/>
          </a:prstGeom>
          <a:noFill/>
          <a:ln/>
        </p:spPr>
        <p:txBody>
          <a:bodyPr wrap="square" lIns="0" tIns="0" rIns="0" bIns="0" rtlCol="0" anchor="ctr"/>
          <a:lstStyle/>
          <a:p>
            <a:pPr indent="0" marL="0">
              <a:buNone/>
            </a:pPr>
            <a:r>
              <a:rPr lang="en-US" sz="1800" b="1" dirty="0">
                <a:solidFill>
                  <a:srgbClr val="8FD16A"/>
                </a:solidFill>
                <a:latin typeface="Courier New" pitchFamily="34" charset="0"/>
                <a:ea typeface="Courier New" pitchFamily="34" charset="-122"/>
                <a:cs typeface="Courier New" pitchFamily="34" charset="-120"/>
              </a:rPr>
              <a:t>program A  → 6</a:t>
            </a:r>
            <a:endParaRPr lang="en-US" sz="1800" dirty="0"/>
          </a:p>
          <a:p>
            <a:pPr indent="0" marL="0">
              <a:buNone/>
            </a:pPr>
            <a:r>
              <a:rPr lang="en-US" sz="1800" b="1" dirty="0">
                <a:solidFill>
                  <a:srgbClr val="FF7B7B"/>
                </a:solidFill>
                <a:latin typeface="Courier New" pitchFamily="34" charset="0"/>
                <a:ea typeface="Courier New" pitchFamily="34" charset="-122"/>
                <a:cs typeface="Courier New" pitchFamily="34" charset="-120"/>
              </a:rPr>
              <a:t>program B  → 0</a:t>
            </a:r>
            <a:endParaRPr lang="en-US" sz="1800" dirty="0"/>
          </a:p>
          <a:p>
            <a:pPr indent="0" marL="0">
              <a:buNone/>
            </a:pPr>
            <a:r>
              <a:rPr lang="en-US" sz="1800" dirty="0">
                <a:solidFill>
                  <a:srgbClr val="BFBFBF"/>
                </a:solidFill>
                <a:latin typeface="Courier New" pitchFamily="34" charset="0"/>
                <a:ea typeface="Courier New" pitchFamily="34" charset="-122"/>
                <a:cs typeface="Courier New" pitchFamily="34" charset="-120"/>
              </a:rPr>
              <a:t>no error message</a:t>
            </a:r>
            <a:endParaRPr lang="en-US" sz="1800" dirty="0"/>
          </a:p>
        </p:txBody>
      </p:sp>
      <p:sp>
        <p:nvSpPr>
          <p:cNvPr id="10" name="Text 7"/>
          <p:cNvSpPr txBox="1"/>
          <p:nvPr/>
        </p:nvSpPr>
        <p:spPr>
          <a:xfrm>
            <a:off x="2971800" y="3794760"/>
            <a:ext cx="2834640" cy="548640"/>
          </a:xfrm>
          <a:prstGeom prst="rect">
            <a:avLst/>
          </a:prstGeom>
          <a:noFill/>
          <a:ln/>
        </p:spPr>
        <p:txBody>
          <a:bodyPr wrap="square" lIns="0" tIns="0" rIns="0" bIns="0" rtlCol="0" anchor="t"/>
          <a:lstStyle/>
          <a:p>
            <a:pPr indent="0" marL="0">
              <a:buNone/>
            </a:pPr>
            <a:r>
              <a:rPr lang="en-US" sz="1400" dirty="0">
                <a:solidFill>
                  <a:schemeClr val="tx2"/>
                </a:solidFill>
              </a:rPr>
              <a:t>B's prompt only added helper code (Qwen3-14B)</a:t>
            </a:r>
            <a:endParaRPr lang="en-US" sz="1400" dirty="0"/>
          </a:p>
        </p:txBody>
      </p:sp>
      <p:sp>
        <p:nvSpPr>
          <p:cNvPr id="11" name="Text 8"/>
          <p:cNvSpPr txBox="1"/>
          <p:nvPr/>
        </p:nvSpPr>
        <p:spPr>
          <a:xfrm>
            <a:off x="777240" y="4526280"/>
            <a:ext cx="5029200" cy="365760"/>
          </a:xfrm>
          <a:prstGeom prst="rect">
            <a:avLst/>
          </a:prstGeom>
          <a:noFill/>
          <a:ln/>
        </p:spPr>
        <p:txBody>
          <a:bodyPr wrap="square" lIns="0" tIns="0" rIns="0" bIns="0" rtlCol="0" anchor="ctr"/>
          <a:lstStyle/>
          <a:p>
            <a:pPr indent="0" marL="0">
              <a:buNone/>
            </a:pPr>
            <a:r>
              <a:rPr lang="en-US" sz="1500" b="1" dirty="0">
                <a:solidFill>
                  <a:srgbClr val="C00000"/>
                </a:solidFill>
              </a:rPr>
              <a:t>✗ or it crashes on a library function that does not exist</a:t>
            </a:r>
            <a:endParaRPr lang="en-US" sz="1500" dirty="0"/>
          </a:p>
        </p:txBody>
      </p:sp>
      <p:sp>
        <p:nvSpPr>
          <p:cNvPr id="12" name="pane 2. Thinking longer is expensive"/>
          <p:cNvSpPr/>
          <p:nvPr/>
        </p:nvSpPr>
        <p:spPr>
          <a:xfrm>
            <a:off x="6172200" y="1234440"/>
            <a:ext cx="5440680" cy="3794760"/>
          </a:xfrm>
          <a:prstGeom prst="roundRect">
            <a:avLst>
              <a:gd name="adj" fmla="val 1928"/>
            </a:avLst>
          </a:prstGeom>
          <a:solidFill>
            <a:srgbClr val="FDF0E6"/>
          </a:solidFill>
          <a:ln w="12700">
            <a:solidFill>
              <a:srgbClr val="ED7D31"/>
            </a:solidFill>
            <a:prstDash val="solid"/>
          </a:ln>
        </p:spPr>
      </p:sp>
      <p:sp>
        <p:nvSpPr>
          <p:cNvPr id="13" name="Text 10"/>
          <p:cNvSpPr txBox="1"/>
          <p:nvPr/>
        </p:nvSpPr>
        <p:spPr>
          <a:xfrm>
            <a:off x="6400800" y="1325880"/>
            <a:ext cx="4983480" cy="502920"/>
          </a:xfrm>
          <a:prstGeom prst="rect">
            <a:avLst/>
          </a:prstGeom>
          <a:noFill/>
          <a:ln/>
        </p:spPr>
        <p:txBody>
          <a:bodyPr wrap="square" lIns="0" tIns="0" rIns="0" bIns="0" rtlCol="0" anchor="ctr"/>
          <a:lstStyle/>
          <a:p>
            <a:pPr indent="0" marL="0">
              <a:buNone/>
            </a:pPr>
            <a:r>
              <a:rPr lang="en-US" sz="2200" b="1" dirty="0">
                <a:solidFill>
                  <a:srgbClr val="ED7D31"/>
                </a:solidFill>
              </a:rPr>
              <a:t>2. Thinking longer is expensive</a:t>
            </a:r>
            <a:endParaRPr lang="en-US" sz="2200" dirty="0"/>
          </a:p>
        </p:txBody>
      </p:sp>
      <p:sp>
        <p:nvSpPr>
          <p:cNvPr id="14" name="Text 11"/>
          <p:cNvSpPr txBox="1"/>
          <p:nvPr/>
        </p:nvSpPr>
        <p:spPr>
          <a:xfrm>
            <a:off x="640080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311 contest problems, gpt-oss-120b · 1 page ≈ 700 tokens</a:t>
            </a:r>
            <a:endParaRPr lang="en-US" sz="1500" dirty="0"/>
          </a:p>
        </p:txBody>
      </p:sp>
      <p:sp>
        <p:nvSpPr>
          <p:cNvPr id="15" name="Text 12"/>
          <p:cNvSpPr txBox="1"/>
          <p:nvPr/>
        </p:nvSpPr>
        <p:spPr>
          <a:xfrm>
            <a:off x="6400800" y="23774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normal</a:t>
            </a:r>
            <a:endParaRPr lang="en-US" sz="1500" dirty="0"/>
          </a:p>
          <a:p>
            <a:pPr indent="0" marL="0">
              <a:buNone/>
            </a:pPr>
            <a:r>
              <a:rPr lang="en-US" sz="1500" dirty="0">
                <a:solidFill>
                  <a:schemeClr val="tx1"/>
                </a:solidFill>
              </a:rPr>
              <a:t>57% solved</a:t>
            </a:r>
            <a:endParaRPr lang="en-US" sz="1500" dirty="0"/>
          </a:p>
        </p:txBody>
      </p:sp>
      <p:pic>
        <p:nvPicPr>
          <p:cNvPr id="16" name="normal page 0" descr="/NAS/SJ/POSTECH/nlp/figs/icons/page.png">    </p:cNvPr>
          <p:cNvPicPr>
            <a:picLocks noChangeAspect="1"/>
          </p:cNvPicPr>
          <p:nvPr/>
        </p:nvPicPr>
        <p:blipFill>
          <a:blip r:embed="rId2"/>
          <a:stretch>
            <a:fillRect/>
          </a:stretch>
        </p:blipFill>
        <p:spPr>
          <a:xfrm>
            <a:off x="7909560" y="2395728"/>
            <a:ext cx="182880" cy="201168"/>
          </a:xfrm>
          <a:prstGeom prst="rect">
            <a:avLst/>
          </a:prstGeom>
        </p:spPr>
      </p:pic>
      <p:pic>
        <p:nvPicPr>
          <p:cNvPr id="17" name="normal page 1" descr="/NAS/SJ/POSTECH/nlp/figs/icons/page.png">    </p:cNvPr>
          <p:cNvPicPr>
            <a:picLocks noChangeAspect="1"/>
          </p:cNvPicPr>
          <p:nvPr/>
        </p:nvPicPr>
        <p:blipFill>
          <a:blip r:embed="rId3"/>
          <a:stretch>
            <a:fillRect/>
          </a:stretch>
        </p:blipFill>
        <p:spPr>
          <a:xfrm>
            <a:off x="8101584" y="2395728"/>
            <a:ext cx="182880" cy="201168"/>
          </a:xfrm>
          <a:prstGeom prst="rect">
            <a:avLst/>
          </a:prstGeom>
        </p:spPr>
      </p:pic>
      <p:pic>
        <p:nvPicPr>
          <p:cNvPr id="18" name="normal page 2" descr="/NAS/SJ/POSTECH/nlp/figs/icons/page.png">    </p:cNvPr>
          <p:cNvPicPr>
            <a:picLocks noChangeAspect="1"/>
          </p:cNvPicPr>
          <p:nvPr/>
        </p:nvPicPr>
        <p:blipFill>
          <a:blip r:embed="rId4"/>
          <a:stretch>
            <a:fillRect/>
          </a:stretch>
        </p:blipFill>
        <p:spPr>
          <a:xfrm>
            <a:off x="8293608" y="2395728"/>
            <a:ext cx="182880" cy="201168"/>
          </a:xfrm>
          <a:prstGeom prst="rect">
            <a:avLst/>
          </a:prstGeom>
        </p:spPr>
      </p:pic>
      <p:pic>
        <p:nvPicPr>
          <p:cNvPr id="19" name="normal page 3" descr="/NAS/SJ/POSTECH/nlp/figs/icons/page.png">    </p:cNvPr>
          <p:cNvPicPr>
            <a:picLocks noChangeAspect="1"/>
          </p:cNvPicPr>
          <p:nvPr/>
        </p:nvPicPr>
        <p:blipFill>
          <a:blip r:embed="rId5"/>
          <a:stretch>
            <a:fillRect/>
          </a:stretch>
        </p:blipFill>
        <p:spPr>
          <a:xfrm>
            <a:off x="8485632" y="2395728"/>
            <a:ext cx="182880" cy="201168"/>
          </a:xfrm>
          <a:prstGeom prst="rect">
            <a:avLst/>
          </a:prstGeom>
        </p:spPr>
      </p:pic>
      <p:pic>
        <p:nvPicPr>
          <p:cNvPr id="20" name="normal page 4" descr="/NAS/SJ/POSTECH/nlp/figs/icons/page.png">    </p:cNvPr>
          <p:cNvPicPr>
            <a:picLocks noChangeAspect="1"/>
          </p:cNvPicPr>
          <p:nvPr/>
        </p:nvPicPr>
        <p:blipFill>
          <a:blip r:embed="rId6"/>
          <a:stretch>
            <a:fillRect/>
          </a:stretch>
        </p:blipFill>
        <p:spPr>
          <a:xfrm>
            <a:off x="8677656" y="2395728"/>
            <a:ext cx="182880" cy="201168"/>
          </a:xfrm>
          <a:prstGeom prst="rect">
            <a:avLst/>
          </a:prstGeom>
        </p:spPr>
      </p:pic>
      <p:pic>
        <p:nvPicPr>
          <p:cNvPr id="21" name="normal page 5" descr="/NAS/SJ/POSTECH/nlp/figs/icons/page.png">    </p:cNvPr>
          <p:cNvPicPr>
            <a:picLocks noChangeAspect="1"/>
          </p:cNvPicPr>
          <p:nvPr/>
        </p:nvPicPr>
        <p:blipFill>
          <a:blip r:embed="rId7"/>
          <a:stretch>
            <a:fillRect/>
          </a:stretch>
        </p:blipFill>
        <p:spPr>
          <a:xfrm>
            <a:off x="8869680" y="2395728"/>
            <a:ext cx="182880" cy="201168"/>
          </a:xfrm>
          <a:prstGeom prst="rect">
            <a:avLst/>
          </a:prstGeom>
        </p:spPr>
      </p:pic>
      <p:pic>
        <p:nvPicPr>
          <p:cNvPr id="22" name="normal page 6" descr="/NAS/SJ/POSTECH/nlp/figs/icons/page.png">    </p:cNvPr>
          <p:cNvPicPr>
            <a:picLocks noChangeAspect="1"/>
          </p:cNvPicPr>
          <p:nvPr/>
        </p:nvPicPr>
        <p:blipFill>
          <a:blip r:embed="rId8"/>
          <a:stretch>
            <a:fillRect/>
          </a:stretch>
        </p:blipFill>
        <p:spPr>
          <a:xfrm>
            <a:off x="9061704" y="2395728"/>
            <a:ext cx="182880" cy="201168"/>
          </a:xfrm>
          <a:prstGeom prst="rect">
            <a:avLst/>
          </a:prstGeom>
        </p:spPr>
      </p:pic>
      <p:pic>
        <p:nvPicPr>
          <p:cNvPr id="23" name="normal page 7" descr="/NAS/SJ/POSTECH/nlp/figs/icons/page.png">    </p:cNvPr>
          <p:cNvPicPr>
            <a:picLocks noChangeAspect="1"/>
          </p:cNvPicPr>
          <p:nvPr/>
        </p:nvPicPr>
        <p:blipFill>
          <a:blip r:embed="rId9"/>
          <a:stretch>
            <a:fillRect/>
          </a:stretch>
        </p:blipFill>
        <p:spPr>
          <a:xfrm>
            <a:off x="9253728" y="2395728"/>
            <a:ext cx="182880" cy="201168"/>
          </a:xfrm>
          <a:prstGeom prst="rect">
            <a:avLst/>
          </a:prstGeom>
        </p:spPr>
      </p:pic>
      <p:pic>
        <p:nvPicPr>
          <p:cNvPr id="24" name="normal page 8" descr="/NAS/SJ/POSTECH/nlp/figs/icons/page.png">    </p:cNvPr>
          <p:cNvPicPr>
            <a:picLocks noChangeAspect="1"/>
          </p:cNvPicPr>
          <p:nvPr/>
        </p:nvPicPr>
        <p:blipFill>
          <a:blip r:embed="rId10"/>
          <a:stretch>
            <a:fillRect/>
          </a:stretch>
        </p:blipFill>
        <p:spPr>
          <a:xfrm>
            <a:off x="9445752" y="2395728"/>
            <a:ext cx="182880" cy="201168"/>
          </a:xfrm>
          <a:prstGeom prst="rect">
            <a:avLst/>
          </a:prstGeom>
        </p:spPr>
      </p:pic>
      <p:pic>
        <p:nvPicPr>
          <p:cNvPr id="25" name="normal page 9" descr="/NAS/SJ/POSTECH/nlp/figs/icons/page.png">    </p:cNvPr>
          <p:cNvPicPr>
            <a:picLocks noChangeAspect="1"/>
          </p:cNvPicPr>
          <p:nvPr/>
        </p:nvPicPr>
        <p:blipFill>
          <a:blip r:embed="rId11"/>
          <a:stretch>
            <a:fillRect/>
          </a:stretch>
        </p:blipFill>
        <p:spPr>
          <a:xfrm>
            <a:off x="9637776" y="2395728"/>
            <a:ext cx="182880" cy="201168"/>
          </a:xfrm>
          <a:prstGeom prst="rect">
            <a:avLst/>
          </a:prstGeom>
        </p:spPr>
      </p:pic>
      <p:sp>
        <p:nvSpPr>
          <p:cNvPr id="26" name="Text 13"/>
          <p:cNvSpPr txBox="1"/>
          <p:nvPr/>
        </p:nvSpPr>
        <p:spPr>
          <a:xfrm>
            <a:off x="6400800" y="30632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think hard</a:t>
            </a:r>
            <a:endParaRPr lang="en-US" sz="1500" dirty="0"/>
          </a:p>
          <a:p>
            <a:pPr indent="0" marL="0">
              <a:buNone/>
            </a:pPr>
            <a:r>
              <a:rPr lang="en-US" sz="1500" dirty="0">
                <a:solidFill>
                  <a:schemeClr val="tx1"/>
                </a:solidFill>
              </a:rPr>
              <a:t>66% solved</a:t>
            </a:r>
            <a:endParaRPr lang="en-US" sz="1500" dirty="0"/>
          </a:p>
        </p:txBody>
      </p:sp>
      <p:pic>
        <p:nvPicPr>
          <p:cNvPr id="27" name="think hard page 0" descr="/NAS/SJ/POSTECH/nlp/figs/icons/pagehot.png">    </p:cNvPr>
          <p:cNvPicPr>
            <a:picLocks noChangeAspect="1"/>
          </p:cNvPicPr>
          <p:nvPr/>
        </p:nvPicPr>
        <p:blipFill>
          <a:blip r:embed="rId12"/>
          <a:stretch>
            <a:fillRect/>
          </a:stretch>
        </p:blipFill>
        <p:spPr>
          <a:xfrm>
            <a:off x="7909560" y="3081528"/>
            <a:ext cx="182880" cy="201168"/>
          </a:xfrm>
          <a:prstGeom prst="rect">
            <a:avLst/>
          </a:prstGeom>
        </p:spPr>
      </p:pic>
      <p:pic>
        <p:nvPicPr>
          <p:cNvPr id="28" name="think hard page 1" descr="/NAS/SJ/POSTECH/nlp/figs/icons/pagehot.png">    </p:cNvPr>
          <p:cNvPicPr>
            <a:picLocks noChangeAspect="1"/>
          </p:cNvPicPr>
          <p:nvPr/>
        </p:nvPicPr>
        <p:blipFill>
          <a:blip r:embed="rId13"/>
          <a:stretch>
            <a:fillRect/>
          </a:stretch>
        </p:blipFill>
        <p:spPr>
          <a:xfrm>
            <a:off x="8101584" y="3081528"/>
            <a:ext cx="182880" cy="201168"/>
          </a:xfrm>
          <a:prstGeom prst="rect">
            <a:avLst/>
          </a:prstGeom>
        </p:spPr>
      </p:pic>
      <p:pic>
        <p:nvPicPr>
          <p:cNvPr id="29" name="think hard page 2" descr="/NAS/SJ/POSTECH/nlp/figs/icons/pagehot.png">    </p:cNvPr>
          <p:cNvPicPr>
            <a:picLocks noChangeAspect="1"/>
          </p:cNvPicPr>
          <p:nvPr/>
        </p:nvPicPr>
        <p:blipFill>
          <a:blip r:embed="rId14"/>
          <a:stretch>
            <a:fillRect/>
          </a:stretch>
        </p:blipFill>
        <p:spPr>
          <a:xfrm>
            <a:off x="8293608" y="3081528"/>
            <a:ext cx="182880" cy="201168"/>
          </a:xfrm>
          <a:prstGeom prst="rect">
            <a:avLst/>
          </a:prstGeom>
        </p:spPr>
      </p:pic>
      <p:pic>
        <p:nvPicPr>
          <p:cNvPr id="30" name="think hard page 3" descr="/NAS/SJ/POSTECH/nlp/figs/icons/pagehot.png">    </p:cNvPr>
          <p:cNvPicPr>
            <a:picLocks noChangeAspect="1"/>
          </p:cNvPicPr>
          <p:nvPr/>
        </p:nvPicPr>
        <p:blipFill>
          <a:blip r:embed="rId15"/>
          <a:stretch>
            <a:fillRect/>
          </a:stretch>
        </p:blipFill>
        <p:spPr>
          <a:xfrm>
            <a:off x="8485632" y="3081528"/>
            <a:ext cx="182880" cy="201168"/>
          </a:xfrm>
          <a:prstGeom prst="rect">
            <a:avLst/>
          </a:prstGeom>
        </p:spPr>
      </p:pic>
      <p:pic>
        <p:nvPicPr>
          <p:cNvPr id="31" name="think hard page 4" descr="/NAS/SJ/POSTECH/nlp/figs/icons/pagehot.png">    </p:cNvPr>
          <p:cNvPicPr>
            <a:picLocks noChangeAspect="1"/>
          </p:cNvPicPr>
          <p:nvPr/>
        </p:nvPicPr>
        <p:blipFill>
          <a:blip r:embed="rId16"/>
          <a:stretch>
            <a:fillRect/>
          </a:stretch>
        </p:blipFill>
        <p:spPr>
          <a:xfrm>
            <a:off x="8677656" y="3081528"/>
            <a:ext cx="182880" cy="201168"/>
          </a:xfrm>
          <a:prstGeom prst="rect">
            <a:avLst/>
          </a:prstGeom>
        </p:spPr>
      </p:pic>
      <p:pic>
        <p:nvPicPr>
          <p:cNvPr id="32" name="think hard page 5" descr="/NAS/SJ/POSTECH/nlp/figs/icons/pagehot.png">    </p:cNvPr>
          <p:cNvPicPr>
            <a:picLocks noChangeAspect="1"/>
          </p:cNvPicPr>
          <p:nvPr/>
        </p:nvPicPr>
        <p:blipFill>
          <a:blip r:embed="rId17"/>
          <a:stretch>
            <a:fillRect/>
          </a:stretch>
        </p:blipFill>
        <p:spPr>
          <a:xfrm>
            <a:off x="8869680" y="3081528"/>
            <a:ext cx="182880" cy="201168"/>
          </a:xfrm>
          <a:prstGeom prst="rect">
            <a:avLst/>
          </a:prstGeom>
        </p:spPr>
      </p:pic>
      <p:pic>
        <p:nvPicPr>
          <p:cNvPr id="33" name="think hard page 6" descr="/NAS/SJ/POSTECH/nlp/figs/icons/pagehot.png">    </p:cNvPr>
          <p:cNvPicPr>
            <a:picLocks noChangeAspect="1"/>
          </p:cNvPicPr>
          <p:nvPr/>
        </p:nvPicPr>
        <p:blipFill>
          <a:blip r:embed="rId18"/>
          <a:stretch>
            <a:fillRect/>
          </a:stretch>
        </p:blipFill>
        <p:spPr>
          <a:xfrm>
            <a:off x="9061704" y="3081528"/>
            <a:ext cx="182880" cy="201168"/>
          </a:xfrm>
          <a:prstGeom prst="rect">
            <a:avLst/>
          </a:prstGeom>
        </p:spPr>
      </p:pic>
      <p:pic>
        <p:nvPicPr>
          <p:cNvPr id="34" name="think hard page 7" descr="/NAS/SJ/POSTECH/nlp/figs/icons/pagehot.png">    </p:cNvPr>
          <p:cNvPicPr>
            <a:picLocks noChangeAspect="1"/>
          </p:cNvPicPr>
          <p:nvPr/>
        </p:nvPicPr>
        <p:blipFill>
          <a:blip r:embed="rId19"/>
          <a:stretch>
            <a:fillRect/>
          </a:stretch>
        </p:blipFill>
        <p:spPr>
          <a:xfrm>
            <a:off x="9253728" y="3081528"/>
            <a:ext cx="182880" cy="201168"/>
          </a:xfrm>
          <a:prstGeom prst="rect">
            <a:avLst/>
          </a:prstGeom>
        </p:spPr>
      </p:pic>
      <p:pic>
        <p:nvPicPr>
          <p:cNvPr id="35" name="think hard page 8" descr="/NAS/SJ/POSTECH/nlp/figs/icons/pagehot.png">    </p:cNvPr>
          <p:cNvPicPr>
            <a:picLocks noChangeAspect="1"/>
          </p:cNvPicPr>
          <p:nvPr/>
        </p:nvPicPr>
        <p:blipFill>
          <a:blip r:embed="rId20"/>
          <a:stretch>
            <a:fillRect/>
          </a:stretch>
        </p:blipFill>
        <p:spPr>
          <a:xfrm>
            <a:off x="9445752" y="3081528"/>
            <a:ext cx="182880" cy="201168"/>
          </a:xfrm>
          <a:prstGeom prst="rect">
            <a:avLst/>
          </a:prstGeom>
        </p:spPr>
      </p:pic>
      <p:pic>
        <p:nvPicPr>
          <p:cNvPr id="36" name="think hard page 9" descr="/NAS/SJ/POSTECH/nlp/figs/icons/pagehot.png">    </p:cNvPr>
          <p:cNvPicPr>
            <a:picLocks noChangeAspect="1"/>
          </p:cNvPicPr>
          <p:nvPr/>
        </p:nvPicPr>
        <p:blipFill>
          <a:blip r:embed="rId21"/>
          <a:stretch>
            <a:fillRect/>
          </a:stretch>
        </p:blipFill>
        <p:spPr>
          <a:xfrm>
            <a:off x="9637776" y="3081528"/>
            <a:ext cx="182880" cy="201168"/>
          </a:xfrm>
          <a:prstGeom prst="rect">
            <a:avLst/>
          </a:prstGeom>
        </p:spPr>
      </p:pic>
      <p:pic>
        <p:nvPicPr>
          <p:cNvPr id="37" name="think hard page 10" descr="/NAS/SJ/POSTECH/nlp/figs/icons/pagehot.png">    </p:cNvPr>
          <p:cNvPicPr>
            <a:picLocks noChangeAspect="1"/>
          </p:cNvPicPr>
          <p:nvPr/>
        </p:nvPicPr>
        <p:blipFill>
          <a:blip r:embed="rId22"/>
          <a:stretch>
            <a:fillRect/>
          </a:stretch>
        </p:blipFill>
        <p:spPr>
          <a:xfrm>
            <a:off x="9829800" y="3081528"/>
            <a:ext cx="182880" cy="201168"/>
          </a:xfrm>
          <a:prstGeom prst="rect">
            <a:avLst/>
          </a:prstGeom>
        </p:spPr>
      </p:pic>
      <p:pic>
        <p:nvPicPr>
          <p:cNvPr id="38" name="think hard page 11" descr="/NAS/SJ/POSTECH/nlp/figs/icons/pagehot.png">    </p:cNvPr>
          <p:cNvPicPr>
            <a:picLocks noChangeAspect="1"/>
          </p:cNvPicPr>
          <p:nvPr/>
        </p:nvPicPr>
        <p:blipFill>
          <a:blip r:embed="rId23"/>
          <a:stretch>
            <a:fillRect/>
          </a:stretch>
        </p:blipFill>
        <p:spPr>
          <a:xfrm>
            <a:off x="10021824" y="3081528"/>
            <a:ext cx="182880" cy="201168"/>
          </a:xfrm>
          <a:prstGeom prst="rect">
            <a:avLst/>
          </a:prstGeom>
        </p:spPr>
      </p:pic>
      <p:pic>
        <p:nvPicPr>
          <p:cNvPr id="39" name="think hard page 12" descr="/NAS/SJ/POSTECH/nlp/figs/icons/pagehot.png">    </p:cNvPr>
          <p:cNvPicPr>
            <a:picLocks noChangeAspect="1"/>
          </p:cNvPicPr>
          <p:nvPr/>
        </p:nvPicPr>
        <p:blipFill>
          <a:blip r:embed="rId24"/>
          <a:stretch>
            <a:fillRect/>
          </a:stretch>
        </p:blipFill>
        <p:spPr>
          <a:xfrm>
            <a:off x="10213848" y="3081528"/>
            <a:ext cx="182880" cy="201168"/>
          </a:xfrm>
          <a:prstGeom prst="rect">
            <a:avLst/>
          </a:prstGeom>
        </p:spPr>
      </p:pic>
      <p:pic>
        <p:nvPicPr>
          <p:cNvPr id="40" name="think hard page 13" descr="/NAS/SJ/POSTECH/nlp/figs/icons/pagehot.png">    </p:cNvPr>
          <p:cNvPicPr>
            <a:picLocks noChangeAspect="1"/>
          </p:cNvPicPr>
          <p:nvPr/>
        </p:nvPicPr>
        <p:blipFill>
          <a:blip r:embed="rId25"/>
          <a:stretch>
            <a:fillRect/>
          </a:stretch>
        </p:blipFill>
        <p:spPr>
          <a:xfrm>
            <a:off x="10405872" y="3081528"/>
            <a:ext cx="182880" cy="201168"/>
          </a:xfrm>
          <a:prstGeom prst="rect">
            <a:avLst/>
          </a:prstGeom>
        </p:spPr>
      </p:pic>
      <p:pic>
        <p:nvPicPr>
          <p:cNvPr id="41" name="think hard page 14" descr="/NAS/SJ/POSTECH/nlp/figs/icons/pagehot.png">    </p:cNvPr>
          <p:cNvPicPr>
            <a:picLocks noChangeAspect="1"/>
          </p:cNvPicPr>
          <p:nvPr/>
        </p:nvPicPr>
        <p:blipFill>
          <a:blip r:embed="rId26"/>
          <a:stretch>
            <a:fillRect/>
          </a:stretch>
        </p:blipFill>
        <p:spPr>
          <a:xfrm>
            <a:off x="10597896" y="3081528"/>
            <a:ext cx="182880" cy="201168"/>
          </a:xfrm>
          <a:prstGeom prst="rect">
            <a:avLst/>
          </a:prstGeom>
        </p:spPr>
      </p:pic>
      <p:pic>
        <p:nvPicPr>
          <p:cNvPr id="42" name="think hard page 15" descr="/NAS/SJ/POSTECH/nlp/figs/icons/pagehot.png">    </p:cNvPr>
          <p:cNvPicPr>
            <a:picLocks noChangeAspect="1"/>
          </p:cNvPicPr>
          <p:nvPr/>
        </p:nvPicPr>
        <p:blipFill>
          <a:blip r:embed="rId27"/>
          <a:stretch>
            <a:fillRect/>
          </a:stretch>
        </p:blipFill>
        <p:spPr>
          <a:xfrm>
            <a:off x="10789920" y="3081528"/>
            <a:ext cx="182880" cy="201168"/>
          </a:xfrm>
          <a:prstGeom prst="rect">
            <a:avLst/>
          </a:prstGeom>
        </p:spPr>
      </p:pic>
      <p:pic>
        <p:nvPicPr>
          <p:cNvPr id="43" name="think hard page 16" descr="/NAS/SJ/POSTECH/nlp/figs/icons/pagehot.png">    </p:cNvPr>
          <p:cNvPicPr>
            <a:picLocks noChangeAspect="1"/>
          </p:cNvPicPr>
          <p:nvPr/>
        </p:nvPicPr>
        <p:blipFill>
          <a:blip r:embed="rId28"/>
          <a:stretch>
            <a:fillRect/>
          </a:stretch>
        </p:blipFill>
        <p:spPr>
          <a:xfrm>
            <a:off x="10981944" y="3081528"/>
            <a:ext cx="182880" cy="201168"/>
          </a:xfrm>
          <a:prstGeom prst="rect">
            <a:avLst/>
          </a:prstGeom>
        </p:spPr>
      </p:pic>
      <p:pic>
        <p:nvPicPr>
          <p:cNvPr id="44" name="think hard page 17" descr="/NAS/SJ/POSTECH/nlp/figs/icons/pagehot.png">    </p:cNvPr>
          <p:cNvPicPr>
            <a:picLocks noChangeAspect="1"/>
          </p:cNvPicPr>
          <p:nvPr/>
        </p:nvPicPr>
        <p:blipFill>
          <a:blip r:embed="rId29"/>
          <a:stretch>
            <a:fillRect/>
          </a:stretch>
        </p:blipFill>
        <p:spPr>
          <a:xfrm>
            <a:off x="11173968" y="3081528"/>
            <a:ext cx="182880" cy="201168"/>
          </a:xfrm>
          <a:prstGeom prst="rect">
            <a:avLst/>
          </a:prstGeom>
        </p:spPr>
      </p:pic>
      <p:pic>
        <p:nvPicPr>
          <p:cNvPr id="45" name="think hard page 18" descr="/NAS/SJ/POSTECH/nlp/figs/icons/pagehot.png">    </p:cNvPr>
          <p:cNvPicPr>
            <a:picLocks noChangeAspect="1"/>
          </p:cNvPicPr>
          <p:nvPr/>
        </p:nvPicPr>
        <p:blipFill>
          <a:blip r:embed="rId30"/>
          <a:stretch>
            <a:fillRect/>
          </a:stretch>
        </p:blipFill>
        <p:spPr>
          <a:xfrm>
            <a:off x="7909560" y="3300984"/>
            <a:ext cx="182880" cy="201168"/>
          </a:xfrm>
          <a:prstGeom prst="rect">
            <a:avLst/>
          </a:prstGeom>
        </p:spPr>
      </p:pic>
      <p:pic>
        <p:nvPicPr>
          <p:cNvPr id="46" name="think hard page 19" descr="/NAS/SJ/POSTECH/nlp/figs/icons/pagehot.png">    </p:cNvPr>
          <p:cNvPicPr>
            <a:picLocks noChangeAspect="1"/>
          </p:cNvPicPr>
          <p:nvPr/>
        </p:nvPicPr>
        <p:blipFill>
          <a:blip r:embed="rId31"/>
          <a:stretch>
            <a:fillRect/>
          </a:stretch>
        </p:blipFill>
        <p:spPr>
          <a:xfrm>
            <a:off x="8101584" y="3300984"/>
            <a:ext cx="182880" cy="201168"/>
          </a:xfrm>
          <a:prstGeom prst="rect">
            <a:avLst/>
          </a:prstGeom>
        </p:spPr>
      </p:pic>
      <p:pic>
        <p:nvPicPr>
          <p:cNvPr id="47" name="think hard page 20" descr="/NAS/SJ/POSTECH/nlp/figs/icons/pagehot.png">    </p:cNvPr>
          <p:cNvPicPr>
            <a:picLocks noChangeAspect="1"/>
          </p:cNvPicPr>
          <p:nvPr/>
        </p:nvPicPr>
        <p:blipFill>
          <a:blip r:embed="rId32"/>
          <a:stretch>
            <a:fillRect/>
          </a:stretch>
        </p:blipFill>
        <p:spPr>
          <a:xfrm>
            <a:off x="8293608" y="3300984"/>
            <a:ext cx="182880" cy="201168"/>
          </a:xfrm>
          <a:prstGeom prst="rect">
            <a:avLst/>
          </a:prstGeom>
        </p:spPr>
      </p:pic>
      <p:pic>
        <p:nvPicPr>
          <p:cNvPr id="48" name="think hard page 21" descr="/NAS/SJ/POSTECH/nlp/figs/icons/pagehot.png">    </p:cNvPr>
          <p:cNvPicPr>
            <a:picLocks noChangeAspect="1"/>
          </p:cNvPicPr>
          <p:nvPr/>
        </p:nvPicPr>
        <p:blipFill>
          <a:blip r:embed="rId33"/>
          <a:stretch>
            <a:fillRect/>
          </a:stretch>
        </p:blipFill>
        <p:spPr>
          <a:xfrm>
            <a:off x="8485632" y="3300984"/>
            <a:ext cx="182880" cy="201168"/>
          </a:xfrm>
          <a:prstGeom prst="rect">
            <a:avLst/>
          </a:prstGeom>
        </p:spPr>
      </p:pic>
      <p:pic>
        <p:nvPicPr>
          <p:cNvPr id="49" name="think hard page 22" descr="/NAS/SJ/POSTECH/nlp/figs/icons/pagehot.png">    </p:cNvPr>
          <p:cNvPicPr>
            <a:picLocks noChangeAspect="1"/>
          </p:cNvPicPr>
          <p:nvPr/>
        </p:nvPicPr>
        <p:blipFill>
          <a:blip r:embed="rId34"/>
          <a:stretch>
            <a:fillRect/>
          </a:stretch>
        </p:blipFill>
        <p:spPr>
          <a:xfrm>
            <a:off x="8677656" y="3300984"/>
            <a:ext cx="182880" cy="201168"/>
          </a:xfrm>
          <a:prstGeom prst="rect">
            <a:avLst/>
          </a:prstGeom>
        </p:spPr>
      </p:pic>
      <p:pic>
        <p:nvPicPr>
          <p:cNvPr id="50" name="think hard page 23" descr="/NAS/SJ/POSTECH/nlp/figs/icons/pagehot.png">    </p:cNvPr>
          <p:cNvPicPr>
            <a:picLocks noChangeAspect="1"/>
          </p:cNvPicPr>
          <p:nvPr/>
        </p:nvPicPr>
        <p:blipFill>
          <a:blip r:embed="rId35"/>
          <a:stretch>
            <a:fillRect/>
          </a:stretch>
        </p:blipFill>
        <p:spPr>
          <a:xfrm>
            <a:off x="8869680" y="3300984"/>
            <a:ext cx="182880" cy="201168"/>
          </a:xfrm>
          <a:prstGeom prst="rect">
            <a:avLst/>
          </a:prstGeom>
        </p:spPr>
      </p:pic>
      <p:pic>
        <p:nvPicPr>
          <p:cNvPr id="51" name="think hard page 24" descr="/NAS/SJ/POSTECH/nlp/figs/icons/pagehot.png">    </p:cNvPr>
          <p:cNvPicPr>
            <a:picLocks noChangeAspect="1"/>
          </p:cNvPicPr>
          <p:nvPr/>
        </p:nvPicPr>
        <p:blipFill>
          <a:blip r:embed="rId36"/>
          <a:stretch>
            <a:fillRect/>
          </a:stretch>
        </p:blipFill>
        <p:spPr>
          <a:xfrm>
            <a:off x="9061704" y="3300984"/>
            <a:ext cx="182880" cy="201168"/>
          </a:xfrm>
          <a:prstGeom prst="rect">
            <a:avLst/>
          </a:prstGeom>
        </p:spPr>
      </p:pic>
      <p:pic>
        <p:nvPicPr>
          <p:cNvPr id="52" name="think hard page 25" descr="/NAS/SJ/POSTECH/nlp/figs/icons/pagehot.png">    </p:cNvPr>
          <p:cNvPicPr>
            <a:picLocks noChangeAspect="1"/>
          </p:cNvPicPr>
          <p:nvPr/>
        </p:nvPicPr>
        <p:blipFill>
          <a:blip r:embed="rId37"/>
          <a:stretch>
            <a:fillRect/>
          </a:stretch>
        </p:blipFill>
        <p:spPr>
          <a:xfrm>
            <a:off x="9253728" y="3300984"/>
            <a:ext cx="182880" cy="201168"/>
          </a:xfrm>
          <a:prstGeom prst="rect">
            <a:avLst/>
          </a:prstGeom>
        </p:spPr>
      </p:pic>
      <p:pic>
        <p:nvPicPr>
          <p:cNvPr id="53" name="think hard page 26" descr="/NAS/SJ/POSTECH/nlp/figs/icons/pagehot.png">    </p:cNvPr>
          <p:cNvPicPr>
            <a:picLocks noChangeAspect="1"/>
          </p:cNvPicPr>
          <p:nvPr/>
        </p:nvPicPr>
        <p:blipFill>
          <a:blip r:embed="rId38"/>
          <a:stretch>
            <a:fillRect/>
          </a:stretch>
        </p:blipFill>
        <p:spPr>
          <a:xfrm>
            <a:off x="9445752" y="3300984"/>
            <a:ext cx="182880" cy="201168"/>
          </a:xfrm>
          <a:prstGeom prst="rect">
            <a:avLst/>
          </a:prstGeom>
        </p:spPr>
      </p:pic>
      <p:pic>
        <p:nvPicPr>
          <p:cNvPr id="54" name="think hard page 27" descr="/NAS/SJ/POSTECH/nlp/figs/icons/pagehot.png">    </p:cNvPr>
          <p:cNvPicPr>
            <a:picLocks noChangeAspect="1"/>
          </p:cNvPicPr>
          <p:nvPr/>
        </p:nvPicPr>
        <p:blipFill>
          <a:blip r:embed="rId39"/>
          <a:stretch>
            <a:fillRect/>
          </a:stretch>
        </p:blipFill>
        <p:spPr>
          <a:xfrm>
            <a:off x="9637776" y="3300984"/>
            <a:ext cx="182880" cy="201168"/>
          </a:xfrm>
          <a:prstGeom prst="rect">
            <a:avLst/>
          </a:prstGeom>
        </p:spPr>
      </p:pic>
      <p:pic>
        <p:nvPicPr>
          <p:cNvPr id="55" name="think hard page 28" descr="/NAS/SJ/POSTECH/nlp/figs/icons/pagehot.png">    </p:cNvPr>
          <p:cNvPicPr>
            <a:picLocks noChangeAspect="1"/>
          </p:cNvPicPr>
          <p:nvPr/>
        </p:nvPicPr>
        <p:blipFill>
          <a:blip r:embed="rId40"/>
          <a:stretch>
            <a:fillRect/>
          </a:stretch>
        </p:blipFill>
        <p:spPr>
          <a:xfrm>
            <a:off x="9829800" y="3300984"/>
            <a:ext cx="182880" cy="201168"/>
          </a:xfrm>
          <a:prstGeom prst="rect">
            <a:avLst/>
          </a:prstGeom>
        </p:spPr>
      </p:pic>
      <p:pic>
        <p:nvPicPr>
          <p:cNvPr id="56" name="think hard page 29" descr="/NAS/SJ/POSTECH/nlp/figs/icons/pagehot.png">    </p:cNvPr>
          <p:cNvPicPr>
            <a:picLocks noChangeAspect="1"/>
          </p:cNvPicPr>
          <p:nvPr/>
        </p:nvPicPr>
        <p:blipFill>
          <a:blip r:embed="rId41"/>
          <a:stretch>
            <a:fillRect/>
          </a:stretch>
        </p:blipFill>
        <p:spPr>
          <a:xfrm>
            <a:off x="10021824" y="3300984"/>
            <a:ext cx="182880" cy="201168"/>
          </a:xfrm>
          <a:prstGeom prst="rect">
            <a:avLst/>
          </a:prstGeom>
        </p:spPr>
      </p:pic>
      <p:pic>
        <p:nvPicPr>
          <p:cNvPr id="57" name="think hard page 30" descr="/NAS/SJ/POSTECH/nlp/figs/icons/pagehot.png">    </p:cNvPr>
          <p:cNvPicPr>
            <a:picLocks noChangeAspect="1"/>
          </p:cNvPicPr>
          <p:nvPr/>
        </p:nvPicPr>
        <p:blipFill>
          <a:blip r:embed="rId42"/>
          <a:stretch>
            <a:fillRect/>
          </a:stretch>
        </p:blipFill>
        <p:spPr>
          <a:xfrm>
            <a:off x="10213848" y="3300984"/>
            <a:ext cx="182880" cy="201168"/>
          </a:xfrm>
          <a:prstGeom prst="rect">
            <a:avLst/>
          </a:prstGeom>
        </p:spPr>
      </p:pic>
      <p:pic>
        <p:nvPicPr>
          <p:cNvPr id="58" name="think hard page 31" descr="/NAS/SJ/POSTECH/nlp/figs/icons/pagehot.png">    </p:cNvPr>
          <p:cNvPicPr>
            <a:picLocks noChangeAspect="1"/>
          </p:cNvPicPr>
          <p:nvPr/>
        </p:nvPicPr>
        <p:blipFill>
          <a:blip r:embed="rId43"/>
          <a:stretch>
            <a:fillRect/>
          </a:stretch>
        </p:blipFill>
        <p:spPr>
          <a:xfrm>
            <a:off x="10405872" y="3300984"/>
            <a:ext cx="182880" cy="201168"/>
          </a:xfrm>
          <a:prstGeom prst="rect">
            <a:avLst/>
          </a:prstGeom>
        </p:spPr>
      </p:pic>
      <p:pic>
        <p:nvPicPr>
          <p:cNvPr id="59" name="think hard page 32" descr="/NAS/SJ/POSTECH/nlp/figs/icons/pagehot.png">    </p:cNvPr>
          <p:cNvPicPr>
            <a:picLocks noChangeAspect="1"/>
          </p:cNvPicPr>
          <p:nvPr/>
        </p:nvPicPr>
        <p:blipFill>
          <a:blip r:embed="rId44"/>
          <a:stretch>
            <a:fillRect/>
          </a:stretch>
        </p:blipFill>
        <p:spPr>
          <a:xfrm>
            <a:off x="10597896" y="3300984"/>
            <a:ext cx="182880" cy="201168"/>
          </a:xfrm>
          <a:prstGeom prst="rect">
            <a:avLst/>
          </a:prstGeom>
        </p:spPr>
      </p:pic>
      <p:pic>
        <p:nvPicPr>
          <p:cNvPr id="60" name="think hard page 33" descr="/NAS/SJ/POSTECH/nlp/figs/icons/pagehot.png">    </p:cNvPr>
          <p:cNvPicPr>
            <a:picLocks noChangeAspect="1"/>
          </p:cNvPicPr>
          <p:nvPr/>
        </p:nvPicPr>
        <p:blipFill>
          <a:blip r:embed="rId45"/>
          <a:stretch>
            <a:fillRect/>
          </a:stretch>
        </p:blipFill>
        <p:spPr>
          <a:xfrm>
            <a:off x="10789920" y="3300984"/>
            <a:ext cx="182880" cy="201168"/>
          </a:xfrm>
          <a:prstGeom prst="rect">
            <a:avLst/>
          </a:prstGeom>
        </p:spPr>
      </p:pic>
      <p:pic>
        <p:nvPicPr>
          <p:cNvPr id="61" name="think hard page 34" descr="/NAS/SJ/POSTECH/nlp/figs/icons/pagehot.png">    </p:cNvPr>
          <p:cNvPicPr>
            <a:picLocks noChangeAspect="1"/>
          </p:cNvPicPr>
          <p:nvPr/>
        </p:nvPicPr>
        <p:blipFill>
          <a:blip r:embed="rId46"/>
          <a:stretch>
            <a:fillRect/>
          </a:stretch>
        </p:blipFill>
        <p:spPr>
          <a:xfrm>
            <a:off x="10981944" y="3300984"/>
            <a:ext cx="182880" cy="201168"/>
          </a:xfrm>
          <a:prstGeom prst="rect">
            <a:avLst/>
          </a:prstGeom>
        </p:spPr>
      </p:pic>
      <p:pic>
        <p:nvPicPr>
          <p:cNvPr id="62" name="think hard page 35" descr="/NAS/SJ/POSTECH/nlp/figs/icons/pagehot.png">    </p:cNvPr>
          <p:cNvPicPr>
            <a:picLocks noChangeAspect="1"/>
          </p:cNvPicPr>
          <p:nvPr/>
        </p:nvPicPr>
        <p:blipFill>
          <a:blip r:embed="rId47"/>
          <a:stretch>
            <a:fillRect/>
          </a:stretch>
        </p:blipFill>
        <p:spPr>
          <a:xfrm>
            <a:off x="11173968" y="3300984"/>
            <a:ext cx="182880" cy="201168"/>
          </a:xfrm>
          <a:prstGeom prst="rect">
            <a:avLst/>
          </a:prstGeom>
        </p:spPr>
      </p:pic>
      <p:pic>
        <p:nvPicPr>
          <p:cNvPr id="63" name="think hard page 36" descr="/NAS/SJ/POSTECH/nlp/figs/icons/pagehot.png">    </p:cNvPr>
          <p:cNvPicPr>
            <a:picLocks noChangeAspect="1"/>
          </p:cNvPicPr>
          <p:nvPr/>
        </p:nvPicPr>
        <p:blipFill>
          <a:blip r:embed="rId48"/>
          <a:stretch>
            <a:fillRect/>
          </a:stretch>
        </p:blipFill>
        <p:spPr>
          <a:xfrm>
            <a:off x="7909560" y="3520440"/>
            <a:ext cx="182880" cy="201168"/>
          </a:xfrm>
          <a:prstGeom prst="rect">
            <a:avLst/>
          </a:prstGeom>
        </p:spPr>
      </p:pic>
      <p:pic>
        <p:nvPicPr>
          <p:cNvPr id="64" name="think hard page 37" descr="/NAS/SJ/POSTECH/nlp/figs/icons/pagehot.png">    </p:cNvPr>
          <p:cNvPicPr>
            <a:picLocks noChangeAspect="1"/>
          </p:cNvPicPr>
          <p:nvPr/>
        </p:nvPicPr>
        <p:blipFill>
          <a:blip r:embed="rId49"/>
          <a:stretch>
            <a:fillRect/>
          </a:stretch>
        </p:blipFill>
        <p:spPr>
          <a:xfrm>
            <a:off x="8101584" y="3520440"/>
            <a:ext cx="182880" cy="201168"/>
          </a:xfrm>
          <a:prstGeom prst="rect">
            <a:avLst/>
          </a:prstGeom>
        </p:spPr>
      </p:pic>
      <p:pic>
        <p:nvPicPr>
          <p:cNvPr id="65" name="think hard page 38" descr="/NAS/SJ/POSTECH/nlp/figs/icons/pagehot.png">    </p:cNvPr>
          <p:cNvPicPr>
            <a:picLocks noChangeAspect="1"/>
          </p:cNvPicPr>
          <p:nvPr/>
        </p:nvPicPr>
        <p:blipFill>
          <a:blip r:embed="rId50"/>
          <a:stretch>
            <a:fillRect/>
          </a:stretch>
        </p:blipFill>
        <p:spPr>
          <a:xfrm>
            <a:off x="8293608" y="3520440"/>
            <a:ext cx="182880" cy="201168"/>
          </a:xfrm>
          <a:prstGeom prst="rect">
            <a:avLst/>
          </a:prstGeom>
        </p:spPr>
      </p:pic>
      <p:pic>
        <p:nvPicPr>
          <p:cNvPr id="66" name="think hard page 39" descr="/NAS/SJ/POSTECH/nlp/figs/icons/pagehot.png">    </p:cNvPr>
          <p:cNvPicPr>
            <a:picLocks noChangeAspect="1"/>
          </p:cNvPicPr>
          <p:nvPr/>
        </p:nvPicPr>
        <p:blipFill>
          <a:blip r:embed="rId51"/>
          <a:stretch>
            <a:fillRect/>
          </a:stretch>
        </p:blipFill>
        <p:spPr>
          <a:xfrm>
            <a:off x="8485632" y="3520440"/>
            <a:ext cx="182880" cy="201168"/>
          </a:xfrm>
          <a:prstGeom prst="rect">
            <a:avLst/>
          </a:prstGeom>
        </p:spPr>
      </p:pic>
      <p:pic>
        <p:nvPicPr>
          <p:cNvPr id="67" name="think hard page 40" descr="/NAS/SJ/POSTECH/nlp/figs/icons/pagehot.png">    </p:cNvPr>
          <p:cNvPicPr>
            <a:picLocks noChangeAspect="1"/>
          </p:cNvPicPr>
          <p:nvPr/>
        </p:nvPicPr>
        <p:blipFill>
          <a:blip r:embed="rId52"/>
          <a:stretch>
            <a:fillRect/>
          </a:stretch>
        </p:blipFill>
        <p:spPr>
          <a:xfrm>
            <a:off x="8677656" y="3520440"/>
            <a:ext cx="182880" cy="201168"/>
          </a:xfrm>
          <a:prstGeom prst="rect">
            <a:avLst/>
          </a:prstGeom>
        </p:spPr>
      </p:pic>
      <p:pic>
        <p:nvPicPr>
          <p:cNvPr id="68" name="think hard page 41" descr="/NAS/SJ/POSTECH/nlp/figs/icons/pagehot.png">    </p:cNvPr>
          <p:cNvPicPr>
            <a:picLocks noChangeAspect="1"/>
          </p:cNvPicPr>
          <p:nvPr/>
        </p:nvPicPr>
        <p:blipFill>
          <a:blip r:embed="rId53"/>
          <a:stretch>
            <a:fillRect/>
          </a:stretch>
        </p:blipFill>
        <p:spPr>
          <a:xfrm>
            <a:off x="8869680" y="3520440"/>
            <a:ext cx="182880" cy="201168"/>
          </a:xfrm>
          <a:prstGeom prst="rect">
            <a:avLst/>
          </a:prstGeom>
        </p:spPr>
      </p:pic>
      <p:pic>
        <p:nvPicPr>
          <p:cNvPr id="69" name="think hard page 42" descr="/NAS/SJ/POSTECH/nlp/figs/icons/pagehot.png">    </p:cNvPr>
          <p:cNvPicPr>
            <a:picLocks noChangeAspect="1"/>
          </p:cNvPicPr>
          <p:nvPr/>
        </p:nvPicPr>
        <p:blipFill>
          <a:blip r:embed="rId54"/>
          <a:stretch>
            <a:fillRect/>
          </a:stretch>
        </p:blipFill>
        <p:spPr>
          <a:xfrm>
            <a:off x="9061704" y="3520440"/>
            <a:ext cx="182880" cy="201168"/>
          </a:xfrm>
          <a:prstGeom prst="rect">
            <a:avLst/>
          </a:prstGeom>
        </p:spPr>
      </p:pic>
      <p:sp>
        <p:nvSpPr>
          <p:cNvPr id="70" name="Text 14"/>
          <p:cNvSpPr txBox="1"/>
          <p:nvPr/>
        </p:nvSpPr>
        <p:spPr>
          <a:xfrm>
            <a:off x="6400800" y="4251960"/>
            <a:ext cx="5120640" cy="548640"/>
          </a:xfrm>
          <a:prstGeom prst="rect">
            <a:avLst/>
          </a:prstGeom>
          <a:noFill/>
          <a:ln/>
        </p:spPr>
        <p:txBody>
          <a:bodyPr wrap="square" lIns="0" tIns="0" rIns="0" bIns="0" rtlCol="0" anchor="ctr"/>
          <a:lstStyle/>
          <a:p>
            <a:pPr indent="0" marL="0">
              <a:buNone/>
            </a:pPr>
            <a:r>
              <a:rPr lang="en-US" sz="2400" b="1" dirty="0">
                <a:solidFill>
                  <a:srgbClr val="ED7D31"/>
                </a:solidFill>
              </a:rPr>
              <a:t>4.4× the pages</a:t>
            </a:r>
            <a:pPr indent="0" marL="0">
              <a:buNone/>
            </a:pPr>
            <a:r>
              <a:rPr lang="en-US" sz="1700" dirty="0">
                <a:solidFill>
                  <a:schemeClr val="tx1"/>
                </a:solidFill>
              </a:rPr>
              <a:t>  for 9 more points</a:t>
            </a:r>
            <a:endParaRPr lang="en-US" sz="1600" dirty="0"/>
          </a:p>
        </p:txBody>
      </p:sp>
      <p:sp>
        <p:nvSpPr>
          <p:cNvPr id="71" name="our question"/>
          <p:cNvSpPr/>
          <p:nvPr/>
        </p:nvSpPr>
        <p:spPr>
          <a:xfrm>
            <a:off x="548640" y="5257800"/>
            <a:ext cx="11064240" cy="822960"/>
          </a:xfrm>
          <a:prstGeom prst="roundRect">
            <a:avLst>
              <a:gd name="adj" fmla="val 8889"/>
            </a:avLst>
          </a:prstGeom>
          <a:solidFill>
            <a:srgbClr val="DEEBF7"/>
          </a:solidFill>
          <a:ln w="9525">
            <a:solidFill>
              <a:srgbClr val="BDD7EE"/>
            </a:solidFill>
            <a:prstDash val="solid"/>
          </a:ln>
        </p:spPr>
      </p:sp>
      <p:sp>
        <p:nvSpPr>
          <p:cNvPr id="72" name="Text 16"/>
          <p:cNvSpPr txBox="1"/>
          <p:nvPr/>
        </p:nvSpPr>
        <p:spPr>
          <a:xfrm>
            <a:off x="777240" y="5257800"/>
            <a:ext cx="5029200" cy="822960"/>
          </a:xfrm>
          <a:prstGeom prst="rect">
            <a:avLst/>
          </a:prstGeom>
          <a:noFill/>
          <a:ln/>
        </p:spPr>
        <p:txBody>
          <a:bodyPr wrap="square" lIns="0" tIns="0" rIns="0" bIns="0" rtlCol="0" anchor="ctr"/>
          <a:lstStyle/>
          <a:p>
            <a:pPr indent="0" marL="0">
              <a:buNone/>
            </a:pPr>
            <a:r>
              <a:rPr lang="en-US" sz="1900" b="1" dirty="0">
                <a:solidFill>
                  <a:srgbClr val="4472C4"/>
                </a:solidFill>
              </a:rPr>
              <a:t>Our question: where should the extra effort go?</a:t>
            </a:r>
            <a:endParaRPr lang="en-US" sz="1900" dirty="0"/>
          </a:p>
        </p:txBody>
      </p:sp>
      <p:sp>
        <p:nvSpPr>
          <p:cNvPr id="73" name="choice a missing fact"/>
          <p:cNvSpPr/>
          <p:nvPr/>
        </p:nvSpPr>
        <p:spPr>
          <a:xfrm>
            <a:off x="5715000" y="5413248"/>
            <a:ext cx="1874520" cy="502920"/>
          </a:xfrm>
          <a:prstGeom prst="roundRect">
            <a:avLst>
              <a:gd name="adj" fmla="val 36364"/>
            </a:avLst>
          </a:prstGeom>
          <a:solidFill>
            <a:srgbClr val="E2F0D9"/>
          </a:solidFill>
          <a:ln w="12700">
            <a:solidFill>
              <a:srgbClr val="38761D"/>
            </a:solidFill>
            <a:prstDash val="solid"/>
          </a:ln>
        </p:spPr>
      </p:sp>
      <p:pic>
        <p:nvPicPr>
          <p:cNvPr id="74" name="choice icon fact" descr="/NAS/SJ/POSTECH/nlp/figs/icons/fact.png">    </p:cNvPr>
          <p:cNvPicPr>
            <a:picLocks noChangeAspect="1"/>
          </p:cNvPicPr>
          <p:nvPr/>
        </p:nvPicPr>
        <p:blipFill>
          <a:blip r:embed="rId55"/>
          <a:stretch>
            <a:fillRect/>
          </a:stretch>
        </p:blipFill>
        <p:spPr>
          <a:xfrm>
            <a:off x="5824728" y="5500116"/>
            <a:ext cx="329184" cy="329184"/>
          </a:xfrm>
          <a:prstGeom prst="rect">
            <a:avLst/>
          </a:prstGeom>
        </p:spPr>
      </p:pic>
      <p:sp>
        <p:nvSpPr>
          <p:cNvPr id="75" name="Text 18"/>
          <p:cNvSpPr txBox="1"/>
          <p:nvPr/>
        </p:nvSpPr>
        <p:spPr>
          <a:xfrm>
            <a:off x="621792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missing fact</a:t>
            </a:r>
            <a:endParaRPr lang="en-US" sz="1500" dirty="0"/>
          </a:p>
        </p:txBody>
      </p:sp>
      <p:sp>
        <p:nvSpPr>
          <p:cNvPr id="76" name="choice a free check"/>
          <p:cNvSpPr/>
          <p:nvPr/>
        </p:nvSpPr>
        <p:spPr>
          <a:xfrm>
            <a:off x="7680960" y="5413248"/>
            <a:ext cx="1874520" cy="502920"/>
          </a:xfrm>
          <a:prstGeom prst="roundRect">
            <a:avLst>
              <a:gd name="adj" fmla="val 36364"/>
            </a:avLst>
          </a:prstGeom>
          <a:solidFill>
            <a:srgbClr val="E2F0D9"/>
          </a:solidFill>
          <a:ln w="12700">
            <a:solidFill>
              <a:srgbClr val="38761D"/>
            </a:solidFill>
            <a:prstDash val="solid"/>
          </a:ln>
        </p:spPr>
      </p:sp>
      <p:pic>
        <p:nvPicPr>
          <p:cNvPr id="77" name="choice icon check" descr="/NAS/SJ/POSTECH/nlp/figs/icons/check.png">    </p:cNvPr>
          <p:cNvPicPr>
            <a:picLocks noChangeAspect="1"/>
          </p:cNvPicPr>
          <p:nvPr/>
        </p:nvPicPr>
        <p:blipFill>
          <a:blip r:embed="rId56"/>
          <a:stretch>
            <a:fillRect/>
          </a:stretch>
        </p:blipFill>
        <p:spPr>
          <a:xfrm>
            <a:off x="7790688" y="5500116"/>
            <a:ext cx="329184" cy="329184"/>
          </a:xfrm>
          <a:prstGeom prst="rect">
            <a:avLst/>
          </a:prstGeom>
        </p:spPr>
      </p:pic>
      <p:sp>
        <p:nvSpPr>
          <p:cNvPr id="78" name="Text 20"/>
          <p:cNvSpPr txBox="1"/>
          <p:nvPr/>
        </p:nvSpPr>
        <p:spPr>
          <a:xfrm>
            <a:off x="818388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79" name="choice more thinking"/>
          <p:cNvSpPr/>
          <p:nvPr/>
        </p:nvSpPr>
        <p:spPr>
          <a:xfrm>
            <a:off x="9646920" y="5413248"/>
            <a:ext cx="1874520" cy="502920"/>
          </a:xfrm>
          <a:prstGeom prst="roundRect">
            <a:avLst>
              <a:gd name="adj" fmla="val 36364"/>
            </a:avLst>
          </a:prstGeom>
          <a:solidFill>
            <a:srgbClr val="FADBD8"/>
          </a:solidFill>
          <a:ln w="12700">
            <a:solidFill>
              <a:srgbClr val="C00000"/>
            </a:solidFill>
            <a:prstDash val="solid"/>
          </a:ln>
        </p:spPr>
      </p:sp>
      <p:pic>
        <p:nvPicPr>
          <p:cNvPr id="80" name="choice icon brain" descr="/NAS/SJ/POSTECH/nlp/figs/icons/brain.png">    </p:cNvPr>
          <p:cNvPicPr>
            <a:picLocks noChangeAspect="1"/>
          </p:cNvPicPr>
          <p:nvPr/>
        </p:nvPicPr>
        <p:blipFill>
          <a:blip r:embed="rId57"/>
          <a:stretch>
            <a:fillRect/>
          </a:stretch>
        </p:blipFill>
        <p:spPr>
          <a:xfrm>
            <a:off x="9756648" y="5500116"/>
            <a:ext cx="329184" cy="329184"/>
          </a:xfrm>
          <a:prstGeom prst="rect">
            <a:avLst/>
          </a:prstGeom>
        </p:spPr>
      </p:pic>
      <p:sp>
        <p:nvSpPr>
          <p:cNvPr id="81" name="Text 22"/>
          <p:cNvSpPr txBox="1"/>
          <p:nvPr/>
        </p:nvSpPr>
        <p:spPr>
          <a:xfrm>
            <a:off x="10149840" y="5413248"/>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choice a missing fact"/>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missing fact</a:t>
            </a:r>
            <a:endParaRPr lang="en-US" sz="1400" dirty="0"/>
          </a:p>
        </p:txBody>
      </p:sp>
      <p:sp>
        <p:nvSpPr>
          <p:cNvPr id="6" name="Text 3"/>
          <p:cNvSpPr txBox="1"/>
          <p:nvPr/>
        </p:nvSpPr>
        <p:spPr>
          <a:xfrm>
            <a:off x="841248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9692640" y="978408"/>
            <a:ext cx="274320" cy="274320"/>
          </a:xfrm>
          <a:prstGeom prst="rect">
            <a:avLst/>
          </a:prstGeom>
        </p:spPr>
      </p:pic>
      <p:pic>
        <p:nvPicPr>
          <p:cNvPr id="8" name="not shown on trophy" descr="/NAS/SJ/POSTECH/nlp/figs/icons/trophy.png">    </p:cNvPr>
          <p:cNvPicPr>
            <a:picLocks noChangeAspect="1"/>
          </p:cNvPicPr>
          <p:nvPr/>
        </p:nvPicPr>
        <p:blipFill>
          <a:blip r:embed="rId3">
            <a:alphaModFix amt="18000"/>
          </a:blip>
          <a:stretch>
            <a:fillRect/>
          </a:stretch>
        </p:blipFill>
        <p:spPr>
          <a:xfrm>
            <a:off x="1007668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46073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0844784" y="978408"/>
            <a:ext cx="274320" cy="274320"/>
          </a:xfrm>
          <a:prstGeom prst="rect">
            <a:avLst/>
          </a:prstGeom>
        </p:spPr>
      </p:pic>
      <p:pic>
        <p:nvPicPr>
          <p:cNvPr id="11" name="not shown on sqrt" descr="/NAS/SJ/POSTECH/nlp/figs/icons/sqrt.png">    </p:cNvPr>
          <p:cNvPicPr>
            <a:picLocks noChangeAspect="1"/>
          </p:cNvPicPr>
          <p:nvPr/>
        </p:nvPicPr>
        <p:blipFill>
          <a:blip r:embed="rId6">
            <a:alphaModFix amt="18000"/>
          </a:blip>
          <a:stretch>
            <a:fillRect/>
          </a:stretch>
        </p:blipFill>
        <p:spPr>
          <a:xfrm>
            <a:off x="11228832" y="978408"/>
            <a:ext cx="274320" cy="274320"/>
          </a:xfrm>
          <a:prstGeom prst="rect">
            <a:avLst/>
          </a:prstGeom>
        </p:spPr>
      </p:pic>
      <p:sp>
        <p:nvSpPr>
          <p:cNvPr id="12" name="Text 4"/>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plans delivery routes with Google's OR-Tools library</a:t>
            </a:r>
            <a:endParaRPr lang="en-US" sz="1700" dirty="0"/>
          </a:p>
        </p:txBody>
      </p:sp>
      <p:sp>
        <p:nvSpPr>
          <p:cNvPr id="13" name="box a long reference she"/>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14" name="Text 6"/>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a long reference sheet</a:t>
            </a:r>
            <a:endParaRPr lang="en-US" sz="1600" dirty="0"/>
          </a:p>
        </p:txBody>
      </p:sp>
      <p:sp>
        <p:nvSpPr>
          <p:cNvPr id="15" name="Shape 7"/>
          <p:cNvSpPr/>
          <p:nvPr/>
        </p:nvSpPr>
        <p:spPr>
          <a:xfrm>
            <a:off x="3017520" y="2057400"/>
            <a:ext cx="320040" cy="0"/>
          </a:xfrm>
          <a:prstGeom prst="line">
            <a:avLst/>
          </a:prstGeom>
          <a:noFill/>
          <a:ln w="25400">
            <a:solidFill>
              <a:srgbClr val="7F7F7F"/>
            </a:solidFill>
            <a:prstDash val="solid"/>
            <a:tailEnd type="triangle"/>
          </a:ln>
        </p:spPr>
      </p:sp>
      <p:sp>
        <p:nvSpPr>
          <p:cNvPr id="16" name="code RegisterUnaryLongLiv"/>
          <p:cNvSpPr/>
          <p:nvPr/>
        </p:nvSpPr>
        <p:spPr>
          <a:xfrm>
            <a:off x="3337560" y="1783080"/>
            <a:ext cx="4480560" cy="548640"/>
          </a:xfrm>
          <a:prstGeom prst="rect">
            <a:avLst/>
          </a:prstGeom>
          <a:solidFill>
            <a:srgbClr val="FFFFFF"/>
          </a:solidFill>
          <a:ln w="9525">
            <a:solidFill>
              <a:srgbClr val="BFBFBF"/>
            </a:solidFill>
            <a:prstDash val="solid"/>
          </a:ln>
        </p:spPr>
      </p:sp>
      <p:sp>
        <p:nvSpPr>
          <p:cNvPr id="17" name="Text 9"/>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RegisterUnaryLongLivingCallback()</a:t>
            </a:r>
            <a:endParaRPr lang="en-US" sz="1500" dirty="0"/>
          </a:p>
        </p:txBody>
      </p:sp>
      <p:sp>
        <p:nvSpPr>
          <p:cNvPr id="18" name="Text 10"/>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does not exist: crash</a:t>
            </a:r>
            <a:endParaRPr lang="en-US" sz="1700" dirty="0"/>
          </a:p>
        </p:txBody>
      </p:sp>
      <p:sp>
        <p:nvSpPr>
          <p:cNvPr id="19" name="box the exact usage (11 "/>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20" name="Text 12"/>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the exact usage (11 lines)</a:t>
            </a:r>
            <a:endParaRPr lang="en-US" sz="1600" dirty="0"/>
          </a:p>
        </p:txBody>
      </p:sp>
      <p:sp>
        <p:nvSpPr>
          <p:cNvPr id="21" name="Shape 13"/>
          <p:cNvSpPr/>
          <p:nvPr/>
        </p:nvSpPr>
        <p:spPr>
          <a:xfrm>
            <a:off x="3017520" y="2788920"/>
            <a:ext cx="320040" cy="0"/>
          </a:xfrm>
          <a:prstGeom prst="line">
            <a:avLst/>
          </a:prstGeom>
          <a:noFill/>
          <a:ln w="25400">
            <a:solidFill>
              <a:srgbClr val="7F7F7F"/>
            </a:solidFill>
            <a:prstDash val="solid"/>
            <a:tailEnd type="triangle"/>
          </a:ln>
        </p:spPr>
      </p:sp>
      <p:sp>
        <p:nvSpPr>
          <p:cNvPr id="22" name="code RegisterUnaryTransit"/>
          <p:cNvSpPr/>
          <p:nvPr/>
        </p:nvSpPr>
        <p:spPr>
          <a:xfrm>
            <a:off x="3337560" y="2514600"/>
            <a:ext cx="4480560" cy="548640"/>
          </a:xfrm>
          <a:prstGeom prst="rect">
            <a:avLst/>
          </a:prstGeom>
          <a:solidFill>
            <a:srgbClr val="FFFFFF"/>
          </a:solidFill>
          <a:ln w="9525">
            <a:solidFill>
              <a:srgbClr val="BFBFBF"/>
            </a:solidFill>
            <a:prstDash val="solid"/>
          </a:ln>
        </p:spPr>
      </p:sp>
      <p:sp>
        <p:nvSpPr>
          <p:cNvPr id="23" name="Text 15"/>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RegisterUnaryTransitCallback()</a:t>
            </a:r>
            <a:endParaRPr lang="en-US" sz="1500" dirty="0"/>
          </a:p>
        </p:txBody>
      </p:sp>
      <p:sp>
        <p:nvSpPr>
          <p:cNvPr id="24" name="Text 16"/>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runs: best route</a:t>
            </a:r>
            <a:endParaRPr lang="en-US" sz="1700" dirty="0"/>
          </a:p>
        </p:txBody>
      </p:sp>
      <p:sp>
        <p:nvSpPr>
          <p:cNvPr id="25" name="Text 17"/>
          <p:cNvSpPr txBox="1"/>
          <p:nvPr/>
        </p:nvSpPr>
        <p:spPr>
          <a:xfrm>
            <a:off x="548640" y="33375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26" name="Text 18"/>
          <p:cNvSpPr txBox="1"/>
          <p:nvPr/>
        </p:nvSpPr>
        <p:spPr>
          <a:xfrm>
            <a:off x="548640" y="37490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27" name="bar nothing extra"/>
          <p:cNvSpPr/>
          <p:nvPr/>
        </p:nvSpPr>
        <p:spPr>
          <a:xfrm>
            <a:off x="3063240" y="3817620"/>
            <a:ext cx="1409090" cy="228600"/>
          </a:xfrm>
          <a:prstGeom prst="rect">
            <a:avLst/>
          </a:prstGeom>
          <a:solidFill>
            <a:srgbClr val="7F7F7F"/>
          </a:solidFill>
          <a:ln w="6350">
            <a:solidFill>
              <a:srgbClr val="7F7F7F"/>
            </a:solidFill>
            <a:prstDash val="solid"/>
          </a:ln>
        </p:spPr>
      </p:sp>
      <p:sp>
        <p:nvSpPr>
          <p:cNvPr id="28" name="Text 20"/>
          <p:cNvSpPr txBox="1"/>
          <p:nvPr/>
        </p:nvSpPr>
        <p:spPr>
          <a:xfrm>
            <a:off x="4563770" y="374904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9" name="Text 21"/>
          <p:cNvSpPr txBox="1"/>
          <p:nvPr/>
        </p:nvSpPr>
        <p:spPr>
          <a:xfrm>
            <a:off x="548640" y="42062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30" name="bar think longer"/>
          <p:cNvSpPr/>
          <p:nvPr/>
        </p:nvSpPr>
        <p:spPr>
          <a:xfrm>
            <a:off x="3063240" y="4274820"/>
            <a:ext cx="183794" cy="228600"/>
          </a:xfrm>
          <a:prstGeom prst="rect">
            <a:avLst/>
          </a:prstGeom>
          <a:solidFill>
            <a:srgbClr val="C00000"/>
          </a:solidFill>
          <a:ln w="6350">
            <a:solidFill>
              <a:srgbClr val="C00000"/>
            </a:solidFill>
            <a:prstDash val="solid"/>
          </a:ln>
        </p:spPr>
      </p:sp>
      <p:sp>
        <p:nvSpPr>
          <p:cNvPr id="31" name="Text 23"/>
          <p:cNvSpPr txBox="1"/>
          <p:nvPr/>
        </p:nvSpPr>
        <p:spPr>
          <a:xfrm>
            <a:off x="3338474" y="420624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32" name="Text 24"/>
          <p:cNvSpPr txBox="1"/>
          <p:nvPr/>
        </p:nvSpPr>
        <p:spPr>
          <a:xfrm>
            <a:off x="548640" y="46634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33" name="bar long reference sheet"/>
          <p:cNvSpPr/>
          <p:nvPr/>
        </p:nvSpPr>
        <p:spPr>
          <a:xfrm>
            <a:off x="3063240" y="4732020"/>
            <a:ext cx="428854" cy="228600"/>
          </a:xfrm>
          <a:prstGeom prst="rect">
            <a:avLst/>
          </a:prstGeom>
          <a:solidFill>
            <a:srgbClr val="C00000"/>
          </a:solidFill>
          <a:ln w="6350">
            <a:solidFill>
              <a:srgbClr val="C00000"/>
            </a:solidFill>
            <a:prstDash val="solid"/>
          </a:ln>
        </p:spPr>
      </p:sp>
      <p:sp>
        <p:nvSpPr>
          <p:cNvPr id="34" name="Text 26"/>
          <p:cNvSpPr txBox="1"/>
          <p:nvPr/>
        </p:nvSpPr>
        <p:spPr>
          <a:xfrm>
            <a:off x="3583534" y="466344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35" name="Text 27"/>
          <p:cNvSpPr txBox="1"/>
          <p:nvPr/>
        </p:nvSpPr>
        <p:spPr>
          <a:xfrm>
            <a:off x="548640" y="51206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36" name="bar exact usage"/>
          <p:cNvSpPr/>
          <p:nvPr/>
        </p:nvSpPr>
        <p:spPr>
          <a:xfrm>
            <a:off x="3063240" y="5189220"/>
            <a:ext cx="5084978" cy="228600"/>
          </a:xfrm>
          <a:prstGeom prst="rect">
            <a:avLst/>
          </a:prstGeom>
          <a:solidFill>
            <a:srgbClr val="4472C4"/>
          </a:solidFill>
          <a:ln w="6350">
            <a:solidFill>
              <a:srgbClr val="4472C4"/>
            </a:solidFill>
            <a:prstDash val="solid"/>
          </a:ln>
        </p:spPr>
      </p:sp>
      <p:sp>
        <p:nvSpPr>
          <p:cNvPr id="37" name="Text 29"/>
          <p:cNvSpPr txBox="1"/>
          <p:nvPr/>
        </p:nvSpPr>
        <p:spPr>
          <a:xfrm>
            <a:off x="8239658" y="512064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77–90% (3 seeds)</a:t>
            </a:r>
            <a:endParaRPr lang="en-US" sz="1800" dirty="0"/>
          </a:p>
        </p:txBody>
      </p:sp>
      <p:sp>
        <p:nvSpPr>
          <p:cNvPr id="38"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supply a fact the model does not have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think only when a free check fails</a:t>
            </a:r>
            <a:endParaRPr lang="en-US" sz="3600" dirty="0"/>
          </a:p>
        </p:txBody>
      </p:sp>
      <p:sp>
        <p:nvSpPr>
          <p:cNvPr id="3"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check" descr="/NAS/SJ/POSTECH/nlp/figs/icons/check.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6" name="Text 3"/>
          <p:cNvSpPr txBox="1"/>
          <p:nvPr/>
        </p:nvSpPr>
        <p:spPr>
          <a:xfrm>
            <a:off x="841248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9692640" y="978408"/>
            <a:ext cx="274320" cy="274320"/>
          </a:xfrm>
          <a:prstGeom prst="rect">
            <a:avLst/>
          </a:prstGeom>
        </p:spPr>
      </p:pic>
      <p:pic>
        <p:nvPicPr>
          <p:cNvPr id="8" name="holds on trophy" descr="/NAS/SJ/POSTECH/nlp/figs/icons/trophy.png">    </p:cNvPr>
          <p:cNvPicPr>
            <a:picLocks noChangeAspect="1"/>
          </p:cNvPicPr>
          <p:nvPr/>
        </p:nvPicPr>
        <p:blipFill>
          <a:blip r:embed="rId3"/>
          <a:stretch>
            <a:fillRect/>
          </a:stretch>
        </p:blipFill>
        <p:spPr>
          <a:xfrm>
            <a:off x="1007668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46073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0844784" y="978408"/>
            <a:ext cx="274320" cy="274320"/>
          </a:xfrm>
          <a:prstGeom prst="rect">
            <a:avLst/>
          </a:prstGeom>
        </p:spPr>
      </p:pic>
      <p:pic>
        <p:nvPicPr>
          <p:cNvPr id="11" name="not shown on sqrt" descr="/NAS/SJ/POSTECH/nlp/figs/icons/sqrt.png">    </p:cNvPr>
          <p:cNvPicPr>
            <a:picLocks noChangeAspect="1"/>
          </p:cNvPicPr>
          <p:nvPr/>
        </p:nvPicPr>
        <p:blipFill>
          <a:blip r:embed="rId6">
            <a:alphaModFix amt="18000"/>
          </a:blip>
          <a:stretch>
            <a:fillRect/>
          </a:stretch>
        </p:blipFill>
        <p:spPr>
          <a:xfrm>
            <a:off x="11228832" y="978408"/>
            <a:ext cx="274320" cy="274320"/>
          </a:xfrm>
          <a:prstGeom prst="rect">
            <a:avLst/>
          </a:prstGeom>
        </p:spPr>
      </p:pic>
      <p:sp>
        <p:nvSpPr>
          <p:cNvPr id="12" name="Check A: the problem's own examples"/>
          <p:cNvSpPr/>
          <p:nvPr/>
        </p:nvSpPr>
        <p:spPr>
          <a:xfrm>
            <a:off x="548640" y="1325880"/>
            <a:ext cx="5440680" cy="4160520"/>
          </a:xfrm>
          <a:prstGeom prst="roundRect">
            <a:avLst>
              <a:gd name="adj" fmla="val 1758"/>
            </a:avLst>
          </a:prstGeom>
          <a:solidFill>
            <a:srgbClr val="F2F2F2"/>
          </a:solidFill>
          <a:ln w="9525">
            <a:solidFill>
              <a:srgbClr val="D9D9D9"/>
            </a:solidFill>
            <a:prstDash val="solid"/>
          </a:ln>
        </p:spPr>
      </p:sp>
      <p:sp>
        <p:nvSpPr>
          <p:cNvPr id="13" name="Text 5"/>
          <p:cNvSpPr txBox="1"/>
          <p:nvPr/>
        </p:nvSpPr>
        <p:spPr>
          <a:xfrm>
            <a:off x="777240" y="1417320"/>
            <a:ext cx="4983480" cy="457200"/>
          </a:xfrm>
          <a:prstGeom prst="rect">
            <a:avLst/>
          </a:prstGeom>
          <a:noFill/>
          <a:ln/>
        </p:spPr>
        <p:txBody>
          <a:bodyPr wrap="square" lIns="0" tIns="0" rIns="0" bIns="0" rtlCol="0" anchor="ctr"/>
          <a:lstStyle/>
          <a:p>
            <a:pPr indent="0" marL="0">
              <a:buNone/>
            </a:pPr>
            <a:r>
              <a:rPr lang="en-US" sz="1800" b="1" dirty="0">
                <a:solidFill>
                  <a:srgbClr val="4472C4"/>
                </a:solidFill>
              </a:rPr>
              <a:t>Check A: the problem's own examples</a:t>
            </a:r>
            <a:endParaRPr lang="en-US" sz="1800" dirty="0"/>
          </a:p>
        </p:txBody>
      </p:sp>
      <p:sp>
        <p:nvSpPr>
          <p:cNvPr id="14" name="box &quot;Make a triangle!&quot;: "/>
          <p:cNvSpPr/>
          <p:nvPr/>
        </p:nvSpPr>
        <p:spPr>
          <a:xfrm>
            <a:off x="777240" y="1920240"/>
            <a:ext cx="4983480" cy="512064"/>
          </a:xfrm>
          <a:prstGeom prst="roundRect">
            <a:avLst>
              <a:gd name="adj" fmla="val 10714"/>
            </a:avLst>
          </a:prstGeom>
          <a:solidFill>
            <a:srgbClr val="E2F0D9"/>
          </a:solidFill>
          <a:ln w="9525">
            <a:solidFill>
              <a:srgbClr val="BFBFBF"/>
            </a:solidFill>
            <a:prstDash val="solid"/>
          </a:ln>
        </p:spPr>
      </p:sp>
      <p:sp>
        <p:nvSpPr>
          <p:cNvPr id="15" name="Text 7"/>
          <p:cNvSpPr txBox="1"/>
          <p:nvPr/>
        </p:nvSpPr>
        <p:spPr>
          <a:xfrm>
            <a:off x="850392" y="1920240"/>
            <a:ext cx="4837176" cy="512064"/>
          </a:xfrm>
          <a:prstGeom prst="rect">
            <a:avLst/>
          </a:prstGeom>
          <a:noFill/>
          <a:ln/>
        </p:spPr>
        <p:txBody>
          <a:bodyPr wrap="square" lIns="0" tIns="0" rIns="0" bIns="0" rtlCol="0" anchor="ctr"/>
          <a:lstStyle/>
          <a:p>
            <a:pPr algn="ctr" indent="0" marL="0">
              <a:buNone/>
            </a:pPr>
            <a:r>
              <a:rPr lang="en-US" sz="1500" dirty="0">
                <a:solidFill>
                  <a:srgbClr val="38761D"/>
                </a:solidFill>
              </a:rPr>
              <a:t>"Make a triangle!": examples pass → submit</a:t>
            </a:r>
            <a:endParaRPr lang="en-US" sz="1500" dirty="0"/>
          </a:p>
        </p:txBody>
      </p:sp>
      <p:sp>
        <p:nvSpPr>
          <p:cNvPr id="16" name="box &quot;Arrow&quot;: an example "/>
          <p:cNvSpPr/>
          <p:nvPr/>
        </p:nvSpPr>
        <p:spPr>
          <a:xfrm>
            <a:off x="777240" y="2523744"/>
            <a:ext cx="4983480" cy="512064"/>
          </a:xfrm>
          <a:prstGeom prst="roundRect">
            <a:avLst>
              <a:gd name="adj" fmla="val 10714"/>
            </a:avLst>
          </a:prstGeom>
          <a:solidFill>
            <a:srgbClr val="FADBD8"/>
          </a:solidFill>
          <a:ln w="9525">
            <a:solidFill>
              <a:srgbClr val="BFBFBF"/>
            </a:solidFill>
            <a:prstDash val="solid"/>
          </a:ln>
        </p:spPr>
      </p:sp>
      <p:sp>
        <p:nvSpPr>
          <p:cNvPr id="17" name="Text 9"/>
          <p:cNvSpPr txBox="1"/>
          <p:nvPr/>
        </p:nvSpPr>
        <p:spPr>
          <a:xfrm>
            <a:off x="850392" y="2523744"/>
            <a:ext cx="4837176" cy="512064"/>
          </a:xfrm>
          <a:prstGeom prst="rect">
            <a:avLst/>
          </a:prstGeom>
          <a:noFill/>
          <a:ln/>
        </p:spPr>
        <p:txBody>
          <a:bodyPr wrap="square" lIns="0" tIns="0" rIns="0" bIns="0" rtlCol="0" anchor="ctr"/>
          <a:lstStyle/>
          <a:p>
            <a:pPr algn="ctr" indent="0" marL="0">
              <a:buNone/>
            </a:pPr>
            <a:r>
              <a:rPr lang="en-US" sz="1500" dirty="0">
                <a:solidFill>
                  <a:srgbClr val="C00000"/>
                </a:solidFill>
              </a:rPr>
              <a:t>"Arrow": an example fails → think harder → right</a:t>
            </a:r>
            <a:endParaRPr lang="en-US" sz="1500" dirty="0"/>
          </a:p>
        </p:txBody>
      </p:sp>
      <p:sp>
        <p:nvSpPr>
          <p:cNvPr id="18" name="Text 10"/>
          <p:cNvSpPr txBox="1"/>
          <p:nvPr/>
        </p:nvSpPr>
        <p:spPr>
          <a:xfrm>
            <a:off x="777240" y="3154680"/>
            <a:ext cx="4983480" cy="365760"/>
          </a:xfrm>
          <a:prstGeom prst="rect">
            <a:avLst/>
          </a:prstGeom>
          <a:noFill/>
          <a:ln/>
        </p:spPr>
        <p:txBody>
          <a:bodyPr wrap="square" lIns="0" tIns="0" rIns="0" bIns="0" rtlCol="0" anchor="ctr"/>
          <a:lstStyle/>
          <a:p>
            <a:pPr indent="0" marL="0">
              <a:buNone/>
            </a:pPr>
            <a:r>
              <a:rPr lang="en-US" sz="1500" b="1" dirty="0">
                <a:solidFill>
                  <a:schemeClr val="tx1"/>
                </a:solidFill>
              </a:rPr>
              <a:t>311 contest problems (gpt-oss-120b)</a:t>
            </a:r>
            <a:endParaRPr lang="en-US" sz="1500" dirty="0"/>
          </a:p>
        </p:txBody>
      </p:sp>
      <p:sp>
        <p:nvSpPr>
          <p:cNvPr id="19" name="Text 11"/>
          <p:cNvSpPr txBox="1"/>
          <p:nvPr/>
        </p:nvSpPr>
        <p:spPr>
          <a:xfrm>
            <a:off x="2926080" y="35204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0" name="Text 12"/>
          <p:cNvSpPr txBox="1"/>
          <p:nvPr/>
        </p:nvSpPr>
        <p:spPr>
          <a:xfrm>
            <a:off x="3840480" y="3520440"/>
            <a:ext cx="192024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1" name="Text 13"/>
          <p:cNvSpPr txBox="1"/>
          <p:nvPr/>
        </p:nvSpPr>
        <p:spPr>
          <a:xfrm>
            <a:off x="777240" y="3886200"/>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22" name="Text 14"/>
          <p:cNvSpPr txBox="1"/>
          <p:nvPr/>
        </p:nvSpPr>
        <p:spPr>
          <a:xfrm>
            <a:off x="2926080" y="38862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3" name="tokens always think hard"/>
          <p:cNvSpPr/>
          <p:nvPr/>
        </p:nvSpPr>
        <p:spPr>
          <a:xfrm>
            <a:off x="3840480" y="3986784"/>
            <a:ext cx="1188720" cy="256032"/>
          </a:xfrm>
          <a:prstGeom prst="rect">
            <a:avLst/>
          </a:prstGeom>
          <a:solidFill>
            <a:srgbClr val="7F7F7F"/>
          </a:solidFill>
          <a:ln w="6350">
            <a:solidFill>
              <a:srgbClr val="7F7F7F"/>
            </a:solidFill>
            <a:prstDash val="solid"/>
          </a:ln>
        </p:spPr>
      </p:sp>
      <p:sp>
        <p:nvSpPr>
          <p:cNvPr id="24" name="Text 16"/>
          <p:cNvSpPr txBox="1"/>
          <p:nvPr/>
        </p:nvSpPr>
        <p:spPr>
          <a:xfrm>
            <a:off x="5120640" y="38862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25" name="Text 17"/>
          <p:cNvSpPr txBox="1"/>
          <p:nvPr/>
        </p:nvSpPr>
        <p:spPr>
          <a:xfrm>
            <a:off x="777240" y="4416552"/>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an example fails</a:t>
            </a:r>
            <a:endParaRPr lang="en-US" sz="1500" dirty="0"/>
          </a:p>
        </p:txBody>
      </p:sp>
      <p:sp>
        <p:nvSpPr>
          <p:cNvPr id="26" name="Text 18"/>
          <p:cNvSpPr txBox="1"/>
          <p:nvPr/>
        </p:nvSpPr>
        <p:spPr>
          <a:xfrm>
            <a:off x="2926080" y="441655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65.0%</a:t>
            </a:r>
            <a:endParaRPr lang="en-US" sz="1700" dirty="0"/>
          </a:p>
        </p:txBody>
      </p:sp>
      <p:sp>
        <p:nvSpPr>
          <p:cNvPr id="27" name="tokens an example fails"/>
          <p:cNvSpPr/>
          <p:nvPr/>
        </p:nvSpPr>
        <p:spPr>
          <a:xfrm>
            <a:off x="3840480" y="4517136"/>
            <a:ext cx="797746" cy="256032"/>
          </a:xfrm>
          <a:prstGeom prst="rect">
            <a:avLst/>
          </a:prstGeom>
          <a:solidFill>
            <a:srgbClr val="5B9BD5"/>
          </a:solidFill>
          <a:ln w="6350">
            <a:solidFill>
              <a:srgbClr val="5B9BD5"/>
            </a:solidFill>
            <a:prstDash val="solid"/>
          </a:ln>
        </p:spPr>
      </p:sp>
      <p:sp>
        <p:nvSpPr>
          <p:cNvPr id="28" name="Text 20"/>
          <p:cNvSpPr txBox="1"/>
          <p:nvPr/>
        </p:nvSpPr>
        <p:spPr>
          <a:xfrm>
            <a:off x="4729666" y="441655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20k</a:t>
            </a:r>
            <a:endParaRPr lang="en-US" sz="1500" dirty="0"/>
          </a:p>
        </p:txBody>
      </p:sp>
      <p:sp>
        <p:nvSpPr>
          <p:cNvPr id="29" name="Text 21"/>
          <p:cNvSpPr txBox="1"/>
          <p:nvPr/>
        </p:nvSpPr>
        <p:spPr>
          <a:xfrm>
            <a:off x="777240" y="4946904"/>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 brute-force check</a:t>
            </a:r>
            <a:endParaRPr lang="en-US" sz="1500" dirty="0"/>
          </a:p>
        </p:txBody>
      </p:sp>
      <p:sp>
        <p:nvSpPr>
          <p:cNvPr id="30" name="Text 22"/>
          <p:cNvSpPr txBox="1"/>
          <p:nvPr/>
        </p:nvSpPr>
        <p:spPr>
          <a:xfrm>
            <a:off x="2926080" y="494690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31" name="tokens + brute-force check"/>
          <p:cNvSpPr/>
          <p:nvPr/>
        </p:nvSpPr>
        <p:spPr>
          <a:xfrm>
            <a:off x="3840480" y="5047488"/>
            <a:ext cx="975461" cy="256032"/>
          </a:xfrm>
          <a:prstGeom prst="rect">
            <a:avLst/>
          </a:prstGeom>
          <a:solidFill>
            <a:srgbClr val="4472C4"/>
          </a:solidFill>
          <a:ln w="6350">
            <a:solidFill>
              <a:srgbClr val="4472C4"/>
            </a:solidFill>
            <a:prstDash val="solid"/>
          </a:ln>
        </p:spPr>
      </p:sp>
      <p:sp>
        <p:nvSpPr>
          <p:cNvPr id="32" name="Text 24"/>
          <p:cNvSpPr txBox="1"/>
          <p:nvPr/>
        </p:nvSpPr>
        <p:spPr>
          <a:xfrm>
            <a:off x="4907381" y="494690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33" name="Check B: two versions must agree"/>
          <p:cNvSpPr/>
          <p:nvPr/>
        </p:nvSpPr>
        <p:spPr>
          <a:xfrm>
            <a:off x="6172200" y="1325880"/>
            <a:ext cx="5440680" cy="4160520"/>
          </a:xfrm>
          <a:prstGeom prst="roundRect">
            <a:avLst>
              <a:gd name="adj" fmla="val 1758"/>
            </a:avLst>
          </a:prstGeom>
          <a:solidFill>
            <a:srgbClr val="F2F2F2"/>
          </a:solidFill>
          <a:ln w="9525">
            <a:solidFill>
              <a:srgbClr val="D9D9D9"/>
            </a:solidFill>
            <a:prstDash val="solid"/>
          </a:ln>
        </p:spPr>
      </p:sp>
      <p:sp>
        <p:nvSpPr>
          <p:cNvPr id="34" name="Text 26"/>
          <p:cNvSpPr txBox="1"/>
          <p:nvPr/>
        </p:nvSpPr>
        <p:spPr>
          <a:xfrm>
            <a:off x="6400800" y="1417320"/>
            <a:ext cx="4983480" cy="457200"/>
          </a:xfrm>
          <a:prstGeom prst="rect">
            <a:avLst/>
          </a:prstGeom>
          <a:noFill/>
          <a:ln/>
        </p:spPr>
        <p:txBody>
          <a:bodyPr wrap="square" lIns="0" tIns="0" rIns="0" bIns="0" rtlCol="0" anchor="ctr"/>
          <a:lstStyle/>
          <a:p>
            <a:pPr indent="0" marL="0">
              <a:buNone/>
            </a:pPr>
            <a:r>
              <a:rPr lang="en-US" sz="1800" b="1" dirty="0">
                <a:solidFill>
                  <a:srgbClr val="4472C4"/>
                </a:solidFill>
              </a:rPr>
              <a:t>Check B: two versions must agree</a:t>
            </a:r>
            <a:endParaRPr lang="en-US" sz="1800" dirty="0"/>
          </a:p>
        </p:txBody>
      </p:sp>
      <p:sp>
        <p:nvSpPr>
          <p:cNvPr id="35" name="box program A (task only"/>
          <p:cNvSpPr/>
          <p:nvPr/>
        </p:nvSpPr>
        <p:spPr>
          <a:xfrm>
            <a:off x="6400800" y="1920240"/>
            <a:ext cx="4983480" cy="512064"/>
          </a:xfrm>
          <a:prstGeom prst="roundRect">
            <a:avLst>
              <a:gd name="adj" fmla="val 10714"/>
            </a:avLst>
          </a:prstGeom>
          <a:solidFill>
            <a:srgbClr val="E2F0D9"/>
          </a:solidFill>
          <a:ln w="9525">
            <a:solidFill>
              <a:srgbClr val="BFBFBF"/>
            </a:solidFill>
            <a:prstDash val="solid"/>
          </a:ln>
        </p:spPr>
      </p:sp>
      <p:sp>
        <p:nvSpPr>
          <p:cNvPr id="36" name="Text 28"/>
          <p:cNvSpPr txBox="1"/>
          <p:nvPr/>
        </p:nvSpPr>
        <p:spPr>
          <a:xfrm>
            <a:off x="6473952" y="1920240"/>
            <a:ext cx="4837176" cy="512064"/>
          </a:xfrm>
          <a:prstGeom prst="rect">
            <a:avLst/>
          </a:prstGeom>
          <a:noFill/>
          <a:ln/>
        </p:spPr>
        <p:txBody>
          <a:bodyPr wrap="square" lIns="0" tIns="0" rIns="0" bIns="0" rtlCol="0" anchor="ctr"/>
          <a:lstStyle/>
          <a:p>
            <a:pPr algn="ctr" indent="0" marL="0">
              <a:buNone/>
            </a:pPr>
            <a:r>
              <a:rPr lang="en-US" sz="1500" dirty="0">
                <a:solidFill>
                  <a:srgbClr val="38761D"/>
                </a:solidFill>
              </a:rPr>
              <a:t>program A (task only) → 6</a:t>
            </a:r>
            <a:endParaRPr lang="en-US" sz="1500" dirty="0"/>
          </a:p>
        </p:txBody>
      </p:sp>
      <p:sp>
        <p:nvSpPr>
          <p:cNvPr id="37" name="box program B (+ helper "/>
          <p:cNvSpPr/>
          <p:nvPr/>
        </p:nvSpPr>
        <p:spPr>
          <a:xfrm>
            <a:off x="6400800" y="2523744"/>
            <a:ext cx="4983480" cy="512064"/>
          </a:xfrm>
          <a:prstGeom prst="roundRect">
            <a:avLst>
              <a:gd name="adj" fmla="val 10714"/>
            </a:avLst>
          </a:prstGeom>
          <a:solidFill>
            <a:srgbClr val="FADBD8"/>
          </a:solidFill>
          <a:ln w="9525">
            <a:solidFill>
              <a:srgbClr val="BFBFBF"/>
            </a:solidFill>
            <a:prstDash val="solid"/>
          </a:ln>
        </p:spPr>
      </p:sp>
      <p:sp>
        <p:nvSpPr>
          <p:cNvPr id="38" name="Text 30"/>
          <p:cNvSpPr txBox="1"/>
          <p:nvPr/>
        </p:nvSpPr>
        <p:spPr>
          <a:xfrm>
            <a:off x="6473952" y="2523744"/>
            <a:ext cx="4837176" cy="512064"/>
          </a:xfrm>
          <a:prstGeom prst="rect">
            <a:avLst/>
          </a:prstGeom>
          <a:noFill/>
          <a:ln/>
        </p:spPr>
        <p:txBody>
          <a:bodyPr wrap="square" lIns="0" tIns="0" rIns="0" bIns="0" rtlCol="0" anchor="ctr"/>
          <a:lstStyle/>
          <a:p>
            <a:pPr algn="ctr" indent="0" marL="0">
              <a:buNone/>
            </a:pPr>
            <a:r>
              <a:rPr lang="en-US" sz="1500" dirty="0">
                <a:solidFill>
                  <a:srgbClr val="C00000"/>
                </a:solidFill>
              </a:rPr>
              <a:t>program B (+ helper code) → 0: differ → think</a:t>
            </a:r>
            <a:endParaRPr lang="en-US" sz="1500" dirty="0"/>
          </a:p>
        </p:txBody>
      </p:sp>
      <p:sp>
        <p:nvSpPr>
          <p:cNvPr id="39" name="Text 31"/>
          <p:cNvSpPr txBox="1"/>
          <p:nvPr/>
        </p:nvSpPr>
        <p:spPr>
          <a:xfrm>
            <a:off x="6400800" y="3154680"/>
            <a:ext cx="4983480" cy="365760"/>
          </a:xfrm>
          <a:prstGeom prst="rect">
            <a:avLst/>
          </a:prstGeom>
          <a:noFill/>
          <a:ln/>
        </p:spPr>
        <p:txBody>
          <a:bodyPr wrap="square" lIns="0" tIns="0" rIns="0" bIns="0" rtlCol="0" anchor="ctr"/>
          <a:lstStyle/>
          <a:p>
            <a:pPr indent="0" marL="0">
              <a:buNone/>
            </a:pPr>
            <a:r>
              <a:rPr lang="en-US" sz="1500" b="1" dirty="0">
                <a:solidFill>
                  <a:schemeClr val="tx1"/>
                </a:solidFill>
              </a:rPr>
              <a:t>108 geometry problems (Qwen3-32B, 3 runs)</a:t>
            </a:r>
            <a:endParaRPr lang="en-US" sz="1500" dirty="0"/>
          </a:p>
        </p:txBody>
      </p:sp>
      <p:sp>
        <p:nvSpPr>
          <p:cNvPr id="40" name="Text 32"/>
          <p:cNvSpPr txBox="1"/>
          <p:nvPr/>
        </p:nvSpPr>
        <p:spPr>
          <a:xfrm>
            <a:off x="8549640" y="35204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41" name="Text 33"/>
          <p:cNvSpPr txBox="1"/>
          <p:nvPr/>
        </p:nvSpPr>
        <p:spPr>
          <a:xfrm>
            <a:off x="9464040" y="3520440"/>
            <a:ext cx="192024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42" name="Text 34"/>
          <p:cNvSpPr txBox="1"/>
          <p:nvPr/>
        </p:nvSpPr>
        <p:spPr>
          <a:xfrm>
            <a:off x="6400800" y="3886200"/>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a:t>
            </a:r>
            <a:endParaRPr lang="en-US" sz="1500" dirty="0"/>
          </a:p>
        </p:txBody>
      </p:sp>
      <p:sp>
        <p:nvSpPr>
          <p:cNvPr id="43" name="Text 35"/>
          <p:cNvSpPr txBox="1"/>
          <p:nvPr/>
        </p:nvSpPr>
        <p:spPr>
          <a:xfrm>
            <a:off x="8549640" y="38862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98%</a:t>
            </a:r>
            <a:endParaRPr lang="en-US" sz="1700" dirty="0"/>
          </a:p>
        </p:txBody>
      </p:sp>
      <p:sp>
        <p:nvSpPr>
          <p:cNvPr id="44" name="tokens always think"/>
          <p:cNvSpPr/>
          <p:nvPr/>
        </p:nvSpPr>
        <p:spPr>
          <a:xfrm>
            <a:off x="9464040" y="3986784"/>
            <a:ext cx="1188720" cy="256032"/>
          </a:xfrm>
          <a:prstGeom prst="rect">
            <a:avLst/>
          </a:prstGeom>
          <a:solidFill>
            <a:srgbClr val="7F7F7F"/>
          </a:solidFill>
          <a:ln w="6350">
            <a:solidFill>
              <a:srgbClr val="7F7F7F"/>
            </a:solidFill>
            <a:prstDash val="solid"/>
          </a:ln>
        </p:spPr>
      </p:sp>
      <p:sp>
        <p:nvSpPr>
          <p:cNvPr id="45" name="Text 37"/>
          <p:cNvSpPr txBox="1"/>
          <p:nvPr/>
        </p:nvSpPr>
        <p:spPr>
          <a:xfrm>
            <a:off x="10744200" y="38862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5.9k</a:t>
            </a:r>
            <a:endParaRPr lang="en-US" sz="1500" dirty="0"/>
          </a:p>
        </p:txBody>
      </p:sp>
      <p:sp>
        <p:nvSpPr>
          <p:cNvPr id="46" name="Text 38"/>
          <p:cNvSpPr txBox="1"/>
          <p:nvPr/>
        </p:nvSpPr>
        <p:spPr>
          <a:xfrm>
            <a:off x="6400800" y="4416552"/>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only if they differ</a:t>
            </a:r>
            <a:endParaRPr lang="en-US" sz="1500" dirty="0"/>
          </a:p>
        </p:txBody>
      </p:sp>
      <p:sp>
        <p:nvSpPr>
          <p:cNvPr id="47" name="Text 39"/>
          <p:cNvSpPr txBox="1"/>
          <p:nvPr/>
        </p:nvSpPr>
        <p:spPr>
          <a:xfrm>
            <a:off x="8549640" y="441655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99%</a:t>
            </a:r>
            <a:endParaRPr lang="en-US" sz="1700" dirty="0"/>
          </a:p>
        </p:txBody>
      </p:sp>
      <p:sp>
        <p:nvSpPr>
          <p:cNvPr id="48" name="tokens only if they differ"/>
          <p:cNvSpPr/>
          <p:nvPr/>
        </p:nvSpPr>
        <p:spPr>
          <a:xfrm>
            <a:off x="9464040" y="4517136"/>
            <a:ext cx="866355" cy="256032"/>
          </a:xfrm>
          <a:prstGeom prst="rect">
            <a:avLst/>
          </a:prstGeom>
          <a:solidFill>
            <a:srgbClr val="4472C4"/>
          </a:solidFill>
          <a:ln w="6350">
            <a:solidFill>
              <a:srgbClr val="4472C4"/>
            </a:solidFill>
            <a:prstDash val="solid"/>
          </a:ln>
        </p:spPr>
      </p:sp>
      <p:sp>
        <p:nvSpPr>
          <p:cNvPr id="49" name="Text 41"/>
          <p:cNvSpPr txBox="1"/>
          <p:nvPr/>
        </p:nvSpPr>
        <p:spPr>
          <a:xfrm>
            <a:off x="10421835" y="441655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4.3k</a:t>
            </a:r>
            <a:endParaRPr lang="en-US" sz="1500" dirty="0"/>
          </a:p>
        </p:txBody>
      </p:sp>
      <p:sp>
        <p:nvSpPr>
          <p:cNvPr id="50" name="Text 4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accuracy as always thinking, 18–27% fewer tokens, and no answer key needed</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cheap steps first</a:t>
            </a:r>
            <a:endParaRPr lang="en-US" sz="3600" dirty="0"/>
          </a:p>
        </p:txBody>
      </p:sp>
      <p:sp>
        <p:nvSpPr>
          <p:cNvPr id="3" name="choice a missing fact"/>
          <p:cNvSpPr/>
          <p:nvPr/>
        </p:nvSpPr>
        <p:spPr>
          <a:xfrm>
            <a:off x="768096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7790688" y="562356"/>
            <a:ext cx="329184" cy="329184"/>
          </a:xfrm>
          <a:prstGeom prst="rect">
            <a:avLst/>
          </a:prstGeom>
        </p:spPr>
      </p:pic>
      <p:sp>
        <p:nvSpPr>
          <p:cNvPr id="5" name="Text 2"/>
          <p:cNvSpPr txBox="1"/>
          <p:nvPr/>
        </p:nvSpPr>
        <p:spPr>
          <a:xfrm>
            <a:off x="818388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missing fact</a:t>
            </a:r>
            <a:endParaRPr lang="en-US" sz="1400" dirty="0"/>
          </a:p>
        </p:txBody>
      </p:sp>
      <p:sp>
        <p:nvSpPr>
          <p:cNvPr id="6"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7" name="choice icon check" descr="/NAS/SJ/POSTECH/nlp/figs/icons/check.png">    </p:cNvPr>
          <p:cNvPicPr>
            <a:picLocks noChangeAspect="1"/>
          </p:cNvPicPr>
          <p:nvPr/>
        </p:nvPicPr>
        <p:blipFill>
          <a:blip r:embed="rId2"/>
          <a:stretch>
            <a:fillRect/>
          </a:stretch>
        </p:blipFill>
        <p:spPr>
          <a:xfrm>
            <a:off x="9756648" y="562356"/>
            <a:ext cx="329184" cy="329184"/>
          </a:xfrm>
          <a:prstGeom prst="rect">
            <a:avLst/>
          </a:prstGeom>
        </p:spPr>
      </p:pic>
      <p:sp>
        <p:nvSpPr>
          <p:cNvPr id="8" name="Text 4"/>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9" name="Text 5"/>
          <p:cNvSpPr txBox="1"/>
          <p:nvPr/>
        </p:nvSpPr>
        <p:spPr>
          <a:xfrm>
            <a:off x="841248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10" name="holds on shapes" descr="/NAS/SJ/POSTECH/nlp/figs/icons/shapes.png">    </p:cNvPr>
          <p:cNvPicPr>
            <a:picLocks noChangeAspect="1"/>
          </p:cNvPicPr>
          <p:nvPr/>
        </p:nvPicPr>
        <p:blipFill>
          <a:blip r:embed="rId3"/>
          <a:stretch>
            <a:fillRect/>
          </a:stretch>
        </p:blipFill>
        <p:spPr>
          <a:xfrm>
            <a:off x="9692640" y="978408"/>
            <a:ext cx="274320" cy="274320"/>
          </a:xfrm>
          <a:prstGeom prst="rect">
            <a:avLst/>
          </a:prstGeom>
        </p:spPr>
      </p:pic>
      <p:pic>
        <p:nvPicPr>
          <p:cNvPr id="11" name="not shown on trophy" descr="/NAS/SJ/POSTECH/nlp/figs/icons/trophy.png">    </p:cNvPr>
          <p:cNvPicPr>
            <a:picLocks noChangeAspect="1"/>
          </p:cNvPicPr>
          <p:nvPr/>
        </p:nvPicPr>
        <p:blipFill>
          <a:blip r:embed="rId4">
            <a:alphaModFix amt="18000"/>
          </a:blip>
          <a:stretch>
            <a:fillRect/>
          </a:stretch>
        </p:blipFill>
        <p:spPr>
          <a:xfrm>
            <a:off x="10076688" y="978408"/>
            <a:ext cx="274320" cy="274320"/>
          </a:xfrm>
          <a:prstGeom prst="rect">
            <a:avLst/>
          </a:prstGeom>
        </p:spPr>
      </p:pic>
      <p:pic>
        <p:nvPicPr>
          <p:cNvPr id="12" name="holds on truck" descr="/NAS/SJ/POSTECH/nlp/figs/icons/truck.png">    </p:cNvPr>
          <p:cNvPicPr>
            <a:picLocks noChangeAspect="1"/>
          </p:cNvPicPr>
          <p:nvPr/>
        </p:nvPicPr>
        <p:blipFill>
          <a:blip r:embed="rId5"/>
          <a:stretch>
            <a:fillRect/>
          </a:stretch>
        </p:blipFill>
        <p:spPr>
          <a:xfrm>
            <a:off x="10460736" y="978408"/>
            <a:ext cx="274320" cy="274320"/>
          </a:xfrm>
          <a:prstGeom prst="rect">
            <a:avLst/>
          </a:prstGeom>
        </p:spPr>
      </p:pic>
      <p:pic>
        <p:nvPicPr>
          <p:cNvPr id="13" name="holds on calc" descr="/NAS/SJ/POSTECH/nlp/figs/icons/calc.png">    </p:cNvPr>
          <p:cNvPicPr>
            <a:picLocks noChangeAspect="1"/>
          </p:cNvPicPr>
          <p:nvPr/>
        </p:nvPicPr>
        <p:blipFill>
          <a:blip r:embed="rId6"/>
          <a:stretch>
            <a:fillRect/>
          </a:stretch>
        </p:blipFill>
        <p:spPr>
          <a:xfrm>
            <a:off x="10844784" y="978408"/>
            <a:ext cx="274320" cy="274320"/>
          </a:xfrm>
          <a:prstGeom prst="rect">
            <a:avLst/>
          </a:prstGeom>
        </p:spPr>
      </p:pic>
      <p:pic>
        <p:nvPicPr>
          <p:cNvPr id="14" name="not shown on sqrt" descr="/NAS/SJ/POSTECH/nlp/figs/icons/sqrt.png">    </p:cNvPr>
          <p:cNvPicPr>
            <a:picLocks noChangeAspect="1"/>
          </p:cNvPicPr>
          <p:nvPr/>
        </p:nvPicPr>
        <p:blipFill>
          <a:blip r:embed="rId7">
            <a:alphaModFix amt="18000"/>
          </a:blip>
          <a:stretch>
            <a:fillRect/>
          </a:stretch>
        </p:blipFill>
        <p:spPr>
          <a:xfrm>
            <a:off x="11228832" y="978408"/>
            <a:ext cx="274320" cy="274320"/>
          </a:xfrm>
          <a:prstGeom prst="rect">
            <a:avLst/>
          </a:prstGeom>
        </p:spPr>
      </p:pic>
      <p:sp>
        <p:nvSpPr>
          <p:cNvPr id="15" name="Text 6"/>
          <p:cNvSpPr txBox="1"/>
          <p:nvPr/>
        </p:nvSpPr>
        <p:spPr>
          <a:xfrm>
            <a:off x="548640" y="1170432"/>
            <a:ext cx="78638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minimum cost of X, Y, Z under three limits → 20000</a:t>
            </a:r>
            <a:endParaRPr lang="en-US" sz="1600" dirty="0"/>
          </a:p>
        </p:txBody>
      </p:sp>
      <p:sp>
        <p:nvSpPr>
          <p:cNvPr id="16" name="Text 7"/>
          <p:cNvSpPr txBox="1"/>
          <p:nvPr/>
        </p:nvSpPr>
        <p:spPr>
          <a:xfrm>
            <a:off x="54864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1 Program</a:t>
            </a:r>
            <a:endParaRPr lang="en-US" sz="1700" dirty="0"/>
          </a:p>
        </p:txBody>
      </p:sp>
      <p:sp>
        <p:nvSpPr>
          <p:cNvPr id="17" name="step 1 Program"/>
          <p:cNvSpPr/>
          <p:nvPr/>
        </p:nvSpPr>
        <p:spPr>
          <a:xfrm>
            <a:off x="548640" y="2011680"/>
            <a:ext cx="2103120" cy="1325880"/>
          </a:xfrm>
          <a:prstGeom prst="roundRect">
            <a:avLst>
              <a:gd name="adj" fmla="val 5517"/>
            </a:avLst>
          </a:prstGeom>
          <a:solidFill>
            <a:srgbClr val="FADBD8"/>
          </a:solidFill>
          <a:ln w="12700">
            <a:solidFill>
              <a:srgbClr val="C00000"/>
            </a:solidFill>
            <a:prstDash val="solid"/>
          </a:ln>
        </p:spPr>
      </p:sp>
      <p:sp>
        <p:nvSpPr>
          <p:cNvPr id="18" name="Text 9"/>
          <p:cNvSpPr txBox="1"/>
          <p:nvPr/>
        </p:nvSpPr>
        <p:spPr>
          <a:xfrm>
            <a:off x="621792" y="2057400"/>
            <a:ext cx="1956816" cy="566928"/>
          </a:xfrm>
          <a:prstGeom prst="rect">
            <a:avLst/>
          </a:prstGeom>
          <a:noFill/>
          <a:ln/>
        </p:spPr>
        <p:txBody>
          <a:bodyPr wrap="square" lIns="0" tIns="0" rIns="0" bIns="0" rtlCol="0" anchor="ctr"/>
          <a:lstStyle/>
          <a:p>
            <a:pPr algn="ctr" indent="0" marL="0">
              <a:buNone/>
            </a:pPr>
            <a:r>
              <a:rPr lang="en-US" sz="1400" b="1" dirty="0">
                <a:solidFill>
                  <a:srgbClr val="C00000"/>
                </a:solidFill>
                <a:latin typeface="Courier New" pitchFamily="34" charset="0"/>
                <a:ea typeface="Courier New" pitchFamily="34" charset="-122"/>
                <a:cs typeface="Courier New" pitchFamily="34" charset="-120"/>
              </a:rPr>
              <a:t>Objective()</a:t>
            </a:r>
            <a:endParaRPr lang="en-US" sz="1400" dirty="0"/>
          </a:p>
          <a:p>
            <a:pPr algn="ctr" indent="0" marL="0">
              <a:buNone/>
            </a:pPr>
            <a:r>
              <a:rPr lang="en-US" sz="1400" b="1" dirty="0">
                <a:solidFill>
                  <a:srgbClr val="C00000"/>
                </a:solidFill>
                <a:latin typeface="Courier New" pitchFamily="34" charset="0"/>
                <a:ea typeface="Courier New" pitchFamily="34" charset="-122"/>
                <a:cs typeface="Courier New" pitchFamily="34" charset="-120"/>
              </a:rPr>
              <a:t>.Minimize()</a:t>
            </a:r>
            <a:endParaRPr lang="en-US" sz="1400" dirty="0"/>
          </a:p>
        </p:txBody>
      </p:sp>
      <p:sp>
        <p:nvSpPr>
          <p:cNvPr id="19" name="Text 10"/>
          <p:cNvSpPr txBox="1"/>
          <p:nvPr/>
        </p:nvSpPr>
        <p:spPr>
          <a:xfrm>
            <a:off x="64008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 crash, no fact</a:t>
            </a:r>
            <a:endParaRPr lang="en-US" sz="1400" dirty="0"/>
          </a:p>
        </p:txBody>
      </p:sp>
      <p:sp>
        <p:nvSpPr>
          <p:cNvPr id="20" name="Shape 11"/>
          <p:cNvSpPr/>
          <p:nvPr/>
        </p:nvSpPr>
        <p:spPr>
          <a:xfrm>
            <a:off x="2651760" y="2670048"/>
            <a:ext cx="137160" cy="0"/>
          </a:xfrm>
          <a:prstGeom prst="line">
            <a:avLst/>
          </a:prstGeom>
          <a:noFill/>
          <a:ln w="25400">
            <a:solidFill>
              <a:srgbClr val="7F7F7F"/>
            </a:solidFill>
            <a:prstDash val="solid"/>
            <a:tailEnd type="triangle"/>
          </a:ln>
        </p:spPr>
      </p:sp>
      <p:sp>
        <p:nvSpPr>
          <p:cNvPr id="21" name="Text 12"/>
          <p:cNvSpPr txBox="1"/>
          <p:nvPr/>
        </p:nvSpPr>
        <p:spPr>
          <a:xfrm>
            <a:off x="278892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2 + Fact</a:t>
            </a:r>
            <a:endParaRPr lang="en-US" sz="1700" dirty="0"/>
          </a:p>
        </p:txBody>
      </p:sp>
      <p:sp>
        <p:nvSpPr>
          <p:cNvPr id="22" name="step 2 + Fact"/>
          <p:cNvSpPr/>
          <p:nvPr/>
        </p:nvSpPr>
        <p:spPr>
          <a:xfrm>
            <a:off x="2788920" y="2011680"/>
            <a:ext cx="2103120" cy="1325880"/>
          </a:xfrm>
          <a:prstGeom prst="roundRect">
            <a:avLst>
              <a:gd name="adj" fmla="val 5517"/>
            </a:avLst>
          </a:prstGeom>
          <a:solidFill>
            <a:srgbClr val="E2F0D9"/>
          </a:solidFill>
          <a:ln w="12700">
            <a:solidFill>
              <a:srgbClr val="38761D"/>
            </a:solidFill>
            <a:prstDash val="solid"/>
          </a:ln>
        </p:spPr>
      </p:sp>
      <p:sp>
        <p:nvSpPr>
          <p:cNvPr id="23" name="Text 14"/>
          <p:cNvSpPr txBox="1"/>
          <p:nvPr/>
        </p:nvSpPr>
        <p:spPr>
          <a:xfrm>
            <a:off x="2862072" y="2057400"/>
            <a:ext cx="1956816" cy="566928"/>
          </a:xfrm>
          <a:prstGeom prst="rect">
            <a:avLst/>
          </a:prstGeom>
          <a:noFill/>
          <a:ln/>
        </p:spPr>
        <p:txBody>
          <a:bodyPr wrap="square" lIns="0" tIns="0" rIns="0" bIns="0" rtlCol="0" anchor="ctr"/>
          <a:lstStyle/>
          <a:p>
            <a:pPr algn="ctr" indent="0" marL="0">
              <a:buNone/>
            </a:pPr>
            <a:r>
              <a:rPr lang="en-US" sz="1400" b="1" dirty="0">
                <a:solidFill>
                  <a:srgbClr val="38761D"/>
                </a:solidFill>
                <a:latin typeface="Courier New" pitchFamily="34" charset="0"/>
                <a:ea typeface="Courier New" pitchFamily="34" charset="-122"/>
                <a:cs typeface="Courier New" pitchFamily="34" charset="-120"/>
              </a:rPr>
              <a:t>solver</a:t>
            </a:r>
            <a:endParaRPr lang="en-US" sz="1400" dirty="0"/>
          </a:p>
          <a:p>
            <a:pPr algn="ctr" indent="0" marL="0">
              <a:buNone/>
            </a:pPr>
            <a:r>
              <a:rPr lang="en-US" sz="1400" b="1" dirty="0">
                <a:solidFill>
                  <a:srgbClr val="38761D"/>
                </a:solidFill>
                <a:latin typeface="Courier New" pitchFamily="34" charset="0"/>
                <a:ea typeface="Courier New" pitchFamily="34" charset="-122"/>
                <a:cs typeface="Courier New" pitchFamily="34" charset="-120"/>
              </a:rPr>
              <a:t>.Minimize(...)</a:t>
            </a:r>
            <a:endParaRPr lang="en-US" sz="1400" dirty="0"/>
          </a:p>
        </p:txBody>
      </p:sp>
      <p:sp>
        <p:nvSpPr>
          <p:cNvPr id="24" name="Text 15"/>
          <p:cNvSpPr txBox="1"/>
          <p:nvPr/>
        </p:nvSpPr>
        <p:spPr>
          <a:xfrm>
            <a:off x="288036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found automatically: its own checked program</a:t>
            </a:r>
            <a:endParaRPr lang="en-US" sz="1400" dirty="0"/>
          </a:p>
        </p:txBody>
      </p:sp>
      <p:sp>
        <p:nvSpPr>
          <p:cNvPr id="25" name="Shape 16"/>
          <p:cNvSpPr/>
          <p:nvPr/>
        </p:nvSpPr>
        <p:spPr>
          <a:xfrm>
            <a:off x="4892040" y="2670048"/>
            <a:ext cx="137160" cy="0"/>
          </a:xfrm>
          <a:prstGeom prst="line">
            <a:avLst/>
          </a:prstGeom>
          <a:noFill/>
          <a:ln w="25400">
            <a:solidFill>
              <a:srgbClr val="7F7F7F"/>
            </a:solidFill>
            <a:prstDash val="solid"/>
            <a:tailEnd type="triangle"/>
          </a:ln>
        </p:spPr>
      </p:sp>
      <p:sp>
        <p:nvSpPr>
          <p:cNvPr id="26" name="Text 17"/>
          <p:cNvSpPr txBox="1"/>
          <p:nvPr/>
        </p:nvSpPr>
        <p:spPr>
          <a:xfrm>
            <a:off x="502920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3 Free check</a:t>
            </a:r>
            <a:endParaRPr lang="en-US" sz="1700" dirty="0"/>
          </a:p>
        </p:txBody>
      </p:sp>
      <p:sp>
        <p:nvSpPr>
          <p:cNvPr id="27" name="step 3 Free check"/>
          <p:cNvSpPr/>
          <p:nvPr/>
        </p:nvSpPr>
        <p:spPr>
          <a:xfrm>
            <a:off x="5029200" y="2011680"/>
            <a:ext cx="2103120" cy="1325880"/>
          </a:xfrm>
          <a:prstGeom prst="roundRect">
            <a:avLst>
              <a:gd name="adj" fmla="val 5517"/>
            </a:avLst>
          </a:prstGeom>
          <a:solidFill>
            <a:srgbClr val="E2F0D9"/>
          </a:solidFill>
          <a:ln w="12700">
            <a:solidFill>
              <a:srgbClr val="38761D"/>
            </a:solidFill>
            <a:prstDash val="solid"/>
          </a:ln>
        </p:spPr>
      </p:sp>
      <p:sp>
        <p:nvSpPr>
          <p:cNvPr id="28" name="Text 19"/>
          <p:cNvSpPr txBox="1"/>
          <p:nvPr/>
        </p:nvSpPr>
        <p:spPr>
          <a:xfrm>
            <a:off x="5102352" y="2057400"/>
            <a:ext cx="1956816" cy="566928"/>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9" name="Text 20"/>
          <p:cNvSpPr txBox="1"/>
          <p:nvPr/>
        </p:nvSpPr>
        <p:spPr>
          <a:xfrm>
            <a:off x="512064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a second version agrees</a:t>
            </a:r>
            <a:endParaRPr lang="en-US" sz="1400" dirty="0"/>
          </a:p>
        </p:txBody>
      </p:sp>
      <p:sp>
        <p:nvSpPr>
          <p:cNvPr id="30" name="Shape 21"/>
          <p:cNvSpPr/>
          <p:nvPr/>
        </p:nvSpPr>
        <p:spPr>
          <a:xfrm>
            <a:off x="7132320" y="2670048"/>
            <a:ext cx="137160" cy="0"/>
          </a:xfrm>
          <a:prstGeom prst="line">
            <a:avLst/>
          </a:prstGeom>
          <a:noFill/>
          <a:ln w="25400">
            <a:solidFill>
              <a:srgbClr val="7F7F7F"/>
            </a:solidFill>
            <a:prstDash val="solid"/>
            <a:tailEnd type="triangle"/>
          </a:ln>
        </p:spPr>
      </p:sp>
      <p:sp>
        <p:nvSpPr>
          <p:cNvPr id="31" name="Text 22"/>
          <p:cNvSpPr txBox="1"/>
          <p:nvPr/>
        </p:nvSpPr>
        <p:spPr>
          <a:xfrm>
            <a:off x="726948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4 Think?</a:t>
            </a:r>
            <a:endParaRPr lang="en-US" sz="1700" dirty="0"/>
          </a:p>
        </p:txBody>
      </p:sp>
      <p:sp>
        <p:nvSpPr>
          <p:cNvPr id="32" name="step 4 Think?"/>
          <p:cNvSpPr/>
          <p:nvPr/>
        </p:nvSpPr>
        <p:spPr>
          <a:xfrm>
            <a:off x="7269480" y="2011680"/>
            <a:ext cx="2103120" cy="1325880"/>
          </a:xfrm>
          <a:prstGeom prst="roundRect">
            <a:avLst>
              <a:gd name="adj" fmla="val 5517"/>
            </a:avLst>
          </a:prstGeom>
          <a:solidFill>
            <a:srgbClr val="F2F2F2"/>
          </a:solidFill>
          <a:ln w="12700">
            <a:solidFill>
              <a:srgbClr val="7F7F7F"/>
            </a:solidFill>
            <a:prstDash val="solid"/>
          </a:ln>
        </p:spPr>
      </p:sp>
      <p:sp>
        <p:nvSpPr>
          <p:cNvPr id="33" name="Text 24"/>
          <p:cNvSpPr txBox="1"/>
          <p:nvPr/>
        </p:nvSpPr>
        <p:spPr>
          <a:xfrm>
            <a:off x="7342632" y="2057400"/>
            <a:ext cx="1956816" cy="566928"/>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4" name="Text 25"/>
          <p:cNvSpPr txBox="1"/>
          <p:nvPr/>
        </p:nvSpPr>
        <p:spPr>
          <a:xfrm>
            <a:off x="736092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think only if the two differ</a:t>
            </a:r>
            <a:endParaRPr lang="en-US" sz="1400" dirty="0"/>
          </a:p>
        </p:txBody>
      </p:sp>
      <p:sp>
        <p:nvSpPr>
          <p:cNvPr id="35" name="Shape 26"/>
          <p:cNvSpPr/>
          <p:nvPr/>
        </p:nvSpPr>
        <p:spPr>
          <a:xfrm>
            <a:off x="9372600" y="2670048"/>
            <a:ext cx="137160" cy="0"/>
          </a:xfrm>
          <a:prstGeom prst="line">
            <a:avLst/>
          </a:prstGeom>
          <a:noFill/>
          <a:ln w="25400">
            <a:solidFill>
              <a:srgbClr val="7F7F7F"/>
            </a:solidFill>
            <a:prstDash val="solid"/>
            <a:tailEnd type="triangle"/>
          </a:ln>
        </p:spPr>
      </p:sp>
      <p:sp>
        <p:nvSpPr>
          <p:cNvPr id="36" name="Text 27"/>
          <p:cNvSpPr txBox="1"/>
          <p:nvPr/>
        </p:nvSpPr>
        <p:spPr>
          <a:xfrm>
            <a:off x="950976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5 Reuse</a:t>
            </a:r>
            <a:endParaRPr lang="en-US" sz="1700" dirty="0"/>
          </a:p>
        </p:txBody>
      </p:sp>
      <p:sp>
        <p:nvSpPr>
          <p:cNvPr id="37" name="step 5 Reuse"/>
          <p:cNvSpPr/>
          <p:nvPr/>
        </p:nvSpPr>
        <p:spPr>
          <a:xfrm>
            <a:off x="9509760" y="2011680"/>
            <a:ext cx="2103120" cy="1325880"/>
          </a:xfrm>
          <a:prstGeom prst="roundRect">
            <a:avLst>
              <a:gd name="adj" fmla="val 5517"/>
            </a:avLst>
          </a:prstGeom>
          <a:solidFill>
            <a:srgbClr val="DEEBF7"/>
          </a:solidFill>
          <a:ln w="12700">
            <a:solidFill>
              <a:srgbClr val="4472C4"/>
            </a:solidFill>
            <a:prstDash val="solid"/>
          </a:ln>
        </p:spPr>
      </p:sp>
      <p:sp>
        <p:nvSpPr>
          <p:cNvPr id="38" name="Text 29"/>
          <p:cNvSpPr txBox="1"/>
          <p:nvPr/>
        </p:nvSpPr>
        <p:spPr>
          <a:xfrm>
            <a:off x="9582912" y="2057400"/>
            <a:ext cx="1956816" cy="566928"/>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39" name="Text 30"/>
          <p:cNvSpPr txBox="1"/>
          <p:nvPr/>
        </p:nvSpPr>
        <p:spPr>
          <a:xfrm>
            <a:off x="960120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same kind, new data: no new tokens</a:t>
            </a:r>
            <a:endParaRPr lang="en-US" sz="1400" dirty="0"/>
          </a:p>
        </p:txBody>
      </p:sp>
      <p:sp>
        <p:nvSpPr>
          <p:cNvPr id="40" name="Text 31"/>
          <p:cNvSpPr txBox="1"/>
          <p:nvPr/>
        </p:nvSpPr>
        <p:spPr>
          <a:xfrm>
            <a:off x="548640" y="3611880"/>
            <a:ext cx="6400800" cy="365760"/>
          </a:xfrm>
          <a:prstGeom prst="rect">
            <a:avLst/>
          </a:prstGeom>
          <a:noFill/>
          <a:ln/>
        </p:spPr>
        <p:txBody>
          <a:bodyPr wrap="square" lIns="0" tIns="0" rIns="0" bIns="0" rtlCol="0" anchor="ctr"/>
          <a:lstStyle/>
          <a:p>
            <a:pPr indent="0" marL="0">
              <a:buNone/>
            </a:pPr>
            <a:r>
              <a:rPr lang="en-US" sz="1600" b="1" dirty="0">
                <a:solidFill>
                  <a:schemeClr val="tx1"/>
                </a:solidFill>
              </a:rPr>
              <a:t>108 geometry + 100 optimization problems × 3 models:</a:t>
            </a:r>
            <a:endParaRPr lang="en-US" sz="1600" dirty="0"/>
          </a:p>
        </p:txBody>
      </p:sp>
      <p:sp>
        <p:nvSpPr>
          <p:cNvPr id="41" name="Text 32"/>
          <p:cNvSpPr txBox="1"/>
          <p:nvPr/>
        </p:nvSpPr>
        <p:spPr>
          <a:xfrm>
            <a:off x="2560320" y="39776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42" name="Text 33"/>
          <p:cNvSpPr txBox="1"/>
          <p:nvPr/>
        </p:nvSpPr>
        <p:spPr>
          <a:xfrm>
            <a:off x="3474720" y="3977640"/>
            <a:ext cx="347472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43" name="Text 34"/>
          <p:cNvSpPr txBox="1"/>
          <p:nvPr/>
        </p:nvSpPr>
        <p:spPr>
          <a:xfrm>
            <a:off x="548640" y="4343400"/>
            <a:ext cx="1920240" cy="457200"/>
          </a:xfrm>
          <a:prstGeom prst="rect">
            <a:avLst/>
          </a:prstGeom>
          <a:noFill/>
          <a:ln/>
        </p:spPr>
        <p:txBody>
          <a:bodyPr wrap="square" lIns="0" tIns="0" rIns="0" bIns="0" rtlCol="0" anchor="ctr"/>
          <a:lstStyle/>
          <a:p>
            <a:pPr algn="r" indent="0" marL="0">
              <a:buNone/>
            </a:pPr>
            <a:r>
              <a:rPr lang="en-US" sz="1500" dirty="0">
                <a:solidFill>
                  <a:schemeClr val="tx1"/>
                </a:solidFill>
              </a:rPr>
              <a:t>think on hardest-looking</a:t>
            </a:r>
            <a:endParaRPr lang="en-US" sz="1500" dirty="0"/>
          </a:p>
        </p:txBody>
      </p:sp>
      <p:sp>
        <p:nvSpPr>
          <p:cNvPr id="44" name="Text 35"/>
          <p:cNvSpPr txBox="1"/>
          <p:nvPr/>
        </p:nvSpPr>
        <p:spPr>
          <a:xfrm>
            <a:off x="2560320" y="43434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45" name="tokens think on hardest-looking"/>
          <p:cNvSpPr/>
          <p:nvPr/>
        </p:nvSpPr>
        <p:spPr>
          <a:xfrm>
            <a:off x="3474720" y="4443984"/>
            <a:ext cx="2743200" cy="256032"/>
          </a:xfrm>
          <a:prstGeom prst="rect">
            <a:avLst/>
          </a:prstGeom>
          <a:solidFill>
            <a:srgbClr val="7F7F7F"/>
          </a:solidFill>
          <a:ln w="6350">
            <a:solidFill>
              <a:srgbClr val="7F7F7F"/>
            </a:solidFill>
            <a:prstDash val="solid"/>
          </a:ln>
        </p:spPr>
      </p:sp>
      <p:sp>
        <p:nvSpPr>
          <p:cNvPr id="46" name="Text 37"/>
          <p:cNvSpPr txBox="1"/>
          <p:nvPr/>
        </p:nvSpPr>
        <p:spPr>
          <a:xfrm>
            <a:off x="6309360" y="43434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47" name="Text 38"/>
          <p:cNvSpPr txBox="1"/>
          <p:nvPr/>
        </p:nvSpPr>
        <p:spPr>
          <a:xfrm>
            <a:off x="548640" y="4873752"/>
            <a:ext cx="1920240" cy="457200"/>
          </a:xfrm>
          <a:prstGeom prst="rect">
            <a:avLst/>
          </a:prstGeom>
          <a:noFill/>
          <a:ln/>
        </p:spPr>
        <p:txBody>
          <a:bodyPr wrap="square" lIns="0" tIns="0" rIns="0" bIns="0" rtlCol="0" anchor="ctr"/>
          <a:lstStyle/>
          <a:p>
            <a:pPr algn="r" indent="0" marL="0">
              <a:buNone/>
            </a:pPr>
            <a:r>
              <a:rPr lang="en-US" sz="1500" dirty="0">
                <a:solidFill>
                  <a:schemeClr val="tx1"/>
                </a:solidFill>
              </a:rPr>
              <a:t>our method</a:t>
            </a:r>
            <a:endParaRPr lang="en-US" sz="1500" dirty="0"/>
          </a:p>
        </p:txBody>
      </p:sp>
      <p:sp>
        <p:nvSpPr>
          <p:cNvPr id="48" name="Text 39"/>
          <p:cNvSpPr txBox="1"/>
          <p:nvPr/>
        </p:nvSpPr>
        <p:spPr>
          <a:xfrm>
            <a:off x="2560320" y="487375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49" name="tokens our method"/>
          <p:cNvSpPr/>
          <p:nvPr/>
        </p:nvSpPr>
        <p:spPr>
          <a:xfrm>
            <a:off x="3474720" y="4974336"/>
            <a:ext cx="1672683" cy="256032"/>
          </a:xfrm>
          <a:prstGeom prst="rect">
            <a:avLst/>
          </a:prstGeom>
          <a:solidFill>
            <a:srgbClr val="4472C4"/>
          </a:solidFill>
          <a:ln w="6350">
            <a:solidFill>
              <a:srgbClr val="4472C4"/>
            </a:solidFill>
            <a:prstDash val="solid"/>
          </a:ln>
        </p:spPr>
      </p:sp>
      <p:sp>
        <p:nvSpPr>
          <p:cNvPr id="50" name="Text 41"/>
          <p:cNvSpPr txBox="1"/>
          <p:nvPr/>
        </p:nvSpPr>
        <p:spPr>
          <a:xfrm>
            <a:off x="5238843" y="487375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51" name="Text 42"/>
          <p:cNvSpPr txBox="1"/>
          <p:nvPr/>
        </p:nvSpPr>
        <p:spPr>
          <a:xfrm>
            <a:off x="7498080" y="3611880"/>
            <a:ext cx="4114800" cy="457200"/>
          </a:xfrm>
          <a:prstGeom prst="rect">
            <a:avLst/>
          </a:prstGeom>
          <a:noFill/>
          <a:ln/>
        </p:spPr>
        <p:txBody>
          <a:bodyPr wrap="square" lIns="0" tIns="0" rIns="0" bIns="0" rtlCol="0" anchor="ctr"/>
          <a:lstStyle/>
          <a:p>
            <a:pPr indent="0" marL="0">
              <a:buNone/>
            </a:pPr>
            <a:r>
              <a:rPr lang="en-US" sz="2400" b="1" dirty="0">
                <a:solidFill>
                  <a:srgbClr val="4472C4"/>
                </a:solidFill>
              </a:rPr>
              <a:t>79% = 79%</a:t>
            </a:r>
            <a:endParaRPr lang="en-US" sz="2400" dirty="0"/>
          </a:p>
        </p:txBody>
      </p:sp>
      <p:sp>
        <p:nvSpPr>
          <p:cNvPr id="52" name="Text 43"/>
          <p:cNvSpPr txBox="1"/>
          <p:nvPr/>
        </p:nvSpPr>
        <p:spPr>
          <a:xfrm>
            <a:off x="7498080" y="4050792"/>
            <a:ext cx="4114800" cy="457200"/>
          </a:xfrm>
          <a:prstGeom prst="rect">
            <a:avLst/>
          </a:prstGeom>
          <a:noFill/>
          <a:ln/>
        </p:spPr>
        <p:txBody>
          <a:bodyPr wrap="square" lIns="0" tIns="0" rIns="0" bIns="0" rtlCol="0" anchor="t"/>
          <a:lstStyle/>
          <a:p>
            <a:pPr indent="0" marL="0">
              <a:buNone/>
            </a:pPr>
            <a:r>
              <a:rPr lang="en-US" sz="1400" dirty="0">
                <a:solidFill>
                  <a:schemeClr val="tx1"/>
                </a:solidFill>
              </a:rPr>
              <a:t>the fact found automatically (its own earlier checked program) = a hand-written fact, on new problems</a:t>
            </a:r>
            <a:endParaRPr lang="en-US" sz="1400" dirty="0"/>
          </a:p>
        </p:txBody>
      </p:sp>
      <p:sp>
        <p:nvSpPr>
          <p:cNvPr id="53" name="Text 44"/>
          <p:cNvSpPr txBox="1"/>
          <p:nvPr/>
        </p:nvSpPr>
        <p:spPr>
          <a:xfrm>
            <a:off x="7498080" y="4572000"/>
            <a:ext cx="4114800" cy="457200"/>
          </a:xfrm>
          <a:prstGeom prst="rect">
            <a:avLst/>
          </a:prstGeom>
          <a:noFill/>
          <a:ln/>
        </p:spPr>
        <p:txBody>
          <a:bodyPr wrap="square" lIns="0" tIns="0" rIns="0" bIns="0" rtlCol="0" anchor="ctr"/>
          <a:lstStyle/>
          <a:p>
            <a:pPr indent="0" marL="0">
              <a:buNone/>
            </a:pPr>
            <a:r>
              <a:rPr lang="en-US" sz="2400" b="1" dirty="0">
                <a:solidFill>
                  <a:srgbClr val="4472C4"/>
                </a:solidFill>
              </a:rPr>
              <a:t>0.6k vs 5.3k</a:t>
            </a:r>
            <a:endParaRPr lang="en-US" sz="2400" dirty="0"/>
          </a:p>
        </p:txBody>
      </p:sp>
      <p:sp>
        <p:nvSpPr>
          <p:cNvPr id="54" name="Text 45"/>
          <p:cNvSpPr txBox="1"/>
          <p:nvPr/>
        </p:nvSpPr>
        <p:spPr>
          <a:xfrm>
            <a:off x="7498080" y="5010912"/>
            <a:ext cx="4114800" cy="457200"/>
          </a:xfrm>
          <a:prstGeom prst="rect">
            <a:avLst/>
          </a:prstGeom>
          <a:noFill/>
          <a:ln/>
        </p:spPr>
        <p:txBody>
          <a:bodyPr wrap="square" lIns="0" tIns="0" rIns="0" bIns="0" rtlCol="0" anchor="t"/>
          <a:lstStyle/>
          <a:p>
            <a:pPr indent="0" marL="0">
              <a:buNone/>
            </a:pPr>
            <a:r>
              <a:rPr lang="en-US" sz="1400" dirty="0">
                <a:solidFill>
                  <a:schemeClr val="tx1"/>
                </a:solidFill>
              </a:rPr>
              <a:t>tokens on this problem vs thinking alone</a:t>
            </a:r>
            <a:endParaRPr lang="en-US" sz="1400" dirty="0"/>
          </a:p>
        </p:txBody>
      </p:sp>
      <p:sp>
        <p:nvSpPr>
          <p:cNvPr id="55" name="Text 4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More accurate and cheaper than spending thinking on the hardest-looking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is new, and what is next</a:t>
            </a:r>
            <a:endParaRPr lang="en-US" sz="3600" dirty="0"/>
          </a:p>
        </p:txBody>
      </p:sp>
      <p:sp>
        <p:nvSpPr>
          <p:cNvPr id="3" name="Text 1"/>
          <p:cNvSpPr txBox="1"/>
          <p:nvPr/>
        </p:nvSpPr>
        <p:spPr>
          <a:xfrm>
            <a:off x="548640" y="1188720"/>
            <a:ext cx="4846320" cy="365760"/>
          </a:xfrm>
          <a:prstGeom prst="rect">
            <a:avLst/>
          </a:prstGeom>
          <a:noFill/>
          <a:ln/>
        </p:spPr>
        <p:txBody>
          <a:bodyPr wrap="square" lIns="0" tIns="0" rIns="0" bIns="0" rtlCol="0" anchor="ctr"/>
          <a:lstStyle/>
          <a:p>
            <a:pPr algn="ctr" indent="0" marL="0">
              <a:buNone/>
            </a:pPr>
            <a:r>
              <a:rPr lang="en-US" sz="1600" b="1" dirty="0">
                <a:solidFill>
                  <a:srgbClr val="7F7F7F"/>
                </a:solidFill>
              </a:rPr>
              <a:t>The usual way</a:t>
            </a:r>
            <a:endParaRPr lang="en-US" sz="1600" dirty="0"/>
          </a:p>
        </p:txBody>
      </p:sp>
      <p:sp>
        <p:nvSpPr>
          <p:cNvPr id="4" name="Text 2"/>
          <p:cNvSpPr txBox="1"/>
          <p:nvPr/>
        </p:nvSpPr>
        <p:spPr>
          <a:xfrm>
            <a:off x="6766560" y="1188720"/>
            <a:ext cx="4846320" cy="365760"/>
          </a:xfrm>
          <a:prstGeom prst="rect">
            <a:avLst/>
          </a:prstGeom>
          <a:noFill/>
          <a:ln/>
        </p:spPr>
        <p:txBody>
          <a:bodyPr wrap="square" lIns="0" tIns="0" rIns="0" bIns="0" rtlCol="0" anchor="ctr"/>
          <a:lstStyle/>
          <a:p>
            <a:pPr algn="ctr" indent="0" marL="0">
              <a:buNone/>
            </a:pPr>
            <a:r>
              <a:rPr lang="en-US" sz="1600" b="1" dirty="0">
                <a:solidFill>
                  <a:srgbClr val="4472C4"/>
                </a:solidFill>
              </a:rPr>
              <a:t>Ours</a:t>
            </a:r>
            <a:endParaRPr lang="en-US" sz="1600" dirty="0"/>
          </a:p>
        </p:txBody>
      </p:sp>
      <p:sp>
        <p:nvSpPr>
          <p:cNvPr id="5" name="box "/>
          <p:cNvSpPr/>
          <p:nvPr/>
        </p:nvSpPr>
        <p:spPr>
          <a:xfrm>
            <a:off x="548640" y="1600200"/>
            <a:ext cx="4846320" cy="685800"/>
          </a:xfrm>
          <a:prstGeom prst="roundRect">
            <a:avLst>
              <a:gd name="adj" fmla="val 8000"/>
            </a:avLst>
          </a:prstGeom>
          <a:solidFill>
            <a:srgbClr val="F2F2F2"/>
          </a:solidFill>
          <a:ln w="9525">
            <a:solidFill>
              <a:srgbClr val="BFBFBF"/>
            </a:solidFill>
            <a:prstDash val="solid"/>
          </a:ln>
        </p:spPr>
      </p:sp>
      <p:sp>
        <p:nvSpPr>
          <p:cNvPr id="6" name="Text 4"/>
          <p:cNvSpPr txBox="1"/>
          <p:nvPr/>
        </p:nvSpPr>
        <p:spPr>
          <a:xfrm>
            <a:off x="621792" y="160020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7" name="usual icon 0" descr="/NAS/SJ/POSTECH/nlp/figs/icons/brain.png">    </p:cNvPr>
          <p:cNvPicPr>
            <a:picLocks noChangeAspect="1"/>
          </p:cNvPicPr>
          <p:nvPr/>
        </p:nvPicPr>
        <p:blipFill>
          <a:blip r:embed="rId1"/>
          <a:stretch>
            <a:fillRect/>
          </a:stretch>
        </p:blipFill>
        <p:spPr>
          <a:xfrm>
            <a:off x="685800" y="1737360"/>
            <a:ext cx="411480" cy="411480"/>
          </a:xfrm>
          <a:prstGeom prst="rect">
            <a:avLst/>
          </a:prstGeom>
        </p:spPr>
      </p:pic>
      <p:sp>
        <p:nvSpPr>
          <p:cNvPr id="8" name="Text 5"/>
          <p:cNvSpPr txBox="1"/>
          <p:nvPr/>
        </p:nvSpPr>
        <p:spPr>
          <a:xfrm>
            <a:off x="1234440" y="1600200"/>
            <a:ext cx="4069080" cy="685800"/>
          </a:xfrm>
          <a:prstGeom prst="rect">
            <a:avLst/>
          </a:prstGeom>
          <a:noFill/>
          <a:ln/>
        </p:spPr>
        <p:txBody>
          <a:bodyPr wrap="square" lIns="0" tIns="0" rIns="0" bIns="0" rtlCol="0" anchor="ctr"/>
          <a:lstStyle/>
          <a:p>
            <a:pPr indent="0" marL="0">
              <a:buNone/>
            </a:pPr>
            <a:r>
              <a:rPr lang="en-US" sz="1500" dirty="0">
                <a:solidFill>
                  <a:srgbClr val="404040"/>
                </a:solidFill>
              </a:rPr>
              <a:t>think more on hard-looking problems, or train when to think</a:t>
            </a:r>
            <a:endParaRPr lang="en-US" sz="1500" dirty="0"/>
          </a:p>
        </p:txBody>
      </p:sp>
      <p:sp>
        <p:nvSpPr>
          <p:cNvPr id="9" name="arrow 0"/>
          <p:cNvSpPr/>
          <p:nvPr/>
        </p:nvSpPr>
        <p:spPr>
          <a:xfrm>
            <a:off x="5577840" y="1755648"/>
            <a:ext cx="1005840" cy="384048"/>
          </a:xfrm>
          <a:prstGeom prst="rightArrow">
            <a:avLst/>
          </a:prstGeom>
          <a:solidFill>
            <a:srgbClr val="4472C4"/>
          </a:solidFill>
          <a:ln w="12700">
            <a:solidFill>
              <a:srgbClr val="4472C4"/>
            </a:solidFill>
            <a:prstDash val="solid"/>
          </a:ln>
        </p:spPr>
      </p:sp>
      <p:sp>
        <p:nvSpPr>
          <p:cNvPr id="10" name="box "/>
          <p:cNvSpPr/>
          <p:nvPr/>
        </p:nvSpPr>
        <p:spPr>
          <a:xfrm>
            <a:off x="6766560" y="1600200"/>
            <a:ext cx="4846320" cy="685800"/>
          </a:xfrm>
          <a:prstGeom prst="roundRect">
            <a:avLst>
              <a:gd name="adj" fmla="val 8000"/>
            </a:avLst>
          </a:prstGeom>
          <a:solidFill>
            <a:srgbClr val="DEEBF7"/>
          </a:solidFill>
          <a:ln w="9525">
            <a:solidFill>
              <a:srgbClr val="BFBFBF"/>
            </a:solidFill>
            <a:prstDash val="solid"/>
          </a:ln>
        </p:spPr>
      </p:sp>
      <p:sp>
        <p:nvSpPr>
          <p:cNvPr id="11" name="Text 8"/>
          <p:cNvSpPr txBox="1"/>
          <p:nvPr/>
        </p:nvSpPr>
        <p:spPr>
          <a:xfrm>
            <a:off x="6839712" y="160020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12" name="ours icon 0" descr="/NAS/SJ/POSTECH/nlp/figs/icons/check.png">    </p:cNvPr>
          <p:cNvPicPr>
            <a:picLocks noChangeAspect="1"/>
          </p:cNvPicPr>
          <p:nvPr/>
        </p:nvPicPr>
        <p:blipFill>
          <a:blip r:embed="rId2"/>
          <a:stretch>
            <a:fillRect/>
          </a:stretch>
        </p:blipFill>
        <p:spPr>
          <a:xfrm>
            <a:off x="6903720" y="1737360"/>
            <a:ext cx="411480" cy="411480"/>
          </a:xfrm>
          <a:prstGeom prst="rect">
            <a:avLst/>
          </a:prstGeom>
        </p:spPr>
      </p:pic>
      <p:sp>
        <p:nvSpPr>
          <p:cNvPr id="13" name="Text 9"/>
          <p:cNvSpPr txBox="1"/>
          <p:nvPr/>
        </p:nvSpPr>
        <p:spPr>
          <a:xfrm>
            <a:off x="7452360" y="1600200"/>
            <a:ext cx="4069080" cy="685800"/>
          </a:xfrm>
          <a:prstGeom prst="rect">
            <a:avLst/>
          </a:prstGeom>
          <a:noFill/>
          <a:ln/>
        </p:spPr>
        <p:txBody>
          <a:bodyPr wrap="square" lIns="0" tIns="0" rIns="0" bIns="0" rtlCol="0" anchor="ctr"/>
          <a:lstStyle/>
          <a:p>
            <a:pPr indent="0" marL="0">
              <a:buNone/>
            </a:pPr>
            <a:r>
              <a:rPr lang="en-US" sz="1500" b="1" dirty="0">
                <a:solidFill>
                  <a:srgbClr val="1F3864"/>
                </a:solidFill>
              </a:rPr>
              <a:t>think only when a free check fails; no training (87% vs 74%)</a:t>
            </a:r>
            <a:endParaRPr lang="en-US" sz="1500" dirty="0"/>
          </a:p>
        </p:txBody>
      </p:sp>
      <p:sp>
        <p:nvSpPr>
          <p:cNvPr id="14" name="box "/>
          <p:cNvSpPr/>
          <p:nvPr/>
        </p:nvSpPr>
        <p:spPr>
          <a:xfrm>
            <a:off x="548640" y="2423160"/>
            <a:ext cx="4846320" cy="685800"/>
          </a:xfrm>
          <a:prstGeom prst="roundRect">
            <a:avLst>
              <a:gd name="adj" fmla="val 8000"/>
            </a:avLst>
          </a:prstGeom>
          <a:solidFill>
            <a:srgbClr val="F2F2F2"/>
          </a:solidFill>
          <a:ln w="9525">
            <a:solidFill>
              <a:srgbClr val="BFBFBF"/>
            </a:solidFill>
            <a:prstDash val="solid"/>
          </a:ln>
        </p:spPr>
      </p:sp>
      <p:sp>
        <p:nvSpPr>
          <p:cNvPr id="15" name="Text 11"/>
          <p:cNvSpPr txBox="1"/>
          <p:nvPr/>
        </p:nvSpPr>
        <p:spPr>
          <a:xfrm>
            <a:off x="621792" y="242316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16" name="usual icon 1" descr="/NAS/SJ/POSTECH/nlp/figs/icons/page.png">    </p:cNvPr>
          <p:cNvPicPr>
            <a:picLocks noChangeAspect="1"/>
          </p:cNvPicPr>
          <p:nvPr/>
        </p:nvPicPr>
        <p:blipFill>
          <a:blip r:embed="rId3"/>
          <a:stretch>
            <a:fillRect/>
          </a:stretch>
        </p:blipFill>
        <p:spPr>
          <a:xfrm>
            <a:off x="685800" y="2560320"/>
            <a:ext cx="411480" cy="411480"/>
          </a:xfrm>
          <a:prstGeom prst="rect">
            <a:avLst/>
          </a:prstGeom>
        </p:spPr>
      </p:pic>
      <p:sp>
        <p:nvSpPr>
          <p:cNvPr id="17" name="Text 12"/>
          <p:cNvSpPr txBox="1"/>
          <p:nvPr/>
        </p:nvSpPr>
        <p:spPr>
          <a:xfrm>
            <a:off x="1234440" y="2423160"/>
            <a:ext cx="4069080" cy="685800"/>
          </a:xfrm>
          <a:prstGeom prst="rect">
            <a:avLst/>
          </a:prstGeom>
          <a:noFill/>
          <a:ln/>
        </p:spPr>
        <p:txBody>
          <a:bodyPr wrap="square" lIns="0" tIns="0" rIns="0" bIns="0" rtlCol="0" anchor="ctr"/>
          <a:lstStyle/>
          <a:p>
            <a:pPr indent="0" marL="0">
              <a:buNone/>
            </a:pPr>
            <a:r>
              <a:rPr lang="en-US" sz="1500" dirty="0">
                <a:solidFill>
                  <a:srgbClr val="404040"/>
                </a:solidFill>
              </a:rPr>
              <a:t>give the manual, or a teacher's programs checked against answers</a:t>
            </a:r>
            <a:endParaRPr lang="en-US" sz="1500" dirty="0"/>
          </a:p>
        </p:txBody>
      </p:sp>
      <p:sp>
        <p:nvSpPr>
          <p:cNvPr id="18" name="arrow 1"/>
          <p:cNvSpPr/>
          <p:nvPr/>
        </p:nvSpPr>
        <p:spPr>
          <a:xfrm>
            <a:off x="5577840" y="2578608"/>
            <a:ext cx="1005840" cy="384048"/>
          </a:xfrm>
          <a:prstGeom prst="rightArrow">
            <a:avLst/>
          </a:prstGeom>
          <a:solidFill>
            <a:srgbClr val="4472C4"/>
          </a:solidFill>
          <a:ln w="12700">
            <a:solidFill>
              <a:srgbClr val="4472C4"/>
            </a:solidFill>
            <a:prstDash val="solid"/>
          </a:ln>
        </p:spPr>
      </p:sp>
      <p:sp>
        <p:nvSpPr>
          <p:cNvPr id="19" name="box "/>
          <p:cNvSpPr/>
          <p:nvPr/>
        </p:nvSpPr>
        <p:spPr>
          <a:xfrm>
            <a:off x="6766560" y="2423160"/>
            <a:ext cx="4846320" cy="685800"/>
          </a:xfrm>
          <a:prstGeom prst="roundRect">
            <a:avLst>
              <a:gd name="adj" fmla="val 8000"/>
            </a:avLst>
          </a:prstGeom>
          <a:solidFill>
            <a:srgbClr val="DEEBF7"/>
          </a:solidFill>
          <a:ln w="9525">
            <a:solidFill>
              <a:srgbClr val="BFBFBF"/>
            </a:solidFill>
            <a:prstDash val="solid"/>
          </a:ln>
        </p:spPr>
      </p:sp>
      <p:sp>
        <p:nvSpPr>
          <p:cNvPr id="20" name="Text 15"/>
          <p:cNvSpPr txBox="1"/>
          <p:nvPr/>
        </p:nvSpPr>
        <p:spPr>
          <a:xfrm>
            <a:off x="6839712" y="242316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21" name="ours icon 1" descr="/NAS/SJ/POSTECH/nlp/figs/icons/fact.png">    </p:cNvPr>
          <p:cNvPicPr>
            <a:picLocks noChangeAspect="1"/>
          </p:cNvPicPr>
          <p:nvPr/>
        </p:nvPicPr>
        <p:blipFill>
          <a:blip r:embed="rId4"/>
          <a:stretch>
            <a:fillRect/>
          </a:stretch>
        </p:blipFill>
        <p:spPr>
          <a:xfrm>
            <a:off x="6903720" y="2560320"/>
            <a:ext cx="411480" cy="411480"/>
          </a:xfrm>
          <a:prstGeom prst="rect">
            <a:avLst/>
          </a:prstGeom>
        </p:spPr>
      </p:pic>
      <p:sp>
        <p:nvSpPr>
          <p:cNvPr id="22" name="Text 16"/>
          <p:cNvSpPr txBox="1"/>
          <p:nvPr/>
        </p:nvSpPr>
        <p:spPr>
          <a:xfrm>
            <a:off x="7452360" y="2423160"/>
            <a:ext cx="4069080" cy="685800"/>
          </a:xfrm>
          <a:prstGeom prst="rect">
            <a:avLst/>
          </a:prstGeom>
          <a:noFill/>
          <a:ln/>
        </p:spPr>
        <p:txBody>
          <a:bodyPr wrap="square" lIns="0" tIns="0" rIns="0" bIns="0" rtlCol="0" anchor="ctr"/>
          <a:lstStyle/>
          <a:p>
            <a:pPr indent="0" marL="0">
              <a:buNone/>
            </a:pPr>
            <a:r>
              <a:rPr lang="en-US" sz="1500" b="1" dirty="0">
                <a:solidFill>
                  <a:srgbClr val="1F3864"/>
                </a:solidFill>
              </a:rPr>
              <a:t>give one fact: the model's own checked program; no answer key</a:t>
            </a:r>
            <a:endParaRPr lang="en-US" sz="1500" dirty="0"/>
          </a:p>
        </p:txBody>
      </p:sp>
      <p:sp>
        <p:nvSpPr>
          <p:cNvPr id="23" name="box "/>
          <p:cNvSpPr/>
          <p:nvPr/>
        </p:nvSpPr>
        <p:spPr>
          <a:xfrm>
            <a:off x="548640" y="3246120"/>
            <a:ext cx="4846320" cy="685800"/>
          </a:xfrm>
          <a:prstGeom prst="roundRect">
            <a:avLst>
              <a:gd name="adj" fmla="val 8000"/>
            </a:avLst>
          </a:prstGeom>
          <a:solidFill>
            <a:srgbClr val="F2F2F2"/>
          </a:solidFill>
          <a:ln w="9525">
            <a:solidFill>
              <a:srgbClr val="BFBFBF"/>
            </a:solidFill>
            <a:prstDash val="solid"/>
          </a:ln>
        </p:spPr>
      </p:sp>
      <p:sp>
        <p:nvSpPr>
          <p:cNvPr id="24" name="Text 18"/>
          <p:cNvSpPr txBox="1"/>
          <p:nvPr/>
        </p:nvSpPr>
        <p:spPr>
          <a:xfrm>
            <a:off x="621792" y="324612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25" name="usual icon 2" descr="/NAS/SJ/POSTECH/nlp/figs/icons/robot.png">    </p:cNvPr>
          <p:cNvPicPr>
            <a:picLocks noChangeAspect="1"/>
          </p:cNvPicPr>
          <p:nvPr/>
        </p:nvPicPr>
        <p:blipFill>
          <a:blip r:embed="rId5"/>
          <a:stretch>
            <a:fillRect/>
          </a:stretch>
        </p:blipFill>
        <p:spPr>
          <a:xfrm>
            <a:off x="685800" y="3383280"/>
            <a:ext cx="411480" cy="411480"/>
          </a:xfrm>
          <a:prstGeom prst="rect">
            <a:avLst/>
          </a:prstGeom>
        </p:spPr>
      </p:pic>
      <p:sp>
        <p:nvSpPr>
          <p:cNvPr id="26" name="Text 19"/>
          <p:cNvSpPr txBox="1"/>
          <p:nvPr/>
        </p:nvSpPr>
        <p:spPr>
          <a:xfrm>
            <a:off x="1234440" y="3246120"/>
            <a:ext cx="4069080" cy="685800"/>
          </a:xfrm>
          <a:prstGeom prst="rect">
            <a:avLst/>
          </a:prstGeom>
          <a:noFill/>
          <a:ln/>
        </p:spPr>
        <p:txBody>
          <a:bodyPr wrap="square" lIns="0" tIns="0" rIns="0" bIns="0" rtlCol="0" anchor="ctr"/>
          <a:lstStyle/>
          <a:p>
            <a:pPr indent="0" marL="0">
              <a:buNone/>
            </a:pPr>
            <a:r>
              <a:rPr lang="en-US" sz="1500" dirty="0">
                <a:solidFill>
                  <a:srgbClr val="404040"/>
                </a:solidFill>
              </a:rPr>
              <a:t>fine-tune a specialist model (ORLM-8B)</a:t>
            </a:r>
            <a:endParaRPr lang="en-US" sz="1500" dirty="0"/>
          </a:p>
        </p:txBody>
      </p:sp>
      <p:sp>
        <p:nvSpPr>
          <p:cNvPr id="27" name="arrow 2"/>
          <p:cNvSpPr/>
          <p:nvPr/>
        </p:nvSpPr>
        <p:spPr>
          <a:xfrm>
            <a:off x="5577840" y="3401568"/>
            <a:ext cx="1005840" cy="384048"/>
          </a:xfrm>
          <a:prstGeom prst="rightArrow">
            <a:avLst/>
          </a:prstGeom>
          <a:solidFill>
            <a:srgbClr val="4472C4"/>
          </a:solidFill>
          <a:ln w="12700">
            <a:solidFill>
              <a:srgbClr val="4472C4"/>
            </a:solidFill>
            <a:prstDash val="solid"/>
          </a:ln>
        </p:spPr>
      </p:sp>
      <p:sp>
        <p:nvSpPr>
          <p:cNvPr id="28" name="box "/>
          <p:cNvSpPr/>
          <p:nvPr/>
        </p:nvSpPr>
        <p:spPr>
          <a:xfrm>
            <a:off x="6766560" y="3246120"/>
            <a:ext cx="4846320" cy="685800"/>
          </a:xfrm>
          <a:prstGeom prst="roundRect">
            <a:avLst>
              <a:gd name="adj" fmla="val 8000"/>
            </a:avLst>
          </a:prstGeom>
          <a:solidFill>
            <a:srgbClr val="DEEBF7"/>
          </a:solidFill>
          <a:ln w="9525">
            <a:solidFill>
              <a:srgbClr val="BFBFBF"/>
            </a:solidFill>
            <a:prstDash val="solid"/>
          </a:ln>
        </p:spPr>
      </p:sp>
      <p:sp>
        <p:nvSpPr>
          <p:cNvPr id="29" name="Text 22"/>
          <p:cNvSpPr txBox="1"/>
          <p:nvPr/>
        </p:nvSpPr>
        <p:spPr>
          <a:xfrm>
            <a:off x="6839712" y="324612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30" name="ours icon 2" descr="/NAS/SJ/POSTECH/nlp/figs/icons/gpu.png">    </p:cNvPr>
          <p:cNvPicPr>
            <a:picLocks noChangeAspect="1"/>
          </p:cNvPicPr>
          <p:nvPr/>
        </p:nvPicPr>
        <p:blipFill>
          <a:blip r:embed="rId6"/>
          <a:stretch>
            <a:fillRect/>
          </a:stretch>
        </p:blipFill>
        <p:spPr>
          <a:xfrm>
            <a:off x="6903720" y="3383280"/>
            <a:ext cx="411480" cy="411480"/>
          </a:xfrm>
          <a:prstGeom prst="rect">
            <a:avLst/>
          </a:prstGeom>
        </p:spPr>
      </p:pic>
      <p:sp>
        <p:nvSpPr>
          <p:cNvPr id="31" name="Text 23"/>
          <p:cNvSpPr txBox="1"/>
          <p:nvPr/>
        </p:nvSpPr>
        <p:spPr>
          <a:xfrm>
            <a:off x="7452360" y="3246120"/>
            <a:ext cx="4069080" cy="685800"/>
          </a:xfrm>
          <a:prstGeom prst="rect">
            <a:avLst/>
          </a:prstGeom>
          <a:noFill/>
          <a:ln/>
        </p:spPr>
        <p:txBody>
          <a:bodyPr wrap="square" lIns="0" tIns="0" rIns="0" bIns="0" rtlCol="0" anchor="ctr"/>
          <a:lstStyle/>
          <a:p>
            <a:pPr indent="0" marL="0">
              <a:buNone/>
            </a:pPr>
            <a:r>
              <a:rPr lang="en-US" sz="1500" b="1" dirty="0">
                <a:solidFill>
                  <a:srgbClr val="1F3864"/>
                </a:solidFill>
              </a:rPr>
              <a:t>no training, one 24 GB GPU: the same 69.5% on MAMO</a:t>
            </a:r>
            <a:endParaRPr lang="en-US" sz="1500" dirty="0"/>
          </a:p>
        </p:txBody>
      </p:sp>
      <p:sp>
        <p:nvSpPr>
          <p:cNvPr id="32" name="Text 24"/>
          <p:cNvSpPr txBox="1"/>
          <p:nvPr/>
        </p:nvSpPr>
        <p:spPr>
          <a:xfrm>
            <a:off x="548640" y="4114800"/>
            <a:ext cx="11064240" cy="365760"/>
          </a:xfrm>
          <a:prstGeom prst="rect">
            <a:avLst/>
          </a:prstGeom>
          <a:noFill/>
          <a:ln/>
        </p:spPr>
        <p:txBody>
          <a:bodyPr wrap="square" lIns="0" tIns="0" rIns="0" bIns="0" rtlCol="0" anchor="ctr"/>
          <a:lstStyle/>
          <a:p>
            <a:pPr indent="0" marL="0">
              <a:buNone/>
            </a:pPr>
            <a:r>
              <a:rPr lang="en-US" sz="1600" b="1" dirty="0">
                <a:solidFill>
                  <a:schemeClr val="tx1"/>
                </a:solidFill>
              </a:rPr>
              <a:t>Next, until the final report</a:t>
            </a:r>
            <a:endParaRPr lang="en-US" sz="1600" dirty="0"/>
          </a:p>
        </p:txBody>
      </p:sp>
      <p:sp>
        <p:nvSpPr>
          <p:cNvPr id="33" name="Shape 25"/>
          <p:cNvSpPr/>
          <p:nvPr/>
        </p:nvSpPr>
        <p:spPr>
          <a:xfrm>
            <a:off x="2194560" y="4800600"/>
            <a:ext cx="7772400" cy="0"/>
          </a:xfrm>
          <a:prstGeom prst="line">
            <a:avLst/>
          </a:prstGeom>
          <a:noFill/>
          <a:ln w="38100">
            <a:solidFill>
              <a:srgbClr val="BFBFBF"/>
            </a:solidFill>
            <a:prstDash val="solid"/>
          </a:ln>
        </p:spPr>
      </p:sp>
      <p:sp>
        <p:nvSpPr>
          <p:cNvPr id="34" name="milestone 0"/>
          <p:cNvSpPr/>
          <p:nvPr/>
        </p:nvSpPr>
        <p:spPr>
          <a:xfrm>
            <a:off x="1920240" y="4526280"/>
            <a:ext cx="548640" cy="548640"/>
          </a:xfrm>
          <a:prstGeom prst="ellipse">
            <a:avLst/>
          </a:prstGeom>
          <a:solidFill>
            <a:srgbClr val="FFFFFF"/>
          </a:solidFill>
          <a:ln w="25400">
            <a:solidFill>
              <a:srgbClr val="4472C4"/>
            </a:solidFill>
            <a:prstDash val="solid"/>
          </a:ln>
        </p:spPr>
      </p:sp>
      <p:pic>
        <p:nvPicPr>
          <p:cNvPr id="35" name="milestone icon 0" descr="/NAS/SJ/POSTECH/nlp/figs/icons/check.png">    </p:cNvPr>
          <p:cNvPicPr>
            <a:picLocks noChangeAspect="1"/>
          </p:cNvPicPr>
          <p:nvPr/>
        </p:nvPicPr>
        <p:blipFill>
          <a:blip r:embed="rId7"/>
          <a:stretch>
            <a:fillRect/>
          </a:stretch>
        </p:blipFill>
        <p:spPr>
          <a:xfrm>
            <a:off x="2020824" y="4626864"/>
            <a:ext cx="347472" cy="347472"/>
          </a:xfrm>
          <a:prstGeom prst="rect">
            <a:avLst/>
          </a:prstGeom>
        </p:spPr>
      </p:pic>
      <p:sp>
        <p:nvSpPr>
          <p:cNvPr id="36" name="Text 27"/>
          <p:cNvSpPr txBox="1"/>
          <p:nvPr/>
        </p:nvSpPr>
        <p:spPr>
          <a:xfrm>
            <a:off x="5486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finish the held-out test on more models</a:t>
            </a:r>
            <a:endParaRPr lang="en-US" sz="1500" dirty="0"/>
          </a:p>
        </p:txBody>
      </p:sp>
      <p:sp>
        <p:nvSpPr>
          <p:cNvPr id="37" name="milestone 1"/>
          <p:cNvSpPr/>
          <p:nvPr/>
        </p:nvSpPr>
        <p:spPr>
          <a:xfrm>
            <a:off x="5806440" y="4526280"/>
            <a:ext cx="548640" cy="548640"/>
          </a:xfrm>
          <a:prstGeom prst="ellipse">
            <a:avLst/>
          </a:prstGeom>
          <a:solidFill>
            <a:srgbClr val="FFFFFF"/>
          </a:solidFill>
          <a:ln w="25400">
            <a:solidFill>
              <a:srgbClr val="4472C4"/>
            </a:solidFill>
            <a:prstDash val="solid"/>
          </a:ln>
        </p:spPr>
      </p:sp>
      <p:pic>
        <p:nvPicPr>
          <p:cNvPr id="38" name="milestone icon 1" descr="/NAS/SJ/POSTECH/nlp/figs/icons/warn.png">    </p:cNvPr>
          <p:cNvPicPr>
            <a:picLocks noChangeAspect="1"/>
          </p:cNvPicPr>
          <p:nvPr/>
        </p:nvPicPr>
        <p:blipFill>
          <a:blip r:embed="rId8"/>
          <a:stretch>
            <a:fillRect/>
          </a:stretch>
        </p:blipFill>
        <p:spPr>
          <a:xfrm>
            <a:off x="5907024" y="4626864"/>
            <a:ext cx="347472" cy="347472"/>
          </a:xfrm>
          <a:prstGeom prst="rect">
            <a:avLst/>
          </a:prstGeom>
        </p:spPr>
      </p:pic>
      <p:sp>
        <p:nvSpPr>
          <p:cNvPr id="39" name="Text 29"/>
          <p:cNvSpPr txBox="1"/>
          <p:nvPr/>
        </p:nvSpPr>
        <p:spPr>
          <a:xfrm>
            <a:off x="44348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errors no check catches: programs that run but model the problem wrong</a:t>
            </a:r>
            <a:endParaRPr lang="en-US" sz="1500" dirty="0"/>
          </a:p>
        </p:txBody>
      </p:sp>
      <p:sp>
        <p:nvSpPr>
          <p:cNvPr id="40" name="milestone 2"/>
          <p:cNvSpPr/>
          <p:nvPr/>
        </p:nvSpPr>
        <p:spPr>
          <a:xfrm>
            <a:off x="9692640" y="4526280"/>
            <a:ext cx="548640" cy="548640"/>
          </a:xfrm>
          <a:prstGeom prst="ellipse">
            <a:avLst/>
          </a:prstGeom>
          <a:solidFill>
            <a:srgbClr val="FFFFFF"/>
          </a:solidFill>
          <a:ln w="25400">
            <a:solidFill>
              <a:srgbClr val="4472C4"/>
            </a:solidFill>
            <a:prstDash val="solid"/>
          </a:ln>
        </p:spPr>
      </p:sp>
      <p:pic>
        <p:nvPicPr>
          <p:cNvPr id="41" name="milestone icon 2" descr="/NAS/SJ/POSTECH/nlp/figs/icons/code.png">    </p:cNvPr>
          <p:cNvPicPr>
            <a:picLocks noChangeAspect="1"/>
          </p:cNvPicPr>
          <p:nvPr/>
        </p:nvPicPr>
        <p:blipFill>
          <a:blip r:embed="rId9"/>
          <a:stretch>
            <a:fillRect/>
          </a:stretch>
        </p:blipFill>
        <p:spPr>
          <a:xfrm>
            <a:off x="9793224" y="4626864"/>
            <a:ext cx="347472" cy="347472"/>
          </a:xfrm>
          <a:prstGeom prst="rect">
            <a:avLst/>
          </a:prstGeom>
        </p:spPr>
      </p:pic>
      <p:sp>
        <p:nvSpPr>
          <p:cNvPr id="42" name="Text 31"/>
          <p:cNvSpPr txBox="1"/>
          <p:nvPr/>
        </p:nvSpPr>
        <p:spPr>
          <a:xfrm>
            <a:off x="83210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facts for every problem type; report and code</a:t>
            </a:r>
            <a:endParaRPr lang="en-US" sz="1500" dirty="0"/>
          </a:p>
        </p:txBody>
      </p:sp>
      <p:sp>
        <p:nvSpPr>
          <p:cNvPr id="43"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Takeaway: give the missing fact first, and think only where a free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Thank you: questions?</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b="1" dirty="0">
                <a:solidFill>
                  <a:srgbClr val="4472C4"/>
                </a:solidFill>
              </a:rPr>
              <a:t>Expected questions, by the talk slide that raises them → extra page (type the number and press Enter)</a:t>
            </a:r>
            <a:endParaRPr lang="en-US" sz="1600" dirty="0"/>
          </a:p>
        </p:txBody>
      </p:sp>
      <p:sp>
        <p:nvSpPr>
          <p:cNvPr id="4" name="box "/>
          <p:cNvSpPr/>
          <p:nvPr/>
        </p:nvSpPr>
        <p:spPr>
          <a:xfrm>
            <a:off x="548640" y="1645920"/>
            <a:ext cx="5440680" cy="402336"/>
          </a:xfrm>
          <a:prstGeom prst="roundRect">
            <a:avLst>
              <a:gd name="adj" fmla="val 13636"/>
            </a:avLst>
          </a:prstGeom>
          <a:solidFill>
            <a:srgbClr val="F2F2F2"/>
          </a:solidFill>
          <a:ln w="9525">
            <a:solidFill>
              <a:srgbClr val="BFBFBF"/>
            </a:solidFill>
            <a:prstDash val="solid"/>
          </a:ln>
        </p:spPr>
      </p:sp>
      <p:sp>
        <p:nvSpPr>
          <p:cNvPr id="5" name="Text 3"/>
          <p:cNvSpPr txBox="1"/>
          <p:nvPr/>
        </p:nvSpPr>
        <p:spPr>
          <a:xfrm>
            <a:off x="621792" y="16459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6" name="from slide 2"/>
          <p:cNvSpPr/>
          <p:nvPr/>
        </p:nvSpPr>
        <p:spPr>
          <a:xfrm>
            <a:off x="621792" y="1700784"/>
            <a:ext cx="777240" cy="292608"/>
          </a:xfrm>
          <a:prstGeom prst="roundRect">
            <a:avLst>
              <a:gd name="adj" fmla="val 18750"/>
            </a:avLst>
          </a:prstGeom>
          <a:solidFill>
            <a:srgbClr val="D9D9D9"/>
          </a:solidFill>
          <a:ln w="12700">
            <a:solidFill>
              <a:srgbClr val="D9D9D9"/>
            </a:solidFill>
            <a:prstDash val="solid"/>
          </a:ln>
        </p:spPr>
      </p:sp>
      <p:sp>
        <p:nvSpPr>
          <p:cNvPr id="7" name="Text 5"/>
          <p:cNvSpPr txBox="1"/>
          <p:nvPr/>
        </p:nvSpPr>
        <p:spPr>
          <a:xfrm>
            <a:off x="621792" y="17007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2</a:t>
            </a:r>
            <a:endParaRPr lang="en-US" sz="1400" dirty="0"/>
          </a:p>
        </p:txBody>
      </p:sp>
      <p:sp>
        <p:nvSpPr>
          <p:cNvPr id="8" name="Text 6"/>
          <p:cNvSpPr txBox="1"/>
          <p:nvPr/>
        </p:nvSpPr>
        <p:spPr>
          <a:xfrm>
            <a:off x="1508760" y="1645920"/>
            <a:ext cx="3886200" cy="402336"/>
          </a:xfrm>
          <a:prstGeom prst="rect">
            <a:avLst/>
          </a:prstGeom>
          <a:noFill/>
          <a:ln/>
        </p:spPr>
        <p:txBody>
          <a:bodyPr wrap="square" lIns="0" tIns="0" rIns="0" bIns="0" rtlCol="0" anchor="ctr"/>
          <a:lstStyle/>
          <a:p>
            <a:pPr indent="0" marL="0">
              <a:buNone/>
            </a:pPr>
            <a:r>
              <a:rPr lang="en-US" sz="1400" dirty="0">
                <a:solidFill>
                  <a:schemeClr val="tx1"/>
                </a:solidFill>
              </a:rPr>
              <a:t>Why these problems? How do they differ?</a:t>
            </a:r>
            <a:endParaRPr lang="en-US" sz="1400" dirty="0"/>
          </a:p>
        </p:txBody>
      </p:sp>
      <p:sp>
        <p:nvSpPr>
          <p:cNvPr id="9" name="page why"/>
          <p:cNvSpPr/>
          <p:nvPr/>
        </p:nvSpPr>
        <p:spPr>
          <a:xfrm>
            <a:off x="5449824" y="1691640"/>
            <a:ext cx="438912" cy="310896"/>
          </a:xfrm>
          <a:prstGeom prst="roundRect">
            <a:avLst>
              <a:gd name="adj" fmla="val 23529"/>
            </a:avLst>
          </a:prstGeom>
          <a:solidFill>
            <a:srgbClr val="4472C4"/>
          </a:solidFill>
          <a:ln w="12700">
            <a:solidFill>
              <a:srgbClr val="4472C4"/>
            </a:solidFill>
            <a:prstDash val="solid"/>
          </a:ln>
        </p:spPr>
      </p:sp>
      <p:sp>
        <p:nvSpPr>
          <p:cNvPr id="10" name="Text 8"/>
          <p:cNvSpPr txBox="1"/>
          <p:nvPr/>
        </p:nvSpPr>
        <p:spPr>
          <a:xfrm>
            <a:off x="5449824" y="16916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10</a:t>
            </a:r>
            <a:endParaRPr lang="en-US" sz="1400" dirty="0"/>
          </a:p>
        </p:txBody>
      </p:sp>
      <p:sp>
        <p:nvSpPr>
          <p:cNvPr id="11" name="box "/>
          <p:cNvSpPr/>
          <p:nvPr/>
        </p:nvSpPr>
        <p:spPr>
          <a:xfrm>
            <a:off x="548640" y="2103120"/>
            <a:ext cx="5440680" cy="402336"/>
          </a:xfrm>
          <a:prstGeom prst="roundRect">
            <a:avLst>
              <a:gd name="adj" fmla="val 13636"/>
            </a:avLst>
          </a:prstGeom>
          <a:solidFill>
            <a:srgbClr val="F2F2F2"/>
          </a:solidFill>
          <a:ln w="9525">
            <a:solidFill>
              <a:srgbClr val="BFBFBF"/>
            </a:solidFill>
            <a:prstDash val="solid"/>
          </a:ln>
        </p:spPr>
      </p:sp>
      <p:sp>
        <p:nvSpPr>
          <p:cNvPr id="12" name="Text 10"/>
          <p:cNvSpPr txBox="1"/>
          <p:nvPr/>
        </p:nvSpPr>
        <p:spPr>
          <a:xfrm>
            <a:off x="621792" y="21031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13" name="from slide 2"/>
          <p:cNvSpPr/>
          <p:nvPr/>
        </p:nvSpPr>
        <p:spPr>
          <a:xfrm>
            <a:off x="621792" y="2157984"/>
            <a:ext cx="777240" cy="292608"/>
          </a:xfrm>
          <a:prstGeom prst="roundRect">
            <a:avLst>
              <a:gd name="adj" fmla="val 18750"/>
            </a:avLst>
          </a:prstGeom>
          <a:solidFill>
            <a:srgbClr val="D9D9D9"/>
          </a:solidFill>
          <a:ln w="12700">
            <a:solidFill>
              <a:srgbClr val="D9D9D9"/>
            </a:solidFill>
            <a:prstDash val="solid"/>
          </a:ln>
        </p:spPr>
      </p:sp>
      <p:sp>
        <p:nvSpPr>
          <p:cNvPr id="14" name="Text 12"/>
          <p:cNvSpPr txBox="1"/>
          <p:nvPr/>
        </p:nvSpPr>
        <p:spPr>
          <a:xfrm>
            <a:off x="621792" y="21579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2</a:t>
            </a:r>
            <a:endParaRPr lang="en-US" sz="1400" dirty="0"/>
          </a:p>
        </p:txBody>
      </p:sp>
      <p:sp>
        <p:nvSpPr>
          <p:cNvPr id="15" name="Text 13"/>
          <p:cNvSpPr txBox="1"/>
          <p:nvPr/>
        </p:nvSpPr>
        <p:spPr>
          <a:xfrm>
            <a:off x="1508760" y="2103120"/>
            <a:ext cx="3886200" cy="402336"/>
          </a:xfrm>
          <a:prstGeom prst="rect">
            <a:avLst/>
          </a:prstGeom>
          <a:noFill/>
          <a:ln/>
        </p:spPr>
        <p:txBody>
          <a:bodyPr wrap="square" lIns="0" tIns="0" rIns="0" bIns="0" rtlCol="0" anchor="ctr"/>
          <a:lstStyle/>
          <a:p>
            <a:pPr indent="0" marL="0">
              <a:buNone/>
            </a:pPr>
            <a:r>
              <a:rPr lang="en-US" sz="1400" dirty="0">
                <a:solidFill>
                  <a:schemeClr val="tx1"/>
                </a:solidFill>
              </a:rPr>
              <a:t>Do the findings cover all five kinds?</a:t>
            </a:r>
            <a:endParaRPr lang="en-US" sz="1400" dirty="0"/>
          </a:p>
        </p:txBody>
      </p:sp>
      <p:sp>
        <p:nvSpPr>
          <p:cNvPr id="16" name="page coverage"/>
          <p:cNvSpPr/>
          <p:nvPr/>
        </p:nvSpPr>
        <p:spPr>
          <a:xfrm>
            <a:off x="5449824" y="2148840"/>
            <a:ext cx="438912" cy="310896"/>
          </a:xfrm>
          <a:prstGeom prst="roundRect">
            <a:avLst>
              <a:gd name="adj" fmla="val 23529"/>
            </a:avLst>
          </a:prstGeom>
          <a:solidFill>
            <a:srgbClr val="4472C4"/>
          </a:solidFill>
          <a:ln w="12700">
            <a:solidFill>
              <a:srgbClr val="4472C4"/>
            </a:solidFill>
            <a:prstDash val="solid"/>
          </a:ln>
        </p:spPr>
      </p:sp>
      <p:sp>
        <p:nvSpPr>
          <p:cNvPr id="17" name="Text 15"/>
          <p:cNvSpPr txBox="1"/>
          <p:nvPr/>
        </p:nvSpPr>
        <p:spPr>
          <a:xfrm>
            <a:off x="5449824" y="21488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11</a:t>
            </a:r>
            <a:endParaRPr lang="en-US" sz="1400" dirty="0"/>
          </a:p>
        </p:txBody>
      </p:sp>
      <p:sp>
        <p:nvSpPr>
          <p:cNvPr id="18" name="box "/>
          <p:cNvSpPr/>
          <p:nvPr/>
        </p:nvSpPr>
        <p:spPr>
          <a:xfrm>
            <a:off x="548640" y="2560320"/>
            <a:ext cx="5440680" cy="402336"/>
          </a:xfrm>
          <a:prstGeom prst="roundRect">
            <a:avLst>
              <a:gd name="adj" fmla="val 13636"/>
            </a:avLst>
          </a:prstGeom>
          <a:solidFill>
            <a:srgbClr val="F2F2F2"/>
          </a:solidFill>
          <a:ln w="9525">
            <a:solidFill>
              <a:srgbClr val="BFBFBF"/>
            </a:solidFill>
            <a:prstDash val="solid"/>
          </a:ln>
        </p:spPr>
      </p:sp>
      <p:sp>
        <p:nvSpPr>
          <p:cNvPr id="19" name="Text 17"/>
          <p:cNvSpPr txBox="1"/>
          <p:nvPr/>
        </p:nvSpPr>
        <p:spPr>
          <a:xfrm>
            <a:off x="621792" y="25603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20" name="from slide 2"/>
          <p:cNvSpPr/>
          <p:nvPr/>
        </p:nvSpPr>
        <p:spPr>
          <a:xfrm>
            <a:off x="621792" y="2615184"/>
            <a:ext cx="777240" cy="292608"/>
          </a:xfrm>
          <a:prstGeom prst="roundRect">
            <a:avLst>
              <a:gd name="adj" fmla="val 18750"/>
            </a:avLst>
          </a:prstGeom>
          <a:solidFill>
            <a:srgbClr val="D9D9D9"/>
          </a:solidFill>
          <a:ln w="12700">
            <a:solidFill>
              <a:srgbClr val="D9D9D9"/>
            </a:solidFill>
            <a:prstDash val="solid"/>
          </a:ln>
        </p:spPr>
      </p:sp>
      <p:sp>
        <p:nvSpPr>
          <p:cNvPr id="21" name="Text 19"/>
          <p:cNvSpPr txBox="1"/>
          <p:nvPr/>
        </p:nvSpPr>
        <p:spPr>
          <a:xfrm>
            <a:off x="621792" y="26151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2</a:t>
            </a:r>
            <a:endParaRPr lang="en-US" sz="1400" dirty="0"/>
          </a:p>
        </p:txBody>
      </p:sp>
      <p:sp>
        <p:nvSpPr>
          <p:cNvPr id="22" name="Text 20"/>
          <p:cNvSpPr txBox="1"/>
          <p:nvPr/>
        </p:nvSpPr>
        <p:spPr>
          <a:xfrm>
            <a:off x="1508760" y="2560320"/>
            <a:ext cx="3886200" cy="402336"/>
          </a:xfrm>
          <a:prstGeom prst="rect">
            <a:avLst/>
          </a:prstGeom>
          <a:noFill/>
          <a:ln/>
        </p:spPr>
        <p:txBody>
          <a:bodyPr wrap="square" lIns="0" tIns="0" rIns="0" bIns="0" rtlCol="0" anchor="ctr"/>
          <a:lstStyle/>
          <a:p>
            <a:pPr indent="0" marL="0">
              <a:buNone/>
            </a:pPr>
            <a:r>
              <a:rPr lang="en-US" sz="1400" dirty="0">
                <a:solidFill>
                  <a:schemeClr val="tx1"/>
                </a:solidFill>
              </a:rPr>
              <a:t>How hard are the problems?</a:t>
            </a:r>
            <a:endParaRPr lang="en-US" sz="1400" dirty="0"/>
          </a:p>
        </p:txBody>
      </p:sp>
      <p:sp>
        <p:nvSpPr>
          <p:cNvPr id="23" name="page kinds"/>
          <p:cNvSpPr/>
          <p:nvPr/>
        </p:nvSpPr>
        <p:spPr>
          <a:xfrm>
            <a:off x="5449824" y="2606040"/>
            <a:ext cx="438912" cy="310896"/>
          </a:xfrm>
          <a:prstGeom prst="roundRect">
            <a:avLst>
              <a:gd name="adj" fmla="val 23529"/>
            </a:avLst>
          </a:prstGeom>
          <a:solidFill>
            <a:srgbClr val="4472C4"/>
          </a:solidFill>
          <a:ln w="12700">
            <a:solidFill>
              <a:srgbClr val="4472C4"/>
            </a:solidFill>
            <a:prstDash val="solid"/>
          </a:ln>
        </p:spPr>
      </p:sp>
      <p:sp>
        <p:nvSpPr>
          <p:cNvPr id="24" name="Text 22"/>
          <p:cNvSpPr txBox="1"/>
          <p:nvPr/>
        </p:nvSpPr>
        <p:spPr>
          <a:xfrm>
            <a:off x="5449824" y="26060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12</a:t>
            </a:r>
            <a:endParaRPr lang="en-US" sz="1400" dirty="0"/>
          </a:p>
        </p:txBody>
      </p:sp>
      <p:sp>
        <p:nvSpPr>
          <p:cNvPr id="25" name="box "/>
          <p:cNvSpPr/>
          <p:nvPr/>
        </p:nvSpPr>
        <p:spPr>
          <a:xfrm>
            <a:off x="548640" y="3017520"/>
            <a:ext cx="5440680" cy="402336"/>
          </a:xfrm>
          <a:prstGeom prst="roundRect">
            <a:avLst>
              <a:gd name="adj" fmla="val 13636"/>
            </a:avLst>
          </a:prstGeom>
          <a:solidFill>
            <a:srgbClr val="F2F2F2"/>
          </a:solidFill>
          <a:ln w="9525">
            <a:solidFill>
              <a:srgbClr val="BFBFBF"/>
            </a:solidFill>
            <a:prstDash val="solid"/>
          </a:ln>
        </p:spPr>
      </p:sp>
      <p:sp>
        <p:nvSpPr>
          <p:cNvPr id="26" name="Text 24"/>
          <p:cNvSpPr txBox="1"/>
          <p:nvPr/>
        </p:nvSpPr>
        <p:spPr>
          <a:xfrm>
            <a:off x="621792" y="30175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27" name="from slide 2"/>
          <p:cNvSpPr/>
          <p:nvPr/>
        </p:nvSpPr>
        <p:spPr>
          <a:xfrm>
            <a:off x="621792" y="3072384"/>
            <a:ext cx="777240" cy="292608"/>
          </a:xfrm>
          <a:prstGeom prst="roundRect">
            <a:avLst>
              <a:gd name="adj" fmla="val 18750"/>
            </a:avLst>
          </a:prstGeom>
          <a:solidFill>
            <a:srgbClr val="D9D9D9"/>
          </a:solidFill>
          <a:ln w="12700">
            <a:solidFill>
              <a:srgbClr val="D9D9D9"/>
            </a:solidFill>
            <a:prstDash val="solid"/>
          </a:ln>
        </p:spPr>
      </p:sp>
      <p:sp>
        <p:nvSpPr>
          <p:cNvPr id="28" name="Text 26"/>
          <p:cNvSpPr txBox="1"/>
          <p:nvPr/>
        </p:nvSpPr>
        <p:spPr>
          <a:xfrm>
            <a:off x="621792" y="30723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2</a:t>
            </a:r>
            <a:endParaRPr lang="en-US" sz="1400" dirty="0"/>
          </a:p>
        </p:txBody>
      </p:sp>
      <p:sp>
        <p:nvSpPr>
          <p:cNvPr id="29" name="Text 27"/>
          <p:cNvSpPr txBox="1"/>
          <p:nvPr/>
        </p:nvSpPr>
        <p:spPr>
          <a:xfrm>
            <a:off x="1508760" y="3017520"/>
            <a:ext cx="3383280" cy="402336"/>
          </a:xfrm>
          <a:prstGeom prst="rect">
            <a:avLst/>
          </a:prstGeom>
          <a:noFill/>
          <a:ln/>
        </p:spPr>
        <p:txBody>
          <a:bodyPr wrap="square" lIns="0" tIns="0" rIns="0" bIns="0" rtlCol="0" anchor="ctr"/>
          <a:lstStyle/>
          <a:p>
            <a:pPr indent="0" marL="0">
              <a:buNone/>
            </a:pPr>
            <a:r>
              <a:rPr lang="en-US" sz="1400" dirty="0">
                <a:solidFill>
                  <a:schemeClr val="tx1"/>
                </a:solidFill>
              </a:rPr>
              <a:t>Proofs? Where does it stop?</a:t>
            </a:r>
            <a:endParaRPr lang="en-US" sz="1400" dirty="0"/>
          </a:p>
        </p:txBody>
      </p:sp>
      <p:sp>
        <p:nvSpPr>
          <p:cNvPr id="30" name="page proof"/>
          <p:cNvSpPr/>
          <p:nvPr/>
        </p:nvSpPr>
        <p:spPr>
          <a:xfrm>
            <a:off x="4946904" y="3063240"/>
            <a:ext cx="438912" cy="310896"/>
          </a:xfrm>
          <a:prstGeom prst="roundRect">
            <a:avLst>
              <a:gd name="adj" fmla="val 23529"/>
            </a:avLst>
          </a:prstGeom>
          <a:solidFill>
            <a:srgbClr val="4472C4"/>
          </a:solidFill>
          <a:ln w="12700">
            <a:solidFill>
              <a:srgbClr val="4472C4"/>
            </a:solidFill>
            <a:prstDash val="solid"/>
          </a:ln>
        </p:spPr>
      </p:sp>
      <p:sp>
        <p:nvSpPr>
          <p:cNvPr id="31" name="Text 29"/>
          <p:cNvSpPr txBox="1"/>
          <p:nvPr/>
        </p:nvSpPr>
        <p:spPr>
          <a:xfrm>
            <a:off x="4946904" y="30632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29</a:t>
            </a:r>
            <a:endParaRPr lang="en-US" sz="1400" dirty="0"/>
          </a:p>
        </p:txBody>
      </p:sp>
      <p:sp>
        <p:nvSpPr>
          <p:cNvPr id="32" name="page limits"/>
          <p:cNvSpPr/>
          <p:nvPr/>
        </p:nvSpPr>
        <p:spPr>
          <a:xfrm>
            <a:off x="5449824" y="3063240"/>
            <a:ext cx="438912" cy="310896"/>
          </a:xfrm>
          <a:prstGeom prst="roundRect">
            <a:avLst>
              <a:gd name="adj" fmla="val 23529"/>
            </a:avLst>
          </a:prstGeom>
          <a:solidFill>
            <a:srgbClr val="4472C4"/>
          </a:solidFill>
          <a:ln w="12700">
            <a:solidFill>
              <a:srgbClr val="4472C4"/>
            </a:solidFill>
            <a:prstDash val="solid"/>
          </a:ln>
        </p:spPr>
      </p:sp>
      <p:sp>
        <p:nvSpPr>
          <p:cNvPr id="33" name="Text 31"/>
          <p:cNvSpPr txBox="1"/>
          <p:nvPr/>
        </p:nvSpPr>
        <p:spPr>
          <a:xfrm>
            <a:off x="5449824" y="30632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30</a:t>
            </a:r>
            <a:endParaRPr lang="en-US" sz="1400" dirty="0"/>
          </a:p>
        </p:txBody>
      </p:sp>
      <p:sp>
        <p:nvSpPr>
          <p:cNvPr id="34" name="box "/>
          <p:cNvSpPr/>
          <p:nvPr/>
        </p:nvSpPr>
        <p:spPr>
          <a:xfrm>
            <a:off x="548640" y="3474720"/>
            <a:ext cx="5440680" cy="402336"/>
          </a:xfrm>
          <a:prstGeom prst="roundRect">
            <a:avLst>
              <a:gd name="adj" fmla="val 13636"/>
            </a:avLst>
          </a:prstGeom>
          <a:solidFill>
            <a:srgbClr val="F2F2F2"/>
          </a:solidFill>
          <a:ln w="9525">
            <a:solidFill>
              <a:srgbClr val="BFBFBF"/>
            </a:solidFill>
            <a:prstDash val="solid"/>
          </a:ln>
        </p:spPr>
      </p:sp>
      <p:sp>
        <p:nvSpPr>
          <p:cNvPr id="35" name="Text 33"/>
          <p:cNvSpPr txBox="1"/>
          <p:nvPr/>
        </p:nvSpPr>
        <p:spPr>
          <a:xfrm>
            <a:off x="621792" y="34747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36" name="from slide 3"/>
          <p:cNvSpPr/>
          <p:nvPr/>
        </p:nvSpPr>
        <p:spPr>
          <a:xfrm>
            <a:off x="621792" y="3529584"/>
            <a:ext cx="777240" cy="292608"/>
          </a:xfrm>
          <a:prstGeom prst="roundRect">
            <a:avLst>
              <a:gd name="adj" fmla="val 18750"/>
            </a:avLst>
          </a:prstGeom>
          <a:solidFill>
            <a:srgbClr val="D9D9D9"/>
          </a:solidFill>
          <a:ln w="12700">
            <a:solidFill>
              <a:srgbClr val="D9D9D9"/>
            </a:solidFill>
            <a:prstDash val="solid"/>
          </a:ln>
        </p:spPr>
      </p:sp>
      <p:sp>
        <p:nvSpPr>
          <p:cNvPr id="37" name="Text 35"/>
          <p:cNvSpPr txBox="1"/>
          <p:nvPr/>
        </p:nvSpPr>
        <p:spPr>
          <a:xfrm>
            <a:off x="621792" y="35295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3</a:t>
            </a:r>
            <a:endParaRPr lang="en-US" sz="1400" dirty="0"/>
          </a:p>
        </p:txBody>
      </p:sp>
      <p:sp>
        <p:nvSpPr>
          <p:cNvPr id="38" name="Text 36"/>
          <p:cNvSpPr txBox="1"/>
          <p:nvPr/>
        </p:nvSpPr>
        <p:spPr>
          <a:xfrm>
            <a:off x="1508760" y="3474720"/>
            <a:ext cx="3886200" cy="402336"/>
          </a:xfrm>
          <a:prstGeom prst="rect">
            <a:avLst/>
          </a:prstGeom>
          <a:noFill/>
          <a:ln/>
        </p:spPr>
        <p:txBody>
          <a:bodyPr wrap="square" lIns="0" tIns="0" rIns="0" bIns="0" rtlCol="0" anchor="ctr"/>
          <a:lstStyle/>
          <a:p>
            <a:pPr indent="0" marL="0">
              <a:buNone/>
            </a:pPr>
            <a:r>
              <a:rPr lang="en-US" sz="1400" dirty="0">
                <a:solidFill>
                  <a:schemeClr val="tx1"/>
                </a:solidFill>
              </a:rPr>
              <a:t>Is a program always better than words?</a:t>
            </a:r>
            <a:endParaRPr lang="en-US" sz="1400" dirty="0"/>
          </a:p>
        </p:txBody>
      </p:sp>
      <p:sp>
        <p:nvSpPr>
          <p:cNvPr id="39" name="page progwords"/>
          <p:cNvSpPr/>
          <p:nvPr/>
        </p:nvSpPr>
        <p:spPr>
          <a:xfrm>
            <a:off x="5449824" y="3520440"/>
            <a:ext cx="438912" cy="310896"/>
          </a:xfrm>
          <a:prstGeom prst="roundRect">
            <a:avLst>
              <a:gd name="adj" fmla="val 23529"/>
            </a:avLst>
          </a:prstGeom>
          <a:solidFill>
            <a:srgbClr val="4472C4"/>
          </a:solidFill>
          <a:ln w="12700">
            <a:solidFill>
              <a:srgbClr val="4472C4"/>
            </a:solidFill>
            <a:prstDash val="solid"/>
          </a:ln>
        </p:spPr>
      </p:sp>
      <p:sp>
        <p:nvSpPr>
          <p:cNvPr id="40" name="Text 38"/>
          <p:cNvSpPr txBox="1"/>
          <p:nvPr/>
        </p:nvSpPr>
        <p:spPr>
          <a:xfrm>
            <a:off x="5449824" y="35204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13</a:t>
            </a:r>
            <a:endParaRPr lang="en-US" sz="1400" dirty="0"/>
          </a:p>
        </p:txBody>
      </p:sp>
      <p:sp>
        <p:nvSpPr>
          <p:cNvPr id="41" name="box "/>
          <p:cNvSpPr/>
          <p:nvPr/>
        </p:nvSpPr>
        <p:spPr>
          <a:xfrm>
            <a:off x="548640" y="3931920"/>
            <a:ext cx="5440680" cy="402336"/>
          </a:xfrm>
          <a:prstGeom prst="roundRect">
            <a:avLst>
              <a:gd name="adj" fmla="val 13636"/>
            </a:avLst>
          </a:prstGeom>
          <a:solidFill>
            <a:srgbClr val="F2F2F2"/>
          </a:solidFill>
          <a:ln w="9525">
            <a:solidFill>
              <a:srgbClr val="BFBFBF"/>
            </a:solidFill>
            <a:prstDash val="solid"/>
          </a:ln>
        </p:spPr>
      </p:sp>
      <p:sp>
        <p:nvSpPr>
          <p:cNvPr id="42" name="Text 40"/>
          <p:cNvSpPr txBox="1"/>
          <p:nvPr/>
        </p:nvSpPr>
        <p:spPr>
          <a:xfrm>
            <a:off x="621792" y="39319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43" name="from slide 4"/>
          <p:cNvSpPr/>
          <p:nvPr/>
        </p:nvSpPr>
        <p:spPr>
          <a:xfrm>
            <a:off x="621792" y="3986784"/>
            <a:ext cx="777240" cy="292608"/>
          </a:xfrm>
          <a:prstGeom prst="roundRect">
            <a:avLst>
              <a:gd name="adj" fmla="val 18750"/>
            </a:avLst>
          </a:prstGeom>
          <a:solidFill>
            <a:srgbClr val="D9D9D9"/>
          </a:solidFill>
          <a:ln w="12700">
            <a:solidFill>
              <a:srgbClr val="D9D9D9"/>
            </a:solidFill>
            <a:prstDash val="solid"/>
          </a:ln>
        </p:spPr>
      </p:sp>
      <p:sp>
        <p:nvSpPr>
          <p:cNvPr id="44" name="Text 42"/>
          <p:cNvSpPr txBox="1"/>
          <p:nvPr/>
        </p:nvSpPr>
        <p:spPr>
          <a:xfrm>
            <a:off x="621792" y="39867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4</a:t>
            </a:r>
            <a:endParaRPr lang="en-US" sz="1400" dirty="0"/>
          </a:p>
        </p:txBody>
      </p:sp>
      <p:sp>
        <p:nvSpPr>
          <p:cNvPr id="45" name="Text 43"/>
          <p:cNvSpPr txBox="1"/>
          <p:nvPr/>
        </p:nvSpPr>
        <p:spPr>
          <a:xfrm>
            <a:off x="1508760" y="3931920"/>
            <a:ext cx="3886200" cy="402336"/>
          </a:xfrm>
          <a:prstGeom prst="rect">
            <a:avLst/>
          </a:prstGeom>
          <a:noFill/>
          <a:ln/>
        </p:spPr>
        <p:txBody>
          <a:bodyPr wrap="square" lIns="0" tIns="0" rIns="0" bIns="0" rtlCol="0" anchor="ctr"/>
          <a:lstStyle/>
          <a:p>
            <a:pPr indent="0" marL="0">
              <a:buNone/>
            </a:pPr>
            <a:r>
              <a:rPr lang="en-US" sz="1400" dirty="0">
                <a:solidFill>
                  <a:schemeClr val="tx1"/>
                </a:solidFill>
              </a:rPr>
              <a:t>Why does helper code change the answer?</a:t>
            </a:r>
            <a:endParaRPr lang="en-US" sz="1400" dirty="0"/>
          </a:p>
        </p:txBody>
      </p:sp>
      <p:sp>
        <p:nvSpPr>
          <p:cNvPr id="46" name="page two"/>
          <p:cNvSpPr/>
          <p:nvPr/>
        </p:nvSpPr>
        <p:spPr>
          <a:xfrm>
            <a:off x="5449824" y="3977640"/>
            <a:ext cx="438912" cy="310896"/>
          </a:xfrm>
          <a:prstGeom prst="roundRect">
            <a:avLst>
              <a:gd name="adj" fmla="val 23529"/>
            </a:avLst>
          </a:prstGeom>
          <a:solidFill>
            <a:srgbClr val="4472C4"/>
          </a:solidFill>
          <a:ln w="12700">
            <a:solidFill>
              <a:srgbClr val="4472C4"/>
            </a:solidFill>
            <a:prstDash val="solid"/>
          </a:ln>
        </p:spPr>
      </p:sp>
      <p:sp>
        <p:nvSpPr>
          <p:cNvPr id="47" name="Text 45"/>
          <p:cNvSpPr txBox="1"/>
          <p:nvPr/>
        </p:nvSpPr>
        <p:spPr>
          <a:xfrm>
            <a:off x="5449824" y="39776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14</a:t>
            </a:r>
            <a:endParaRPr lang="en-US" sz="1400" dirty="0"/>
          </a:p>
        </p:txBody>
      </p:sp>
      <p:sp>
        <p:nvSpPr>
          <p:cNvPr id="48" name="box "/>
          <p:cNvSpPr/>
          <p:nvPr/>
        </p:nvSpPr>
        <p:spPr>
          <a:xfrm>
            <a:off x="548640" y="4389120"/>
            <a:ext cx="5440680" cy="402336"/>
          </a:xfrm>
          <a:prstGeom prst="roundRect">
            <a:avLst>
              <a:gd name="adj" fmla="val 13636"/>
            </a:avLst>
          </a:prstGeom>
          <a:solidFill>
            <a:srgbClr val="F2F2F2"/>
          </a:solidFill>
          <a:ln w="9525">
            <a:solidFill>
              <a:srgbClr val="BFBFBF"/>
            </a:solidFill>
            <a:prstDash val="solid"/>
          </a:ln>
        </p:spPr>
      </p:sp>
      <p:sp>
        <p:nvSpPr>
          <p:cNvPr id="49" name="Text 47"/>
          <p:cNvSpPr txBox="1"/>
          <p:nvPr/>
        </p:nvSpPr>
        <p:spPr>
          <a:xfrm>
            <a:off x="621792" y="43891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50" name="from slide 5"/>
          <p:cNvSpPr/>
          <p:nvPr/>
        </p:nvSpPr>
        <p:spPr>
          <a:xfrm>
            <a:off x="621792" y="4443984"/>
            <a:ext cx="777240" cy="292608"/>
          </a:xfrm>
          <a:prstGeom prst="roundRect">
            <a:avLst>
              <a:gd name="adj" fmla="val 18750"/>
            </a:avLst>
          </a:prstGeom>
          <a:solidFill>
            <a:srgbClr val="D9D9D9"/>
          </a:solidFill>
          <a:ln w="12700">
            <a:solidFill>
              <a:srgbClr val="D9D9D9"/>
            </a:solidFill>
            <a:prstDash val="solid"/>
          </a:ln>
        </p:spPr>
      </p:sp>
      <p:sp>
        <p:nvSpPr>
          <p:cNvPr id="51" name="Text 49"/>
          <p:cNvSpPr txBox="1"/>
          <p:nvPr/>
        </p:nvSpPr>
        <p:spPr>
          <a:xfrm>
            <a:off x="621792" y="44439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5</a:t>
            </a:r>
            <a:endParaRPr lang="en-US" sz="1400" dirty="0"/>
          </a:p>
        </p:txBody>
      </p:sp>
      <p:sp>
        <p:nvSpPr>
          <p:cNvPr id="52" name="Text 50"/>
          <p:cNvSpPr txBox="1"/>
          <p:nvPr/>
        </p:nvSpPr>
        <p:spPr>
          <a:xfrm>
            <a:off x="1508760" y="4389120"/>
            <a:ext cx="3886200" cy="402336"/>
          </a:xfrm>
          <a:prstGeom prst="rect">
            <a:avLst/>
          </a:prstGeom>
          <a:noFill/>
          <a:ln/>
        </p:spPr>
        <p:txBody>
          <a:bodyPr wrap="square" lIns="0" tIns="0" rIns="0" bIns="0" rtlCol="0" anchor="ctr"/>
          <a:lstStyle/>
          <a:p>
            <a:pPr indent="0" marL="0">
              <a:buNone/>
            </a:pPr>
            <a:r>
              <a:rPr lang="en-US" sz="1400" dirty="0">
                <a:solidFill>
                  <a:schemeClr val="tx1"/>
                </a:solidFill>
              </a:rPr>
              <a:t>What exactly is the fact? Isn't it the answer?</a:t>
            </a:r>
            <a:endParaRPr lang="en-US" sz="1400" dirty="0"/>
          </a:p>
        </p:txBody>
      </p:sp>
      <p:sp>
        <p:nvSpPr>
          <p:cNvPr id="53" name="page fact"/>
          <p:cNvSpPr/>
          <p:nvPr/>
        </p:nvSpPr>
        <p:spPr>
          <a:xfrm>
            <a:off x="5449824" y="4434840"/>
            <a:ext cx="438912" cy="310896"/>
          </a:xfrm>
          <a:prstGeom prst="roundRect">
            <a:avLst>
              <a:gd name="adj" fmla="val 23529"/>
            </a:avLst>
          </a:prstGeom>
          <a:solidFill>
            <a:srgbClr val="4472C4"/>
          </a:solidFill>
          <a:ln w="12700">
            <a:solidFill>
              <a:srgbClr val="4472C4"/>
            </a:solidFill>
            <a:prstDash val="solid"/>
          </a:ln>
        </p:spPr>
      </p:sp>
      <p:sp>
        <p:nvSpPr>
          <p:cNvPr id="54" name="Text 52"/>
          <p:cNvSpPr txBox="1"/>
          <p:nvPr/>
        </p:nvSpPr>
        <p:spPr>
          <a:xfrm>
            <a:off x="5449824" y="44348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15</a:t>
            </a:r>
            <a:endParaRPr lang="en-US" sz="1400" dirty="0"/>
          </a:p>
        </p:txBody>
      </p:sp>
      <p:sp>
        <p:nvSpPr>
          <p:cNvPr id="55" name="box "/>
          <p:cNvSpPr/>
          <p:nvPr/>
        </p:nvSpPr>
        <p:spPr>
          <a:xfrm>
            <a:off x="548640" y="4846320"/>
            <a:ext cx="5440680" cy="402336"/>
          </a:xfrm>
          <a:prstGeom prst="roundRect">
            <a:avLst>
              <a:gd name="adj" fmla="val 13636"/>
            </a:avLst>
          </a:prstGeom>
          <a:solidFill>
            <a:srgbClr val="F2F2F2"/>
          </a:solidFill>
          <a:ln w="9525">
            <a:solidFill>
              <a:srgbClr val="BFBFBF"/>
            </a:solidFill>
            <a:prstDash val="solid"/>
          </a:ln>
        </p:spPr>
      </p:sp>
      <p:sp>
        <p:nvSpPr>
          <p:cNvPr id="56" name="Text 54"/>
          <p:cNvSpPr txBox="1"/>
          <p:nvPr/>
        </p:nvSpPr>
        <p:spPr>
          <a:xfrm>
            <a:off x="621792" y="48463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57" name="from slide 5"/>
          <p:cNvSpPr/>
          <p:nvPr/>
        </p:nvSpPr>
        <p:spPr>
          <a:xfrm>
            <a:off x="621792" y="4901184"/>
            <a:ext cx="777240" cy="292608"/>
          </a:xfrm>
          <a:prstGeom prst="roundRect">
            <a:avLst>
              <a:gd name="adj" fmla="val 18750"/>
            </a:avLst>
          </a:prstGeom>
          <a:solidFill>
            <a:srgbClr val="D9D9D9"/>
          </a:solidFill>
          <a:ln w="12700">
            <a:solidFill>
              <a:srgbClr val="D9D9D9"/>
            </a:solidFill>
            <a:prstDash val="solid"/>
          </a:ln>
        </p:spPr>
      </p:sp>
      <p:sp>
        <p:nvSpPr>
          <p:cNvPr id="58" name="Text 56"/>
          <p:cNvSpPr txBox="1"/>
          <p:nvPr/>
        </p:nvSpPr>
        <p:spPr>
          <a:xfrm>
            <a:off x="621792" y="49011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5</a:t>
            </a:r>
            <a:endParaRPr lang="en-US" sz="1400" dirty="0"/>
          </a:p>
        </p:txBody>
      </p:sp>
      <p:sp>
        <p:nvSpPr>
          <p:cNvPr id="59" name="Text 57"/>
          <p:cNvSpPr txBox="1"/>
          <p:nvPr/>
        </p:nvSpPr>
        <p:spPr>
          <a:xfrm>
            <a:off x="1508760" y="4846320"/>
            <a:ext cx="3886200" cy="402336"/>
          </a:xfrm>
          <a:prstGeom prst="rect">
            <a:avLst/>
          </a:prstGeom>
          <a:noFill/>
          <a:ln/>
        </p:spPr>
        <p:txBody>
          <a:bodyPr wrap="square" lIns="0" tIns="0" rIns="0" bIns="0" rtlCol="0" anchor="ctr"/>
          <a:lstStyle/>
          <a:p>
            <a:pPr indent="0" marL="0">
              <a:buNone/>
            </a:pPr>
            <a:r>
              <a:rPr lang="en-US" sz="1400" dirty="0">
                <a:solidFill>
                  <a:schemeClr val="tx1"/>
                </a:solidFill>
              </a:rPr>
              <a:t>Can retrieval (RAG) find the fact?</a:t>
            </a:r>
            <a:endParaRPr lang="en-US" sz="1400" dirty="0"/>
          </a:p>
        </p:txBody>
      </p:sp>
      <p:sp>
        <p:nvSpPr>
          <p:cNvPr id="60" name="page rag"/>
          <p:cNvSpPr/>
          <p:nvPr/>
        </p:nvSpPr>
        <p:spPr>
          <a:xfrm>
            <a:off x="5449824" y="4892040"/>
            <a:ext cx="438912" cy="310896"/>
          </a:xfrm>
          <a:prstGeom prst="roundRect">
            <a:avLst>
              <a:gd name="adj" fmla="val 23529"/>
            </a:avLst>
          </a:prstGeom>
          <a:solidFill>
            <a:srgbClr val="4472C4"/>
          </a:solidFill>
          <a:ln w="12700">
            <a:solidFill>
              <a:srgbClr val="4472C4"/>
            </a:solidFill>
            <a:prstDash val="solid"/>
          </a:ln>
        </p:spPr>
      </p:sp>
      <p:sp>
        <p:nvSpPr>
          <p:cNvPr id="61" name="Text 59"/>
          <p:cNvSpPr txBox="1"/>
          <p:nvPr/>
        </p:nvSpPr>
        <p:spPr>
          <a:xfrm>
            <a:off x="5449824" y="48920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16</a:t>
            </a:r>
            <a:endParaRPr lang="en-US" sz="1400" dirty="0"/>
          </a:p>
        </p:txBody>
      </p:sp>
      <p:sp>
        <p:nvSpPr>
          <p:cNvPr id="62" name="box "/>
          <p:cNvSpPr/>
          <p:nvPr/>
        </p:nvSpPr>
        <p:spPr>
          <a:xfrm>
            <a:off x="548640" y="5303520"/>
            <a:ext cx="5440680" cy="402336"/>
          </a:xfrm>
          <a:prstGeom prst="roundRect">
            <a:avLst>
              <a:gd name="adj" fmla="val 13636"/>
            </a:avLst>
          </a:prstGeom>
          <a:solidFill>
            <a:srgbClr val="F2F2F2"/>
          </a:solidFill>
          <a:ln w="9525">
            <a:solidFill>
              <a:srgbClr val="BFBFBF"/>
            </a:solidFill>
            <a:prstDash val="solid"/>
          </a:ln>
        </p:spPr>
      </p:sp>
      <p:sp>
        <p:nvSpPr>
          <p:cNvPr id="63" name="Text 61"/>
          <p:cNvSpPr txBox="1"/>
          <p:nvPr/>
        </p:nvSpPr>
        <p:spPr>
          <a:xfrm>
            <a:off x="621792" y="53035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64" name="from slide 5"/>
          <p:cNvSpPr/>
          <p:nvPr/>
        </p:nvSpPr>
        <p:spPr>
          <a:xfrm>
            <a:off x="621792" y="5358384"/>
            <a:ext cx="777240" cy="292608"/>
          </a:xfrm>
          <a:prstGeom prst="roundRect">
            <a:avLst>
              <a:gd name="adj" fmla="val 18750"/>
            </a:avLst>
          </a:prstGeom>
          <a:solidFill>
            <a:srgbClr val="D9D9D9"/>
          </a:solidFill>
          <a:ln w="12700">
            <a:solidFill>
              <a:srgbClr val="D9D9D9"/>
            </a:solidFill>
            <a:prstDash val="solid"/>
          </a:ln>
        </p:spPr>
      </p:sp>
      <p:sp>
        <p:nvSpPr>
          <p:cNvPr id="65" name="Text 63"/>
          <p:cNvSpPr txBox="1"/>
          <p:nvPr/>
        </p:nvSpPr>
        <p:spPr>
          <a:xfrm>
            <a:off x="621792" y="53583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5</a:t>
            </a:r>
            <a:endParaRPr lang="en-US" sz="1400" dirty="0"/>
          </a:p>
        </p:txBody>
      </p:sp>
      <p:sp>
        <p:nvSpPr>
          <p:cNvPr id="66" name="Text 64"/>
          <p:cNvSpPr txBox="1"/>
          <p:nvPr/>
        </p:nvSpPr>
        <p:spPr>
          <a:xfrm>
            <a:off x="1508760" y="5303520"/>
            <a:ext cx="3886200" cy="402336"/>
          </a:xfrm>
          <a:prstGeom prst="rect">
            <a:avLst/>
          </a:prstGeom>
          <a:noFill/>
          <a:ln/>
        </p:spPr>
        <p:txBody>
          <a:bodyPr wrap="square" lIns="0" tIns="0" rIns="0" bIns="0" rtlCol="0" anchor="ctr"/>
          <a:lstStyle/>
          <a:p>
            <a:pPr indent="0" marL="0">
              <a:buNone/>
            </a:pPr>
            <a:r>
              <a:rPr lang="en-US" sz="1400" dirty="0">
                <a:solidFill>
                  <a:schemeClr val="tx1"/>
                </a:solidFill>
              </a:rPr>
              <a:t>Why can thinking make it worse?</a:t>
            </a:r>
            <a:endParaRPr lang="en-US" sz="1400" dirty="0"/>
          </a:p>
        </p:txBody>
      </p:sp>
      <p:sp>
        <p:nvSpPr>
          <p:cNvPr id="67" name="page think"/>
          <p:cNvSpPr/>
          <p:nvPr/>
        </p:nvSpPr>
        <p:spPr>
          <a:xfrm>
            <a:off x="5449824" y="5349240"/>
            <a:ext cx="438912" cy="310896"/>
          </a:xfrm>
          <a:prstGeom prst="roundRect">
            <a:avLst>
              <a:gd name="adj" fmla="val 23529"/>
            </a:avLst>
          </a:prstGeom>
          <a:solidFill>
            <a:srgbClr val="4472C4"/>
          </a:solidFill>
          <a:ln w="12700">
            <a:solidFill>
              <a:srgbClr val="4472C4"/>
            </a:solidFill>
            <a:prstDash val="solid"/>
          </a:ln>
        </p:spPr>
      </p:sp>
      <p:sp>
        <p:nvSpPr>
          <p:cNvPr id="68" name="Text 66"/>
          <p:cNvSpPr txBox="1"/>
          <p:nvPr/>
        </p:nvSpPr>
        <p:spPr>
          <a:xfrm>
            <a:off x="5449824" y="53492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17</a:t>
            </a:r>
            <a:endParaRPr lang="en-US" sz="1400" dirty="0"/>
          </a:p>
        </p:txBody>
      </p:sp>
      <p:sp>
        <p:nvSpPr>
          <p:cNvPr id="69" name="box "/>
          <p:cNvSpPr/>
          <p:nvPr/>
        </p:nvSpPr>
        <p:spPr>
          <a:xfrm>
            <a:off x="6172200" y="1645920"/>
            <a:ext cx="5440680" cy="402336"/>
          </a:xfrm>
          <a:prstGeom prst="roundRect">
            <a:avLst>
              <a:gd name="adj" fmla="val 13636"/>
            </a:avLst>
          </a:prstGeom>
          <a:solidFill>
            <a:srgbClr val="F2F2F2"/>
          </a:solidFill>
          <a:ln w="9525">
            <a:solidFill>
              <a:srgbClr val="BFBFBF"/>
            </a:solidFill>
            <a:prstDash val="solid"/>
          </a:ln>
        </p:spPr>
      </p:sp>
      <p:sp>
        <p:nvSpPr>
          <p:cNvPr id="70" name="Text 68"/>
          <p:cNvSpPr txBox="1"/>
          <p:nvPr/>
        </p:nvSpPr>
        <p:spPr>
          <a:xfrm>
            <a:off x="6245352" y="16459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71" name="from slide 6"/>
          <p:cNvSpPr/>
          <p:nvPr/>
        </p:nvSpPr>
        <p:spPr>
          <a:xfrm>
            <a:off x="6245352" y="1700784"/>
            <a:ext cx="777240" cy="292608"/>
          </a:xfrm>
          <a:prstGeom prst="roundRect">
            <a:avLst>
              <a:gd name="adj" fmla="val 18750"/>
            </a:avLst>
          </a:prstGeom>
          <a:solidFill>
            <a:srgbClr val="D9D9D9"/>
          </a:solidFill>
          <a:ln w="12700">
            <a:solidFill>
              <a:srgbClr val="D9D9D9"/>
            </a:solidFill>
            <a:prstDash val="solid"/>
          </a:ln>
        </p:spPr>
      </p:sp>
      <p:sp>
        <p:nvSpPr>
          <p:cNvPr id="72" name="Text 70"/>
          <p:cNvSpPr txBox="1"/>
          <p:nvPr/>
        </p:nvSpPr>
        <p:spPr>
          <a:xfrm>
            <a:off x="6245352" y="17007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6</a:t>
            </a:r>
            <a:endParaRPr lang="en-US" sz="1400" dirty="0"/>
          </a:p>
        </p:txBody>
      </p:sp>
      <p:sp>
        <p:nvSpPr>
          <p:cNvPr id="73" name="Text 71"/>
          <p:cNvSpPr txBox="1"/>
          <p:nvPr/>
        </p:nvSpPr>
        <p:spPr>
          <a:xfrm>
            <a:off x="7132320" y="1645920"/>
            <a:ext cx="3886200" cy="402336"/>
          </a:xfrm>
          <a:prstGeom prst="rect">
            <a:avLst/>
          </a:prstGeom>
          <a:noFill/>
          <a:ln/>
        </p:spPr>
        <p:txBody>
          <a:bodyPr wrap="square" lIns="0" tIns="0" rIns="0" bIns="0" rtlCol="0" anchor="ctr"/>
          <a:lstStyle/>
          <a:p>
            <a:pPr indent="0" marL="0">
              <a:buNone/>
            </a:pPr>
            <a:r>
              <a:rPr lang="en-US" sz="1400" dirty="0">
                <a:solidFill>
                  <a:schemeClr val="tx1"/>
                </a:solidFill>
              </a:rPr>
              <a:t>What if a wrong program passes the check?</a:t>
            </a:r>
            <a:endParaRPr lang="en-US" sz="1400" dirty="0"/>
          </a:p>
        </p:txBody>
      </p:sp>
      <p:sp>
        <p:nvSpPr>
          <p:cNvPr id="74" name="page leak"/>
          <p:cNvSpPr/>
          <p:nvPr/>
        </p:nvSpPr>
        <p:spPr>
          <a:xfrm>
            <a:off x="11073384" y="1691640"/>
            <a:ext cx="438912" cy="310896"/>
          </a:xfrm>
          <a:prstGeom prst="roundRect">
            <a:avLst>
              <a:gd name="adj" fmla="val 23529"/>
            </a:avLst>
          </a:prstGeom>
          <a:solidFill>
            <a:srgbClr val="4472C4"/>
          </a:solidFill>
          <a:ln w="12700">
            <a:solidFill>
              <a:srgbClr val="4472C4"/>
            </a:solidFill>
            <a:prstDash val="solid"/>
          </a:ln>
        </p:spPr>
      </p:sp>
      <p:sp>
        <p:nvSpPr>
          <p:cNvPr id="75" name="Text 73"/>
          <p:cNvSpPr txBox="1"/>
          <p:nvPr/>
        </p:nvSpPr>
        <p:spPr>
          <a:xfrm>
            <a:off x="11073384" y="16916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18</a:t>
            </a:r>
            <a:endParaRPr lang="en-US" sz="1400" dirty="0"/>
          </a:p>
        </p:txBody>
      </p:sp>
      <p:sp>
        <p:nvSpPr>
          <p:cNvPr id="76" name="box "/>
          <p:cNvSpPr/>
          <p:nvPr/>
        </p:nvSpPr>
        <p:spPr>
          <a:xfrm>
            <a:off x="6172200" y="2103120"/>
            <a:ext cx="5440680" cy="402336"/>
          </a:xfrm>
          <a:prstGeom prst="roundRect">
            <a:avLst>
              <a:gd name="adj" fmla="val 13636"/>
            </a:avLst>
          </a:prstGeom>
          <a:solidFill>
            <a:srgbClr val="F2F2F2"/>
          </a:solidFill>
          <a:ln w="9525">
            <a:solidFill>
              <a:srgbClr val="BFBFBF"/>
            </a:solidFill>
            <a:prstDash val="solid"/>
          </a:ln>
        </p:spPr>
      </p:sp>
      <p:sp>
        <p:nvSpPr>
          <p:cNvPr id="77" name="Text 75"/>
          <p:cNvSpPr txBox="1"/>
          <p:nvPr/>
        </p:nvSpPr>
        <p:spPr>
          <a:xfrm>
            <a:off x="6245352" y="21031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78" name="from slide 6"/>
          <p:cNvSpPr/>
          <p:nvPr/>
        </p:nvSpPr>
        <p:spPr>
          <a:xfrm>
            <a:off x="6245352" y="2157984"/>
            <a:ext cx="777240" cy="292608"/>
          </a:xfrm>
          <a:prstGeom prst="roundRect">
            <a:avLst>
              <a:gd name="adj" fmla="val 18750"/>
            </a:avLst>
          </a:prstGeom>
          <a:solidFill>
            <a:srgbClr val="D9D9D9"/>
          </a:solidFill>
          <a:ln w="12700">
            <a:solidFill>
              <a:srgbClr val="D9D9D9"/>
            </a:solidFill>
            <a:prstDash val="solid"/>
          </a:ln>
        </p:spPr>
      </p:sp>
      <p:sp>
        <p:nvSpPr>
          <p:cNvPr id="79" name="Text 77"/>
          <p:cNvSpPr txBox="1"/>
          <p:nvPr/>
        </p:nvSpPr>
        <p:spPr>
          <a:xfrm>
            <a:off x="6245352" y="21579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6</a:t>
            </a:r>
            <a:endParaRPr lang="en-US" sz="1400" dirty="0"/>
          </a:p>
        </p:txBody>
      </p:sp>
      <p:sp>
        <p:nvSpPr>
          <p:cNvPr id="80" name="Text 78"/>
          <p:cNvSpPr txBox="1"/>
          <p:nvPr/>
        </p:nvSpPr>
        <p:spPr>
          <a:xfrm>
            <a:off x="7132320" y="2103120"/>
            <a:ext cx="3886200" cy="402336"/>
          </a:xfrm>
          <a:prstGeom prst="rect">
            <a:avLst/>
          </a:prstGeom>
          <a:noFill/>
          <a:ln/>
        </p:spPr>
        <p:txBody>
          <a:bodyPr wrap="square" lIns="0" tIns="0" rIns="0" bIns="0" rtlCol="0" anchor="ctr"/>
          <a:lstStyle/>
          <a:p>
            <a:pPr indent="0" marL="0">
              <a:buNone/>
            </a:pPr>
            <a:r>
              <a:rPr lang="en-US" sz="1400" dirty="0">
                <a:solidFill>
                  <a:schemeClr val="tx1"/>
                </a:solidFill>
              </a:rPr>
              <a:t>Is there always a free check?</a:t>
            </a:r>
            <a:endParaRPr lang="en-US" sz="1400" dirty="0"/>
          </a:p>
        </p:txBody>
      </p:sp>
      <p:sp>
        <p:nvSpPr>
          <p:cNvPr id="81" name="page checks"/>
          <p:cNvSpPr/>
          <p:nvPr/>
        </p:nvSpPr>
        <p:spPr>
          <a:xfrm>
            <a:off x="11073384" y="2148840"/>
            <a:ext cx="438912" cy="310896"/>
          </a:xfrm>
          <a:prstGeom prst="roundRect">
            <a:avLst>
              <a:gd name="adj" fmla="val 23529"/>
            </a:avLst>
          </a:prstGeom>
          <a:solidFill>
            <a:srgbClr val="4472C4"/>
          </a:solidFill>
          <a:ln w="12700">
            <a:solidFill>
              <a:srgbClr val="4472C4"/>
            </a:solidFill>
            <a:prstDash val="solid"/>
          </a:ln>
        </p:spPr>
      </p:sp>
      <p:sp>
        <p:nvSpPr>
          <p:cNvPr id="82" name="Text 80"/>
          <p:cNvSpPr txBox="1"/>
          <p:nvPr/>
        </p:nvSpPr>
        <p:spPr>
          <a:xfrm>
            <a:off x="11073384" y="21488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19</a:t>
            </a:r>
            <a:endParaRPr lang="en-US" sz="1400" dirty="0"/>
          </a:p>
        </p:txBody>
      </p:sp>
      <p:sp>
        <p:nvSpPr>
          <p:cNvPr id="83" name="box "/>
          <p:cNvSpPr/>
          <p:nvPr/>
        </p:nvSpPr>
        <p:spPr>
          <a:xfrm>
            <a:off x="6172200" y="2560320"/>
            <a:ext cx="5440680" cy="402336"/>
          </a:xfrm>
          <a:prstGeom prst="roundRect">
            <a:avLst>
              <a:gd name="adj" fmla="val 13636"/>
            </a:avLst>
          </a:prstGeom>
          <a:solidFill>
            <a:srgbClr val="F2F2F2"/>
          </a:solidFill>
          <a:ln w="9525">
            <a:solidFill>
              <a:srgbClr val="BFBFBF"/>
            </a:solidFill>
            <a:prstDash val="solid"/>
          </a:ln>
        </p:spPr>
      </p:sp>
      <p:sp>
        <p:nvSpPr>
          <p:cNvPr id="84" name="Text 82"/>
          <p:cNvSpPr txBox="1"/>
          <p:nvPr/>
        </p:nvSpPr>
        <p:spPr>
          <a:xfrm>
            <a:off x="6245352" y="25603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85" name="from slide 7"/>
          <p:cNvSpPr/>
          <p:nvPr/>
        </p:nvSpPr>
        <p:spPr>
          <a:xfrm>
            <a:off x="6245352" y="2615184"/>
            <a:ext cx="777240" cy="292608"/>
          </a:xfrm>
          <a:prstGeom prst="roundRect">
            <a:avLst>
              <a:gd name="adj" fmla="val 18750"/>
            </a:avLst>
          </a:prstGeom>
          <a:solidFill>
            <a:srgbClr val="D9D9D9"/>
          </a:solidFill>
          <a:ln w="12700">
            <a:solidFill>
              <a:srgbClr val="D9D9D9"/>
            </a:solidFill>
            <a:prstDash val="solid"/>
          </a:ln>
        </p:spPr>
      </p:sp>
      <p:sp>
        <p:nvSpPr>
          <p:cNvPr id="86" name="Text 84"/>
          <p:cNvSpPr txBox="1"/>
          <p:nvPr/>
        </p:nvSpPr>
        <p:spPr>
          <a:xfrm>
            <a:off x="6245352" y="26151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7</a:t>
            </a:r>
            <a:endParaRPr lang="en-US" sz="1400" dirty="0"/>
          </a:p>
        </p:txBody>
      </p:sp>
      <p:sp>
        <p:nvSpPr>
          <p:cNvPr id="87" name="Text 85"/>
          <p:cNvSpPr txBox="1"/>
          <p:nvPr/>
        </p:nvSpPr>
        <p:spPr>
          <a:xfrm>
            <a:off x="7132320" y="2560320"/>
            <a:ext cx="3886200" cy="402336"/>
          </a:xfrm>
          <a:prstGeom prst="rect">
            <a:avLst/>
          </a:prstGeom>
          <a:noFill/>
          <a:ln/>
        </p:spPr>
        <p:txBody>
          <a:bodyPr wrap="square" lIns="0" tIns="0" rIns="0" bIns="0" rtlCol="0" anchor="ctr"/>
          <a:lstStyle/>
          <a:p>
            <a:pPr indent="0" marL="0">
              <a:buNone/>
            </a:pPr>
            <a:r>
              <a:rPr lang="en-US" sz="1400" dirty="0">
                <a:solidFill>
                  <a:schemeClr val="tx1"/>
                </a:solidFill>
              </a:rPr>
              <a:t>Who writes the fact?</a:t>
            </a:r>
            <a:endParaRPr lang="en-US" sz="1400" dirty="0"/>
          </a:p>
        </p:txBody>
      </p:sp>
      <p:sp>
        <p:nvSpPr>
          <p:cNvPr id="88" name="page auto"/>
          <p:cNvSpPr/>
          <p:nvPr/>
        </p:nvSpPr>
        <p:spPr>
          <a:xfrm>
            <a:off x="11073384" y="2606040"/>
            <a:ext cx="438912" cy="310896"/>
          </a:xfrm>
          <a:prstGeom prst="roundRect">
            <a:avLst>
              <a:gd name="adj" fmla="val 23529"/>
            </a:avLst>
          </a:prstGeom>
          <a:solidFill>
            <a:srgbClr val="4472C4"/>
          </a:solidFill>
          <a:ln w="12700">
            <a:solidFill>
              <a:srgbClr val="4472C4"/>
            </a:solidFill>
            <a:prstDash val="solid"/>
          </a:ln>
        </p:spPr>
      </p:sp>
      <p:sp>
        <p:nvSpPr>
          <p:cNvPr id="89" name="Text 87"/>
          <p:cNvSpPr txBox="1"/>
          <p:nvPr/>
        </p:nvSpPr>
        <p:spPr>
          <a:xfrm>
            <a:off x="11073384" y="26060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20</a:t>
            </a:r>
            <a:endParaRPr lang="en-US" sz="1400" dirty="0"/>
          </a:p>
        </p:txBody>
      </p:sp>
      <p:sp>
        <p:nvSpPr>
          <p:cNvPr id="90" name="box "/>
          <p:cNvSpPr/>
          <p:nvPr/>
        </p:nvSpPr>
        <p:spPr>
          <a:xfrm>
            <a:off x="6172200" y="3017520"/>
            <a:ext cx="5440680" cy="402336"/>
          </a:xfrm>
          <a:prstGeom prst="roundRect">
            <a:avLst>
              <a:gd name="adj" fmla="val 13636"/>
            </a:avLst>
          </a:prstGeom>
          <a:solidFill>
            <a:srgbClr val="F2F2F2"/>
          </a:solidFill>
          <a:ln w="9525">
            <a:solidFill>
              <a:srgbClr val="BFBFBF"/>
            </a:solidFill>
            <a:prstDash val="solid"/>
          </a:ln>
        </p:spPr>
      </p:sp>
      <p:sp>
        <p:nvSpPr>
          <p:cNvPr id="91" name="Text 89"/>
          <p:cNvSpPr txBox="1"/>
          <p:nvPr/>
        </p:nvSpPr>
        <p:spPr>
          <a:xfrm>
            <a:off x="6245352" y="30175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92" name="from slide 7"/>
          <p:cNvSpPr/>
          <p:nvPr/>
        </p:nvSpPr>
        <p:spPr>
          <a:xfrm>
            <a:off x="6245352" y="3072384"/>
            <a:ext cx="777240" cy="292608"/>
          </a:xfrm>
          <a:prstGeom prst="roundRect">
            <a:avLst>
              <a:gd name="adj" fmla="val 18750"/>
            </a:avLst>
          </a:prstGeom>
          <a:solidFill>
            <a:srgbClr val="D9D9D9"/>
          </a:solidFill>
          <a:ln w="12700">
            <a:solidFill>
              <a:srgbClr val="D9D9D9"/>
            </a:solidFill>
            <a:prstDash val="solid"/>
          </a:ln>
        </p:spPr>
      </p:sp>
      <p:sp>
        <p:nvSpPr>
          <p:cNvPr id="93" name="Text 91"/>
          <p:cNvSpPr txBox="1"/>
          <p:nvPr/>
        </p:nvSpPr>
        <p:spPr>
          <a:xfrm>
            <a:off x="6245352" y="30723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7</a:t>
            </a:r>
            <a:endParaRPr lang="en-US" sz="1400" dirty="0"/>
          </a:p>
        </p:txBody>
      </p:sp>
      <p:sp>
        <p:nvSpPr>
          <p:cNvPr id="94" name="Text 92"/>
          <p:cNvSpPr txBox="1"/>
          <p:nvPr/>
        </p:nvSpPr>
        <p:spPr>
          <a:xfrm>
            <a:off x="7132320" y="3017520"/>
            <a:ext cx="3886200" cy="402336"/>
          </a:xfrm>
          <a:prstGeom prst="rect">
            <a:avLst/>
          </a:prstGeom>
          <a:noFill/>
          <a:ln/>
        </p:spPr>
        <p:txBody>
          <a:bodyPr wrap="square" lIns="0" tIns="0" rIns="0" bIns="0" rtlCol="0" anchor="ctr"/>
          <a:lstStyle/>
          <a:p>
            <a:pPr indent="0" marL="0">
              <a:buNone/>
            </a:pPr>
            <a:r>
              <a:rPr lang="en-US" sz="1400" dirty="0">
                <a:solidFill>
                  <a:schemeClr val="tx1"/>
                </a:solidFill>
              </a:rPr>
              <a:t>Is 'think on the hardest' a weak baseline?</a:t>
            </a:r>
            <a:endParaRPr lang="en-US" sz="1400" dirty="0"/>
          </a:p>
        </p:txBody>
      </p:sp>
      <p:sp>
        <p:nvSpPr>
          <p:cNvPr id="95" name="page hard"/>
          <p:cNvSpPr/>
          <p:nvPr/>
        </p:nvSpPr>
        <p:spPr>
          <a:xfrm>
            <a:off x="11073384" y="3063240"/>
            <a:ext cx="438912" cy="310896"/>
          </a:xfrm>
          <a:prstGeom prst="roundRect">
            <a:avLst>
              <a:gd name="adj" fmla="val 23529"/>
            </a:avLst>
          </a:prstGeom>
          <a:solidFill>
            <a:srgbClr val="4472C4"/>
          </a:solidFill>
          <a:ln w="12700">
            <a:solidFill>
              <a:srgbClr val="4472C4"/>
            </a:solidFill>
            <a:prstDash val="solid"/>
          </a:ln>
        </p:spPr>
      </p:sp>
      <p:sp>
        <p:nvSpPr>
          <p:cNvPr id="96" name="Text 94"/>
          <p:cNvSpPr txBox="1"/>
          <p:nvPr/>
        </p:nvSpPr>
        <p:spPr>
          <a:xfrm>
            <a:off x="11073384" y="30632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21</a:t>
            </a:r>
            <a:endParaRPr lang="en-US" sz="1400" dirty="0"/>
          </a:p>
        </p:txBody>
      </p:sp>
      <p:sp>
        <p:nvSpPr>
          <p:cNvPr id="97" name="box "/>
          <p:cNvSpPr/>
          <p:nvPr/>
        </p:nvSpPr>
        <p:spPr>
          <a:xfrm>
            <a:off x="6172200" y="3474720"/>
            <a:ext cx="5440680" cy="402336"/>
          </a:xfrm>
          <a:prstGeom prst="roundRect">
            <a:avLst>
              <a:gd name="adj" fmla="val 13636"/>
            </a:avLst>
          </a:prstGeom>
          <a:solidFill>
            <a:srgbClr val="F2F2F2"/>
          </a:solidFill>
          <a:ln w="9525">
            <a:solidFill>
              <a:srgbClr val="BFBFBF"/>
            </a:solidFill>
            <a:prstDash val="solid"/>
          </a:ln>
        </p:spPr>
      </p:sp>
      <p:sp>
        <p:nvSpPr>
          <p:cNvPr id="98" name="Text 96"/>
          <p:cNvSpPr txBox="1"/>
          <p:nvPr/>
        </p:nvSpPr>
        <p:spPr>
          <a:xfrm>
            <a:off x="6245352" y="34747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99" name="from slide 7"/>
          <p:cNvSpPr/>
          <p:nvPr/>
        </p:nvSpPr>
        <p:spPr>
          <a:xfrm>
            <a:off x="6245352" y="3529584"/>
            <a:ext cx="777240" cy="292608"/>
          </a:xfrm>
          <a:prstGeom prst="roundRect">
            <a:avLst>
              <a:gd name="adj" fmla="val 18750"/>
            </a:avLst>
          </a:prstGeom>
          <a:solidFill>
            <a:srgbClr val="D9D9D9"/>
          </a:solidFill>
          <a:ln w="12700">
            <a:solidFill>
              <a:srgbClr val="D9D9D9"/>
            </a:solidFill>
            <a:prstDash val="solid"/>
          </a:ln>
        </p:spPr>
      </p:sp>
      <p:sp>
        <p:nvSpPr>
          <p:cNvPr id="100" name="Text 98"/>
          <p:cNvSpPr txBox="1"/>
          <p:nvPr/>
        </p:nvSpPr>
        <p:spPr>
          <a:xfrm>
            <a:off x="6245352" y="35295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7</a:t>
            </a:r>
            <a:endParaRPr lang="en-US" sz="1400" dirty="0"/>
          </a:p>
        </p:txBody>
      </p:sp>
      <p:sp>
        <p:nvSpPr>
          <p:cNvPr id="101" name="Text 99"/>
          <p:cNvSpPr txBox="1"/>
          <p:nvPr/>
        </p:nvSpPr>
        <p:spPr>
          <a:xfrm>
            <a:off x="7132320" y="3474720"/>
            <a:ext cx="3886200" cy="402336"/>
          </a:xfrm>
          <a:prstGeom prst="rect">
            <a:avLst/>
          </a:prstGeom>
          <a:noFill/>
          <a:ln/>
        </p:spPr>
        <p:txBody>
          <a:bodyPr wrap="square" lIns="0" tIns="0" rIns="0" bIns="0" rtlCol="0" anchor="ctr"/>
          <a:lstStyle/>
          <a:p>
            <a:pPr indent="0" marL="0">
              <a:buNone/>
            </a:pPr>
            <a:r>
              <a:rPr lang="en-US" sz="1400" dirty="0">
                <a:solidFill>
                  <a:schemeClr val="tx1"/>
                </a:solidFill>
              </a:rPr>
              <a:t>What if the same problem repeats?</a:t>
            </a:r>
            <a:endParaRPr lang="en-US" sz="1400" dirty="0"/>
          </a:p>
        </p:txBody>
      </p:sp>
      <p:sp>
        <p:nvSpPr>
          <p:cNvPr id="102" name="page reuse"/>
          <p:cNvSpPr/>
          <p:nvPr/>
        </p:nvSpPr>
        <p:spPr>
          <a:xfrm>
            <a:off x="11073384" y="3520440"/>
            <a:ext cx="438912" cy="310896"/>
          </a:xfrm>
          <a:prstGeom prst="roundRect">
            <a:avLst>
              <a:gd name="adj" fmla="val 23529"/>
            </a:avLst>
          </a:prstGeom>
          <a:solidFill>
            <a:srgbClr val="4472C4"/>
          </a:solidFill>
          <a:ln w="12700">
            <a:solidFill>
              <a:srgbClr val="4472C4"/>
            </a:solidFill>
            <a:prstDash val="solid"/>
          </a:ln>
        </p:spPr>
      </p:sp>
      <p:sp>
        <p:nvSpPr>
          <p:cNvPr id="103" name="Text 101"/>
          <p:cNvSpPr txBox="1"/>
          <p:nvPr/>
        </p:nvSpPr>
        <p:spPr>
          <a:xfrm>
            <a:off x="11073384" y="35204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31</a:t>
            </a:r>
            <a:endParaRPr lang="en-US" sz="1400" dirty="0"/>
          </a:p>
        </p:txBody>
      </p:sp>
      <p:sp>
        <p:nvSpPr>
          <p:cNvPr id="104" name="box "/>
          <p:cNvSpPr/>
          <p:nvPr/>
        </p:nvSpPr>
        <p:spPr>
          <a:xfrm>
            <a:off x="6172200" y="3931920"/>
            <a:ext cx="5440680" cy="402336"/>
          </a:xfrm>
          <a:prstGeom prst="roundRect">
            <a:avLst>
              <a:gd name="adj" fmla="val 13636"/>
            </a:avLst>
          </a:prstGeom>
          <a:solidFill>
            <a:srgbClr val="F2F2F2"/>
          </a:solidFill>
          <a:ln w="9525">
            <a:solidFill>
              <a:srgbClr val="BFBFBF"/>
            </a:solidFill>
            <a:prstDash val="solid"/>
          </a:ln>
        </p:spPr>
      </p:sp>
      <p:sp>
        <p:nvSpPr>
          <p:cNvPr id="105" name="Text 103"/>
          <p:cNvSpPr txBox="1"/>
          <p:nvPr/>
        </p:nvSpPr>
        <p:spPr>
          <a:xfrm>
            <a:off x="6245352" y="39319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106" name="from slide 8"/>
          <p:cNvSpPr/>
          <p:nvPr/>
        </p:nvSpPr>
        <p:spPr>
          <a:xfrm>
            <a:off x="6245352" y="3986784"/>
            <a:ext cx="777240" cy="292608"/>
          </a:xfrm>
          <a:prstGeom prst="roundRect">
            <a:avLst>
              <a:gd name="adj" fmla="val 18750"/>
            </a:avLst>
          </a:prstGeom>
          <a:solidFill>
            <a:srgbClr val="D9D9D9"/>
          </a:solidFill>
          <a:ln w="12700">
            <a:solidFill>
              <a:srgbClr val="D9D9D9"/>
            </a:solidFill>
            <a:prstDash val="solid"/>
          </a:ln>
        </p:spPr>
      </p:sp>
      <p:sp>
        <p:nvSpPr>
          <p:cNvPr id="107" name="Text 105"/>
          <p:cNvSpPr txBox="1"/>
          <p:nvPr/>
        </p:nvSpPr>
        <p:spPr>
          <a:xfrm>
            <a:off x="6245352" y="39867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8</a:t>
            </a:r>
            <a:endParaRPr lang="en-US" sz="1400" dirty="0"/>
          </a:p>
        </p:txBody>
      </p:sp>
      <p:sp>
        <p:nvSpPr>
          <p:cNvPr id="108" name="Text 106"/>
          <p:cNvSpPr txBox="1"/>
          <p:nvPr/>
        </p:nvSpPr>
        <p:spPr>
          <a:xfrm>
            <a:off x="7132320" y="3931920"/>
            <a:ext cx="2880360" cy="402336"/>
          </a:xfrm>
          <a:prstGeom prst="rect">
            <a:avLst/>
          </a:prstGeom>
          <a:noFill/>
          <a:ln/>
        </p:spPr>
        <p:txBody>
          <a:bodyPr wrap="square" lIns="0" tIns="0" rIns="0" bIns="0" rtlCol="0" anchor="ctr"/>
          <a:lstStyle/>
          <a:p>
            <a:pPr indent="0" marL="0">
              <a:buNone/>
            </a:pPr>
            <a:r>
              <a:rPr lang="en-US" sz="1400" dirty="0">
                <a:solidFill>
                  <a:schemeClr val="tx1"/>
                </a:solidFill>
              </a:rPr>
              <a:t>What is new vs PAL and cascades?</a:t>
            </a:r>
            <a:endParaRPr lang="en-US" sz="1400" dirty="0"/>
          </a:p>
        </p:txBody>
      </p:sp>
      <p:sp>
        <p:nvSpPr>
          <p:cNvPr id="109" name="page published"/>
          <p:cNvSpPr/>
          <p:nvPr/>
        </p:nvSpPr>
        <p:spPr>
          <a:xfrm>
            <a:off x="10067544" y="3977640"/>
            <a:ext cx="438912" cy="310896"/>
          </a:xfrm>
          <a:prstGeom prst="roundRect">
            <a:avLst>
              <a:gd name="adj" fmla="val 23529"/>
            </a:avLst>
          </a:prstGeom>
          <a:solidFill>
            <a:srgbClr val="4472C4"/>
          </a:solidFill>
          <a:ln w="12700">
            <a:solidFill>
              <a:srgbClr val="4472C4"/>
            </a:solidFill>
            <a:prstDash val="solid"/>
          </a:ln>
        </p:spPr>
      </p:sp>
      <p:sp>
        <p:nvSpPr>
          <p:cNvPr id="110" name="Text 108"/>
          <p:cNvSpPr txBox="1"/>
          <p:nvPr/>
        </p:nvSpPr>
        <p:spPr>
          <a:xfrm>
            <a:off x="10067544" y="39776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22</a:t>
            </a:r>
            <a:endParaRPr lang="en-US" sz="1400" dirty="0"/>
          </a:p>
        </p:txBody>
      </p:sp>
      <p:sp>
        <p:nvSpPr>
          <p:cNvPr id="111" name="page related"/>
          <p:cNvSpPr/>
          <p:nvPr/>
        </p:nvSpPr>
        <p:spPr>
          <a:xfrm>
            <a:off x="10570464" y="3977640"/>
            <a:ext cx="438912" cy="310896"/>
          </a:xfrm>
          <a:prstGeom prst="roundRect">
            <a:avLst>
              <a:gd name="adj" fmla="val 23529"/>
            </a:avLst>
          </a:prstGeom>
          <a:solidFill>
            <a:srgbClr val="4472C4"/>
          </a:solidFill>
          <a:ln w="12700">
            <a:solidFill>
              <a:srgbClr val="4472C4"/>
            </a:solidFill>
            <a:prstDash val="solid"/>
          </a:ln>
        </p:spPr>
      </p:sp>
      <p:sp>
        <p:nvSpPr>
          <p:cNvPr id="112" name="Text 110"/>
          <p:cNvSpPr txBox="1"/>
          <p:nvPr/>
        </p:nvSpPr>
        <p:spPr>
          <a:xfrm>
            <a:off x="10570464" y="39776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23</a:t>
            </a:r>
            <a:endParaRPr lang="en-US" sz="1400" dirty="0"/>
          </a:p>
        </p:txBody>
      </p:sp>
      <p:sp>
        <p:nvSpPr>
          <p:cNvPr id="113" name="page reported"/>
          <p:cNvSpPr/>
          <p:nvPr/>
        </p:nvSpPr>
        <p:spPr>
          <a:xfrm>
            <a:off x="11073384" y="3977640"/>
            <a:ext cx="438912" cy="310896"/>
          </a:xfrm>
          <a:prstGeom prst="roundRect">
            <a:avLst>
              <a:gd name="adj" fmla="val 23529"/>
            </a:avLst>
          </a:prstGeom>
          <a:solidFill>
            <a:srgbClr val="4472C4"/>
          </a:solidFill>
          <a:ln w="12700">
            <a:solidFill>
              <a:srgbClr val="4472C4"/>
            </a:solidFill>
            <a:prstDash val="solid"/>
          </a:ln>
        </p:spPr>
      </p:sp>
      <p:sp>
        <p:nvSpPr>
          <p:cNvPr id="114" name="Text 112"/>
          <p:cNvSpPr txBox="1"/>
          <p:nvPr/>
        </p:nvSpPr>
        <p:spPr>
          <a:xfrm>
            <a:off x="11073384" y="39776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24</a:t>
            </a:r>
            <a:endParaRPr lang="en-US" sz="1400" dirty="0"/>
          </a:p>
        </p:txBody>
      </p:sp>
      <p:sp>
        <p:nvSpPr>
          <p:cNvPr id="115" name="box "/>
          <p:cNvSpPr/>
          <p:nvPr/>
        </p:nvSpPr>
        <p:spPr>
          <a:xfrm>
            <a:off x="6172200" y="4389120"/>
            <a:ext cx="5440680" cy="402336"/>
          </a:xfrm>
          <a:prstGeom prst="roundRect">
            <a:avLst>
              <a:gd name="adj" fmla="val 13636"/>
            </a:avLst>
          </a:prstGeom>
          <a:solidFill>
            <a:srgbClr val="F2F2F2"/>
          </a:solidFill>
          <a:ln w="9525">
            <a:solidFill>
              <a:srgbClr val="BFBFBF"/>
            </a:solidFill>
            <a:prstDash val="solid"/>
          </a:ln>
        </p:spPr>
      </p:sp>
      <p:sp>
        <p:nvSpPr>
          <p:cNvPr id="116" name="Text 114"/>
          <p:cNvSpPr txBox="1"/>
          <p:nvPr/>
        </p:nvSpPr>
        <p:spPr>
          <a:xfrm>
            <a:off x="6245352" y="43891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117" name="from slide 8"/>
          <p:cNvSpPr/>
          <p:nvPr/>
        </p:nvSpPr>
        <p:spPr>
          <a:xfrm>
            <a:off x="6245352" y="4443984"/>
            <a:ext cx="777240" cy="292608"/>
          </a:xfrm>
          <a:prstGeom prst="roundRect">
            <a:avLst>
              <a:gd name="adj" fmla="val 18750"/>
            </a:avLst>
          </a:prstGeom>
          <a:solidFill>
            <a:srgbClr val="D9D9D9"/>
          </a:solidFill>
          <a:ln w="12700">
            <a:solidFill>
              <a:srgbClr val="D9D9D9"/>
            </a:solidFill>
            <a:prstDash val="solid"/>
          </a:ln>
        </p:spPr>
      </p:sp>
      <p:sp>
        <p:nvSpPr>
          <p:cNvPr id="118" name="Text 116"/>
          <p:cNvSpPr txBox="1"/>
          <p:nvPr/>
        </p:nvSpPr>
        <p:spPr>
          <a:xfrm>
            <a:off x="6245352" y="44439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8</a:t>
            </a:r>
            <a:endParaRPr lang="en-US" sz="1400" dirty="0"/>
          </a:p>
        </p:txBody>
      </p:sp>
      <p:sp>
        <p:nvSpPr>
          <p:cNvPr id="119" name="Text 117"/>
          <p:cNvSpPr txBox="1"/>
          <p:nvPr/>
        </p:nvSpPr>
        <p:spPr>
          <a:xfrm>
            <a:off x="7132320" y="4389120"/>
            <a:ext cx="3886200" cy="402336"/>
          </a:xfrm>
          <a:prstGeom prst="rect">
            <a:avLst/>
          </a:prstGeom>
          <a:noFill/>
          <a:ln/>
        </p:spPr>
        <p:txBody>
          <a:bodyPr wrap="square" lIns="0" tIns="0" rIns="0" bIns="0" rtlCol="0" anchor="ctr"/>
          <a:lstStyle/>
          <a:p>
            <a:pPr indent="0" marL="0">
              <a:buNone/>
            </a:pPr>
            <a:r>
              <a:rPr lang="en-US" sz="1400" dirty="0">
                <a:solidFill>
                  <a:schemeClr val="tx1"/>
                </a:solidFill>
              </a:rPr>
              <a:t>Why not majority voting?</a:t>
            </a:r>
            <a:endParaRPr lang="en-US" sz="1400" dirty="0"/>
          </a:p>
        </p:txBody>
      </p:sp>
      <p:sp>
        <p:nvSpPr>
          <p:cNvPr id="120" name="page vote"/>
          <p:cNvSpPr/>
          <p:nvPr/>
        </p:nvSpPr>
        <p:spPr>
          <a:xfrm>
            <a:off x="11073384" y="4434840"/>
            <a:ext cx="438912" cy="310896"/>
          </a:xfrm>
          <a:prstGeom prst="roundRect">
            <a:avLst>
              <a:gd name="adj" fmla="val 23529"/>
            </a:avLst>
          </a:prstGeom>
          <a:solidFill>
            <a:srgbClr val="4472C4"/>
          </a:solidFill>
          <a:ln w="12700">
            <a:solidFill>
              <a:srgbClr val="4472C4"/>
            </a:solidFill>
            <a:prstDash val="solid"/>
          </a:ln>
        </p:spPr>
      </p:sp>
      <p:sp>
        <p:nvSpPr>
          <p:cNvPr id="121" name="Text 119"/>
          <p:cNvSpPr txBox="1"/>
          <p:nvPr/>
        </p:nvSpPr>
        <p:spPr>
          <a:xfrm>
            <a:off x="11073384" y="44348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25</a:t>
            </a:r>
            <a:endParaRPr lang="en-US" sz="1400" dirty="0"/>
          </a:p>
        </p:txBody>
      </p:sp>
      <p:sp>
        <p:nvSpPr>
          <p:cNvPr id="122" name="box "/>
          <p:cNvSpPr/>
          <p:nvPr/>
        </p:nvSpPr>
        <p:spPr>
          <a:xfrm>
            <a:off x="6172200" y="4846320"/>
            <a:ext cx="5440680" cy="402336"/>
          </a:xfrm>
          <a:prstGeom prst="roundRect">
            <a:avLst>
              <a:gd name="adj" fmla="val 13636"/>
            </a:avLst>
          </a:prstGeom>
          <a:solidFill>
            <a:srgbClr val="F2F2F2"/>
          </a:solidFill>
          <a:ln w="9525">
            <a:solidFill>
              <a:srgbClr val="BFBFBF"/>
            </a:solidFill>
            <a:prstDash val="solid"/>
          </a:ln>
        </p:spPr>
      </p:sp>
      <p:sp>
        <p:nvSpPr>
          <p:cNvPr id="123" name="Text 121"/>
          <p:cNvSpPr txBox="1"/>
          <p:nvPr/>
        </p:nvSpPr>
        <p:spPr>
          <a:xfrm>
            <a:off x="6245352" y="48463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124" name="from slide 8"/>
          <p:cNvSpPr/>
          <p:nvPr/>
        </p:nvSpPr>
        <p:spPr>
          <a:xfrm>
            <a:off x="6245352" y="4901184"/>
            <a:ext cx="777240" cy="292608"/>
          </a:xfrm>
          <a:prstGeom prst="roundRect">
            <a:avLst>
              <a:gd name="adj" fmla="val 18750"/>
            </a:avLst>
          </a:prstGeom>
          <a:solidFill>
            <a:srgbClr val="D9D9D9"/>
          </a:solidFill>
          <a:ln w="12700">
            <a:solidFill>
              <a:srgbClr val="D9D9D9"/>
            </a:solidFill>
            <a:prstDash val="solid"/>
          </a:ln>
        </p:spPr>
      </p:sp>
      <p:sp>
        <p:nvSpPr>
          <p:cNvPr id="125" name="Text 123"/>
          <p:cNvSpPr txBox="1"/>
          <p:nvPr/>
        </p:nvSpPr>
        <p:spPr>
          <a:xfrm>
            <a:off x="6245352" y="49011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8</a:t>
            </a:r>
            <a:endParaRPr lang="en-US" sz="1400" dirty="0"/>
          </a:p>
        </p:txBody>
      </p:sp>
      <p:sp>
        <p:nvSpPr>
          <p:cNvPr id="126" name="Text 124"/>
          <p:cNvSpPr txBox="1"/>
          <p:nvPr/>
        </p:nvSpPr>
        <p:spPr>
          <a:xfrm>
            <a:off x="7132320" y="4846320"/>
            <a:ext cx="3383280" cy="402336"/>
          </a:xfrm>
          <a:prstGeom prst="rect">
            <a:avLst/>
          </a:prstGeom>
          <a:noFill/>
          <a:ln/>
        </p:spPr>
        <p:txBody>
          <a:bodyPr wrap="square" lIns="0" tIns="0" rIns="0" bIns="0" rtlCol="0" anchor="ctr"/>
          <a:lstStyle/>
          <a:p>
            <a:pPr indent="0" marL="0">
              <a:buNone/>
            </a:pPr>
            <a:r>
              <a:rPr lang="en-US" sz="1400" dirty="0">
                <a:solidFill>
                  <a:schemeClr val="tx1"/>
                </a:solidFill>
              </a:rPr>
              <a:t>Is the comparison fair?</a:t>
            </a:r>
            <a:endParaRPr lang="en-US" sz="1400" dirty="0"/>
          </a:p>
        </p:txBody>
      </p:sp>
      <p:sp>
        <p:nvSpPr>
          <p:cNvPr id="127" name="page fair"/>
          <p:cNvSpPr/>
          <p:nvPr/>
        </p:nvSpPr>
        <p:spPr>
          <a:xfrm>
            <a:off x="10570464" y="4892040"/>
            <a:ext cx="438912" cy="310896"/>
          </a:xfrm>
          <a:prstGeom prst="roundRect">
            <a:avLst>
              <a:gd name="adj" fmla="val 23529"/>
            </a:avLst>
          </a:prstGeom>
          <a:solidFill>
            <a:srgbClr val="4472C4"/>
          </a:solidFill>
          <a:ln w="12700">
            <a:solidFill>
              <a:srgbClr val="4472C4"/>
            </a:solidFill>
            <a:prstDash val="solid"/>
          </a:ln>
        </p:spPr>
      </p:sp>
      <p:sp>
        <p:nvSpPr>
          <p:cNvPr id="128" name="Text 126"/>
          <p:cNvSpPr txBox="1"/>
          <p:nvPr/>
        </p:nvSpPr>
        <p:spPr>
          <a:xfrm>
            <a:off x="10570464" y="48920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26</a:t>
            </a:r>
            <a:endParaRPr lang="en-US" sz="1400" dirty="0"/>
          </a:p>
        </p:txBody>
      </p:sp>
      <p:sp>
        <p:nvSpPr>
          <p:cNvPr id="129" name="page setup"/>
          <p:cNvSpPr/>
          <p:nvPr/>
        </p:nvSpPr>
        <p:spPr>
          <a:xfrm>
            <a:off x="11073384" y="4892040"/>
            <a:ext cx="438912" cy="310896"/>
          </a:xfrm>
          <a:prstGeom prst="roundRect">
            <a:avLst>
              <a:gd name="adj" fmla="val 23529"/>
            </a:avLst>
          </a:prstGeom>
          <a:solidFill>
            <a:srgbClr val="4472C4"/>
          </a:solidFill>
          <a:ln w="12700">
            <a:solidFill>
              <a:srgbClr val="4472C4"/>
            </a:solidFill>
            <a:prstDash val="solid"/>
          </a:ln>
        </p:spPr>
      </p:sp>
      <p:sp>
        <p:nvSpPr>
          <p:cNvPr id="130" name="Text 128"/>
          <p:cNvSpPr txBox="1"/>
          <p:nvPr/>
        </p:nvSpPr>
        <p:spPr>
          <a:xfrm>
            <a:off x="11073384" y="48920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32</a:t>
            </a:r>
            <a:endParaRPr lang="en-US" sz="1400" dirty="0"/>
          </a:p>
        </p:txBody>
      </p:sp>
      <p:sp>
        <p:nvSpPr>
          <p:cNvPr id="131" name="box "/>
          <p:cNvSpPr/>
          <p:nvPr/>
        </p:nvSpPr>
        <p:spPr>
          <a:xfrm>
            <a:off x="6172200" y="5303520"/>
            <a:ext cx="5440680" cy="402336"/>
          </a:xfrm>
          <a:prstGeom prst="roundRect">
            <a:avLst>
              <a:gd name="adj" fmla="val 13636"/>
            </a:avLst>
          </a:prstGeom>
          <a:solidFill>
            <a:srgbClr val="F2F2F2"/>
          </a:solidFill>
          <a:ln w="9525">
            <a:solidFill>
              <a:srgbClr val="BFBFBF"/>
            </a:solidFill>
            <a:prstDash val="solid"/>
          </a:ln>
        </p:spPr>
      </p:sp>
      <p:sp>
        <p:nvSpPr>
          <p:cNvPr id="132" name="Text 130"/>
          <p:cNvSpPr txBox="1"/>
          <p:nvPr/>
        </p:nvSpPr>
        <p:spPr>
          <a:xfrm>
            <a:off x="6245352" y="53035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133" name="from slide 8"/>
          <p:cNvSpPr/>
          <p:nvPr/>
        </p:nvSpPr>
        <p:spPr>
          <a:xfrm>
            <a:off x="6245352" y="5358384"/>
            <a:ext cx="777240" cy="292608"/>
          </a:xfrm>
          <a:prstGeom prst="roundRect">
            <a:avLst>
              <a:gd name="adj" fmla="val 18750"/>
            </a:avLst>
          </a:prstGeom>
          <a:solidFill>
            <a:srgbClr val="D9D9D9"/>
          </a:solidFill>
          <a:ln w="12700">
            <a:solidFill>
              <a:srgbClr val="D9D9D9"/>
            </a:solidFill>
            <a:prstDash val="solid"/>
          </a:ln>
        </p:spPr>
      </p:sp>
      <p:sp>
        <p:nvSpPr>
          <p:cNvPr id="134" name="Text 132"/>
          <p:cNvSpPr txBox="1"/>
          <p:nvPr/>
        </p:nvSpPr>
        <p:spPr>
          <a:xfrm>
            <a:off x="6245352" y="53583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8</a:t>
            </a:r>
            <a:endParaRPr lang="en-US" sz="1400" dirty="0"/>
          </a:p>
        </p:txBody>
      </p:sp>
      <p:sp>
        <p:nvSpPr>
          <p:cNvPr id="135" name="Text 133"/>
          <p:cNvSpPr txBox="1"/>
          <p:nvPr/>
        </p:nvSpPr>
        <p:spPr>
          <a:xfrm>
            <a:off x="7132320" y="5303520"/>
            <a:ext cx="3886200" cy="402336"/>
          </a:xfrm>
          <a:prstGeom prst="rect">
            <a:avLst/>
          </a:prstGeom>
          <a:noFill/>
          <a:ln/>
        </p:spPr>
        <p:txBody>
          <a:bodyPr wrap="square" lIns="0" tIns="0" rIns="0" bIns="0" rtlCol="0" anchor="ctr"/>
          <a:lstStyle/>
          <a:p>
            <a:pPr indent="0" marL="0">
              <a:buNone/>
            </a:pPr>
            <a:r>
              <a:rPr lang="en-US" sz="1400" dirty="0">
                <a:solidFill>
                  <a:schemeClr val="tx1"/>
                </a:solidFill>
              </a:rPr>
              <a:t>Does it hold for smaller models?</a:t>
            </a:r>
            <a:endParaRPr lang="en-US" sz="1400" dirty="0"/>
          </a:p>
        </p:txBody>
      </p:sp>
      <p:sp>
        <p:nvSpPr>
          <p:cNvPr id="136" name="page small"/>
          <p:cNvSpPr/>
          <p:nvPr/>
        </p:nvSpPr>
        <p:spPr>
          <a:xfrm>
            <a:off x="11073384" y="5349240"/>
            <a:ext cx="438912" cy="310896"/>
          </a:xfrm>
          <a:prstGeom prst="roundRect">
            <a:avLst>
              <a:gd name="adj" fmla="val 23529"/>
            </a:avLst>
          </a:prstGeom>
          <a:solidFill>
            <a:srgbClr val="4472C4"/>
          </a:solidFill>
          <a:ln w="12700">
            <a:solidFill>
              <a:srgbClr val="4472C4"/>
            </a:solidFill>
            <a:prstDash val="solid"/>
          </a:ln>
        </p:spPr>
      </p:sp>
      <p:sp>
        <p:nvSpPr>
          <p:cNvPr id="137" name="Text 135"/>
          <p:cNvSpPr txBox="1"/>
          <p:nvPr/>
        </p:nvSpPr>
        <p:spPr>
          <a:xfrm>
            <a:off x="11073384" y="53492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27</a:t>
            </a:r>
            <a:endParaRPr lang="en-US" sz="1400" dirty="0"/>
          </a:p>
        </p:txBody>
      </p:sp>
      <p:sp>
        <p:nvSpPr>
          <p:cNvPr id="138" name="Text 136"/>
          <p:cNvSpPr txBox="1"/>
          <p:nvPr/>
        </p:nvSpPr>
        <p:spPr>
          <a:xfrm>
            <a:off x="548640" y="5806440"/>
            <a:ext cx="11064240" cy="365760"/>
          </a:xfrm>
          <a:prstGeom prst="rect">
            <a:avLst/>
          </a:prstGeom>
          <a:noFill/>
          <a:ln/>
        </p:spPr>
        <p:txBody>
          <a:bodyPr wrap="square" lIns="0" tIns="0" rIns="0" bIns="0" rtlCol="0" anchor="ctr"/>
          <a:lstStyle/>
          <a:p>
            <a:pPr indent="0" marL="0">
              <a:buNone/>
            </a:pPr>
            <a:r>
              <a:rPr lang="en-US" sz="1500" dirty="0">
                <a:solidFill>
                  <a:schemeClr val="tx2"/>
                </a:solidFill>
              </a:rPr>
              <a:t>Also: 28 all policies, cost vs accuracy</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these problems, and how do they differ?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Exact answers that code can grade, a free check for each, and code that agents already write</a:t>
            </a:r>
            <a:endParaRPr lang="en-US" sz="1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1920240"/>
                <a:gridCol w="2286000"/>
                <a:gridCol w="2286000"/>
                <a:gridCol w="2286000"/>
                <a:gridCol w="2286000"/>
              </a:tblGrid>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gridSpan="2">
                  <a:txBody>
                    <a:bodyPr/>
                    <a:lstStyle/>
                    <a:p>
                      <a:pPr algn="ctr" indent="0" marL="0">
                        <a:buNone/>
                      </a:pPr>
                      <a:r>
                        <a:rPr lang="en-US" sz="1300" b="1" dirty="0">
                          <a:solidFill>
                            <a:srgbClr val="FFFFFF"/>
                          </a:solidFill>
                        </a:rPr>
                        <a:t>needs the right algorithm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hMerge="1">
                  <a:tcPr/>
                </a:tc>
                <a:tc gridSpan="2">
                  <a:txBody>
                    <a:bodyPr/>
                    <a:lstStyle/>
                    <a:p>
                      <a:pPr algn="ctr" indent="0" marL="0">
                        <a:buNone/>
                      </a:pPr>
                      <a:r>
                        <a:rPr lang="en-US" sz="1300" b="1" dirty="0">
                          <a:solidFill>
                            <a:srgbClr val="FFFFFF"/>
                          </a:solidFill>
                        </a:rPr>
                        <a:t>needs the right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38761D"/>
                    </a:solidFill>
                  </a:tcPr>
                </a:tc>
                <a:tc hMerge="1">
                  <a:tcPr/>
                </a:tc>
              </a:tr>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Contest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Routing, scheduling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Word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438912">
                <a:tc>
                  <a:txBody>
                    <a:bodyPr/>
                    <a:lstStyle/>
                    <a:p>
                      <a:pPr indent="0" marL="0">
                        <a:buNone/>
                      </a:pPr>
                      <a:r>
                        <a:rPr lang="en-US" sz="1300" b="1" dirty="0">
                          <a:solidFill>
                            <a:schemeClr val="tx1"/>
                          </a:solidFill>
                        </a:rPr>
                        <a:t>Input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points, polygons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story with an input format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data: customers, loads, time windows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paragraph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The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textbook algorithm in plain Python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harder algorithm (Codeforces Master level)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call to a solver library (OR-Tools)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text → equations, then a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move or turn the input; two versions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examples; a brute-force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 checks every rule of the plan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two programs must agree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Typical failure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wrong method, steered by offered 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wrong reasoning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library name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name, or a wrong model of the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What helps most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free check, then 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think only when the check fails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exact usage; reuse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fact, then the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Size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108 problems (9 tasks)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311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100 (8 types) + 56 Solomon + 82 job-shop</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1,208 (NL4OPT, IndustryOR, MAMO)</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Two needs, an algorithm or a library fact, so we can see where extra effort pays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do the findings cover all five kinds?</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Where each result was measured (models and numbers as on the talk slides)</a:t>
            </a:r>
            <a:endParaRPr lang="en-US" sz="17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1920240"/>
                <a:gridCol w="1828800"/>
                <a:gridCol w="1828800"/>
                <a:gridCol w="1828800"/>
                <a:gridCol w="1828800"/>
                <a:gridCol w="1828800"/>
              </a:tblGrid>
              <a:tr h="365760">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Contest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Routing, scheduling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Word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Math and 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685800">
                <a:tc>
                  <a:txBody>
                    <a:bodyPr/>
                    <a:lstStyle/>
                    <a:p>
                      <a:pPr indent="0" marL="0">
                        <a:buNone/>
                      </a:pPr>
                      <a:r>
                        <a:rPr lang="en-US" sz="1300" b="1" dirty="0">
                          <a:solidFill>
                            <a:schemeClr val="tx1"/>
                          </a:solidFill>
                        </a:rPr>
                        <a:t>A program, not words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 8 of 8 copies right vs 1 of 8</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8C8C8C"/>
                          </a:solidFill>
                        </a:rPr>
                        <a:t>– a program by design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8C8C8C"/>
                          </a:solidFill>
                        </a:rPr>
                        <a:t>– a program by design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8C8C8C"/>
                          </a:solidFill>
                        </a:rPr>
                        <a:t>– a program by design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C00000"/>
                          </a:solidFill>
                        </a:rPr>
                        <a:t>✗ words as good (98% vs 87%); the program as a second opinion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85800">
                <a:tc>
                  <a:txBody>
                    <a:bodyPr/>
                    <a:lstStyle/>
                    <a:p>
                      <a:pPr indent="0" marL="0">
                        <a:buNone/>
                      </a:pPr>
                      <a:r>
                        <a:rPr lang="en-US" sz="1300" b="1" dirty="0">
                          <a:solidFill>
                            <a:schemeClr val="tx1"/>
                          </a:solidFill>
                        </a:rPr>
                        <a:t>Give the fact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 only the needed tools: 92% vs 75%</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8C8C8C"/>
                          </a:solidFill>
                        </a:rPr>
                        <a:t>– not tested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 23% → 77–90%; 6% → 100% valid plans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 65% → 72%; small models +44 points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C00000"/>
                          </a:solidFill>
                        </a:rPr>
                        <a:t>✗ no fact helps 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85800">
                <a:tc>
                  <a:txBody>
                    <a:bodyPr/>
                    <a:lstStyle/>
                    <a:p>
                      <a:pPr indent="0" marL="0">
                        <a:buNone/>
                      </a:pPr>
                      <a:r>
                        <a:rPr lang="en-US" sz="1300" b="1" dirty="0">
                          <a:solidFill>
                            <a:schemeClr val="tx1"/>
                          </a:solidFill>
                        </a:rPr>
                        <a:t>Free check, think on failure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 99% @ 4.3k vs 98% @ 5.9k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 66.3% @ 24.7k vs 66.2% @ 30.1k (examples + brute force)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 part of the 87% below</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 beats always thinking at 12–22% of its tokens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C55A11"/>
                          </a:solidFill>
                        </a:rPr>
                        <a:t>~ MATH-500: same accuracy at 77% of the tokens; AIME: costs more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85800">
                <a:tc>
                  <a:txBody>
                    <a:bodyPr/>
                    <a:lstStyle/>
                    <a:p>
                      <a:pPr indent="0" marL="0">
                        <a:buNone/>
                      </a:pPr>
                      <a:r>
                        <a:rPr lang="en-US" sz="1300" b="1" dirty="0">
                          <a:solidFill>
                            <a:schemeClr val="tx1"/>
                          </a:solidFill>
                        </a:rPr>
                        <a:t>Whole recipe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 87% @ 2.5k vs 74% @ 4.1k, with routing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C55A11"/>
                          </a:solidFill>
                        </a:rPr>
                        <a:t>~ check and think only (no fact)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 87% @ 2.5k vs 74% @ 4.1k, with 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 held-out MAMO: automatic fact = hand-written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C00000"/>
                          </a:solidFill>
                        </a:rPr>
                        <a:t>✗ proofs need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300" b="1" dirty="0">
                          <a:solidFill>
                            <a:schemeClr val="tx1"/>
                          </a:solidFill>
                        </a:rPr>
                        <a:t>Reuse a checked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8C8C8C"/>
                          </a:solidFill>
                        </a:rPr>
                        <a:t>– not tested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8C8C8C"/>
                          </a:solidFill>
                        </a:rPr>
                        <a:t>– not tested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 94% vs 7% of days valid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8C8C8C"/>
                          </a:solidFill>
                        </a:rPr>
                        <a:t>– not tested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8C8C8C"/>
                          </a:solidFill>
                        </a:rPr>
                        <a:t>– not tested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257800"/>
            <a:ext cx="11064240" cy="365760"/>
          </a:xfrm>
          <a:prstGeom prst="rect">
            <a:avLst/>
          </a:prstGeom>
          <a:noFill/>
          <a:ln/>
        </p:spPr>
        <p:txBody>
          <a:bodyPr wrap="square" lIns="0" tIns="0" rIns="0" bIns="0" rtlCol="0" anchor="ctr"/>
          <a:lstStyle/>
          <a:p>
            <a:pPr indent="0" marL="0">
              <a:buNone/>
            </a:pPr>
            <a:r>
              <a:rPr lang="en-US" sz="1400" dirty="0">
                <a:solidFill>
                  <a:schemeClr val="tx2"/>
                </a:solidFill>
              </a:rPr>
              <a:t>✓ holds   ~ partly   ✗ does not help   – not tested.   The 87% pools 108 geometry and 100 optimization problems, each solved by 3 models.</a:t>
            </a:r>
            <a:endParaRPr lang="en-US" sz="1400" dirty="0"/>
          </a:p>
        </p:txBody>
      </p:sp>
      <p:sp>
        <p:nvSpPr>
          <p:cNvPr id="6" name="Text 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recipe is shown on geometry, routing and word problems; proofs need a different tool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how hard, by contest ranks and exams</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a program always better than words?</a:t>
            </a:r>
            <a:endParaRPr lang="en-US" sz="3600" dirty="0"/>
          </a:p>
        </p:txBody>
      </p:sp>
      <p:sp>
        <p:nvSpPr>
          <p:cNvPr id="3" name="words vs program Computing an answer"/>
          <p:cNvSpPr/>
          <p:nvPr/>
        </p:nvSpPr>
        <p:spPr>
          <a:xfrm>
            <a:off x="548640" y="1280160"/>
            <a:ext cx="3566160" cy="4160520"/>
          </a:xfrm>
          <a:prstGeom prst="roundRect">
            <a:avLst>
              <a:gd name="adj" fmla="val 2051"/>
            </a:avLst>
          </a:prstGeom>
          <a:solidFill>
            <a:srgbClr val="F2F2F2"/>
          </a:solidFill>
          <a:ln w="9525">
            <a:solidFill>
              <a:srgbClr val="D9D9D9"/>
            </a:solidFill>
            <a:prstDash val="solid"/>
          </a:ln>
        </p:spPr>
      </p:sp>
      <p:sp>
        <p:nvSpPr>
          <p:cNvPr id="4" name="Text 2"/>
          <p:cNvSpPr txBox="1"/>
          <p:nvPr/>
        </p:nvSpPr>
        <p:spPr>
          <a:xfrm>
            <a:off x="777240" y="1371600"/>
            <a:ext cx="3108960" cy="457200"/>
          </a:xfrm>
          <a:prstGeom prst="rect">
            <a:avLst/>
          </a:prstGeom>
          <a:noFill/>
          <a:ln/>
        </p:spPr>
        <p:txBody>
          <a:bodyPr wrap="square" lIns="0" tIns="0" rIns="0" bIns="0" rtlCol="0" anchor="ctr"/>
          <a:lstStyle/>
          <a:p>
            <a:pPr indent="0" marL="0">
              <a:buNone/>
            </a:pPr>
            <a:r>
              <a:rPr lang="en-US" sz="1900" b="1" dirty="0">
                <a:solidFill>
                  <a:srgbClr val="4472C4"/>
                </a:solidFill>
              </a:rPr>
              <a:t>Computing an answer</a:t>
            </a:r>
            <a:endParaRPr lang="en-US" sz="1900" dirty="0"/>
          </a:p>
        </p:txBody>
      </p:sp>
      <p:sp>
        <p:nvSpPr>
          <p:cNvPr id="5" name="Text 3"/>
          <p:cNvSpPr txBox="1"/>
          <p:nvPr/>
        </p:nvSpPr>
        <p:spPr>
          <a:xfrm>
            <a:off x="777240" y="1828800"/>
            <a:ext cx="3108960" cy="640080"/>
          </a:xfrm>
          <a:prstGeom prst="rect">
            <a:avLst/>
          </a:prstGeom>
          <a:noFill/>
          <a:ln/>
        </p:spPr>
        <p:txBody>
          <a:bodyPr wrap="square" lIns="0" tIns="0" rIns="0" bIns="0" rtlCol="0" anchor="t"/>
          <a:lstStyle/>
          <a:p>
            <a:pPr indent="0" marL="0">
              <a:buNone/>
            </a:pPr>
            <a:r>
              <a:rPr lang="en-US" sz="1500" dirty="0">
                <a:solidFill>
                  <a:schemeClr val="tx1"/>
                </a:solidFill>
              </a:rPr>
              <a:t>twice the area of one shape, 8 copies (Qwen3-8B)</a:t>
            </a:r>
            <a:endParaRPr lang="en-US" sz="1500" dirty="0"/>
          </a:p>
        </p:txBody>
      </p:sp>
      <p:sp>
        <p:nvSpPr>
          <p:cNvPr id="6" name="Text 4"/>
          <p:cNvSpPr txBox="1"/>
          <p:nvPr/>
        </p:nvSpPr>
        <p:spPr>
          <a:xfrm>
            <a:off x="777240" y="2606040"/>
            <a:ext cx="1463040" cy="640080"/>
          </a:xfrm>
          <a:prstGeom prst="rect">
            <a:avLst/>
          </a:prstGeom>
          <a:noFill/>
          <a:ln/>
        </p:spPr>
        <p:txBody>
          <a:bodyPr wrap="square" lIns="0" tIns="0" rIns="0" bIns="0" rtlCol="0" anchor="ctr"/>
          <a:lstStyle/>
          <a:p>
            <a:pPr indent="0" marL="0">
              <a:buNone/>
            </a:pPr>
            <a:r>
              <a:rPr lang="en-US" sz="1600" dirty="0">
                <a:solidFill>
                  <a:schemeClr val="tx1"/>
                </a:solidFill>
              </a:rPr>
              <a:t>in words</a:t>
            </a:r>
            <a:endParaRPr lang="en-US" sz="1600" dirty="0"/>
          </a:p>
        </p:txBody>
      </p:sp>
      <p:sp>
        <p:nvSpPr>
          <p:cNvPr id="7" name="Text 5"/>
          <p:cNvSpPr txBox="1"/>
          <p:nvPr/>
        </p:nvSpPr>
        <p:spPr>
          <a:xfrm>
            <a:off x="2240280" y="2606040"/>
            <a:ext cx="1691640" cy="640080"/>
          </a:xfrm>
          <a:prstGeom prst="rect">
            <a:avLst/>
          </a:prstGeom>
          <a:noFill/>
          <a:ln/>
        </p:spPr>
        <p:txBody>
          <a:bodyPr wrap="square" lIns="0" tIns="0" rIns="0" bIns="0" rtlCol="0" anchor="ctr"/>
          <a:lstStyle/>
          <a:p>
            <a:pPr indent="0" marL="0">
              <a:buNone/>
            </a:pPr>
            <a:r>
              <a:rPr lang="en-US" sz="2600" b="1" dirty="0">
                <a:solidFill>
                  <a:srgbClr val="C00000"/>
                </a:solidFill>
              </a:rPr>
              <a:t>1 of 8 right</a:t>
            </a:r>
            <a:endParaRPr lang="en-US" sz="2600" dirty="0"/>
          </a:p>
        </p:txBody>
      </p:sp>
      <p:sp>
        <p:nvSpPr>
          <p:cNvPr id="8" name="Text 6"/>
          <p:cNvSpPr txBox="1"/>
          <p:nvPr/>
        </p:nvSpPr>
        <p:spPr>
          <a:xfrm>
            <a:off x="777240" y="3383280"/>
            <a:ext cx="1463040" cy="640080"/>
          </a:xfrm>
          <a:prstGeom prst="rect">
            <a:avLst/>
          </a:prstGeom>
          <a:noFill/>
          <a:ln/>
        </p:spPr>
        <p:txBody>
          <a:bodyPr wrap="square" lIns="0" tIns="0" rIns="0" bIns="0" rtlCol="0" anchor="ctr"/>
          <a:lstStyle/>
          <a:p>
            <a:pPr indent="0" marL="0">
              <a:buNone/>
            </a:pPr>
            <a:r>
              <a:rPr lang="en-US" sz="1600" dirty="0">
                <a:solidFill>
                  <a:schemeClr val="tx1"/>
                </a:solidFill>
              </a:rPr>
              <a:t>a program</a:t>
            </a:r>
            <a:endParaRPr lang="en-US" sz="1600" dirty="0"/>
          </a:p>
        </p:txBody>
      </p:sp>
      <p:sp>
        <p:nvSpPr>
          <p:cNvPr id="9" name="Text 7"/>
          <p:cNvSpPr txBox="1"/>
          <p:nvPr/>
        </p:nvSpPr>
        <p:spPr>
          <a:xfrm>
            <a:off x="2240280" y="3383280"/>
            <a:ext cx="1691640" cy="640080"/>
          </a:xfrm>
          <a:prstGeom prst="rect">
            <a:avLst/>
          </a:prstGeom>
          <a:noFill/>
          <a:ln/>
        </p:spPr>
        <p:txBody>
          <a:bodyPr wrap="square" lIns="0" tIns="0" rIns="0" bIns="0" rtlCol="0" anchor="ctr"/>
          <a:lstStyle/>
          <a:p>
            <a:pPr indent="0" marL="0">
              <a:buNone/>
            </a:pPr>
            <a:r>
              <a:rPr lang="en-US" sz="2600" b="1" dirty="0">
                <a:solidFill>
                  <a:srgbClr val="4472C4"/>
                </a:solidFill>
              </a:rPr>
              <a:t>8 of 8 right</a:t>
            </a:r>
            <a:endParaRPr lang="en-US" sz="2600" dirty="0"/>
          </a:p>
        </p:txBody>
      </p:sp>
      <p:sp>
        <p:nvSpPr>
          <p:cNvPr id="10" name="Text 8"/>
          <p:cNvSpPr txBox="1"/>
          <p:nvPr/>
        </p:nvSpPr>
        <p:spPr>
          <a:xfrm>
            <a:off x="777240" y="4434840"/>
            <a:ext cx="3108960" cy="548640"/>
          </a:xfrm>
          <a:prstGeom prst="rect">
            <a:avLst/>
          </a:prstGeom>
          <a:noFill/>
          <a:ln/>
        </p:spPr>
        <p:txBody>
          <a:bodyPr wrap="square" lIns="0" tIns="0" rIns="0" bIns="0" rtlCol="0" anchor="ctr"/>
          <a:lstStyle/>
          <a:p>
            <a:pPr indent="0" marL="0">
              <a:buNone/>
            </a:pPr>
            <a:r>
              <a:rPr lang="en-US" sz="1700" b="1" dirty="0">
                <a:solidFill>
                  <a:schemeClr val="tx1"/>
                </a:solidFill>
              </a:rPr>
              <a:t>→ write a program</a:t>
            </a:r>
            <a:endParaRPr lang="en-US" sz="1700" dirty="0"/>
          </a:p>
        </p:txBody>
      </p:sp>
      <p:sp>
        <p:nvSpPr>
          <p:cNvPr id="11" name="words vs program Short-answer contest math"/>
          <p:cNvSpPr/>
          <p:nvPr/>
        </p:nvSpPr>
        <p:spPr>
          <a:xfrm>
            <a:off x="4297680" y="1280160"/>
            <a:ext cx="3566160" cy="4160520"/>
          </a:xfrm>
          <a:prstGeom prst="roundRect">
            <a:avLst>
              <a:gd name="adj" fmla="val 2051"/>
            </a:avLst>
          </a:prstGeom>
          <a:solidFill>
            <a:srgbClr val="F2F2F2"/>
          </a:solidFill>
          <a:ln w="9525">
            <a:solidFill>
              <a:srgbClr val="D9D9D9"/>
            </a:solidFill>
            <a:prstDash val="solid"/>
          </a:ln>
        </p:spPr>
      </p:sp>
      <p:sp>
        <p:nvSpPr>
          <p:cNvPr id="12" name="Text 10"/>
          <p:cNvSpPr txBox="1"/>
          <p:nvPr/>
        </p:nvSpPr>
        <p:spPr>
          <a:xfrm>
            <a:off x="4526280" y="1371600"/>
            <a:ext cx="3108960" cy="457200"/>
          </a:xfrm>
          <a:prstGeom prst="rect">
            <a:avLst/>
          </a:prstGeom>
          <a:noFill/>
          <a:ln/>
        </p:spPr>
        <p:txBody>
          <a:bodyPr wrap="square" lIns="0" tIns="0" rIns="0" bIns="0" rtlCol="0" anchor="ctr"/>
          <a:lstStyle/>
          <a:p>
            <a:pPr indent="0" marL="0">
              <a:buNone/>
            </a:pPr>
            <a:r>
              <a:rPr lang="en-US" sz="1900" b="1" dirty="0">
                <a:solidFill>
                  <a:srgbClr val="4472C4"/>
                </a:solidFill>
              </a:rPr>
              <a:t>Short-answer contest math</a:t>
            </a:r>
            <a:endParaRPr lang="en-US" sz="1900" dirty="0"/>
          </a:p>
        </p:txBody>
      </p:sp>
      <p:sp>
        <p:nvSpPr>
          <p:cNvPr id="13" name="Text 11"/>
          <p:cNvSpPr txBox="1"/>
          <p:nvPr/>
        </p:nvSpPr>
        <p:spPr>
          <a:xfrm>
            <a:off x="4526280" y="1828800"/>
            <a:ext cx="3108960" cy="640080"/>
          </a:xfrm>
          <a:prstGeom prst="rect">
            <a:avLst/>
          </a:prstGeom>
          <a:noFill/>
          <a:ln/>
        </p:spPr>
        <p:txBody>
          <a:bodyPr wrap="square" lIns="0" tIns="0" rIns="0" bIns="0" rtlCol="0" anchor="t"/>
          <a:lstStyle/>
          <a:p>
            <a:pPr indent="0" marL="0">
              <a:buNone/>
            </a:pPr>
            <a:r>
              <a:rPr lang="en-US" sz="1500" dirty="0">
                <a:solidFill>
                  <a:schemeClr val="tx1"/>
                </a:solidFill>
              </a:rPr>
              <a:t>MATH-500 (Qwen3.6)</a:t>
            </a:r>
            <a:endParaRPr lang="en-US" sz="1500" dirty="0"/>
          </a:p>
        </p:txBody>
      </p:sp>
      <p:sp>
        <p:nvSpPr>
          <p:cNvPr id="14" name="Text 12"/>
          <p:cNvSpPr txBox="1"/>
          <p:nvPr/>
        </p:nvSpPr>
        <p:spPr>
          <a:xfrm>
            <a:off x="4526280" y="2606040"/>
            <a:ext cx="1463040" cy="640080"/>
          </a:xfrm>
          <a:prstGeom prst="rect">
            <a:avLst/>
          </a:prstGeom>
          <a:noFill/>
          <a:ln/>
        </p:spPr>
        <p:txBody>
          <a:bodyPr wrap="square" lIns="0" tIns="0" rIns="0" bIns="0" rtlCol="0" anchor="ctr"/>
          <a:lstStyle/>
          <a:p>
            <a:pPr indent="0" marL="0">
              <a:buNone/>
            </a:pPr>
            <a:r>
              <a:rPr lang="en-US" sz="1600" dirty="0">
                <a:solidFill>
                  <a:schemeClr val="tx1"/>
                </a:solidFill>
              </a:rPr>
              <a:t>in words</a:t>
            </a:r>
            <a:endParaRPr lang="en-US" sz="1600" dirty="0"/>
          </a:p>
        </p:txBody>
      </p:sp>
      <p:sp>
        <p:nvSpPr>
          <p:cNvPr id="15" name="Text 13"/>
          <p:cNvSpPr txBox="1"/>
          <p:nvPr/>
        </p:nvSpPr>
        <p:spPr>
          <a:xfrm>
            <a:off x="5989320" y="2606040"/>
            <a:ext cx="1691640" cy="640080"/>
          </a:xfrm>
          <a:prstGeom prst="rect">
            <a:avLst/>
          </a:prstGeom>
          <a:noFill/>
          <a:ln/>
        </p:spPr>
        <p:txBody>
          <a:bodyPr wrap="square" lIns="0" tIns="0" rIns="0" bIns="0" rtlCol="0" anchor="ctr"/>
          <a:lstStyle/>
          <a:p>
            <a:pPr indent="0" marL="0">
              <a:buNone/>
            </a:pPr>
            <a:r>
              <a:rPr lang="en-US" sz="2600" b="1" dirty="0">
                <a:solidFill>
                  <a:srgbClr val="4472C4"/>
                </a:solidFill>
              </a:rPr>
              <a:t>98.3%</a:t>
            </a:r>
            <a:endParaRPr lang="en-US" sz="2600" dirty="0"/>
          </a:p>
        </p:txBody>
      </p:sp>
      <p:sp>
        <p:nvSpPr>
          <p:cNvPr id="16" name="Text 14"/>
          <p:cNvSpPr txBox="1"/>
          <p:nvPr/>
        </p:nvSpPr>
        <p:spPr>
          <a:xfrm>
            <a:off x="4526280" y="3383280"/>
            <a:ext cx="1463040" cy="640080"/>
          </a:xfrm>
          <a:prstGeom prst="rect">
            <a:avLst/>
          </a:prstGeom>
          <a:noFill/>
          <a:ln/>
        </p:spPr>
        <p:txBody>
          <a:bodyPr wrap="square" lIns="0" tIns="0" rIns="0" bIns="0" rtlCol="0" anchor="ctr"/>
          <a:lstStyle/>
          <a:p>
            <a:pPr indent="0" marL="0">
              <a:buNone/>
            </a:pPr>
            <a:r>
              <a:rPr lang="en-US" sz="1600" dirty="0">
                <a:solidFill>
                  <a:schemeClr val="tx1"/>
                </a:solidFill>
              </a:rPr>
              <a:t>a program</a:t>
            </a:r>
            <a:endParaRPr lang="en-US" sz="1600" dirty="0"/>
          </a:p>
        </p:txBody>
      </p:sp>
      <p:sp>
        <p:nvSpPr>
          <p:cNvPr id="17" name="Text 15"/>
          <p:cNvSpPr txBox="1"/>
          <p:nvPr/>
        </p:nvSpPr>
        <p:spPr>
          <a:xfrm>
            <a:off x="5989320" y="3383280"/>
            <a:ext cx="1691640" cy="640080"/>
          </a:xfrm>
          <a:prstGeom prst="rect">
            <a:avLst/>
          </a:prstGeom>
          <a:noFill/>
          <a:ln/>
        </p:spPr>
        <p:txBody>
          <a:bodyPr wrap="square" lIns="0" tIns="0" rIns="0" bIns="0" rtlCol="0" anchor="ctr"/>
          <a:lstStyle/>
          <a:p>
            <a:pPr indent="0" marL="0">
              <a:buNone/>
            </a:pPr>
            <a:r>
              <a:rPr lang="en-US" sz="2600" b="1" dirty="0">
                <a:solidFill>
                  <a:srgbClr val="7F7F7F"/>
                </a:solidFill>
              </a:rPr>
              <a:t>86.8%</a:t>
            </a:r>
            <a:endParaRPr lang="en-US" sz="2600" dirty="0"/>
          </a:p>
        </p:txBody>
      </p:sp>
      <p:sp>
        <p:nvSpPr>
          <p:cNvPr id="18" name="Text 16"/>
          <p:cNvSpPr txBox="1"/>
          <p:nvPr/>
        </p:nvSpPr>
        <p:spPr>
          <a:xfrm>
            <a:off x="4526280" y="4434840"/>
            <a:ext cx="3108960" cy="548640"/>
          </a:xfrm>
          <a:prstGeom prst="rect">
            <a:avLst/>
          </a:prstGeom>
          <a:noFill/>
          <a:ln/>
        </p:spPr>
        <p:txBody>
          <a:bodyPr wrap="square" lIns="0" tIns="0" rIns="0" bIns="0" rtlCol="0" anchor="ctr"/>
          <a:lstStyle/>
          <a:p>
            <a:pPr indent="0" marL="0">
              <a:buNone/>
            </a:pPr>
            <a:r>
              <a:rPr lang="en-US" sz="1700" b="1" dirty="0">
                <a:solidFill>
                  <a:schemeClr val="tx1"/>
                </a:solidFill>
              </a:rPr>
              <a:t>→ words are fine</a:t>
            </a:r>
            <a:endParaRPr lang="en-US" sz="1700" dirty="0"/>
          </a:p>
        </p:txBody>
      </p:sp>
      <p:sp>
        <p:nvSpPr>
          <p:cNvPr id="19" name="words vs program A second opinion"/>
          <p:cNvSpPr/>
          <p:nvPr/>
        </p:nvSpPr>
        <p:spPr>
          <a:xfrm>
            <a:off x="8046720" y="1280160"/>
            <a:ext cx="3566160" cy="4160520"/>
          </a:xfrm>
          <a:prstGeom prst="roundRect">
            <a:avLst>
              <a:gd name="adj" fmla="val 2051"/>
            </a:avLst>
          </a:prstGeom>
          <a:solidFill>
            <a:srgbClr val="F2F2F2"/>
          </a:solidFill>
          <a:ln w="9525">
            <a:solidFill>
              <a:srgbClr val="D9D9D9"/>
            </a:solidFill>
            <a:prstDash val="solid"/>
          </a:ln>
        </p:spPr>
      </p:sp>
      <p:sp>
        <p:nvSpPr>
          <p:cNvPr id="20" name="Text 18"/>
          <p:cNvSpPr txBox="1"/>
          <p:nvPr/>
        </p:nvSpPr>
        <p:spPr>
          <a:xfrm>
            <a:off x="8275320" y="1371600"/>
            <a:ext cx="3108960" cy="457200"/>
          </a:xfrm>
          <a:prstGeom prst="rect">
            <a:avLst/>
          </a:prstGeom>
          <a:noFill/>
          <a:ln/>
        </p:spPr>
        <p:txBody>
          <a:bodyPr wrap="square" lIns="0" tIns="0" rIns="0" bIns="0" rtlCol="0" anchor="ctr"/>
          <a:lstStyle/>
          <a:p>
            <a:pPr indent="0" marL="0">
              <a:buNone/>
            </a:pPr>
            <a:r>
              <a:rPr lang="en-US" sz="1900" b="1" dirty="0">
                <a:solidFill>
                  <a:srgbClr val="4472C4"/>
                </a:solidFill>
              </a:rPr>
              <a:t>A second opinion</a:t>
            </a:r>
            <a:endParaRPr lang="en-US" sz="1900" dirty="0"/>
          </a:p>
        </p:txBody>
      </p:sp>
      <p:sp>
        <p:nvSpPr>
          <p:cNvPr id="21" name="Text 19"/>
          <p:cNvSpPr txBox="1"/>
          <p:nvPr/>
        </p:nvSpPr>
        <p:spPr>
          <a:xfrm>
            <a:off x="8275320" y="1828800"/>
            <a:ext cx="3108960" cy="640080"/>
          </a:xfrm>
          <a:prstGeom prst="rect">
            <a:avLst/>
          </a:prstGeom>
          <a:noFill/>
          <a:ln/>
        </p:spPr>
        <p:txBody>
          <a:bodyPr wrap="square" lIns="0" tIns="0" rIns="0" bIns="0" rtlCol="0" anchor="t"/>
          <a:lstStyle/>
          <a:p>
            <a:pPr indent="0" marL="0">
              <a:buNone/>
            </a:pPr>
            <a:r>
              <a:rPr lang="en-US" sz="1500" dirty="0">
                <a:solidFill>
                  <a:schemeClr val="tx1"/>
                </a:solidFill>
              </a:rPr>
              <a:t>two answers agree: how often both are wrong (gpt-oss-20b)</a:t>
            </a:r>
            <a:endParaRPr lang="en-US" sz="1500" dirty="0"/>
          </a:p>
        </p:txBody>
      </p:sp>
      <p:sp>
        <p:nvSpPr>
          <p:cNvPr id="22" name="Text 20"/>
          <p:cNvSpPr txBox="1"/>
          <p:nvPr/>
        </p:nvSpPr>
        <p:spPr>
          <a:xfrm>
            <a:off x="8275320" y="2606040"/>
            <a:ext cx="1463040" cy="640080"/>
          </a:xfrm>
          <a:prstGeom prst="rect">
            <a:avLst/>
          </a:prstGeom>
          <a:noFill/>
          <a:ln/>
        </p:spPr>
        <p:txBody>
          <a:bodyPr wrap="square" lIns="0" tIns="0" rIns="0" bIns="0" rtlCol="0" anchor="ctr"/>
          <a:lstStyle/>
          <a:p>
            <a:pPr indent="0" marL="0">
              <a:buNone/>
            </a:pPr>
            <a:r>
              <a:rPr lang="en-US" sz="1600" dirty="0">
                <a:solidFill>
                  <a:schemeClr val="tx1"/>
                </a:solidFill>
              </a:rPr>
              <a:t>two in words</a:t>
            </a:r>
            <a:endParaRPr lang="en-US" sz="1600" dirty="0"/>
          </a:p>
        </p:txBody>
      </p:sp>
      <p:sp>
        <p:nvSpPr>
          <p:cNvPr id="23" name="Text 21"/>
          <p:cNvSpPr txBox="1"/>
          <p:nvPr/>
        </p:nvSpPr>
        <p:spPr>
          <a:xfrm>
            <a:off x="9738360" y="2606040"/>
            <a:ext cx="1691640" cy="640080"/>
          </a:xfrm>
          <a:prstGeom prst="rect">
            <a:avLst/>
          </a:prstGeom>
          <a:noFill/>
          <a:ln/>
        </p:spPr>
        <p:txBody>
          <a:bodyPr wrap="square" lIns="0" tIns="0" rIns="0" bIns="0" rtlCol="0" anchor="ctr"/>
          <a:lstStyle/>
          <a:p>
            <a:pPr indent="0" marL="0">
              <a:buNone/>
            </a:pPr>
            <a:r>
              <a:rPr lang="en-US" sz="2600" b="1" dirty="0">
                <a:solidFill>
                  <a:srgbClr val="7F7F7F"/>
                </a:solidFill>
              </a:rPr>
              <a:t>1.5%</a:t>
            </a:r>
            <a:endParaRPr lang="en-US" sz="2600" dirty="0"/>
          </a:p>
        </p:txBody>
      </p:sp>
      <p:sp>
        <p:nvSpPr>
          <p:cNvPr id="24" name="Text 22"/>
          <p:cNvSpPr txBox="1"/>
          <p:nvPr/>
        </p:nvSpPr>
        <p:spPr>
          <a:xfrm>
            <a:off x="8275320" y="3383280"/>
            <a:ext cx="1463040" cy="640080"/>
          </a:xfrm>
          <a:prstGeom prst="rect">
            <a:avLst/>
          </a:prstGeom>
          <a:noFill/>
          <a:ln/>
        </p:spPr>
        <p:txBody>
          <a:bodyPr wrap="square" lIns="0" tIns="0" rIns="0" bIns="0" rtlCol="0" anchor="ctr"/>
          <a:lstStyle/>
          <a:p>
            <a:pPr indent="0" marL="0">
              <a:buNone/>
            </a:pPr>
            <a:r>
              <a:rPr lang="en-US" sz="1600" dirty="0">
                <a:solidFill>
                  <a:schemeClr val="tx1"/>
                </a:solidFill>
              </a:rPr>
              <a:t>words + program</a:t>
            </a:r>
            <a:endParaRPr lang="en-US" sz="1600" dirty="0"/>
          </a:p>
        </p:txBody>
      </p:sp>
      <p:sp>
        <p:nvSpPr>
          <p:cNvPr id="25" name="Text 23"/>
          <p:cNvSpPr txBox="1"/>
          <p:nvPr/>
        </p:nvSpPr>
        <p:spPr>
          <a:xfrm>
            <a:off x="9738360" y="3383280"/>
            <a:ext cx="1691640" cy="640080"/>
          </a:xfrm>
          <a:prstGeom prst="rect">
            <a:avLst/>
          </a:prstGeom>
          <a:noFill/>
          <a:ln/>
        </p:spPr>
        <p:txBody>
          <a:bodyPr wrap="square" lIns="0" tIns="0" rIns="0" bIns="0" rtlCol="0" anchor="ctr"/>
          <a:lstStyle/>
          <a:p>
            <a:pPr indent="0" marL="0">
              <a:buNone/>
            </a:pPr>
            <a:r>
              <a:rPr lang="en-US" sz="2600" b="1" dirty="0">
                <a:solidFill>
                  <a:srgbClr val="4472C4"/>
                </a:solidFill>
              </a:rPr>
              <a:t>0.3%</a:t>
            </a:r>
            <a:endParaRPr lang="en-US" sz="2600" dirty="0"/>
          </a:p>
        </p:txBody>
      </p:sp>
      <p:sp>
        <p:nvSpPr>
          <p:cNvPr id="26" name="Text 24"/>
          <p:cNvSpPr txBox="1"/>
          <p:nvPr/>
        </p:nvSpPr>
        <p:spPr>
          <a:xfrm>
            <a:off x="8275320" y="4434840"/>
            <a:ext cx="3108960" cy="548640"/>
          </a:xfrm>
          <a:prstGeom prst="rect">
            <a:avLst/>
          </a:prstGeom>
          <a:noFill/>
          <a:ln/>
        </p:spPr>
        <p:txBody>
          <a:bodyPr wrap="square" lIns="0" tIns="0" rIns="0" bIns="0" rtlCol="0" anchor="ctr"/>
          <a:lstStyle/>
          <a:p>
            <a:pPr indent="0" marL="0">
              <a:buNone/>
            </a:pPr>
            <a:r>
              <a:rPr lang="en-US" sz="1700" b="1" dirty="0">
                <a:solidFill>
                  <a:schemeClr val="tx1"/>
                </a:solidFill>
              </a:rPr>
              <a:t>→ the program as a check</a:t>
            </a:r>
            <a:endParaRPr lang="en-US" sz="1700" dirty="0"/>
          </a:p>
        </p:txBody>
      </p:sp>
      <p:sp>
        <p:nvSpPr>
          <p:cNvPr id="27" name="Text 2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Write a program when the answer must be computed; elsewhere, use it as a second opinion</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exactly is the fact? Isn't it the answer?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The fact for the routing problems of Finding 1: how to call OR-Tools (excerpt of the 11-line snippet)</a:t>
            </a:r>
            <a:endParaRPr lang="en-US" sz="1700" dirty="0"/>
          </a:p>
        </p:txBody>
      </p:sp>
      <p:sp>
        <p:nvSpPr>
          <p:cNvPr id="4" name="the fact, excerpt"/>
          <p:cNvSpPr/>
          <p:nvPr/>
        </p:nvSpPr>
        <p:spPr>
          <a:xfrm>
            <a:off x="548640" y="1783080"/>
            <a:ext cx="6675120" cy="3611880"/>
          </a:xfrm>
          <a:prstGeom prst="rect">
            <a:avLst/>
          </a:prstGeom>
          <a:solidFill>
            <a:srgbClr val="F7F7F7"/>
          </a:solidFill>
          <a:ln w="9525">
            <a:solidFill>
              <a:srgbClr val="BFBFBF"/>
            </a:solidFill>
            <a:prstDash val="solid"/>
          </a:ln>
        </p:spPr>
      </p:sp>
      <p:sp>
        <p:nvSpPr>
          <p:cNvPr id="5" name="Text 3"/>
          <p:cNvSpPr txBox="1"/>
          <p:nvPr/>
        </p:nvSpPr>
        <p:spPr>
          <a:xfrm>
            <a:off x="731520" y="1874520"/>
            <a:ext cx="6400800" cy="3429000"/>
          </a:xfrm>
          <a:prstGeom prst="rect">
            <a:avLst/>
          </a:prstGeom>
          <a:noFill/>
          <a:ln/>
        </p:spPr>
        <p:txBody>
          <a:bodyPr wrap="square" lIns="0" tIns="0" rIns="0" bIns="0" rtlCol="0" anchor="ctr"/>
          <a:lstStyle/>
          <a:p>
            <a:pPr indent="0" marL="0">
              <a:buNone/>
            </a:pPr>
            <a:r>
              <a:rPr lang="en-US" sz="1400" dirty="0">
                <a:solidFill>
                  <a:schemeClr val="tx1"/>
                </a:solidFill>
                <a:latin typeface="Courier New" pitchFamily="34" charset="0"/>
                <a:ea typeface="Courier New" pitchFamily="34" charset="-122"/>
                <a:cs typeface="Courier New" pitchFamily="34" charset="-120"/>
              </a:rPr>
              <a:t>mgr = pywrapcp.RoutingIndexManager(n + 1, K, 0)</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 = pywrapcp.RoutingModel(mgr)</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cb = r.RegisterTransitCallback(cost)</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r.SetArcCostEvaluatorOfAllVehicles(cb)</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dcb = r.RegisterUnaryTransitCallback(demand)</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r.AddDimensionWithVehicleCapacity(dcb, 0, [Q] * K,</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                 True, "Load")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p.first_solution_strategy = ...PATH_CHEAPEST_ARC</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sol = r.SolveWithParameters(p)</a:t>
            </a:r>
            <a:endParaRPr lang="en-US" sz="1400" dirty="0"/>
          </a:p>
          <a:p>
            <a:pPr indent="0" marL="0">
              <a:buNone/>
            </a:pPr>
            <a:r>
              <a:rPr lang="en-US" sz="1400" dirty="0">
                <a:solidFill>
                  <a:srgbClr val="7F7F7F"/>
                </a:solidFill>
                <a:latin typeface="Courier New" pitchFamily="34" charset="0"/>
                <a:ea typeface="Courier New" pitchFamily="34" charset="-122"/>
                <a:cs typeface="Courier New" pitchFamily="34" charset="-120"/>
              </a:rPr>
              <a:t>...  (11 lines in all)</a:t>
            </a:r>
            <a:endParaRPr lang="en-US" sz="1400" dirty="0"/>
          </a:p>
        </p:txBody>
      </p:sp>
      <p:sp>
        <p:nvSpPr>
          <p:cNvPr id="6" name="Text 4"/>
          <p:cNvSpPr txBox="1"/>
          <p:nvPr/>
        </p:nvSpPr>
        <p:spPr>
          <a:xfrm>
            <a:off x="7498080" y="178308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7" name="Text 5"/>
          <p:cNvSpPr txBox="1"/>
          <p:nvPr/>
        </p:nvSpPr>
        <p:spPr>
          <a:xfrm>
            <a:off x="7818120" y="1783080"/>
            <a:ext cx="3794760" cy="457200"/>
          </a:xfrm>
          <a:prstGeom prst="rect">
            <a:avLst/>
          </a:prstGeom>
          <a:noFill/>
          <a:ln/>
        </p:spPr>
        <p:txBody>
          <a:bodyPr wrap="square" lIns="0" tIns="0" rIns="0" bIns="0" rtlCol="0" anchor="ctr"/>
          <a:lstStyle/>
          <a:p>
            <a:pPr indent="0" marL="0">
              <a:buNone/>
            </a:pPr>
            <a:r>
              <a:rPr lang="en-US" sz="1500" dirty="0">
                <a:solidFill>
                  <a:schemeClr val="tx1"/>
                </a:solidFill>
              </a:rPr>
              <a:t>how to call the library: names and arguments</a:t>
            </a:r>
            <a:endParaRPr lang="en-US" sz="1500" dirty="0"/>
          </a:p>
        </p:txBody>
      </p:sp>
      <p:sp>
        <p:nvSpPr>
          <p:cNvPr id="8" name="Text 6"/>
          <p:cNvSpPr txBox="1"/>
          <p:nvPr/>
        </p:nvSpPr>
        <p:spPr>
          <a:xfrm>
            <a:off x="7498080" y="228600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7818120" y="2286000"/>
            <a:ext cx="3794760" cy="457200"/>
          </a:xfrm>
          <a:prstGeom prst="rect">
            <a:avLst/>
          </a:prstGeom>
          <a:noFill/>
          <a:ln/>
        </p:spPr>
        <p:txBody>
          <a:bodyPr wrap="square" lIns="0" tIns="0" rIns="0" bIns="0" rtlCol="0" anchor="ctr"/>
          <a:lstStyle/>
          <a:p>
            <a:pPr indent="0" marL="0">
              <a:buNone/>
            </a:pPr>
            <a:r>
              <a:rPr lang="en-US" sz="1500" dirty="0">
                <a:solidFill>
                  <a:schemeClr val="tx1"/>
                </a:solidFill>
              </a:rPr>
              <a:t>the same text for all 30 problems of this kind</a:t>
            </a:r>
            <a:endParaRPr lang="en-US" sz="1500" dirty="0"/>
          </a:p>
        </p:txBody>
      </p:sp>
      <p:sp>
        <p:nvSpPr>
          <p:cNvPr id="10" name="Text 8"/>
          <p:cNvSpPr txBox="1"/>
          <p:nvPr/>
        </p:nvSpPr>
        <p:spPr>
          <a:xfrm>
            <a:off x="7498080" y="2788920"/>
            <a:ext cx="32004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1" name="Text 9"/>
          <p:cNvSpPr txBox="1"/>
          <p:nvPr/>
        </p:nvSpPr>
        <p:spPr>
          <a:xfrm>
            <a:off x="7818120" y="2788920"/>
            <a:ext cx="3794760" cy="457200"/>
          </a:xfrm>
          <a:prstGeom prst="rect">
            <a:avLst/>
          </a:prstGeom>
          <a:noFill/>
          <a:ln/>
        </p:spPr>
        <p:txBody>
          <a:bodyPr wrap="square" lIns="0" tIns="0" rIns="0" bIns="0" rtlCol="0" anchor="ctr"/>
          <a:lstStyle/>
          <a:p>
            <a:pPr indent="0" marL="0">
              <a:buNone/>
            </a:pPr>
            <a:r>
              <a:rPr lang="en-US" sz="1500" dirty="0">
                <a:solidFill>
                  <a:schemeClr val="tx1"/>
                </a:solidFill>
              </a:rPr>
              <a:t>no route, no numbers, no answer</a:t>
            </a:r>
            <a:endParaRPr lang="en-US" sz="1500" dirty="0"/>
          </a:p>
        </p:txBody>
      </p:sp>
      <p:sp>
        <p:nvSpPr>
          <p:cNvPr id="12" name="why the sheet hurts"/>
          <p:cNvSpPr/>
          <p:nvPr/>
        </p:nvSpPr>
        <p:spPr>
          <a:xfrm>
            <a:off x="7498080" y="3429000"/>
            <a:ext cx="4114800" cy="1965960"/>
          </a:xfrm>
          <a:prstGeom prst="roundRect">
            <a:avLst>
              <a:gd name="adj" fmla="val 3721"/>
            </a:avLst>
          </a:prstGeom>
          <a:solidFill>
            <a:srgbClr val="F2F2F2"/>
          </a:solidFill>
          <a:ln w="9525">
            <a:solidFill>
              <a:srgbClr val="D9D9D9"/>
            </a:solidFill>
            <a:prstDash val="solid"/>
          </a:ln>
        </p:spPr>
      </p:sp>
      <p:sp>
        <p:nvSpPr>
          <p:cNvPr id="13" name="Text 11"/>
          <p:cNvSpPr txBox="1"/>
          <p:nvPr/>
        </p:nvSpPr>
        <p:spPr>
          <a:xfrm>
            <a:off x="7680960" y="3520440"/>
            <a:ext cx="3749040" cy="1783080"/>
          </a:xfrm>
          <a:prstGeom prst="rect">
            <a:avLst/>
          </a:prstGeom>
          <a:noFill/>
          <a:ln/>
        </p:spPr>
        <p:txBody>
          <a:bodyPr wrap="square" lIns="0" tIns="0" rIns="0" bIns="0" rtlCol="0" anchor="t"/>
          <a:lstStyle/>
          <a:p>
            <a:pPr indent="0" marL="0">
              <a:buNone/>
            </a:pPr>
            <a:r>
              <a:rPr lang="en-US" sz="1400" b="1" dirty="0">
                <a:solidFill>
                  <a:schemeClr val="tx1"/>
                </a:solidFill>
              </a:rPr>
              <a:t>Why is a long reference sheet worse than nothing (7% vs 23%)?</a:t>
            </a:r>
            <a:endParaRPr lang="en-US" sz="1400" dirty="0"/>
          </a:p>
          <a:p>
            <a:pPr indent="0" marL="0">
              <a:buNone/>
            </a:pPr>
            <a:r>
              <a:rPr lang="en-US" sz="1400" dirty="0">
                <a:solidFill>
                  <a:schemeClr val="tx1"/>
                </a:solidFill>
              </a:rPr>
              <a:t>It shows routing, but not the capacity rule. The model fills the gap with a call that does not exist (10 programs: RegisterUnaryLongLivingCallback).</a:t>
            </a:r>
            <a:endParaRPr lang="en-US" sz="1400" dirty="0"/>
          </a:p>
        </p:txBody>
      </p:sp>
      <p:sp>
        <p:nvSpPr>
          <p:cNvPr id="14" name="Text 1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fact says how to call the library, not how to solve the problem</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can retrieval (RAG) find the fact?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BM25 search over a library of titled snippets, Qwen3-32B, % solved optimally (seed 1)</a:t>
            </a:r>
            <a:endParaRPr lang="en-US" sz="1700" dirty="0"/>
          </a:p>
        </p:txBody>
      </p:sp>
      <p:sp>
        <p:nvSpPr>
          <p:cNvPr id="4" name="rag 6 optimization problems"/>
          <p:cNvSpPr/>
          <p:nvPr/>
        </p:nvSpPr>
        <p:spPr>
          <a:xfrm>
            <a:off x="548640" y="1737360"/>
            <a:ext cx="5440680" cy="3383280"/>
          </a:xfrm>
          <a:prstGeom prst="roundRect">
            <a:avLst>
              <a:gd name="adj" fmla="val 2162"/>
            </a:avLst>
          </a:prstGeom>
          <a:solidFill>
            <a:srgbClr val="F2F2F2"/>
          </a:solidFill>
          <a:ln w="9525">
            <a:solidFill>
              <a:srgbClr val="D9D9D9"/>
            </a:solidFill>
            <a:prstDash val="solid"/>
          </a:ln>
        </p:spPr>
      </p:sp>
      <p:sp>
        <p:nvSpPr>
          <p:cNvPr id="5" name="Text 3"/>
          <p:cNvSpPr txBox="1"/>
          <p:nvPr/>
        </p:nvSpPr>
        <p:spPr>
          <a:xfrm>
            <a:off x="77724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6 optimization problems</a:t>
            </a:r>
            <a:endParaRPr lang="en-US" sz="1800" dirty="0"/>
          </a:p>
        </p:txBody>
      </p:sp>
      <p:sp>
        <p:nvSpPr>
          <p:cNvPr id="6" name="Text 4"/>
          <p:cNvSpPr txBox="1"/>
          <p:nvPr/>
        </p:nvSpPr>
        <p:spPr>
          <a:xfrm>
            <a:off x="77724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fact</a:t>
            </a:r>
            <a:endParaRPr lang="en-US" sz="1600" dirty="0"/>
          </a:p>
        </p:txBody>
      </p:sp>
      <p:sp>
        <p:nvSpPr>
          <p:cNvPr id="7" name="bar no fact"/>
          <p:cNvSpPr/>
          <p:nvPr/>
        </p:nvSpPr>
        <p:spPr>
          <a:xfrm>
            <a:off x="3017520" y="2411273"/>
            <a:ext cx="1378458" cy="265176"/>
          </a:xfrm>
          <a:prstGeom prst="rect">
            <a:avLst/>
          </a:prstGeom>
          <a:solidFill>
            <a:srgbClr val="7F7F7F"/>
          </a:solidFill>
          <a:ln w="6350">
            <a:solidFill>
              <a:srgbClr val="7F7F7F"/>
            </a:solidFill>
            <a:prstDash val="solid"/>
          </a:ln>
        </p:spPr>
      </p:sp>
      <p:sp>
        <p:nvSpPr>
          <p:cNvPr id="8" name="Text 6"/>
          <p:cNvSpPr txBox="1"/>
          <p:nvPr/>
        </p:nvSpPr>
        <p:spPr>
          <a:xfrm>
            <a:off x="4487418"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67%</a:t>
            </a:r>
            <a:endParaRPr lang="en-US" sz="1800" dirty="0"/>
          </a:p>
        </p:txBody>
      </p:sp>
      <p:sp>
        <p:nvSpPr>
          <p:cNvPr id="9" name="Text 7"/>
          <p:cNvSpPr txBox="1"/>
          <p:nvPr/>
        </p:nvSpPr>
        <p:spPr>
          <a:xfrm>
            <a:off x="77724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fact</a:t>
            </a:r>
            <a:endParaRPr lang="en-US" sz="1600" dirty="0"/>
          </a:p>
        </p:txBody>
      </p:sp>
      <p:sp>
        <p:nvSpPr>
          <p:cNvPr id="10" name="bar hand-written fact"/>
          <p:cNvSpPr/>
          <p:nvPr/>
        </p:nvSpPr>
        <p:spPr>
          <a:xfrm>
            <a:off x="3017520" y="2941625"/>
            <a:ext cx="1975104" cy="265176"/>
          </a:xfrm>
          <a:prstGeom prst="rect">
            <a:avLst/>
          </a:prstGeom>
          <a:solidFill>
            <a:srgbClr val="7F7F7F"/>
          </a:solidFill>
          <a:ln w="6350">
            <a:solidFill>
              <a:srgbClr val="7F7F7F"/>
            </a:solidFill>
            <a:prstDash val="solid"/>
          </a:ln>
        </p:spPr>
      </p:sp>
      <p:sp>
        <p:nvSpPr>
          <p:cNvPr id="11" name="Text 9"/>
          <p:cNvSpPr txBox="1"/>
          <p:nvPr/>
        </p:nvSpPr>
        <p:spPr>
          <a:xfrm>
            <a:off x="5084064"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96%</a:t>
            </a:r>
            <a:endParaRPr lang="en-US" sz="1800" dirty="0"/>
          </a:p>
        </p:txBody>
      </p:sp>
      <p:sp>
        <p:nvSpPr>
          <p:cNvPr id="12" name="Text 10"/>
          <p:cNvSpPr txBox="1"/>
          <p:nvPr/>
        </p:nvSpPr>
        <p:spPr>
          <a:xfrm>
            <a:off x="77724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13" name="bar retrieved, top 1"/>
          <p:cNvSpPr/>
          <p:nvPr/>
        </p:nvSpPr>
        <p:spPr>
          <a:xfrm>
            <a:off x="3017520" y="3471977"/>
            <a:ext cx="1995678" cy="265176"/>
          </a:xfrm>
          <a:prstGeom prst="rect">
            <a:avLst/>
          </a:prstGeom>
          <a:solidFill>
            <a:srgbClr val="4472C4"/>
          </a:solidFill>
          <a:ln w="6350">
            <a:solidFill>
              <a:srgbClr val="4472C4"/>
            </a:solidFill>
            <a:prstDash val="solid"/>
          </a:ln>
        </p:spPr>
      </p:sp>
      <p:sp>
        <p:nvSpPr>
          <p:cNvPr id="14" name="Text 12"/>
          <p:cNvSpPr txBox="1"/>
          <p:nvPr/>
        </p:nvSpPr>
        <p:spPr>
          <a:xfrm>
            <a:off x="5104638"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97%</a:t>
            </a:r>
            <a:endParaRPr lang="en-US" sz="1800" dirty="0"/>
          </a:p>
        </p:txBody>
      </p:sp>
      <p:sp>
        <p:nvSpPr>
          <p:cNvPr id="15" name="Text 13"/>
          <p:cNvSpPr txBox="1"/>
          <p:nvPr/>
        </p:nvSpPr>
        <p:spPr>
          <a:xfrm>
            <a:off x="77724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3</a:t>
            </a:r>
            <a:endParaRPr lang="en-US" sz="1600" dirty="0"/>
          </a:p>
        </p:txBody>
      </p:sp>
      <p:sp>
        <p:nvSpPr>
          <p:cNvPr id="16" name="bar retrieved, top 3"/>
          <p:cNvSpPr/>
          <p:nvPr/>
        </p:nvSpPr>
        <p:spPr>
          <a:xfrm>
            <a:off x="3017520" y="4002329"/>
            <a:ext cx="1913382" cy="265176"/>
          </a:xfrm>
          <a:prstGeom prst="rect">
            <a:avLst/>
          </a:prstGeom>
          <a:solidFill>
            <a:srgbClr val="4472C4"/>
          </a:solidFill>
          <a:ln w="6350">
            <a:solidFill>
              <a:srgbClr val="4472C4"/>
            </a:solidFill>
            <a:prstDash val="solid"/>
          </a:ln>
        </p:spPr>
      </p:sp>
      <p:sp>
        <p:nvSpPr>
          <p:cNvPr id="17" name="Text 15"/>
          <p:cNvSpPr txBox="1"/>
          <p:nvPr/>
        </p:nvSpPr>
        <p:spPr>
          <a:xfrm>
            <a:off x="5022342" y="3922776"/>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93%</a:t>
            </a:r>
            <a:endParaRPr lang="en-US" sz="1800" dirty="0"/>
          </a:p>
        </p:txBody>
      </p:sp>
      <p:sp>
        <p:nvSpPr>
          <p:cNvPr id="18" name="Text 16"/>
          <p:cNvSpPr txBox="1"/>
          <p:nvPr/>
        </p:nvSpPr>
        <p:spPr>
          <a:xfrm>
            <a:off x="77724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19" name="bar untitled pages, top 3"/>
          <p:cNvSpPr/>
          <p:nvPr/>
        </p:nvSpPr>
        <p:spPr>
          <a:xfrm>
            <a:off x="3017520" y="4532681"/>
            <a:ext cx="1851660" cy="265176"/>
          </a:xfrm>
          <a:prstGeom prst="rect">
            <a:avLst/>
          </a:prstGeom>
          <a:solidFill>
            <a:srgbClr val="7F7F7F"/>
          </a:solidFill>
          <a:ln w="6350">
            <a:solidFill>
              <a:srgbClr val="7F7F7F"/>
            </a:solidFill>
            <a:prstDash val="solid"/>
          </a:ln>
        </p:spPr>
      </p:sp>
      <p:sp>
        <p:nvSpPr>
          <p:cNvPr id="20" name="Text 18"/>
          <p:cNvSpPr txBox="1"/>
          <p:nvPr/>
        </p:nvSpPr>
        <p:spPr>
          <a:xfrm>
            <a:off x="4960620"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90%</a:t>
            </a:r>
            <a:endParaRPr lang="en-US" sz="1800" dirty="0"/>
          </a:p>
        </p:txBody>
      </p:sp>
      <p:sp>
        <p:nvSpPr>
          <p:cNvPr id="21" name="rag Routing (30 CVRP problems)"/>
          <p:cNvSpPr/>
          <p:nvPr/>
        </p:nvSpPr>
        <p:spPr>
          <a:xfrm>
            <a:off x="6172200" y="1737360"/>
            <a:ext cx="5440680" cy="3383280"/>
          </a:xfrm>
          <a:prstGeom prst="roundRect">
            <a:avLst>
              <a:gd name="adj" fmla="val 2162"/>
            </a:avLst>
          </a:prstGeom>
          <a:solidFill>
            <a:srgbClr val="F2F2F2"/>
          </a:solidFill>
          <a:ln w="9525">
            <a:solidFill>
              <a:srgbClr val="D9D9D9"/>
            </a:solidFill>
            <a:prstDash val="solid"/>
          </a:ln>
        </p:spPr>
      </p:sp>
      <p:sp>
        <p:nvSpPr>
          <p:cNvPr id="22" name="Text 20"/>
          <p:cNvSpPr txBox="1"/>
          <p:nvPr/>
        </p:nvSpPr>
        <p:spPr>
          <a:xfrm>
            <a:off x="640080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Routing (30 CVRP problems)</a:t>
            </a:r>
            <a:endParaRPr lang="en-US" sz="1800" dirty="0"/>
          </a:p>
        </p:txBody>
      </p:sp>
      <p:sp>
        <p:nvSpPr>
          <p:cNvPr id="23" name="Text 21"/>
          <p:cNvSpPr txBox="1"/>
          <p:nvPr/>
        </p:nvSpPr>
        <p:spPr>
          <a:xfrm>
            <a:off x="640080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fact</a:t>
            </a:r>
            <a:endParaRPr lang="en-US" sz="1600" dirty="0"/>
          </a:p>
        </p:txBody>
      </p:sp>
      <p:sp>
        <p:nvSpPr>
          <p:cNvPr id="24" name="bar no fact"/>
          <p:cNvSpPr/>
          <p:nvPr/>
        </p:nvSpPr>
        <p:spPr>
          <a:xfrm>
            <a:off x="8641080" y="2411273"/>
            <a:ext cx="473202" cy="265176"/>
          </a:xfrm>
          <a:prstGeom prst="rect">
            <a:avLst/>
          </a:prstGeom>
          <a:solidFill>
            <a:srgbClr val="7F7F7F"/>
          </a:solidFill>
          <a:ln w="6350">
            <a:solidFill>
              <a:srgbClr val="7F7F7F"/>
            </a:solidFill>
            <a:prstDash val="solid"/>
          </a:ln>
        </p:spPr>
      </p:sp>
      <p:sp>
        <p:nvSpPr>
          <p:cNvPr id="25" name="Text 23"/>
          <p:cNvSpPr txBox="1"/>
          <p:nvPr/>
        </p:nvSpPr>
        <p:spPr>
          <a:xfrm>
            <a:off x="9205722"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6" name="Text 24"/>
          <p:cNvSpPr txBox="1"/>
          <p:nvPr/>
        </p:nvSpPr>
        <p:spPr>
          <a:xfrm>
            <a:off x="640080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fact</a:t>
            </a:r>
            <a:endParaRPr lang="en-US" sz="1600" dirty="0"/>
          </a:p>
        </p:txBody>
      </p:sp>
      <p:sp>
        <p:nvSpPr>
          <p:cNvPr id="27" name="bar hand-written fact"/>
          <p:cNvSpPr/>
          <p:nvPr/>
        </p:nvSpPr>
        <p:spPr>
          <a:xfrm>
            <a:off x="8641080" y="2941625"/>
            <a:ext cx="1707642" cy="265176"/>
          </a:xfrm>
          <a:prstGeom prst="rect">
            <a:avLst/>
          </a:prstGeom>
          <a:solidFill>
            <a:srgbClr val="7F7F7F"/>
          </a:solidFill>
          <a:ln w="6350">
            <a:solidFill>
              <a:srgbClr val="7F7F7F"/>
            </a:solidFill>
            <a:prstDash val="solid"/>
          </a:ln>
        </p:spPr>
      </p:sp>
      <p:sp>
        <p:nvSpPr>
          <p:cNvPr id="28" name="Text 26"/>
          <p:cNvSpPr txBox="1"/>
          <p:nvPr/>
        </p:nvSpPr>
        <p:spPr>
          <a:xfrm>
            <a:off x="10440162"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83%</a:t>
            </a:r>
            <a:endParaRPr lang="en-US" sz="1800" dirty="0"/>
          </a:p>
        </p:txBody>
      </p:sp>
      <p:sp>
        <p:nvSpPr>
          <p:cNvPr id="29" name="Text 27"/>
          <p:cNvSpPr txBox="1"/>
          <p:nvPr/>
        </p:nvSpPr>
        <p:spPr>
          <a:xfrm>
            <a:off x="640080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30" name="bar retrieved, top 1"/>
          <p:cNvSpPr/>
          <p:nvPr/>
        </p:nvSpPr>
        <p:spPr>
          <a:xfrm>
            <a:off x="8641080" y="3471977"/>
            <a:ext cx="1440180" cy="265176"/>
          </a:xfrm>
          <a:prstGeom prst="rect">
            <a:avLst/>
          </a:prstGeom>
          <a:solidFill>
            <a:srgbClr val="4472C4"/>
          </a:solidFill>
          <a:ln w="6350">
            <a:solidFill>
              <a:srgbClr val="4472C4"/>
            </a:solidFill>
            <a:prstDash val="solid"/>
          </a:ln>
        </p:spPr>
      </p:sp>
      <p:sp>
        <p:nvSpPr>
          <p:cNvPr id="31" name="Text 29"/>
          <p:cNvSpPr txBox="1"/>
          <p:nvPr/>
        </p:nvSpPr>
        <p:spPr>
          <a:xfrm>
            <a:off x="10172700"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70%</a:t>
            </a:r>
            <a:endParaRPr lang="en-US" sz="1800" dirty="0"/>
          </a:p>
        </p:txBody>
      </p:sp>
      <p:sp>
        <p:nvSpPr>
          <p:cNvPr id="32" name="Text 30"/>
          <p:cNvSpPr txBox="1"/>
          <p:nvPr/>
        </p:nvSpPr>
        <p:spPr>
          <a:xfrm>
            <a:off x="640080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top 3 (+ a near miss)</a:t>
            </a:r>
            <a:endParaRPr lang="en-US" sz="1600" dirty="0"/>
          </a:p>
        </p:txBody>
      </p:sp>
      <p:sp>
        <p:nvSpPr>
          <p:cNvPr id="33" name="bar top 3 (+ a near miss)"/>
          <p:cNvSpPr/>
          <p:nvPr/>
        </p:nvSpPr>
        <p:spPr>
          <a:xfrm>
            <a:off x="8641080" y="4002329"/>
            <a:ext cx="1172718" cy="265176"/>
          </a:xfrm>
          <a:prstGeom prst="rect">
            <a:avLst/>
          </a:prstGeom>
          <a:solidFill>
            <a:srgbClr val="C00000"/>
          </a:solidFill>
          <a:ln w="6350">
            <a:solidFill>
              <a:srgbClr val="C00000"/>
            </a:solidFill>
            <a:prstDash val="solid"/>
          </a:ln>
        </p:spPr>
      </p:sp>
      <p:sp>
        <p:nvSpPr>
          <p:cNvPr id="34" name="Text 32"/>
          <p:cNvSpPr txBox="1"/>
          <p:nvPr/>
        </p:nvSpPr>
        <p:spPr>
          <a:xfrm>
            <a:off x="9905238" y="3922776"/>
            <a:ext cx="685800" cy="424282"/>
          </a:xfrm>
          <a:prstGeom prst="rect">
            <a:avLst/>
          </a:prstGeom>
          <a:noFill/>
          <a:ln/>
        </p:spPr>
        <p:txBody>
          <a:bodyPr wrap="square" lIns="0" tIns="0" rIns="0" bIns="0" rtlCol="0" anchor="ctr"/>
          <a:lstStyle/>
          <a:p>
            <a:pPr indent="0" marL="0">
              <a:buNone/>
            </a:pPr>
            <a:r>
              <a:rPr lang="en-US" sz="1800" b="1" dirty="0">
                <a:solidFill>
                  <a:srgbClr val="C00000"/>
                </a:solidFill>
              </a:rPr>
              <a:t>57%</a:t>
            </a:r>
            <a:endParaRPr lang="en-US" sz="1800" dirty="0"/>
          </a:p>
        </p:txBody>
      </p:sp>
      <p:sp>
        <p:nvSpPr>
          <p:cNvPr id="35" name="Text 33"/>
          <p:cNvSpPr txBox="1"/>
          <p:nvPr/>
        </p:nvSpPr>
        <p:spPr>
          <a:xfrm>
            <a:off x="640080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36" name="bar untitled pages, top 3"/>
          <p:cNvSpPr/>
          <p:nvPr/>
        </p:nvSpPr>
        <p:spPr>
          <a:xfrm>
            <a:off x="8641080" y="4532681"/>
            <a:ext cx="1090422" cy="265176"/>
          </a:xfrm>
          <a:prstGeom prst="rect">
            <a:avLst/>
          </a:prstGeom>
          <a:solidFill>
            <a:srgbClr val="7F7F7F"/>
          </a:solidFill>
          <a:ln w="6350">
            <a:solidFill>
              <a:srgbClr val="7F7F7F"/>
            </a:solidFill>
            <a:prstDash val="solid"/>
          </a:ln>
        </p:spPr>
      </p:sp>
      <p:sp>
        <p:nvSpPr>
          <p:cNvPr id="37" name="Text 35"/>
          <p:cNvSpPr txBox="1"/>
          <p:nvPr/>
        </p:nvSpPr>
        <p:spPr>
          <a:xfrm>
            <a:off x="9822942"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38" name="Text 36"/>
          <p:cNvSpPr txBox="1"/>
          <p:nvPr/>
        </p:nvSpPr>
        <p:spPr>
          <a:xfrm>
            <a:off x="548640" y="5166360"/>
            <a:ext cx="11064240" cy="457200"/>
          </a:xfrm>
          <a:prstGeom prst="rect">
            <a:avLst/>
          </a:prstGeom>
          <a:noFill/>
          <a:ln/>
        </p:spPr>
        <p:txBody>
          <a:bodyPr wrap="square" lIns="0" tIns="0" rIns="0" bIns="0" rtlCol="0" anchor="ctr"/>
          <a:lstStyle/>
          <a:p>
            <a:pPr indent="0" marL="0">
              <a:buNone/>
            </a:pPr>
            <a:r>
              <a:rPr lang="en-US" sz="1500" dirty="0">
                <a:solidFill>
                  <a:schemeClr val="tx2"/>
                </a:solidFill>
              </a:rPr>
              <a:t>The near miss: top 3 also brings the TSP routing page. No documentation at all? The model's own checked program is the fact (page 20).</a:t>
            </a:r>
            <a:endParaRPr lang="en-US" sz="1500" dirty="0"/>
          </a:p>
        </p:txBody>
      </p:sp>
      <p:sp>
        <p:nvSpPr>
          <p:cNvPr id="39"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retrieval works like a hand-written fact; a near-miss page can cost 26 points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can thinking make it worse?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writes OR-Tools programs for optimization word problems (NL4OPT + IndustryOR)</a:t>
            </a:r>
            <a:endParaRPr lang="en-US" sz="1700" dirty="0"/>
          </a:p>
        </p:txBody>
      </p:sp>
      <p:sp>
        <p:nvSpPr>
          <p:cNvPr id="4" name="box thinking, no fact"/>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5" name="Text 3"/>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thinking, no fact</a:t>
            </a:r>
            <a:endParaRPr lang="en-US" sz="1600" dirty="0"/>
          </a:p>
        </p:txBody>
      </p:sp>
      <p:sp>
        <p:nvSpPr>
          <p:cNvPr id="6" name="Shape 4"/>
          <p:cNvSpPr/>
          <p:nvPr/>
        </p:nvSpPr>
        <p:spPr>
          <a:xfrm>
            <a:off x="3017520" y="2057400"/>
            <a:ext cx="320040" cy="0"/>
          </a:xfrm>
          <a:prstGeom prst="line">
            <a:avLst/>
          </a:prstGeom>
          <a:noFill/>
          <a:ln w="25400">
            <a:solidFill>
              <a:srgbClr val="7F7F7F"/>
            </a:solidFill>
            <a:prstDash val="solid"/>
            <a:tailEnd type="triangle"/>
          </a:ln>
        </p:spPr>
      </p:sp>
      <p:sp>
        <p:nvSpPr>
          <p:cNvPr id="7" name="code Objective().SetMaxim"/>
          <p:cNvSpPr/>
          <p:nvPr/>
        </p:nvSpPr>
        <p:spPr>
          <a:xfrm>
            <a:off x="3337560" y="1783080"/>
            <a:ext cx="4480560" cy="548640"/>
          </a:xfrm>
          <a:prstGeom prst="rect">
            <a:avLst/>
          </a:prstGeom>
          <a:solidFill>
            <a:srgbClr val="FFFFFF"/>
          </a:solidFill>
          <a:ln w="9525">
            <a:solidFill>
              <a:srgbClr val="BFBFBF"/>
            </a:solidFill>
            <a:prstDash val="solid"/>
          </a:ln>
        </p:spPr>
      </p:sp>
      <p:sp>
        <p:nvSpPr>
          <p:cNvPr id="8" name="Text 6"/>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Objective().SetMaximize()</a:t>
            </a:r>
            <a:endParaRPr lang="en-US" sz="1500" dirty="0"/>
          </a:p>
        </p:txBody>
      </p:sp>
      <p:sp>
        <p:nvSpPr>
          <p:cNvPr id="9" name="Text 7"/>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invented method: crash</a:t>
            </a:r>
            <a:endParaRPr lang="en-US" sz="1700" dirty="0"/>
          </a:p>
        </p:txBody>
      </p:sp>
      <p:sp>
        <p:nvSpPr>
          <p:cNvPr id="10" name="box exact usage first"/>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1" name="Text 9"/>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exact usage first</a:t>
            </a:r>
            <a:endParaRPr lang="en-US" sz="1600" dirty="0"/>
          </a:p>
        </p:txBody>
      </p:sp>
      <p:sp>
        <p:nvSpPr>
          <p:cNvPr id="12" name="Shape 10"/>
          <p:cNvSpPr/>
          <p:nvPr/>
        </p:nvSpPr>
        <p:spPr>
          <a:xfrm>
            <a:off x="3017520" y="2788920"/>
            <a:ext cx="320040" cy="0"/>
          </a:xfrm>
          <a:prstGeom prst="line">
            <a:avLst/>
          </a:prstGeom>
          <a:noFill/>
          <a:ln w="25400">
            <a:solidFill>
              <a:srgbClr val="7F7F7F"/>
            </a:solidFill>
            <a:prstDash val="solid"/>
            <a:tailEnd type="triangle"/>
          </a:ln>
        </p:spPr>
      </p:sp>
      <p:sp>
        <p:nvSpPr>
          <p:cNvPr id="13" name="code solver.Maximize(...)"/>
          <p:cNvSpPr/>
          <p:nvPr/>
        </p:nvSpPr>
        <p:spPr>
          <a:xfrm>
            <a:off x="3337560" y="2514600"/>
            <a:ext cx="4480560" cy="548640"/>
          </a:xfrm>
          <a:prstGeom prst="rect">
            <a:avLst/>
          </a:prstGeom>
          <a:solidFill>
            <a:srgbClr val="FFFFFF"/>
          </a:solidFill>
          <a:ln w="9525">
            <a:solidFill>
              <a:srgbClr val="BFBFBF"/>
            </a:solidFill>
            <a:prstDash val="solid"/>
          </a:ln>
        </p:spPr>
      </p:sp>
      <p:sp>
        <p:nvSpPr>
          <p:cNvPr id="14" name="Text 12"/>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solver.Maximize(...)</a:t>
            </a:r>
            <a:endParaRPr lang="en-US" sz="1500" dirty="0"/>
          </a:p>
        </p:txBody>
      </p:sp>
      <p:sp>
        <p:nvSpPr>
          <p:cNvPr id="15" name="Text 13"/>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the real call: runs</a:t>
            </a:r>
            <a:endParaRPr lang="en-US" sz="1700" dirty="0"/>
          </a:p>
        </p:txBody>
      </p:sp>
      <p:sp>
        <p:nvSpPr>
          <p:cNvPr id="16" name="Text 14"/>
          <p:cNvSpPr txBox="1"/>
          <p:nvPr/>
        </p:nvSpPr>
        <p:spPr>
          <a:xfrm>
            <a:off x="548640" y="32918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solved:</a:t>
            </a:r>
            <a:endParaRPr lang="en-US" sz="1700" dirty="0"/>
          </a:p>
        </p:txBody>
      </p:sp>
      <p:sp>
        <p:nvSpPr>
          <p:cNvPr id="17" name="Text 15"/>
          <p:cNvSpPr txBox="1"/>
          <p:nvPr/>
        </p:nvSpPr>
        <p:spPr>
          <a:xfrm>
            <a:off x="548640" y="36576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fact, no thinking</a:t>
            </a:r>
            <a:endParaRPr lang="en-US" sz="1600" dirty="0"/>
          </a:p>
        </p:txBody>
      </p:sp>
      <p:sp>
        <p:nvSpPr>
          <p:cNvPr id="18" name="bar no fact, no thinking"/>
          <p:cNvSpPr/>
          <p:nvPr/>
        </p:nvSpPr>
        <p:spPr>
          <a:xfrm>
            <a:off x="3794760" y="3726180"/>
            <a:ext cx="3528304" cy="228600"/>
          </a:xfrm>
          <a:prstGeom prst="rect">
            <a:avLst/>
          </a:prstGeom>
          <a:solidFill>
            <a:srgbClr val="7F7F7F"/>
          </a:solidFill>
          <a:ln w="6350">
            <a:solidFill>
              <a:srgbClr val="7F7F7F"/>
            </a:solidFill>
            <a:prstDash val="solid"/>
          </a:ln>
        </p:spPr>
      </p:sp>
      <p:sp>
        <p:nvSpPr>
          <p:cNvPr id="19" name="Text 17"/>
          <p:cNvSpPr txBox="1"/>
          <p:nvPr/>
        </p:nvSpPr>
        <p:spPr>
          <a:xfrm>
            <a:off x="7414504" y="36576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65.4%</a:t>
            </a:r>
            <a:endParaRPr lang="en-US" sz="1800" dirty="0"/>
          </a:p>
        </p:txBody>
      </p:sp>
      <p:sp>
        <p:nvSpPr>
          <p:cNvPr id="20" name="Text 18"/>
          <p:cNvSpPr txBox="1"/>
          <p:nvPr/>
        </p:nvSpPr>
        <p:spPr>
          <a:xfrm>
            <a:off x="548640" y="41148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fact, thinking</a:t>
            </a:r>
            <a:endParaRPr lang="en-US" sz="1600" dirty="0"/>
          </a:p>
        </p:txBody>
      </p:sp>
      <p:sp>
        <p:nvSpPr>
          <p:cNvPr id="21" name="bar no fact, thinking"/>
          <p:cNvSpPr/>
          <p:nvPr/>
        </p:nvSpPr>
        <p:spPr>
          <a:xfrm>
            <a:off x="3794760" y="4183380"/>
            <a:ext cx="2805379" cy="228600"/>
          </a:xfrm>
          <a:prstGeom prst="rect">
            <a:avLst/>
          </a:prstGeom>
          <a:solidFill>
            <a:srgbClr val="C00000"/>
          </a:solidFill>
          <a:ln w="6350">
            <a:solidFill>
              <a:srgbClr val="C00000"/>
            </a:solidFill>
            <a:prstDash val="solid"/>
          </a:ln>
        </p:spPr>
      </p:sp>
      <p:sp>
        <p:nvSpPr>
          <p:cNvPr id="22" name="Text 20"/>
          <p:cNvSpPr txBox="1"/>
          <p:nvPr/>
        </p:nvSpPr>
        <p:spPr>
          <a:xfrm>
            <a:off x="6691579" y="411480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52.0%</a:t>
            </a:r>
            <a:endParaRPr lang="en-US" sz="1800" dirty="0"/>
          </a:p>
        </p:txBody>
      </p:sp>
      <p:sp>
        <p:nvSpPr>
          <p:cNvPr id="23" name="Text 21"/>
          <p:cNvSpPr txBox="1"/>
          <p:nvPr/>
        </p:nvSpPr>
        <p:spPr>
          <a:xfrm>
            <a:off x="548640" y="45720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fact, always thinking</a:t>
            </a:r>
            <a:endParaRPr lang="en-US" sz="1600" dirty="0"/>
          </a:p>
        </p:txBody>
      </p:sp>
      <p:sp>
        <p:nvSpPr>
          <p:cNvPr id="24" name="bar fact, always thinking"/>
          <p:cNvSpPr/>
          <p:nvPr/>
        </p:nvSpPr>
        <p:spPr>
          <a:xfrm>
            <a:off x="3794760" y="4640580"/>
            <a:ext cx="3884371" cy="228600"/>
          </a:xfrm>
          <a:prstGeom prst="rect">
            <a:avLst/>
          </a:prstGeom>
          <a:solidFill>
            <a:srgbClr val="7F7F7F"/>
          </a:solidFill>
          <a:ln w="6350">
            <a:solidFill>
              <a:srgbClr val="7F7F7F"/>
            </a:solidFill>
            <a:prstDash val="solid"/>
          </a:ln>
        </p:spPr>
      </p:sp>
      <p:sp>
        <p:nvSpPr>
          <p:cNvPr id="25" name="Text 23"/>
          <p:cNvSpPr txBox="1"/>
          <p:nvPr/>
        </p:nvSpPr>
        <p:spPr>
          <a:xfrm>
            <a:off x="7770571" y="45720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72.0% · 5.5k tokens</a:t>
            </a:r>
            <a:endParaRPr lang="en-US" sz="1800" dirty="0"/>
          </a:p>
        </p:txBody>
      </p:sp>
      <p:sp>
        <p:nvSpPr>
          <p:cNvPr id="26" name="Text 24"/>
          <p:cNvSpPr txBox="1"/>
          <p:nvPr/>
        </p:nvSpPr>
        <p:spPr>
          <a:xfrm>
            <a:off x="548640" y="50292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fact first, think on failure</a:t>
            </a:r>
            <a:endParaRPr lang="en-US" sz="1600" dirty="0"/>
          </a:p>
        </p:txBody>
      </p:sp>
      <p:sp>
        <p:nvSpPr>
          <p:cNvPr id="27" name="bar fact first, think on failure"/>
          <p:cNvSpPr/>
          <p:nvPr/>
        </p:nvSpPr>
        <p:spPr>
          <a:xfrm>
            <a:off x="3794760" y="5097780"/>
            <a:ext cx="3905951" cy="228600"/>
          </a:xfrm>
          <a:prstGeom prst="rect">
            <a:avLst/>
          </a:prstGeom>
          <a:solidFill>
            <a:srgbClr val="4472C4"/>
          </a:solidFill>
          <a:ln w="6350">
            <a:solidFill>
              <a:srgbClr val="4472C4"/>
            </a:solidFill>
            <a:prstDash val="solid"/>
          </a:ln>
        </p:spPr>
      </p:sp>
      <p:sp>
        <p:nvSpPr>
          <p:cNvPr id="28" name="Text 26"/>
          <p:cNvSpPr txBox="1"/>
          <p:nvPr/>
        </p:nvSpPr>
        <p:spPr>
          <a:xfrm>
            <a:off x="7792151" y="502920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72.4% · 1.3k tokens</a:t>
            </a:r>
            <a:endParaRPr lang="en-US" sz="1800" dirty="0"/>
          </a:p>
        </p:txBody>
      </p:sp>
      <p:sp>
        <p:nvSpPr>
          <p:cNvPr id="29" name="Text 2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add a fact the model lacks; given the fact first, thinking helps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if a wrong program passes the check?</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It happens, but a perfect check would buy little: thinking rarely fixes those problems</a:t>
            </a:r>
            <a:endParaRPr lang="en-US" sz="1700" dirty="0"/>
          </a:p>
        </p:txBody>
      </p:sp>
      <p:sp>
        <p:nvSpPr>
          <p:cNvPr id="4" name="leak 24–37%"/>
          <p:cNvSpPr/>
          <p:nvPr/>
        </p:nvSpPr>
        <p:spPr>
          <a:xfrm>
            <a:off x="548640" y="1783080"/>
            <a:ext cx="3611880" cy="1737360"/>
          </a:xfrm>
          <a:prstGeom prst="roundRect">
            <a:avLst>
              <a:gd name="adj" fmla="val 4211"/>
            </a:avLst>
          </a:prstGeom>
          <a:solidFill>
            <a:srgbClr val="F2F2F2"/>
          </a:solidFill>
          <a:ln w="9525">
            <a:solidFill>
              <a:srgbClr val="D9D9D9"/>
            </a:solidFill>
            <a:prstDash val="solid"/>
          </a:ln>
        </p:spPr>
      </p:sp>
      <p:sp>
        <p:nvSpPr>
          <p:cNvPr id="5" name="Text 3"/>
          <p:cNvSpPr txBox="1"/>
          <p:nvPr/>
        </p:nvSpPr>
        <p:spPr>
          <a:xfrm>
            <a:off x="77724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24–37%</a:t>
            </a:r>
            <a:endParaRPr lang="en-US" sz="3600" dirty="0"/>
          </a:p>
        </p:txBody>
      </p:sp>
      <p:sp>
        <p:nvSpPr>
          <p:cNvPr id="6" name="Text 4"/>
          <p:cNvSpPr txBox="1"/>
          <p:nvPr/>
        </p:nvSpPr>
        <p:spPr>
          <a:xfrm>
            <a:off x="77724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gpt-oss-120b's wrong contest programs pass the problem's examples</a:t>
            </a:r>
            <a:endParaRPr lang="en-US" sz="1500" dirty="0"/>
          </a:p>
        </p:txBody>
      </p:sp>
      <p:sp>
        <p:nvSpPr>
          <p:cNvPr id="7" name="leak 12–16%"/>
          <p:cNvSpPr/>
          <p:nvPr/>
        </p:nvSpPr>
        <p:spPr>
          <a:xfrm>
            <a:off x="4297680" y="1783080"/>
            <a:ext cx="3611880" cy="1737360"/>
          </a:xfrm>
          <a:prstGeom prst="roundRect">
            <a:avLst>
              <a:gd name="adj" fmla="val 4211"/>
            </a:avLst>
          </a:prstGeom>
          <a:solidFill>
            <a:srgbClr val="F2F2F2"/>
          </a:solidFill>
          <a:ln w="9525">
            <a:solidFill>
              <a:srgbClr val="D9D9D9"/>
            </a:solidFill>
            <a:prstDash val="solid"/>
          </a:ln>
        </p:spPr>
      </p:sp>
      <p:sp>
        <p:nvSpPr>
          <p:cNvPr id="8" name="Text 6"/>
          <p:cNvSpPr txBox="1"/>
          <p:nvPr/>
        </p:nvSpPr>
        <p:spPr>
          <a:xfrm>
            <a:off x="452628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12–16%</a:t>
            </a:r>
            <a:endParaRPr lang="en-US" sz="3600" dirty="0"/>
          </a:p>
        </p:txBody>
      </p:sp>
      <p:sp>
        <p:nvSpPr>
          <p:cNvPr id="9" name="Text 7"/>
          <p:cNvSpPr txBox="1"/>
          <p:nvPr/>
        </p:nvSpPr>
        <p:spPr>
          <a:xfrm>
            <a:off x="452628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word problems: both programs agree and both are wrong (14B+ models)</a:t>
            </a:r>
            <a:endParaRPr lang="en-US" sz="1500" dirty="0"/>
          </a:p>
        </p:txBody>
      </p:sp>
      <p:sp>
        <p:nvSpPr>
          <p:cNvPr id="10" name="example Find Color"/>
          <p:cNvSpPr/>
          <p:nvPr/>
        </p:nvSpPr>
        <p:spPr>
          <a:xfrm>
            <a:off x="8046720" y="1783080"/>
            <a:ext cx="3566160" cy="1737360"/>
          </a:xfrm>
          <a:prstGeom prst="roundRect">
            <a:avLst>
              <a:gd name="adj" fmla="val 4211"/>
            </a:avLst>
          </a:prstGeom>
          <a:solidFill>
            <a:srgbClr val="F2F2F2"/>
          </a:solidFill>
          <a:ln w="9525">
            <a:solidFill>
              <a:srgbClr val="D9D9D9"/>
            </a:solidFill>
            <a:prstDash val="solid"/>
          </a:ln>
        </p:spPr>
      </p:sp>
      <p:sp>
        <p:nvSpPr>
          <p:cNvPr id="11" name="Text 9"/>
          <p:cNvSpPr txBox="1"/>
          <p:nvPr/>
        </p:nvSpPr>
        <p:spPr>
          <a:xfrm>
            <a:off x="8275320" y="1920240"/>
            <a:ext cx="3154680" cy="1463040"/>
          </a:xfrm>
          <a:prstGeom prst="rect">
            <a:avLst/>
          </a:prstGeom>
          <a:noFill/>
          <a:ln/>
        </p:spPr>
        <p:txBody>
          <a:bodyPr wrap="square" lIns="0" tIns="0" rIns="0" bIns="0" rtlCol="0" anchor="t"/>
          <a:lstStyle/>
          <a:p>
            <a:pPr indent="0" marL="0">
              <a:buNone/>
            </a:pPr>
            <a:r>
              <a:rPr lang="en-US" sz="1500" b="1" dirty="0">
                <a:solidFill>
                  <a:schemeClr val="tx1"/>
                </a:solidFill>
              </a:rPr>
              <a:t>Example: "Find Color" (contest)</a:t>
            </a:r>
            <a:endParaRPr lang="en-US" sz="1500" dirty="0"/>
          </a:p>
          <a:p>
            <a:pPr indent="0" marL="0">
              <a:buNone/>
            </a:pPr>
            <a:r>
              <a:rPr lang="en-US" sz="1500" dirty="0">
                <a:solidFill>
                  <a:schemeClr val="tx1"/>
                </a:solidFill>
              </a:rPr>
              <a:t>passes all 3 examples → submitted</a:t>
            </a:r>
            <a:endParaRPr lang="en-US" sz="1500" dirty="0"/>
          </a:p>
          <a:p>
            <a:pPr indent="0" marL="0">
              <a:buNone/>
            </a:pPr>
            <a:r>
              <a:rPr lang="en-US" sz="1500" b="1" dirty="0">
                <a:solidFill>
                  <a:srgbClr val="C00000"/>
                </a:solidFill>
              </a:rPr>
              <a:t>✗ fails hidden test 11</a:t>
            </a:r>
            <a:endParaRPr lang="en-US" sz="1500" dirty="0"/>
          </a:p>
        </p:txBody>
      </p:sp>
      <p:sp>
        <p:nvSpPr>
          <p:cNvPr id="12" name="perfect check"/>
          <p:cNvSpPr/>
          <p:nvPr/>
        </p:nvSpPr>
        <p:spPr>
          <a:xfrm>
            <a:off x="548640" y="3749040"/>
            <a:ext cx="11064240" cy="1691640"/>
          </a:xfrm>
          <a:prstGeom prst="roundRect">
            <a:avLst>
              <a:gd name="adj" fmla="val 4324"/>
            </a:avLst>
          </a:prstGeom>
          <a:solidFill>
            <a:srgbClr val="F2F2F2"/>
          </a:solidFill>
          <a:ln w="9525">
            <a:solidFill>
              <a:srgbClr val="D9D9D9"/>
            </a:solidFill>
            <a:prstDash val="solid"/>
          </a:ln>
        </p:spPr>
      </p:sp>
      <p:sp>
        <p:nvSpPr>
          <p:cNvPr id="13" name="Text 11"/>
          <p:cNvSpPr txBox="1"/>
          <p:nvPr/>
        </p:nvSpPr>
        <p:spPr>
          <a:xfrm>
            <a:off x="777240" y="3794760"/>
            <a:ext cx="10607040" cy="411480"/>
          </a:xfrm>
          <a:prstGeom prst="rect">
            <a:avLst/>
          </a:prstGeom>
          <a:noFill/>
          <a:ln/>
        </p:spPr>
        <p:txBody>
          <a:bodyPr wrap="square" lIns="0" tIns="0" rIns="0" bIns="0" rtlCol="0" anchor="ctr"/>
          <a:lstStyle/>
          <a:p>
            <a:pPr indent="0" marL="0">
              <a:buNone/>
            </a:pPr>
            <a:r>
              <a:rPr lang="en-US" sz="1600" b="1" dirty="0">
                <a:solidFill>
                  <a:schemeClr val="tx1"/>
                </a:solidFill>
              </a:rPr>
              <a:t>If the check were perfect (word problems, every seed):</a:t>
            </a:r>
            <a:endParaRPr lang="en-US" sz="1600" dirty="0"/>
          </a:p>
        </p:txBody>
      </p:sp>
      <p:sp>
        <p:nvSpPr>
          <p:cNvPr id="14" name="box the leaked problems "/>
          <p:cNvSpPr/>
          <p:nvPr/>
        </p:nvSpPr>
        <p:spPr>
          <a:xfrm>
            <a:off x="777240" y="4297680"/>
            <a:ext cx="2377440" cy="914400"/>
          </a:xfrm>
          <a:prstGeom prst="roundRect">
            <a:avLst>
              <a:gd name="adj" fmla="val 6000"/>
            </a:avLst>
          </a:prstGeom>
          <a:solidFill>
            <a:srgbClr val="FFFFFF"/>
          </a:solidFill>
          <a:ln w="9525">
            <a:solidFill>
              <a:srgbClr val="BFBFBF"/>
            </a:solidFill>
            <a:prstDash val="solid"/>
          </a:ln>
        </p:spPr>
      </p:sp>
      <p:sp>
        <p:nvSpPr>
          <p:cNvPr id="15" name="Text 13"/>
          <p:cNvSpPr txBox="1"/>
          <p:nvPr/>
        </p:nvSpPr>
        <p:spPr>
          <a:xfrm>
            <a:off x="8503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the leaked problems go to thinking</a:t>
            </a:r>
            <a:endParaRPr lang="en-US" sz="1500" dirty="0"/>
          </a:p>
        </p:txBody>
      </p:sp>
      <p:sp>
        <p:nvSpPr>
          <p:cNvPr id="16" name="Shape 14"/>
          <p:cNvSpPr/>
          <p:nvPr/>
        </p:nvSpPr>
        <p:spPr>
          <a:xfrm>
            <a:off x="3154680" y="4754880"/>
            <a:ext cx="365760" cy="0"/>
          </a:xfrm>
          <a:prstGeom prst="line">
            <a:avLst/>
          </a:prstGeom>
          <a:noFill/>
          <a:ln w="25400">
            <a:solidFill>
              <a:srgbClr val="7F7F7F"/>
            </a:solidFill>
            <a:prstDash val="solid"/>
            <a:tailEnd type="triangle"/>
          </a:ln>
        </p:spPr>
      </p:sp>
      <p:sp>
        <p:nvSpPr>
          <p:cNvPr id="17" name="box thinking fixes only "/>
          <p:cNvSpPr/>
          <p:nvPr/>
        </p:nvSpPr>
        <p:spPr>
          <a:xfrm>
            <a:off x="3520440" y="4297680"/>
            <a:ext cx="2377440" cy="914400"/>
          </a:xfrm>
          <a:prstGeom prst="roundRect">
            <a:avLst>
              <a:gd name="adj" fmla="val 6000"/>
            </a:avLst>
          </a:prstGeom>
          <a:solidFill>
            <a:srgbClr val="FFFFFF"/>
          </a:solidFill>
          <a:ln w="9525">
            <a:solidFill>
              <a:srgbClr val="BFBFBF"/>
            </a:solidFill>
            <a:prstDash val="solid"/>
          </a:ln>
        </p:spPr>
      </p:sp>
      <p:sp>
        <p:nvSpPr>
          <p:cNvPr id="18" name="Text 16"/>
          <p:cNvSpPr txBox="1"/>
          <p:nvPr/>
        </p:nvSpPr>
        <p:spPr>
          <a:xfrm>
            <a:off x="35935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thinking fixes only 7–16% of them</a:t>
            </a:r>
            <a:endParaRPr lang="en-US" sz="1500" dirty="0"/>
          </a:p>
        </p:txBody>
      </p:sp>
      <p:sp>
        <p:nvSpPr>
          <p:cNvPr id="19" name="Shape 17"/>
          <p:cNvSpPr/>
          <p:nvPr/>
        </p:nvSpPr>
        <p:spPr>
          <a:xfrm>
            <a:off x="5897880" y="4754880"/>
            <a:ext cx="365760" cy="0"/>
          </a:xfrm>
          <a:prstGeom prst="line">
            <a:avLst/>
          </a:prstGeom>
          <a:noFill/>
          <a:ln w="25400">
            <a:solidFill>
              <a:srgbClr val="7F7F7F"/>
            </a:solidFill>
            <a:prstDash val="solid"/>
            <a:tailEnd type="triangle"/>
          </a:ln>
        </p:spPr>
      </p:sp>
      <p:sp>
        <p:nvSpPr>
          <p:cNvPr id="20" name="box +0.8 to +2.6 points "/>
          <p:cNvSpPr/>
          <p:nvPr/>
        </p:nvSpPr>
        <p:spPr>
          <a:xfrm>
            <a:off x="6263640" y="4297680"/>
            <a:ext cx="2377440" cy="914400"/>
          </a:xfrm>
          <a:prstGeom prst="roundRect">
            <a:avLst>
              <a:gd name="adj" fmla="val 6000"/>
            </a:avLst>
          </a:prstGeom>
          <a:solidFill>
            <a:srgbClr val="DEEBF7"/>
          </a:solidFill>
          <a:ln w="9525">
            <a:solidFill>
              <a:srgbClr val="BFBFBF"/>
            </a:solidFill>
            <a:prstDash val="solid"/>
          </a:ln>
        </p:spPr>
      </p:sp>
      <p:sp>
        <p:nvSpPr>
          <p:cNvPr id="21" name="Text 19"/>
          <p:cNvSpPr txBox="1"/>
          <p:nvPr/>
        </p:nvSpPr>
        <p:spPr>
          <a:xfrm>
            <a:off x="6336792" y="4297680"/>
            <a:ext cx="2231136" cy="914400"/>
          </a:xfrm>
          <a:prstGeom prst="rect">
            <a:avLst/>
          </a:prstGeom>
          <a:noFill/>
          <a:ln/>
        </p:spPr>
        <p:txBody>
          <a:bodyPr wrap="square" lIns="0" tIns="0" rIns="0" bIns="0" rtlCol="0" anchor="ctr"/>
          <a:lstStyle/>
          <a:p>
            <a:pPr algn="ctr" indent="0" marL="0">
              <a:buNone/>
            </a:pPr>
            <a:r>
              <a:rPr lang="en-US" sz="1500" b="1" dirty="0">
                <a:solidFill>
                  <a:srgbClr val="1F3864"/>
                </a:solidFill>
              </a:rPr>
              <a:t>+0.8 to +2.6 points (Qwen3-8B: +5.6)</a:t>
            </a:r>
            <a:endParaRPr lang="en-US" sz="1500" dirty="0"/>
          </a:p>
        </p:txBody>
      </p:sp>
      <p:sp>
        <p:nvSpPr>
          <p:cNvPr id="22" name="Text 20"/>
          <p:cNvSpPr txBox="1"/>
          <p:nvPr/>
        </p:nvSpPr>
        <p:spPr>
          <a:xfrm>
            <a:off x="9006840" y="4297680"/>
            <a:ext cx="2468880" cy="914400"/>
          </a:xfrm>
          <a:prstGeom prst="rect">
            <a:avLst/>
          </a:prstGeom>
          <a:noFill/>
          <a:ln/>
        </p:spPr>
        <p:txBody>
          <a:bodyPr wrap="square" lIns="0" tIns="0" rIns="0" bIns="0" rtlCol="0" anchor="ctr"/>
          <a:lstStyle/>
          <a:p>
            <a:pPr indent="0" marL="0">
              <a:buNone/>
            </a:pPr>
            <a:r>
              <a:rPr lang="en-US" sz="1400" dirty="0">
                <a:solidFill>
                  <a:schemeClr val="tx2"/>
                </a:solidFill>
              </a:rPr>
              <a:t>some 'wrong' answers are wrong labels: nl4opt-174 gold 7500, true 5625 (3 of 4 we read)</a:t>
            </a:r>
            <a:endParaRPr lang="en-US" sz="1400" dirty="0"/>
          </a:p>
        </p:txBody>
      </p:sp>
      <p:sp>
        <p:nvSpPr>
          <p:cNvPr id="23" name="Text 2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Next target: programs that run and agree but model the problem wrong</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there always a free check?</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4572000"/>
                <a:gridCol w="4297680"/>
              </a:tblGrid>
              <a:tr h="585216">
                <a:tc>
                  <a:txBody>
                    <a:bodyPr/>
                    <a:lstStyle/>
                    <a:p>
                      <a:pPr indent="0" marL="0">
                        <a:buNone/>
                      </a:pPr>
                      <a:r>
                        <a:rPr lang="en-US" sz="1500" b="1" dirty="0">
                          <a:solidFill>
                            <a:srgbClr val="FFFFFF"/>
                          </a:solidFill>
                        </a:rPr>
                        <a:t>Problem</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Free check (no answer key)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How well it works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85216">
                <a:tc>
                  <a:txBody>
                    <a:bodyPr/>
                    <a:lstStyle/>
                    <a:p>
                      <a:pPr indent="0" marL="0">
                        <a:buNone/>
                      </a:pPr>
                      <a:r>
                        <a:rPr lang="en-US" sz="1500" dirty="0">
                          <a:solidFill>
                            <a:schemeClr val="tx1"/>
                          </a:solidFill>
                        </a:rPr>
                        <a:t>Contest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the examples printed in the problem; a quick brute-force program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examples never reject a right program, but 24–37% of wrong ones pass; with brute force: 66.3% = always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85216">
                <a:tc>
                  <a:txBody>
                    <a:bodyPr/>
                    <a:lstStyle/>
                    <a:p>
                      <a:pPr indent="0" marL="0">
                        <a:buNone/>
                      </a:pPr>
                      <a:r>
                        <a:rPr lang="en-US" sz="1500" dirty="0">
                          <a:solidFill>
                            <a:schemeClr val="tx1"/>
                          </a:solidFill>
                        </a:rPr>
                        <a:t>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move or turn the input: the answer must not change; or two versions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picks the right program 99.7% of the time (majority vote: 95.7%)</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85216">
                <a:tc>
                  <a:txBody>
                    <a:bodyPr/>
                    <a:lstStyle/>
                    <a:p>
                      <a:pPr indent="0" marL="0">
                        <a:buNone/>
                      </a:pPr>
                      <a:r>
                        <a:rPr lang="en-US" sz="1500" dirty="0">
                          <a:solidFill>
                            <a:schemeClr val="tx1"/>
                          </a:solidFill>
                        </a:rPr>
                        <a:t>Routing, scheduling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 checks every rule of the plan (capacity, time windows)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exact for the rules; whether the plan is the best is not checked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85216">
                <a:tc>
                  <a:txBody>
                    <a:bodyPr/>
                    <a:lstStyle/>
                    <a:p>
                      <a:pPr indent="0" marL="0">
                        <a:buNone/>
                      </a:pPr>
                      <a:r>
                        <a:rPr lang="en-US" sz="1500" dirty="0">
                          <a:solidFill>
                            <a:schemeClr val="tx1"/>
                          </a:solidFill>
                        </a:rPr>
                        <a:t>Word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two programs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12–16% agree but are both wrong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85216">
                <a:tc>
                  <a:txBody>
                    <a:bodyPr/>
                    <a:lstStyle/>
                    <a:p>
                      <a:pPr indent="0" marL="0">
                        <a:buNone/>
                      </a:pPr>
                      <a:r>
                        <a:rPr lang="en-US" sz="1500" dirty="0">
                          <a:solidFill>
                            <a:schemeClr val="tx1"/>
                          </a:solidFill>
                        </a:rPr>
                        <a:t>Competition math</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the text answer and the program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when they agree, 0.3% are wrong (gpt-oss-20b)</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85216">
                <a:tc>
                  <a:txBody>
                    <a:bodyPr/>
                    <a:lstStyle/>
                    <a:p>
                      <a:pPr indent="0" marL="0">
                        <a:buNone/>
                      </a:pPr>
                      <a:r>
                        <a:rPr lang="en-US" sz="1500" dirty="0">
                          <a:solidFill>
                            <a:schemeClr val="tx1"/>
                          </a:solidFill>
                        </a:rPr>
                        <a:t>Proofs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Lean checks every step</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 perfect check; writing the proof is the hard part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task here has a free check; how much it catches decides how much thinking it saves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'think on the hardest' a weak baseline?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We gave the router each problem's true Codeforces rating (exploratory; 311 contest problems, gpt-oss-120b, 3 seeds)</a:t>
            </a:r>
            <a:endParaRPr lang="en-US" sz="1700" dirty="0"/>
          </a:p>
        </p:txBody>
      </p:sp>
      <p:sp>
        <p:nvSpPr>
          <p:cNvPr id="4" name="Text 2"/>
          <p:cNvSpPr txBox="1"/>
          <p:nvPr/>
        </p:nvSpPr>
        <p:spPr>
          <a:xfrm>
            <a:off x="548640" y="1737360"/>
            <a:ext cx="7132320" cy="365760"/>
          </a:xfrm>
          <a:prstGeom prst="rect">
            <a:avLst/>
          </a:prstGeom>
          <a:noFill/>
          <a:ln/>
        </p:spPr>
        <p:txBody>
          <a:bodyPr wrap="square" lIns="0" tIns="0" rIns="0" bIns="0" rtlCol="0" anchor="ctr"/>
          <a:lstStyle/>
          <a:p>
            <a:pPr indent="0" marL="0">
              <a:buNone/>
            </a:pPr>
            <a:r>
              <a:rPr lang="en-US" sz="1600" b="1" dirty="0">
                <a:solidFill>
                  <a:schemeClr val="tx1"/>
                </a:solidFill>
              </a:rPr>
              <a:t>Send a problem to high effort when ...</a:t>
            </a:r>
            <a:endParaRPr lang="en-US" sz="1600" dirty="0"/>
          </a:p>
        </p:txBody>
      </p:sp>
      <p:sp>
        <p:nvSpPr>
          <p:cNvPr id="5" name="Text 3"/>
          <p:cNvSpPr txBox="1"/>
          <p:nvPr/>
        </p:nvSpPr>
        <p:spPr>
          <a:xfrm>
            <a:off x="356616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6" name="Text 4"/>
          <p:cNvSpPr txBox="1"/>
          <p:nvPr/>
        </p:nvSpPr>
        <p:spPr>
          <a:xfrm>
            <a:off x="4480560" y="2103120"/>
            <a:ext cx="32004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7" name="Text 5"/>
          <p:cNvSpPr txBox="1"/>
          <p:nvPr/>
        </p:nvSpPr>
        <p:spPr>
          <a:xfrm>
            <a:off x="548640" y="246888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2600</a:t>
            </a:r>
            <a:endParaRPr lang="en-US" sz="1500" dirty="0"/>
          </a:p>
        </p:txBody>
      </p:sp>
      <p:sp>
        <p:nvSpPr>
          <p:cNvPr id="8" name="Text 6"/>
          <p:cNvSpPr txBox="1"/>
          <p:nvPr/>
        </p:nvSpPr>
        <p:spPr>
          <a:xfrm>
            <a:off x="356616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61.4%</a:t>
            </a:r>
            <a:endParaRPr lang="en-US" sz="1700" dirty="0"/>
          </a:p>
        </p:txBody>
      </p:sp>
      <p:sp>
        <p:nvSpPr>
          <p:cNvPr id="9" name="tokens true rating ≥ 2600"/>
          <p:cNvSpPr/>
          <p:nvPr/>
        </p:nvSpPr>
        <p:spPr>
          <a:xfrm>
            <a:off x="4480560" y="2569464"/>
            <a:ext cx="1591238" cy="256032"/>
          </a:xfrm>
          <a:prstGeom prst="rect">
            <a:avLst/>
          </a:prstGeom>
          <a:solidFill>
            <a:srgbClr val="7F7F7F"/>
          </a:solidFill>
          <a:ln w="6350">
            <a:solidFill>
              <a:srgbClr val="7F7F7F"/>
            </a:solidFill>
            <a:prstDash val="solid"/>
          </a:ln>
        </p:spPr>
      </p:sp>
      <p:sp>
        <p:nvSpPr>
          <p:cNvPr id="10" name="Text 8"/>
          <p:cNvSpPr txBox="1"/>
          <p:nvPr/>
        </p:nvSpPr>
        <p:spPr>
          <a:xfrm>
            <a:off x="6163238"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19.4k</a:t>
            </a:r>
            <a:endParaRPr lang="en-US" sz="1500" dirty="0"/>
          </a:p>
        </p:txBody>
      </p:sp>
      <p:sp>
        <p:nvSpPr>
          <p:cNvPr id="11" name="Text 9"/>
          <p:cNvSpPr txBox="1"/>
          <p:nvPr/>
        </p:nvSpPr>
        <p:spPr>
          <a:xfrm>
            <a:off x="548640" y="2999232"/>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2400</a:t>
            </a:r>
            <a:endParaRPr lang="en-US" sz="1500" dirty="0"/>
          </a:p>
        </p:txBody>
      </p:sp>
      <p:sp>
        <p:nvSpPr>
          <p:cNvPr id="12" name="Text 10"/>
          <p:cNvSpPr txBox="1"/>
          <p:nvPr/>
        </p:nvSpPr>
        <p:spPr>
          <a:xfrm>
            <a:off x="3566160" y="299923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63.3%</a:t>
            </a:r>
            <a:endParaRPr lang="en-US" sz="1700" dirty="0"/>
          </a:p>
        </p:txBody>
      </p:sp>
      <p:sp>
        <p:nvSpPr>
          <p:cNvPr id="13" name="tokens true rating ≥ 2400"/>
          <p:cNvSpPr/>
          <p:nvPr/>
        </p:nvSpPr>
        <p:spPr>
          <a:xfrm>
            <a:off x="4480560" y="3099816"/>
            <a:ext cx="1861913" cy="256032"/>
          </a:xfrm>
          <a:prstGeom prst="rect">
            <a:avLst/>
          </a:prstGeom>
          <a:solidFill>
            <a:srgbClr val="7F7F7F"/>
          </a:solidFill>
          <a:ln w="6350">
            <a:solidFill>
              <a:srgbClr val="7F7F7F"/>
            </a:solidFill>
            <a:prstDash val="solid"/>
          </a:ln>
        </p:spPr>
      </p:sp>
      <p:sp>
        <p:nvSpPr>
          <p:cNvPr id="14" name="Text 12"/>
          <p:cNvSpPr txBox="1"/>
          <p:nvPr/>
        </p:nvSpPr>
        <p:spPr>
          <a:xfrm>
            <a:off x="6433913" y="299923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22.7k</a:t>
            </a:r>
            <a:endParaRPr lang="en-US" sz="1500" dirty="0"/>
          </a:p>
        </p:txBody>
      </p:sp>
      <p:sp>
        <p:nvSpPr>
          <p:cNvPr id="15" name="Text 13"/>
          <p:cNvSpPr txBox="1"/>
          <p:nvPr/>
        </p:nvSpPr>
        <p:spPr>
          <a:xfrm>
            <a:off x="548640" y="3529584"/>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1800</a:t>
            </a:r>
            <a:endParaRPr lang="en-US" sz="1500" dirty="0"/>
          </a:p>
        </p:txBody>
      </p:sp>
      <p:sp>
        <p:nvSpPr>
          <p:cNvPr id="16" name="Text 14"/>
          <p:cNvSpPr txBox="1"/>
          <p:nvPr/>
        </p:nvSpPr>
        <p:spPr>
          <a:xfrm>
            <a:off x="3566160" y="3529584"/>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65.3%</a:t>
            </a:r>
            <a:endParaRPr lang="en-US" sz="1700" dirty="0"/>
          </a:p>
        </p:txBody>
      </p:sp>
      <p:sp>
        <p:nvSpPr>
          <p:cNvPr id="17" name="tokens true rating ≥ 1800"/>
          <p:cNvSpPr/>
          <p:nvPr/>
        </p:nvSpPr>
        <p:spPr>
          <a:xfrm>
            <a:off x="4480560" y="3630168"/>
            <a:ext cx="2280228" cy="256032"/>
          </a:xfrm>
          <a:prstGeom prst="rect">
            <a:avLst/>
          </a:prstGeom>
          <a:solidFill>
            <a:srgbClr val="7F7F7F"/>
          </a:solidFill>
          <a:ln w="6350">
            <a:solidFill>
              <a:srgbClr val="7F7F7F"/>
            </a:solidFill>
            <a:prstDash val="solid"/>
          </a:ln>
        </p:spPr>
      </p:sp>
      <p:sp>
        <p:nvSpPr>
          <p:cNvPr id="18" name="Text 16"/>
          <p:cNvSpPr txBox="1"/>
          <p:nvPr/>
        </p:nvSpPr>
        <p:spPr>
          <a:xfrm>
            <a:off x="6852228" y="3529584"/>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27.8k</a:t>
            </a:r>
            <a:endParaRPr lang="en-US" sz="1500" dirty="0"/>
          </a:p>
        </p:txBody>
      </p:sp>
      <p:sp>
        <p:nvSpPr>
          <p:cNvPr id="19" name="Text 17"/>
          <p:cNvSpPr txBox="1"/>
          <p:nvPr/>
        </p:nvSpPr>
        <p:spPr>
          <a:xfrm>
            <a:off x="548640" y="4059936"/>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its first answer is long</a:t>
            </a:r>
            <a:endParaRPr lang="en-US" sz="1500" dirty="0"/>
          </a:p>
        </p:txBody>
      </p:sp>
      <p:sp>
        <p:nvSpPr>
          <p:cNvPr id="20" name="Text 18"/>
          <p:cNvSpPr txBox="1"/>
          <p:nvPr/>
        </p:nvSpPr>
        <p:spPr>
          <a:xfrm>
            <a:off x="3566160" y="4059936"/>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62.1%</a:t>
            </a:r>
            <a:endParaRPr lang="en-US" sz="1700" dirty="0"/>
          </a:p>
        </p:txBody>
      </p:sp>
      <p:sp>
        <p:nvSpPr>
          <p:cNvPr id="21" name="tokens its first answer is long"/>
          <p:cNvSpPr/>
          <p:nvPr/>
        </p:nvSpPr>
        <p:spPr>
          <a:xfrm>
            <a:off x="4480560" y="4160520"/>
            <a:ext cx="1886520" cy="256032"/>
          </a:xfrm>
          <a:prstGeom prst="rect">
            <a:avLst/>
          </a:prstGeom>
          <a:solidFill>
            <a:srgbClr val="7F7F7F"/>
          </a:solidFill>
          <a:ln w="6350">
            <a:solidFill>
              <a:srgbClr val="7F7F7F"/>
            </a:solidFill>
            <a:prstDash val="solid"/>
          </a:ln>
        </p:spPr>
      </p:sp>
      <p:sp>
        <p:nvSpPr>
          <p:cNvPr id="22" name="Text 20"/>
          <p:cNvSpPr txBox="1"/>
          <p:nvPr/>
        </p:nvSpPr>
        <p:spPr>
          <a:xfrm>
            <a:off x="6458520" y="4059936"/>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23.0k</a:t>
            </a:r>
            <a:endParaRPr lang="en-US" sz="1500" dirty="0"/>
          </a:p>
        </p:txBody>
      </p:sp>
      <p:sp>
        <p:nvSpPr>
          <p:cNvPr id="23" name="Text 21"/>
          <p:cNvSpPr txBox="1"/>
          <p:nvPr/>
        </p:nvSpPr>
        <p:spPr>
          <a:xfrm>
            <a:off x="548640" y="4590288"/>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always</a:t>
            </a:r>
            <a:endParaRPr lang="en-US" sz="1500" dirty="0"/>
          </a:p>
        </p:txBody>
      </p:sp>
      <p:sp>
        <p:nvSpPr>
          <p:cNvPr id="24" name="Text 22"/>
          <p:cNvSpPr txBox="1"/>
          <p:nvPr/>
        </p:nvSpPr>
        <p:spPr>
          <a:xfrm>
            <a:off x="3566160" y="459028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5" name="tokens always"/>
          <p:cNvSpPr/>
          <p:nvPr/>
        </p:nvSpPr>
        <p:spPr>
          <a:xfrm>
            <a:off x="4480560" y="4690872"/>
            <a:ext cx="2468880" cy="256032"/>
          </a:xfrm>
          <a:prstGeom prst="rect">
            <a:avLst/>
          </a:prstGeom>
          <a:solidFill>
            <a:srgbClr val="7F7F7F"/>
          </a:solidFill>
          <a:ln w="6350">
            <a:solidFill>
              <a:srgbClr val="7F7F7F"/>
            </a:solidFill>
            <a:prstDash val="solid"/>
          </a:ln>
        </p:spPr>
      </p:sp>
      <p:sp>
        <p:nvSpPr>
          <p:cNvPr id="26" name="Text 24"/>
          <p:cNvSpPr txBox="1"/>
          <p:nvPr/>
        </p:nvSpPr>
        <p:spPr>
          <a:xfrm>
            <a:off x="7040880" y="459028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30.1k</a:t>
            </a:r>
            <a:endParaRPr lang="en-US" sz="1500" dirty="0"/>
          </a:p>
        </p:txBody>
      </p:sp>
      <p:sp>
        <p:nvSpPr>
          <p:cNvPr id="27" name="Text 25"/>
          <p:cNvSpPr txBox="1"/>
          <p:nvPr/>
        </p:nvSpPr>
        <p:spPr>
          <a:xfrm>
            <a:off x="548640" y="512064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an example fails (free check)</a:t>
            </a:r>
            <a:endParaRPr lang="en-US" sz="1500" dirty="0"/>
          </a:p>
        </p:txBody>
      </p:sp>
      <p:sp>
        <p:nvSpPr>
          <p:cNvPr id="28" name="Text 26"/>
          <p:cNvSpPr txBox="1"/>
          <p:nvPr/>
        </p:nvSpPr>
        <p:spPr>
          <a:xfrm>
            <a:off x="3566160" y="5120640"/>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65.0%</a:t>
            </a:r>
            <a:endParaRPr lang="en-US" sz="1700" dirty="0"/>
          </a:p>
        </p:txBody>
      </p:sp>
      <p:sp>
        <p:nvSpPr>
          <p:cNvPr id="29" name="tokens an example fails (free check)"/>
          <p:cNvSpPr/>
          <p:nvPr/>
        </p:nvSpPr>
        <p:spPr>
          <a:xfrm>
            <a:off x="4480560" y="5221224"/>
            <a:ext cx="1656856" cy="256032"/>
          </a:xfrm>
          <a:prstGeom prst="rect">
            <a:avLst/>
          </a:prstGeom>
          <a:solidFill>
            <a:srgbClr val="4472C4"/>
          </a:solidFill>
          <a:ln w="6350">
            <a:solidFill>
              <a:srgbClr val="4472C4"/>
            </a:solidFill>
            <a:prstDash val="solid"/>
          </a:ln>
        </p:spPr>
      </p:sp>
      <p:sp>
        <p:nvSpPr>
          <p:cNvPr id="30" name="Text 28"/>
          <p:cNvSpPr txBox="1"/>
          <p:nvPr/>
        </p:nvSpPr>
        <p:spPr>
          <a:xfrm>
            <a:off x="6228856" y="5120640"/>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20.2k</a:t>
            </a:r>
            <a:endParaRPr lang="en-US" sz="1500" dirty="0"/>
          </a:p>
        </p:txBody>
      </p:sp>
      <p:sp>
        <p:nvSpPr>
          <p:cNvPr id="31" name="Text 29"/>
          <p:cNvSpPr txBox="1"/>
          <p:nvPr/>
        </p:nvSpPr>
        <p:spPr>
          <a:xfrm>
            <a:off x="8046720" y="178308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74% → 87%</a:t>
            </a:r>
            <a:endParaRPr lang="en-US" sz="3200" dirty="0"/>
          </a:p>
        </p:txBody>
      </p:sp>
      <p:sp>
        <p:nvSpPr>
          <p:cNvPr id="32" name="Text 30"/>
          <p:cNvSpPr txBox="1"/>
          <p:nvPr/>
        </p:nvSpPr>
        <p:spPr>
          <a:xfrm>
            <a:off x="8046720" y="2423160"/>
            <a:ext cx="3566160" cy="822960"/>
          </a:xfrm>
          <a:prstGeom prst="rect">
            <a:avLst/>
          </a:prstGeom>
          <a:noFill/>
          <a:ln/>
        </p:spPr>
        <p:txBody>
          <a:bodyPr wrap="square" lIns="0" tIns="0" rIns="0" bIns="0" rtlCol="0" anchor="t"/>
          <a:lstStyle/>
          <a:p>
            <a:pPr indent="0" marL="0">
              <a:buNone/>
            </a:pPr>
            <a:r>
              <a:rPr lang="en-US" sz="1500" dirty="0">
                <a:solidFill>
                  <a:schemeClr val="tx1"/>
                </a:solidFill>
              </a:rPr>
              <a:t>208 geometry and optimization problems × 3 models: think on the hardest-looking (Snell et al.) → fact first, think on failure</a:t>
            </a:r>
            <a:endParaRPr lang="en-US" sz="1500" dirty="0"/>
          </a:p>
        </p:txBody>
      </p:sp>
      <p:sp>
        <p:nvSpPr>
          <p:cNvPr id="33" name="Text 31"/>
          <p:cNvSpPr txBox="1"/>
          <p:nvPr/>
        </p:nvSpPr>
        <p:spPr>
          <a:xfrm>
            <a:off x="8046720" y="342900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79%</a:t>
            </a:r>
            <a:endParaRPr lang="en-US" sz="3200" dirty="0"/>
          </a:p>
        </p:txBody>
      </p:sp>
      <p:sp>
        <p:nvSpPr>
          <p:cNvPr id="34" name="Text 32"/>
          <p:cNvSpPr txBox="1"/>
          <p:nvPr/>
        </p:nvSpPr>
        <p:spPr>
          <a:xfrm>
            <a:off x="8046720" y="4069080"/>
            <a:ext cx="3566160" cy="822960"/>
          </a:xfrm>
          <a:prstGeom prst="rect">
            <a:avLst/>
          </a:prstGeom>
          <a:noFill/>
          <a:ln/>
        </p:spPr>
        <p:txBody>
          <a:bodyPr wrap="square" lIns="0" tIns="0" rIns="0" bIns="0" rtlCol="0" anchor="t"/>
          <a:lstStyle/>
          <a:p>
            <a:pPr indent="0" marL="0">
              <a:buNone/>
            </a:pPr>
            <a:r>
              <a:rPr lang="en-US" sz="1500" dirty="0">
                <a:solidFill>
                  <a:schemeClr val="tx1"/>
                </a:solidFill>
              </a:rPr>
              <a:t>even with the best fix chosen per difficulty level</a:t>
            </a:r>
            <a:endParaRPr lang="en-US" sz="1500" dirty="0"/>
          </a:p>
        </p:txBody>
      </p:sp>
      <p:sp>
        <p:nvSpPr>
          <p:cNvPr id="35" name="Text 3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Even the true difficulty does not say which program is wrong; a free check does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this work sits in related research</a:t>
            </a:r>
            <a:endParaRPr lang="en-US" sz="36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numbers reported in papers, next to ours</a:t>
            </a:r>
            <a:endParaRPr lang="en-US" sz="36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not majority voting?</a:t>
            </a:r>
            <a:endParaRPr lang="en-US" sz="3600" dirty="0"/>
          </a:p>
        </p:txBody>
      </p:sp>
      <p:sp>
        <p:nvSpPr>
          <p:cNvPr id="3" name="pick one of three"/>
          <p:cNvSpPr/>
          <p:nvPr/>
        </p:nvSpPr>
        <p:spPr>
          <a:xfrm>
            <a:off x="548640" y="123444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25880"/>
            <a:ext cx="5029200" cy="640080"/>
          </a:xfrm>
          <a:prstGeom prst="rect">
            <a:avLst/>
          </a:prstGeom>
          <a:noFill/>
          <a:ln/>
        </p:spPr>
        <p:txBody>
          <a:bodyPr wrap="square" lIns="0" tIns="0" rIns="0" bIns="0" rtlCol="0" anchor="t"/>
          <a:lstStyle/>
          <a:p>
            <a:pPr indent="0" marL="0">
              <a:buNone/>
            </a:pPr>
            <a:r>
              <a:rPr lang="en-US" sz="1600" b="1" dirty="0">
                <a:solidFill>
                  <a:schemeClr val="tx1"/>
                </a:solidFill>
              </a:rPr>
              <a:t>Pick 1 of 3 programs (Qwen3-8B, 300 geometry problems): % picked wrong</a:t>
            </a:r>
            <a:endParaRPr lang="en-US" sz="1600" dirty="0"/>
          </a:p>
        </p:txBody>
      </p:sp>
      <p:sp>
        <p:nvSpPr>
          <p:cNvPr id="5" name="Text 3"/>
          <p:cNvSpPr txBox="1"/>
          <p:nvPr/>
        </p:nvSpPr>
        <p:spPr>
          <a:xfrm>
            <a:off x="777240" y="205740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majority vote</a:t>
            </a:r>
            <a:endParaRPr lang="en-US" sz="1600" dirty="0"/>
          </a:p>
        </p:txBody>
      </p:sp>
      <p:sp>
        <p:nvSpPr>
          <p:cNvPr id="6" name="bar majority vote"/>
          <p:cNvSpPr/>
          <p:nvPr/>
        </p:nvSpPr>
        <p:spPr>
          <a:xfrm>
            <a:off x="2926080" y="2132838"/>
            <a:ext cx="865022" cy="251460"/>
          </a:xfrm>
          <a:prstGeom prst="rect">
            <a:avLst/>
          </a:prstGeom>
          <a:solidFill>
            <a:srgbClr val="7F7F7F"/>
          </a:solidFill>
          <a:ln w="6350">
            <a:solidFill>
              <a:srgbClr val="7F7F7F"/>
            </a:solidFill>
            <a:prstDash val="solid"/>
          </a:ln>
        </p:spPr>
      </p:sp>
      <p:sp>
        <p:nvSpPr>
          <p:cNvPr id="7" name="Text 5"/>
          <p:cNvSpPr txBox="1"/>
          <p:nvPr/>
        </p:nvSpPr>
        <p:spPr>
          <a:xfrm>
            <a:off x="3882542" y="205740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4.3%</a:t>
            </a:r>
            <a:endParaRPr lang="en-US" sz="1800" dirty="0"/>
          </a:p>
        </p:txBody>
      </p:sp>
      <p:sp>
        <p:nvSpPr>
          <p:cNvPr id="8" name="Text 6"/>
          <p:cNvSpPr txBox="1"/>
          <p:nvPr/>
        </p:nvSpPr>
        <p:spPr>
          <a:xfrm>
            <a:off x="777240" y="256032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CodeT (+340 tokens)</a:t>
            </a:r>
            <a:endParaRPr lang="en-US" sz="1600" dirty="0"/>
          </a:p>
        </p:txBody>
      </p:sp>
      <p:sp>
        <p:nvSpPr>
          <p:cNvPr id="9" name="bar CodeT (+340 tokens)"/>
          <p:cNvSpPr/>
          <p:nvPr/>
        </p:nvSpPr>
        <p:spPr>
          <a:xfrm>
            <a:off x="2926080" y="2635758"/>
            <a:ext cx="804672" cy="251460"/>
          </a:xfrm>
          <a:prstGeom prst="rect">
            <a:avLst/>
          </a:prstGeom>
          <a:solidFill>
            <a:srgbClr val="7F7F7F"/>
          </a:solidFill>
          <a:ln w="6350">
            <a:solidFill>
              <a:srgbClr val="7F7F7F"/>
            </a:solidFill>
            <a:prstDash val="solid"/>
          </a:ln>
        </p:spPr>
      </p:sp>
      <p:sp>
        <p:nvSpPr>
          <p:cNvPr id="10" name="Text 8"/>
          <p:cNvSpPr txBox="1"/>
          <p:nvPr/>
        </p:nvSpPr>
        <p:spPr>
          <a:xfrm>
            <a:off x="3822192" y="256032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4.0%</a:t>
            </a:r>
            <a:endParaRPr lang="en-US" sz="1800" dirty="0"/>
          </a:p>
        </p:txBody>
      </p:sp>
      <p:sp>
        <p:nvSpPr>
          <p:cNvPr id="11" name="Text 9"/>
          <p:cNvSpPr txBox="1"/>
          <p:nvPr/>
        </p:nvSpPr>
        <p:spPr>
          <a:xfrm>
            <a:off x="777240" y="306324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DeepConf</a:t>
            </a:r>
            <a:endParaRPr lang="en-US" sz="1600" dirty="0"/>
          </a:p>
        </p:txBody>
      </p:sp>
      <p:sp>
        <p:nvSpPr>
          <p:cNvPr id="12" name="bar DeepConf"/>
          <p:cNvSpPr/>
          <p:nvPr/>
        </p:nvSpPr>
        <p:spPr>
          <a:xfrm>
            <a:off x="2926080" y="3138678"/>
            <a:ext cx="1066190" cy="251460"/>
          </a:xfrm>
          <a:prstGeom prst="rect">
            <a:avLst/>
          </a:prstGeom>
          <a:solidFill>
            <a:srgbClr val="7F7F7F"/>
          </a:solidFill>
          <a:ln w="6350">
            <a:solidFill>
              <a:srgbClr val="7F7F7F"/>
            </a:solidFill>
            <a:prstDash val="solid"/>
          </a:ln>
        </p:spPr>
      </p:sp>
      <p:sp>
        <p:nvSpPr>
          <p:cNvPr id="13" name="Text 11"/>
          <p:cNvSpPr txBox="1"/>
          <p:nvPr/>
        </p:nvSpPr>
        <p:spPr>
          <a:xfrm>
            <a:off x="4083710" y="306324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14" name="Text 12"/>
          <p:cNvSpPr txBox="1"/>
          <p:nvPr/>
        </p:nvSpPr>
        <p:spPr>
          <a:xfrm>
            <a:off x="777240" y="356616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MBR-exec</a:t>
            </a:r>
            <a:endParaRPr lang="en-US" sz="1600" dirty="0"/>
          </a:p>
        </p:txBody>
      </p:sp>
      <p:sp>
        <p:nvSpPr>
          <p:cNvPr id="15" name="bar MBR-exec"/>
          <p:cNvSpPr/>
          <p:nvPr/>
        </p:nvSpPr>
        <p:spPr>
          <a:xfrm>
            <a:off x="2926080" y="3641598"/>
            <a:ext cx="1267358" cy="251460"/>
          </a:xfrm>
          <a:prstGeom prst="rect">
            <a:avLst/>
          </a:prstGeom>
          <a:solidFill>
            <a:srgbClr val="7F7F7F"/>
          </a:solidFill>
          <a:ln w="6350">
            <a:solidFill>
              <a:srgbClr val="7F7F7F"/>
            </a:solidFill>
            <a:prstDash val="solid"/>
          </a:ln>
        </p:spPr>
      </p:sp>
      <p:sp>
        <p:nvSpPr>
          <p:cNvPr id="16" name="Text 14"/>
          <p:cNvSpPr txBox="1"/>
          <p:nvPr/>
        </p:nvSpPr>
        <p:spPr>
          <a:xfrm>
            <a:off x="4284878" y="356616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6.3%</a:t>
            </a:r>
            <a:endParaRPr lang="en-US" sz="1800" dirty="0"/>
          </a:p>
        </p:txBody>
      </p:sp>
      <p:sp>
        <p:nvSpPr>
          <p:cNvPr id="17" name="Text 15"/>
          <p:cNvSpPr txBox="1"/>
          <p:nvPr/>
        </p:nvSpPr>
        <p:spPr>
          <a:xfrm>
            <a:off x="777240" y="406908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symmetry check</a:t>
            </a:r>
            <a:endParaRPr lang="en-US" sz="1600" dirty="0"/>
          </a:p>
        </p:txBody>
      </p:sp>
      <p:sp>
        <p:nvSpPr>
          <p:cNvPr id="18" name="bar symmetry check"/>
          <p:cNvSpPr/>
          <p:nvPr/>
        </p:nvSpPr>
        <p:spPr>
          <a:xfrm>
            <a:off x="2926080" y="4144518"/>
            <a:ext cx="60350" cy="251460"/>
          </a:xfrm>
          <a:prstGeom prst="rect">
            <a:avLst/>
          </a:prstGeom>
          <a:solidFill>
            <a:srgbClr val="4472C4"/>
          </a:solidFill>
          <a:ln w="6350">
            <a:solidFill>
              <a:srgbClr val="4472C4"/>
            </a:solidFill>
            <a:prstDash val="solid"/>
          </a:ln>
        </p:spPr>
      </p:sp>
      <p:sp>
        <p:nvSpPr>
          <p:cNvPr id="19" name="Text 17"/>
          <p:cNvSpPr txBox="1"/>
          <p:nvPr/>
        </p:nvSpPr>
        <p:spPr>
          <a:xfrm>
            <a:off x="3077870" y="4069080"/>
            <a:ext cx="822960" cy="402336"/>
          </a:xfrm>
          <a:prstGeom prst="rect">
            <a:avLst/>
          </a:prstGeom>
          <a:noFill/>
          <a:ln/>
        </p:spPr>
        <p:txBody>
          <a:bodyPr wrap="square" lIns="0" tIns="0" rIns="0" bIns="0" rtlCol="0" anchor="ctr"/>
          <a:lstStyle/>
          <a:p>
            <a:pPr indent="0" marL="0">
              <a:buNone/>
            </a:pPr>
            <a:r>
              <a:rPr lang="en-US" sz="1800" b="1" dirty="0">
                <a:solidFill>
                  <a:srgbClr val="4472C4"/>
                </a:solidFill>
              </a:rPr>
              <a:t>0.3%</a:t>
            </a:r>
            <a:endParaRPr lang="en-US" sz="1800" dirty="0"/>
          </a:p>
        </p:txBody>
      </p:sp>
      <p:sp>
        <p:nvSpPr>
          <p:cNvPr id="20" name="Text 18"/>
          <p:cNvSpPr txBox="1"/>
          <p:nvPr/>
        </p:nvSpPr>
        <p:spPr>
          <a:xfrm>
            <a:off x="777240" y="4663440"/>
            <a:ext cx="5029200" cy="731520"/>
          </a:xfrm>
          <a:prstGeom prst="rect">
            <a:avLst/>
          </a:prstGeom>
          <a:noFill/>
          <a:ln/>
        </p:spPr>
        <p:txBody>
          <a:bodyPr wrap="square" lIns="0" tIns="0" rIns="0" bIns="0" rtlCol="0" anchor="t"/>
          <a:lstStyle/>
          <a:p>
            <a:pPr indent="0" marL="0">
              <a:buNone/>
            </a:pPr>
            <a:r>
              <a:rPr lang="en-US" sz="1400" dirty="0">
                <a:solidFill>
                  <a:schemeClr val="tx2"/>
                </a:solidFill>
              </a:rPr>
              <a:t>symmetry check: run the program on a moved copy; a right program gives the same answer (no extra tokens)</a:t>
            </a:r>
            <a:endParaRPr lang="en-US" sz="1400" dirty="0"/>
          </a:p>
        </p:txBody>
      </p:sp>
      <p:sp>
        <p:nvSpPr>
          <p:cNvPr id="21" name="votes vs checks"/>
          <p:cNvSpPr/>
          <p:nvPr/>
        </p:nvSpPr>
        <p:spPr>
          <a:xfrm>
            <a:off x="6172200" y="1234440"/>
            <a:ext cx="5440680" cy="4251960"/>
          </a:xfrm>
          <a:prstGeom prst="roundRect">
            <a:avLst>
              <a:gd name="adj" fmla="val 1720"/>
            </a:avLst>
          </a:prstGeom>
          <a:solidFill>
            <a:srgbClr val="F2F2F2"/>
          </a:solidFill>
          <a:ln w="9525">
            <a:solidFill>
              <a:srgbClr val="D9D9D9"/>
            </a:solidFill>
            <a:prstDash val="solid"/>
          </a:ln>
        </p:spPr>
      </p:sp>
      <p:sp>
        <p:nvSpPr>
          <p:cNvPr id="22" name="Text 20"/>
          <p:cNvSpPr txBox="1"/>
          <p:nvPr/>
        </p:nvSpPr>
        <p:spPr>
          <a:xfrm>
            <a:off x="6400800" y="1325880"/>
            <a:ext cx="4983480" cy="365760"/>
          </a:xfrm>
          <a:prstGeom prst="rect">
            <a:avLst/>
          </a:prstGeom>
          <a:noFill/>
          <a:ln/>
        </p:spPr>
        <p:txBody>
          <a:bodyPr wrap="square" lIns="0" tIns="0" rIns="0" bIns="0" rtlCol="0" anchor="ctr"/>
          <a:lstStyle/>
          <a:p>
            <a:pPr indent="0" marL="0">
              <a:buNone/>
            </a:pPr>
            <a:r>
              <a:rPr lang="en-US" sz="1600" b="1" dirty="0">
                <a:solidFill>
                  <a:schemeClr val="tx1"/>
                </a:solidFill>
              </a:rPr>
              <a:t>Qwen3-32B, word problems</a:t>
            </a:r>
            <a:endParaRPr lang="en-US" sz="1600" dirty="0"/>
          </a:p>
        </p:txBody>
      </p:sp>
      <p:sp>
        <p:nvSpPr>
          <p:cNvPr id="23" name="Text 21"/>
          <p:cNvSpPr txBox="1"/>
          <p:nvPr/>
        </p:nvSpPr>
        <p:spPr>
          <a:xfrm>
            <a:off x="8686800" y="16916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4" name="Text 22"/>
          <p:cNvSpPr txBox="1"/>
          <p:nvPr/>
        </p:nvSpPr>
        <p:spPr>
          <a:xfrm>
            <a:off x="9601200" y="169164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5" name="Text 23"/>
          <p:cNvSpPr txBox="1"/>
          <p:nvPr/>
        </p:nvSpPr>
        <p:spPr>
          <a:xfrm>
            <a:off x="6400800" y="205740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programs</a:t>
            </a:r>
            <a:endParaRPr lang="en-US" sz="1500" dirty="0"/>
          </a:p>
        </p:txBody>
      </p:sp>
      <p:sp>
        <p:nvSpPr>
          <p:cNvPr id="26" name="Text 24"/>
          <p:cNvSpPr txBox="1"/>
          <p:nvPr/>
        </p:nvSpPr>
        <p:spPr>
          <a:xfrm>
            <a:off x="8686800" y="20574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68.4%</a:t>
            </a:r>
            <a:endParaRPr lang="en-US" sz="1700" dirty="0"/>
          </a:p>
        </p:txBody>
      </p:sp>
      <p:sp>
        <p:nvSpPr>
          <p:cNvPr id="27" name="tokens vote of 3 programs"/>
          <p:cNvSpPr/>
          <p:nvPr/>
        </p:nvSpPr>
        <p:spPr>
          <a:xfrm>
            <a:off x="9601200" y="2157984"/>
            <a:ext cx="70531" cy="256032"/>
          </a:xfrm>
          <a:prstGeom prst="rect">
            <a:avLst/>
          </a:prstGeom>
          <a:solidFill>
            <a:srgbClr val="7F7F7F"/>
          </a:solidFill>
          <a:ln w="6350">
            <a:solidFill>
              <a:srgbClr val="7F7F7F"/>
            </a:solidFill>
            <a:prstDash val="solid"/>
          </a:ln>
        </p:spPr>
      </p:sp>
      <p:sp>
        <p:nvSpPr>
          <p:cNvPr id="28" name="Text 26"/>
          <p:cNvSpPr txBox="1"/>
          <p:nvPr/>
        </p:nvSpPr>
        <p:spPr>
          <a:xfrm>
            <a:off x="9763171" y="20574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1.1k</a:t>
            </a:r>
            <a:endParaRPr lang="en-US" sz="1500" dirty="0"/>
          </a:p>
        </p:txBody>
      </p:sp>
      <p:sp>
        <p:nvSpPr>
          <p:cNvPr id="29" name="Text 27"/>
          <p:cNvSpPr txBox="1"/>
          <p:nvPr/>
        </p:nvSpPr>
        <p:spPr>
          <a:xfrm>
            <a:off x="6400800" y="258775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thinking runs</a:t>
            </a:r>
            <a:endParaRPr lang="en-US" sz="1500" dirty="0"/>
          </a:p>
        </p:txBody>
      </p:sp>
      <p:sp>
        <p:nvSpPr>
          <p:cNvPr id="30" name="Text 28"/>
          <p:cNvSpPr txBox="1"/>
          <p:nvPr/>
        </p:nvSpPr>
        <p:spPr>
          <a:xfrm>
            <a:off x="8686800" y="258775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79.4%</a:t>
            </a:r>
            <a:endParaRPr lang="en-US" sz="1700" dirty="0"/>
          </a:p>
        </p:txBody>
      </p:sp>
      <p:sp>
        <p:nvSpPr>
          <p:cNvPr id="31" name="tokens vote of 3 thinking runs"/>
          <p:cNvSpPr/>
          <p:nvPr/>
        </p:nvSpPr>
        <p:spPr>
          <a:xfrm>
            <a:off x="9601200" y="2688336"/>
            <a:ext cx="1051560" cy="256032"/>
          </a:xfrm>
          <a:prstGeom prst="rect">
            <a:avLst/>
          </a:prstGeom>
          <a:solidFill>
            <a:srgbClr val="7F7F7F"/>
          </a:solidFill>
          <a:ln w="6350">
            <a:solidFill>
              <a:srgbClr val="7F7F7F"/>
            </a:solidFill>
            <a:prstDash val="solid"/>
          </a:ln>
        </p:spPr>
      </p:sp>
      <p:sp>
        <p:nvSpPr>
          <p:cNvPr id="32" name="Text 30"/>
          <p:cNvSpPr txBox="1"/>
          <p:nvPr/>
        </p:nvSpPr>
        <p:spPr>
          <a:xfrm>
            <a:off x="10744200" y="258775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16.4k</a:t>
            </a:r>
            <a:endParaRPr lang="en-US" sz="1500" dirty="0"/>
          </a:p>
        </p:txBody>
      </p:sp>
      <p:sp>
        <p:nvSpPr>
          <p:cNvPr id="33" name="Text 31"/>
          <p:cNvSpPr txBox="1"/>
          <p:nvPr/>
        </p:nvSpPr>
        <p:spPr>
          <a:xfrm>
            <a:off x="6400800" y="3118104"/>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fact first, think on failure</a:t>
            </a:r>
            <a:endParaRPr lang="en-US" sz="1500" dirty="0"/>
          </a:p>
        </p:txBody>
      </p:sp>
      <p:sp>
        <p:nvSpPr>
          <p:cNvPr id="34" name="Text 32"/>
          <p:cNvSpPr txBox="1"/>
          <p:nvPr/>
        </p:nvSpPr>
        <p:spPr>
          <a:xfrm>
            <a:off x="8686800" y="311810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35" name="tokens fact first, think on failure"/>
          <p:cNvSpPr/>
          <p:nvPr/>
        </p:nvSpPr>
        <p:spPr>
          <a:xfrm>
            <a:off x="9601200" y="3218688"/>
            <a:ext cx="83355" cy="256032"/>
          </a:xfrm>
          <a:prstGeom prst="rect">
            <a:avLst/>
          </a:prstGeom>
          <a:solidFill>
            <a:srgbClr val="4472C4"/>
          </a:solidFill>
          <a:ln w="6350">
            <a:solidFill>
              <a:srgbClr val="4472C4"/>
            </a:solidFill>
            <a:prstDash val="solid"/>
          </a:ln>
        </p:spPr>
      </p:sp>
      <p:sp>
        <p:nvSpPr>
          <p:cNvPr id="36" name="Text 34"/>
          <p:cNvSpPr txBox="1"/>
          <p:nvPr/>
        </p:nvSpPr>
        <p:spPr>
          <a:xfrm>
            <a:off x="9775995" y="311810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7" name="Text 35"/>
          <p:cNvSpPr txBox="1"/>
          <p:nvPr/>
        </p:nvSpPr>
        <p:spPr>
          <a:xfrm>
            <a:off x="6400800" y="3657600"/>
            <a:ext cx="4983480" cy="365760"/>
          </a:xfrm>
          <a:prstGeom prst="rect">
            <a:avLst/>
          </a:prstGeom>
          <a:noFill/>
          <a:ln/>
        </p:spPr>
        <p:txBody>
          <a:bodyPr wrap="square" lIns="0" tIns="0" rIns="0" bIns="0" rtlCol="0" anchor="ctr"/>
          <a:lstStyle/>
          <a:p>
            <a:pPr indent="0" marL="0">
              <a:buNone/>
            </a:pPr>
            <a:r>
              <a:rPr lang="en-US" sz="1600" b="1" dirty="0">
                <a:solidFill>
                  <a:schemeClr val="tx1"/>
                </a:solidFill>
              </a:rPr>
              <a:t>Qwen3-32B, competition math (MATH-500)</a:t>
            </a:r>
            <a:endParaRPr lang="en-US" sz="1600" dirty="0"/>
          </a:p>
        </p:txBody>
      </p:sp>
      <p:sp>
        <p:nvSpPr>
          <p:cNvPr id="38" name="Text 36"/>
          <p:cNvSpPr txBox="1"/>
          <p:nvPr/>
        </p:nvSpPr>
        <p:spPr>
          <a:xfrm>
            <a:off x="8686800" y="402336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9" name="Text 37"/>
          <p:cNvSpPr txBox="1"/>
          <p:nvPr/>
        </p:nvSpPr>
        <p:spPr>
          <a:xfrm>
            <a:off x="9601200" y="402336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40" name="Text 38"/>
          <p:cNvSpPr txBox="1"/>
          <p:nvPr/>
        </p:nvSpPr>
        <p:spPr>
          <a:xfrm>
            <a:off x="6400800" y="438912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text answers</a:t>
            </a:r>
            <a:endParaRPr lang="en-US" sz="1500" dirty="0"/>
          </a:p>
        </p:txBody>
      </p:sp>
      <p:sp>
        <p:nvSpPr>
          <p:cNvPr id="41" name="Text 39"/>
          <p:cNvSpPr txBox="1"/>
          <p:nvPr/>
        </p:nvSpPr>
        <p:spPr>
          <a:xfrm>
            <a:off x="8686800" y="438912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89.2%</a:t>
            </a:r>
            <a:endParaRPr lang="en-US" sz="1700" dirty="0"/>
          </a:p>
        </p:txBody>
      </p:sp>
      <p:sp>
        <p:nvSpPr>
          <p:cNvPr id="42" name="tokens vote of 3 text answers"/>
          <p:cNvSpPr/>
          <p:nvPr/>
        </p:nvSpPr>
        <p:spPr>
          <a:xfrm>
            <a:off x="9601200" y="4489704"/>
            <a:ext cx="147475" cy="256032"/>
          </a:xfrm>
          <a:prstGeom prst="rect">
            <a:avLst/>
          </a:prstGeom>
          <a:solidFill>
            <a:srgbClr val="7F7F7F"/>
          </a:solidFill>
          <a:ln w="6350">
            <a:solidFill>
              <a:srgbClr val="7F7F7F"/>
            </a:solidFill>
            <a:prstDash val="solid"/>
          </a:ln>
        </p:spPr>
      </p:sp>
      <p:sp>
        <p:nvSpPr>
          <p:cNvPr id="43" name="Text 41"/>
          <p:cNvSpPr txBox="1"/>
          <p:nvPr/>
        </p:nvSpPr>
        <p:spPr>
          <a:xfrm>
            <a:off x="9840115" y="438912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2.3k</a:t>
            </a:r>
            <a:endParaRPr lang="en-US" sz="1500" dirty="0"/>
          </a:p>
        </p:txBody>
      </p:sp>
      <p:sp>
        <p:nvSpPr>
          <p:cNvPr id="44" name="Text 42"/>
          <p:cNvSpPr txBox="1"/>
          <p:nvPr/>
        </p:nvSpPr>
        <p:spPr>
          <a:xfrm>
            <a:off x="6400800" y="49194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text = program, else think</a:t>
            </a:r>
            <a:endParaRPr lang="en-US" sz="1500" dirty="0"/>
          </a:p>
        </p:txBody>
      </p:sp>
      <p:sp>
        <p:nvSpPr>
          <p:cNvPr id="45" name="Text 43"/>
          <p:cNvSpPr txBox="1"/>
          <p:nvPr/>
        </p:nvSpPr>
        <p:spPr>
          <a:xfrm>
            <a:off x="8686800" y="49194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97.2%</a:t>
            </a:r>
            <a:endParaRPr lang="en-US" sz="1700" dirty="0"/>
          </a:p>
        </p:txBody>
      </p:sp>
      <p:sp>
        <p:nvSpPr>
          <p:cNvPr id="46" name="tokens text = program, else think"/>
          <p:cNvSpPr/>
          <p:nvPr/>
        </p:nvSpPr>
        <p:spPr>
          <a:xfrm>
            <a:off x="9601200" y="5020056"/>
            <a:ext cx="218006" cy="256032"/>
          </a:xfrm>
          <a:prstGeom prst="rect">
            <a:avLst/>
          </a:prstGeom>
          <a:solidFill>
            <a:srgbClr val="4472C4"/>
          </a:solidFill>
          <a:ln w="6350">
            <a:solidFill>
              <a:srgbClr val="4472C4"/>
            </a:solidFill>
            <a:prstDash val="solid"/>
          </a:ln>
        </p:spPr>
      </p:sp>
      <p:sp>
        <p:nvSpPr>
          <p:cNvPr id="47" name="Text 45"/>
          <p:cNvSpPr txBox="1"/>
          <p:nvPr/>
        </p:nvSpPr>
        <p:spPr>
          <a:xfrm>
            <a:off x="9910646" y="49194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3.4k</a:t>
            </a:r>
            <a:endParaRPr lang="en-US" sz="1500" dirty="0"/>
          </a:p>
        </p:txBody>
      </p:sp>
      <p:sp>
        <p:nvSpPr>
          <p:cNvPr id="48" name="Text 4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picks the right answer, a vote the popular one; 3 thinking runs win only at 12×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 comparison fair?</a:t>
            </a:r>
            <a:endParaRPr lang="en-US" sz="3600" dirty="0"/>
          </a:p>
        </p:txBody>
      </p:sp>
      <p:sp>
        <p:nvSpPr>
          <p:cNvPr id="3" name="fair Input tokens count too"/>
          <p:cNvSpPr/>
          <p:nvPr/>
        </p:nvSpPr>
        <p:spPr>
          <a:xfrm>
            <a:off x="548640" y="1280160"/>
            <a:ext cx="3566160" cy="4160520"/>
          </a:xfrm>
          <a:prstGeom prst="roundRect">
            <a:avLst>
              <a:gd name="adj" fmla="val 2051"/>
            </a:avLst>
          </a:prstGeom>
          <a:solidFill>
            <a:srgbClr val="F2F2F2"/>
          </a:solidFill>
          <a:ln w="9525">
            <a:solidFill>
              <a:srgbClr val="D9D9D9"/>
            </a:solidFill>
            <a:prstDash val="solid"/>
          </a:ln>
        </p:spPr>
      </p:sp>
      <p:pic>
        <p:nvPicPr>
          <p:cNvPr id="4" name="icon coins" descr="/NAS/SJ/POSTECH/nlp/figs/icons/coins.png">    </p:cNvPr>
          <p:cNvPicPr>
            <a:picLocks noChangeAspect="1"/>
          </p:cNvPicPr>
          <p:nvPr/>
        </p:nvPicPr>
        <p:blipFill>
          <a:blip r:embed="rId1"/>
          <a:stretch>
            <a:fillRect/>
          </a:stretch>
        </p:blipFill>
        <p:spPr>
          <a:xfrm>
            <a:off x="777240" y="1463040"/>
            <a:ext cx="502920" cy="502920"/>
          </a:xfrm>
          <a:prstGeom prst="rect">
            <a:avLst/>
          </a:prstGeom>
        </p:spPr>
      </p:pic>
      <p:sp>
        <p:nvSpPr>
          <p:cNvPr id="5" name="Text 2"/>
          <p:cNvSpPr txBox="1"/>
          <p:nvPr/>
        </p:nvSpPr>
        <p:spPr>
          <a:xfrm>
            <a:off x="141732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Input tokens count too</a:t>
            </a:r>
            <a:endParaRPr lang="en-US" sz="1800" dirty="0"/>
          </a:p>
        </p:txBody>
      </p:sp>
      <p:sp>
        <p:nvSpPr>
          <p:cNvPr id="6" name="Text 3"/>
          <p:cNvSpPr txBox="1"/>
          <p:nvPr/>
        </p:nvSpPr>
        <p:spPr>
          <a:xfrm>
            <a:off x="77724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+213 tokens</a:t>
            </a:r>
            <a:endParaRPr lang="en-US" sz="3200" dirty="0"/>
          </a:p>
        </p:txBody>
      </p:sp>
      <p:sp>
        <p:nvSpPr>
          <p:cNvPr id="7" name="Text 4"/>
          <p:cNvSpPr txBox="1"/>
          <p:nvPr/>
        </p:nvSpPr>
        <p:spPr>
          <a:xfrm>
            <a:off x="77724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input tokens for the exact snippet (701 vs 488); a long reference sheet adds 413, extra tools 912. Input is cheaper and cacheable: no conclusion flips. Running programs uses CPU, which we do not count.</a:t>
            </a:r>
            <a:endParaRPr lang="en-US" sz="1500" dirty="0"/>
          </a:p>
        </p:txBody>
      </p:sp>
      <p:sp>
        <p:nvSpPr>
          <p:cNvPr id="8" name="fair Memorized problems?"/>
          <p:cNvSpPr/>
          <p:nvPr/>
        </p:nvSpPr>
        <p:spPr>
          <a:xfrm>
            <a:off x="4297680" y="1280160"/>
            <a:ext cx="3566160" cy="4160520"/>
          </a:xfrm>
          <a:prstGeom prst="roundRect">
            <a:avLst>
              <a:gd name="adj" fmla="val 2051"/>
            </a:avLst>
          </a:prstGeom>
          <a:solidFill>
            <a:srgbClr val="F2F2F2"/>
          </a:solidFill>
          <a:ln w="9525">
            <a:solidFill>
              <a:srgbClr val="D9D9D9"/>
            </a:solidFill>
            <a:prstDash val="solid"/>
          </a:ln>
        </p:spPr>
      </p:sp>
      <p:pic>
        <p:nvPicPr>
          <p:cNvPr id="9" name="icon trophy" descr="/NAS/SJ/POSTECH/nlp/figs/icons/trophy.png">    </p:cNvPr>
          <p:cNvPicPr>
            <a:picLocks noChangeAspect="1"/>
          </p:cNvPicPr>
          <p:nvPr/>
        </p:nvPicPr>
        <p:blipFill>
          <a:blip r:embed="rId2"/>
          <a:stretch>
            <a:fillRect/>
          </a:stretch>
        </p:blipFill>
        <p:spPr>
          <a:xfrm>
            <a:off x="4526280" y="1463040"/>
            <a:ext cx="502920" cy="502920"/>
          </a:xfrm>
          <a:prstGeom prst="rect">
            <a:avLst/>
          </a:prstGeom>
        </p:spPr>
      </p:pic>
      <p:sp>
        <p:nvSpPr>
          <p:cNvPr id="10" name="Text 6"/>
          <p:cNvSpPr txBox="1"/>
          <p:nvPr/>
        </p:nvSpPr>
        <p:spPr>
          <a:xfrm>
            <a:off x="516636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Memorized problems?</a:t>
            </a:r>
            <a:endParaRPr lang="en-US" sz="1800" dirty="0"/>
          </a:p>
        </p:txBody>
      </p:sp>
      <p:sp>
        <p:nvSpPr>
          <p:cNvPr id="11" name="Text 7"/>
          <p:cNvSpPr txBox="1"/>
          <p:nvPr/>
        </p:nvSpPr>
        <p:spPr>
          <a:xfrm>
            <a:off x="452628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81% vs 83%</a:t>
            </a:r>
            <a:endParaRPr lang="en-US" sz="3200" dirty="0"/>
          </a:p>
        </p:txBody>
      </p:sp>
      <p:sp>
        <p:nvSpPr>
          <p:cNvPr id="12" name="Text 8"/>
          <p:cNvSpPr txBox="1"/>
          <p:nvPr/>
        </p:nvSpPr>
        <p:spPr>
          <a:xfrm>
            <a:off x="452628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older vs newer contests at the same difficulty (rating below 2000): no sign of memory, though all are before 2022. MAMO was held out until the end, and every method runs on the same model.</a:t>
            </a:r>
            <a:endParaRPr lang="en-US" sz="1500" dirty="0"/>
          </a:p>
        </p:txBody>
      </p:sp>
      <p:sp>
        <p:nvSpPr>
          <p:cNvPr id="13" name="fair Small differences"/>
          <p:cNvSpPr/>
          <p:nvPr/>
        </p:nvSpPr>
        <p:spPr>
          <a:xfrm>
            <a:off x="8046720" y="1280160"/>
            <a:ext cx="3566160" cy="4160520"/>
          </a:xfrm>
          <a:prstGeom prst="roundRect">
            <a:avLst>
              <a:gd name="adj" fmla="val 2051"/>
            </a:avLst>
          </a:prstGeom>
          <a:solidFill>
            <a:srgbClr val="F2F2F2"/>
          </a:solidFill>
          <a:ln w="9525">
            <a:solidFill>
              <a:srgbClr val="D9D9D9"/>
            </a:solidFill>
            <a:prstDash val="solid"/>
          </a:ln>
        </p:spPr>
      </p:sp>
      <p:pic>
        <p:nvPicPr>
          <p:cNvPr id="14" name="icon check" descr="/NAS/SJ/POSTECH/nlp/figs/icons/check.png">    </p:cNvPr>
          <p:cNvPicPr>
            <a:picLocks noChangeAspect="1"/>
          </p:cNvPicPr>
          <p:nvPr/>
        </p:nvPicPr>
        <p:blipFill>
          <a:blip r:embed="rId3"/>
          <a:stretch>
            <a:fillRect/>
          </a:stretch>
        </p:blipFill>
        <p:spPr>
          <a:xfrm>
            <a:off x="8275320" y="1463040"/>
            <a:ext cx="502920" cy="502920"/>
          </a:xfrm>
          <a:prstGeom prst="rect">
            <a:avLst/>
          </a:prstGeom>
        </p:spPr>
      </p:pic>
      <p:sp>
        <p:nvSpPr>
          <p:cNvPr id="15" name="Text 10"/>
          <p:cNvSpPr txBox="1"/>
          <p:nvPr/>
        </p:nvSpPr>
        <p:spPr>
          <a:xfrm>
            <a:off x="891540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Small differences</a:t>
            </a:r>
            <a:endParaRPr lang="en-US" sz="1800" dirty="0"/>
          </a:p>
        </p:txBody>
      </p:sp>
      <p:sp>
        <p:nvSpPr>
          <p:cNvPr id="16" name="Text 11"/>
          <p:cNvSpPr txBox="1"/>
          <p:nvPr/>
        </p:nvSpPr>
        <p:spPr>
          <a:xfrm>
            <a:off x="827532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3 seeds</a:t>
            </a:r>
            <a:endParaRPr lang="en-US" sz="3200" dirty="0"/>
          </a:p>
        </p:txBody>
      </p:sp>
      <p:sp>
        <p:nvSpPr>
          <p:cNvPr id="17" name="Text 12"/>
          <p:cNvSpPr txBox="1"/>
          <p:nvPr/>
        </p:nvSpPr>
        <p:spPr>
          <a:xfrm>
            <a:off x="827532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every claim pre-registered; when the gap is 1–4 problems we say 'same accuracy, fewer tokens', not 'better' (3 vs 1 problems: p = 0.62).</a:t>
            </a:r>
            <a:endParaRPr lang="en-US" sz="1500" dirty="0"/>
          </a:p>
        </p:txBody>
      </p:sp>
      <p:sp>
        <p:nvSpPr>
          <p:cNvPr id="18"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models, problems and grader for every method; every accuracy comes with its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facts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setup, scoring and hardware</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32</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2026-10-19T14:27:34Z</dcterms:created>
  <dcterms:modified xsi:type="dcterms:W3CDTF">2026-10-19T14:27:34Z</dcterms:modified>
</cp:coreProperties>
</file>