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24554b1c-af96-f43a-7fdc-e2c33b3d1667}">
          <p14:sldIdLst>
            <p14:sldId id="256"/>
            <p14:sldId id="257"/>
            <p14:sldId id="258"/>
            <p14:sldId id="259"/>
            <p14:sldId id="260"/>
            <p14:sldId id="261"/>
            <p14:sldId id="262"/>
            <p14:sldId id="263"/>
            <p14:sldId id="264"/>
          </p14:sldIdLst>
        </p14:section>
        <p14:section name="Extra pages" id="{a68a08da-5d97-e2e4-105d-9dd7f4d41791}">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LLM으로 계산 수학 문제를 정확하고 싸게 푸는 방법을 제안합니다. 추가 노력을 힌트, 검사,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하지만 두 가지가 문제입니다. 첫째, 프로그램은 조용히 틀립니다. 같은 문제에 보조 코드만 더하면 6 대신 0을 내고 에러도 없습니다. 없는 함수를 불러 죽기도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힌트는 같은 종류의 다른 문제에서 검사를 통과한 가장 짧은 프로그램을 골라, 사람 없이 만듭니다.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두 번째 발견입니다. 공짜 검사가 실패할 때만 생각하게 하세요. 문제에 '막대 3, 4, 5면 답 0'이라는 예제가 있으면, 모델 없이 우리 프로그램을 3, 4, 5로 돌려 봅니다. 0이 나오면 그대로 내고, 다르면 그 문제만 더 생각합니다. 예제가 없으면 프로그램을 두 번 짜서 비교합니다. 그러면 경시 문제에서 66%, 기하에서 99%로, 항상 생각할 때와 같은 정확도를 18에서 27% 적은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둘을 합친 것이 저희 방법입니다. 힌트를 붙여 쓰고, 검사하고, 실패할 때만 생각하고, 같은 종류가 다시 오면 재사용합니다. 실제 문제 하나에서는 힌트 없이 죽던 프로그램이 힌트로 바로 20000을 맞혀, 5.3k 대신 0.6k 토큰을 썼습니다. 기하와 최적화 208문제를 세 모델로 풀면, 답이 갈리는 문제에 생각을 몰아주는 기존 방식은 74%, 저희는 87%이고 토큰도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새로운 점은 세 가지입니다. 학습 없이 공짜 검사로 생각할 때를 정하고, 정답 없이 모델 자신의 프로그램을 힌트로 쓰며, 파인튜닝한 특화 모델 ORLM-8B와 같은 69.5%를 학습하지 않은 8B 모델로 냅니다. 다음으로는 더 많은 모델로 검증하고, 실행은 되지만 문제를 잘못 수식으로 옮긴 오류를 다루고, 문제 종류마다 힌트를 찾겠습니다.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MAMO 검증을 Qwen3-32B와 Qwen3.6까지 세 시드로 마칩니다. 둘, 검사로 못 잡는 오류입니다. 지금 남은 오류의 절반쯤은 정답 라벨이 의심스러운 문제이고, 나머지는 같은 유형에서 같은 수식 실수가 반복됩니다. 예를 들어 순서 제약이나 공급 균형을 잘못 씁니다. 고치기 한 번이나 생각으로는 안 고쳐져서, 힌트 하나로 고쳐지는지 시험합니다. 셋, 지금은 같은 종류의 문제 안에서만 자동 힌트가 통하므로, 문제 종류마다 힌트를 찾고 최종 보고서와 코드를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20: How do we get the exact hint? (slide 5)
16: Can retrieval (RAG) find the hint? (slide 5)
17: Why can thinking make it worse? (slide 5)
18: What if a wrong program passes the check? (slide 6)
19: Is there always a free check? (slide 6)
20: Who writes the hint? (slide 7)
21: Is 'think on the hardest' a weak baseline? (slide 7)
30: What if the same problem repeats? (slide 7)
11: Why no hint for contest problems? (slide 7)
29: Where does the recipe stop? (slide 7)
22, 23, 24: What is new vs PAL and cascades? (slide 8)
25: Why not majority voting? (slide 8)
26, 31: Is the comparison fair? (slide 8)
27: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2.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3.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3.xml"/><Relationship Id="rId8"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hint, a check, or more thinking: where should the extra effort go?</a:t>
            </a:r>
            <a:endParaRPr lang="en-US" sz="2200" dirty="0"/>
          </a:p>
          <a:p>
            <a:pPr algn="ctr" indent="0" marL="0">
              <a:buNone/>
            </a:pPr>
            <a:r>
              <a:rPr lang="en-US" sz="1600" dirty="0">
                <a:solidFill>
                  <a:srgbClr val="44546A"/>
                </a:solidFill>
              </a:rPr>
              <a:t>Team 5: Sangjun Lee, Seongbin Park · POSTECH CSED490E</a:t>
            </a:r>
            <a:endParaRPr lang="en-US" sz="2200" dirty="0"/>
          </a:p>
        </p:txBody>
      </p:sp>
      <p:sp>
        <p:nvSpPr>
          <p:cNvPr id="4" name="choice a missing fact"/>
          <p:cNvSpPr/>
          <p:nvPr/>
        </p:nvSpPr>
        <p:spPr>
          <a:xfrm>
            <a:off x="3145536" y="4892040"/>
            <a:ext cx="1874520" cy="502920"/>
          </a:xfrm>
          <a:prstGeom prst="roundRect">
            <a:avLst>
              <a:gd name="adj" fmla="val 36364"/>
            </a:avLst>
          </a:prstGeom>
          <a:solidFill>
            <a:srgbClr val="E2F0D9"/>
          </a:solidFill>
          <a:ln w="12700">
            <a:solidFill>
              <a:srgbClr val="38761D"/>
            </a:solidFill>
            <a:prstDash val="solid"/>
          </a:ln>
        </p:spPr>
      </p:sp>
      <p:pic>
        <p:nvPicPr>
          <p:cNvPr id="5" name="choice icon fact" descr="/NAS/SJ/POSTECH/nlp/figs/icons/fact.png">    </p:cNvPr>
          <p:cNvPicPr>
            <a:picLocks noChangeAspect="1"/>
          </p:cNvPicPr>
          <p:nvPr/>
        </p:nvPicPr>
        <p:blipFill>
          <a:blip r:embed="rId1"/>
          <a:stretch>
            <a:fillRect/>
          </a:stretch>
        </p:blipFill>
        <p:spPr>
          <a:xfrm>
            <a:off x="3255264" y="4978908"/>
            <a:ext cx="329184" cy="329184"/>
          </a:xfrm>
          <a:prstGeom prst="rect">
            <a:avLst/>
          </a:prstGeom>
        </p:spPr>
      </p:pic>
      <p:sp>
        <p:nvSpPr>
          <p:cNvPr id="6" name="Text 3"/>
          <p:cNvSpPr txBox="1"/>
          <p:nvPr/>
        </p:nvSpPr>
        <p:spPr>
          <a:xfrm>
            <a:off x="364845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 name="choice a free check"/>
          <p:cNvSpPr/>
          <p:nvPr/>
        </p:nvSpPr>
        <p:spPr>
          <a:xfrm>
            <a:off x="5157216" y="4892040"/>
            <a:ext cx="1874520" cy="502920"/>
          </a:xfrm>
          <a:prstGeom prst="roundRect">
            <a:avLst>
              <a:gd name="adj" fmla="val 36364"/>
            </a:avLst>
          </a:prstGeom>
          <a:solidFill>
            <a:srgbClr val="E2F0D9"/>
          </a:solidFill>
          <a:ln w="12700">
            <a:solidFill>
              <a:srgbClr val="38761D"/>
            </a:solidFill>
            <a:prstDash val="solid"/>
          </a:ln>
        </p:spPr>
      </p:sp>
      <p:pic>
        <p:nvPicPr>
          <p:cNvPr id="8" name="choice icon check" descr="/NAS/SJ/POSTECH/nlp/figs/icons/check.png">    </p:cNvPr>
          <p:cNvPicPr>
            <a:picLocks noChangeAspect="1"/>
          </p:cNvPicPr>
          <p:nvPr/>
        </p:nvPicPr>
        <p:blipFill>
          <a:blip r:embed="rId2"/>
          <a:stretch>
            <a:fillRect/>
          </a:stretch>
        </p:blipFill>
        <p:spPr>
          <a:xfrm>
            <a:off x="5266944" y="4978908"/>
            <a:ext cx="329184" cy="329184"/>
          </a:xfrm>
          <a:prstGeom prst="rect">
            <a:avLst/>
          </a:prstGeom>
        </p:spPr>
      </p:pic>
      <p:sp>
        <p:nvSpPr>
          <p:cNvPr id="9" name="Text 5"/>
          <p:cNvSpPr txBox="1"/>
          <p:nvPr/>
        </p:nvSpPr>
        <p:spPr>
          <a:xfrm>
            <a:off x="566013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10" name="choice more thinking"/>
          <p:cNvSpPr/>
          <p:nvPr/>
        </p:nvSpPr>
        <p:spPr>
          <a:xfrm>
            <a:off x="7168896" y="4892040"/>
            <a:ext cx="1874520" cy="502920"/>
          </a:xfrm>
          <a:prstGeom prst="roundRect">
            <a:avLst>
              <a:gd name="adj" fmla="val 36364"/>
            </a:avLst>
          </a:prstGeom>
          <a:solidFill>
            <a:srgbClr val="FADBD8"/>
          </a:solidFill>
          <a:ln w="12700">
            <a:solidFill>
              <a:srgbClr val="C00000"/>
            </a:solidFill>
            <a:prstDash val="solid"/>
          </a:ln>
        </p:spPr>
      </p:sp>
      <p:pic>
        <p:nvPicPr>
          <p:cNvPr id="11" name="choice icon brain" descr="/NAS/SJ/POSTECH/nlp/figs/icons/brain.png">    </p:cNvPr>
          <p:cNvPicPr>
            <a:picLocks noChangeAspect="1"/>
          </p:cNvPicPr>
          <p:nvPr/>
        </p:nvPicPr>
        <p:blipFill>
          <a:blip r:embed="rId3"/>
          <a:stretch>
            <a:fillRect/>
          </a:stretch>
        </p:blipFill>
        <p:spPr>
          <a:xfrm>
            <a:off x="7278624" y="4978908"/>
            <a:ext cx="329184" cy="329184"/>
          </a:xfrm>
          <a:prstGeom prst="rect">
            <a:avLst/>
          </a:prstGeom>
        </p:spPr>
      </p:pic>
      <p:sp>
        <p:nvSpPr>
          <p:cNvPr id="12" name="Text 7"/>
          <p:cNvSpPr txBox="1"/>
          <p:nvPr/>
        </p:nvSpPr>
        <p:spPr>
          <a:xfrm>
            <a:off x="7671816" y="4892040"/>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1920240"/>
            <a:ext cx="1600200" cy="402336"/>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1995678"/>
            <a:ext cx="336499" cy="251460"/>
          </a:xfrm>
          <a:prstGeom prst="rect">
            <a:avLst/>
          </a:prstGeom>
          <a:solidFill>
            <a:srgbClr val="7F7F7F"/>
          </a:solidFill>
          <a:ln w="6350">
            <a:solidFill>
              <a:srgbClr val="7F7F7F"/>
            </a:solidFill>
            <a:prstDash val="solid"/>
          </a:ln>
        </p:spPr>
      </p:sp>
      <p:sp>
        <p:nvSpPr>
          <p:cNvPr id="28" name="Text 21"/>
          <p:cNvSpPr txBox="1"/>
          <p:nvPr/>
        </p:nvSpPr>
        <p:spPr>
          <a:xfrm>
            <a:off x="8566099" y="1920240"/>
            <a:ext cx="1737360" cy="402336"/>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423160"/>
            <a:ext cx="1600200" cy="402336"/>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498598"/>
            <a:ext cx="45720" cy="251460"/>
          </a:xfrm>
          <a:prstGeom prst="rect">
            <a:avLst/>
          </a:prstGeom>
          <a:solidFill>
            <a:srgbClr val="C00000"/>
          </a:solidFill>
          <a:ln w="6350">
            <a:solidFill>
              <a:srgbClr val="C00000"/>
            </a:solidFill>
            <a:prstDash val="solid"/>
          </a:ln>
        </p:spPr>
      </p:sp>
      <p:sp>
        <p:nvSpPr>
          <p:cNvPr id="31" name="Text 24"/>
          <p:cNvSpPr txBox="1"/>
          <p:nvPr/>
        </p:nvSpPr>
        <p:spPr>
          <a:xfrm>
            <a:off x="8273491" y="2423160"/>
            <a:ext cx="1737360" cy="402336"/>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2926080"/>
            <a:ext cx="1600200" cy="402336"/>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001518"/>
            <a:ext cx="102413" cy="251460"/>
          </a:xfrm>
          <a:prstGeom prst="rect">
            <a:avLst/>
          </a:prstGeom>
          <a:solidFill>
            <a:srgbClr val="C00000"/>
          </a:solidFill>
          <a:ln w="6350">
            <a:solidFill>
              <a:srgbClr val="C00000"/>
            </a:solidFill>
            <a:prstDash val="solid"/>
          </a:ln>
        </p:spPr>
      </p:sp>
      <p:sp>
        <p:nvSpPr>
          <p:cNvPr id="34" name="Text 27"/>
          <p:cNvSpPr txBox="1"/>
          <p:nvPr/>
        </p:nvSpPr>
        <p:spPr>
          <a:xfrm>
            <a:off x="8332013" y="2926080"/>
            <a:ext cx="1737360" cy="402336"/>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3429000"/>
            <a:ext cx="1600200" cy="402336"/>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3504438"/>
            <a:ext cx="1214323" cy="251460"/>
          </a:xfrm>
          <a:prstGeom prst="rect">
            <a:avLst/>
          </a:prstGeom>
          <a:solidFill>
            <a:srgbClr val="4472C4"/>
          </a:solidFill>
          <a:ln w="6350">
            <a:solidFill>
              <a:srgbClr val="4472C4"/>
            </a:solidFill>
            <a:prstDash val="solid"/>
          </a:ln>
        </p:spPr>
      </p:sp>
      <p:sp>
        <p:nvSpPr>
          <p:cNvPr id="37" name="Text 30"/>
          <p:cNvSpPr txBox="1"/>
          <p:nvPr/>
        </p:nvSpPr>
        <p:spPr>
          <a:xfrm>
            <a:off x="9443923" y="3429000"/>
            <a:ext cx="1737360" cy="402336"/>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114800"/>
            <a:ext cx="4983480" cy="347472"/>
          </a:xfrm>
          <a:prstGeom prst="rect">
            <a:avLst/>
          </a:prstGeom>
          <a:noFill/>
          <a:ln/>
        </p:spPr>
        <p:txBody>
          <a:bodyPr wrap="square" lIns="0" tIns="0" rIns="0" bIns="0" rtlCol="0" anchor="ctr"/>
          <a:lstStyle/>
          <a:p>
            <a:pPr indent="0" marL="0">
              <a:buNone/>
            </a:pPr>
            <a:r>
              <a:rPr lang="en-US" sz="1500" b="1" dirty="0">
                <a:solidFill>
                  <a:schemeClr val="tx1"/>
                </a:solidFill>
              </a:rPr>
              <a:t>How we pick the hint (per problem type, no human):</a:t>
            </a:r>
            <a:endParaRPr lang="en-US" sz="1500" dirty="0"/>
          </a:p>
        </p:txBody>
      </p:sp>
      <p:sp>
        <p:nvSpPr>
          <p:cNvPr id="39" name="box its past programs"/>
          <p:cNvSpPr/>
          <p:nvPr/>
        </p:nvSpPr>
        <p:spPr>
          <a:xfrm>
            <a:off x="6400800" y="4572000"/>
            <a:ext cx="1463040" cy="566928"/>
          </a:xfrm>
          <a:prstGeom prst="roundRect">
            <a:avLst>
              <a:gd name="adj" fmla="val 9677"/>
            </a:avLst>
          </a:prstGeom>
          <a:solidFill>
            <a:srgbClr val="FFFFFF"/>
          </a:solidFill>
          <a:ln w="9525">
            <a:solidFill>
              <a:srgbClr val="BFBFBF"/>
            </a:solidFill>
            <a:prstDash val="solid"/>
          </a:ln>
        </p:spPr>
      </p:sp>
      <p:sp>
        <p:nvSpPr>
          <p:cNvPr id="40" name="Text 33"/>
          <p:cNvSpPr txBox="1"/>
          <p:nvPr/>
        </p:nvSpPr>
        <p:spPr>
          <a:xfrm>
            <a:off x="6473952" y="4572000"/>
            <a:ext cx="1316736" cy="566928"/>
          </a:xfrm>
          <a:prstGeom prst="rect">
            <a:avLst/>
          </a:prstGeom>
          <a:noFill/>
          <a:ln/>
        </p:spPr>
        <p:txBody>
          <a:bodyPr wrap="square" lIns="0" tIns="0" rIns="0" bIns="0" rtlCol="0" anchor="ctr"/>
          <a:lstStyle/>
          <a:p>
            <a:pPr algn="ctr" indent="0" marL="0">
              <a:buNone/>
            </a:pPr>
            <a:r>
              <a:rPr lang="en-US" sz="1500" dirty="0">
                <a:solidFill>
                  <a:schemeClr val="tx1"/>
                </a:solidFill>
              </a:rPr>
              <a:t>its past programs</a:t>
            </a:r>
            <a:endParaRPr lang="en-US" sz="1500" dirty="0"/>
          </a:p>
        </p:txBody>
      </p:sp>
      <p:sp>
        <p:nvSpPr>
          <p:cNvPr id="41" name="Shape 34"/>
          <p:cNvSpPr/>
          <p:nvPr/>
        </p:nvSpPr>
        <p:spPr>
          <a:xfrm>
            <a:off x="7863840" y="4855464"/>
            <a:ext cx="292608" cy="0"/>
          </a:xfrm>
          <a:prstGeom prst="line">
            <a:avLst/>
          </a:prstGeom>
          <a:noFill/>
          <a:ln w="25400">
            <a:solidFill>
              <a:srgbClr val="7F7F7F"/>
            </a:solidFill>
            <a:prstDash val="solid"/>
            <a:tailEnd type="triangle"/>
          </a:ln>
        </p:spPr>
      </p:sp>
      <p:sp>
        <p:nvSpPr>
          <p:cNvPr id="42" name="box ✓ passed the check"/>
          <p:cNvSpPr/>
          <p:nvPr/>
        </p:nvSpPr>
        <p:spPr>
          <a:xfrm>
            <a:off x="8156448" y="4572000"/>
            <a:ext cx="1463040" cy="566928"/>
          </a:xfrm>
          <a:prstGeom prst="roundRect">
            <a:avLst>
              <a:gd name="adj" fmla="val 9677"/>
            </a:avLst>
          </a:prstGeom>
          <a:solidFill>
            <a:srgbClr val="FFFFFF"/>
          </a:solidFill>
          <a:ln w="9525">
            <a:solidFill>
              <a:srgbClr val="BFBFBF"/>
            </a:solidFill>
            <a:prstDash val="solid"/>
          </a:ln>
        </p:spPr>
      </p:sp>
      <p:sp>
        <p:nvSpPr>
          <p:cNvPr id="43" name="Text 36"/>
          <p:cNvSpPr txBox="1"/>
          <p:nvPr/>
        </p:nvSpPr>
        <p:spPr>
          <a:xfrm>
            <a:off x="8229600" y="4572000"/>
            <a:ext cx="1316736" cy="566928"/>
          </a:xfrm>
          <a:prstGeom prst="rect">
            <a:avLst/>
          </a:prstGeom>
          <a:noFill/>
          <a:ln/>
        </p:spPr>
        <p:txBody>
          <a:bodyPr wrap="square" lIns="0" tIns="0" rIns="0" bIns="0" rtlCol="0" anchor="ctr"/>
          <a:lstStyle/>
          <a:p>
            <a:pPr algn="ctr" indent="0" marL="0">
              <a:buNone/>
            </a:pPr>
            <a:r>
              <a:rPr lang="en-US" sz="1500" dirty="0">
                <a:solidFill>
                  <a:schemeClr val="tx1"/>
                </a:solidFill>
              </a:rPr>
              <a:t>✓ passed the check</a:t>
            </a:r>
            <a:endParaRPr lang="en-US" sz="1500" dirty="0"/>
          </a:p>
        </p:txBody>
      </p:sp>
      <p:sp>
        <p:nvSpPr>
          <p:cNvPr id="44" name="Shape 37"/>
          <p:cNvSpPr/>
          <p:nvPr/>
        </p:nvSpPr>
        <p:spPr>
          <a:xfrm>
            <a:off x="9619488" y="4855464"/>
            <a:ext cx="292608" cy="0"/>
          </a:xfrm>
          <a:prstGeom prst="line">
            <a:avLst/>
          </a:prstGeom>
          <a:noFill/>
          <a:ln w="25400">
            <a:solidFill>
              <a:srgbClr val="7F7F7F"/>
            </a:solidFill>
            <a:prstDash val="solid"/>
            <a:tailEnd type="triangle"/>
          </a:ln>
        </p:spPr>
      </p:sp>
      <p:sp>
        <p:nvSpPr>
          <p:cNvPr id="45" name="box shortest = hint"/>
          <p:cNvSpPr/>
          <p:nvPr/>
        </p:nvSpPr>
        <p:spPr>
          <a:xfrm>
            <a:off x="9912096" y="4572000"/>
            <a:ext cx="1463040" cy="566928"/>
          </a:xfrm>
          <a:prstGeom prst="roundRect">
            <a:avLst>
              <a:gd name="adj" fmla="val 9677"/>
            </a:avLst>
          </a:prstGeom>
          <a:solidFill>
            <a:srgbClr val="E2F0D9"/>
          </a:solidFill>
          <a:ln w="9525">
            <a:solidFill>
              <a:srgbClr val="BFBFBF"/>
            </a:solidFill>
            <a:prstDash val="solid"/>
          </a:ln>
        </p:spPr>
      </p:sp>
      <p:sp>
        <p:nvSpPr>
          <p:cNvPr id="46" name="Text 39"/>
          <p:cNvSpPr txBox="1"/>
          <p:nvPr/>
        </p:nvSpPr>
        <p:spPr>
          <a:xfrm>
            <a:off x="9985248" y="4572000"/>
            <a:ext cx="1316736" cy="566928"/>
          </a:xfrm>
          <a:prstGeom prst="rect">
            <a:avLst/>
          </a:prstGeom>
          <a:noFill/>
          <a:ln/>
        </p:spPr>
        <p:txBody>
          <a:bodyPr wrap="square" lIns="0" tIns="0" rIns="0" bIns="0" rtlCol="0" anchor="ctr"/>
          <a:lstStyle/>
          <a:p>
            <a:pPr algn="ctr" indent="0" marL="0">
              <a:buNone/>
            </a:pPr>
            <a:r>
              <a:rPr lang="en-US" sz="1500" b="1" dirty="0">
                <a:solidFill>
                  <a:srgbClr val="38761D"/>
                </a:solidFill>
              </a:rPr>
              <a:t>shortest = hint</a:t>
            </a:r>
            <a:endParaRPr lang="en-US" sz="1500" dirty="0"/>
          </a:p>
        </p:txBody>
      </p:sp>
      <p:sp>
        <p:nvSpPr>
          <p:cNvPr id="47" name="Text 4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a free check works</a:t>
            </a:r>
            <a:endParaRPr lang="en-US" sz="1800" dirty="0"/>
          </a:p>
        </p:txBody>
      </p:sp>
      <p:sp>
        <p:nvSpPr>
          <p:cNvPr id="13" name="box The problem shows an"/>
          <p:cNvSpPr/>
          <p:nvPr/>
        </p:nvSpPr>
        <p:spPr>
          <a:xfrm>
            <a:off x="777240" y="1874520"/>
            <a:ext cx="4892040" cy="566928"/>
          </a:xfrm>
          <a:prstGeom prst="roundRect">
            <a:avLst>
              <a:gd name="adj" fmla="val 9677"/>
            </a:avLst>
          </a:prstGeom>
          <a:solidFill>
            <a:srgbClr val="FFFFFF"/>
          </a:solidFill>
          <a:ln w="9525">
            <a:solidFill>
              <a:srgbClr val="BFBFBF"/>
            </a:solidFill>
            <a:prstDash val="solid"/>
          </a:ln>
        </p:spPr>
      </p:sp>
      <p:sp>
        <p:nvSpPr>
          <p:cNvPr id="14" name="Text 7"/>
          <p:cNvSpPr txBox="1"/>
          <p:nvPr/>
        </p:nvSpPr>
        <p:spPr>
          <a:xfrm>
            <a:off x="850392" y="1874520"/>
            <a:ext cx="4745736" cy="566928"/>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441448"/>
            <a:ext cx="0" cy="210312"/>
          </a:xfrm>
          <a:prstGeom prst="line">
            <a:avLst/>
          </a:prstGeom>
          <a:noFill/>
          <a:ln w="25400">
            <a:solidFill>
              <a:srgbClr val="7F7F7F"/>
            </a:solidFill>
            <a:prstDash val="solid"/>
            <a:tailEnd type="triangle"/>
          </a:ln>
        </p:spPr>
      </p:sp>
      <p:sp>
        <p:nvSpPr>
          <p:cNvPr id="16" name="box Run our program on 3"/>
          <p:cNvSpPr/>
          <p:nvPr/>
        </p:nvSpPr>
        <p:spPr>
          <a:xfrm>
            <a:off x="777240" y="2651760"/>
            <a:ext cx="4892040" cy="566928"/>
          </a:xfrm>
          <a:prstGeom prst="roundRect">
            <a:avLst>
              <a:gd name="adj" fmla="val 9677"/>
            </a:avLst>
          </a:prstGeom>
          <a:solidFill>
            <a:srgbClr val="FFFFFF"/>
          </a:solidFill>
          <a:ln w="9525">
            <a:solidFill>
              <a:srgbClr val="BFBFBF"/>
            </a:solidFill>
            <a:prstDash val="solid"/>
          </a:ln>
        </p:spPr>
      </p:sp>
      <p:sp>
        <p:nvSpPr>
          <p:cNvPr id="17" name="Text 10"/>
          <p:cNvSpPr txBox="1"/>
          <p:nvPr/>
        </p:nvSpPr>
        <p:spPr>
          <a:xfrm>
            <a:off x="850392" y="2651760"/>
            <a:ext cx="4745736" cy="566928"/>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218688"/>
            <a:ext cx="182880" cy="237744"/>
          </a:xfrm>
          <a:prstGeom prst="line">
            <a:avLst/>
          </a:prstGeom>
          <a:noFill/>
          <a:ln w="25400">
            <a:solidFill>
              <a:srgbClr val="7F7F7F"/>
            </a:solidFill>
            <a:prstDash val="solid"/>
            <a:tailEnd type="triangle"/>
          </a:ln>
        </p:spPr>
      </p:sp>
      <p:sp>
        <p:nvSpPr>
          <p:cNvPr id="19" name="Shape 12"/>
          <p:cNvSpPr/>
          <p:nvPr/>
        </p:nvSpPr>
        <p:spPr>
          <a:xfrm>
            <a:off x="4343400" y="3218688"/>
            <a:ext cx="182880" cy="237744"/>
          </a:xfrm>
          <a:prstGeom prst="line">
            <a:avLst/>
          </a:prstGeom>
          <a:noFill/>
          <a:ln w="25400">
            <a:solidFill>
              <a:srgbClr val="7F7F7F"/>
            </a:solidFill>
            <a:prstDash val="solid"/>
            <a:tailEnd type="triangle"/>
          </a:ln>
        </p:spPr>
      </p:sp>
      <p:sp>
        <p:nvSpPr>
          <p:cNvPr id="20" name="box ✓ same → submit (no "/>
          <p:cNvSpPr/>
          <p:nvPr/>
        </p:nvSpPr>
        <p:spPr>
          <a:xfrm>
            <a:off x="777240" y="3456432"/>
            <a:ext cx="2377440" cy="658368"/>
          </a:xfrm>
          <a:prstGeom prst="roundRect">
            <a:avLst>
              <a:gd name="adj" fmla="val 8333"/>
            </a:avLst>
          </a:prstGeom>
          <a:solidFill>
            <a:srgbClr val="E2F0D9"/>
          </a:solidFill>
          <a:ln w="9525">
            <a:solidFill>
              <a:srgbClr val="BFBFBF"/>
            </a:solidFill>
            <a:prstDash val="solid"/>
          </a:ln>
        </p:spPr>
      </p:sp>
      <p:sp>
        <p:nvSpPr>
          <p:cNvPr id="21" name="Text 14"/>
          <p:cNvSpPr txBox="1"/>
          <p:nvPr/>
        </p:nvSpPr>
        <p:spPr>
          <a:xfrm>
            <a:off x="850392" y="3456432"/>
            <a:ext cx="2231136" cy="658368"/>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456432"/>
            <a:ext cx="2377440" cy="658368"/>
          </a:xfrm>
          <a:prstGeom prst="roundRect">
            <a:avLst>
              <a:gd name="adj" fmla="val 8333"/>
            </a:avLst>
          </a:prstGeom>
          <a:solidFill>
            <a:srgbClr val="FADBD8"/>
          </a:solidFill>
          <a:ln w="9525">
            <a:solidFill>
              <a:srgbClr val="BFBFBF"/>
            </a:solidFill>
            <a:prstDash val="solid"/>
          </a:ln>
        </p:spPr>
      </p:sp>
      <p:sp>
        <p:nvSpPr>
          <p:cNvPr id="23" name="Text 16"/>
          <p:cNvSpPr txBox="1"/>
          <p:nvPr/>
        </p:nvSpPr>
        <p:spPr>
          <a:xfrm>
            <a:off x="3364992" y="3456432"/>
            <a:ext cx="2231136" cy="658368"/>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279392"/>
            <a:ext cx="4892040" cy="365760"/>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09160"/>
            <a:ext cx="1463040" cy="548640"/>
          </a:xfrm>
          <a:prstGeom prst="roundRect">
            <a:avLst>
              <a:gd name="adj" fmla="val 10000"/>
            </a:avLst>
          </a:prstGeom>
          <a:solidFill>
            <a:srgbClr val="FFFFFF"/>
          </a:solidFill>
          <a:ln w="9525">
            <a:solidFill>
              <a:srgbClr val="BFBFBF"/>
            </a:solidFill>
            <a:prstDash val="solid"/>
          </a:ln>
        </p:spPr>
      </p:sp>
      <p:sp>
        <p:nvSpPr>
          <p:cNvPr id="26" name="Text 19"/>
          <p:cNvSpPr txBox="1"/>
          <p:nvPr/>
        </p:nvSpPr>
        <p:spPr>
          <a:xfrm>
            <a:off x="850392" y="4709160"/>
            <a:ext cx="1316736" cy="548640"/>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09160"/>
            <a:ext cx="1463040" cy="548640"/>
          </a:xfrm>
          <a:prstGeom prst="roundRect">
            <a:avLst>
              <a:gd name="adj" fmla="val 10000"/>
            </a:avLst>
          </a:prstGeom>
          <a:solidFill>
            <a:srgbClr val="FFFFFF"/>
          </a:solidFill>
          <a:ln w="9525">
            <a:solidFill>
              <a:srgbClr val="BFBFBF"/>
            </a:solidFill>
            <a:prstDash val="solid"/>
          </a:ln>
        </p:spPr>
      </p:sp>
      <p:sp>
        <p:nvSpPr>
          <p:cNvPr id="28" name="Text 21"/>
          <p:cNvSpPr txBox="1"/>
          <p:nvPr/>
        </p:nvSpPr>
        <p:spPr>
          <a:xfrm>
            <a:off x="2404872" y="4709160"/>
            <a:ext cx="1316736" cy="548640"/>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4983480"/>
            <a:ext cx="228600" cy="0"/>
          </a:xfrm>
          <a:prstGeom prst="line">
            <a:avLst/>
          </a:prstGeom>
          <a:noFill/>
          <a:ln w="25400">
            <a:solidFill>
              <a:srgbClr val="7F7F7F"/>
            </a:solidFill>
            <a:prstDash val="solid"/>
            <a:tailEnd type="triangle"/>
          </a:ln>
        </p:spPr>
      </p:sp>
      <p:sp>
        <p:nvSpPr>
          <p:cNvPr id="30" name="box ✗ different → think"/>
          <p:cNvSpPr/>
          <p:nvPr/>
        </p:nvSpPr>
        <p:spPr>
          <a:xfrm>
            <a:off x="4023360" y="4709160"/>
            <a:ext cx="1645920" cy="548640"/>
          </a:xfrm>
          <a:prstGeom prst="roundRect">
            <a:avLst>
              <a:gd name="adj" fmla="val 10000"/>
            </a:avLst>
          </a:prstGeom>
          <a:solidFill>
            <a:srgbClr val="FADBD8"/>
          </a:solidFill>
          <a:ln w="9525">
            <a:solidFill>
              <a:srgbClr val="BFBFBF"/>
            </a:solidFill>
            <a:prstDash val="solid"/>
          </a:ln>
        </p:spPr>
      </p:sp>
      <p:sp>
        <p:nvSpPr>
          <p:cNvPr id="31" name="Text 24"/>
          <p:cNvSpPr txBox="1"/>
          <p:nvPr/>
        </p:nvSpPr>
        <p:spPr>
          <a:xfrm>
            <a:off x="4096512" y="4709160"/>
            <a:ext cx="1499616" cy="548640"/>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examples alone give 65.0% at 20k; adding a brute-force program as a second check gives 66.3%</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one real problem"/>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One real problem (Qwen3-8B, a MAMO word problem)</a:t>
            </a:r>
            <a:endParaRPr lang="en-US" sz="1700" dirty="0"/>
          </a:p>
        </p:txBody>
      </p:sp>
      <p:sp>
        <p:nvSpPr>
          <p:cNvPr id="39" name="box Task: the minimum co"/>
          <p:cNvSpPr/>
          <p:nvPr/>
        </p:nvSpPr>
        <p:spPr>
          <a:xfrm>
            <a:off x="777240" y="2743200"/>
            <a:ext cx="4892040" cy="548640"/>
          </a:xfrm>
          <a:prstGeom prst="roundRect">
            <a:avLst>
              <a:gd name="adj" fmla="val 10000"/>
            </a:avLst>
          </a:prstGeom>
          <a:solidFill>
            <a:srgbClr val="FFFFFF"/>
          </a:solidFill>
          <a:ln w="9525">
            <a:solidFill>
              <a:srgbClr val="BFBFBF"/>
            </a:solidFill>
            <a:prstDash val="solid"/>
          </a:ln>
        </p:spPr>
      </p:sp>
      <p:sp>
        <p:nvSpPr>
          <p:cNvPr id="40" name="Text 20"/>
          <p:cNvSpPr txBox="1"/>
          <p:nvPr/>
        </p:nvSpPr>
        <p:spPr>
          <a:xfrm>
            <a:off x="850392" y="2743200"/>
            <a:ext cx="4745736" cy="548640"/>
          </a:xfrm>
          <a:prstGeom prst="rect">
            <a:avLst/>
          </a:prstGeom>
          <a:noFill/>
          <a:ln/>
        </p:spPr>
        <p:txBody>
          <a:bodyPr wrap="square" lIns="0" tIns="0" rIns="0" bIns="0" rtlCol="0" anchor="ctr"/>
          <a:lstStyle/>
          <a:p>
            <a:pPr algn="ctr" indent="0" marL="0">
              <a:buNone/>
            </a:pPr>
            <a:r>
              <a:rPr lang="en-US" sz="1500" dirty="0">
                <a:solidFill>
                  <a:schemeClr val="tx1"/>
                </a:solidFill>
              </a:rPr>
              <a:t>Task: the minimum cost of products X, Y, Z under three limits (answer 20000)</a:t>
            </a:r>
            <a:endParaRPr lang="en-US" sz="1500" dirty="0"/>
          </a:p>
        </p:txBody>
      </p:sp>
      <p:sp>
        <p:nvSpPr>
          <p:cNvPr id="41" name="box ✗ no hint: it calls "/>
          <p:cNvSpPr/>
          <p:nvPr/>
        </p:nvSpPr>
        <p:spPr>
          <a:xfrm>
            <a:off x="777240" y="3383280"/>
            <a:ext cx="4892040" cy="502920"/>
          </a:xfrm>
          <a:prstGeom prst="roundRect">
            <a:avLst>
              <a:gd name="adj" fmla="val 10909"/>
            </a:avLst>
          </a:prstGeom>
          <a:solidFill>
            <a:srgbClr val="FADBD8"/>
          </a:solidFill>
          <a:ln w="9525">
            <a:solidFill>
              <a:srgbClr val="BFBFBF"/>
            </a:solidFill>
            <a:prstDash val="solid"/>
          </a:ln>
        </p:spPr>
      </p:sp>
      <p:sp>
        <p:nvSpPr>
          <p:cNvPr id="42" name="Text 22"/>
          <p:cNvSpPr txBox="1"/>
          <p:nvPr/>
        </p:nvSpPr>
        <p:spPr>
          <a:xfrm>
            <a:off x="850392" y="3383280"/>
            <a:ext cx="4745736" cy="50292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43" name="box ✓ hint = its own che"/>
          <p:cNvSpPr/>
          <p:nvPr/>
        </p:nvSpPr>
        <p:spPr>
          <a:xfrm>
            <a:off x="777240" y="3977640"/>
            <a:ext cx="4892040" cy="731520"/>
          </a:xfrm>
          <a:prstGeom prst="roundRect">
            <a:avLst>
              <a:gd name="adj" fmla="val 7500"/>
            </a:avLst>
          </a:prstGeom>
          <a:solidFill>
            <a:srgbClr val="E2F0D9"/>
          </a:solidFill>
          <a:ln w="9525">
            <a:solidFill>
              <a:srgbClr val="BFBFBF"/>
            </a:solidFill>
            <a:prstDash val="solid"/>
          </a:ln>
        </p:spPr>
      </p:sp>
      <p:sp>
        <p:nvSpPr>
          <p:cNvPr id="44" name="Text 24"/>
          <p:cNvSpPr txBox="1"/>
          <p:nvPr/>
        </p:nvSpPr>
        <p:spPr>
          <a:xfrm>
            <a:off x="850392" y="3977640"/>
            <a:ext cx="4745736" cy="731520"/>
          </a:xfrm>
          <a:prstGeom prst="rect">
            <a:avLst/>
          </a:prstGeom>
          <a:noFill/>
          <a:ln/>
        </p:spPr>
        <p:txBody>
          <a:bodyPr wrap="square" lIns="0" tIns="0" rIns="0" bIns="0" rtlCol="0" anchor="ctr"/>
          <a:lstStyle/>
          <a:p>
            <a:pPr algn="ctr" indent="0" marL="0">
              <a:buNone/>
            </a:pPr>
            <a:r>
              <a:rPr lang="en-US" sz="1500" dirty="0">
                <a:solidFill>
                  <a:srgbClr val="38761D"/>
                </a:solidFill>
              </a:rPr>
              <a:t>✓ hint = its own checked program from another problem: both versions print 20000 → submit</a:t>
            </a:r>
            <a:endParaRPr lang="en-US" sz="1500" dirty="0"/>
          </a:p>
        </p:txBody>
      </p:sp>
      <p:sp>
        <p:nvSpPr>
          <p:cNvPr id="45" name="Text 25"/>
          <p:cNvSpPr txBox="1"/>
          <p:nvPr/>
        </p:nvSpPr>
        <p:spPr>
          <a:xfrm>
            <a:off x="777240" y="484632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46"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47" name="Text 27"/>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48" name="Text 28"/>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9" name="Text 29"/>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0" name="Text 30"/>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1" name="Text 31"/>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2"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53" name="Text 33"/>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54" name="Text 34"/>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55" name="Text 35"/>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56"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57" name="Text 37"/>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58" name="Text 38"/>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59" name="Text 39"/>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0"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1" name="Text 41"/>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2" name="Text 42"/>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63" name="Text 4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60020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600200"/>
            <a:ext cx="4206240" cy="685800"/>
          </a:xfrm>
          <a:prstGeom prst="roundRect">
            <a:avLst>
              <a:gd name="adj" fmla="val 8000"/>
            </a:avLst>
          </a:prstGeom>
          <a:solidFill>
            <a:srgbClr val="F2F2F2"/>
          </a:solidFill>
          <a:ln w="9525">
            <a:solidFill>
              <a:srgbClr val="BFBFBF"/>
            </a:solidFill>
            <a:prstDash val="solid"/>
          </a:ln>
        </p:spPr>
      </p:sp>
      <p:sp>
        <p:nvSpPr>
          <p:cNvPr id="7" name="Text 5"/>
          <p:cNvSpPr txBox="1"/>
          <p:nvPr/>
        </p:nvSpPr>
        <p:spPr>
          <a:xfrm>
            <a:off x="2176272" y="160020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737360"/>
            <a:ext cx="411480" cy="411480"/>
          </a:xfrm>
          <a:prstGeom prst="rect">
            <a:avLst/>
          </a:prstGeom>
        </p:spPr>
      </p:pic>
      <p:sp>
        <p:nvSpPr>
          <p:cNvPr id="9" name="Text 6"/>
          <p:cNvSpPr txBox="1"/>
          <p:nvPr/>
        </p:nvSpPr>
        <p:spPr>
          <a:xfrm>
            <a:off x="2743200" y="1600200"/>
            <a:ext cx="3474720" cy="685800"/>
          </a:xfrm>
          <a:prstGeom prst="rect">
            <a:avLst/>
          </a:prstGeom>
          <a:noFill/>
          <a:ln/>
        </p:spPr>
        <p:txBody>
          <a:bodyPr wrap="square" lIns="0" tIns="0" rIns="0" bIns="0" rtlCol="0" anchor="ctr"/>
          <a:lstStyle/>
          <a:p>
            <a:pPr indent="0" marL="0">
              <a:buNone/>
            </a:pPr>
            <a:r>
              <a:rPr lang="en-US" sz="1500" dirty="0">
                <a:solidFill>
                  <a:srgbClr val="404040"/>
                </a:solidFill>
              </a:rPr>
              <a:t>think more on hard-looking problems, or train the model when to think</a:t>
            </a:r>
            <a:endParaRPr lang="en-US" sz="1500" dirty="0"/>
          </a:p>
        </p:txBody>
      </p:sp>
      <p:sp>
        <p:nvSpPr>
          <p:cNvPr id="10" name="arrow 0"/>
          <p:cNvSpPr/>
          <p:nvPr/>
        </p:nvSpPr>
        <p:spPr>
          <a:xfrm>
            <a:off x="6400800" y="178308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600200"/>
            <a:ext cx="4663440" cy="685800"/>
          </a:xfrm>
          <a:prstGeom prst="roundRect">
            <a:avLst>
              <a:gd name="adj" fmla="val 8000"/>
            </a:avLst>
          </a:prstGeom>
          <a:solidFill>
            <a:srgbClr val="DEEBF7"/>
          </a:solidFill>
          <a:ln w="9525">
            <a:solidFill>
              <a:srgbClr val="BFBFBF"/>
            </a:solidFill>
            <a:prstDash val="solid"/>
          </a:ln>
        </p:spPr>
      </p:sp>
      <p:sp>
        <p:nvSpPr>
          <p:cNvPr id="12" name="Text 9"/>
          <p:cNvSpPr txBox="1"/>
          <p:nvPr/>
        </p:nvSpPr>
        <p:spPr>
          <a:xfrm>
            <a:off x="7022592" y="160020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737360"/>
            <a:ext cx="411480" cy="411480"/>
          </a:xfrm>
          <a:prstGeom prst="rect">
            <a:avLst/>
          </a:prstGeom>
        </p:spPr>
      </p:pic>
      <p:sp>
        <p:nvSpPr>
          <p:cNvPr id="14" name="Text 10"/>
          <p:cNvSpPr txBox="1"/>
          <p:nvPr/>
        </p:nvSpPr>
        <p:spPr>
          <a:xfrm>
            <a:off x="7589520" y="160020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 (208 problems)</a:t>
            </a:r>
            <a:endParaRPr lang="en-US" sz="1500" dirty="0"/>
          </a:p>
        </p:txBody>
      </p:sp>
      <p:sp>
        <p:nvSpPr>
          <p:cNvPr id="15" name="Text 11"/>
          <p:cNvSpPr txBox="1"/>
          <p:nvPr/>
        </p:nvSpPr>
        <p:spPr>
          <a:xfrm>
            <a:off x="548640" y="242316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423160"/>
            <a:ext cx="4206240" cy="685800"/>
          </a:xfrm>
          <a:prstGeom prst="roundRect">
            <a:avLst>
              <a:gd name="adj" fmla="val 8000"/>
            </a:avLst>
          </a:prstGeom>
          <a:solidFill>
            <a:srgbClr val="F2F2F2"/>
          </a:solidFill>
          <a:ln w="9525">
            <a:solidFill>
              <a:srgbClr val="BFBFBF"/>
            </a:solidFill>
            <a:prstDash val="solid"/>
          </a:ln>
        </p:spPr>
      </p:sp>
      <p:sp>
        <p:nvSpPr>
          <p:cNvPr id="17" name="Text 13"/>
          <p:cNvSpPr txBox="1"/>
          <p:nvPr/>
        </p:nvSpPr>
        <p:spPr>
          <a:xfrm>
            <a:off x="2176272" y="242316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560320"/>
            <a:ext cx="411480" cy="411480"/>
          </a:xfrm>
          <a:prstGeom prst="rect">
            <a:avLst/>
          </a:prstGeom>
        </p:spPr>
      </p:pic>
      <p:sp>
        <p:nvSpPr>
          <p:cNvPr id="19" name="Text 14"/>
          <p:cNvSpPr txBox="1"/>
          <p:nvPr/>
        </p:nvSpPr>
        <p:spPr>
          <a:xfrm>
            <a:off x="2743200" y="2423160"/>
            <a:ext cx="3474720" cy="685800"/>
          </a:xfrm>
          <a:prstGeom prst="rect">
            <a:avLst/>
          </a:prstGeom>
          <a:noFill/>
          <a:ln/>
        </p:spPr>
        <p:txBody>
          <a:bodyPr wrap="square" lIns="0" tIns="0" rIns="0" bIns="0" rtlCol="0" anchor="ctr"/>
          <a:lstStyle/>
          <a:p>
            <a:pPr indent="0" marL="0">
              <a:buNone/>
            </a:pPr>
            <a:r>
              <a:rPr lang="en-US" sz="1500" dirty="0">
                <a:solidFill>
                  <a:srgbClr val="404040"/>
                </a:solidFill>
              </a:rPr>
              <a:t>the whole manual, or programs from a bigger model checked with answers</a:t>
            </a:r>
            <a:endParaRPr lang="en-US" sz="1500" dirty="0"/>
          </a:p>
        </p:txBody>
      </p:sp>
      <p:sp>
        <p:nvSpPr>
          <p:cNvPr id="20" name="arrow 1"/>
          <p:cNvSpPr/>
          <p:nvPr/>
        </p:nvSpPr>
        <p:spPr>
          <a:xfrm>
            <a:off x="6400800" y="2606040"/>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423160"/>
            <a:ext cx="4663440" cy="685800"/>
          </a:xfrm>
          <a:prstGeom prst="roundRect">
            <a:avLst>
              <a:gd name="adj" fmla="val 8000"/>
            </a:avLst>
          </a:prstGeom>
          <a:solidFill>
            <a:srgbClr val="DEEBF7"/>
          </a:solidFill>
          <a:ln w="9525">
            <a:solidFill>
              <a:srgbClr val="BFBFBF"/>
            </a:solidFill>
            <a:prstDash val="solid"/>
          </a:ln>
        </p:spPr>
      </p:sp>
      <p:sp>
        <p:nvSpPr>
          <p:cNvPr id="22" name="Text 17"/>
          <p:cNvSpPr txBox="1"/>
          <p:nvPr/>
        </p:nvSpPr>
        <p:spPr>
          <a:xfrm>
            <a:off x="7022592" y="242316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560320"/>
            <a:ext cx="411480" cy="411480"/>
          </a:xfrm>
          <a:prstGeom prst="rect">
            <a:avLst/>
          </a:prstGeom>
        </p:spPr>
      </p:pic>
      <p:sp>
        <p:nvSpPr>
          <p:cNvPr id="24" name="Text 18"/>
          <p:cNvSpPr txBox="1"/>
          <p:nvPr/>
        </p:nvSpPr>
        <p:spPr>
          <a:xfrm>
            <a:off x="7589520" y="242316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one short hint: the model's own program that passed the check; no answers</a:t>
            </a:r>
            <a:endParaRPr lang="en-US" sz="1500" dirty="0"/>
          </a:p>
        </p:txBody>
      </p:sp>
      <p:sp>
        <p:nvSpPr>
          <p:cNvPr id="25" name="Text 19"/>
          <p:cNvSpPr txBox="1"/>
          <p:nvPr/>
        </p:nvSpPr>
        <p:spPr>
          <a:xfrm>
            <a:off x="548640" y="324612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What it costs</a:t>
            </a:r>
            <a:endParaRPr lang="en-US" sz="1600" dirty="0"/>
          </a:p>
        </p:txBody>
      </p:sp>
      <p:sp>
        <p:nvSpPr>
          <p:cNvPr id="26" name="box "/>
          <p:cNvSpPr/>
          <p:nvPr/>
        </p:nvSpPr>
        <p:spPr>
          <a:xfrm>
            <a:off x="2103120" y="3246120"/>
            <a:ext cx="4206240" cy="685800"/>
          </a:xfrm>
          <a:prstGeom prst="roundRect">
            <a:avLst>
              <a:gd name="adj" fmla="val 8000"/>
            </a:avLst>
          </a:prstGeom>
          <a:solidFill>
            <a:srgbClr val="F2F2F2"/>
          </a:solidFill>
          <a:ln w="9525">
            <a:solidFill>
              <a:srgbClr val="BFBFBF"/>
            </a:solidFill>
            <a:prstDash val="solid"/>
          </a:ln>
        </p:spPr>
      </p:sp>
      <p:sp>
        <p:nvSpPr>
          <p:cNvPr id="27" name="Text 21"/>
          <p:cNvSpPr txBox="1"/>
          <p:nvPr/>
        </p:nvSpPr>
        <p:spPr>
          <a:xfrm>
            <a:off x="2176272" y="324612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383280"/>
            <a:ext cx="411480" cy="411480"/>
          </a:xfrm>
          <a:prstGeom prst="rect">
            <a:avLst/>
          </a:prstGeom>
        </p:spPr>
      </p:pic>
      <p:sp>
        <p:nvSpPr>
          <p:cNvPr id="29" name="Text 22"/>
          <p:cNvSpPr txBox="1"/>
          <p:nvPr/>
        </p:nvSpPr>
        <p:spPr>
          <a:xfrm>
            <a:off x="2743200" y="3246120"/>
            <a:ext cx="347472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(ORLM-8B): 69.5% on MAMO</a:t>
            </a:r>
            <a:endParaRPr lang="en-US" sz="1500" dirty="0"/>
          </a:p>
        </p:txBody>
      </p:sp>
      <p:sp>
        <p:nvSpPr>
          <p:cNvPr id="30" name="arrow 2"/>
          <p:cNvSpPr/>
          <p:nvPr/>
        </p:nvSpPr>
        <p:spPr>
          <a:xfrm>
            <a:off x="6400800" y="3429000"/>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3246120"/>
            <a:ext cx="4663440" cy="685800"/>
          </a:xfrm>
          <a:prstGeom prst="roundRect">
            <a:avLst>
              <a:gd name="adj" fmla="val 8000"/>
            </a:avLst>
          </a:prstGeom>
          <a:solidFill>
            <a:srgbClr val="DEEBF7"/>
          </a:solidFill>
          <a:ln w="9525">
            <a:solidFill>
              <a:srgbClr val="BFBFBF"/>
            </a:solidFill>
            <a:prstDash val="solid"/>
          </a:ln>
        </p:spPr>
      </p:sp>
      <p:sp>
        <p:nvSpPr>
          <p:cNvPr id="32" name="Text 25"/>
          <p:cNvSpPr txBox="1"/>
          <p:nvPr/>
        </p:nvSpPr>
        <p:spPr>
          <a:xfrm>
            <a:off x="7022592" y="324612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383280"/>
            <a:ext cx="411480" cy="411480"/>
          </a:xfrm>
          <a:prstGeom prst="rect">
            <a:avLst/>
          </a:prstGeom>
        </p:spPr>
      </p:pic>
      <p:sp>
        <p:nvSpPr>
          <p:cNvPr id="34" name="Text 26"/>
          <p:cNvSpPr txBox="1"/>
          <p:nvPr/>
        </p:nvSpPr>
        <p:spPr>
          <a:xfrm>
            <a:off x="7589520" y="324612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untrained Qwen3-8B + that hint, one 24 GB GPU: the same 69.5%</a:t>
            </a:r>
            <a:endParaRPr lang="en-US" sz="1500" dirty="0"/>
          </a:p>
        </p:txBody>
      </p:sp>
      <p:sp>
        <p:nvSpPr>
          <p:cNvPr id="35" name="Text 27"/>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until the final report</a:t>
            </a:r>
            <a:endParaRPr lang="en-US" sz="1600" dirty="0"/>
          </a:p>
        </p:txBody>
      </p:sp>
      <p:sp>
        <p:nvSpPr>
          <p:cNvPr id="36" name="Shape 28"/>
          <p:cNvSpPr/>
          <p:nvPr/>
        </p:nvSpPr>
        <p:spPr>
          <a:xfrm>
            <a:off x="2194560" y="4800600"/>
            <a:ext cx="7772400" cy="0"/>
          </a:xfrm>
          <a:prstGeom prst="line">
            <a:avLst/>
          </a:prstGeom>
          <a:noFill/>
          <a:ln w="38100">
            <a:solidFill>
              <a:srgbClr val="BFBFBF"/>
            </a:solidFill>
            <a:prstDash val="solid"/>
          </a:ln>
        </p:spPr>
      </p:sp>
      <p:sp>
        <p:nvSpPr>
          <p:cNvPr id="37"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8" name="milestone icon 0" descr="/NAS/SJ/POSTECH/nlp/figs/icons/check.png">    </p:cNvPr>
          <p:cNvPicPr>
            <a:picLocks noChangeAspect="1"/>
          </p:cNvPicPr>
          <p:nvPr/>
        </p:nvPicPr>
        <p:blipFill>
          <a:blip r:embed="rId7"/>
          <a:stretch>
            <a:fillRect/>
          </a:stretch>
        </p:blipFill>
        <p:spPr>
          <a:xfrm>
            <a:off x="2020824" y="4626864"/>
            <a:ext cx="347472" cy="347472"/>
          </a:xfrm>
          <a:prstGeom prst="rect">
            <a:avLst/>
          </a:prstGeom>
        </p:spPr>
      </p:pic>
      <p:sp>
        <p:nvSpPr>
          <p:cNvPr id="39" name="Text 30"/>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finish the held-out test on more models</a:t>
            </a:r>
            <a:endParaRPr lang="en-US" sz="1500" dirty="0"/>
          </a:p>
        </p:txBody>
      </p:sp>
      <p:sp>
        <p:nvSpPr>
          <p:cNvPr id="40"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41" name="milestone icon 1" descr="/NAS/SJ/POSTECH/nlp/figs/icons/warn.png">    </p:cNvPr>
          <p:cNvPicPr>
            <a:picLocks noChangeAspect="1"/>
          </p:cNvPicPr>
          <p:nvPr/>
        </p:nvPicPr>
        <p:blipFill>
          <a:blip r:embed="rId8"/>
          <a:stretch>
            <a:fillRect/>
          </a:stretch>
        </p:blipFill>
        <p:spPr>
          <a:xfrm>
            <a:off x="5907024" y="4626864"/>
            <a:ext cx="347472" cy="347472"/>
          </a:xfrm>
          <a:prstGeom prst="rect">
            <a:avLst/>
          </a:prstGeom>
        </p:spPr>
      </p:pic>
      <p:sp>
        <p:nvSpPr>
          <p:cNvPr id="42" name="Text 32"/>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errors no check catches: programs that run but model the problem wrong</a:t>
            </a:r>
            <a:endParaRPr lang="en-US" sz="1500" dirty="0"/>
          </a:p>
        </p:txBody>
      </p:sp>
      <p:sp>
        <p:nvSpPr>
          <p:cNvPr id="43"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4"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5" name="Text 34"/>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hints for every problem type; report and code</a:t>
            </a:r>
            <a:endParaRPr lang="en-US" sz="1500" dirty="0"/>
          </a:p>
        </p:txBody>
      </p:sp>
      <p:sp>
        <p:nvSpPr>
          <p:cNvPr id="46" name="Text 3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20).</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2026-10-19T19:09:59Z</dcterms:created>
  <dcterms:modified xsi:type="dcterms:W3CDTF">2026-10-19T19:09:59Z</dcterms:modified>
</cp:coreProperties>
</file>