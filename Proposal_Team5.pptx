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b98485c-2685-ccc7-7d46-845684e7c05d}">
          <p14:sldIdLst>
            <p14:sldId id="256"/>
            <p14:sldId id="257"/>
            <p14:sldId id="258"/>
            <p14:sldId id="259"/>
            <p14:sldId id="260"/>
            <p14:sldId id="261"/>
            <p14:sldId id="262"/>
            <p14:sldId id="263"/>
            <p14:sldId id="264"/>
          </p14:sldIdLst>
        </p14:section>
        <p14:section name="Extra pages" id="{64b7378b-f2a2-c5d3-84c9-2dcba15a4cde}">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하지만 두 가지가 문제입니다. 첫째, 프로그램은 조용히 틀립니다. 왼쪽 그림처럼 점 10개를 고무줄로 감싸면 꼭짓점이 6개입니다. 같은 모델에게 이 개수를 세는 프로그램을 두 번 짜게 했습니다. 문제만 준 프로그램 A는 6을 내고, 필요 없는 도우미 함수 8개를 같이 준 프로그램 B는 0을 냅니다. B는 에러 없이 그냥 틀린 숫자를 내서, 답을 모르면 틀린 줄 알 수 없습니다. 없는 함수를 불러 아예 멈추기도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두 번째 발견입니다. 생각은 공짜 검사가 실패한 문제에만 쓰세요. 공짜 검사란, 정답 없이 프로그램을 실행해서 이미 아는 것과 비교해 보는 것으로, 토큰이 거의 들지 않습니다. 예를 들어 경시 문제에는 막대가 3, 4, 5이면 답은 0이라는 예제가 있습니다. 프로그램에 3, 4, 5를 넣어 0이 나오면 그대로 내고, 다르면 그 문제만 더 생각해서 다시 짭니다. 예제가 없으면 프로그램을 두 가지로 짜서, 6과 0처럼 답이 다를 때만 생각합니다. 결과는 오른쪽입니다. 경시 문제는 항상 오래 생각할 때와 같은 66%를 3만 대신 2만 5천 토큰에, 기하는 99%를 5.9k 대신 4.3k 토큰에 얻습니다. 정답은 필요 없습니다.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(65초) 둘을 합친 것이 저희 방법입니다. 위의 네 단계입니다. 힌트를 붙여 프로그램을 쓰고, 공짜 검사를 돌려서, 통과하면 내고 실패하면 그때만 생각합니다. 같은 종류가 다시 오면 그 프로그램을 재사용합니다. 아이콘은 각 단계를 쓰는 문제 종류입니다. 왼쪽은 힌트를 만드는 법입니다. 같은 종류의 앞선 문제들에서 모델이 짠 프로그램 중 실행되어 숫자를 낸 것을 모으고, 가장 짧은 것을 예시로 프롬프트에 붙입니다. 사람도 정답도 필요 없습니다. 실제 문제에서 힌트가 없으면 없는 함수를 불러 죽지만, 힌트가 있으면 두 버전이 모두 20000을 내서 바로 제출하고, 토큰은 생각만 할 때의 5.3k 대신 0.6k입니다. 오른쪽은 전체 결과입니다. 기하와 최적화 208문제를 세 모델로 풀면, 답이 갈리는 문제에 생각을 몰아주는 기존 방식은 74%, 검사가 실패할 때만 생각하면 77%, 여기에 검색한 힌트를 먼저 주면 84%, 사람이 쓴 힌트면 87%이고 토큰도 더 적습니다.
[참고, 읽지 않음] 힌트 풀의 검사는 '실행되어 숫자를 냄'뿐이라, 풀 안에도 틀린 프로그램이 있습니다(8B 이상 모델에서 17~38%). 정답으로 나중에 확인해 보니, 실제로 고른 가장 짧은 프로그램은 8B 이상 다섯 모델 모두에서 맞았고, Qwen3-4B와 1.7B에서는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새로운 점은 세 가지입니다. 학습 없이 공짜 검사가 실패할 때만 생각하면 74%가 77%가 되고, 매뉴얼 대신 짧은 힌트를 먼저 주면 87%가 되며, 그 힌트는 사람 없이 골라도 됩니다. 그리고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and what does it do?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라이브러리를 어떻게 부르는지 보여 줍니다. 사람이 쓴 힌트는 경로 문제에서 OR-Tools 사용법 11줄로, 이 문제의 숫자도 답도 없고 30문제에 똑같이 붙습니다. 자동 힌트는 같은 종류의 다른 문제, 예를 들어 밴과 트럭 문제에서 모델이 짜서 검사를 통과한 가장 짧은 프로그램입니다. 그 문제의 숫자와 제약이 들어 있지만, 가장 짧은 것을 고르면 거의 함수 호출만 남습니다. 힌트가 하는 일은 없는 함수 이름을 지어내지 않게 하는 것입니다. Qwen3-1.7B는 힌트 없이 존재하지 않는 Solver.SUCCESS, solver.INFINITY를 써서 0.1%였고, 힌트를 주면 45%입니다. 하지만 문제를 수식으로 옮기는 일은 여전히 모델의 몫이라 남은 오류는 대부분 잘못된 수식입니다. 참고로 가장 짧은 것 대신 가장 비슷한 문제의 프로그램을 주면 수식 패턴까지 따라 들어가서, 그 프로그램이 맞으면 반복되는 수식 실수를 고치고, 틀리면 같이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685800"/>
          </a:xfrm>
          <a:prstGeom prst="rect">
            <a:avLst/>
          </a:prstGeom>
          <a:noFill/>
          <a:ln/>
        </p:spPr>
        <p:txBody>
          <a:bodyPr wrap="square" lIns="0" tIns="0" rIns="0" bIns="0" rtlCol="0" anchor="t"/>
          <a:lstStyle/>
          <a:p>
            <a:pPr indent="0" marL="0">
              <a:buNone/>
            </a:pPr>
            <a:r>
              <a:rPr lang="en-US" sz="1300" dirty="0">
                <a:solidFill>
                  <a:schemeClr val="tx2"/>
                </a:solidFill>
              </a:rPr>
              <a:t>A: the task only. B: the task + 8 helper functions it did not need (Qwen3-14B)</a:t>
            </a:r>
            <a:endParaRPr lang="en-US" sz="13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Hint pool: its own checked programs (no human)</a:t>
            </a:r>
            <a:endParaRPr lang="en-US" sz="1700" dirty="0"/>
          </a:p>
        </p:txBody>
      </p:sp>
      <p:sp>
        <p:nvSpPr>
          <p:cNvPr id="39" name="box programs on earlier "/>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programs on earlier problems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runs and prints a "/>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runs and prints a number</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pasted as "/>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pasted as an example</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77824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92640" y="2724912"/>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77824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92640" y="3191256"/>
            <a:ext cx="937260" cy="256032"/>
          </a:xfrm>
          <a:prstGeom prst="rect">
            <a:avLst/>
          </a:prstGeom>
          <a:solidFill>
            <a:srgbClr val="7F7F7F"/>
          </a:solidFill>
          <a:ln w="6350">
            <a:solidFill>
              <a:srgbClr val="7F7F7F"/>
            </a:solidFill>
            <a:prstDash val="solid"/>
          </a:ln>
        </p:spPr>
      </p:sp>
      <p:sp>
        <p:nvSpPr>
          <p:cNvPr id="60" name="Text 40"/>
          <p:cNvSpPr txBox="1"/>
          <p:nvPr/>
        </p:nvSpPr>
        <p:spPr>
          <a:xfrm>
            <a:off x="1072134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29584"/>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think when the check fails</a:t>
            </a:r>
            <a:endParaRPr lang="en-US" sz="1500" dirty="0"/>
          </a:p>
        </p:txBody>
      </p:sp>
      <p:sp>
        <p:nvSpPr>
          <p:cNvPr id="62" name="Text 42"/>
          <p:cNvSpPr txBox="1"/>
          <p:nvPr/>
        </p:nvSpPr>
        <p:spPr>
          <a:xfrm>
            <a:off x="877824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77%</a:t>
            </a:r>
            <a:endParaRPr lang="en-US" sz="1700" dirty="0"/>
          </a:p>
        </p:txBody>
      </p:sp>
      <p:sp>
        <p:nvSpPr>
          <p:cNvPr id="63" name="tokens think when the check fails"/>
          <p:cNvSpPr/>
          <p:nvPr/>
        </p:nvSpPr>
        <p:spPr>
          <a:xfrm>
            <a:off x="9692640" y="3630168"/>
            <a:ext cx="960120" cy="256032"/>
          </a:xfrm>
          <a:prstGeom prst="rect">
            <a:avLst/>
          </a:prstGeom>
          <a:solidFill>
            <a:srgbClr val="7F7F7F"/>
          </a:solidFill>
          <a:ln w="6350">
            <a:solidFill>
              <a:srgbClr val="7F7F7F"/>
            </a:solidFill>
            <a:prstDash val="solid"/>
          </a:ln>
        </p:spPr>
      </p:sp>
      <p:sp>
        <p:nvSpPr>
          <p:cNvPr id="64" name="Text 44"/>
          <p:cNvSpPr txBox="1"/>
          <p:nvPr/>
        </p:nvSpPr>
        <p:spPr>
          <a:xfrm>
            <a:off x="10744200"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4.2k</a:t>
            </a:r>
            <a:endParaRPr lang="en-US" sz="1500" dirty="0"/>
          </a:p>
        </p:txBody>
      </p:sp>
      <p:sp>
        <p:nvSpPr>
          <p:cNvPr id="65" name="Text 45"/>
          <p:cNvSpPr txBox="1"/>
          <p:nvPr/>
        </p:nvSpPr>
        <p:spPr>
          <a:xfrm>
            <a:off x="6400800" y="396849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 hint found by search</a:t>
            </a:r>
            <a:endParaRPr lang="en-US" sz="1500" dirty="0"/>
          </a:p>
        </p:txBody>
      </p:sp>
      <p:sp>
        <p:nvSpPr>
          <p:cNvPr id="66" name="Text 46"/>
          <p:cNvSpPr txBox="1"/>
          <p:nvPr/>
        </p:nvSpPr>
        <p:spPr>
          <a:xfrm>
            <a:off x="8778240" y="3968496"/>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7" name="tokens + hint found by search"/>
          <p:cNvSpPr/>
          <p:nvPr/>
        </p:nvSpPr>
        <p:spPr>
          <a:xfrm>
            <a:off x="9692640" y="4069080"/>
            <a:ext cx="754380" cy="256032"/>
          </a:xfrm>
          <a:prstGeom prst="rect">
            <a:avLst/>
          </a:prstGeom>
          <a:solidFill>
            <a:srgbClr val="5B9BD5"/>
          </a:solidFill>
          <a:ln w="6350">
            <a:solidFill>
              <a:srgbClr val="5B9BD5"/>
            </a:solidFill>
            <a:prstDash val="solid"/>
          </a:ln>
        </p:spPr>
      </p:sp>
      <p:sp>
        <p:nvSpPr>
          <p:cNvPr id="68" name="Text 48"/>
          <p:cNvSpPr txBox="1"/>
          <p:nvPr/>
        </p:nvSpPr>
        <p:spPr>
          <a:xfrm>
            <a:off x="10538460" y="3968496"/>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9" name="Text 49"/>
          <p:cNvSpPr txBox="1"/>
          <p:nvPr/>
        </p:nvSpPr>
        <p:spPr>
          <a:xfrm>
            <a:off x="6400800" y="4407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 hand-written hint</a:t>
            </a:r>
            <a:endParaRPr lang="en-US" sz="1500" dirty="0"/>
          </a:p>
        </p:txBody>
      </p:sp>
      <p:sp>
        <p:nvSpPr>
          <p:cNvPr id="70" name="Text 50"/>
          <p:cNvSpPr txBox="1"/>
          <p:nvPr/>
        </p:nvSpPr>
        <p:spPr>
          <a:xfrm>
            <a:off x="8778240" y="4407408"/>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71" name="tokens + hand-written hint"/>
          <p:cNvSpPr/>
          <p:nvPr/>
        </p:nvSpPr>
        <p:spPr>
          <a:xfrm>
            <a:off x="9692640" y="4507992"/>
            <a:ext cx="571500" cy="256032"/>
          </a:xfrm>
          <a:prstGeom prst="rect">
            <a:avLst/>
          </a:prstGeom>
          <a:solidFill>
            <a:srgbClr val="4472C4"/>
          </a:solidFill>
          <a:ln w="6350">
            <a:solidFill>
              <a:srgbClr val="4472C4"/>
            </a:solidFill>
            <a:prstDash val="solid"/>
          </a:ln>
        </p:spPr>
      </p:sp>
      <p:sp>
        <p:nvSpPr>
          <p:cNvPr id="72" name="Text 52"/>
          <p:cNvSpPr txBox="1"/>
          <p:nvPr/>
        </p:nvSpPr>
        <p:spPr>
          <a:xfrm>
            <a:off x="10355580" y="4407408"/>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73" name="Text 53"/>
          <p:cNvSpPr txBox="1"/>
          <p:nvPr/>
        </p:nvSpPr>
        <p:spPr>
          <a:xfrm>
            <a:off x="6400800" y="4919472"/>
            <a:ext cx="4983480" cy="548640"/>
          </a:xfrm>
          <a:prstGeom prst="rect">
            <a:avLst/>
          </a:prstGeom>
          <a:noFill/>
          <a:ln/>
        </p:spPr>
        <p:txBody>
          <a:bodyPr wrap="square" lIns="0" tIns="0" rIns="0" bIns="0" rtlCol="0" anchor="t"/>
          <a:lstStyle/>
          <a:p>
            <a:pPr indent="0" marL="0">
              <a:buNone/>
            </a:pPr>
            <a:r>
              <a:rPr lang="en-US" sz="1400" dirty="0">
                <a:solidFill>
                  <a:schemeClr val="tx2"/>
                </a:solidFill>
              </a:rPr>
              <a:t>Held-out MAMO (863): a hint picked with no human = a hand-written one (79% = 79%, gpt-oss-20b)</a:t>
            </a:r>
            <a:endParaRPr lang="en-US" sz="1400" dirty="0"/>
          </a:p>
        </p:txBody>
      </p:sp>
      <p:sp>
        <p:nvSpPr>
          <p:cNvPr id="74"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 74%</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77%</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 short hint first: 87%; one picked with no human matches it</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and what does it do?</a:t>
            </a:r>
            <a:endParaRPr lang="en-US" sz="3600" dirty="0"/>
          </a:p>
        </p:txBody>
      </p:sp>
      <p:sp>
        <p:nvSpPr>
          <p:cNvPr id="3" name="hand-written fact"/>
          <p:cNvSpPr/>
          <p:nvPr/>
        </p:nvSpPr>
        <p:spPr>
          <a:xfrm>
            <a:off x="548640" y="1280160"/>
            <a:ext cx="5440680" cy="2194560"/>
          </a:xfrm>
          <a:prstGeom prst="roundRect">
            <a:avLst>
              <a:gd name="adj" fmla="val 3333"/>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Written by hand (routing): library usage only</a:t>
            </a:r>
            <a:endParaRPr lang="en-US" sz="1600" dirty="0"/>
          </a:p>
        </p:txBody>
      </p:sp>
      <p:sp>
        <p:nvSpPr>
          <p:cNvPr id="5" name="Text 3"/>
          <p:cNvSpPr txBox="1"/>
          <p:nvPr/>
        </p:nvSpPr>
        <p:spPr>
          <a:xfrm>
            <a:off x="77724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mgr = pywrapcp.RoutingIndexManager(n + 1, K, 0)</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 = pywrapcp.RoutingModel(mgr)</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dcb = r.RegisterUnaryTransitCallback(demand)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r.AddDimensionWithVehicleCapacity(dcb, ...)</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 = r.SolveWithParameters(p)</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11 lines, the same for all 30 problems</a:t>
            </a:r>
            <a:endParaRPr lang="en-US" sz="1300" dirty="0"/>
          </a:p>
        </p:txBody>
      </p:sp>
      <p:sp>
        <p:nvSpPr>
          <p:cNvPr id="6" name="automatic fact"/>
          <p:cNvSpPr/>
          <p:nvPr/>
        </p:nvSpPr>
        <p:spPr>
          <a:xfrm>
            <a:off x="6172200" y="1280160"/>
            <a:ext cx="5440680" cy="2194560"/>
          </a:xfrm>
          <a:prstGeom prst="roundRect">
            <a:avLst>
              <a:gd name="adj" fmla="val 3333"/>
            </a:avLst>
          </a:prstGeom>
          <a:solidFill>
            <a:srgbClr val="F2F2F2"/>
          </a:solidFill>
          <a:ln w="9525">
            <a:solidFill>
              <a:srgbClr val="D9D9D9"/>
            </a:solidFill>
            <a:prstDash val="solid"/>
          </a:ln>
        </p:spPr>
      </p:sp>
      <p:sp>
        <p:nvSpPr>
          <p:cNvPr id="7" name="Text 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Automatic (word problems): another problem's program</a:t>
            </a:r>
            <a:endParaRPr lang="en-US" sz="1600" dirty="0"/>
          </a:p>
        </p:txBody>
      </p:sp>
      <p:sp>
        <p:nvSpPr>
          <p:cNvPr id="8" name="Text 6"/>
          <p:cNvSpPr txBox="1"/>
          <p:nvPr/>
        </p:nvSpPr>
        <p:spPr>
          <a:xfrm>
            <a:off x="640080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solver = pywraplp.Solver.CreateSolver('SCIP')</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 = solver.IntVar(0, solver.infinity(), 'v')</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(that problem's own limits)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solver.Minimize(v)</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status = solver.Solve()</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a vans-and-trucks problem, not this one</a:t>
            </a:r>
            <a:endParaRPr lang="en-US" sz="1300" dirty="0"/>
          </a:p>
        </p:txBody>
      </p:sp>
      <p:sp>
        <p:nvSpPr>
          <p:cNvPr id="9" name="what the fact does"/>
          <p:cNvSpPr/>
          <p:nvPr/>
        </p:nvSpPr>
        <p:spPr>
          <a:xfrm>
            <a:off x="548640" y="3657600"/>
            <a:ext cx="11064240" cy="1600200"/>
          </a:xfrm>
          <a:prstGeom prst="roundRect">
            <a:avLst>
              <a:gd name="adj" fmla="val 4571"/>
            </a:avLst>
          </a:prstGeom>
          <a:solidFill>
            <a:srgbClr val="F2F2F2"/>
          </a:solidFill>
          <a:ln w="9525">
            <a:solidFill>
              <a:srgbClr val="D9D9D9"/>
            </a:solidFill>
            <a:prstDash val="solid"/>
          </a:ln>
        </p:spPr>
      </p:sp>
      <p:sp>
        <p:nvSpPr>
          <p:cNvPr id="10" name="Text 8"/>
          <p:cNvSpPr txBox="1"/>
          <p:nvPr/>
        </p:nvSpPr>
        <p:spPr>
          <a:xfrm>
            <a:off x="777240" y="3712464"/>
            <a:ext cx="4572000" cy="365760"/>
          </a:xfrm>
          <a:prstGeom prst="rect">
            <a:avLst/>
          </a:prstGeom>
          <a:noFill/>
          <a:ln/>
        </p:spPr>
        <p:txBody>
          <a:bodyPr wrap="square" lIns="0" tIns="0" rIns="0" bIns="0" rtlCol="0" anchor="ctr"/>
          <a:lstStyle/>
          <a:p>
            <a:pPr indent="0" marL="0">
              <a:buNone/>
            </a:pPr>
            <a:r>
              <a:rPr lang="en-US" sz="1600" b="1" dirty="0">
                <a:solidFill>
                  <a:srgbClr val="4472C4"/>
                </a:solidFill>
              </a:rPr>
              <a:t>What it does</a:t>
            </a:r>
            <a:endParaRPr lang="en-US" sz="1600" dirty="0"/>
          </a:p>
        </p:txBody>
      </p:sp>
      <p:sp>
        <p:nvSpPr>
          <p:cNvPr id="11" name="Text 9"/>
          <p:cNvSpPr txBox="1"/>
          <p:nvPr/>
        </p:nvSpPr>
        <p:spPr>
          <a:xfrm>
            <a:off x="777240" y="4096512"/>
            <a:ext cx="274320" cy="365760"/>
          </a:xfrm>
          <a:prstGeom prst="rect">
            <a:avLst/>
          </a:prstGeom>
          <a:noFill/>
          <a:ln/>
        </p:spPr>
        <p:txBody>
          <a:bodyPr wrap="square" lIns="0" tIns="0" rIns="0" bIns="0" rtlCol="0" anchor="ctr"/>
          <a:lstStyle/>
          <a:p>
            <a:pPr indent="0" marL="0">
              <a:buNone/>
            </a:pPr>
            <a:r>
              <a:rPr lang="en-US" sz="1700" b="1" dirty="0">
                <a:solidFill>
                  <a:srgbClr val="38761D"/>
                </a:solidFill>
              </a:rPr>
              <a:t>✓</a:t>
            </a:r>
            <a:endParaRPr lang="en-US" sz="1700" dirty="0"/>
          </a:p>
        </p:txBody>
      </p:sp>
      <p:sp>
        <p:nvSpPr>
          <p:cNvPr id="12" name="Text 10"/>
          <p:cNvSpPr txBox="1"/>
          <p:nvPr/>
        </p:nvSpPr>
        <p:spPr>
          <a:xfrm>
            <a:off x="1097280" y="4096512"/>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stops invented function names: Qwen3-1.7B wrote Solver.SUCCESS and solver.INFINITY (do not exist); with the hint 0.1% → 45% solved</a:t>
            </a:r>
            <a:endParaRPr lang="en-US" sz="1400" dirty="0"/>
          </a:p>
        </p:txBody>
      </p:sp>
      <p:sp>
        <p:nvSpPr>
          <p:cNvPr id="13" name="Text 11"/>
          <p:cNvSpPr txBox="1"/>
          <p:nvPr/>
        </p:nvSpPr>
        <p:spPr>
          <a:xfrm>
            <a:off x="777240" y="4480560"/>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4" name="Text 12"/>
          <p:cNvSpPr txBox="1"/>
          <p:nvPr/>
        </p:nvSpPr>
        <p:spPr>
          <a:xfrm>
            <a:off x="1097280" y="4480560"/>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does not write the equations: modelling the problem is still the model's job (most errors left are wrong equations)</a:t>
            </a:r>
            <a:endParaRPr lang="en-US" sz="1400" dirty="0"/>
          </a:p>
        </p:txBody>
      </p:sp>
      <p:sp>
        <p:nvSpPr>
          <p:cNvPr id="15" name="Text 13"/>
          <p:cNvSpPr txBox="1"/>
          <p:nvPr/>
        </p:nvSpPr>
        <p:spPr>
          <a:xfrm>
            <a:off x="777240" y="4864608"/>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6" name="Text 14"/>
          <p:cNvSpPr txBox="1"/>
          <p:nvPr/>
        </p:nvSpPr>
        <p:spPr>
          <a:xfrm>
            <a:off x="1097280" y="4864608"/>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never holds this problem's numbers or answer: one hint per problem type</a:t>
            </a:r>
            <a:endParaRPr lang="en-US" sz="1400" dirty="0"/>
          </a:p>
        </p:txBody>
      </p:sp>
      <p:sp>
        <p:nvSpPr>
          <p:cNvPr id="17" name="Text 1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shows how to call the library; the model still has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31920"/>
            <a:ext cx="4983480" cy="1554480"/>
          </a:xfrm>
          <a:prstGeom prst="rect">
            <a:avLst/>
          </a:prstGeom>
          <a:noFill/>
          <a:ln/>
        </p:spPr>
        <p:txBody>
          <a:bodyPr wrap="square" lIns="0" tIns="0" rIns="0" bIns="0" rtlCol="0" anchor="t"/>
          <a:lstStyle/>
          <a:p>
            <a:pPr indent="0" marL="0">
              <a:buNone/>
            </a:pPr>
            <a:r>
              <a:rPr lang="en-US" sz="1300" b="1" dirty="0">
                <a:solidFill>
                  <a:schemeClr val="tx1"/>
                </a:solidFill>
              </a:rPr>
              <a:t>Limits: </a:t>
            </a:r>
            <a:pPr indent="0" marL="0">
              <a:buNone/>
            </a:pPr>
            <a:r>
              <a:rPr lang="en-US" sz="1300" dirty="0">
                <a:solidFill>
                  <a:schemeClr val="tx1"/>
                </a:solidFill>
              </a:rPr>
              <a:t>it keeps 60–77% of what a full library gives; the library holds five models' programs; on varied problems it mostly saves tokens. A program that runs can be wrong: 17–38% of the pool for 8B and larger models (the shortest one was right for all five), and the shortest was wrong for Qwen3-4B and 1.7B.</a:t>
            </a:r>
            <a:endParaRPr lang="en-US" sz="13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2026-10-20T01:38:35Z</dcterms:created>
  <dcterms:modified xsi:type="dcterms:W3CDTF">2026-10-20T01:38:35Z</dcterms:modified>
</cp:coreProperties>
</file>