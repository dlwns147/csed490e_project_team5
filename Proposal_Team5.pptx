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4a00954b-f880-1c28-717e-31bf4818fb2a}">
          <p14:sldIdLst>
            <p14:sldId id="256"/>
            <p14:sldId id="257"/>
            <p14:sldId id="258"/>
            <p14:sldId id="259"/>
            <p14:sldId id="260"/>
            <p14:sldId id="261"/>
            <p14:sldId id="262"/>
            <p14:sldId id="263"/>
            <p14:sldId id="264"/>
          </p14:sldIdLst>
        </p14:section>
        <p14:section name="Extra pages" id="{349d383f-aada-8f0a-076c-86e196f94732}">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새로운 점은 세 가지입니다. 학습 없이 공짜 검사로 생각할 때를 정하고, 정답 없이 모델 자신의 프로그램을 힌트로 쓰며, 파인튜닝한 특화 모델 ORLM-8B와 같은 69.5%를 학습하지 않은 8B 모델로 냅니다. 다음으로는 더 많은 모델로 검증하고, 실행은 되지만 문제를 잘못 수식으로 옮긴 오류를 다루고, 문제 종류마다 힌트를 찾겠습니다.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MAMO 검증을 Qwen3-32B와 Qwen3.6까지 세 시드로 마칩니다. 둘, 검사로 못 잡는 오류입니다. 지금 남은 오류의 절반쯤은 정답 라벨이 의심스러운 문제이고, 나머지는 같은 유형에서 같은 수식 실수가 반복됩니다. 예를 들어 순서 제약이나 공급 균형을 잘못 씁니다. 고치기 한 번이나 생각으로는 안 고쳐져서, 힌트 하나로 고쳐지는지 시험합니다. 셋, 지금은 같은 종류의 문제 안에서만 자동 힌트가 통하므로, 문제 종류마다 힌트를 찾고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22: How do we get the exact hint? (slide 5)
16, 17: How do we get a hint that works, cheaply? (slide 5)
18: Can retrieval (RAG) find the hint? (slide 5)
19: Why can thinking make it worse? (slide 5)
20: What if a wrong program passes the check? (slide 6)
21: Is there always a free check? (slide 6)
22: Who writes the hint? (slide 7)
23: Is 'think on the hardest' a weak baseline? (slide 7)
32: What if the same problem repeats? (slide 7)
11: Why no hint for contest problems? (slide 7)
31: Where does the recipe stop? (slide 7)
24, 25, 26: What is new vs PAL and cascades? (slide 8)
27: Why not majority voting? (slide 8)
28, 33: Is the comparison fair? (slide 8)
29: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3.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slideLayout" Target="../slideLayouts/slideLayout3.xml"/><Relationship Id="rId8"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examples alone give 65.0% at 20k; adding a brute-force program as a second check gives 66.3%</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60020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600200"/>
            <a:ext cx="4206240" cy="685800"/>
          </a:xfrm>
          <a:prstGeom prst="roundRect">
            <a:avLst>
              <a:gd name="adj" fmla="val 8000"/>
            </a:avLst>
          </a:prstGeom>
          <a:solidFill>
            <a:srgbClr val="F2F2F2"/>
          </a:solidFill>
          <a:ln w="9525">
            <a:solidFill>
              <a:srgbClr val="BFBFBF"/>
            </a:solidFill>
            <a:prstDash val="solid"/>
          </a:ln>
        </p:spPr>
      </p:sp>
      <p:sp>
        <p:nvSpPr>
          <p:cNvPr id="7" name="Text 5"/>
          <p:cNvSpPr txBox="1"/>
          <p:nvPr/>
        </p:nvSpPr>
        <p:spPr>
          <a:xfrm>
            <a:off x="2176272" y="160020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737360"/>
            <a:ext cx="411480" cy="411480"/>
          </a:xfrm>
          <a:prstGeom prst="rect">
            <a:avLst/>
          </a:prstGeom>
        </p:spPr>
      </p:pic>
      <p:sp>
        <p:nvSpPr>
          <p:cNvPr id="9" name="Text 6"/>
          <p:cNvSpPr txBox="1"/>
          <p:nvPr/>
        </p:nvSpPr>
        <p:spPr>
          <a:xfrm>
            <a:off x="2743200" y="160020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the model when to think</a:t>
            </a:r>
            <a:endParaRPr lang="en-US" sz="1500" dirty="0"/>
          </a:p>
        </p:txBody>
      </p:sp>
      <p:sp>
        <p:nvSpPr>
          <p:cNvPr id="10" name="arrow 0"/>
          <p:cNvSpPr/>
          <p:nvPr/>
        </p:nvSpPr>
        <p:spPr>
          <a:xfrm>
            <a:off x="6400800" y="178308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600200"/>
            <a:ext cx="4663440" cy="685800"/>
          </a:xfrm>
          <a:prstGeom prst="roundRect">
            <a:avLst>
              <a:gd name="adj" fmla="val 8000"/>
            </a:avLst>
          </a:prstGeom>
          <a:solidFill>
            <a:srgbClr val="DEEBF7"/>
          </a:solidFill>
          <a:ln w="9525">
            <a:solidFill>
              <a:srgbClr val="BFBFBF"/>
            </a:solidFill>
            <a:prstDash val="solid"/>
          </a:ln>
        </p:spPr>
      </p:sp>
      <p:sp>
        <p:nvSpPr>
          <p:cNvPr id="12" name="Text 9"/>
          <p:cNvSpPr txBox="1"/>
          <p:nvPr/>
        </p:nvSpPr>
        <p:spPr>
          <a:xfrm>
            <a:off x="7022592" y="160020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737360"/>
            <a:ext cx="411480" cy="411480"/>
          </a:xfrm>
          <a:prstGeom prst="rect">
            <a:avLst/>
          </a:prstGeom>
        </p:spPr>
      </p:pic>
      <p:sp>
        <p:nvSpPr>
          <p:cNvPr id="14" name="Text 10"/>
          <p:cNvSpPr txBox="1"/>
          <p:nvPr/>
        </p:nvSpPr>
        <p:spPr>
          <a:xfrm>
            <a:off x="7589520" y="160020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 (208 problems)</a:t>
            </a:r>
            <a:endParaRPr lang="en-US" sz="1500" dirty="0"/>
          </a:p>
        </p:txBody>
      </p:sp>
      <p:sp>
        <p:nvSpPr>
          <p:cNvPr id="15" name="Text 11"/>
          <p:cNvSpPr txBox="1"/>
          <p:nvPr/>
        </p:nvSpPr>
        <p:spPr>
          <a:xfrm>
            <a:off x="548640" y="242316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423160"/>
            <a:ext cx="4206240" cy="685800"/>
          </a:xfrm>
          <a:prstGeom prst="roundRect">
            <a:avLst>
              <a:gd name="adj" fmla="val 8000"/>
            </a:avLst>
          </a:prstGeom>
          <a:solidFill>
            <a:srgbClr val="F2F2F2"/>
          </a:solidFill>
          <a:ln w="9525">
            <a:solidFill>
              <a:srgbClr val="BFBFBF"/>
            </a:solidFill>
            <a:prstDash val="solid"/>
          </a:ln>
        </p:spPr>
      </p:sp>
      <p:sp>
        <p:nvSpPr>
          <p:cNvPr id="17" name="Text 13"/>
          <p:cNvSpPr txBox="1"/>
          <p:nvPr/>
        </p:nvSpPr>
        <p:spPr>
          <a:xfrm>
            <a:off x="2176272" y="242316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560320"/>
            <a:ext cx="411480" cy="411480"/>
          </a:xfrm>
          <a:prstGeom prst="rect">
            <a:avLst/>
          </a:prstGeom>
        </p:spPr>
      </p:pic>
      <p:sp>
        <p:nvSpPr>
          <p:cNvPr id="19" name="Text 14"/>
          <p:cNvSpPr txBox="1"/>
          <p:nvPr/>
        </p:nvSpPr>
        <p:spPr>
          <a:xfrm>
            <a:off x="2743200" y="242316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the whole manual, or programs from a bigger model checked with answers</a:t>
            </a:r>
            <a:endParaRPr lang="en-US" sz="1500" dirty="0"/>
          </a:p>
        </p:txBody>
      </p:sp>
      <p:sp>
        <p:nvSpPr>
          <p:cNvPr id="20" name="arrow 1"/>
          <p:cNvSpPr/>
          <p:nvPr/>
        </p:nvSpPr>
        <p:spPr>
          <a:xfrm>
            <a:off x="6400800" y="2606040"/>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423160"/>
            <a:ext cx="4663440" cy="685800"/>
          </a:xfrm>
          <a:prstGeom prst="roundRect">
            <a:avLst>
              <a:gd name="adj" fmla="val 8000"/>
            </a:avLst>
          </a:prstGeom>
          <a:solidFill>
            <a:srgbClr val="DEEBF7"/>
          </a:solidFill>
          <a:ln w="9525">
            <a:solidFill>
              <a:srgbClr val="BFBFBF"/>
            </a:solidFill>
            <a:prstDash val="solid"/>
          </a:ln>
        </p:spPr>
      </p:sp>
      <p:sp>
        <p:nvSpPr>
          <p:cNvPr id="22" name="Text 17"/>
          <p:cNvSpPr txBox="1"/>
          <p:nvPr/>
        </p:nvSpPr>
        <p:spPr>
          <a:xfrm>
            <a:off x="7022592" y="242316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560320"/>
            <a:ext cx="411480" cy="411480"/>
          </a:xfrm>
          <a:prstGeom prst="rect">
            <a:avLst/>
          </a:prstGeom>
        </p:spPr>
      </p:pic>
      <p:sp>
        <p:nvSpPr>
          <p:cNvPr id="24" name="Text 18"/>
          <p:cNvSpPr txBox="1"/>
          <p:nvPr/>
        </p:nvSpPr>
        <p:spPr>
          <a:xfrm>
            <a:off x="7589520" y="242316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one short hint: the model's own program that passed the check; no answers</a:t>
            </a:r>
            <a:endParaRPr lang="en-US" sz="1500" dirty="0"/>
          </a:p>
        </p:txBody>
      </p:sp>
      <p:sp>
        <p:nvSpPr>
          <p:cNvPr id="25" name="Text 19"/>
          <p:cNvSpPr txBox="1"/>
          <p:nvPr/>
        </p:nvSpPr>
        <p:spPr>
          <a:xfrm>
            <a:off x="548640" y="324612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3246120"/>
            <a:ext cx="4206240" cy="685800"/>
          </a:xfrm>
          <a:prstGeom prst="roundRect">
            <a:avLst>
              <a:gd name="adj" fmla="val 8000"/>
            </a:avLst>
          </a:prstGeom>
          <a:solidFill>
            <a:srgbClr val="F2F2F2"/>
          </a:solidFill>
          <a:ln w="9525">
            <a:solidFill>
              <a:srgbClr val="BFBFBF"/>
            </a:solidFill>
            <a:prstDash val="solid"/>
          </a:ln>
        </p:spPr>
      </p:sp>
      <p:sp>
        <p:nvSpPr>
          <p:cNvPr id="27" name="Text 21"/>
          <p:cNvSpPr txBox="1"/>
          <p:nvPr/>
        </p:nvSpPr>
        <p:spPr>
          <a:xfrm>
            <a:off x="2176272" y="324612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383280"/>
            <a:ext cx="411480" cy="411480"/>
          </a:xfrm>
          <a:prstGeom prst="rect">
            <a:avLst/>
          </a:prstGeom>
        </p:spPr>
      </p:pic>
      <p:sp>
        <p:nvSpPr>
          <p:cNvPr id="29" name="Text 22"/>
          <p:cNvSpPr txBox="1"/>
          <p:nvPr/>
        </p:nvSpPr>
        <p:spPr>
          <a:xfrm>
            <a:off x="2743200" y="3246120"/>
            <a:ext cx="347472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(ORLM-8B): 69.5% on MAMO</a:t>
            </a:r>
            <a:endParaRPr lang="en-US" sz="1500" dirty="0"/>
          </a:p>
        </p:txBody>
      </p:sp>
      <p:sp>
        <p:nvSpPr>
          <p:cNvPr id="30" name="arrow 2"/>
          <p:cNvSpPr/>
          <p:nvPr/>
        </p:nvSpPr>
        <p:spPr>
          <a:xfrm>
            <a:off x="6400800" y="3429000"/>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3246120"/>
            <a:ext cx="4663440" cy="685800"/>
          </a:xfrm>
          <a:prstGeom prst="roundRect">
            <a:avLst>
              <a:gd name="adj" fmla="val 8000"/>
            </a:avLst>
          </a:prstGeom>
          <a:solidFill>
            <a:srgbClr val="DEEBF7"/>
          </a:solidFill>
          <a:ln w="9525">
            <a:solidFill>
              <a:srgbClr val="BFBFBF"/>
            </a:solidFill>
            <a:prstDash val="solid"/>
          </a:ln>
        </p:spPr>
      </p:sp>
      <p:sp>
        <p:nvSpPr>
          <p:cNvPr id="32" name="Text 25"/>
          <p:cNvSpPr txBox="1"/>
          <p:nvPr/>
        </p:nvSpPr>
        <p:spPr>
          <a:xfrm>
            <a:off x="7022592" y="324612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383280"/>
            <a:ext cx="411480" cy="411480"/>
          </a:xfrm>
          <a:prstGeom prst="rect">
            <a:avLst/>
          </a:prstGeom>
        </p:spPr>
      </p:pic>
      <p:sp>
        <p:nvSpPr>
          <p:cNvPr id="34" name="Text 26"/>
          <p:cNvSpPr txBox="1"/>
          <p:nvPr/>
        </p:nvSpPr>
        <p:spPr>
          <a:xfrm>
            <a:off x="7589520" y="324612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untrained Qwen3-8B + that hint, one 24 GB GPU: the same 69.5%</a:t>
            </a:r>
            <a:endParaRPr lang="en-US" sz="1500" dirty="0"/>
          </a:p>
        </p:txBody>
      </p:sp>
      <p:sp>
        <p:nvSpPr>
          <p:cNvPr id="35" name="Text 27"/>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6" name="Shape 28"/>
          <p:cNvSpPr/>
          <p:nvPr/>
        </p:nvSpPr>
        <p:spPr>
          <a:xfrm>
            <a:off x="2194560" y="4800600"/>
            <a:ext cx="7772400" cy="0"/>
          </a:xfrm>
          <a:prstGeom prst="line">
            <a:avLst/>
          </a:prstGeom>
          <a:noFill/>
          <a:ln w="38100">
            <a:solidFill>
              <a:srgbClr val="BFBFBF"/>
            </a:solidFill>
            <a:prstDash val="solid"/>
          </a:ln>
        </p:spPr>
      </p:sp>
      <p:sp>
        <p:nvSpPr>
          <p:cNvPr id="37"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8"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9" name="Text 30"/>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40"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41"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42" name="Text 32"/>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3"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4"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5" name="Text 34"/>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6" name="Text 3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22).</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2026-10-19T19:36:18Z</dcterms:created>
  <dcterms:modified xsi:type="dcterms:W3CDTF">2026-10-19T19:36:18Z</dcterms:modified>
</cp:coreProperties>
</file>