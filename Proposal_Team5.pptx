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4.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021a6ba3-5873-12c8-f33b-e1c3ba01283e}">
          <p14:sldIdLst>
            <p14:sldId id="256"/>
            <p14:sldId id="257"/>
            <p14:sldId id="258"/>
            <p14:sldId id="259"/>
            <p14:sldId id="260"/>
            <p14:sldId id="261"/>
            <p14:sldId id="262"/>
            <p14:sldId id="263"/>
            <p14:sldId id="264"/>
          </p14:sldIdLst>
        </p14:section>
        <p14:section name="Extra pages" id="{d1b80634-546b-6803-094c-d0afe4145057}">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안녕하세요, 5조입니다. LLM으로 계산 수학 문제를 정확하고 싸게 푸는 방법을 제안합니다. 질문은 하나입니다. 추가 노력을 사실, 검사, 생각 중 어디에 써야 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저희가 푸는 문제는 다섯 종류입니다. 기하 계산, Codeforces 기하 문제, 배송 경로, 최적화 문장제, 그리고 확장으로 경시 수학과 증명입니다. 쉽지 않습니다. 경시 문제의 중앙값은 Codeforces Master 수준이고, AIME는 고등학생 상위 5% 정도가 치는 시험입니다. 공개 모델인 Qwen3와 gpt-oss를 직접 돌리고, 맞힌 문제 수와 쓴 토큰 수를 함께 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(20초) LLM은 말로 답할 수도 있고, 프로그램을 짤 수도 있습니다. Qwen3-8B에게 같은 도형의 넓이의 두 배를 물었습니다. 옮기고 돌리고 뒤집어도 답은 436입니다. 말로 답하면 매번 다른 답이 나오지만, 프로그램은 네 번 모두 436입니다. 계산에는 프로그램이 맞는 도구입니다.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하지만 두 가지 문제가 있습니다. 첫째, 프로그램은 조용히 틀립니다. 같은 문제인데 프롬프트에 보조 코드만 더하면 6 대신 0을 출력하고, 에러 메시지도 없습니다. 없는 라이브러리 함수를 불러서 죽기도 합니다. 둘째, 오래 생각하면 비쌉니다. 경시 문제 311개에서 gpt-oss-120b는 오래 생각하면 57%에서 66%로 오르지만, 토큰은 4.4배를 씁니다. 그래서 질문입니다. 추가 노력을 빠진 사실, 공짜 검사, 더 많은 생각 중 어디에 써야 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첫 번째 발견입니다. 매뉴얼이 아니라 사실을 주세요. Qwen3-32B가 OR-Tools로 배송 경로 프로그램을 짭니다. 긴 참조 문서를 주면 존재하지 않는 함수를 불러서 죽고, 정확한 사용법 열한 줄을 주면 최적 경로를 찾습니다. 경로 문제 30개에서 최적해를 찾는 비율은 아무것도 안 주면 23%, 오래 생각하면 오히려 3%, 긴 참조 문서는 7%, 정확한 사용법은 77에서 90%입니다. 최적화 문장제와 기하에서도 같았습니다. 모르는 사실은 생각한다고 생기지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두 번째 발견입니다. 공짜 검사가 실패할 때만 생각하게 하세요. 검사 A는 문제에 적힌 예제입니다. 예제를 통과하면 바로 제출하고, 틀리면 그 문제만 더 생각합니다. 예제만 쓰면 65%로 조금 낮고, 모든 경우를 다 따져 보는 짧은 프로그램과도 답을 맞춰 보면 66%가 됩니다. 검사 B는 프로그램을 두 버전으로 짜서, 답이 다를 때만 생각합니다. 두 경우 모두 항상 생각할 때와 정확도는 같고, 토큰은 18에서 27% 적습니다. 두 검사 모두 정답이 필요 없고, 기하, 경시, 경로, 문장제에서 모두 통했습니다.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(55초) 두 발견을 합친 것이 저희 방법입니다. 실제 최적화 문제로 보겠습니다. 1단계, 모델이 없는 메서드를 불러서 죽습니다. 2단계, 사실을 줍니다. 이 사실은 사람이 쓴 것이 아니라, 모델이 다른 문제에서 짜서 검사를 통과한 자기 프로그램에서 자동으로 가져옵니다. 3단계, 두 버전의 답이 20000으로 같으니, 4단계 생각은 건너뜁니다. 생각만 했다면 5.3k 토큰이 들었을 문제를 0.6k로 풉니다. 5단계, 같은 종류의 새 데이터에는 검사된 프로그램을 재사용합니다. 기하와 최적화 208문제를 세 모델로 풀면, 어려워 보이는 문제에 생각을 몰아주면 74%, 저희 방법은 87%이고 토큰도 더 적습니다. 처음 써 본 문장제 벤치마크에서도, 자동으로 찾은 사실이 사람이 쓴 사실과 같은 79%였습니다.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새로운 점은 세 가지입니다. 학습 없이, 공짜 검사가 실패할 때만 생각합니다. 정답 없이, 모델 자신의 검사된 프로그램을 사실로 줍니다. 그리고 특화 모델을 파인튜닝하지 않고도, 24GB GPU 한 장으로 같은 정확도를 냅니다. 다음으로는 더 많은 모델로 검증을 마치고, 검사로 못 잡는 오류, 즉 실행은 되지만 문제를 잘못 모델링한 프로그램을 다루겠습니다. 정리하면, 빠진 사실을 먼저 주고, 공짜 검사가 실패한 곳에서만 생각하게 하자는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(10초) 감사합니다. 질문 받겠습니다. 예상 질문마다 보충 슬라이드를 준비했으니, 번호를 누르면 바로 넘어갑니다.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결과를 다섯 종류 전부에서 잰 것은 아닙니다. 사실 주기는 기하, 경로, 문장제에서, 공짜 검사는 기하, 경시, 경로, 문장제에서 확인했습니다. 전체 방법의 87% 대 74%는 기하 108문제와 최적화 100문제를 세 모델로 푼 결과입니다. 경시 수학은 말로 답해도 충분하고, 증명은 특화된 증명 모델이 필요해서 이 방법의 범위 밖입니다.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AIME는 AMC 응시자 중 상위 2.5에서 5%만 초대받는 시험입니다.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항상은 아닙니다. 답을 계산해야 하는 문제에서는 말로 답하면 8개 복사본 중 1개만 맞고, 프로그램은 8개 모두 맞습니다. 하지만 짧은 답의 경시 수학인 MATH-500에서는 말이 98.3%로 프로그램 86.8%보다 낫습니다. 거기서는 프로그램을 두 번째 의견으로 씁니다. 말과 프로그램이 일치하면 틀린 경우가 0.3%뿐이고, 말 두 개가 일치할 때는 1.5%입니다.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사실은 라이브러리를 어떻게 부르는지, 즉 함수 이름과 인자를 보여 주는 11줄짜리 코드 조각입니다. 같은 종류의 30문제에 똑같이 붙이고, 경로나 숫자나 정답은 들어 있지 않습니다. 긴 참조 문서가 아무것도 안 준 것보다 나쁜 이유는, 경로 설명은 있지만 용량 규칙이 없어서 모델이 빈 곳을 없는 함수로 채우기 때문입니다. 10개 프로그램이 RegisterUnaryLongLivingCallback을 불렀습니다.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사실과 같은 수준입니다. 97% 대 96%입니다. 다만 비슷하지만 다른 문서가 섞이면 손해가 큽니다. 경로 문제에서 TSP 문서가 함께 들어오면 83%에서 57%로 떨어집니다. 문서가 아예 없으면 모델 자신의 검사된 프로그램을 사실로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문제에는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 경시 수학은 말과 프로그램의 일치, 증명은 Lean의 검사입니다.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사실로 붙입니다. 끝까지 쓰지 않고 남겨 둔 MAMO 863문제에서 세 모델 모두 사람이 쓴 사실과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여덟 갈래입니다. 텍스트 대신 프로그램, 코드용 라이브러리 문서, 오도하는 문맥, 프로그램 고르기, 테스트 시간 계산 배분, 최적화 모델링, 한 프로그램 재사용, 그리고 증명입니다. 저희가 더하는 것은 실패 원인에 맞춰 사실과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miniF2F에서 Goedel-Prover-V2-8B는 논문 84.6%, 저희 환경에서 76.6%입니다.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 MATH-500에서는 말 답 세 개의 다수결 89.2%보다 말과 프로그램 일치 검사가 97.2%로 높습니다.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사실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사실 하나로 Qwen3-1.7B는 44점, 4B는 31점 오르고, 32B는 1점 오릅니다. 그래서 24GB GPU 한 장에 들어가는 gpt-oss-20b가 사실과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사실을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증명은 사실이 아니라 기술이 부족합니다. miniF2F 244문제에서 특화 증명 모델 Goedel-Prover-V2-8B가 74%를 증명하고, 일반 모델은 13에서 55%입니다. 일반 모델에는 비슷한 문제의 증명, 생각, 부등식 도구 모음 모두 도움이 되지 않았습니다. 이 8B 모델은 24GB GPU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네 가지입니다. 증명, 다른 종류의 문제 사이의 자동 사실, 예제를 통과하는 틀린 프로그램, 그리고 세계 지식이 필요한 문제입니다. 다음으로는 MAMO 검증을 더 많은 모델로 마치고, 검사로 못 잡는 문제 모델링 오류를 다루고, 문제 종류마다 자동 사실을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 증명용 Goedel과 DeepSeek-Prover이고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3.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2.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3.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3.xml"/><Relationship Id="rId8"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POSTECH CSED490E (Graduate NLP) · Team 5</a:t>
            </a:r>
            <a:endParaRPr lang="en-US" sz="2200" dirty="0"/>
          </a:p>
        </p:txBody>
      </p:sp>
      <p:sp>
        <p:nvSpPr>
          <p:cNvPr id="4" name="choice a missing fact"/>
          <p:cNvSpPr/>
          <p:nvPr/>
        </p:nvSpPr>
        <p:spPr>
          <a:xfrm>
            <a:off x="3145536" y="4892040"/>
            <a:ext cx="1874520" cy="502920"/>
          </a:xfrm>
          <a:prstGeom prst="roundRect">
            <a:avLst>
              <a:gd name="adj" fmla="val 36364"/>
            </a:avLst>
          </a:prstGeom>
          <a:solidFill>
            <a:srgbClr val="E2F0D9"/>
          </a:solidFill>
          <a:ln w="12700">
            <a:solidFill>
              <a:srgbClr val="38761D"/>
            </a:solidFill>
            <a:prstDash val="solid"/>
          </a:ln>
        </p:spPr>
      </p:sp>
      <p:pic>
        <p:nvPicPr>
          <p:cNvPr id="5" name="choice icon fact" descr="/NAS/SJ/POSTECH/nlp/figs/icons/fact.png">    </p:cNvPr>
          <p:cNvPicPr>
            <a:picLocks noChangeAspect="1"/>
          </p:cNvPicPr>
          <p:nvPr/>
        </p:nvPicPr>
        <p:blipFill>
          <a:blip r:embed="rId1"/>
          <a:stretch>
            <a:fillRect/>
          </a:stretch>
        </p:blipFill>
        <p:spPr>
          <a:xfrm>
            <a:off x="3255264" y="4978908"/>
            <a:ext cx="329184" cy="329184"/>
          </a:xfrm>
          <a:prstGeom prst="rect">
            <a:avLst/>
          </a:prstGeom>
        </p:spPr>
      </p:pic>
      <p:sp>
        <p:nvSpPr>
          <p:cNvPr id="6" name="Text 3"/>
          <p:cNvSpPr txBox="1"/>
          <p:nvPr/>
        </p:nvSpPr>
        <p:spPr>
          <a:xfrm>
            <a:off x="3648456" y="4892040"/>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missing fact</a:t>
            </a:r>
            <a:endParaRPr lang="en-US" sz="1500" dirty="0"/>
          </a:p>
        </p:txBody>
      </p:sp>
      <p:sp>
        <p:nvSpPr>
          <p:cNvPr id="7" name="choice a free check"/>
          <p:cNvSpPr/>
          <p:nvPr/>
        </p:nvSpPr>
        <p:spPr>
          <a:xfrm>
            <a:off x="5157216" y="4892040"/>
            <a:ext cx="1874520" cy="502920"/>
          </a:xfrm>
          <a:prstGeom prst="roundRect">
            <a:avLst>
              <a:gd name="adj" fmla="val 36364"/>
            </a:avLst>
          </a:prstGeom>
          <a:solidFill>
            <a:srgbClr val="E2F0D9"/>
          </a:solidFill>
          <a:ln w="12700">
            <a:solidFill>
              <a:srgbClr val="38761D"/>
            </a:solidFill>
            <a:prstDash val="solid"/>
          </a:ln>
        </p:spPr>
      </p:sp>
      <p:pic>
        <p:nvPicPr>
          <p:cNvPr id="8" name="choice icon check" descr="/NAS/SJ/POSTECH/nlp/figs/icons/check.png">    </p:cNvPr>
          <p:cNvPicPr>
            <a:picLocks noChangeAspect="1"/>
          </p:cNvPicPr>
          <p:nvPr/>
        </p:nvPicPr>
        <p:blipFill>
          <a:blip r:embed="rId2"/>
          <a:stretch>
            <a:fillRect/>
          </a:stretch>
        </p:blipFill>
        <p:spPr>
          <a:xfrm>
            <a:off x="5266944" y="4978908"/>
            <a:ext cx="329184" cy="329184"/>
          </a:xfrm>
          <a:prstGeom prst="rect">
            <a:avLst/>
          </a:prstGeom>
        </p:spPr>
      </p:pic>
      <p:sp>
        <p:nvSpPr>
          <p:cNvPr id="9" name="Text 5"/>
          <p:cNvSpPr txBox="1"/>
          <p:nvPr/>
        </p:nvSpPr>
        <p:spPr>
          <a:xfrm>
            <a:off x="5660136" y="4892040"/>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10" name="choice more thinking"/>
          <p:cNvSpPr/>
          <p:nvPr/>
        </p:nvSpPr>
        <p:spPr>
          <a:xfrm>
            <a:off x="7168896" y="4892040"/>
            <a:ext cx="1874520" cy="502920"/>
          </a:xfrm>
          <a:prstGeom prst="roundRect">
            <a:avLst>
              <a:gd name="adj" fmla="val 36364"/>
            </a:avLst>
          </a:prstGeom>
          <a:solidFill>
            <a:srgbClr val="FADBD8"/>
          </a:solidFill>
          <a:ln w="12700">
            <a:solidFill>
              <a:srgbClr val="C00000"/>
            </a:solidFill>
            <a:prstDash val="solid"/>
          </a:ln>
        </p:spPr>
      </p:sp>
      <p:pic>
        <p:nvPicPr>
          <p:cNvPr id="11" name="choice icon brain" descr="/NAS/SJ/POSTECH/nlp/figs/icons/brain.png">    </p:cNvPr>
          <p:cNvPicPr>
            <a:picLocks noChangeAspect="1"/>
          </p:cNvPicPr>
          <p:nvPr/>
        </p:nvPicPr>
        <p:blipFill>
          <a:blip r:embed="rId3"/>
          <a:stretch>
            <a:fillRect/>
          </a:stretch>
        </p:blipFill>
        <p:spPr>
          <a:xfrm>
            <a:off x="7278624" y="4978908"/>
            <a:ext cx="329184" cy="329184"/>
          </a:xfrm>
          <a:prstGeom prst="rect">
            <a:avLst/>
          </a:prstGeom>
        </p:spPr>
      </p:pic>
      <p:sp>
        <p:nvSpPr>
          <p:cNvPr id="12" name="Text 7"/>
          <p:cNvSpPr txBox="1"/>
          <p:nvPr/>
        </p:nvSpPr>
        <p:spPr>
          <a:xfrm>
            <a:off x="7671816" y="4892040"/>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kind Geometry"/>
          <p:cNvSpPr/>
          <p:nvPr/>
        </p:nvSpPr>
        <p:spPr>
          <a:xfrm>
            <a:off x="548640" y="1280160"/>
            <a:ext cx="2103120" cy="406908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1234440" y="1463040"/>
            <a:ext cx="731520" cy="731520"/>
          </a:xfrm>
          <a:prstGeom prst="rect">
            <a:avLst/>
          </a:prstGeom>
        </p:spPr>
      </p:pic>
      <p:sp>
        <p:nvSpPr>
          <p:cNvPr id="5" name="Text 2"/>
          <p:cNvSpPr txBox="1"/>
          <p:nvPr/>
        </p:nvSpPr>
        <p:spPr>
          <a:xfrm>
            <a:off x="640080" y="2286000"/>
            <a:ext cx="1920240" cy="731520"/>
          </a:xfrm>
          <a:prstGeom prst="rect">
            <a:avLst/>
          </a:prstGeom>
          <a:noFill/>
          <a:ln/>
        </p:spPr>
        <p:txBody>
          <a:bodyPr wrap="square" lIns="0" tIns="0" rIns="0" bIns="0" rtlCol="0" anchor="ctr"/>
          <a:lstStyle/>
          <a:p>
            <a:pPr algn="ctr" indent="0" marL="0">
              <a:buNone/>
            </a:pPr>
            <a:r>
              <a:rPr lang="en-US" sz="1800" b="1" dirty="0">
                <a:solidFill>
                  <a:schemeClr val="tx1"/>
                </a:solidFill>
              </a:rPr>
              <a:t>Geometry</a:t>
            </a:r>
            <a:endParaRPr lang="en-US" sz="1800" dirty="0"/>
          </a:p>
        </p:txBody>
      </p:sp>
      <p:sp>
        <p:nvSpPr>
          <p:cNvPr id="6" name="Text 3"/>
          <p:cNvSpPr txBox="1"/>
          <p:nvPr/>
        </p:nvSpPr>
        <p:spPr>
          <a:xfrm>
            <a:off x="685800" y="3063240"/>
            <a:ext cx="1828800" cy="109728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7" name="tag Geometry"/>
          <p:cNvSpPr/>
          <p:nvPr/>
        </p:nvSpPr>
        <p:spPr>
          <a:xfrm>
            <a:off x="640080" y="4297680"/>
            <a:ext cx="1920240" cy="868680"/>
          </a:xfrm>
          <a:prstGeom prst="roundRect">
            <a:avLst>
              <a:gd name="adj" fmla="val 10526"/>
            </a:avLst>
          </a:prstGeom>
          <a:solidFill>
            <a:srgbClr val="FFFFFF"/>
          </a:solidFill>
          <a:ln w="15875">
            <a:solidFill>
              <a:srgbClr val="4472C4"/>
            </a:solidFill>
            <a:prstDash val="solid"/>
          </a:ln>
        </p:spPr>
      </p:sp>
      <p:sp>
        <p:nvSpPr>
          <p:cNvPr id="8" name="Text 5"/>
          <p:cNvSpPr txBox="1"/>
          <p:nvPr/>
        </p:nvSpPr>
        <p:spPr>
          <a:xfrm>
            <a:off x="685800" y="4297680"/>
            <a:ext cx="18288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9" name="kind Contest problems"/>
          <p:cNvSpPr/>
          <p:nvPr/>
        </p:nvSpPr>
        <p:spPr>
          <a:xfrm>
            <a:off x="2788920" y="1280160"/>
            <a:ext cx="2103120" cy="406908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74720" y="1463040"/>
            <a:ext cx="731520" cy="731520"/>
          </a:xfrm>
          <a:prstGeom prst="rect">
            <a:avLst/>
          </a:prstGeom>
        </p:spPr>
      </p:pic>
      <p:sp>
        <p:nvSpPr>
          <p:cNvPr id="11" name="Text 7"/>
          <p:cNvSpPr txBox="1"/>
          <p:nvPr/>
        </p:nvSpPr>
        <p:spPr>
          <a:xfrm>
            <a:off x="2880360" y="2286000"/>
            <a:ext cx="1920240" cy="731520"/>
          </a:xfrm>
          <a:prstGeom prst="rect">
            <a:avLst/>
          </a:prstGeom>
          <a:noFill/>
          <a:ln/>
        </p:spPr>
        <p:txBody>
          <a:bodyPr wrap="square" lIns="0" tIns="0" rIns="0" bIns="0" rtlCol="0" anchor="ctr"/>
          <a:lstStyle/>
          <a:p>
            <a:pPr algn="ctr" indent="0" marL="0">
              <a:buNone/>
            </a:pPr>
            <a:r>
              <a:rPr lang="en-US" sz="1800" b="1" dirty="0">
                <a:solidFill>
                  <a:schemeClr val="tx1"/>
                </a:solidFill>
              </a:rPr>
              <a:t>Contest problems</a:t>
            </a:r>
            <a:endParaRPr lang="en-US" sz="1800" dirty="0"/>
          </a:p>
        </p:txBody>
      </p:sp>
      <p:sp>
        <p:nvSpPr>
          <p:cNvPr id="12" name="Text 8"/>
          <p:cNvSpPr txBox="1"/>
          <p:nvPr/>
        </p:nvSpPr>
        <p:spPr>
          <a:xfrm>
            <a:off x="2926080" y="3063240"/>
            <a:ext cx="1828800" cy="109728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3" name="tag Contest problems"/>
          <p:cNvSpPr/>
          <p:nvPr/>
        </p:nvSpPr>
        <p:spPr>
          <a:xfrm>
            <a:off x="2880360" y="4297680"/>
            <a:ext cx="1920240" cy="868680"/>
          </a:xfrm>
          <a:prstGeom prst="roundRect">
            <a:avLst>
              <a:gd name="adj" fmla="val 10526"/>
            </a:avLst>
          </a:prstGeom>
          <a:solidFill>
            <a:srgbClr val="FFFFFF"/>
          </a:solidFill>
          <a:ln w="15875">
            <a:solidFill>
              <a:srgbClr val="C00000"/>
            </a:solidFill>
            <a:prstDash val="solid"/>
          </a:ln>
        </p:spPr>
      </p:sp>
      <p:sp>
        <p:nvSpPr>
          <p:cNvPr id="14" name="Text 10"/>
          <p:cNvSpPr txBox="1"/>
          <p:nvPr/>
        </p:nvSpPr>
        <p:spPr>
          <a:xfrm>
            <a:off x="2926080" y="4297680"/>
            <a:ext cx="18288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5" name="kind Routing, scheduling"/>
          <p:cNvSpPr/>
          <p:nvPr/>
        </p:nvSpPr>
        <p:spPr>
          <a:xfrm>
            <a:off x="5029200" y="1280160"/>
            <a:ext cx="2103120" cy="406908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715000" y="1463040"/>
            <a:ext cx="731520" cy="731520"/>
          </a:xfrm>
          <a:prstGeom prst="rect">
            <a:avLst/>
          </a:prstGeom>
        </p:spPr>
      </p:pic>
      <p:sp>
        <p:nvSpPr>
          <p:cNvPr id="17" name="Text 12"/>
          <p:cNvSpPr txBox="1"/>
          <p:nvPr/>
        </p:nvSpPr>
        <p:spPr>
          <a:xfrm>
            <a:off x="5120640" y="2286000"/>
            <a:ext cx="1920240" cy="731520"/>
          </a:xfrm>
          <a:prstGeom prst="rect">
            <a:avLst/>
          </a:prstGeom>
          <a:noFill/>
          <a:ln/>
        </p:spPr>
        <p:txBody>
          <a:bodyPr wrap="square" lIns="0" tIns="0" rIns="0" bIns="0" rtlCol="0" anchor="ctr"/>
          <a:lstStyle/>
          <a:p>
            <a:pPr algn="ctr" indent="0" marL="0">
              <a:buNone/>
            </a:pPr>
            <a:r>
              <a:rPr lang="en-US" sz="1800" b="1" dirty="0">
                <a:solidFill>
                  <a:schemeClr val="tx1"/>
                </a:solidFill>
              </a:rPr>
              <a:t>Routing, scheduling</a:t>
            </a:r>
            <a:endParaRPr lang="en-US" sz="1800" dirty="0"/>
          </a:p>
        </p:txBody>
      </p:sp>
      <p:sp>
        <p:nvSpPr>
          <p:cNvPr id="18" name="Text 13"/>
          <p:cNvSpPr txBox="1"/>
          <p:nvPr/>
        </p:nvSpPr>
        <p:spPr>
          <a:xfrm>
            <a:off x="5166360" y="3063240"/>
            <a:ext cx="1828800" cy="109728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19" name="tag Routing, scheduling"/>
          <p:cNvSpPr/>
          <p:nvPr/>
        </p:nvSpPr>
        <p:spPr>
          <a:xfrm>
            <a:off x="5120640" y="4297680"/>
            <a:ext cx="1920240" cy="868680"/>
          </a:xfrm>
          <a:prstGeom prst="roundRect">
            <a:avLst>
              <a:gd name="adj" fmla="val 10526"/>
            </a:avLst>
          </a:prstGeom>
          <a:solidFill>
            <a:srgbClr val="FFFFFF"/>
          </a:solidFill>
          <a:ln w="15875">
            <a:solidFill>
              <a:srgbClr val="ED7D31"/>
            </a:solidFill>
            <a:prstDash val="solid"/>
          </a:ln>
        </p:spPr>
      </p:sp>
      <p:sp>
        <p:nvSpPr>
          <p:cNvPr id="20" name="Text 15"/>
          <p:cNvSpPr txBox="1"/>
          <p:nvPr/>
        </p:nvSpPr>
        <p:spPr>
          <a:xfrm>
            <a:off x="5166360" y="4297680"/>
            <a:ext cx="18288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1" name="kind Word problems"/>
          <p:cNvSpPr/>
          <p:nvPr/>
        </p:nvSpPr>
        <p:spPr>
          <a:xfrm>
            <a:off x="7269480" y="1280160"/>
            <a:ext cx="2103120" cy="406908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955280" y="1463040"/>
            <a:ext cx="731520" cy="731520"/>
          </a:xfrm>
          <a:prstGeom prst="rect">
            <a:avLst/>
          </a:prstGeom>
        </p:spPr>
      </p:pic>
      <p:sp>
        <p:nvSpPr>
          <p:cNvPr id="23" name="Text 17"/>
          <p:cNvSpPr txBox="1"/>
          <p:nvPr/>
        </p:nvSpPr>
        <p:spPr>
          <a:xfrm>
            <a:off x="7360920" y="2286000"/>
            <a:ext cx="1920240" cy="731520"/>
          </a:xfrm>
          <a:prstGeom prst="rect">
            <a:avLst/>
          </a:prstGeom>
          <a:noFill/>
          <a:ln/>
        </p:spPr>
        <p:txBody>
          <a:bodyPr wrap="square" lIns="0" tIns="0" rIns="0" bIns="0" rtlCol="0" anchor="ctr"/>
          <a:lstStyle/>
          <a:p>
            <a:pPr algn="ctr" indent="0" marL="0">
              <a:buNone/>
            </a:pPr>
            <a:r>
              <a:rPr lang="en-US" sz="1800" b="1" dirty="0">
                <a:solidFill>
                  <a:schemeClr val="tx1"/>
                </a:solidFill>
              </a:rPr>
              <a:t>Word problems</a:t>
            </a:r>
            <a:endParaRPr lang="en-US" sz="1800" dirty="0"/>
          </a:p>
        </p:txBody>
      </p:sp>
      <p:sp>
        <p:nvSpPr>
          <p:cNvPr id="24" name="Text 18"/>
          <p:cNvSpPr txBox="1"/>
          <p:nvPr/>
        </p:nvSpPr>
        <p:spPr>
          <a:xfrm>
            <a:off x="7406640" y="3063240"/>
            <a:ext cx="1828800" cy="109728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5" name="tag Word problems"/>
          <p:cNvSpPr/>
          <p:nvPr/>
        </p:nvSpPr>
        <p:spPr>
          <a:xfrm>
            <a:off x="7360920" y="4297680"/>
            <a:ext cx="1920240" cy="868680"/>
          </a:xfrm>
          <a:prstGeom prst="roundRect">
            <a:avLst>
              <a:gd name="adj" fmla="val 10526"/>
            </a:avLst>
          </a:prstGeom>
          <a:solidFill>
            <a:srgbClr val="FFFFFF"/>
          </a:solidFill>
          <a:ln w="15875">
            <a:solidFill>
              <a:srgbClr val="38761D"/>
            </a:solidFill>
            <a:prstDash val="solid"/>
          </a:ln>
        </p:spPr>
      </p:sp>
      <p:sp>
        <p:nvSpPr>
          <p:cNvPr id="26" name="Text 20"/>
          <p:cNvSpPr txBox="1"/>
          <p:nvPr/>
        </p:nvSpPr>
        <p:spPr>
          <a:xfrm>
            <a:off x="7406640" y="4297680"/>
            <a:ext cx="18288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27" name="kind Math and proofs"/>
          <p:cNvSpPr/>
          <p:nvPr/>
        </p:nvSpPr>
        <p:spPr>
          <a:xfrm>
            <a:off x="9509760" y="1280160"/>
            <a:ext cx="2103120" cy="4069080"/>
          </a:xfrm>
          <a:prstGeom prst="roundRect">
            <a:avLst>
              <a:gd name="adj" fmla="val 3478"/>
            </a:avLst>
          </a:prstGeom>
          <a:solidFill>
            <a:srgbClr val="F7F7F7"/>
          </a:solidFill>
          <a:ln w="15875">
            <a:solidFill>
              <a:srgbClr val="A6A6A6"/>
            </a:solidFill>
            <a:prstDash val="dash"/>
          </a:ln>
        </p:spPr>
      </p:sp>
      <p:pic>
        <p:nvPicPr>
          <p:cNvPr id="28" name="icon sqrt" descr="/NAS/SJ/POSTECH/nlp/figs/icons/sqrt.png">    </p:cNvPr>
          <p:cNvPicPr>
            <a:picLocks noChangeAspect="1"/>
          </p:cNvPicPr>
          <p:nvPr/>
        </p:nvPicPr>
        <p:blipFill>
          <a:blip r:embed="rId5"/>
          <a:stretch>
            <a:fillRect/>
          </a:stretch>
        </p:blipFill>
        <p:spPr>
          <a:xfrm>
            <a:off x="10195560" y="1463040"/>
            <a:ext cx="731520" cy="731520"/>
          </a:xfrm>
          <a:prstGeom prst="rect">
            <a:avLst/>
          </a:prstGeom>
        </p:spPr>
      </p:pic>
      <p:sp>
        <p:nvSpPr>
          <p:cNvPr id="29" name="Text 22"/>
          <p:cNvSpPr txBox="1"/>
          <p:nvPr/>
        </p:nvSpPr>
        <p:spPr>
          <a:xfrm>
            <a:off x="9601200" y="2286000"/>
            <a:ext cx="1920240" cy="731520"/>
          </a:xfrm>
          <a:prstGeom prst="rect">
            <a:avLst/>
          </a:prstGeom>
          <a:noFill/>
          <a:ln/>
        </p:spPr>
        <p:txBody>
          <a:bodyPr wrap="square" lIns="0" tIns="0" rIns="0" bIns="0" rtlCol="0" anchor="ctr"/>
          <a:lstStyle/>
          <a:p>
            <a:pPr algn="ctr" indent="0" marL="0">
              <a:buNone/>
            </a:pPr>
            <a:r>
              <a:rPr lang="en-US" sz="1800" b="1" dirty="0">
                <a:solidFill>
                  <a:schemeClr val="tx1"/>
                </a:solidFill>
              </a:rPr>
              <a:t>Math and proofs</a:t>
            </a:r>
            <a:endParaRPr lang="en-US" sz="1800" dirty="0"/>
          </a:p>
          <a:p>
            <a:pPr algn="ctr" indent="0" marL="0">
              <a:buNone/>
            </a:pPr>
            <a:r>
              <a:rPr lang="en-US" sz="1500" b="1" dirty="0">
                <a:solidFill>
                  <a:srgbClr val="7F7F7F"/>
                </a:solidFill>
              </a:rPr>
              <a:t>(extension)</a:t>
            </a:r>
            <a:endParaRPr lang="en-US" sz="1800" dirty="0"/>
          </a:p>
        </p:txBody>
      </p:sp>
      <p:sp>
        <p:nvSpPr>
          <p:cNvPr id="30" name="Text 23"/>
          <p:cNvSpPr txBox="1"/>
          <p:nvPr/>
        </p:nvSpPr>
        <p:spPr>
          <a:xfrm>
            <a:off x="9646920" y="3063240"/>
            <a:ext cx="1828800" cy="1097280"/>
          </a:xfrm>
          <a:prstGeom prst="rect">
            <a:avLst/>
          </a:prstGeom>
          <a:noFill/>
          <a:ln/>
        </p:spPr>
        <p:txBody>
          <a:bodyPr wrap="square" lIns="0" tIns="0" rIns="0" bIns="0" rtlCol="0" anchor="t"/>
          <a:lstStyle/>
          <a:p>
            <a:pPr algn="ctr" indent="0" marL="0">
              <a:buNone/>
            </a:pPr>
            <a:r>
              <a:rPr lang="en-US" sz="1500" dirty="0">
                <a:solidFill>
                  <a:schemeClr val="tx1"/>
                </a:solidFill>
              </a:rPr>
              <a:t>contest answers; machine-checked proofs</a:t>
            </a:r>
            <a:endParaRPr lang="en-US" sz="1500" dirty="0"/>
          </a:p>
        </p:txBody>
      </p:sp>
      <p:sp>
        <p:nvSpPr>
          <p:cNvPr id="31" name="tag Math and proofs"/>
          <p:cNvSpPr/>
          <p:nvPr/>
        </p:nvSpPr>
        <p:spPr>
          <a:xfrm>
            <a:off x="9601200" y="4297680"/>
            <a:ext cx="1920240" cy="868680"/>
          </a:xfrm>
          <a:prstGeom prst="roundRect">
            <a:avLst>
              <a:gd name="adj" fmla="val 10526"/>
            </a:avLst>
          </a:prstGeom>
          <a:solidFill>
            <a:srgbClr val="FFFFFF"/>
          </a:solidFill>
          <a:ln w="15875">
            <a:solidFill>
              <a:srgbClr val="595959"/>
            </a:solidFill>
            <a:prstDash val="solid"/>
          </a:ln>
        </p:spPr>
      </p:sp>
      <p:sp>
        <p:nvSpPr>
          <p:cNvPr id="32" name="Text 25"/>
          <p:cNvSpPr txBox="1"/>
          <p:nvPr/>
        </p:nvSpPr>
        <p:spPr>
          <a:xfrm>
            <a:off x="9646920" y="4297680"/>
            <a:ext cx="1828800" cy="868680"/>
          </a:xfrm>
          <a:prstGeom prst="rect">
            <a:avLst/>
          </a:prstGeom>
          <a:noFill/>
          <a:ln/>
        </p:spPr>
        <p:txBody>
          <a:bodyPr wrap="square" lIns="0" tIns="0" rIns="0" bIns="0" rtlCol="0" anchor="ctr"/>
          <a:lstStyle/>
          <a:p>
            <a:pPr algn="ctr" indent="0" marL="0">
              <a:buNone/>
            </a:pPr>
            <a:r>
              <a:rPr lang="en-US" sz="1500" b="1" dirty="0">
                <a:solidFill>
                  <a:srgbClr val="595959"/>
                </a:solidFill>
              </a:rPr>
              <a:t>AIME: top ~5% of high-school contestants</a:t>
            </a:r>
            <a:endParaRPr lang="en-US" sz="1500" dirty="0"/>
          </a:p>
        </p:txBody>
      </p:sp>
      <p:sp>
        <p:nvSpPr>
          <p:cNvPr id="33" name="Text 2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Open models (Qwen3, gpt-oss) on our own GPUs: we count exact answers and the tokens spent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548640"/>
          </a:xfrm>
          <a:prstGeom prst="rect">
            <a:avLst/>
          </a:prstGeom>
          <a:noFill/>
          <a:ln/>
        </p:spPr>
        <p:txBody>
          <a:bodyPr wrap="square" lIns="0" tIns="0" rIns="0" bIns="0" rtlCol="0" anchor="t"/>
          <a:lstStyle/>
          <a:p>
            <a:pPr indent="0" marL="0">
              <a:buNone/>
            </a:pPr>
            <a:r>
              <a:rPr lang="en-US" sz="1400" dirty="0">
                <a:solidFill>
                  <a:schemeClr val="tx2"/>
                </a:solidFill>
              </a:rPr>
              <a:t>B's prompt only added helper code (Qwen3-14B)</a:t>
            </a:r>
            <a:endParaRPr lang="en-US" sz="14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missing fact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missing fact</a:t>
            </a:r>
            <a:endParaRPr lang="en-US" sz="1400" dirty="0"/>
          </a:p>
        </p:txBody>
      </p:sp>
      <p:sp>
        <p:nvSpPr>
          <p:cNvPr id="6" name="Text 3"/>
          <p:cNvSpPr txBox="1"/>
          <p:nvPr/>
        </p:nvSpPr>
        <p:spPr>
          <a:xfrm>
            <a:off x="841248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969264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07668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46073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0844784" y="978408"/>
            <a:ext cx="274320" cy="274320"/>
          </a:xfrm>
          <a:prstGeom prst="rect">
            <a:avLst/>
          </a:prstGeom>
        </p:spPr>
      </p:pic>
      <p:pic>
        <p:nvPicPr>
          <p:cNvPr id="11" name="not shown on sqrt" descr="/NAS/SJ/POSTECH/nlp/figs/icons/sqrt.png">    </p:cNvPr>
          <p:cNvPicPr>
            <a:picLocks noChangeAspect="1"/>
          </p:cNvPicPr>
          <p:nvPr/>
        </p:nvPicPr>
        <p:blipFill>
          <a:blip r:embed="rId6">
            <a:alphaModFix amt="18000"/>
          </a:blip>
          <a:stretch>
            <a:fillRect/>
          </a:stretch>
        </p:blipFill>
        <p:spPr>
          <a:xfrm>
            <a:off x="11228832" y="978408"/>
            <a:ext cx="274320" cy="274320"/>
          </a:xfrm>
          <a:prstGeom prst="rect">
            <a:avLst/>
          </a:prstGeom>
        </p:spPr>
      </p:pic>
      <p:sp>
        <p:nvSpPr>
          <p:cNvPr id="12" name="Text 4"/>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plans delivery routes with Google's OR-Tools library</a:t>
            </a:r>
            <a:endParaRPr lang="en-US" sz="1700" dirty="0"/>
          </a:p>
        </p:txBody>
      </p:sp>
      <p:sp>
        <p:nvSpPr>
          <p:cNvPr id="13" name="box a long reference she"/>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14" name="Text 6"/>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a long reference sheet</a:t>
            </a:r>
            <a:endParaRPr lang="en-US" sz="1600" dirty="0"/>
          </a:p>
        </p:txBody>
      </p:sp>
      <p:sp>
        <p:nvSpPr>
          <p:cNvPr id="15" name="Shape 7"/>
          <p:cNvSpPr/>
          <p:nvPr/>
        </p:nvSpPr>
        <p:spPr>
          <a:xfrm>
            <a:off x="3017520" y="2057400"/>
            <a:ext cx="320040" cy="0"/>
          </a:xfrm>
          <a:prstGeom prst="line">
            <a:avLst/>
          </a:prstGeom>
          <a:noFill/>
          <a:ln w="25400">
            <a:solidFill>
              <a:srgbClr val="7F7F7F"/>
            </a:solidFill>
            <a:prstDash val="solid"/>
            <a:tailEnd type="triangle"/>
          </a:ln>
        </p:spPr>
      </p:sp>
      <p:sp>
        <p:nvSpPr>
          <p:cNvPr id="16" name="code RegisterUnaryLongLiv"/>
          <p:cNvSpPr/>
          <p:nvPr/>
        </p:nvSpPr>
        <p:spPr>
          <a:xfrm>
            <a:off x="3337560" y="1783080"/>
            <a:ext cx="4480560" cy="548640"/>
          </a:xfrm>
          <a:prstGeom prst="rect">
            <a:avLst/>
          </a:prstGeom>
          <a:solidFill>
            <a:srgbClr val="FFFFFF"/>
          </a:solidFill>
          <a:ln w="9525">
            <a:solidFill>
              <a:srgbClr val="BFBFBF"/>
            </a:solidFill>
            <a:prstDash val="solid"/>
          </a:ln>
        </p:spPr>
      </p:sp>
      <p:sp>
        <p:nvSpPr>
          <p:cNvPr id="17" name="Text 9"/>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RegisterUnaryLongLivingCallback()</a:t>
            </a:r>
            <a:endParaRPr lang="en-US" sz="1500" dirty="0"/>
          </a:p>
        </p:txBody>
      </p:sp>
      <p:sp>
        <p:nvSpPr>
          <p:cNvPr id="18" name="Text 10"/>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does not exist: crash</a:t>
            </a:r>
            <a:endParaRPr lang="en-US" sz="1700" dirty="0"/>
          </a:p>
        </p:txBody>
      </p:sp>
      <p:sp>
        <p:nvSpPr>
          <p:cNvPr id="19" name="box the exact usage (11 "/>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20" name="Text 12"/>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the exact usage (11 lines)</a:t>
            </a:r>
            <a:endParaRPr lang="en-US" sz="1600" dirty="0"/>
          </a:p>
        </p:txBody>
      </p:sp>
      <p:sp>
        <p:nvSpPr>
          <p:cNvPr id="21" name="Shape 13"/>
          <p:cNvSpPr/>
          <p:nvPr/>
        </p:nvSpPr>
        <p:spPr>
          <a:xfrm>
            <a:off x="3017520" y="2788920"/>
            <a:ext cx="320040" cy="0"/>
          </a:xfrm>
          <a:prstGeom prst="line">
            <a:avLst/>
          </a:prstGeom>
          <a:noFill/>
          <a:ln w="25400">
            <a:solidFill>
              <a:srgbClr val="7F7F7F"/>
            </a:solidFill>
            <a:prstDash val="solid"/>
            <a:tailEnd type="triangle"/>
          </a:ln>
        </p:spPr>
      </p:sp>
      <p:sp>
        <p:nvSpPr>
          <p:cNvPr id="22" name="code RegisterUnaryTransit"/>
          <p:cNvSpPr/>
          <p:nvPr/>
        </p:nvSpPr>
        <p:spPr>
          <a:xfrm>
            <a:off x="3337560" y="2514600"/>
            <a:ext cx="4480560" cy="548640"/>
          </a:xfrm>
          <a:prstGeom prst="rect">
            <a:avLst/>
          </a:prstGeom>
          <a:solidFill>
            <a:srgbClr val="FFFFFF"/>
          </a:solidFill>
          <a:ln w="9525">
            <a:solidFill>
              <a:srgbClr val="BFBFBF"/>
            </a:solidFill>
            <a:prstDash val="solid"/>
          </a:ln>
        </p:spPr>
      </p:sp>
      <p:sp>
        <p:nvSpPr>
          <p:cNvPr id="23" name="Text 15"/>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RegisterUnaryTransitCallback()</a:t>
            </a:r>
            <a:endParaRPr lang="en-US" sz="1500" dirty="0"/>
          </a:p>
        </p:txBody>
      </p:sp>
      <p:sp>
        <p:nvSpPr>
          <p:cNvPr id="24" name="Text 16"/>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runs: best route</a:t>
            </a:r>
            <a:endParaRPr lang="en-US" sz="1700" dirty="0"/>
          </a:p>
        </p:txBody>
      </p:sp>
      <p:sp>
        <p:nvSpPr>
          <p:cNvPr id="25" name="Text 17"/>
          <p:cNvSpPr txBox="1"/>
          <p:nvPr/>
        </p:nvSpPr>
        <p:spPr>
          <a:xfrm>
            <a:off x="548640" y="33375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26" name="Text 18"/>
          <p:cNvSpPr txBox="1"/>
          <p:nvPr/>
        </p:nvSpPr>
        <p:spPr>
          <a:xfrm>
            <a:off x="548640" y="37490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27" name="bar nothing extra"/>
          <p:cNvSpPr/>
          <p:nvPr/>
        </p:nvSpPr>
        <p:spPr>
          <a:xfrm>
            <a:off x="3063240" y="3817620"/>
            <a:ext cx="1409090" cy="228600"/>
          </a:xfrm>
          <a:prstGeom prst="rect">
            <a:avLst/>
          </a:prstGeom>
          <a:solidFill>
            <a:srgbClr val="7F7F7F"/>
          </a:solidFill>
          <a:ln w="6350">
            <a:solidFill>
              <a:srgbClr val="7F7F7F"/>
            </a:solidFill>
            <a:prstDash val="solid"/>
          </a:ln>
        </p:spPr>
      </p:sp>
      <p:sp>
        <p:nvSpPr>
          <p:cNvPr id="28" name="Text 20"/>
          <p:cNvSpPr txBox="1"/>
          <p:nvPr/>
        </p:nvSpPr>
        <p:spPr>
          <a:xfrm>
            <a:off x="4563770" y="374904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9" name="Text 21"/>
          <p:cNvSpPr txBox="1"/>
          <p:nvPr/>
        </p:nvSpPr>
        <p:spPr>
          <a:xfrm>
            <a:off x="548640" y="42062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30" name="bar think longer"/>
          <p:cNvSpPr/>
          <p:nvPr/>
        </p:nvSpPr>
        <p:spPr>
          <a:xfrm>
            <a:off x="3063240" y="4274820"/>
            <a:ext cx="183794" cy="228600"/>
          </a:xfrm>
          <a:prstGeom prst="rect">
            <a:avLst/>
          </a:prstGeom>
          <a:solidFill>
            <a:srgbClr val="C00000"/>
          </a:solidFill>
          <a:ln w="6350">
            <a:solidFill>
              <a:srgbClr val="C00000"/>
            </a:solidFill>
            <a:prstDash val="solid"/>
          </a:ln>
        </p:spPr>
      </p:sp>
      <p:sp>
        <p:nvSpPr>
          <p:cNvPr id="31" name="Text 23"/>
          <p:cNvSpPr txBox="1"/>
          <p:nvPr/>
        </p:nvSpPr>
        <p:spPr>
          <a:xfrm>
            <a:off x="3338474" y="420624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2" name="Text 24"/>
          <p:cNvSpPr txBox="1"/>
          <p:nvPr/>
        </p:nvSpPr>
        <p:spPr>
          <a:xfrm>
            <a:off x="548640" y="46634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33" name="bar long reference sheet"/>
          <p:cNvSpPr/>
          <p:nvPr/>
        </p:nvSpPr>
        <p:spPr>
          <a:xfrm>
            <a:off x="3063240" y="4732020"/>
            <a:ext cx="428854" cy="228600"/>
          </a:xfrm>
          <a:prstGeom prst="rect">
            <a:avLst/>
          </a:prstGeom>
          <a:solidFill>
            <a:srgbClr val="C00000"/>
          </a:solidFill>
          <a:ln w="6350">
            <a:solidFill>
              <a:srgbClr val="C00000"/>
            </a:solidFill>
            <a:prstDash val="solid"/>
          </a:ln>
        </p:spPr>
      </p:sp>
      <p:sp>
        <p:nvSpPr>
          <p:cNvPr id="34" name="Text 26"/>
          <p:cNvSpPr txBox="1"/>
          <p:nvPr/>
        </p:nvSpPr>
        <p:spPr>
          <a:xfrm>
            <a:off x="3583534" y="466344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5" name="Text 27"/>
          <p:cNvSpPr txBox="1"/>
          <p:nvPr/>
        </p:nvSpPr>
        <p:spPr>
          <a:xfrm>
            <a:off x="548640" y="51206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36" name="bar exact usage"/>
          <p:cNvSpPr/>
          <p:nvPr/>
        </p:nvSpPr>
        <p:spPr>
          <a:xfrm>
            <a:off x="3063240" y="5189220"/>
            <a:ext cx="5084978" cy="228600"/>
          </a:xfrm>
          <a:prstGeom prst="rect">
            <a:avLst/>
          </a:prstGeom>
          <a:solidFill>
            <a:srgbClr val="4472C4"/>
          </a:solidFill>
          <a:ln w="6350">
            <a:solidFill>
              <a:srgbClr val="4472C4"/>
            </a:solidFill>
            <a:prstDash val="solid"/>
          </a:ln>
        </p:spPr>
      </p:sp>
      <p:sp>
        <p:nvSpPr>
          <p:cNvPr id="37" name="Text 29"/>
          <p:cNvSpPr txBox="1"/>
          <p:nvPr/>
        </p:nvSpPr>
        <p:spPr>
          <a:xfrm>
            <a:off x="8239658" y="512064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77–90% (3 seeds)</a:t>
            </a:r>
            <a:endParaRPr lang="en-US" sz="1800" dirty="0"/>
          </a:p>
        </p:txBody>
      </p:sp>
      <p:sp>
        <p:nvSpPr>
          <p:cNvPr id="38"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a fact the model does not have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41248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969264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07668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46073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0844784" y="978408"/>
            <a:ext cx="274320" cy="274320"/>
          </a:xfrm>
          <a:prstGeom prst="rect">
            <a:avLst/>
          </a:prstGeom>
        </p:spPr>
      </p:pic>
      <p:pic>
        <p:nvPicPr>
          <p:cNvPr id="11" name="not shown on sqrt" descr="/NAS/SJ/POSTECH/nlp/figs/icons/sqrt.png">    </p:cNvPr>
          <p:cNvPicPr>
            <a:picLocks noChangeAspect="1"/>
          </p:cNvPicPr>
          <p:nvPr/>
        </p:nvPicPr>
        <p:blipFill>
          <a:blip r:embed="rId6">
            <a:alphaModFix amt="18000"/>
          </a:blip>
          <a:stretch>
            <a:fillRect/>
          </a:stretch>
        </p:blipFill>
        <p:spPr>
          <a:xfrm>
            <a:off x="11228832" y="978408"/>
            <a:ext cx="274320" cy="274320"/>
          </a:xfrm>
          <a:prstGeom prst="rect">
            <a:avLst/>
          </a:prstGeom>
        </p:spPr>
      </p:pic>
      <p:sp>
        <p:nvSpPr>
          <p:cNvPr id="12" name="Check A: the problem's own examples"/>
          <p:cNvSpPr/>
          <p:nvPr/>
        </p:nvSpPr>
        <p:spPr>
          <a:xfrm>
            <a:off x="548640" y="1325880"/>
            <a:ext cx="5440680" cy="4160520"/>
          </a:xfrm>
          <a:prstGeom prst="roundRect">
            <a:avLst>
              <a:gd name="adj" fmla="val 1758"/>
            </a:avLst>
          </a:prstGeom>
          <a:solidFill>
            <a:srgbClr val="F2F2F2"/>
          </a:solidFill>
          <a:ln w="9525">
            <a:solidFill>
              <a:srgbClr val="D9D9D9"/>
            </a:solidFill>
            <a:prstDash val="solid"/>
          </a:ln>
        </p:spPr>
      </p:sp>
      <p:sp>
        <p:nvSpPr>
          <p:cNvPr id="13" name="Text 5"/>
          <p:cNvSpPr txBox="1"/>
          <p:nvPr/>
        </p:nvSpPr>
        <p:spPr>
          <a:xfrm>
            <a:off x="777240" y="1417320"/>
            <a:ext cx="4983480" cy="457200"/>
          </a:xfrm>
          <a:prstGeom prst="rect">
            <a:avLst/>
          </a:prstGeom>
          <a:noFill/>
          <a:ln/>
        </p:spPr>
        <p:txBody>
          <a:bodyPr wrap="square" lIns="0" tIns="0" rIns="0" bIns="0" rtlCol="0" anchor="ctr"/>
          <a:lstStyle/>
          <a:p>
            <a:pPr indent="0" marL="0">
              <a:buNone/>
            </a:pPr>
            <a:r>
              <a:rPr lang="en-US" sz="1800" b="1" dirty="0">
                <a:solidFill>
                  <a:srgbClr val="4472C4"/>
                </a:solidFill>
              </a:rPr>
              <a:t>Check A: the problem's own examples</a:t>
            </a:r>
            <a:endParaRPr lang="en-US" sz="1800" dirty="0"/>
          </a:p>
        </p:txBody>
      </p:sp>
      <p:sp>
        <p:nvSpPr>
          <p:cNvPr id="14" name="box &quot;Make a triangle!&quot;: "/>
          <p:cNvSpPr/>
          <p:nvPr/>
        </p:nvSpPr>
        <p:spPr>
          <a:xfrm>
            <a:off x="777240" y="1920240"/>
            <a:ext cx="4983480" cy="512064"/>
          </a:xfrm>
          <a:prstGeom prst="roundRect">
            <a:avLst>
              <a:gd name="adj" fmla="val 10714"/>
            </a:avLst>
          </a:prstGeom>
          <a:solidFill>
            <a:srgbClr val="E2F0D9"/>
          </a:solidFill>
          <a:ln w="9525">
            <a:solidFill>
              <a:srgbClr val="BFBFBF"/>
            </a:solidFill>
            <a:prstDash val="solid"/>
          </a:ln>
        </p:spPr>
      </p:sp>
      <p:sp>
        <p:nvSpPr>
          <p:cNvPr id="15" name="Text 7"/>
          <p:cNvSpPr txBox="1"/>
          <p:nvPr/>
        </p:nvSpPr>
        <p:spPr>
          <a:xfrm>
            <a:off x="850392" y="1920240"/>
            <a:ext cx="4837176" cy="512064"/>
          </a:xfrm>
          <a:prstGeom prst="rect">
            <a:avLst/>
          </a:prstGeom>
          <a:noFill/>
          <a:ln/>
        </p:spPr>
        <p:txBody>
          <a:bodyPr wrap="square" lIns="0" tIns="0" rIns="0" bIns="0" rtlCol="0" anchor="ctr"/>
          <a:lstStyle/>
          <a:p>
            <a:pPr algn="ctr" indent="0" marL="0">
              <a:buNone/>
            </a:pPr>
            <a:r>
              <a:rPr lang="en-US" sz="1500" dirty="0">
                <a:solidFill>
                  <a:srgbClr val="38761D"/>
                </a:solidFill>
              </a:rPr>
              <a:t>"Make a triangle!": examples pass → submit</a:t>
            </a:r>
            <a:endParaRPr lang="en-US" sz="1500" dirty="0"/>
          </a:p>
        </p:txBody>
      </p:sp>
      <p:sp>
        <p:nvSpPr>
          <p:cNvPr id="16" name="box &quot;Arrow&quot;: an example "/>
          <p:cNvSpPr/>
          <p:nvPr/>
        </p:nvSpPr>
        <p:spPr>
          <a:xfrm>
            <a:off x="777240" y="2523744"/>
            <a:ext cx="4983480" cy="512064"/>
          </a:xfrm>
          <a:prstGeom prst="roundRect">
            <a:avLst>
              <a:gd name="adj" fmla="val 10714"/>
            </a:avLst>
          </a:prstGeom>
          <a:solidFill>
            <a:srgbClr val="FADBD8"/>
          </a:solidFill>
          <a:ln w="9525">
            <a:solidFill>
              <a:srgbClr val="BFBFBF"/>
            </a:solidFill>
            <a:prstDash val="solid"/>
          </a:ln>
        </p:spPr>
      </p:sp>
      <p:sp>
        <p:nvSpPr>
          <p:cNvPr id="17" name="Text 9"/>
          <p:cNvSpPr txBox="1"/>
          <p:nvPr/>
        </p:nvSpPr>
        <p:spPr>
          <a:xfrm>
            <a:off x="850392" y="2523744"/>
            <a:ext cx="4837176" cy="512064"/>
          </a:xfrm>
          <a:prstGeom prst="rect">
            <a:avLst/>
          </a:prstGeom>
          <a:noFill/>
          <a:ln/>
        </p:spPr>
        <p:txBody>
          <a:bodyPr wrap="square" lIns="0" tIns="0" rIns="0" bIns="0" rtlCol="0" anchor="ctr"/>
          <a:lstStyle/>
          <a:p>
            <a:pPr algn="ctr" indent="0" marL="0">
              <a:buNone/>
            </a:pPr>
            <a:r>
              <a:rPr lang="en-US" sz="1500" dirty="0">
                <a:solidFill>
                  <a:srgbClr val="C00000"/>
                </a:solidFill>
              </a:rPr>
              <a:t>"Arrow": an example fails → think harder → right</a:t>
            </a:r>
            <a:endParaRPr lang="en-US" sz="1500" dirty="0"/>
          </a:p>
        </p:txBody>
      </p:sp>
      <p:sp>
        <p:nvSpPr>
          <p:cNvPr id="18" name="Text 10"/>
          <p:cNvSpPr txBox="1"/>
          <p:nvPr/>
        </p:nvSpPr>
        <p:spPr>
          <a:xfrm>
            <a:off x="777240" y="3154680"/>
            <a:ext cx="4983480" cy="365760"/>
          </a:xfrm>
          <a:prstGeom prst="rect">
            <a:avLst/>
          </a:prstGeom>
          <a:noFill/>
          <a:ln/>
        </p:spPr>
        <p:txBody>
          <a:bodyPr wrap="square" lIns="0" tIns="0" rIns="0" bIns="0" rtlCol="0" anchor="ctr"/>
          <a:lstStyle/>
          <a:p>
            <a:pPr indent="0" marL="0">
              <a:buNone/>
            </a:pPr>
            <a:r>
              <a:rPr lang="en-US" sz="1500" b="1" dirty="0">
                <a:solidFill>
                  <a:schemeClr val="tx1"/>
                </a:solidFill>
              </a:rPr>
              <a:t>311 contest problems (gpt-oss-120b)</a:t>
            </a:r>
            <a:endParaRPr lang="en-US" sz="1500" dirty="0"/>
          </a:p>
        </p:txBody>
      </p:sp>
      <p:sp>
        <p:nvSpPr>
          <p:cNvPr id="19" name="Text 11"/>
          <p:cNvSpPr txBox="1"/>
          <p:nvPr/>
        </p:nvSpPr>
        <p:spPr>
          <a:xfrm>
            <a:off x="2926080" y="35204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0" name="Text 12"/>
          <p:cNvSpPr txBox="1"/>
          <p:nvPr/>
        </p:nvSpPr>
        <p:spPr>
          <a:xfrm>
            <a:off x="3840480" y="3520440"/>
            <a:ext cx="19202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1" name="Text 13"/>
          <p:cNvSpPr txBox="1"/>
          <p:nvPr/>
        </p:nvSpPr>
        <p:spPr>
          <a:xfrm>
            <a:off x="777240" y="3886200"/>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22" name="Text 14"/>
          <p:cNvSpPr txBox="1"/>
          <p:nvPr/>
        </p:nvSpPr>
        <p:spPr>
          <a:xfrm>
            <a:off x="2926080" y="38862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3" name="tokens always think hard"/>
          <p:cNvSpPr/>
          <p:nvPr/>
        </p:nvSpPr>
        <p:spPr>
          <a:xfrm>
            <a:off x="3840480" y="3986784"/>
            <a:ext cx="1188720" cy="256032"/>
          </a:xfrm>
          <a:prstGeom prst="rect">
            <a:avLst/>
          </a:prstGeom>
          <a:solidFill>
            <a:srgbClr val="7F7F7F"/>
          </a:solidFill>
          <a:ln w="6350">
            <a:solidFill>
              <a:srgbClr val="7F7F7F"/>
            </a:solidFill>
            <a:prstDash val="solid"/>
          </a:ln>
        </p:spPr>
      </p:sp>
      <p:sp>
        <p:nvSpPr>
          <p:cNvPr id="24" name="Text 16"/>
          <p:cNvSpPr txBox="1"/>
          <p:nvPr/>
        </p:nvSpPr>
        <p:spPr>
          <a:xfrm>
            <a:off x="5120640" y="38862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25" name="Text 17"/>
          <p:cNvSpPr txBox="1"/>
          <p:nvPr/>
        </p:nvSpPr>
        <p:spPr>
          <a:xfrm>
            <a:off x="777240" y="4416552"/>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a:t>
            </a:r>
            <a:endParaRPr lang="en-US" sz="1500" dirty="0"/>
          </a:p>
        </p:txBody>
      </p:sp>
      <p:sp>
        <p:nvSpPr>
          <p:cNvPr id="26" name="Text 18"/>
          <p:cNvSpPr txBox="1"/>
          <p:nvPr/>
        </p:nvSpPr>
        <p:spPr>
          <a:xfrm>
            <a:off x="2926080" y="441655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65.0%</a:t>
            </a:r>
            <a:endParaRPr lang="en-US" sz="1700" dirty="0"/>
          </a:p>
        </p:txBody>
      </p:sp>
      <p:sp>
        <p:nvSpPr>
          <p:cNvPr id="27" name="tokens an example fails"/>
          <p:cNvSpPr/>
          <p:nvPr/>
        </p:nvSpPr>
        <p:spPr>
          <a:xfrm>
            <a:off x="3840480" y="4517136"/>
            <a:ext cx="797746" cy="256032"/>
          </a:xfrm>
          <a:prstGeom prst="rect">
            <a:avLst/>
          </a:prstGeom>
          <a:solidFill>
            <a:srgbClr val="5B9BD5"/>
          </a:solidFill>
          <a:ln w="6350">
            <a:solidFill>
              <a:srgbClr val="5B9BD5"/>
            </a:solidFill>
            <a:prstDash val="solid"/>
          </a:ln>
        </p:spPr>
      </p:sp>
      <p:sp>
        <p:nvSpPr>
          <p:cNvPr id="28" name="Text 20"/>
          <p:cNvSpPr txBox="1"/>
          <p:nvPr/>
        </p:nvSpPr>
        <p:spPr>
          <a:xfrm>
            <a:off x="4729666" y="441655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20k</a:t>
            </a:r>
            <a:endParaRPr lang="en-US" sz="1500" dirty="0"/>
          </a:p>
        </p:txBody>
      </p:sp>
      <p:sp>
        <p:nvSpPr>
          <p:cNvPr id="29" name="Text 21"/>
          <p:cNvSpPr txBox="1"/>
          <p:nvPr/>
        </p:nvSpPr>
        <p:spPr>
          <a:xfrm>
            <a:off x="777240" y="4946904"/>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 brute-force check</a:t>
            </a:r>
            <a:endParaRPr lang="en-US" sz="1500" dirty="0"/>
          </a:p>
        </p:txBody>
      </p:sp>
      <p:sp>
        <p:nvSpPr>
          <p:cNvPr id="30" name="Text 22"/>
          <p:cNvSpPr txBox="1"/>
          <p:nvPr/>
        </p:nvSpPr>
        <p:spPr>
          <a:xfrm>
            <a:off x="2926080" y="49469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31" name="tokens + brute-force check"/>
          <p:cNvSpPr/>
          <p:nvPr/>
        </p:nvSpPr>
        <p:spPr>
          <a:xfrm>
            <a:off x="3840480" y="5047488"/>
            <a:ext cx="975461" cy="256032"/>
          </a:xfrm>
          <a:prstGeom prst="rect">
            <a:avLst/>
          </a:prstGeom>
          <a:solidFill>
            <a:srgbClr val="4472C4"/>
          </a:solidFill>
          <a:ln w="6350">
            <a:solidFill>
              <a:srgbClr val="4472C4"/>
            </a:solidFill>
            <a:prstDash val="solid"/>
          </a:ln>
        </p:spPr>
      </p:sp>
      <p:sp>
        <p:nvSpPr>
          <p:cNvPr id="32" name="Text 24"/>
          <p:cNvSpPr txBox="1"/>
          <p:nvPr/>
        </p:nvSpPr>
        <p:spPr>
          <a:xfrm>
            <a:off x="4907381" y="49469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33" name="Check B: two versions must agree"/>
          <p:cNvSpPr/>
          <p:nvPr/>
        </p:nvSpPr>
        <p:spPr>
          <a:xfrm>
            <a:off x="6172200" y="1325880"/>
            <a:ext cx="5440680" cy="4160520"/>
          </a:xfrm>
          <a:prstGeom prst="roundRect">
            <a:avLst>
              <a:gd name="adj" fmla="val 1758"/>
            </a:avLst>
          </a:prstGeom>
          <a:solidFill>
            <a:srgbClr val="F2F2F2"/>
          </a:solidFill>
          <a:ln w="9525">
            <a:solidFill>
              <a:srgbClr val="D9D9D9"/>
            </a:solidFill>
            <a:prstDash val="solid"/>
          </a:ln>
        </p:spPr>
      </p:sp>
      <p:sp>
        <p:nvSpPr>
          <p:cNvPr id="34" name="Text 26"/>
          <p:cNvSpPr txBox="1"/>
          <p:nvPr/>
        </p:nvSpPr>
        <p:spPr>
          <a:xfrm>
            <a:off x="6400800" y="1417320"/>
            <a:ext cx="4983480" cy="457200"/>
          </a:xfrm>
          <a:prstGeom prst="rect">
            <a:avLst/>
          </a:prstGeom>
          <a:noFill/>
          <a:ln/>
        </p:spPr>
        <p:txBody>
          <a:bodyPr wrap="square" lIns="0" tIns="0" rIns="0" bIns="0" rtlCol="0" anchor="ctr"/>
          <a:lstStyle/>
          <a:p>
            <a:pPr indent="0" marL="0">
              <a:buNone/>
            </a:pPr>
            <a:r>
              <a:rPr lang="en-US" sz="1800" b="1" dirty="0">
                <a:solidFill>
                  <a:srgbClr val="4472C4"/>
                </a:solidFill>
              </a:rPr>
              <a:t>Check B: two versions must agree</a:t>
            </a:r>
            <a:endParaRPr lang="en-US" sz="1800" dirty="0"/>
          </a:p>
        </p:txBody>
      </p:sp>
      <p:sp>
        <p:nvSpPr>
          <p:cNvPr id="35" name="box program A (task only"/>
          <p:cNvSpPr/>
          <p:nvPr/>
        </p:nvSpPr>
        <p:spPr>
          <a:xfrm>
            <a:off x="6400800" y="1920240"/>
            <a:ext cx="4983480" cy="512064"/>
          </a:xfrm>
          <a:prstGeom prst="roundRect">
            <a:avLst>
              <a:gd name="adj" fmla="val 10714"/>
            </a:avLst>
          </a:prstGeom>
          <a:solidFill>
            <a:srgbClr val="E2F0D9"/>
          </a:solidFill>
          <a:ln w="9525">
            <a:solidFill>
              <a:srgbClr val="BFBFBF"/>
            </a:solidFill>
            <a:prstDash val="solid"/>
          </a:ln>
        </p:spPr>
      </p:sp>
      <p:sp>
        <p:nvSpPr>
          <p:cNvPr id="36" name="Text 28"/>
          <p:cNvSpPr txBox="1"/>
          <p:nvPr/>
        </p:nvSpPr>
        <p:spPr>
          <a:xfrm>
            <a:off x="6473952" y="1920240"/>
            <a:ext cx="4837176" cy="512064"/>
          </a:xfrm>
          <a:prstGeom prst="rect">
            <a:avLst/>
          </a:prstGeom>
          <a:noFill/>
          <a:ln/>
        </p:spPr>
        <p:txBody>
          <a:bodyPr wrap="square" lIns="0" tIns="0" rIns="0" bIns="0" rtlCol="0" anchor="ctr"/>
          <a:lstStyle/>
          <a:p>
            <a:pPr algn="ctr" indent="0" marL="0">
              <a:buNone/>
            </a:pPr>
            <a:r>
              <a:rPr lang="en-US" sz="1500" dirty="0">
                <a:solidFill>
                  <a:srgbClr val="38761D"/>
                </a:solidFill>
              </a:rPr>
              <a:t>program A (task only) → 6</a:t>
            </a:r>
            <a:endParaRPr lang="en-US" sz="1500" dirty="0"/>
          </a:p>
        </p:txBody>
      </p:sp>
      <p:sp>
        <p:nvSpPr>
          <p:cNvPr id="37" name="box program B (+ helper "/>
          <p:cNvSpPr/>
          <p:nvPr/>
        </p:nvSpPr>
        <p:spPr>
          <a:xfrm>
            <a:off x="6400800" y="2523744"/>
            <a:ext cx="4983480" cy="512064"/>
          </a:xfrm>
          <a:prstGeom prst="roundRect">
            <a:avLst>
              <a:gd name="adj" fmla="val 10714"/>
            </a:avLst>
          </a:prstGeom>
          <a:solidFill>
            <a:srgbClr val="FADBD8"/>
          </a:solidFill>
          <a:ln w="9525">
            <a:solidFill>
              <a:srgbClr val="BFBFBF"/>
            </a:solidFill>
            <a:prstDash val="solid"/>
          </a:ln>
        </p:spPr>
      </p:sp>
      <p:sp>
        <p:nvSpPr>
          <p:cNvPr id="38" name="Text 30"/>
          <p:cNvSpPr txBox="1"/>
          <p:nvPr/>
        </p:nvSpPr>
        <p:spPr>
          <a:xfrm>
            <a:off x="6473952" y="2523744"/>
            <a:ext cx="4837176" cy="512064"/>
          </a:xfrm>
          <a:prstGeom prst="rect">
            <a:avLst/>
          </a:prstGeom>
          <a:noFill/>
          <a:ln/>
        </p:spPr>
        <p:txBody>
          <a:bodyPr wrap="square" lIns="0" tIns="0" rIns="0" bIns="0" rtlCol="0" anchor="ctr"/>
          <a:lstStyle/>
          <a:p>
            <a:pPr algn="ctr" indent="0" marL="0">
              <a:buNone/>
            </a:pPr>
            <a:r>
              <a:rPr lang="en-US" sz="1500" dirty="0">
                <a:solidFill>
                  <a:srgbClr val="C00000"/>
                </a:solidFill>
              </a:rPr>
              <a:t>program B (+ helper code) → 0: differ → think</a:t>
            </a:r>
            <a:endParaRPr lang="en-US" sz="1500" dirty="0"/>
          </a:p>
        </p:txBody>
      </p:sp>
      <p:sp>
        <p:nvSpPr>
          <p:cNvPr id="39" name="Text 31"/>
          <p:cNvSpPr txBox="1"/>
          <p:nvPr/>
        </p:nvSpPr>
        <p:spPr>
          <a:xfrm>
            <a:off x="6400800" y="3154680"/>
            <a:ext cx="4983480" cy="365760"/>
          </a:xfrm>
          <a:prstGeom prst="rect">
            <a:avLst/>
          </a:prstGeom>
          <a:noFill/>
          <a:ln/>
        </p:spPr>
        <p:txBody>
          <a:bodyPr wrap="square" lIns="0" tIns="0" rIns="0" bIns="0" rtlCol="0" anchor="ctr"/>
          <a:lstStyle/>
          <a:p>
            <a:pPr indent="0" marL="0">
              <a:buNone/>
            </a:pPr>
            <a:r>
              <a:rPr lang="en-US" sz="1500" b="1" dirty="0">
                <a:solidFill>
                  <a:schemeClr val="tx1"/>
                </a:solidFill>
              </a:rPr>
              <a:t>108 geometry problems (Qwen3-32B, 3 runs)</a:t>
            </a:r>
            <a:endParaRPr lang="en-US" sz="1500" dirty="0"/>
          </a:p>
        </p:txBody>
      </p:sp>
      <p:sp>
        <p:nvSpPr>
          <p:cNvPr id="40" name="Text 32"/>
          <p:cNvSpPr txBox="1"/>
          <p:nvPr/>
        </p:nvSpPr>
        <p:spPr>
          <a:xfrm>
            <a:off x="8549640" y="35204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1" name="Text 33"/>
          <p:cNvSpPr txBox="1"/>
          <p:nvPr/>
        </p:nvSpPr>
        <p:spPr>
          <a:xfrm>
            <a:off x="9464040" y="3520440"/>
            <a:ext cx="19202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2" name="Text 34"/>
          <p:cNvSpPr txBox="1"/>
          <p:nvPr/>
        </p:nvSpPr>
        <p:spPr>
          <a:xfrm>
            <a:off x="6400800" y="3886200"/>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43" name="Text 35"/>
          <p:cNvSpPr txBox="1"/>
          <p:nvPr/>
        </p:nvSpPr>
        <p:spPr>
          <a:xfrm>
            <a:off x="8549640" y="38862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44" name="tokens always think"/>
          <p:cNvSpPr/>
          <p:nvPr/>
        </p:nvSpPr>
        <p:spPr>
          <a:xfrm>
            <a:off x="9464040" y="3986784"/>
            <a:ext cx="1188720" cy="256032"/>
          </a:xfrm>
          <a:prstGeom prst="rect">
            <a:avLst/>
          </a:prstGeom>
          <a:solidFill>
            <a:srgbClr val="7F7F7F"/>
          </a:solidFill>
          <a:ln w="6350">
            <a:solidFill>
              <a:srgbClr val="7F7F7F"/>
            </a:solidFill>
            <a:prstDash val="solid"/>
          </a:ln>
        </p:spPr>
      </p:sp>
      <p:sp>
        <p:nvSpPr>
          <p:cNvPr id="45" name="Text 37"/>
          <p:cNvSpPr txBox="1"/>
          <p:nvPr/>
        </p:nvSpPr>
        <p:spPr>
          <a:xfrm>
            <a:off x="10744200" y="38862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46" name="Text 38"/>
          <p:cNvSpPr txBox="1"/>
          <p:nvPr/>
        </p:nvSpPr>
        <p:spPr>
          <a:xfrm>
            <a:off x="6400800" y="4416552"/>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only if they differ</a:t>
            </a:r>
            <a:endParaRPr lang="en-US" sz="1500" dirty="0"/>
          </a:p>
        </p:txBody>
      </p:sp>
      <p:sp>
        <p:nvSpPr>
          <p:cNvPr id="47" name="Text 39"/>
          <p:cNvSpPr txBox="1"/>
          <p:nvPr/>
        </p:nvSpPr>
        <p:spPr>
          <a:xfrm>
            <a:off x="8549640" y="441655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48" name="tokens only if they differ"/>
          <p:cNvSpPr/>
          <p:nvPr/>
        </p:nvSpPr>
        <p:spPr>
          <a:xfrm>
            <a:off x="9464040" y="4517136"/>
            <a:ext cx="866355" cy="256032"/>
          </a:xfrm>
          <a:prstGeom prst="rect">
            <a:avLst/>
          </a:prstGeom>
          <a:solidFill>
            <a:srgbClr val="4472C4"/>
          </a:solidFill>
          <a:ln w="6350">
            <a:solidFill>
              <a:srgbClr val="4472C4"/>
            </a:solidFill>
            <a:prstDash val="solid"/>
          </a:ln>
        </p:spPr>
      </p:sp>
      <p:sp>
        <p:nvSpPr>
          <p:cNvPr id="49" name="Text 41"/>
          <p:cNvSpPr txBox="1"/>
          <p:nvPr/>
        </p:nvSpPr>
        <p:spPr>
          <a:xfrm>
            <a:off x="10421835" y="441655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50" name="Text 4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missing fact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841248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10" name="holds on shapes" descr="/NAS/SJ/POSTECH/nlp/figs/icons/shapes.png">    </p:cNvPr>
          <p:cNvPicPr>
            <a:picLocks noChangeAspect="1"/>
          </p:cNvPicPr>
          <p:nvPr/>
        </p:nvPicPr>
        <p:blipFill>
          <a:blip r:embed="rId3"/>
          <a:stretch>
            <a:fillRect/>
          </a:stretch>
        </p:blipFill>
        <p:spPr>
          <a:xfrm>
            <a:off x="9692640" y="978408"/>
            <a:ext cx="274320" cy="274320"/>
          </a:xfrm>
          <a:prstGeom prst="rect">
            <a:avLst/>
          </a:prstGeom>
        </p:spPr>
      </p:pic>
      <p:pic>
        <p:nvPicPr>
          <p:cNvPr id="11" name="not shown on trophy" descr="/NAS/SJ/POSTECH/nlp/figs/icons/trophy.png">    </p:cNvPr>
          <p:cNvPicPr>
            <a:picLocks noChangeAspect="1"/>
          </p:cNvPicPr>
          <p:nvPr/>
        </p:nvPicPr>
        <p:blipFill>
          <a:blip r:embed="rId4">
            <a:alphaModFix amt="18000"/>
          </a:blip>
          <a:stretch>
            <a:fillRect/>
          </a:stretch>
        </p:blipFill>
        <p:spPr>
          <a:xfrm>
            <a:off x="10076688" y="978408"/>
            <a:ext cx="274320" cy="274320"/>
          </a:xfrm>
          <a:prstGeom prst="rect">
            <a:avLst/>
          </a:prstGeom>
        </p:spPr>
      </p:pic>
      <p:pic>
        <p:nvPicPr>
          <p:cNvPr id="12" name="holds on truck" descr="/NAS/SJ/POSTECH/nlp/figs/icons/truck.png">    </p:cNvPr>
          <p:cNvPicPr>
            <a:picLocks noChangeAspect="1"/>
          </p:cNvPicPr>
          <p:nvPr/>
        </p:nvPicPr>
        <p:blipFill>
          <a:blip r:embed="rId5"/>
          <a:stretch>
            <a:fillRect/>
          </a:stretch>
        </p:blipFill>
        <p:spPr>
          <a:xfrm>
            <a:off x="10460736" y="978408"/>
            <a:ext cx="274320" cy="274320"/>
          </a:xfrm>
          <a:prstGeom prst="rect">
            <a:avLst/>
          </a:prstGeom>
        </p:spPr>
      </p:pic>
      <p:pic>
        <p:nvPicPr>
          <p:cNvPr id="13" name="holds on calc" descr="/NAS/SJ/POSTECH/nlp/figs/icons/calc.png">    </p:cNvPr>
          <p:cNvPicPr>
            <a:picLocks noChangeAspect="1"/>
          </p:cNvPicPr>
          <p:nvPr/>
        </p:nvPicPr>
        <p:blipFill>
          <a:blip r:embed="rId6"/>
          <a:stretch>
            <a:fillRect/>
          </a:stretch>
        </p:blipFill>
        <p:spPr>
          <a:xfrm>
            <a:off x="10844784" y="978408"/>
            <a:ext cx="274320" cy="274320"/>
          </a:xfrm>
          <a:prstGeom prst="rect">
            <a:avLst/>
          </a:prstGeom>
        </p:spPr>
      </p:pic>
      <p:pic>
        <p:nvPicPr>
          <p:cNvPr id="14" name="not shown on sqrt" descr="/NAS/SJ/POSTECH/nlp/figs/icons/sqrt.png">    </p:cNvPr>
          <p:cNvPicPr>
            <a:picLocks noChangeAspect="1"/>
          </p:cNvPicPr>
          <p:nvPr/>
        </p:nvPicPr>
        <p:blipFill>
          <a:blip r:embed="rId7">
            <a:alphaModFix amt="18000"/>
          </a:blip>
          <a:stretch>
            <a:fillRect/>
          </a:stretch>
        </p:blipFill>
        <p:spPr>
          <a:xfrm>
            <a:off x="11228832" y="978408"/>
            <a:ext cx="274320" cy="274320"/>
          </a:xfrm>
          <a:prstGeom prst="rect">
            <a:avLst/>
          </a:prstGeom>
        </p:spPr>
      </p:pic>
      <p:sp>
        <p:nvSpPr>
          <p:cNvPr id="15" name="Text 6"/>
          <p:cNvSpPr txBox="1"/>
          <p:nvPr/>
        </p:nvSpPr>
        <p:spPr>
          <a:xfrm>
            <a:off x="548640" y="1170432"/>
            <a:ext cx="78638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minimum cost of X, Y, Z under three limits → 20000</a:t>
            </a:r>
            <a:endParaRPr lang="en-US" sz="1600" dirty="0"/>
          </a:p>
        </p:txBody>
      </p:sp>
      <p:sp>
        <p:nvSpPr>
          <p:cNvPr id="16" name="Text 7"/>
          <p:cNvSpPr txBox="1"/>
          <p:nvPr/>
        </p:nvSpPr>
        <p:spPr>
          <a:xfrm>
            <a:off x="54864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1 Program</a:t>
            </a:r>
            <a:endParaRPr lang="en-US" sz="1700" dirty="0"/>
          </a:p>
        </p:txBody>
      </p:sp>
      <p:sp>
        <p:nvSpPr>
          <p:cNvPr id="17" name="step 1 Program"/>
          <p:cNvSpPr/>
          <p:nvPr/>
        </p:nvSpPr>
        <p:spPr>
          <a:xfrm>
            <a:off x="548640" y="2011680"/>
            <a:ext cx="2103120" cy="1325880"/>
          </a:xfrm>
          <a:prstGeom prst="roundRect">
            <a:avLst>
              <a:gd name="adj" fmla="val 5517"/>
            </a:avLst>
          </a:prstGeom>
          <a:solidFill>
            <a:srgbClr val="FADBD8"/>
          </a:solidFill>
          <a:ln w="12700">
            <a:solidFill>
              <a:srgbClr val="C00000"/>
            </a:solidFill>
            <a:prstDash val="solid"/>
          </a:ln>
        </p:spPr>
      </p:sp>
      <p:sp>
        <p:nvSpPr>
          <p:cNvPr id="18" name="Text 9"/>
          <p:cNvSpPr txBox="1"/>
          <p:nvPr/>
        </p:nvSpPr>
        <p:spPr>
          <a:xfrm>
            <a:off x="621792" y="2057400"/>
            <a:ext cx="1956816" cy="566928"/>
          </a:xfrm>
          <a:prstGeom prst="rect">
            <a:avLst/>
          </a:prstGeom>
          <a:noFill/>
          <a:ln/>
        </p:spPr>
        <p:txBody>
          <a:bodyPr wrap="square" lIns="0" tIns="0" rIns="0" bIns="0" rtlCol="0" anchor="ctr"/>
          <a:lstStyle/>
          <a:p>
            <a:pPr algn="ctr" indent="0" marL="0">
              <a:buNone/>
            </a:pPr>
            <a:r>
              <a:rPr lang="en-US" sz="1400" b="1" dirty="0">
                <a:solidFill>
                  <a:srgbClr val="C00000"/>
                </a:solidFill>
                <a:latin typeface="Courier New" pitchFamily="34" charset="0"/>
                <a:ea typeface="Courier New" pitchFamily="34" charset="-122"/>
                <a:cs typeface="Courier New" pitchFamily="34" charset="-120"/>
              </a:rPr>
              <a:t>Objective()</a:t>
            </a:r>
            <a:endParaRPr lang="en-US" sz="1400" dirty="0"/>
          </a:p>
          <a:p>
            <a:pPr algn="ctr" indent="0" marL="0">
              <a:buNone/>
            </a:pPr>
            <a:r>
              <a:rPr lang="en-US" sz="1400" b="1" dirty="0">
                <a:solidFill>
                  <a:srgbClr val="C00000"/>
                </a:solidFill>
                <a:latin typeface="Courier New" pitchFamily="34" charset="0"/>
                <a:ea typeface="Courier New" pitchFamily="34" charset="-122"/>
                <a:cs typeface="Courier New" pitchFamily="34" charset="-120"/>
              </a:rPr>
              <a:t>.Minimize()</a:t>
            </a:r>
            <a:endParaRPr lang="en-US" sz="1400" dirty="0"/>
          </a:p>
        </p:txBody>
      </p:sp>
      <p:sp>
        <p:nvSpPr>
          <p:cNvPr id="19" name="Text 10"/>
          <p:cNvSpPr txBox="1"/>
          <p:nvPr/>
        </p:nvSpPr>
        <p:spPr>
          <a:xfrm>
            <a:off x="64008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 crash, no fact</a:t>
            </a:r>
            <a:endParaRPr lang="en-US" sz="1400" dirty="0"/>
          </a:p>
        </p:txBody>
      </p:sp>
      <p:sp>
        <p:nvSpPr>
          <p:cNvPr id="20" name="Shape 11"/>
          <p:cNvSpPr/>
          <p:nvPr/>
        </p:nvSpPr>
        <p:spPr>
          <a:xfrm>
            <a:off x="2651760" y="2670048"/>
            <a:ext cx="137160" cy="0"/>
          </a:xfrm>
          <a:prstGeom prst="line">
            <a:avLst/>
          </a:prstGeom>
          <a:noFill/>
          <a:ln w="25400">
            <a:solidFill>
              <a:srgbClr val="7F7F7F"/>
            </a:solidFill>
            <a:prstDash val="solid"/>
            <a:tailEnd type="triangle"/>
          </a:ln>
        </p:spPr>
      </p:sp>
      <p:sp>
        <p:nvSpPr>
          <p:cNvPr id="21" name="Text 12"/>
          <p:cNvSpPr txBox="1"/>
          <p:nvPr/>
        </p:nvSpPr>
        <p:spPr>
          <a:xfrm>
            <a:off x="278892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2 + Fact</a:t>
            </a:r>
            <a:endParaRPr lang="en-US" sz="1700" dirty="0"/>
          </a:p>
        </p:txBody>
      </p:sp>
      <p:sp>
        <p:nvSpPr>
          <p:cNvPr id="22" name="step 2 + Fact"/>
          <p:cNvSpPr/>
          <p:nvPr/>
        </p:nvSpPr>
        <p:spPr>
          <a:xfrm>
            <a:off x="2788920" y="2011680"/>
            <a:ext cx="2103120" cy="1325880"/>
          </a:xfrm>
          <a:prstGeom prst="roundRect">
            <a:avLst>
              <a:gd name="adj" fmla="val 5517"/>
            </a:avLst>
          </a:prstGeom>
          <a:solidFill>
            <a:srgbClr val="E2F0D9"/>
          </a:solidFill>
          <a:ln w="12700">
            <a:solidFill>
              <a:srgbClr val="38761D"/>
            </a:solidFill>
            <a:prstDash val="solid"/>
          </a:ln>
        </p:spPr>
      </p:sp>
      <p:sp>
        <p:nvSpPr>
          <p:cNvPr id="23" name="Text 14"/>
          <p:cNvSpPr txBox="1"/>
          <p:nvPr/>
        </p:nvSpPr>
        <p:spPr>
          <a:xfrm>
            <a:off x="2862072" y="2057400"/>
            <a:ext cx="1956816" cy="566928"/>
          </a:xfrm>
          <a:prstGeom prst="rect">
            <a:avLst/>
          </a:prstGeom>
          <a:noFill/>
          <a:ln/>
        </p:spPr>
        <p:txBody>
          <a:bodyPr wrap="square" lIns="0" tIns="0" rIns="0" bIns="0" rtlCol="0" anchor="ctr"/>
          <a:lstStyle/>
          <a:p>
            <a:pPr algn="ctr" indent="0" marL="0">
              <a:buNone/>
            </a:pPr>
            <a:r>
              <a:rPr lang="en-US" sz="1400" b="1" dirty="0">
                <a:solidFill>
                  <a:srgbClr val="38761D"/>
                </a:solidFill>
                <a:latin typeface="Courier New" pitchFamily="34" charset="0"/>
                <a:ea typeface="Courier New" pitchFamily="34" charset="-122"/>
                <a:cs typeface="Courier New" pitchFamily="34" charset="-120"/>
              </a:rPr>
              <a:t>solver</a:t>
            </a:r>
            <a:endParaRPr lang="en-US" sz="1400" dirty="0"/>
          </a:p>
          <a:p>
            <a:pPr algn="ctr" indent="0" marL="0">
              <a:buNone/>
            </a:pPr>
            <a:r>
              <a:rPr lang="en-US" sz="1400" b="1" dirty="0">
                <a:solidFill>
                  <a:srgbClr val="38761D"/>
                </a:solidFill>
                <a:latin typeface="Courier New" pitchFamily="34" charset="0"/>
                <a:ea typeface="Courier New" pitchFamily="34" charset="-122"/>
                <a:cs typeface="Courier New" pitchFamily="34" charset="-120"/>
              </a:rPr>
              <a:t>.Minimize(...)</a:t>
            </a:r>
            <a:endParaRPr lang="en-US" sz="1400" dirty="0"/>
          </a:p>
        </p:txBody>
      </p:sp>
      <p:sp>
        <p:nvSpPr>
          <p:cNvPr id="24" name="Text 15"/>
          <p:cNvSpPr txBox="1"/>
          <p:nvPr/>
        </p:nvSpPr>
        <p:spPr>
          <a:xfrm>
            <a:off x="288036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found automatically: its own checked program</a:t>
            </a:r>
            <a:endParaRPr lang="en-US" sz="1400" dirty="0"/>
          </a:p>
        </p:txBody>
      </p:sp>
      <p:sp>
        <p:nvSpPr>
          <p:cNvPr id="25" name="Shape 16"/>
          <p:cNvSpPr/>
          <p:nvPr/>
        </p:nvSpPr>
        <p:spPr>
          <a:xfrm>
            <a:off x="4892040" y="2670048"/>
            <a:ext cx="137160" cy="0"/>
          </a:xfrm>
          <a:prstGeom prst="line">
            <a:avLst/>
          </a:prstGeom>
          <a:noFill/>
          <a:ln w="25400">
            <a:solidFill>
              <a:srgbClr val="7F7F7F"/>
            </a:solidFill>
            <a:prstDash val="solid"/>
            <a:tailEnd type="triangle"/>
          </a:ln>
        </p:spPr>
      </p:sp>
      <p:sp>
        <p:nvSpPr>
          <p:cNvPr id="26" name="Text 17"/>
          <p:cNvSpPr txBox="1"/>
          <p:nvPr/>
        </p:nvSpPr>
        <p:spPr>
          <a:xfrm>
            <a:off x="502920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3 Free check</a:t>
            </a:r>
            <a:endParaRPr lang="en-US" sz="1700" dirty="0"/>
          </a:p>
        </p:txBody>
      </p:sp>
      <p:sp>
        <p:nvSpPr>
          <p:cNvPr id="27" name="step 3 Free check"/>
          <p:cNvSpPr/>
          <p:nvPr/>
        </p:nvSpPr>
        <p:spPr>
          <a:xfrm>
            <a:off x="5029200" y="2011680"/>
            <a:ext cx="2103120" cy="1325880"/>
          </a:xfrm>
          <a:prstGeom prst="roundRect">
            <a:avLst>
              <a:gd name="adj" fmla="val 5517"/>
            </a:avLst>
          </a:prstGeom>
          <a:solidFill>
            <a:srgbClr val="E2F0D9"/>
          </a:solidFill>
          <a:ln w="12700">
            <a:solidFill>
              <a:srgbClr val="38761D"/>
            </a:solidFill>
            <a:prstDash val="solid"/>
          </a:ln>
        </p:spPr>
      </p:sp>
      <p:sp>
        <p:nvSpPr>
          <p:cNvPr id="28" name="Text 19"/>
          <p:cNvSpPr txBox="1"/>
          <p:nvPr/>
        </p:nvSpPr>
        <p:spPr>
          <a:xfrm>
            <a:off x="5102352" y="2057400"/>
            <a:ext cx="1956816" cy="566928"/>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9" name="Text 20"/>
          <p:cNvSpPr txBox="1"/>
          <p:nvPr/>
        </p:nvSpPr>
        <p:spPr>
          <a:xfrm>
            <a:off x="512064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a second version agrees</a:t>
            </a:r>
            <a:endParaRPr lang="en-US" sz="1400" dirty="0"/>
          </a:p>
        </p:txBody>
      </p:sp>
      <p:sp>
        <p:nvSpPr>
          <p:cNvPr id="30" name="Shape 21"/>
          <p:cNvSpPr/>
          <p:nvPr/>
        </p:nvSpPr>
        <p:spPr>
          <a:xfrm>
            <a:off x="7132320" y="2670048"/>
            <a:ext cx="137160" cy="0"/>
          </a:xfrm>
          <a:prstGeom prst="line">
            <a:avLst/>
          </a:prstGeom>
          <a:noFill/>
          <a:ln w="25400">
            <a:solidFill>
              <a:srgbClr val="7F7F7F"/>
            </a:solidFill>
            <a:prstDash val="solid"/>
            <a:tailEnd type="triangle"/>
          </a:ln>
        </p:spPr>
      </p:sp>
      <p:sp>
        <p:nvSpPr>
          <p:cNvPr id="31" name="Text 22"/>
          <p:cNvSpPr txBox="1"/>
          <p:nvPr/>
        </p:nvSpPr>
        <p:spPr>
          <a:xfrm>
            <a:off x="726948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4 Think?</a:t>
            </a:r>
            <a:endParaRPr lang="en-US" sz="1700" dirty="0"/>
          </a:p>
        </p:txBody>
      </p:sp>
      <p:sp>
        <p:nvSpPr>
          <p:cNvPr id="32" name="step 4 Think?"/>
          <p:cNvSpPr/>
          <p:nvPr/>
        </p:nvSpPr>
        <p:spPr>
          <a:xfrm>
            <a:off x="7269480" y="2011680"/>
            <a:ext cx="2103120" cy="1325880"/>
          </a:xfrm>
          <a:prstGeom prst="roundRect">
            <a:avLst>
              <a:gd name="adj" fmla="val 5517"/>
            </a:avLst>
          </a:prstGeom>
          <a:solidFill>
            <a:srgbClr val="F2F2F2"/>
          </a:solidFill>
          <a:ln w="12700">
            <a:solidFill>
              <a:srgbClr val="7F7F7F"/>
            </a:solidFill>
            <a:prstDash val="solid"/>
          </a:ln>
        </p:spPr>
      </p:sp>
      <p:sp>
        <p:nvSpPr>
          <p:cNvPr id="33" name="Text 24"/>
          <p:cNvSpPr txBox="1"/>
          <p:nvPr/>
        </p:nvSpPr>
        <p:spPr>
          <a:xfrm>
            <a:off x="7342632" y="2057400"/>
            <a:ext cx="1956816" cy="566928"/>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4" name="Text 25"/>
          <p:cNvSpPr txBox="1"/>
          <p:nvPr/>
        </p:nvSpPr>
        <p:spPr>
          <a:xfrm>
            <a:off x="736092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think only if the two differ</a:t>
            </a:r>
            <a:endParaRPr lang="en-US" sz="1400" dirty="0"/>
          </a:p>
        </p:txBody>
      </p:sp>
      <p:sp>
        <p:nvSpPr>
          <p:cNvPr id="35" name="Shape 26"/>
          <p:cNvSpPr/>
          <p:nvPr/>
        </p:nvSpPr>
        <p:spPr>
          <a:xfrm>
            <a:off x="9372600" y="2670048"/>
            <a:ext cx="137160" cy="0"/>
          </a:xfrm>
          <a:prstGeom prst="line">
            <a:avLst/>
          </a:prstGeom>
          <a:noFill/>
          <a:ln w="25400">
            <a:solidFill>
              <a:srgbClr val="7F7F7F"/>
            </a:solidFill>
            <a:prstDash val="solid"/>
            <a:tailEnd type="triangle"/>
          </a:ln>
        </p:spPr>
      </p:sp>
      <p:sp>
        <p:nvSpPr>
          <p:cNvPr id="36" name="Text 27"/>
          <p:cNvSpPr txBox="1"/>
          <p:nvPr/>
        </p:nvSpPr>
        <p:spPr>
          <a:xfrm>
            <a:off x="950976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5 Reuse</a:t>
            </a:r>
            <a:endParaRPr lang="en-US" sz="1700" dirty="0"/>
          </a:p>
        </p:txBody>
      </p:sp>
      <p:sp>
        <p:nvSpPr>
          <p:cNvPr id="37" name="step 5 Reuse"/>
          <p:cNvSpPr/>
          <p:nvPr/>
        </p:nvSpPr>
        <p:spPr>
          <a:xfrm>
            <a:off x="9509760" y="2011680"/>
            <a:ext cx="2103120" cy="1325880"/>
          </a:xfrm>
          <a:prstGeom prst="roundRect">
            <a:avLst>
              <a:gd name="adj" fmla="val 5517"/>
            </a:avLst>
          </a:prstGeom>
          <a:solidFill>
            <a:srgbClr val="DEEBF7"/>
          </a:solidFill>
          <a:ln w="12700">
            <a:solidFill>
              <a:srgbClr val="4472C4"/>
            </a:solidFill>
            <a:prstDash val="solid"/>
          </a:ln>
        </p:spPr>
      </p:sp>
      <p:sp>
        <p:nvSpPr>
          <p:cNvPr id="38" name="Text 29"/>
          <p:cNvSpPr txBox="1"/>
          <p:nvPr/>
        </p:nvSpPr>
        <p:spPr>
          <a:xfrm>
            <a:off x="9582912" y="2057400"/>
            <a:ext cx="1956816" cy="566928"/>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39" name="Text 30"/>
          <p:cNvSpPr txBox="1"/>
          <p:nvPr/>
        </p:nvSpPr>
        <p:spPr>
          <a:xfrm>
            <a:off x="960120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same kind, new data: no new tokens</a:t>
            </a:r>
            <a:endParaRPr lang="en-US" sz="1400" dirty="0"/>
          </a:p>
        </p:txBody>
      </p:sp>
      <p:sp>
        <p:nvSpPr>
          <p:cNvPr id="40" name="Text 31"/>
          <p:cNvSpPr txBox="1"/>
          <p:nvPr/>
        </p:nvSpPr>
        <p:spPr>
          <a:xfrm>
            <a:off x="548640" y="3611880"/>
            <a:ext cx="6400800" cy="365760"/>
          </a:xfrm>
          <a:prstGeom prst="rect">
            <a:avLst/>
          </a:prstGeom>
          <a:noFill/>
          <a:ln/>
        </p:spPr>
        <p:txBody>
          <a:bodyPr wrap="square" lIns="0" tIns="0" rIns="0" bIns="0" rtlCol="0" anchor="ctr"/>
          <a:lstStyle/>
          <a:p>
            <a:pPr indent="0" marL="0">
              <a:buNone/>
            </a:pPr>
            <a:r>
              <a:rPr lang="en-US" sz="1600" b="1" dirty="0">
                <a:solidFill>
                  <a:schemeClr val="tx1"/>
                </a:solidFill>
              </a:rPr>
              <a:t>108 geometry + 100 optimization problems × 3 models:</a:t>
            </a:r>
            <a:endParaRPr lang="en-US" sz="1600" dirty="0"/>
          </a:p>
        </p:txBody>
      </p:sp>
      <p:sp>
        <p:nvSpPr>
          <p:cNvPr id="41" name="Text 32"/>
          <p:cNvSpPr txBox="1"/>
          <p:nvPr/>
        </p:nvSpPr>
        <p:spPr>
          <a:xfrm>
            <a:off x="2560320" y="3977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2" name="Text 33"/>
          <p:cNvSpPr txBox="1"/>
          <p:nvPr/>
        </p:nvSpPr>
        <p:spPr>
          <a:xfrm>
            <a:off x="3474720" y="3977640"/>
            <a:ext cx="347472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3" name="Text 34"/>
          <p:cNvSpPr txBox="1"/>
          <p:nvPr/>
        </p:nvSpPr>
        <p:spPr>
          <a:xfrm>
            <a:off x="548640" y="4343400"/>
            <a:ext cx="1920240" cy="457200"/>
          </a:xfrm>
          <a:prstGeom prst="rect">
            <a:avLst/>
          </a:prstGeom>
          <a:noFill/>
          <a:ln/>
        </p:spPr>
        <p:txBody>
          <a:bodyPr wrap="square" lIns="0" tIns="0" rIns="0" bIns="0" rtlCol="0" anchor="ctr"/>
          <a:lstStyle/>
          <a:p>
            <a:pPr algn="r" indent="0" marL="0">
              <a:buNone/>
            </a:pPr>
            <a:r>
              <a:rPr lang="en-US" sz="1500" dirty="0">
                <a:solidFill>
                  <a:schemeClr val="tx1"/>
                </a:solidFill>
              </a:rPr>
              <a:t>think on hardest-looking</a:t>
            </a:r>
            <a:endParaRPr lang="en-US" sz="1500" dirty="0"/>
          </a:p>
        </p:txBody>
      </p:sp>
      <p:sp>
        <p:nvSpPr>
          <p:cNvPr id="44" name="Text 35"/>
          <p:cNvSpPr txBox="1"/>
          <p:nvPr/>
        </p:nvSpPr>
        <p:spPr>
          <a:xfrm>
            <a:off x="2560320" y="4343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45" name="tokens think on hardest-looking"/>
          <p:cNvSpPr/>
          <p:nvPr/>
        </p:nvSpPr>
        <p:spPr>
          <a:xfrm>
            <a:off x="3474720" y="4443984"/>
            <a:ext cx="2743200" cy="256032"/>
          </a:xfrm>
          <a:prstGeom prst="rect">
            <a:avLst/>
          </a:prstGeom>
          <a:solidFill>
            <a:srgbClr val="7F7F7F"/>
          </a:solidFill>
          <a:ln w="6350">
            <a:solidFill>
              <a:srgbClr val="7F7F7F"/>
            </a:solidFill>
            <a:prstDash val="solid"/>
          </a:ln>
        </p:spPr>
      </p:sp>
      <p:sp>
        <p:nvSpPr>
          <p:cNvPr id="46" name="Text 37"/>
          <p:cNvSpPr txBox="1"/>
          <p:nvPr/>
        </p:nvSpPr>
        <p:spPr>
          <a:xfrm>
            <a:off x="6309360" y="4343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47" name="Text 38"/>
          <p:cNvSpPr txBox="1"/>
          <p:nvPr/>
        </p:nvSpPr>
        <p:spPr>
          <a:xfrm>
            <a:off x="548640" y="4873752"/>
            <a:ext cx="1920240" cy="457200"/>
          </a:xfrm>
          <a:prstGeom prst="rect">
            <a:avLst/>
          </a:prstGeom>
          <a:noFill/>
          <a:ln/>
        </p:spPr>
        <p:txBody>
          <a:bodyPr wrap="square" lIns="0" tIns="0" rIns="0" bIns="0" rtlCol="0" anchor="ctr"/>
          <a:lstStyle/>
          <a:p>
            <a:pPr algn="r" indent="0" marL="0">
              <a:buNone/>
            </a:pPr>
            <a:r>
              <a:rPr lang="en-US" sz="1500" dirty="0">
                <a:solidFill>
                  <a:schemeClr val="tx1"/>
                </a:solidFill>
              </a:rPr>
              <a:t>our method</a:t>
            </a:r>
            <a:endParaRPr lang="en-US" sz="1500" dirty="0"/>
          </a:p>
        </p:txBody>
      </p:sp>
      <p:sp>
        <p:nvSpPr>
          <p:cNvPr id="48" name="Text 39"/>
          <p:cNvSpPr txBox="1"/>
          <p:nvPr/>
        </p:nvSpPr>
        <p:spPr>
          <a:xfrm>
            <a:off x="2560320" y="487375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49" name="tokens our method"/>
          <p:cNvSpPr/>
          <p:nvPr/>
        </p:nvSpPr>
        <p:spPr>
          <a:xfrm>
            <a:off x="3474720" y="4974336"/>
            <a:ext cx="1672683" cy="256032"/>
          </a:xfrm>
          <a:prstGeom prst="rect">
            <a:avLst/>
          </a:prstGeom>
          <a:solidFill>
            <a:srgbClr val="4472C4"/>
          </a:solidFill>
          <a:ln w="6350">
            <a:solidFill>
              <a:srgbClr val="4472C4"/>
            </a:solidFill>
            <a:prstDash val="solid"/>
          </a:ln>
        </p:spPr>
      </p:sp>
      <p:sp>
        <p:nvSpPr>
          <p:cNvPr id="50" name="Text 41"/>
          <p:cNvSpPr txBox="1"/>
          <p:nvPr/>
        </p:nvSpPr>
        <p:spPr>
          <a:xfrm>
            <a:off x="5238843" y="487375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51" name="Text 42"/>
          <p:cNvSpPr txBox="1"/>
          <p:nvPr/>
        </p:nvSpPr>
        <p:spPr>
          <a:xfrm>
            <a:off x="7498080" y="3611880"/>
            <a:ext cx="4114800" cy="457200"/>
          </a:xfrm>
          <a:prstGeom prst="rect">
            <a:avLst/>
          </a:prstGeom>
          <a:noFill/>
          <a:ln/>
        </p:spPr>
        <p:txBody>
          <a:bodyPr wrap="square" lIns="0" tIns="0" rIns="0" bIns="0" rtlCol="0" anchor="ctr"/>
          <a:lstStyle/>
          <a:p>
            <a:pPr indent="0" marL="0">
              <a:buNone/>
            </a:pPr>
            <a:r>
              <a:rPr lang="en-US" sz="2400" b="1" dirty="0">
                <a:solidFill>
                  <a:srgbClr val="4472C4"/>
                </a:solidFill>
              </a:rPr>
              <a:t>79% = 79%</a:t>
            </a:r>
            <a:endParaRPr lang="en-US" sz="2400" dirty="0"/>
          </a:p>
        </p:txBody>
      </p:sp>
      <p:sp>
        <p:nvSpPr>
          <p:cNvPr id="52" name="Text 43"/>
          <p:cNvSpPr txBox="1"/>
          <p:nvPr/>
        </p:nvSpPr>
        <p:spPr>
          <a:xfrm>
            <a:off x="7498080" y="4050792"/>
            <a:ext cx="4114800" cy="457200"/>
          </a:xfrm>
          <a:prstGeom prst="rect">
            <a:avLst/>
          </a:prstGeom>
          <a:noFill/>
          <a:ln/>
        </p:spPr>
        <p:txBody>
          <a:bodyPr wrap="square" lIns="0" tIns="0" rIns="0" bIns="0" rtlCol="0" anchor="t"/>
          <a:lstStyle/>
          <a:p>
            <a:pPr indent="0" marL="0">
              <a:buNone/>
            </a:pPr>
            <a:r>
              <a:rPr lang="en-US" sz="1400" dirty="0">
                <a:solidFill>
                  <a:schemeClr val="tx1"/>
                </a:solidFill>
              </a:rPr>
              <a:t>the fact found automatically (its own earlier checked program) = a hand-written fact, on new problems</a:t>
            </a:r>
            <a:endParaRPr lang="en-US" sz="1400" dirty="0"/>
          </a:p>
        </p:txBody>
      </p:sp>
      <p:sp>
        <p:nvSpPr>
          <p:cNvPr id="53" name="Text 44"/>
          <p:cNvSpPr txBox="1"/>
          <p:nvPr/>
        </p:nvSpPr>
        <p:spPr>
          <a:xfrm>
            <a:off x="7498080" y="4572000"/>
            <a:ext cx="4114800" cy="457200"/>
          </a:xfrm>
          <a:prstGeom prst="rect">
            <a:avLst/>
          </a:prstGeom>
          <a:noFill/>
          <a:ln/>
        </p:spPr>
        <p:txBody>
          <a:bodyPr wrap="square" lIns="0" tIns="0" rIns="0" bIns="0" rtlCol="0" anchor="ctr"/>
          <a:lstStyle/>
          <a:p>
            <a:pPr indent="0" marL="0">
              <a:buNone/>
            </a:pPr>
            <a:r>
              <a:rPr lang="en-US" sz="2400" b="1" dirty="0">
                <a:solidFill>
                  <a:srgbClr val="4472C4"/>
                </a:solidFill>
              </a:rPr>
              <a:t>0.6k vs 5.3k</a:t>
            </a:r>
            <a:endParaRPr lang="en-US" sz="2400" dirty="0"/>
          </a:p>
        </p:txBody>
      </p:sp>
      <p:sp>
        <p:nvSpPr>
          <p:cNvPr id="54" name="Text 45"/>
          <p:cNvSpPr txBox="1"/>
          <p:nvPr/>
        </p:nvSpPr>
        <p:spPr>
          <a:xfrm>
            <a:off x="7498080" y="5010912"/>
            <a:ext cx="4114800" cy="457200"/>
          </a:xfrm>
          <a:prstGeom prst="rect">
            <a:avLst/>
          </a:prstGeom>
          <a:noFill/>
          <a:ln/>
        </p:spPr>
        <p:txBody>
          <a:bodyPr wrap="square" lIns="0" tIns="0" rIns="0" bIns="0" rtlCol="0" anchor="t"/>
          <a:lstStyle/>
          <a:p>
            <a:pPr indent="0" marL="0">
              <a:buNone/>
            </a:pPr>
            <a:r>
              <a:rPr lang="en-US" sz="1400" dirty="0">
                <a:solidFill>
                  <a:schemeClr val="tx1"/>
                </a:solidFill>
              </a:rPr>
              <a:t>tokens on this problem vs thinking alone</a:t>
            </a:r>
            <a:endParaRPr lang="en-US" sz="1400" dirty="0"/>
          </a:p>
        </p:txBody>
      </p:sp>
      <p:sp>
        <p:nvSpPr>
          <p:cNvPr id="55" name="Text 4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548640" y="1188720"/>
            <a:ext cx="484632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766560" y="1188720"/>
            <a:ext cx="484632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box "/>
          <p:cNvSpPr/>
          <p:nvPr/>
        </p:nvSpPr>
        <p:spPr>
          <a:xfrm>
            <a:off x="548640" y="1600200"/>
            <a:ext cx="4846320" cy="685800"/>
          </a:xfrm>
          <a:prstGeom prst="roundRect">
            <a:avLst>
              <a:gd name="adj" fmla="val 8000"/>
            </a:avLst>
          </a:prstGeom>
          <a:solidFill>
            <a:srgbClr val="F2F2F2"/>
          </a:solidFill>
          <a:ln w="9525">
            <a:solidFill>
              <a:srgbClr val="BFBFBF"/>
            </a:solidFill>
            <a:prstDash val="solid"/>
          </a:ln>
        </p:spPr>
      </p:sp>
      <p:sp>
        <p:nvSpPr>
          <p:cNvPr id="6" name="Text 4"/>
          <p:cNvSpPr txBox="1"/>
          <p:nvPr/>
        </p:nvSpPr>
        <p:spPr>
          <a:xfrm>
            <a:off x="621792" y="160020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7" name="usual icon 0" descr="/NAS/SJ/POSTECH/nlp/figs/icons/brain.png">    </p:cNvPr>
          <p:cNvPicPr>
            <a:picLocks noChangeAspect="1"/>
          </p:cNvPicPr>
          <p:nvPr/>
        </p:nvPicPr>
        <p:blipFill>
          <a:blip r:embed="rId1"/>
          <a:stretch>
            <a:fillRect/>
          </a:stretch>
        </p:blipFill>
        <p:spPr>
          <a:xfrm>
            <a:off x="685800" y="1737360"/>
            <a:ext cx="411480" cy="411480"/>
          </a:xfrm>
          <a:prstGeom prst="rect">
            <a:avLst/>
          </a:prstGeom>
        </p:spPr>
      </p:pic>
      <p:sp>
        <p:nvSpPr>
          <p:cNvPr id="8" name="Text 5"/>
          <p:cNvSpPr txBox="1"/>
          <p:nvPr/>
        </p:nvSpPr>
        <p:spPr>
          <a:xfrm>
            <a:off x="1234440" y="1600200"/>
            <a:ext cx="4069080" cy="685800"/>
          </a:xfrm>
          <a:prstGeom prst="rect">
            <a:avLst/>
          </a:prstGeom>
          <a:noFill/>
          <a:ln/>
        </p:spPr>
        <p:txBody>
          <a:bodyPr wrap="square" lIns="0" tIns="0" rIns="0" bIns="0" rtlCol="0" anchor="ctr"/>
          <a:lstStyle/>
          <a:p>
            <a:pPr indent="0" marL="0">
              <a:buNone/>
            </a:pPr>
            <a:r>
              <a:rPr lang="en-US" sz="1500" dirty="0">
                <a:solidFill>
                  <a:srgbClr val="404040"/>
                </a:solidFill>
              </a:rPr>
              <a:t>think more on hard-looking problems, or train when to think</a:t>
            </a:r>
            <a:endParaRPr lang="en-US" sz="1500" dirty="0"/>
          </a:p>
        </p:txBody>
      </p:sp>
      <p:sp>
        <p:nvSpPr>
          <p:cNvPr id="9" name="arrow 0"/>
          <p:cNvSpPr/>
          <p:nvPr/>
        </p:nvSpPr>
        <p:spPr>
          <a:xfrm>
            <a:off x="5577840" y="1755648"/>
            <a:ext cx="1005840" cy="384048"/>
          </a:xfrm>
          <a:prstGeom prst="rightArrow">
            <a:avLst/>
          </a:prstGeom>
          <a:solidFill>
            <a:srgbClr val="4472C4"/>
          </a:solidFill>
          <a:ln w="12700">
            <a:solidFill>
              <a:srgbClr val="4472C4"/>
            </a:solidFill>
            <a:prstDash val="solid"/>
          </a:ln>
        </p:spPr>
      </p:sp>
      <p:sp>
        <p:nvSpPr>
          <p:cNvPr id="10" name="box "/>
          <p:cNvSpPr/>
          <p:nvPr/>
        </p:nvSpPr>
        <p:spPr>
          <a:xfrm>
            <a:off x="6766560" y="1600200"/>
            <a:ext cx="4846320" cy="685800"/>
          </a:xfrm>
          <a:prstGeom prst="roundRect">
            <a:avLst>
              <a:gd name="adj" fmla="val 8000"/>
            </a:avLst>
          </a:prstGeom>
          <a:solidFill>
            <a:srgbClr val="DEEBF7"/>
          </a:solidFill>
          <a:ln w="9525">
            <a:solidFill>
              <a:srgbClr val="BFBFBF"/>
            </a:solidFill>
            <a:prstDash val="solid"/>
          </a:ln>
        </p:spPr>
      </p:sp>
      <p:sp>
        <p:nvSpPr>
          <p:cNvPr id="11" name="Text 8"/>
          <p:cNvSpPr txBox="1"/>
          <p:nvPr/>
        </p:nvSpPr>
        <p:spPr>
          <a:xfrm>
            <a:off x="6839712" y="160020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12" name="ours icon 0" descr="/NAS/SJ/POSTECH/nlp/figs/icons/check.png">    </p:cNvPr>
          <p:cNvPicPr>
            <a:picLocks noChangeAspect="1"/>
          </p:cNvPicPr>
          <p:nvPr/>
        </p:nvPicPr>
        <p:blipFill>
          <a:blip r:embed="rId2"/>
          <a:stretch>
            <a:fillRect/>
          </a:stretch>
        </p:blipFill>
        <p:spPr>
          <a:xfrm>
            <a:off x="6903720" y="1737360"/>
            <a:ext cx="411480" cy="411480"/>
          </a:xfrm>
          <a:prstGeom prst="rect">
            <a:avLst/>
          </a:prstGeom>
        </p:spPr>
      </p:pic>
      <p:sp>
        <p:nvSpPr>
          <p:cNvPr id="13" name="Text 9"/>
          <p:cNvSpPr txBox="1"/>
          <p:nvPr/>
        </p:nvSpPr>
        <p:spPr>
          <a:xfrm>
            <a:off x="7452360" y="160020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think only when a free check fails; no training (87% vs 74%)</a:t>
            </a:r>
            <a:endParaRPr lang="en-US" sz="1500" dirty="0"/>
          </a:p>
        </p:txBody>
      </p:sp>
      <p:sp>
        <p:nvSpPr>
          <p:cNvPr id="14" name="box "/>
          <p:cNvSpPr/>
          <p:nvPr/>
        </p:nvSpPr>
        <p:spPr>
          <a:xfrm>
            <a:off x="548640" y="2423160"/>
            <a:ext cx="4846320" cy="685800"/>
          </a:xfrm>
          <a:prstGeom prst="roundRect">
            <a:avLst>
              <a:gd name="adj" fmla="val 8000"/>
            </a:avLst>
          </a:prstGeom>
          <a:solidFill>
            <a:srgbClr val="F2F2F2"/>
          </a:solidFill>
          <a:ln w="9525">
            <a:solidFill>
              <a:srgbClr val="BFBFBF"/>
            </a:solidFill>
            <a:prstDash val="solid"/>
          </a:ln>
        </p:spPr>
      </p:sp>
      <p:sp>
        <p:nvSpPr>
          <p:cNvPr id="15" name="Text 11"/>
          <p:cNvSpPr txBox="1"/>
          <p:nvPr/>
        </p:nvSpPr>
        <p:spPr>
          <a:xfrm>
            <a:off x="621792" y="242316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16" name="usual icon 1" descr="/NAS/SJ/POSTECH/nlp/figs/icons/page.png">    </p:cNvPr>
          <p:cNvPicPr>
            <a:picLocks noChangeAspect="1"/>
          </p:cNvPicPr>
          <p:nvPr/>
        </p:nvPicPr>
        <p:blipFill>
          <a:blip r:embed="rId3"/>
          <a:stretch>
            <a:fillRect/>
          </a:stretch>
        </p:blipFill>
        <p:spPr>
          <a:xfrm>
            <a:off x="685800" y="2560320"/>
            <a:ext cx="411480" cy="411480"/>
          </a:xfrm>
          <a:prstGeom prst="rect">
            <a:avLst/>
          </a:prstGeom>
        </p:spPr>
      </p:pic>
      <p:sp>
        <p:nvSpPr>
          <p:cNvPr id="17" name="Text 12"/>
          <p:cNvSpPr txBox="1"/>
          <p:nvPr/>
        </p:nvSpPr>
        <p:spPr>
          <a:xfrm>
            <a:off x="1234440" y="2423160"/>
            <a:ext cx="4069080" cy="685800"/>
          </a:xfrm>
          <a:prstGeom prst="rect">
            <a:avLst/>
          </a:prstGeom>
          <a:noFill/>
          <a:ln/>
        </p:spPr>
        <p:txBody>
          <a:bodyPr wrap="square" lIns="0" tIns="0" rIns="0" bIns="0" rtlCol="0" anchor="ctr"/>
          <a:lstStyle/>
          <a:p>
            <a:pPr indent="0" marL="0">
              <a:buNone/>
            </a:pPr>
            <a:r>
              <a:rPr lang="en-US" sz="1500" dirty="0">
                <a:solidFill>
                  <a:srgbClr val="404040"/>
                </a:solidFill>
              </a:rPr>
              <a:t>give the manual, or a teacher's programs checked against answers</a:t>
            </a:r>
            <a:endParaRPr lang="en-US" sz="1500" dirty="0"/>
          </a:p>
        </p:txBody>
      </p:sp>
      <p:sp>
        <p:nvSpPr>
          <p:cNvPr id="18" name="arrow 1"/>
          <p:cNvSpPr/>
          <p:nvPr/>
        </p:nvSpPr>
        <p:spPr>
          <a:xfrm>
            <a:off x="5577840" y="2578608"/>
            <a:ext cx="1005840" cy="384048"/>
          </a:xfrm>
          <a:prstGeom prst="rightArrow">
            <a:avLst/>
          </a:prstGeom>
          <a:solidFill>
            <a:srgbClr val="4472C4"/>
          </a:solidFill>
          <a:ln w="12700">
            <a:solidFill>
              <a:srgbClr val="4472C4"/>
            </a:solidFill>
            <a:prstDash val="solid"/>
          </a:ln>
        </p:spPr>
      </p:sp>
      <p:sp>
        <p:nvSpPr>
          <p:cNvPr id="19" name="box "/>
          <p:cNvSpPr/>
          <p:nvPr/>
        </p:nvSpPr>
        <p:spPr>
          <a:xfrm>
            <a:off x="6766560" y="2423160"/>
            <a:ext cx="4846320" cy="685800"/>
          </a:xfrm>
          <a:prstGeom prst="roundRect">
            <a:avLst>
              <a:gd name="adj" fmla="val 8000"/>
            </a:avLst>
          </a:prstGeom>
          <a:solidFill>
            <a:srgbClr val="DEEBF7"/>
          </a:solidFill>
          <a:ln w="9525">
            <a:solidFill>
              <a:srgbClr val="BFBFBF"/>
            </a:solidFill>
            <a:prstDash val="solid"/>
          </a:ln>
        </p:spPr>
      </p:sp>
      <p:sp>
        <p:nvSpPr>
          <p:cNvPr id="20" name="Text 15"/>
          <p:cNvSpPr txBox="1"/>
          <p:nvPr/>
        </p:nvSpPr>
        <p:spPr>
          <a:xfrm>
            <a:off x="6839712" y="242316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21" name="ours icon 1" descr="/NAS/SJ/POSTECH/nlp/figs/icons/fact.png">    </p:cNvPr>
          <p:cNvPicPr>
            <a:picLocks noChangeAspect="1"/>
          </p:cNvPicPr>
          <p:nvPr/>
        </p:nvPicPr>
        <p:blipFill>
          <a:blip r:embed="rId4"/>
          <a:stretch>
            <a:fillRect/>
          </a:stretch>
        </p:blipFill>
        <p:spPr>
          <a:xfrm>
            <a:off x="6903720" y="2560320"/>
            <a:ext cx="411480" cy="411480"/>
          </a:xfrm>
          <a:prstGeom prst="rect">
            <a:avLst/>
          </a:prstGeom>
        </p:spPr>
      </p:pic>
      <p:sp>
        <p:nvSpPr>
          <p:cNvPr id="22" name="Text 16"/>
          <p:cNvSpPr txBox="1"/>
          <p:nvPr/>
        </p:nvSpPr>
        <p:spPr>
          <a:xfrm>
            <a:off x="7452360" y="242316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give one fact: the model's own checked program; no answer key</a:t>
            </a:r>
            <a:endParaRPr lang="en-US" sz="1500" dirty="0"/>
          </a:p>
        </p:txBody>
      </p:sp>
      <p:sp>
        <p:nvSpPr>
          <p:cNvPr id="23" name="box "/>
          <p:cNvSpPr/>
          <p:nvPr/>
        </p:nvSpPr>
        <p:spPr>
          <a:xfrm>
            <a:off x="548640" y="3246120"/>
            <a:ext cx="4846320" cy="685800"/>
          </a:xfrm>
          <a:prstGeom prst="roundRect">
            <a:avLst>
              <a:gd name="adj" fmla="val 8000"/>
            </a:avLst>
          </a:prstGeom>
          <a:solidFill>
            <a:srgbClr val="F2F2F2"/>
          </a:solidFill>
          <a:ln w="9525">
            <a:solidFill>
              <a:srgbClr val="BFBFBF"/>
            </a:solidFill>
            <a:prstDash val="solid"/>
          </a:ln>
        </p:spPr>
      </p:sp>
      <p:sp>
        <p:nvSpPr>
          <p:cNvPr id="24" name="Text 18"/>
          <p:cNvSpPr txBox="1"/>
          <p:nvPr/>
        </p:nvSpPr>
        <p:spPr>
          <a:xfrm>
            <a:off x="621792" y="324612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25" name="usual icon 2" descr="/NAS/SJ/POSTECH/nlp/figs/icons/robot.png">    </p:cNvPr>
          <p:cNvPicPr>
            <a:picLocks noChangeAspect="1"/>
          </p:cNvPicPr>
          <p:nvPr/>
        </p:nvPicPr>
        <p:blipFill>
          <a:blip r:embed="rId5"/>
          <a:stretch>
            <a:fillRect/>
          </a:stretch>
        </p:blipFill>
        <p:spPr>
          <a:xfrm>
            <a:off x="685800" y="3383280"/>
            <a:ext cx="411480" cy="411480"/>
          </a:xfrm>
          <a:prstGeom prst="rect">
            <a:avLst/>
          </a:prstGeom>
        </p:spPr>
      </p:pic>
      <p:sp>
        <p:nvSpPr>
          <p:cNvPr id="26" name="Text 19"/>
          <p:cNvSpPr txBox="1"/>
          <p:nvPr/>
        </p:nvSpPr>
        <p:spPr>
          <a:xfrm>
            <a:off x="1234440" y="3246120"/>
            <a:ext cx="4069080" cy="685800"/>
          </a:xfrm>
          <a:prstGeom prst="rect">
            <a:avLst/>
          </a:prstGeom>
          <a:noFill/>
          <a:ln/>
        </p:spPr>
        <p:txBody>
          <a:bodyPr wrap="square" lIns="0" tIns="0" rIns="0" bIns="0" rtlCol="0" anchor="ctr"/>
          <a:lstStyle/>
          <a:p>
            <a:pPr indent="0" marL="0">
              <a:buNone/>
            </a:pPr>
            <a:r>
              <a:rPr lang="en-US" sz="1500" dirty="0">
                <a:solidFill>
                  <a:srgbClr val="404040"/>
                </a:solidFill>
              </a:rPr>
              <a:t>fine-tune a specialist model (ORLM-8B)</a:t>
            </a:r>
            <a:endParaRPr lang="en-US" sz="1500" dirty="0"/>
          </a:p>
        </p:txBody>
      </p:sp>
      <p:sp>
        <p:nvSpPr>
          <p:cNvPr id="27" name="arrow 2"/>
          <p:cNvSpPr/>
          <p:nvPr/>
        </p:nvSpPr>
        <p:spPr>
          <a:xfrm>
            <a:off x="5577840" y="3401568"/>
            <a:ext cx="1005840" cy="384048"/>
          </a:xfrm>
          <a:prstGeom prst="rightArrow">
            <a:avLst/>
          </a:prstGeom>
          <a:solidFill>
            <a:srgbClr val="4472C4"/>
          </a:solidFill>
          <a:ln w="12700">
            <a:solidFill>
              <a:srgbClr val="4472C4"/>
            </a:solidFill>
            <a:prstDash val="solid"/>
          </a:ln>
        </p:spPr>
      </p:sp>
      <p:sp>
        <p:nvSpPr>
          <p:cNvPr id="28" name="box "/>
          <p:cNvSpPr/>
          <p:nvPr/>
        </p:nvSpPr>
        <p:spPr>
          <a:xfrm>
            <a:off x="6766560" y="3246120"/>
            <a:ext cx="4846320" cy="685800"/>
          </a:xfrm>
          <a:prstGeom prst="roundRect">
            <a:avLst>
              <a:gd name="adj" fmla="val 8000"/>
            </a:avLst>
          </a:prstGeom>
          <a:solidFill>
            <a:srgbClr val="DEEBF7"/>
          </a:solidFill>
          <a:ln w="9525">
            <a:solidFill>
              <a:srgbClr val="BFBFBF"/>
            </a:solidFill>
            <a:prstDash val="solid"/>
          </a:ln>
        </p:spPr>
      </p:sp>
      <p:sp>
        <p:nvSpPr>
          <p:cNvPr id="29" name="Text 22"/>
          <p:cNvSpPr txBox="1"/>
          <p:nvPr/>
        </p:nvSpPr>
        <p:spPr>
          <a:xfrm>
            <a:off x="6839712" y="324612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30" name="ours icon 2" descr="/NAS/SJ/POSTECH/nlp/figs/icons/gpu.png">    </p:cNvPr>
          <p:cNvPicPr>
            <a:picLocks noChangeAspect="1"/>
          </p:cNvPicPr>
          <p:nvPr/>
        </p:nvPicPr>
        <p:blipFill>
          <a:blip r:embed="rId6"/>
          <a:stretch>
            <a:fillRect/>
          </a:stretch>
        </p:blipFill>
        <p:spPr>
          <a:xfrm>
            <a:off x="6903720" y="3383280"/>
            <a:ext cx="411480" cy="411480"/>
          </a:xfrm>
          <a:prstGeom prst="rect">
            <a:avLst/>
          </a:prstGeom>
        </p:spPr>
      </p:pic>
      <p:sp>
        <p:nvSpPr>
          <p:cNvPr id="31" name="Text 23"/>
          <p:cNvSpPr txBox="1"/>
          <p:nvPr/>
        </p:nvSpPr>
        <p:spPr>
          <a:xfrm>
            <a:off x="7452360" y="324612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no training, one 24 GB GPU: the same 69.5% on MAMO</a:t>
            </a:r>
            <a:endParaRPr lang="en-US" sz="1500" dirty="0"/>
          </a:p>
        </p:txBody>
      </p:sp>
      <p:sp>
        <p:nvSpPr>
          <p:cNvPr id="32" name="Text 24"/>
          <p:cNvSpPr txBox="1"/>
          <p:nvPr/>
        </p:nvSpPr>
        <p:spPr>
          <a:xfrm>
            <a:off x="548640" y="4114800"/>
            <a:ext cx="11064240" cy="365760"/>
          </a:xfrm>
          <a:prstGeom prst="rect">
            <a:avLst/>
          </a:prstGeom>
          <a:noFill/>
          <a:ln/>
        </p:spPr>
        <p:txBody>
          <a:bodyPr wrap="square" lIns="0" tIns="0" rIns="0" bIns="0" rtlCol="0" anchor="ctr"/>
          <a:lstStyle/>
          <a:p>
            <a:pPr indent="0" marL="0">
              <a:buNone/>
            </a:pPr>
            <a:r>
              <a:rPr lang="en-US" sz="1600" b="1" dirty="0">
                <a:solidFill>
                  <a:schemeClr val="tx1"/>
                </a:solidFill>
              </a:rPr>
              <a:t>Next, until the final report</a:t>
            </a:r>
            <a:endParaRPr lang="en-US" sz="1600" dirty="0"/>
          </a:p>
        </p:txBody>
      </p:sp>
      <p:sp>
        <p:nvSpPr>
          <p:cNvPr id="33" name="Shape 25"/>
          <p:cNvSpPr/>
          <p:nvPr/>
        </p:nvSpPr>
        <p:spPr>
          <a:xfrm>
            <a:off x="2194560" y="4800600"/>
            <a:ext cx="7772400" cy="0"/>
          </a:xfrm>
          <a:prstGeom prst="line">
            <a:avLst/>
          </a:prstGeom>
          <a:noFill/>
          <a:ln w="38100">
            <a:solidFill>
              <a:srgbClr val="BFBFBF"/>
            </a:solidFill>
            <a:prstDash val="solid"/>
          </a:ln>
        </p:spPr>
      </p:sp>
      <p:sp>
        <p:nvSpPr>
          <p:cNvPr id="34" name="milestone 0"/>
          <p:cNvSpPr/>
          <p:nvPr/>
        </p:nvSpPr>
        <p:spPr>
          <a:xfrm>
            <a:off x="1920240" y="4526280"/>
            <a:ext cx="548640" cy="548640"/>
          </a:xfrm>
          <a:prstGeom prst="ellipse">
            <a:avLst/>
          </a:prstGeom>
          <a:solidFill>
            <a:srgbClr val="FFFFFF"/>
          </a:solidFill>
          <a:ln w="25400">
            <a:solidFill>
              <a:srgbClr val="4472C4"/>
            </a:solidFill>
            <a:prstDash val="solid"/>
          </a:ln>
        </p:spPr>
      </p:sp>
      <p:pic>
        <p:nvPicPr>
          <p:cNvPr id="35" name="milestone icon 0" descr="/NAS/SJ/POSTECH/nlp/figs/icons/check.png">    </p:cNvPr>
          <p:cNvPicPr>
            <a:picLocks noChangeAspect="1"/>
          </p:cNvPicPr>
          <p:nvPr/>
        </p:nvPicPr>
        <p:blipFill>
          <a:blip r:embed="rId7"/>
          <a:stretch>
            <a:fillRect/>
          </a:stretch>
        </p:blipFill>
        <p:spPr>
          <a:xfrm>
            <a:off x="2020824" y="4626864"/>
            <a:ext cx="347472" cy="347472"/>
          </a:xfrm>
          <a:prstGeom prst="rect">
            <a:avLst/>
          </a:prstGeom>
        </p:spPr>
      </p:pic>
      <p:sp>
        <p:nvSpPr>
          <p:cNvPr id="36" name="Text 27"/>
          <p:cNvSpPr txBox="1"/>
          <p:nvPr/>
        </p:nvSpPr>
        <p:spPr>
          <a:xfrm>
            <a:off x="5486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finish the held-out test on more models</a:t>
            </a:r>
            <a:endParaRPr lang="en-US" sz="1500" dirty="0"/>
          </a:p>
        </p:txBody>
      </p:sp>
      <p:sp>
        <p:nvSpPr>
          <p:cNvPr id="37" name="milestone 1"/>
          <p:cNvSpPr/>
          <p:nvPr/>
        </p:nvSpPr>
        <p:spPr>
          <a:xfrm>
            <a:off x="5806440" y="4526280"/>
            <a:ext cx="548640" cy="548640"/>
          </a:xfrm>
          <a:prstGeom prst="ellipse">
            <a:avLst/>
          </a:prstGeom>
          <a:solidFill>
            <a:srgbClr val="FFFFFF"/>
          </a:solidFill>
          <a:ln w="25400">
            <a:solidFill>
              <a:srgbClr val="4472C4"/>
            </a:solidFill>
            <a:prstDash val="solid"/>
          </a:ln>
        </p:spPr>
      </p:sp>
      <p:pic>
        <p:nvPicPr>
          <p:cNvPr id="38" name="milestone icon 1" descr="/NAS/SJ/POSTECH/nlp/figs/icons/warn.png">    </p:cNvPr>
          <p:cNvPicPr>
            <a:picLocks noChangeAspect="1"/>
          </p:cNvPicPr>
          <p:nvPr/>
        </p:nvPicPr>
        <p:blipFill>
          <a:blip r:embed="rId8"/>
          <a:stretch>
            <a:fillRect/>
          </a:stretch>
        </p:blipFill>
        <p:spPr>
          <a:xfrm>
            <a:off x="5907024" y="4626864"/>
            <a:ext cx="347472" cy="347472"/>
          </a:xfrm>
          <a:prstGeom prst="rect">
            <a:avLst/>
          </a:prstGeom>
        </p:spPr>
      </p:pic>
      <p:sp>
        <p:nvSpPr>
          <p:cNvPr id="39" name="Text 29"/>
          <p:cNvSpPr txBox="1"/>
          <p:nvPr/>
        </p:nvSpPr>
        <p:spPr>
          <a:xfrm>
            <a:off x="44348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errors no check catches: programs that run but model the problem wrong</a:t>
            </a:r>
            <a:endParaRPr lang="en-US" sz="1500" dirty="0"/>
          </a:p>
        </p:txBody>
      </p:sp>
      <p:sp>
        <p:nvSpPr>
          <p:cNvPr id="40" name="milestone 2"/>
          <p:cNvSpPr/>
          <p:nvPr/>
        </p:nvSpPr>
        <p:spPr>
          <a:xfrm>
            <a:off x="9692640" y="4526280"/>
            <a:ext cx="548640" cy="548640"/>
          </a:xfrm>
          <a:prstGeom prst="ellipse">
            <a:avLst/>
          </a:prstGeom>
          <a:solidFill>
            <a:srgbClr val="FFFFFF"/>
          </a:solidFill>
          <a:ln w="25400">
            <a:solidFill>
              <a:srgbClr val="4472C4"/>
            </a:solidFill>
            <a:prstDash val="solid"/>
          </a:ln>
        </p:spPr>
      </p:sp>
      <p:pic>
        <p:nvPicPr>
          <p:cNvPr id="41" name="milestone icon 2" descr="/NAS/SJ/POSTECH/nlp/figs/icons/code.png">    </p:cNvPr>
          <p:cNvPicPr>
            <a:picLocks noChangeAspect="1"/>
          </p:cNvPicPr>
          <p:nvPr/>
        </p:nvPicPr>
        <p:blipFill>
          <a:blip r:embed="rId9"/>
          <a:stretch>
            <a:fillRect/>
          </a:stretch>
        </p:blipFill>
        <p:spPr>
          <a:xfrm>
            <a:off x="9793224" y="4626864"/>
            <a:ext cx="347472" cy="347472"/>
          </a:xfrm>
          <a:prstGeom prst="rect">
            <a:avLst/>
          </a:prstGeom>
        </p:spPr>
      </p:pic>
      <p:sp>
        <p:nvSpPr>
          <p:cNvPr id="42" name="Text 31"/>
          <p:cNvSpPr txBox="1"/>
          <p:nvPr/>
        </p:nvSpPr>
        <p:spPr>
          <a:xfrm>
            <a:off x="83210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facts for every problem type; report and code</a:t>
            </a:r>
            <a:endParaRPr lang="en-US" sz="1500" dirty="0"/>
          </a:p>
        </p:txBody>
      </p:sp>
      <p:sp>
        <p:nvSpPr>
          <p:cNvPr id="43"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the missing fact first, and think only where a free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Thank you: questions?</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b="1" dirty="0">
                <a:solidFill>
                  <a:srgbClr val="4472C4"/>
                </a:solidFill>
              </a:rPr>
              <a:t>Expected questions, by the talk slide that raises them → extra page (type the number and press Enter)</a:t>
            </a:r>
            <a:endParaRPr lang="en-US" sz="1600" dirty="0"/>
          </a:p>
        </p:txBody>
      </p:sp>
      <p:sp>
        <p:nvSpPr>
          <p:cNvPr id="4" name="box "/>
          <p:cNvSpPr/>
          <p:nvPr/>
        </p:nvSpPr>
        <p:spPr>
          <a:xfrm>
            <a:off x="548640" y="1645920"/>
            <a:ext cx="5440680" cy="402336"/>
          </a:xfrm>
          <a:prstGeom prst="roundRect">
            <a:avLst>
              <a:gd name="adj" fmla="val 13636"/>
            </a:avLst>
          </a:prstGeom>
          <a:solidFill>
            <a:srgbClr val="F2F2F2"/>
          </a:solidFill>
          <a:ln w="9525">
            <a:solidFill>
              <a:srgbClr val="BFBFBF"/>
            </a:solidFill>
            <a:prstDash val="solid"/>
          </a:ln>
        </p:spPr>
      </p:sp>
      <p:sp>
        <p:nvSpPr>
          <p:cNvPr id="5" name="Text 3"/>
          <p:cNvSpPr txBox="1"/>
          <p:nvPr/>
        </p:nvSpPr>
        <p:spPr>
          <a:xfrm>
            <a:off x="621792" y="16459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6" name="from slide 2"/>
          <p:cNvSpPr/>
          <p:nvPr/>
        </p:nvSpPr>
        <p:spPr>
          <a:xfrm>
            <a:off x="621792" y="1700784"/>
            <a:ext cx="777240" cy="292608"/>
          </a:xfrm>
          <a:prstGeom prst="roundRect">
            <a:avLst>
              <a:gd name="adj" fmla="val 18750"/>
            </a:avLst>
          </a:prstGeom>
          <a:solidFill>
            <a:srgbClr val="D9D9D9"/>
          </a:solidFill>
          <a:ln w="12700">
            <a:solidFill>
              <a:srgbClr val="D9D9D9"/>
            </a:solidFill>
            <a:prstDash val="solid"/>
          </a:ln>
        </p:spPr>
      </p:sp>
      <p:sp>
        <p:nvSpPr>
          <p:cNvPr id="7" name="Text 5"/>
          <p:cNvSpPr txBox="1"/>
          <p:nvPr/>
        </p:nvSpPr>
        <p:spPr>
          <a:xfrm>
            <a:off x="621792" y="17007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2</a:t>
            </a:r>
            <a:endParaRPr lang="en-US" sz="1400" dirty="0"/>
          </a:p>
        </p:txBody>
      </p:sp>
      <p:sp>
        <p:nvSpPr>
          <p:cNvPr id="8" name="Text 6"/>
          <p:cNvSpPr txBox="1"/>
          <p:nvPr/>
        </p:nvSpPr>
        <p:spPr>
          <a:xfrm>
            <a:off x="1508760" y="1645920"/>
            <a:ext cx="3886200" cy="402336"/>
          </a:xfrm>
          <a:prstGeom prst="rect">
            <a:avLst/>
          </a:prstGeom>
          <a:noFill/>
          <a:ln/>
        </p:spPr>
        <p:txBody>
          <a:bodyPr wrap="square" lIns="0" tIns="0" rIns="0" bIns="0" rtlCol="0" anchor="ctr"/>
          <a:lstStyle/>
          <a:p>
            <a:pPr indent="0" marL="0">
              <a:buNone/>
            </a:pPr>
            <a:r>
              <a:rPr lang="en-US" sz="1400" dirty="0">
                <a:solidFill>
                  <a:schemeClr val="tx1"/>
                </a:solidFill>
              </a:rPr>
              <a:t>Do the findings cover all five kinds?</a:t>
            </a:r>
            <a:endParaRPr lang="en-US" sz="1400" dirty="0"/>
          </a:p>
        </p:txBody>
      </p:sp>
      <p:sp>
        <p:nvSpPr>
          <p:cNvPr id="9" name="page coverage"/>
          <p:cNvSpPr/>
          <p:nvPr/>
        </p:nvSpPr>
        <p:spPr>
          <a:xfrm>
            <a:off x="5449824" y="1691640"/>
            <a:ext cx="438912" cy="310896"/>
          </a:xfrm>
          <a:prstGeom prst="roundRect">
            <a:avLst>
              <a:gd name="adj" fmla="val 23529"/>
            </a:avLst>
          </a:prstGeom>
          <a:solidFill>
            <a:srgbClr val="4472C4"/>
          </a:solidFill>
          <a:ln w="12700">
            <a:solidFill>
              <a:srgbClr val="4472C4"/>
            </a:solidFill>
            <a:prstDash val="solid"/>
          </a:ln>
        </p:spPr>
      </p:sp>
      <p:sp>
        <p:nvSpPr>
          <p:cNvPr id="10" name="Text 8"/>
          <p:cNvSpPr txBox="1"/>
          <p:nvPr/>
        </p:nvSpPr>
        <p:spPr>
          <a:xfrm>
            <a:off x="5449824" y="16916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10</a:t>
            </a:r>
            <a:endParaRPr lang="en-US" sz="1400" dirty="0"/>
          </a:p>
        </p:txBody>
      </p:sp>
      <p:sp>
        <p:nvSpPr>
          <p:cNvPr id="11" name="box "/>
          <p:cNvSpPr/>
          <p:nvPr/>
        </p:nvSpPr>
        <p:spPr>
          <a:xfrm>
            <a:off x="548640" y="2103120"/>
            <a:ext cx="5440680" cy="402336"/>
          </a:xfrm>
          <a:prstGeom prst="roundRect">
            <a:avLst>
              <a:gd name="adj" fmla="val 13636"/>
            </a:avLst>
          </a:prstGeom>
          <a:solidFill>
            <a:srgbClr val="F2F2F2"/>
          </a:solidFill>
          <a:ln w="9525">
            <a:solidFill>
              <a:srgbClr val="BFBFBF"/>
            </a:solidFill>
            <a:prstDash val="solid"/>
          </a:ln>
        </p:spPr>
      </p:sp>
      <p:sp>
        <p:nvSpPr>
          <p:cNvPr id="12" name="Text 10"/>
          <p:cNvSpPr txBox="1"/>
          <p:nvPr/>
        </p:nvSpPr>
        <p:spPr>
          <a:xfrm>
            <a:off x="621792" y="21031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13" name="from slide 2"/>
          <p:cNvSpPr/>
          <p:nvPr/>
        </p:nvSpPr>
        <p:spPr>
          <a:xfrm>
            <a:off x="621792" y="2157984"/>
            <a:ext cx="777240" cy="292608"/>
          </a:xfrm>
          <a:prstGeom prst="roundRect">
            <a:avLst>
              <a:gd name="adj" fmla="val 18750"/>
            </a:avLst>
          </a:prstGeom>
          <a:solidFill>
            <a:srgbClr val="D9D9D9"/>
          </a:solidFill>
          <a:ln w="12700">
            <a:solidFill>
              <a:srgbClr val="D9D9D9"/>
            </a:solidFill>
            <a:prstDash val="solid"/>
          </a:ln>
        </p:spPr>
      </p:sp>
      <p:sp>
        <p:nvSpPr>
          <p:cNvPr id="14" name="Text 12"/>
          <p:cNvSpPr txBox="1"/>
          <p:nvPr/>
        </p:nvSpPr>
        <p:spPr>
          <a:xfrm>
            <a:off x="621792" y="21579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2</a:t>
            </a:r>
            <a:endParaRPr lang="en-US" sz="1400" dirty="0"/>
          </a:p>
        </p:txBody>
      </p:sp>
      <p:sp>
        <p:nvSpPr>
          <p:cNvPr id="15" name="Text 13"/>
          <p:cNvSpPr txBox="1"/>
          <p:nvPr/>
        </p:nvSpPr>
        <p:spPr>
          <a:xfrm>
            <a:off x="1508760" y="2103120"/>
            <a:ext cx="3886200" cy="402336"/>
          </a:xfrm>
          <a:prstGeom prst="rect">
            <a:avLst/>
          </a:prstGeom>
          <a:noFill/>
          <a:ln/>
        </p:spPr>
        <p:txBody>
          <a:bodyPr wrap="square" lIns="0" tIns="0" rIns="0" bIns="0" rtlCol="0" anchor="ctr"/>
          <a:lstStyle/>
          <a:p>
            <a:pPr indent="0" marL="0">
              <a:buNone/>
            </a:pPr>
            <a:r>
              <a:rPr lang="en-US" sz="1400" dirty="0">
                <a:solidFill>
                  <a:schemeClr val="tx1"/>
                </a:solidFill>
              </a:rPr>
              <a:t>How hard are the problems?</a:t>
            </a:r>
            <a:endParaRPr lang="en-US" sz="1400" dirty="0"/>
          </a:p>
        </p:txBody>
      </p:sp>
      <p:sp>
        <p:nvSpPr>
          <p:cNvPr id="16" name="page kinds"/>
          <p:cNvSpPr/>
          <p:nvPr/>
        </p:nvSpPr>
        <p:spPr>
          <a:xfrm>
            <a:off x="5449824" y="2148840"/>
            <a:ext cx="438912" cy="310896"/>
          </a:xfrm>
          <a:prstGeom prst="roundRect">
            <a:avLst>
              <a:gd name="adj" fmla="val 23529"/>
            </a:avLst>
          </a:prstGeom>
          <a:solidFill>
            <a:srgbClr val="4472C4"/>
          </a:solidFill>
          <a:ln w="12700">
            <a:solidFill>
              <a:srgbClr val="4472C4"/>
            </a:solidFill>
            <a:prstDash val="solid"/>
          </a:ln>
        </p:spPr>
      </p:sp>
      <p:sp>
        <p:nvSpPr>
          <p:cNvPr id="17" name="Text 15"/>
          <p:cNvSpPr txBox="1"/>
          <p:nvPr/>
        </p:nvSpPr>
        <p:spPr>
          <a:xfrm>
            <a:off x="5449824" y="21488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11</a:t>
            </a:r>
            <a:endParaRPr lang="en-US" sz="1400" dirty="0"/>
          </a:p>
        </p:txBody>
      </p:sp>
      <p:sp>
        <p:nvSpPr>
          <p:cNvPr id="18" name="box "/>
          <p:cNvSpPr/>
          <p:nvPr/>
        </p:nvSpPr>
        <p:spPr>
          <a:xfrm>
            <a:off x="548640" y="2560320"/>
            <a:ext cx="5440680" cy="402336"/>
          </a:xfrm>
          <a:prstGeom prst="roundRect">
            <a:avLst>
              <a:gd name="adj" fmla="val 13636"/>
            </a:avLst>
          </a:prstGeom>
          <a:solidFill>
            <a:srgbClr val="F2F2F2"/>
          </a:solidFill>
          <a:ln w="9525">
            <a:solidFill>
              <a:srgbClr val="BFBFBF"/>
            </a:solidFill>
            <a:prstDash val="solid"/>
          </a:ln>
        </p:spPr>
      </p:sp>
      <p:sp>
        <p:nvSpPr>
          <p:cNvPr id="19" name="Text 17"/>
          <p:cNvSpPr txBox="1"/>
          <p:nvPr/>
        </p:nvSpPr>
        <p:spPr>
          <a:xfrm>
            <a:off x="621792" y="25603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20" name="from slide 2"/>
          <p:cNvSpPr/>
          <p:nvPr/>
        </p:nvSpPr>
        <p:spPr>
          <a:xfrm>
            <a:off x="621792" y="2615184"/>
            <a:ext cx="777240" cy="292608"/>
          </a:xfrm>
          <a:prstGeom prst="roundRect">
            <a:avLst>
              <a:gd name="adj" fmla="val 18750"/>
            </a:avLst>
          </a:prstGeom>
          <a:solidFill>
            <a:srgbClr val="D9D9D9"/>
          </a:solidFill>
          <a:ln w="12700">
            <a:solidFill>
              <a:srgbClr val="D9D9D9"/>
            </a:solidFill>
            <a:prstDash val="solid"/>
          </a:ln>
        </p:spPr>
      </p:sp>
      <p:sp>
        <p:nvSpPr>
          <p:cNvPr id="21" name="Text 19"/>
          <p:cNvSpPr txBox="1"/>
          <p:nvPr/>
        </p:nvSpPr>
        <p:spPr>
          <a:xfrm>
            <a:off x="621792" y="26151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2</a:t>
            </a:r>
            <a:endParaRPr lang="en-US" sz="1400" dirty="0"/>
          </a:p>
        </p:txBody>
      </p:sp>
      <p:sp>
        <p:nvSpPr>
          <p:cNvPr id="22" name="Text 20"/>
          <p:cNvSpPr txBox="1"/>
          <p:nvPr/>
        </p:nvSpPr>
        <p:spPr>
          <a:xfrm>
            <a:off x="1508760" y="2560320"/>
            <a:ext cx="3383280" cy="402336"/>
          </a:xfrm>
          <a:prstGeom prst="rect">
            <a:avLst/>
          </a:prstGeom>
          <a:noFill/>
          <a:ln/>
        </p:spPr>
        <p:txBody>
          <a:bodyPr wrap="square" lIns="0" tIns="0" rIns="0" bIns="0" rtlCol="0" anchor="ctr"/>
          <a:lstStyle/>
          <a:p>
            <a:pPr indent="0" marL="0">
              <a:buNone/>
            </a:pPr>
            <a:r>
              <a:rPr lang="en-US" sz="1400" dirty="0">
                <a:solidFill>
                  <a:schemeClr val="tx1"/>
                </a:solidFill>
              </a:rPr>
              <a:t>Proofs? Where does it stop?</a:t>
            </a:r>
            <a:endParaRPr lang="en-US" sz="1400" dirty="0"/>
          </a:p>
        </p:txBody>
      </p:sp>
      <p:sp>
        <p:nvSpPr>
          <p:cNvPr id="23" name="page proof"/>
          <p:cNvSpPr/>
          <p:nvPr/>
        </p:nvSpPr>
        <p:spPr>
          <a:xfrm>
            <a:off x="4946904" y="2606040"/>
            <a:ext cx="438912" cy="310896"/>
          </a:xfrm>
          <a:prstGeom prst="roundRect">
            <a:avLst>
              <a:gd name="adj" fmla="val 23529"/>
            </a:avLst>
          </a:prstGeom>
          <a:solidFill>
            <a:srgbClr val="4472C4"/>
          </a:solidFill>
          <a:ln w="12700">
            <a:solidFill>
              <a:srgbClr val="4472C4"/>
            </a:solidFill>
            <a:prstDash val="solid"/>
          </a:ln>
        </p:spPr>
      </p:sp>
      <p:sp>
        <p:nvSpPr>
          <p:cNvPr id="24" name="Text 22"/>
          <p:cNvSpPr txBox="1"/>
          <p:nvPr/>
        </p:nvSpPr>
        <p:spPr>
          <a:xfrm>
            <a:off x="4946904" y="26060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28</a:t>
            </a:r>
            <a:endParaRPr lang="en-US" sz="1400" dirty="0"/>
          </a:p>
        </p:txBody>
      </p:sp>
      <p:sp>
        <p:nvSpPr>
          <p:cNvPr id="25" name="page limits"/>
          <p:cNvSpPr/>
          <p:nvPr/>
        </p:nvSpPr>
        <p:spPr>
          <a:xfrm>
            <a:off x="5449824" y="2606040"/>
            <a:ext cx="438912" cy="310896"/>
          </a:xfrm>
          <a:prstGeom prst="roundRect">
            <a:avLst>
              <a:gd name="adj" fmla="val 23529"/>
            </a:avLst>
          </a:prstGeom>
          <a:solidFill>
            <a:srgbClr val="4472C4"/>
          </a:solidFill>
          <a:ln w="12700">
            <a:solidFill>
              <a:srgbClr val="4472C4"/>
            </a:solidFill>
            <a:prstDash val="solid"/>
          </a:ln>
        </p:spPr>
      </p:sp>
      <p:sp>
        <p:nvSpPr>
          <p:cNvPr id="26" name="Text 24"/>
          <p:cNvSpPr txBox="1"/>
          <p:nvPr/>
        </p:nvSpPr>
        <p:spPr>
          <a:xfrm>
            <a:off x="5449824" y="26060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29</a:t>
            </a:r>
            <a:endParaRPr lang="en-US" sz="1400" dirty="0"/>
          </a:p>
        </p:txBody>
      </p:sp>
      <p:sp>
        <p:nvSpPr>
          <p:cNvPr id="27" name="box "/>
          <p:cNvSpPr/>
          <p:nvPr/>
        </p:nvSpPr>
        <p:spPr>
          <a:xfrm>
            <a:off x="548640" y="3017520"/>
            <a:ext cx="5440680" cy="402336"/>
          </a:xfrm>
          <a:prstGeom prst="roundRect">
            <a:avLst>
              <a:gd name="adj" fmla="val 13636"/>
            </a:avLst>
          </a:prstGeom>
          <a:solidFill>
            <a:srgbClr val="F2F2F2"/>
          </a:solidFill>
          <a:ln w="9525">
            <a:solidFill>
              <a:srgbClr val="BFBFBF"/>
            </a:solidFill>
            <a:prstDash val="solid"/>
          </a:ln>
        </p:spPr>
      </p:sp>
      <p:sp>
        <p:nvSpPr>
          <p:cNvPr id="28" name="Text 26"/>
          <p:cNvSpPr txBox="1"/>
          <p:nvPr/>
        </p:nvSpPr>
        <p:spPr>
          <a:xfrm>
            <a:off x="621792" y="30175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29" name="from slide 3"/>
          <p:cNvSpPr/>
          <p:nvPr/>
        </p:nvSpPr>
        <p:spPr>
          <a:xfrm>
            <a:off x="621792" y="3072384"/>
            <a:ext cx="777240" cy="292608"/>
          </a:xfrm>
          <a:prstGeom prst="roundRect">
            <a:avLst>
              <a:gd name="adj" fmla="val 18750"/>
            </a:avLst>
          </a:prstGeom>
          <a:solidFill>
            <a:srgbClr val="D9D9D9"/>
          </a:solidFill>
          <a:ln w="12700">
            <a:solidFill>
              <a:srgbClr val="D9D9D9"/>
            </a:solidFill>
            <a:prstDash val="solid"/>
          </a:ln>
        </p:spPr>
      </p:sp>
      <p:sp>
        <p:nvSpPr>
          <p:cNvPr id="30" name="Text 28"/>
          <p:cNvSpPr txBox="1"/>
          <p:nvPr/>
        </p:nvSpPr>
        <p:spPr>
          <a:xfrm>
            <a:off x="621792" y="30723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3</a:t>
            </a:r>
            <a:endParaRPr lang="en-US" sz="1400" dirty="0"/>
          </a:p>
        </p:txBody>
      </p:sp>
      <p:sp>
        <p:nvSpPr>
          <p:cNvPr id="31" name="Text 29"/>
          <p:cNvSpPr txBox="1"/>
          <p:nvPr/>
        </p:nvSpPr>
        <p:spPr>
          <a:xfrm>
            <a:off x="1508760" y="3017520"/>
            <a:ext cx="3886200" cy="402336"/>
          </a:xfrm>
          <a:prstGeom prst="rect">
            <a:avLst/>
          </a:prstGeom>
          <a:noFill/>
          <a:ln/>
        </p:spPr>
        <p:txBody>
          <a:bodyPr wrap="square" lIns="0" tIns="0" rIns="0" bIns="0" rtlCol="0" anchor="ctr"/>
          <a:lstStyle/>
          <a:p>
            <a:pPr indent="0" marL="0">
              <a:buNone/>
            </a:pPr>
            <a:r>
              <a:rPr lang="en-US" sz="1400" dirty="0">
                <a:solidFill>
                  <a:schemeClr val="tx1"/>
                </a:solidFill>
              </a:rPr>
              <a:t>Is a program always better than words?</a:t>
            </a:r>
            <a:endParaRPr lang="en-US" sz="1400" dirty="0"/>
          </a:p>
        </p:txBody>
      </p:sp>
      <p:sp>
        <p:nvSpPr>
          <p:cNvPr id="32" name="page progwords"/>
          <p:cNvSpPr/>
          <p:nvPr/>
        </p:nvSpPr>
        <p:spPr>
          <a:xfrm>
            <a:off x="5449824" y="3063240"/>
            <a:ext cx="438912" cy="310896"/>
          </a:xfrm>
          <a:prstGeom prst="roundRect">
            <a:avLst>
              <a:gd name="adj" fmla="val 23529"/>
            </a:avLst>
          </a:prstGeom>
          <a:solidFill>
            <a:srgbClr val="4472C4"/>
          </a:solidFill>
          <a:ln w="12700">
            <a:solidFill>
              <a:srgbClr val="4472C4"/>
            </a:solidFill>
            <a:prstDash val="solid"/>
          </a:ln>
        </p:spPr>
      </p:sp>
      <p:sp>
        <p:nvSpPr>
          <p:cNvPr id="33" name="Text 31"/>
          <p:cNvSpPr txBox="1"/>
          <p:nvPr/>
        </p:nvSpPr>
        <p:spPr>
          <a:xfrm>
            <a:off x="5449824" y="30632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12</a:t>
            </a:r>
            <a:endParaRPr lang="en-US" sz="1400" dirty="0"/>
          </a:p>
        </p:txBody>
      </p:sp>
      <p:sp>
        <p:nvSpPr>
          <p:cNvPr id="34" name="box "/>
          <p:cNvSpPr/>
          <p:nvPr/>
        </p:nvSpPr>
        <p:spPr>
          <a:xfrm>
            <a:off x="548640" y="3474720"/>
            <a:ext cx="5440680" cy="402336"/>
          </a:xfrm>
          <a:prstGeom prst="roundRect">
            <a:avLst>
              <a:gd name="adj" fmla="val 13636"/>
            </a:avLst>
          </a:prstGeom>
          <a:solidFill>
            <a:srgbClr val="F2F2F2"/>
          </a:solidFill>
          <a:ln w="9525">
            <a:solidFill>
              <a:srgbClr val="BFBFBF"/>
            </a:solidFill>
            <a:prstDash val="solid"/>
          </a:ln>
        </p:spPr>
      </p:sp>
      <p:sp>
        <p:nvSpPr>
          <p:cNvPr id="35" name="Text 33"/>
          <p:cNvSpPr txBox="1"/>
          <p:nvPr/>
        </p:nvSpPr>
        <p:spPr>
          <a:xfrm>
            <a:off x="621792" y="34747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36" name="from slide 4"/>
          <p:cNvSpPr/>
          <p:nvPr/>
        </p:nvSpPr>
        <p:spPr>
          <a:xfrm>
            <a:off x="621792" y="3529584"/>
            <a:ext cx="777240" cy="292608"/>
          </a:xfrm>
          <a:prstGeom prst="roundRect">
            <a:avLst>
              <a:gd name="adj" fmla="val 18750"/>
            </a:avLst>
          </a:prstGeom>
          <a:solidFill>
            <a:srgbClr val="D9D9D9"/>
          </a:solidFill>
          <a:ln w="12700">
            <a:solidFill>
              <a:srgbClr val="D9D9D9"/>
            </a:solidFill>
            <a:prstDash val="solid"/>
          </a:ln>
        </p:spPr>
      </p:sp>
      <p:sp>
        <p:nvSpPr>
          <p:cNvPr id="37" name="Text 35"/>
          <p:cNvSpPr txBox="1"/>
          <p:nvPr/>
        </p:nvSpPr>
        <p:spPr>
          <a:xfrm>
            <a:off x="621792" y="35295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4</a:t>
            </a:r>
            <a:endParaRPr lang="en-US" sz="1400" dirty="0"/>
          </a:p>
        </p:txBody>
      </p:sp>
      <p:sp>
        <p:nvSpPr>
          <p:cNvPr id="38" name="Text 36"/>
          <p:cNvSpPr txBox="1"/>
          <p:nvPr/>
        </p:nvSpPr>
        <p:spPr>
          <a:xfrm>
            <a:off x="1508760" y="34747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Why does helper code change the answer?</a:t>
            </a:r>
            <a:endParaRPr lang="en-US" sz="1400" dirty="0"/>
          </a:p>
        </p:txBody>
      </p:sp>
      <p:sp>
        <p:nvSpPr>
          <p:cNvPr id="39" name="page two"/>
          <p:cNvSpPr/>
          <p:nvPr/>
        </p:nvSpPr>
        <p:spPr>
          <a:xfrm>
            <a:off x="5449824" y="3520440"/>
            <a:ext cx="438912" cy="310896"/>
          </a:xfrm>
          <a:prstGeom prst="roundRect">
            <a:avLst>
              <a:gd name="adj" fmla="val 23529"/>
            </a:avLst>
          </a:prstGeom>
          <a:solidFill>
            <a:srgbClr val="4472C4"/>
          </a:solidFill>
          <a:ln w="12700">
            <a:solidFill>
              <a:srgbClr val="4472C4"/>
            </a:solidFill>
            <a:prstDash val="solid"/>
          </a:ln>
        </p:spPr>
      </p:sp>
      <p:sp>
        <p:nvSpPr>
          <p:cNvPr id="40" name="Text 38"/>
          <p:cNvSpPr txBox="1"/>
          <p:nvPr/>
        </p:nvSpPr>
        <p:spPr>
          <a:xfrm>
            <a:off x="5449824" y="35204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13</a:t>
            </a:r>
            <a:endParaRPr lang="en-US" sz="1400" dirty="0"/>
          </a:p>
        </p:txBody>
      </p:sp>
      <p:sp>
        <p:nvSpPr>
          <p:cNvPr id="41" name="box "/>
          <p:cNvSpPr/>
          <p:nvPr/>
        </p:nvSpPr>
        <p:spPr>
          <a:xfrm>
            <a:off x="548640" y="3931920"/>
            <a:ext cx="5440680" cy="402336"/>
          </a:xfrm>
          <a:prstGeom prst="roundRect">
            <a:avLst>
              <a:gd name="adj" fmla="val 13636"/>
            </a:avLst>
          </a:prstGeom>
          <a:solidFill>
            <a:srgbClr val="F2F2F2"/>
          </a:solidFill>
          <a:ln w="9525">
            <a:solidFill>
              <a:srgbClr val="BFBFBF"/>
            </a:solidFill>
            <a:prstDash val="solid"/>
          </a:ln>
        </p:spPr>
      </p:sp>
      <p:sp>
        <p:nvSpPr>
          <p:cNvPr id="42" name="Text 40"/>
          <p:cNvSpPr txBox="1"/>
          <p:nvPr/>
        </p:nvSpPr>
        <p:spPr>
          <a:xfrm>
            <a:off x="621792" y="39319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43" name="from slide 5"/>
          <p:cNvSpPr/>
          <p:nvPr/>
        </p:nvSpPr>
        <p:spPr>
          <a:xfrm>
            <a:off x="621792" y="3986784"/>
            <a:ext cx="777240" cy="292608"/>
          </a:xfrm>
          <a:prstGeom prst="roundRect">
            <a:avLst>
              <a:gd name="adj" fmla="val 18750"/>
            </a:avLst>
          </a:prstGeom>
          <a:solidFill>
            <a:srgbClr val="D9D9D9"/>
          </a:solidFill>
          <a:ln w="12700">
            <a:solidFill>
              <a:srgbClr val="D9D9D9"/>
            </a:solidFill>
            <a:prstDash val="solid"/>
          </a:ln>
        </p:spPr>
      </p:sp>
      <p:sp>
        <p:nvSpPr>
          <p:cNvPr id="44" name="Text 42"/>
          <p:cNvSpPr txBox="1"/>
          <p:nvPr/>
        </p:nvSpPr>
        <p:spPr>
          <a:xfrm>
            <a:off x="621792" y="39867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5</a:t>
            </a:r>
            <a:endParaRPr lang="en-US" sz="1400" dirty="0"/>
          </a:p>
        </p:txBody>
      </p:sp>
      <p:sp>
        <p:nvSpPr>
          <p:cNvPr id="45" name="Text 43"/>
          <p:cNvSpPr txBox="1"/>
          <p:nvPr/>
        </p:nvSpPr>
        <p:spPr>
          <a:xfrm>
            <a:off x="1508760" y="39319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What exactly is the fact? Isn't it the answer?</a:t>
            </a:r>
            <a:endParaRPr lang="en-US" sz="1400" dirty="0"/>
          </a:p>
        </p:txBody>
      </p:sp>
      <p:sp>
        <p:nvSpPr>
          <p:cNvPr id="46" name="page fact"/>
          <p:cNvSpPr/>
          <p:nvPr/>
        </p:nvSpPr>
        <p:spPr>
          <a:xfrm>
            <a:off x="5449824" y="3977640"/>
            <a:ext cx="438912" cy="310896"/>
          </a:xfrm>
          <a:prstGeom prst="roundRect">
            <a:avLst>
              <a:gd name="adj" fmla="val 23529"/>
            </a:avLst>
          </a:prstGeom>
          <a:solidFill>
            <a:srgbClr val="4472C4"/>
          </a:solidFill>
          <a:ln w="12700">
            <a:solidFill>
              <a:srgbClr val="4472C4"/>
            </a:solidFill>
            <a:prstDash val="solid"/>
          </a:ln>
        </p:spPr>
      </p:sp>
      <p:sp>
        <p:nvSpPr>
          <p:cNvPr id="47" name="Text 45"/>
          <p:cNvSpPr txBox="1"/>
          <p:nvPr/>
        </p:nvSpPr>
        <p:spPr>
          <a:xfrm>
            <a:off x="5449824" y="39776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14</a:t>
            </a:r>
            <a:endParaRPr lang="en-US" sz="1400" dirty="0"/>
          </a:p>
        </p:txBody>
      </p:sp>
      <p:sp>
        <p:nvSpPr>
          <p:cNvPr id="48" name="box "/>
          <p:cNvSpPr/>
          <p:nvPr/>
        </p:nvSpPr>
        <p:spPr>
          <a:xfrm>
            <a:off x="548640" y="4389120"/>
            <a:ext cx="5440680" cy="402336"/>
          </a:xfrm>
          <a:prstGeom prst="roundRect">
            <a:avLst>
              <a:gd name="adj" fmla="val 13636"/>
            </a:avLst>
          </a:prstGeom>
          <a:solidFill>
            <a:srgbClr val="F2F2F2"/>
          </a:solidFill>
          <a:ln w="9525">
            <a:solidFill>
              <a:srgbClr val="BFBFBF"/>
            </a:solidFill>
            <a:prstDash val="solid"/>
          </a:ln>
        </p:spPr>
      </p:sp>
      <p:sp>
        <p:nvSpPr>
          <p:cNvPr id="49" name="Text 47"/>
          <p:cNvSpPr txBox="1"/>
          <p:nvPr/>
        </p:nvSpPr>
        <p:spPr>
          <a:xfrm>
            <a:off x="621792" y="43891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50" name="from slide 5"/>
          <p:cNvSpPr/>
          <p:nvPr/>
        </p:nvSpPr>
        <p:spPr>
          <a:xfrm>
            <a:off x="621792" y="4443984"/>
            <a:ext cx="777240" cy="292608"/>
          </a:xfrm>
          <a:prstGeom prst="roundRect">
            <a:avLst>
              <a:gd name="adj" fmla="val 18750"/>
            </a:avLst>
          </a:prstGeom>
          <a:solidFill>
            <a:srgbClr val="D9D9D9"/>
          </a:solidFill>
          <a:ln w="12700">
            <a:solidFill>
              <a:srgbClr val="D9D9D9"/>
            </a:solidFill>
            <a:prstDash val="solid"/>
          </a:ln>
        </p:spPr>
      </p:sp>
      <p:sp>
        <p:nvSpPr>
          <p:cNvPr id="51" name="Text 49"/>
          <p:cNvSpPr txBox="1"/>
          <p:nvPr/>
        </p:nvSpPr>
        <p:spPr>
          <a:xfrm>
            <a:off x="621792" y="44439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5</a:t>
            </a:r>
            <a:endParaRPr lang="en-US" sz="1400" dirty="0"/>
          </a:p>
        </p:txBody>
      </p:sp>
      <p:sp>
        <p:nvSpPr>
          <p:cNvPr id="52" name="Text 50"/>
          <p:cNvSpPr txBox="1"/>
          <p:nvPr/>
        </p:nvSpPr>
        <p:spPr>
          <a:xfrm>
            <a:off x="1508760" y="4389120"/>
            <a:ext cx="3886200" cy="402336"/>
          </a:xfrm>
          <a:prstGeom prst="rect">
            <a:avLst/>
          </a:prstGeom>
          <a:noFill/>
          <a:ln/>
        </p:spPr>
        <p:txBody>
          <a:bodyPr wrap="square" lIns="0" tIns="0" rIns="0" bIns="0" rtlCol="0" anchor="ctr"/>
          <a:lstStyle/>
          <a:p>
            <a:pPr indent="0" marL="0">
              <a:buNone/>
            </a:pPr>
            <a:r>
              <a:rPr lang="en-US" sz="1400" dirty="0">
                <a:solidFill>
                  <a:schemeClr val="tx1"/>
                </a:solidFill>
              </a:rPr>
              <a:t>Can retrieval (RAG) find the fact?</a:t>
            </a:r>
            <a:endParaRPr lang="en-US" sz="1400" dirty="0"/>
          </a:p>
        </p:txBody>
      </p:sp>
      <p:sp>
        <p:nvSpPr>
          <p:cNvPr id="53" name="page rag"/>
          <p:cNvSpPr/>
          <p:nvPr/>
        </p:nvSpPr>
        <p:spPr>
          <a:xfrm>
            <a:off x="5449824" y="4434840"/>
            <a:ext cx="438912" cy="310896"/>
          </a:xfrm>
          <a:prstGeom prst="roundRect">
            <a:avLst>
              <a:gd name="adj" fmla="val 23529"/>
            </a:avLst>
          </a:prstGeom>
          <a:solidFill>
            <a:srgbClr val="4472C4"/>
          </a:solidFill>
          <a:ln w="12700">
            <a:solidFill>
              <a:srgbClr val="4472C4"/>
            </a:solidFill>
            <a:prstDash val="solid"/>
          </a:ln>
        </p:spPr>
      </p:sp>
      <p:sp>
        <p:nvSpPr>
          <p:cNvPr id="54" name="Text 52"/>
          <p:cNvSpPr txBox="1"/>
          <p:nvPr/>
        </p:nvSpPr>
        <p:spPr>
          <a:xfrm>
            <a:off x="5449824" y="44348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15</a:t>
            </a:r>
            <a:endParaRPr lang="en-US" sz="1400" dirty="0"/>
          </a:p>
        </p:txBody>
      </p:sp>
      <p:sp>
        <p:nvSpPr>
          <p:cNvPr id="55" name="box "/>
          <p:cNvSpPr/>
          <p:nvPr/>
        </p:nvSpPr>
        <p:spPr>
          <a:xfrm>
            <a:off x="548640" y="4846320"/>
            <a:ext cx="5440680" cy="402336"/>
          </a:xfrm>
          <a:prstGeom prst="roundRect">
            <a:avLst>
              <a:gd name="adj" fmla="val 13636"/>
            </a:avLst>
          </a:prstGeom>
          <a:solidFill>
            <a:srgbClr val="F2F2F2"/>
          </a:solidFill>
          <a:ln w="9525">
            <a:solidFill>
              <a:srgbClr val="BFBFBF"/>
            </a:solidFill>
            <a:prstDash val="solid"/>
          </a:ln>
        </p:spPr>
      </p:sp>
      <p:sp>
        <p:nvSpPr>
          <p:cNvPr id="56" name="Text 54"/>
          <p:cNvSpPr txBox="1"/>
          <p:nvPr/>
        </p:nvSpPr>
        <p:spPr>
          <a:xfrm>
            <a:off x="621792" y="48463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57" name="from slide 5"/>
          <p:cNvSpPr/>
          <p:nvPr/>
        </p:nvSpPr>
        <p:spPr>
          <a:xfrm>
            <a:off x="621792" y="4901184"/>
            <a:ext cx="777240" cy="292608"/>
          </a:xfrm>
          <a:prstGeom prst="roundRect">
            <a:avLst>
              <a:gd name="adj" fmla="val 18750"/>
            </a:avLst>
          </a:prstGeom>
          <a:solidFill>
            <a:srgbClr val="D9D9D9"/>
          </a:solidFill>
          <a:ln w="12700">
            <a:solidFill>
              <a:srgbClr val="D9D9D9"/>
            </a:solidFill>
            <a:prstDash val="solid"/>
          </a:ln>
        </p:spPr>
      </p:sp>
      <p:sp>
        <p:nvSpPr>
          <p:cNvPr id="58" name="Text 56"/>
          <p:cNvSpPr txBox="1"/>
          <p:nvPr/>
        </p:nvSpPr>
        <p:spPr>
          <a:xfrm>
            <a:off x="621792" y="49011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5</a:t>
            </a:r>
            <a:endParaRPr lang="en-US" sz="1400" dirty="0"/>
          </a:p>
        </p:txBody>
      </p:sp>
      <p:sp>
        <p:nvSpPr>
          <p:cNvPr id="59" name="Text 57"/>
          <p:cNvSpPr txBox="1"/>
          <p:nvPr/>
        </p:nvSpPr>
        <p:spPr>
          <a:xfrm>
            <a:off x="1508760" y="48463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Why can thinking make it worse?</a:t>
            </a:r>
            <a:endParaRPr lang="en-US" sz="1400" dirty="0"/>
          </a:p>
        </p:txBody>
      </p:sp>
      <p:sp>
        <p:nvSpPr>
          <p:cNvPr id="60" name="page think"/>
          <p:cNvSpPr/>
          <p:nvPr/>
        </p:nvSpPr>
        <p:spPr>
          <a:xfrm>
            <a:off x="5449824" y="4892040"/>
            <a:ext cx="438912" cy="310896"/>
          </a:xfrm>
          <a:prstGeom prst="roundRect">
            <a:avLst>
              <a:gd name="adj" fmla="val 23529"/>
            </a:avLst>
          </a:prstGeom>
          <a:solidFill>
            <a:srgbClr val="4472C4"/>
          </a:solidFill>
          <a:ln w="12700">
            <a:solidFill>
              <a:srgbClr val="4472C4"/>
            </a:solidFill>
            <a:prstDash val="solid"/>
          </a:ln>
        </p:spPr>
      </p:sp>
      <p:sp>
        <p:nvSpPr>
          <p:cNvPr id="61" name="Text 59"/>
          <p:cNvSpPr txBox="1"/>
          <p:nvPr/>
        </p:nvSpPr>
        <p:spPr>
          <a:xfrm>
            <a:off x="5449824" y="48920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16</a:t>
            </a:r>
            <a:endParaRPr lang="en-US" sz="1400" dirty="0"/>
          </a:p>
        </p:txBody>
      </p:sp>
      <p:sp>
        <p:nvSpPr>
          <p:cNvPr id="62" name="box "/>
          <p:cNvSpPr/>
          <p:nvPr/>
        </p:nvSpPr>
        <p:spPr>
          <a:xfrm>
            <a:off x="548640" y="5303520"/>
            <a:ext cx="5440680" cy="402336"/>
          </a:xfrm>
          <a:prstGeom prst="roundRect">
            <a:avLst>
              <a:gd name="adj" fmla="val 13636"/>
            </a:avLst>
          </a:prstGeom>
          <a:solidFill>
            <a:srgbClr val="F2F2F2"/>
          </a:solidFill>
          <a:ln w="9525">
            <a:solidFill>
              <a:srgbClr val="BFBFBF"/>
            </a:solidFill>
            <a:prstDash val="solid"/>
          </a:ln>
        </p:spPr>
      </p:sp>
      <p:sp>
        <p:nvSpPr>
          <p:cNvPr id="63" name="Text 61"/>
          <p:cNvSpPr txBox="1"/>
          <p:nvPr/>
        </p:nvSpPr>
        <p:spPr>
          <a:xfrm>
            <a:off x="621792" y="53035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64" name="from slide 6"/>
          <p:cNvSpPr/>
          <p:nvPr/>
        </p:nvSpPr>
        <p:spPr>
          <a:xfrm>
            <a:off x="621792" y="5358384"/>
            <a:ext cx="777240" cy="292608"/>
          </a:xfrm>
          <a:prstGeom prst="roundRect">
            <a:avLst>
              <a:gd name="adj" fmla="val 18750"/>
            </a:avLst>
          </a:prstGeom>
          <a:solidFill>
            <a:srgbClr val="D9D9D9"/>
          </a:solidFill>
          <a:ln w="12700">
            <a:solidFill>
              <a:srgbClr val="D9D9D9"/>
            </a:solidFill>
            <a:prstDash val="solid"/>
          </a:ln>
        </p:spPr>
      </p:sp>
      <p:sp>
        <p:nvSpPr>
          <p:cNvPr id="65" name="Text 63"/>
          <p:cNvSpPr txBox="1"/>
          <p:nvPr/>
        </p:nvSpPr>
        <p:spPr>
          <a:xfrm>
            <a:off x="621792" y="53583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6</a:t>
            </a:r>
            <a:endParaRPr lang="en-US" sz="1400" dirty="0"/>
          </a:p>
        </p:txBody>
      </p:sp>
      <p:sp>
        <p:nvSpPr>
          <p:cNvPr id="66" name="Text 64"/>
          <p:cNvSpPr txBox="1"/>
          <p:nvPr/>
        </p:nvSpPr>
        <p:spPr>
          <a:xfrm>
            <a:off x="1508760" y="53035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What if a wrong program passes the check?</a:t>
            </a:r>
            <a:endParaRPr lang="en-US" sz="1400" dirty="0"/>
          </a:p>
        </p:txBody>
      </p:sp>
      <p:sp>
        <p:nvSpPr>
          <p:cNvPr id="67" name="page leak"/>
          <p:cNvSpPr/>
          <p:nvPr/>
        </p:nvSpPr>
        <p:spPr>
          <a:xfrm>
            <a:off x="5449824" y="5349240"/>
            <a:ext cx="438912" cy="310896"/>
          </a:xfrm>
          <a:prstGeom prst="roundRect">
            <a:avLst>
              <a:gd name="adj" fmla="val 23529"/>
            </a:avLst>
          </a:prstGeom>
          <a:solidFill>
            <a:srgbClr val="4472C4"/>
          </a:solidFill>
          <a:ln w="12700">
            <a:solidFill>
              <a:srgbClr val="4472C4"/>
            </a:solidFill>
            <a:prstDash val="solid"/>
          </a:ln>
        </p:spPr>
      </p:sp>
      <p:sp>
        <p:nvSpPr>
          <p:cNvPr id="68" name="Text 66"/>
          <p:cNvSpPr txBox="1"/>
          <p:nvPr/>
        </p:nvSpPr>
        <p:spPr>
          <a:xfrm>
            <a:off x="5449824" y="53492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17</a:t>
            </a:r>
            <a:endParaRPr lang="en-US" sz="1400" dirty="0"/>
          </a:p>
        </p:txBody>
      </p:sp>
      <p:sp>
        <p:nvSpPr>
          <p:cNvPr id="69" name="box "/>
          <p:cNvSpPr/>
          <p:nvPr/>
        </p:nvSpPr>
        <p:spPr>
          <a:xfrm>
            <a:off x="6172200" y="1645920"/>
            <a:ext cx="5440680" cy="402336"/>
          </a:xfrm>
          <a:prstGeom prst="roundRect">
            <a:avLst>
              <a:gd name="adj" fmla="val 13636"/>
            </a:avLst>
          </a:prstGeom>
          <a:solidFill>
            <a:srgbClr val="F2F2F2"/>
          </a:solidFill>
          <a:ln w="9525">
            <a:solidFill>
              <a:srgbClr val="BFBFBF"/>
            </a:solidFill>
            <a:prstDash val="solid"/>
          </a:ln>
        </p:spPr>
      </p:sp>
      <p:sp>
        <p:nvSpPr>
          <p:cNvPr id="70" name="Text 68"/>
          <p:cNvSpPr txBox="1"/>
          <p:nvPr/>
        </p:nvSpPr>
        <p:spPr>
          <a:xfrm>
            <a:off x="6245352" y="16459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71" name="from slide 6"/>
          <p:cNvSpPr/>
          <p:nvPr/>
        </p:nvSpPr>
        <p:spPr>
          <a:xfrm>
            <a:off x="6245352" y="1700784"/>
            <a:ext cx="777240" cy="292608"/>
          </a:xfrm>
          <a:prstGeom prst="roundRect">
            <a:avLst>
              <a:gd name="adj" fmla="val 18750"/>
            </a:avLst>
          </a:prstGeom>
          <a:solidFill>
            <a:srgbClr val="D9D9D9"/>
          </a:solidFill>
          <a:ln w="12700">
            <a:solidFill>
              <a:srgbClr val="D9D9D9"/>
            </a:solidFill>
            <a:prstDash val="solid"/>
          </a:ln>
        </p:spPr>
      </p:sp>
      <p:sp>
        <p:nvSpPr>
          <p:cNvPr id="72" name="Text 70"/>
          <p:cNvSpPr txBox="1"/>
          <p:nvPr/>
        </p:nvSpPr>
        <p:spPr>
          <a:xfrm>
            <a:off x="6245352" y="17007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6</a:t>
            </a:r>
            <a:endParaRPr lang="en-US" sz="1400" dirty="0"/>
          </a:p>
        </p:txBody>
      </p:sp>
      <p:sp>
        <p:nvSpPr>
          <p:cNvPr id="73" name="Text 71"/>
          <p:cNvSpPr txBox="1"/>
          <p:nvPr/>
        </p:nvSpPr>
        <p:spPr>
          <a:xfrm>
            <a:off x="7132320" y="1645920"/>
            <a:ext cx="3886200" cy="402336"/>
          </a:xfrm>
          <a:prstGeom prst="rect">
            <a:avLst/>
          </a:prstGeom>
          <a:noFill/>
          <a:ln/>
        </p:spPr>
        <p:txBody>
          <a:bodyPr wrap="square" lIns="0" tIns="0" rIns="0" bIns="0" rtlCol="0" anchor="ctr"/>
          <a:lstStyle/>
          <a:p>
            <a:pPr indent="0" marL="0">
              <a:buNone/>
            </a:pPr>
            <a:r>
              <a:rPr lang="en-US" sz="1400" dirty="0">
                <a:solidFill>
                  <a:schemeClr val="tx1"/>
                </a:solidFill>
              </a:rPr>
              <a:t>Is there always a free check?</a:t>
            </a:r>
            <a:endParaRPr lang="en-US" sz="1400" dirty="0"/>
          </a:p>
        </p:txBody>
      </p:sp>
      <p:sp>
        <p:nvSpPr>
          <p:cNvPr id="74" name="page checks"/>
          <p:cNvSpPr/>
          <p:nvPr/>
        </p:nvSpPr>
        <p:spPr>
          <a:xfrm>
            <a:off x="11073384" y="1691640"/>
            <a:ext cx="438912" cy="310896"/>
          </a:xfrm>
          <a:prstGeom prst="roundRect">
            <a:avLst>
              <a:gd name="adj" fmla="val 23529"/>
            </a:avLst>
          </a:prstGeom>
          <a:solidFill>
            <a:srgbClr val="4472C4"/>
          </a:solidFill>
          <a:ln w="12700">
            <a:solidFill>
              <a:srgbClr val="4472C4"/>
            </a:solidFill>
            <a:prstDash val="solid"/>
          </a:ln>
        </p:spPr>
      </p:sp>
      <p:sp>
        <p:nvSpPr>
          <p:cNvPr id="75" name="Text 73"/>
          <p:cNvSpPr txBox="1"/>
          <p:nvPr/>
        </p:nvSpPr>
        <p:spPr>
          <a:xfrm>
            <a:off x="11073384" y="16916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18</a:t>
            </a:r>
            <a:endParaRPr lang="en-US" sz="1400" dirty="0"/>
          </a:p>
        </p:txBody>
      </p:sp>
      <p:sp>
        <p:nvSpPr>
          <p:cNvPr id="76" name="box "/>
          <p:cNvSpPr/>
          <p:nvPr/>
        </p:nvSpPr>
        <p:spPr>
          <a:xfrm>
            <a:off x="6172200" y="2103120"/>
            <a:ext cx="5440680" cy="402336"/>
          </a:xfrm>
          <a:prstGeom prst="roundRect">
            <a:avLst>
              <a:gd name="adj" fmla="val 13636"/>
            </a:avLst>
          </a:prstGeom>
          <a:solidFill>
            <a:srgbClr val="F2F2F2"/>
          </a:solidFill>
          <a:ln w="9525">
            <a:solidFill>
              <a:srgbClr val="BFBFBF"/>
            </a:solidFill>
            <a:prstDash val="solid"/>
          </a:ln>
        </p:spPr>
      </p:sp>
      <p:sp>
        <p:nvSpPr>
          <p:cNvPr id="77" name="Text 75"/>
          <p:cNvSpPr txBox="1"/>
          <p:nvPr/>
        </p:nvSpPr>
        <p:spPr>
          <a:xfrm>
            <a:off x="6245352" y="21031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78" name="from slide 7"/>
          <p:cNvSpPr/>
          <p:nvPr/>
        </p:nvSpPr>
        <p:spPr>
          <a:xfrm>
            <a:off x="6245352" y="2157984"/>
            <a:ext cx="777240" cy="292608"/>
          </a:xfrm>
          <a:prstGeom prst="roundRect">
            <a:avLst>
              <a:gd name="adj" fmla="val 18750"/>
            </a:avLst>
          </a:prstGeom>
          <a:solidFill>
            <a:srgbClr val="D9D9D9"/>
          </a:solidFill>
          <a:ln w="12700">
            <a:solidFill>
              <a:srgbClr val="D9D9D9"/>
            </a:solidFill>
            <a:prstDash val="solid"/>
          </a:ln>
        </p:spPr>
      </p:sp>
      <p:sp>
        <p:nvSpPr>
          <p:cNvPr id="79" name="Text 77"/>
          <p:cNvSpPr txBox="1"/>
          <p:nvPr/>
        </p:nvSpPr>
        <p:spPr>
          <a:xfrm>
            <a:off x="6245352" y="21579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7</a:t>
            </a:r>
            <a:endParaRPr lang="en-US" sz="1400" dirty="0"/>
          </a:p>
        </p:txBody>
      </p:sp>
      <p:sp>
        <p:nvSpPr>
          <p:cNvPr id="80" name="Text 78"/>
          <p:cNvSpPr txBox="1"/>
          <p:nvPr/>
        </p:nvSpPr>
        <p:spPr>
          <a:xfrm>
            <a:off x="7132320" y="21031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Who writes the fact?</a:t>
            </a:r>
            <a:endParaRPr lang="en-US" sz="1400" dirty="0"/>
          </a:p>
        </p:txBody>
      </p:sp>
      <p:sp>
        <p:nvSpPr>
          <p:cNvPr id="81" name="page auto"/>
          <p:cNvSpPr/>
          <p:nvPr/>
        </p:nvSpPr>
        <p:spPr>
          <a:xfrm>
            <a:off x="11073384" y="2148840"/>
            <a:ext cx="438912" cy="310896"/>
          </a:xfrm>
          <a:prstGeom prst="roundRect">
            <a:avLst>
              <a:gd name="adj" fmla="val 23529"/>
            </a:avLst>
          </a:prstGeom>
          <a:solidFill>
            <a:srgbClr val="4472C4"/>
          </a:solidFill>
          <a:ln w="12700">
            <a:solidFill>
              <a:srgbClr val="4472C4"/>
            </a:solidFill>
            <a:prstDash val="solid"/>
          </a:ln>
        </p:spPr>
      </p:sp>
      <p:sp>
        <p:nvSpPr>
          <p:cNvPr id="82" name="Text 80"/>
          <p:cNvSpPr txBox="1"/>
          <p:nvPr/>
        </p:nvSpPr>
        <p:spPr>
          <a:xfrm>
            <a:off x="11073384" y="21488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19</a:t>
            </a:r>
            <a:endParaRPr lang="en-US" sz="1400" dirty="0"/>
          </a:p>
        </p:txBody>
      </p:sp>
      <p:sp>
        <p:nvSpPr>
          <p:cNvPr id="83" name="box "/>
          <p:cNvSpPr/>
          <p:nvPr/>
        </p:nvSpPr>
        <p:spPr>
          <a:xfrm>
            <a:off x="6172200" y="2560320"/>
            <a:ext cx="5440680" cy="402336"/>
          </a:xfrm>
          <a:prstGeom prst="roundRect">
            <a:avLst>
              <a:gd name="adj" fmla="val 13636"/>
            </a:avLst>
          </a:prstGeom>
          <a:solidFill>
            <a:srgbClr val="F2F2F2"/>
          </a:solidFill>
          <a:ln w="9525">
            <a:solidFill>
              <a:srgbClr val="BFBFBF"/>
            </a:solidFill>
            <a:prstDash val="solid"/>
          </a:ln>
        </p:spPr>
      </p:sp>
      <p:sp>
        <p:nvSpPr>
          <p:cNvPr id="84" name="Text 82"/>
          <p:cNvSpPr txBox="1"/>
          <p:nvPr/>
        </p:nvSpPr>
        <p:spPr>
          <a:xfrm>
            <a:off x="6245352" y="25603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85" name="from slide 7"/>
          <p:cNvSpPr/>
          <p:nvPr/>
        </p:nvSpPr>
        <p:spPr>
          <a:xfrm>
            <a:off x="6245352" y="2615184"/>
            <a:ext cx="777240" cy="292608"/>
          </a:xfrm>
          <a:prstGeom prst="roundRect">
            <a:avLst>
              <a:gd name="adj" fmla="val 18750"/>
            </a:avLst>
          </a:prstGeom>
          <a:solidFill>
            <a:srgbClr val="D9D9D9"/>
          </a:solidFill>
          <a:ln w="12700">
            <a:solidFill>
              <a:srgbClr val="D9D9D9"/>
            </a:solidFill>
            <a:prstDash val="solid"/>
          </a:ln>
        </p:spPr>
      </p:sp>
      <p:sp>
        <p:nvSpPr>
          <p:cNvPr id="86" name="Text 84"/>
          <p:cNvSpPr txBox="1"/>
          <p:nvPr/>
        </p:nvSpPr>
        <p:spPr>
          <a:xfrm>
            <a:off x="6245352" y="26151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7</a:t>
            </a:r>
            <a:endParaRPr lang="en-US" sz="1400" dirty="0"/>
          </a:p>
        </p:txBody>
      </p:sp>
      <p:sp>
        <p:nvSpPr>
          <p:cNvPr id="87" name="Text 85"/>
          <p:cNvSpPr txBox="1"/>
          <p:nvPr/>
        </p:nvSpPr>
        <p:spPr>
          <a:xfrm>
            <a:off x="7132320" y="2560320"/>
            <a:ext cx="3886200" cy="402336"/>
          </a:xfrm>
          <a:prstGeom prst="rect">
            <a:avLst/>
          </a:prstGeom>
          <a:noFill/>
          <a:ln/>
        </p:spPr>
        <p:txBody>
          <a:bodyPr wrap="square" lIns="0" tIns="0" rIns="0" bIns="0" rtlCol="0" anchor="ctr"/>
          <a:lstStyle/>
          <a:p>
            <a:pPr indent="0" marL="0">
              <a:buNone/>
            </a:pPr>
            <a:r>
              <a:rPr lang="en-US" sz="1400" dirty="0">
                <a:solidFill>
                  <a:schemeClr val="tx1"/>
                </a:solidFill>
              </a:rPr>
              <a:t>Is 'think on the hardest' a weak baseline?</a:t>
            </a:r>
            <a:endParaRPr lang="en-US" sz="1400" dirty="0"/>
          </a:p>
        </p:txBody>
      </p:sp>
      <p:sp>
        <p:nvSpPr>
          <p:cNvPr id="88" name="page hard"/>
          <p:cNvSpPr/>
          <p:nvPr/>
        </p:nvSpPr>
        <p:spPr>
          <a:xfrm>
            <a:off x="11073384" y="2606040"/>
            <a:ext cx="438912" cy="310896"/>
          </a:xfrm>
          <a:prstGeom prst="roundRect">
            <a:avLst>
              <a:gd name="adj" fmla="val 23529"/>
            </a:avLst>
          </a:prstGeom>
          <a:solidFill>
            <a:srgbClr val="4472C4"/>
          </a:solidFill>
          <a:ln w="12700">
            <a:solidFill>
              <a:srgbClr val="4472C4"/>
            </a:solidFill>
            <a:prstDash val="solid"/>
          </a:ln>
        </p:spPr>
      </p:sp>
      <p:sp>
        <p:nvSpPr>
          <p:cNvPr id="89" name="Text 87"/>
          <p:cNvSpPr txBox="1"/>
          <p:nvPr/>
        </p:nvSpPr>
        <p:spPr>
          <a:xfrm>
            <a:off x="11073384" y="26060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20</a:t>
            </a:r>
            <a:endParaRPr lang="en-US" sz="1400" dirty="0"/>
          </a:p>
        </p:txBody>
      </p:sp>
      <p:sp>
        <p:nvSpPr>
          <p:cNvPr id="90" name="box "/>
          <p:cNvSpPr/>
          <p:nvPr/>
        </p:nvSpPr>
        <p:spPr>
          <a:xfrm>
            <a:off x="6172200" y="3017520"/>
            <a:ext cx="5440680" cy="402336"/>
          </a:xfrm>
          <a:prstGeom prst="roundRect">
            <a:avLst>
              <a:gd name="adj" fmla="val 13636"/>
            </a:avLst>
          </a:prstGeom>
          <a:solidFill>
            <a:srgbClr val="F2F2F2"/>
          </a:solidFill>
          <a:ln w="9525">
            <a:solidFill>
              <a:srgbClr val="BFBFBF"/>
            </a:solidFill>
            <a:prstDash val="solid"/>
          </a:ln>
        </p:spPr>
      </p:sp>
      <p:sp>
        <p:nvSpPr>
          <p:cNvPr id="91" name="Text 89"/>
          <p:cNvSpPr txBox="1"/>
          <p:nvPr/>
        </p:nvSpPr>
        <p:spPr>
          <a:xfrm>
            <a:off x="6245352" y="30175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92" name="from slide 7"/>
          <p:cNvSpPr/>
          <p:nvPr/>
        </p:nvSpPr>
        <p:spPr>
          <a:xfrm>
            <a:off x="6245352" y="3072384"/>
            <a:ext cx="777240" cy="292608"/>
          </a:xfrm>
          <a:prstGeom prst="roundRect">
            <a:avLst>
              <a:gd name="adj" fmla="val 18750"/>
            </a:avLst>
          </a:prstGeom>
          <a:solidFill>
            <a:srgbClr val="D9D9D9"/>
          </a:solidFill>
          <a:ln w="12700">
            <a:solidFill>
              <a:srgbClr val="D9D9D9"/>
            </a:solidFill>
            <a:prstDash val="solid"/>
          </a:ln>
        </p:spPr>
      </p:sp>
      <p:sp>
        <p:nvSpPr>
          <p:cNvPr id="93" name="Text 91"/>
          <p:cNvSpPr txBox="1"/>
          <p:nvPr/>
        </p:nvSpPr>
        <p:spPr>
          <a:xfrm>
            <a:off x="6245352" y="30723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7</a:t>
            </a:r>
            <a:endParaRPr lang="en-US" sz="1400" dirty="0"/>
          </a:p>
        </p:txBody>
      </p:sp>
      <p:sp>
        <p:nvSpPr>
          <p:cNvPr id="94" name="Text 92"/>
          <p:cNvSpPr txBox="1"/>
          <p:nvPr/>
        </p:nvSpPr>
        <p:spPr>
          <a:xfrm>
            <a:off x="7132320" y="30175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What if the same problem repeats?</a:t>
            </a:r>
            <a:endParaRPr lang="en-US" sz="1400" dirty="0"/>
          </a:p>
        </p:txBody>
      </p:sp>
      <p:sp>
        <p:nvSpPr>
          <p:cNvPr id="95" name="page reuse"/>
          <p:cNvSpPr/>
          <p:nvPr/>
        </p:nvSpPr>
        <p:spPr>
          <a:xfrm>
            <a:off x="11073384" y="3063240"/>
            <a:ext cx="438912" cy="310896"/>
          </a:xfrm>
          <a:prstGeom prst="roundRect">
            <a:avLst>
              <a:gd name="adj" fmla="val 23529"/>
            </a:avLst>
          </a:prstGeom>
          <a:solidFill>
            <a:srgbClr val="4472C4"/>
          </a:solidFill>
          <a:ln w="12700">
            <a:solidFill>
              <a:srgbClr val="4472C4"/>
            </a:solidFill>
            <a:prstDash val="solid"/>
          </a:ln>
        </p:spPr>
      </p:sp>
      <p:sp>
        <p:nvSpPr>
          <p:cNvPr id="96" name="Text 94"/>
          <p:cNvSpPr txBox="1"/>
          <p:nvPr/>
        </p:nvSpPr>
        <p:spPr>
          <a:xfrm>
            <a:off x="11073384" y="30632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30</a:t>
            </a:r>
            <a:endParaRPr lang="en-US" sz="1400" dirty="0"/>
          </a:p>
        </p:txBody>
      </p:sp>
      <p:sp>
        <p:nvSpPr>
          <p:cNvPr id="97" name="box "/>
          <p:cNvSpPr/>
          <p:nvPr/>
        </p:nvSpPr>
        <p:spPr>
          <a:xfrm>
            <a:off x="6172200" y="3474720"/>
            <a:ext cx="5440680" cy="402336"/>
          </a:xfrm>
          <a:prstGeom prst="roundRect">
            <a:avLst>
              <a:gd name="adj" fmla="val 13636"/>
            </a:avLst>
          </a:prstGeom>
          <a:solidFill>
            <a:srgbClr val="F2F2F2"/>
          </a:solidFill>
          <a:ln w="9525">
            <a:solidFill>
              <a:srgbClr val="BFBFBF"/>
            </a:solidFill>
            <a:prstDash val="solid"/>
          </a:ln>
        </p:spPr>
      </p:sp>
      <p:sp>
        <p:nvSpPr>
          <p:cNvPr id="98" name="Text 96"/>
          <p:cNvSpPr txBox="1"/>
          <p:nvPr/>
        </p:nvSpPr>
        <p:spPr>
          <a:xfrm>
            <a:off x="6245352" y="34747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99" name="from slide 8"/>
          <p:cNvSpPr/>
          <p:nvPr/>
        </p:nvSpPr>
        <p:spPr>
          <a:xfrm>
            <a:off x="6245352" y="3529584"/>
            <a:ext cx="777240" cy="292608"/>
          </a:xfrm>
          <a:prstGeom prst="roundRect">
            <a:avLst>
              <a:gd name="adj" fmla="val 18750"/>
            </a:avLst>
          </a:prstGeom>
          <a:solidFill>
            <a:srgbClr val="D9D9D9"/>
          </a:solidFill>
          <a:ln w="12700">
            <a:solidFill>
              <a:srgbClr val="D9D9D9"/>
            </a:solidFill>
            <a:prstDash val="solid"/>
          </a:ln>
        </p:spPr>
      </p:sp>
      <p:sp>
        <p:nvSpPr>
          <p:cNvPr id="100" name="Text 98"/>
          <p:cNvSpPr txBox="1"/>
          <p:nvPr/>
        </p:nvSpPr>
        <p:spPr>
          <a:xfrm>
            <a:off x="6245352" y="35295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8</a:t>
            </a:r>
            <a:endParaRPr lang="en-US" sz="1400" dirty="0"/>
          </a:p>
        </p:txBody>
      </p:sp>
      <p:sp>
        <p:nvSpPr>
          <p:cNvPr id="101" name="Text 99"/>
          <p:cNvSpPr txBox="1"/>
          <p:nvPr/>
        </p:nvSpPr>
        <p:spPr>
          <a:xfrm>
            <a:off x="7132320" y="3474720"/>
            <a:ext cx="2880360" cy="402336"/>
          </a:xfrm>
          <a:prstGeom prst="rect">
            <a:avLst/>
          </a:prstGeom>
          <a:noFill/>
          <a:ln/>
        </p:spPr>
        <p:txBody>
          <a:bodyPr wrap="square" lIns="0" tIns="0" rIns="0" bIns="0" rtlCol="0" anchor="ctr"/>
          <a:lstStyle/>
          <a:p>
            <a:pPr indent="0" marL="0">
              <a:buNone/>
            </a:pPr>
            <a:r>
              <a:rPr lang="en-US" sz="1400" dirty="0">
                <a:solidFill>
                  <a:schemeClr val="tx1"/>
                </a:solidFill>
              </a:rPr>
              <a:t>What is new vs PAL and cascades?</a:t>
            </a:r>
            <a:endParaRPr lang="en-US" sz="1400" dirty="0"/>
          </a:p>
        </p:txBody>
      </p:sp>
      <p:sp>
        <p:nvSpPr>
          <p:cNvPr id="102" name="page published"/>
          <p:cNvSpPr/>
          <p:nvPr/>
        </p:nvSpPr>
        <p:spPr>
          <a:xfrm>
            <a:off x="10067544" y="3520440"/>
            <a:ext cx="438912" cy="310896"/>
          </a:xfrm>
          <a:prstGeom prst="roundRect">
            <a:avLst>
              <a:gd name="adj" fmla="val 23529"/>
            </a:avLst>
          </a:prstGeom>
          <a:solidFill>
            <a:srgbClr val="4472C4"/>
          </a:solidFill>
          <a:ln w="12700">
            <a:solidFill>
              <a:srgbClr val="4472C4"/>
            </a:solidFill>
            <a:prstDash val="solid"/>
          </a:ln>
        </p:spPr>
      </p:sp>
      <p:sp>
        <p:nvSpPr>
          <p:cNvPr id="103" name="Text 101"/>
          <p:cNvSpPr txBox="1"/>
          <p:nvPr/>
        </p:nvSpPr>
        <p:spPr>
          <a:xfrm>
            <a:off x="10067544" y="35204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21</a:t>
            </a:r>
            <a:endParaRPr lang="en-US" sz="1400" dirty="0"/>
          </a:p>
        </p:txBody>
      </p:sp>
      <p:sp>
        <p:nvSpPr>
          <p:cNvPr id="104" name="page related"/>
          <p:cNvSpPr/>
          <p:nvPr/>
        </p:nvSpPr>
        <p:spPr>
          <a:xfrm>
            <a:off x="10570464" y="3520440"/>
            <a:ext cx="438912" cy="310896"/>
          </a:xfrm>
          <a:prstGeom prst="roundRect">
            <a:avLst>
              <a:gd name="adj" fmla="val 23529"/>
            </a:avLst>
          </a:prstGeom>
          <a:solidFill>
            <a:srgbClr val="4472C4"/>
          </a:solidFill>
          <a:ln w="12700">
            <a:solidFill>
              <a:srgbClr val="4472C4"/>
            </a:solidFill>
            <a:prstDash val="solid"/>
          </a:ln>
        </p:spPr>
      </p:sp>
      <p:sp>
        <p:nvSpPr>
          <p:cNvPr id="105" name="Text 103"/>
          <p:cNvSpPr txBox="1"/>
          <p:nvPr/>
        </p:nvSpPr>
        <p:spPr>
          <a:xfrm>
            <a:off x="10570464" y="35204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22</a:t>
            </a:r>
            <a:endParaRPr lang="en-US" sz="1400" dirty="0"/>
          </a:p>
        </p:txBody>
      </p:sp>
      <p:sp>
        <p:nvSpPr>
          <p:cNvPr id="106" name="page reported"/>
          <p:cNvSpPr/>
          <p:nvPr/>
        </p:nvSpPr>
        <p:spPr>
          <a:xfrm>
            <a:off x="11073384" y="3520440"/>
            <a:ext cx="438912" cy="310896"/>
          </a:xfrm>
          <a:prstGeom prst="roundRect">
            <a:avLst>
              <a:gd name="adj" fmla="val 23529"/>
            </a:avLst>
          </a:prstGeom>
          <a:solidFill>
            <a:srgbClr val="4472C4"/>
          </a:solidFill>
          <a:ln w="12700">
            <a:solidFill>
              <a:srgbClr val="4472C4"/>
            </a:solidFill>
            <a:prstDash val="solid"/>
          </a:ln>
        </p:spPr>
      </p:sp>
      <p:sp>
        <p:nvSpPr>
          <p:cNvPr id="107" name="Text 105"/>
          <p:cNvSpPr txBox="1"/>
          <p:nvPr/>
        </p:nvSpPr>
        <p:spPr>
          <a:xfrm>
            <a:off x="11073384" y="35204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23</a:t>
            </a:r>
            <a:endParaRPr lang="en-US" sz="1400" dirty="0"/>
          </a:p>
        </p:txBody>
      </p:sp>
      <p:sp>
        <p:nvSpPr>
          <p:cNvPr id="108" name="box "/>
          <p:cNvSpPr/>
          <p:nvPr/>
        </p:nvSpPr>
        <p:spPr>
          <a:xfrm>
            <a:off x="6172200" y="3931920"/>
            <a:ext cx="5440680" cy="402336"/>
          </a:xfrm>
          <a:prstGeom prst="roundRect">
            <a:avLst>
              <a:gd name="adj" fmla="val 13636"/>
            </a:avLst>
          </a:prstGeom>
          <a:solidFill>
            <a:srgbClr val="F2F2F2"/>
          </a:solidFill>
          <a:ln w="9525">
            <a:solidFill>
              <a:srgbClr val="BFBFBF"/>
            </a:solidFill>
            <a:prstDash val="solid"/>
          </a:ln>
        </p:spPr>
      </p:sp>
      <p:sp>
        <p:nvSpPr>
          <p:cNvPr id="109" name="Text 107"/>
          <p:cNvSpPr txBox="1"/>
          <p:nvPr/>
        </p:nvSpPr>
        <p:spPr>
          <a:xfrm>
            <a:off x="6245352" y="39319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110" name="from slide 8"/>
          <p:cNvSpPr/>
          <p:nvPr/>
        </p:nvSpPr>
        <p:spPr>
          <a:xfrm>
            <a:off x="6245352" y="3986784"/>
            <a:ext cx="777240" cy="292608"/>
          </a:xfrm>
          <a:prstGeom prst="roundRect">
            <a:avLst>
              <a:gd name="adj" fmla="val 18750"/>
            </a:avLst>
          </a:prstGeom>
          <a:solidFill>
            <a:srgbClr val="D9D9D9"/>
          </a:solidFill>
          <a:ln w="12700">
            <a:solidFill>
              <a:srgbClr val="D9D9D9"/>
            </a:solidFill>
            <a:prstDash val="solid"/>
          </a:ln>
        </p:spPr>
      </p:sp>
      <p:sp>
        <p:nvSpPr>
          <p:cNvPr id="111" name="Text 109"/>
          <p:cNvSpPr txBox="1"/>
          <p:nvPr/>
        </p:nvSpPr>
        <p:spPr>
          <a:xfrm>
            <a:off x="6245352" y="39867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8</a:t>
            </a:r>
            <a:endParaRPr lang="en-US" sz="1400" dirty="0"/>
          </a:p>
        </p:txBody>
      </p:sp>
      <p:sp>
        <p:nvSpPr>
          <p:cNvPr id="112" name="Text 110"/>
          <p:cNvSpPr txBox="1"/>
          <p:nvPr/>
        </p:nvSpPr>
        <p:spPr>
          <a:xfrm>
            <a:off x="7132320" y="39319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Why not majority voting?</a:t>
            </a:r>
            <a:endParaRPr lang="en-US" sz="1400" dirty="0"/>
          </a:p>
        </p:txBody>
      </p:sp>
      <p:sp>
        <p:nvSpPr>
          <p:cNvPr id="113" name="page vote"/>
          <p:cNvSpPr/>
          <p:nvPr/>
        </p:nvSpPr>
        <p:spPr>
          <a:xfrm>
            <a:off x="11073384" y="3977640"/>
            <a:ext cx="438912" cy="310896"/>
          </a:xfrm>
          <a:prstGeom prst="roundRect">
            <a:avLst>
              <a:gd name="adj" fmla="val 23529"/>
            </a:avLst>
          </a:prstGeom>
          <a:solidFill>
            <a:srgbClr val="4472C4"/>
          </a:solidFill>
          <a:ln w="12700">
            <a:solidFill>
              <a:srgbClr val="4472C4"/>
            </a:solidFill>
            <a:prstDash val="solid"/>
          </a:ln>
        </p:spPr>
      </p:sp>
      <p:sp>
        <p:nvSpPr>
          <p:cNvPr id="114" name="Text 112"/>
          <p:cNvSpPr txBox="1"/>
          <p:nvPr/>
        </p:nvSpPr>
        <p:spPr>
          <a:xfrm>
            <a:off x="11073384" y="39776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24</a:t>
            </a:r>
            <a:endParaRPr lang="en-US" sz="1400" dirty="0"/>
          </a:p>
        </p:txBody>
      </p:sp>
      <p:sp>
        <p:nvSpPr>
          <p:cNvPr id="115" name="box "/>
          <p:cNvSpPr/>
          <p:nvPr/>
        </p:nvSpPr>
        <p:spPr>
          <a:xfrm>
            <a:off x="6172200" y="4389120"/>
            <a:ext cx="5440680" cy="402336"/>
          </a:xfrm>
          <a:prstGeom prst="roundRect">
            <a:avLst>
              <a:gd name="adj" fmla="val 13636"/>
            </a:avLst>
          </a:prstGeom>
          <a:solidFill>
            <a:srgbClr val="F2F2F2"/>
          </a:solidFill>
          <a:ln w="9525">
            <a:solidFill>
              <a:srgbClr val="BFBFBF"/>
            </a:solidFill>
            <a:prstDash val="solid"/>
          </a:ln>
        </p:spPr>
      </p:sp>
      <p:sp>
        <p:nvSpPr>
          <p:cNvPr id="116" name="Text 114"/>
          <p:cNvSpPr txBox="1"/>
          <p:nvPr/>
        </p:nvSpPr>
        <p:spPr>
          <a:xfrm>
            <a:off x="6245352" y="43891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117" name="from slide 8"/>
          <p:cNvSpPr/>
          <p:nvPr/>
        </p:nvSpPr>
        <p:spPr>
          <a:xfrm>
            <a:off x="6245352" y="4443984"/>
            <a:ext cx="777240" cy="292608"/>
          </a:xfrm>
          <a:prstGeom prst="roundRect">
            <a:avLst>
              <a:gd name="adj" fmla="val 18750"/>
            </a:avLst>
          </a:prstGeom>
          <a:solidFill>
            <a:srgbClr val="D9D9D9"/>
          </a:solidFill>
          <a:ln w="12700">
            <a:solidFill>
              <a:srgbClr val="D9D9D9"/>
            </a:solidFill>
            <a:prstDash val="solid"/>
          </a:ln>
        </p:spPr>
      </p:sp>
      <p:sp>
        <p:nvSpPr>
          <p:cNvPr id="118" name="Text 116"/>
          <p:cNvSpPr txBox="1"/>
          <p:nvPr/>
        </p:nvSpPr>
        <p:spPr>
          <a:xfrm>
            <a:off x="6245352" y="44439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8</a:t>
            </a:r>
            <a:endParaRPr lang="en-US" sz="1400" dirty="0"/>
          </a:p>
        </p:txBody>
      </p:sp>
      <p:sp>
        <p:nvSpPr>
          <p:cNvPr id="119" name="Text 117"/>
          <p:cNvSpPr txBox="1"/>
          <p:nvPr/>
        </p:nvSpPr>
        <p:spPr>
          <a:xfrm>
            <a:off x="7132320" y="4389120"/>
            <a:ext cx="3383280" cy="402336"/>
          </a:xfrm>
          <a:prstGeom prst="rect">
            <a:avLst/>
          </a:prstGeom>
          <a:noFill/>
          <a:ln/>
        </p:spPr>
        <p:txBody>
          <a:bodyPr wrap="square" lIns="0" tIns="0" rIns="0" bIns="0" rtlCol="0" anchor="ctr"/>
          <a:lstStyle/>
          <a:p>
            <a:pPr indent="0" marL="0">
              <a:buNone/>
            </a:pPr>
            <a:r>
              <a:rPr lang="en-US" sz="1400" dirty="0">
                <a:solidFill>
                  <a:schemeClr val="tx1"/>
                </a:solidFill>
              </a:rPr>
              <a:t>Is the comparison fair?</a:t>
            </a:r>
            <a:endParaRPr lang="en-US" sz="1400" dirty="0"/>
          </a:p>
        </p:txBody>
      </p:sp>
      <p:sp>
        <p:nvSpPr>
          <p:cNvPr id="120" name="page fair"/>
          <p:cNvSpPr/>
          <p:nvPr/>
        </p:nvSpPr>
        <p:spPr>
          <a:xfrm>
            <a:off x="10570464" y="4434840"/>
            <a:ext cx="438912" cy="310896"/>
          </a:xfrm>
          <a:prstGeom prst="roundRect">
            <a:avLst>
              <a:gd name="adj" fmla="val 23529"/>
            </a:avLst>
          </a:prstGeom>
          <a:solidFill>
            <a:srgbClr val="4472C4"/>
          </a:solidFill>
          <a:ln w="12700">
            <a:solidFill>
              <a:srgbClr val="4472C4"/>
            </a:solidFill>
            <a:prstDash val="solid"/>
          </a:ln>
        </p:spPr>
      </p:sp>
      <p:sp>
        <p:nvSpPr>
          <p:cNvPr id="121" name="Text 119"/>
          <p:cNvSpPr txBox="1"/>
          <p:nvPr/>
        </p:nvSpPr>
        <p:spPr>
          <a:xfrm>
            <a:off x="10570464" y="44348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25</a:t>
            </a:r>
            <a:endParaRPr lang="en-US" sz="1400" dirty="0"/>
          </a:p>
        </p:txBody>
      </p:sp>
      <p:sp>
        <p:nvSpPr>
          <p:cNvPr id="122" name="page setup"/>
          <p:cNvSpPr/>
          <p:nvPr/>
        </p:nvSpPr>
        <p:spPr>
          <a:xfrm>
            <a:off x="11073384" y="4434840"/>
            <a:ext cx="438912" cy="310896"/>
          </a:xfrm>
          <a:prstGeom prst="roundRect">
            <a:avLst>
              <a:gd name="adj" fmla="val 23529"/>
            </a:avLst>
          </a:prstGeom>
          <a:solidFill>
            <a:srgbClr val="4472C4"/>
          </a:solidFill>
          <a:ln w="12700">
            <a:solidFill>
              <a:srgbClr val="4472C4"/>
            </a:solidFill>
            <a:prstDash val="solid"/>
          </a:ln>
        </p:spPr>
      </p:sp>
      <p:sp>
        <p:nvSpPr>
          <p:cNvPr id="123" name="Text 121"/>
          <p:cNvSpPr txBox="1"/>
          <p:nvPr/>
        </p:nvSpPr>
        <p:spPr>
          <a:xfrm>
            <a:off x="11073384" y="44348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31</a:t>
            </a:r>
            <a:endParaRPr lang="en-US" sz="1400" dirty="0"/>
          </a:p>
        </p:txBody>
      </p:sp>
      <p:sp>
        <p:nvSpPr>
          <p:cNvPr id="124" name="box "/>
          <p:cNvSpPr/>
          <p:nvPr/>
        </p:nvSpPr>
        <p:spPr>
          <a:xfrm>
            <a:off x="6172200" y="4846320"/>
            <a:ext cx="5440680" cy="402336"/>
          </a:xfrm>
          <a:prstGeom prst="roundRect">
            <a:avLst>
              <a:gd name="adj" fmla="val 13636"/>
            </a:avLst>
          </a:prstGeom>
          <a:solidFill>
            <a:srgbClr val="F2F2F2"/>
          </a:solidFill>
          <a:ln w="9525">
            <a:solidFill>
              <a:srgbClr val="BFBFBF"/>
            </a:solidFill>
            <a:prstDash val="solid"/>
          </a:ln>
        </p:spPr>
      </p:sp>
      <p:sp>
        <p:nvSpPr>
          <p:cNvPr id="125" name="Text 123"/>
          <p:cNvSpPr txBox="1"/>
          <p:nvPr/>
        </p:nvSpPr>
        <p:spPr>
          <a:xfrm>
            <a:off x="6245352" y="48463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126" name="from slide 8"/>
          <p:cNvSpPr/>
          <p:nvPr/>
        </p:nvSpPr>
        <p:spPr>
          <a:xfrm>
            <a:off x="6245352" y="4901184"/>
            <a:ext cx="777240" cy="292608"/>
          </a:xfrm>
          <a:prstGeom prst="roundRect">
            <a:avLst>
              <a:gd name="adj" fmla="val 18750"/>
            </a:avLst>
          </a:prstGeom>
          <a:solidFill>
            <a:srgbClr val="D9D9D9"/>
          </a:solidFill>
          <a:ln w="12700">
            <a:solidFill>
              <a:srgbClr val="D9D9D9"/>
            </a:solidFill>
            <a:prstDash val="solid"/>
          </a:ln>
        </p:spPr>
      </p:sp>
      <p:sp>
        <p:nvSpPr>
          <p:cNvPr id="127" name="Text 125"/>
          <p:cNvSpPr txBox="1"/>
          <p:nvPr/>
        </p:nvSpPr>
        <p:spPr>
          <a:xfrm>
            <a:off x="6245352" y="49011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8</a:t>
            </a:r>
            <a:endParaRPr lang="en-US" sz="1400" dirty="0"/>
          </a:p>
        </p:txBody>
      </p:sp>
      <p:sp>
        <p:nvSpPr>
          <p:cNvPr id="128" name="Text 126"/>
          <p:cNvSpPr txBox="1"/>
          <p:nvPr/>
        </p:nvSpPr>
        <p:spPr>
          <a:xfrm>
            <a:off x="7132320" y="4846320"/>
            <a:ext cx="3886200" cy="402336"/>
          </a:xfrm>
          <a:prstGeom prst="rect">
            <a:avLst/>
          </a:prstGeom>
          <a:noFill/>
          <a:ln/>
        </p:spPr>
        <p:txBody>
          <a:bodyPr wrap="square" lIns="0" tIns="0" rIns="0" bIns="0" rtlCol="0" anchor="ctr"/>
          <a:lstStyle/>
          <a:p>
            <a:pPr indent="0" marL="0">
              <a:buNone/>
            </a:pPr>
            <a:r>
              <a:rPr lang="en-US" sz="1400" dirty="0">
                <a:solidFill>
                  <a:schemeClr val="tx1"/>
                </a:solidFill>
              </a:rPr>
              <a:t>Does it hold for smaller models?</a:t>
            </a:r>
            <a:endParaRPr lang="en-US" sz="1400" dirty="0"/>
          </a:p>
        </p:txBody>
      </p:sp>
      <p:sp>
        <p:nvSpPr>
          <p:cNvPr id="129" name="page small"/>
          <p:cNvSpPr/>
          <p:nvPr/>
        </p:nvSpPr>
        <p:spPr>
          <a:xfrm>
            <a:off x="11073384" y="4892040"/>
            <a:ext cx="438912" cy="310896"/>
          </a:xfrm>
          <a:prstGeom prst="roundRect">
            <a:avLst>
              <a:gd name="adj" fmla="val 23529"/>
            </a:avLst>
          </a:prstGeom>
          <a:solidFill>
            <a:srgbClr val="4472C4"/>
          </a:solidFill>
          <a:ln w="12700">
            <a:solidFill>
              <a:srgbClr val="4472C4"/>
            </a:solidFill>
            <a:prstDash val="solid"/>
          </a:ln>
        </p:spPr>
      </p:sp>
      <p:sp>
        <p:nvSpPr>
          <p:cNvPr id="130" name="Text 128"/>
          <p:cNvSpPr txBox="1"/>
          <p:nvPr/>
        </p:nvSpPr>
        <p:spPr>
          <a:xfrm>
            <a:off x="11073384" y="48920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26</a:t>
            </a:r>
            <a:endParaRPr lang="en-US" sz="1400" dirty="0"/>
          </a:p>
        </p:txBody>
      </p:sp>
      <p:sp>
        <p:nvSpPr>
          <p:cNvPr id="131" name="Text 129"/>
          <p:cNvSpPr txBox="1"/>
          <p:nvPr/>
        </p:nvSpPr>
        <p:spPr>
          <a:xfrm>
            <a:off x="548640" y="5806440"/>
            <a:ext cx="11064240" cy="365760"/>
          </a:xfrm>
          <a:prstGeom prst="rect">
            <a:avLst/>
          </a:prstGeom>
          <a:noFill/>
          <a:ln/>
        </p:spPr>
        <p:txBody>
          <a:bodyPr wrap="square" lIns="0" tIns="0" rIns="0" bIns="0" rtlCol="0" anchor="ctr"/>
          <a:lstStyle/>
          <a:p>
            <a:pPr indent="0" marL="0">
              <a:buNone/>
            </a:pPr>
            <a:r>
              <a:rPr lang="en-US" sz="1500" dirty="0">
                <a:solidFill>
                  <a:schemeClr val="tx2"/>
                </a:solidFill>
              </a:rPr>
              <a:t>Also: 27 all policies, cost vs accuracy</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all five kinds?</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1828800"/>
                <a:gridCol w="1828800"/>
                <a:gridCol w="1828800"/>
                <a:gridCol w="1828800"/>
                <a:gridCol w="1828800"/>
              </a:tblGrid>
              <a:tr h="365760">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Math and 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685800">
                <a:tc>
                  <a:txBody>
                    <a:bodyPr/>
                    <a:lstStyle/>
                    <a:p>
                      <a:pPr indent="0" marL="0">
                        <a:buNone/>
                      </a:pPr>
                      <a:r>
                        <a:rPr lang="en-US" sz="1300" b="1" dirty="0">
                          <a:solidFill>
                            <a:schemeClr val="tx1"/>
                          </a:solidFill>
                        </a:rPr>
                        <a:t>A program, not words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 8 of 8 copies right vs 1 of 8</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8C8C8C"/>
                          </a:solidFill>
                        </a:rPr>
                        <a:t>– a program by design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8C8C8C"/>
                          </a:solidFill>
                        </a:rPr>
                        <a:t>– a program by design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8C8C8C"/>
                          </a:solidFill>
                        </a:rPr>
                        <a:t>– a program by design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C00000"/>
                          </a:solidFill>
                        </a:rPr>
                        <a:t>✗ words as good (98% vs 87%); the program as a second opinion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85800">
                <a:tc>
                  <a:txBody>
                    <a:bodyPr/>
                    <a:lstStyle/>
                    <a:p>
                      <a:pPr indent="0" marL="0">
                        <a:buNone/>
                      </a:pPr>
                      <a:r>
                        <a:rPr lang="en-US" sz="1300" b="1" dirty="0">
                          <a:solidFill>
                            <a:schemeClr val="tx1"/>
                          </a:solidFill>
                        </a:rPr>
                        <a:t>Give the fact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 only the needed tools: 92% vs 75%</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8C8C8C"/>
                          </a:solidFill>
                        </a:rPr>
                        <a:t>– not tested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 23% → 77–90%; 6% → 100% valid plans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 65% → 72%; small models +44 points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C00000"/>
                          </a:solidFill>
                        </a:rPr>
                        <a:t>✗ no fact helps 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85800">
                <a:tc>
                  <a:txBody>
                    <a:bodyPr/>
                    <a:lstStyle/>
                    <a:p>
                      <a:pPr indent="0" marL="0">
                        <a:buNone/>
                      </a:pPr>
                      <a:r>
                        <a:rPr lang="en-US" sz="1300" b="1" dirty="0">
                          <a:solidFill>
                            <a:schemeClr val="tx1"/>
                          </a:solidFill>
                        </a:rPr>
                        <a:t>Free check, think on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 99% @ 4.3k vs 98% @ 5.9k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 66.3% @ 24.7k vs 66.2% @ 30.1k (examples + brute force)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 part of the 87% below</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 beats always thinking at 12–22% of its tokens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C55A11"/>
                          </a:solidFill>
                        </a:rPr>
                        <a:t>~ MATH-500: same accuracy at 77% of the tokens; AIME: costs more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85800">
                <a:tc>
                  <a:txBody>
                    <a:bodyPr/>
                    <a:lstStyle/>
                    <a:p>
                      <a:pPr indent="0" marL="0">
                        <a:buNone/>
                      </a:pPr>
                      <a:r>
                        <a:rPr lang="en-US" sz="1300" b="1" dirty="0">
                          <a:solidFill>
                            <a:schemeClr val="tx1"/>
                          </a:solidFill>
                        </a:rPr>
                        <a:t>Whole recipe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 87% @ 2.5k vs 74% @ 4.1k, with routing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C55A11"/>
                          </a:solidFill>
                        </a:rPr>
                        <a:t>~ check and think only (no fact)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 87% @ 2.5k vs 74% @ 4.1k, with 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 held-out MAMO: automatic fact = hand-written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C00000"/>
                          </a:solidFill>
                        </a:rPr>
                        <a:t>✗ proofs need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300" b="1" dirty="0">
                          <a:solidFill>
                            <a:schemeClr val="tx1"/>
                          </a:solidFill>
                        </a:rPr>
                        <a:t>Reuse a checked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8C8C8C"/>
                          </a:solidFill>
                        </a:rPr>
                        <a:t>– not tested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8C8C8C"/>
                          </a:solidFill>
                        </a:rPr>
                        <a:t>– not tested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 94% vs 7% of days valid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8C8C8C"/>
                          </a:solidFill>
                        </a:rPr>
                        <a:t>– not tested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8C8C8C"/>
                          </a:solidFill>
                        </a:rPr>
                        <a:t>– not tested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does not help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recipe is shown on geometry, routing and word problems; proofs need a different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a program always better than words?</a:t>
            </a:r>
            <a:endParaRPr lang="en-US" sz="3600" dirty="0"/>
          </a:p>
        </p:txBody>
      </p:sp>
      <p:sp>
        <p:nvSpPr>
          <p:cNvPr id="3" name="words vs program Computing an answer"/>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sp>
        <p:nvSpPr>
          <p:cNvPr id="4" name="Text 2"/>
          <p:cNvSpPr txBox="1"/>
          <p:nvPr/>
        </p:nvSpPr>
        <p:spPr>
          <a:xfrm>
            <a:off x="777240" y="1371600"/>
            <a:ext cx="3108960" cy="457200"/>
          </a:xfrm>
          <a:prstGeom prst="rect">
            <a:avLst/>
          </a:prstGeom>
          <a:noFill/>
          <a:ln/>
        </p:spPr>
        <p:txBody>
          <a:bodyPr wrap="square" lIns="0" tIns="0" rIns="0" bIns="0" rtlCol="0" anchor="ctr"/>
          <a:lstStyle/>
          <a:p>
            <a:pPr indent="0" marL="0">
              <a:buNone/>
            </a:pPr>
            <a:r>
              <a:rPr lang="en-US" sz="1900" b="1" dirty="0">
                <a:solidFill>
                  <a:srgbClr val="4472C4"/>
                </a:solidFill>
              </a:rPr>
              <a:t>Computing an answer</a:t>
            </a:r>
            <a:endParaRPr lang="en-US" sz="1900" dirty="0"/>
          </a:p>
        </p:txBody>
      </p:sp>
      <p:sp>
        <p:nvSpPr>
          <p:cNvPr id="5" name="Text 3"/>
          <p:cNvSpPr txBox="1"/>
          <p:nvPr/>
        </p:nvSpPr>
        <p:spPr>
          <a:xfrm>
            <a:off x="777240" y="1828800"/>
            <a:ext cx="3108960" cy="640080"/>
          </a:xfrm>
          <a:prstGeom prst="rect">
            <a:avLst/>
          </a:prstGeom>
          <a:noFill/>
          <a:ln/>
        </p:spPr>
        <p:txBody>
          <a:bodyPr wrap="square" lIns="0" tIns="0" rIns="0" bIns="0" rtlCol="0" anchor="t"/>
          <a:lstStyle/>
          <a:p>
            <a:pPr indent="0" marL="0">
              <a:buNone/>
            </a:pPr>
            <a:r>
              <a:rPr lang="en-US" sz="1500" dirty="0">
                <a:solidFill>
                  <a:schemeClr val="tx1"/>
                </a:solidFill>
              </a:rPr>
              <a:t>twice the area of one shape, 8 copies (Qwen3-8B)</a:t>
            </a:r>
            <a:endParaRPr lang="en-US" sz="1500" dirty="0"/>
          </a:p>
        </p:txBody>
      </p:sp>
      <p:sp>
        <p:nvSpPr>
          <p:cNvPr id="6" name="Text 4"/>
          <p:cNvSpPr txBox="1"/>
          <p:nvPr/>
        </p:nvSpPr>
        <p:spPr>
          <a:xfrm>
            <a:off x="777240" y="2606040"/>
            <a:ext cx="1463040" cy="640080"/>
          </a:xfrm>
          <a:prstGeom prst="rect">
            <a:avLst/>
          </a:prstGeom>
          <a:noFill/>
          <a:ln/>
        </p:spPr>
        <p:txBody>
          <a:bodyPr wrap="square" lIns="0" tIns="0" rIns="0" bIns="0" rtlCol="0" anchor="ctr"/>
          <a:lstStyle/>
          <a:p>
            <a:pPr indent="0" marL="0">
              <a:buNone/>
            </a:pPr>
            <a:r>
              <a:rPr lang="en-US" sz="1600" dirty="0">
                <a:solidFill>
                  <a:schemeClr val="tx1"/>
                </a:solidFill>
              </a:rPr>
              <a:t>in words</a:t>
            </a:r>
            <a:endParaRPr lang="en-US" sz="1600" dirty="0"/>
          </a:p>
        </p:txBody>
      </p:sp>
      <p:sp>
        <p:nvSpPr>
          <p:cNvPr id="7" name="Text 5"/>
          <p:cNvSpPr txBox="1"/>
          <p:nvPr/>
        </p:nvSpPr>
        <p:spPr>
          <a:xfrm>
            <a:off x="2240280" y="2606040"/>
            <a:ext cx="1691640" cy="640080"/>
          </a:xfrm>
          <a:prstGeom prst="rect">
            <a:avLst/>
          </a:prstGeom>
          <a:noFill/>
          <a:ln/>
        </p:spPr>
        <p:txBody>
          <a:bodyPr wrap="square" lIns="0" tIns="0" rIns="0" bIns="0" rtlCol="0" anchor="ctr"/>
          <a:lstStyle/>
          <a:p>
            <a:pPr indent="0" marL="0">
              <a:buNone/>
            </a:pPr>
            <a:r>
              <a:rPr lang="en-US" sz="2600" b="1" dirty="0">
                <a:solidFill>
                  <a:srgbClr val="C00000"/>
                </a:solidFill>
              </a:rPr>
              <a:t>1 of 8 right</a:t>
            </a:r>
            <a:endParaRPr lang="en-US" sz="2600" dirty="0"/>
          </a:p>
        </p:txBody>
      </p:sp>
      <p:sp>
        <p:nvSpPr>
          <p:cNvPr id="8" name="Text 6"/>
          <p:cNvSpPr txBox="1"/>
          <p:nvPr/>
        </p:nvSpPr>
        <p:spPr>
          <a:xfrm>
            <a:off x="777240" y="3383280"/>
            <a:ext cx="1463040" cy="640080"/>
          </a:xfrm>
          <a:prstGeom prst="rect">
            <a:avLst/>
          </a:prstGeom>
          <a:noFill/>
          <a:ln/>
        </p:spPr>
        <p:txBody>
          <a:bodyPr wrap="square" lIns="0" tIns="0" rIns="0" bIns="0" rtlCol="0" anchor="ctr"/>
          <a:lstStyle/>
          <a:p>
            <a:pPr indent="0" marL="0">
              <a:buNone/>
            </a:pPr>
            <a:r>
              <a:rPr lang="en-US" sz="1600" dirty="0">
                <a:solidFill>
                  <a:schemeClr val="tx1"/>
                </a:solidFill>
              </a:rPr>
              <a:t>a program</a:t>
            </a:r>
            <a:endParaRPr lang="en-US" sz="1600" dirty="0"/>
          </a:p>
        </p:txBody>
      </p:sp>
      <p:sp>
        <p:nvSpPr>
          <p:cNvPr id="9" name="Text 7"/>
          <p:cNvSpPr txBox="1"/>
          <p:nvPr/>
        </p:nvSpPr>
        <p:spPr>
          <a:xfrm>
            <a:off x="2240280" y="3383280"/>
            <a:ext cx="1691640" cy="640080"/>
          </a:xfrm>
          <a:prstGeom prst="rect">
            <a:avLst/>
          </a:prstGeom>
          <a:noFill/>
          <a:ln/>
        </p:spPr>
        <p:txBody>
          <a:bodyPr wrap="square" lIns="0" tIns="0" rIns="0" bIns="0" rtlCol="0" anchor="ctr"/>
          <a:lstStyle/>
          <a:p>
            <a:pPr indent="0" marL="0">
              <a:buNone/>
            </a:pPr>
            <a:r>
              <a:rPr lang="en-US" sz="2600" b="1" dirty="0">
                <a:solidFill>
                  <a:srgbClr val="4472C4"/>
                </a:solidFill>
              </a:rPr>
              <a:t>8 of 8 right</a:t>
            </a:r>
            <a:endParaRPr lang="en-US" sz="2600" dirty="0"/>
          </a:p>
        </p:txBody>
      </p:sp>
      <p:sp>
        <p:nvSpPr>
          <p:cNvPr id="10" name="Text 8"/>
          <p:cNvSpPr txBox="1"/>
          <p:nvPr/>
        </p:nvSpPr>
        <p:spPr>
          <a:xfrm>
            <a:off x="777240" y="4434840"/>
            <a:ext cx="3108960" cy="548640"/>
          </a:xfrm>
          <a:prstGeom prst="rect">
            <a:avLst/>
          </a:prstGeom>
          <a:noFill/>
          <a:ln/>
        </p:spPr>
        <p:txBody>
          <a:bodyPr wrap="square" lIns="0" tIns="0" rIns="0" bIns="0" rtlCol="0" anchor="ctr"/>
          <a:lstStyle/>
          <a:p>
            <a:pPr indent="0" marL="0">
              <a:buNone/>
            </a:pPr>
            <a:r>
              <a:rPr lang="en-US" sz="1700" b="1" dirty="0">
                <a:solidFill>
                  <a:schemeClr val="tx1"/>
                </a:solidFill>
              </a:rPr>
              <a:t>→ write a program</a:t>
            </a:r>
            <a:endParaRPr lang="en-US" sz="1700" dirty="0"/>
          </a:p>
        </p:txBody>
      </p:sp>
      <p:sp>
        <p:nvSpPr>
          <p:cNvPr id="11" name="words vs program Short-answer contest math"/>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sp>
        <p:nvSpPr>
          <p:cNvPr id="12" name="Text 10"/>
          <p:cNvSpPr txBox="1"/>
          <p:nvPr/>
        </p:nvSpPr>
        <p:spPr>
          <a:xfrm>
            <a:off x="4526280" y="1371600"/>
            <a:ext cx="3108960" cy="457200"/>
          </a:xfrm>
          <a:prstGeom prst="rect">
            <a:avLst/>
          </a:prstGeom>
          <a:noFill/>
          <a:ln/>
        </p:spPr>
        <p:txBody>
          <a:bodyPr wrap="square" lIns="0" tIns="0" rIns="0" bIns="0" rtlCol="0" anchor="ctr"/>
          <a:lstStyle/>
          <a:p>
            <a:pPr indent="0" marL="0">
              <a:buNone/>
            </a:pPr>
            <a:r>
              <a:rPr lang="en-US" sz="1900" b="1" dirty="0">
                <a:solidFill>
                  <a:srgbClr val="4472C4"/>
                </a:solidFill>
              </a:rPr>
              <a:t>Short-answer contest math</a:t>
            </a:r>
            <a:endParaRPr lang="en-US" sz="1900" dirty="0"/>
          </a:p>
        </p:txBody>
      </p:sp>
      <p:sp>
        <p:nvSpPr>
          <p:cNvPr id="13" name="Text 11"/>
          <p:cNvSpPr txBox="1"/>
          <p:nvPr/>
        </p:nvSpPr>
        <p:spPr>
          <a:xfrm>
            <a:off x="4526280" y="1828800"/>
            <a:ext cx="3108960" cy="640080"/>
          </a:xfrm>
          <a:prstGeom prst="rect">
            <a:avLst/>
          </a:prstGeom>
          <a:noFill/>
          <a:ln/>
        </p:spPr>
        <p:txBody>
          <a:bodyPr wrap="square" lIns="0" tIns="0" rIns="0" bIns="0" rtlCol="0" anchor="t"/>
          <a:lstStyle/>
          <a:p>
            <a:pPr indent="0" marL="0">
              <a:buNone/>
            </a:pPr>
            <a:r>
              <a:rPr lang="en-US" sz="1500" dirty="0">
                <a:solidFill>
                  <a:schemeClr val="tx1"/>
                </a:solidFill>
              </a:rPr>
              <a:t>MATH-500 (Qwen3.6)</a:t>
            </a:r>
            <a:endParaRPr lang="en-US" sz="1500" dirty="0"/>
          </a:p>
        </p:txBody>
      </p:sp>
      <p:sp>
        <p:nvSpPr>
          <p:cNvPr id="14" name="Text 12"/>
          <p:cNvSpPr txBox="1"/>
          <p:nvPr/>
        </p:nvSpPr>
        <p:spPr>
          <a:xfrm>
            <a:off x="4526280" y="2606040"/>
            <a:ext cx="1463040" cy="640080"/>
          </a:xfrm>
          <a:prstGeom prst="rect">
            <a:avLst/>
          </a:prstGeom>
          <a:noFill/>
          <a:ln/>
        </p:spPr>
        <p:txBody>
          <a:bodyPr wrap="square" lIns="0" tIns="0" rIns="0" bIns="0" rtlCol="0" anchor="ctr"/>
          <a:lstStyle/>
          <a:p>
            <a:pPr indent="0" marL="0">
              <a:buNone/>
            </a:pPr>
            <a:r>
              <a:rPr lang="en-US" sz="1600" dirty="0">
                <a:solidFill>
                  <a:schemeClr val="tx1"/>
                </a:solidFill>
              </a:rPr>
              <a:t>in words</a:t>
            </a:r>
            <a:endParaRPr lang="en-US" sz="1600" dirty="0"/>
          </a:p>
        </p:txBody>
      </p:sp>
      <p:sp>
        <p:nvSpPr>
          <p:cNvPr id="15" name="Text 13"/>
          <p:cNvSpPr txBox="1"/>
          <p:nvPr/>
        </p:nvSpPr>
        <p:spPr>
          <a:xfrm>
            <a:off x="5989320" y="2606040"/>
            <a:ext cx="1691640" cy="640080"/>
          </a:xfrm>
          <a:prstGeom prst="rect">
            <a:avLst/>
          </a:prstGeom>
          <a:noFill/>
          <a:ln/>
        </p:spPr>
        <p:txBody>
          <a:bodyPr wrap="square" lIns="0" tIns="0" rIns="0" bIns="0" rtlCol="0" anchor="ctr"/>
          <a:lstStyle/>
          <a:p>
            <a:pPr indent="0" marL="0">
              <a:buNone/>
            </a:pPr>
            <a:r>
              <a:rPr lang="en-US" sz="2600" b="1" dirty="0">
                <a:solidFill>
                  <a:srgbClr val="4472C4"/>
                </a:solidFill>
              </a:rPr>
              <a:t>98.3%</a:t>
            </a:r>
            <a:endParaRPr lang="en-US" sz="2600" dirty="0"/>
          </a:p>
        </p:txBody>
      </p:sp>
      <p:sp>
        <p:nvSpPr>
          <p:cNvPr id="16" name="Text 14"/>
          <p:cNvSpPr txBox="1"/>
          <p:nvPr/>
        </p:nvSpPr>
        <p:spPr>
          <a:xfrm>
            <a:off x="4526280" y="3383280"/>
            <a:ext cx="1463040" cy="640080"/>
          </a:xfrm>
          <a:prstGeom prst="rect">
            <a:avLst/>
          </a:prstGeom>
          <a:noFill/>
          <a:ln/>
        </p:spPr>
        <p:txBody>
          <a:bodyPr wrap="square" lIns="0" tIns="0" rIns="0" bIns="0" rtlCol="0" anchor="ctr"/>
          <a:lstStyle/>
          <a:p>
            <a:pPr indent="0" marL="0">
              <a:buNone/>
            </a:pPr>
            <a:r>
              <a:rPr lang="en-US" sz="1600" dirty="0">
                <a:solidFill>
                  <a:schemeClr val="tx1"/>
                </a:solidFill>
              </a:rPr>
              <a:t>a program</a:t>
            </a:r>
            <a:endParaRPr lang="en-US" sz="1600" dirty="0"/>
          </a:p>
        </p:txBody>
      </p:sp>
      <p:sp>
        <p:nvSpPr>
          <p:cNvPr id="17" name="Text 15"/>
          <p:cNvSpPr txBox="1"/>
          <p:nvPr/>
        </p:nvSpPr>
        <p:spPr>
          <a:xfrm>
            <a:off x="5989320" y="3383280"/>
            <a:ext cx="1691640" cy="640080"/>
          </a:xfrm>
          <a:prstGeom prst="rect">
            <a:avLst/>
          </a:prstGeom>
          <a:noFill/>
          <a:ln/>
        </p:spPr>
        <p:txBody>
          <a:bodyPr wrap="square" lIns="0" tIns="0" rIns="0" bIns="0" rtlCol="0" anchor="ctr"/>
          <a:lstStyle/>
          <a:p>
            <a:pPr indent="0" marL="0">
              <a:buNone/>
            </a:pPr>
            <a:r>
              <a:rPr lang="en-US" sz="2600" b="1" dirty="0">
                <a:solidFill>
                  <a:srgbClr val="7F7F7F"/>
                </a:solidFill>
              </a:rPr>
              <a:t>86.8%</a:t>
            </a:r>
            <a:endParaRPr lang="en-US" sz="2600" dirty="0"/>
          </a:p>
        </p:txBody>
      </p:sp>
      <p:sp>
        <p:nvSpPr>
          <p:cNvPr id="18" name="Text 16"/>
          <p:cNvSpPr txBox="1"/>
          <p:nvPr/>
        </p:nvSpPr>
        <p:spPr>
          <a:xfrm>
            <a:off x="4526280" y="4434840"/>
            <a:ext cx="3108960" cy="548640"/>
          </a:xfrm>
          <a:prstGeom prst="rect">
            <a:avLst/>
          </a:prstGeom>
          <a:noFill/>
          <a:ln/>
        </p:spPr>
        <p:txBody>
          <a:bodyPr wrap="square" lIns="0" tIns="0" rIns="0" bIns="0" rtlCol="0" anchor="ctr"/>
          <a:lstStyle/>
          <a:p>
            <a:pPr indent="0" marL="0">
              <a:buNone/>
            </a:pPr>
            <a:r>
              <a:rPr lang="en-US" sz="1700" b="1" dirty="0">
                <a:solidFill>
                  <a:schemeClr val="tx1"/>
                </a:solidFill>
              </a:rPr>
              <a:t>→ words are fine</a:t>
            </a:r>
            <a:endParaRPr lang="en-US" sz="1700" dirty="0"/>
          </a:p>
        </p:txBody>
      </p:sp>
      <p:sp>
        <p:nvSpPr>
          <p:cNvPr id="19" name="words vs program A second opinion"/>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sp>
        <p:nvSpPr>
          <p:cNvPr id="20" name="Text 18"/>
          <p:cNvSpPr txBox="1"/>
          <p:nvPr/>
        </p:nvSpPr>
        <p:spPr>
          <a:xfrm>
            <a:off x="8275320" y="1371600"/>
            <a:ext cx="3108960" cy="457200"/>
          </a:xfrm>
          <a:prstGeom prst="rect">
            <a:avLst/>
          </a:prstGeom>
          <a:noFill/>
          <a:ln/>
        </p:spPr>
        <p:txBody>
          <a:bodyPr wrap="square" lIns="0" tIns="0" rIns="0" bIns="0" rtlCol="0" anchor="ctr"/>
          <a:lstStyle/>
          <a:p>
            <a:pPr indent="0" marL="0">
              <a:buNone/>
            </a:pPr>
            <a:r>
              <a:rPr lang="en-US" sz="1900" b="1" dirty="0">
                <a:solidFill>
                  <a:srgbClr val="4472C4"/>
                </a:solidFill>
              </a:rPr>
              <a:t>A second opinion</a:t>
            </a:r>
            <a:endParaRPr lang="en-US" sz="1900" dirty="0"/>
          </a:p>
        </p:txBody>
      </p:sp>
      <p:sp>
        <p:nvSpPr>
          <p:cNvPr id="21" name="Text 19"/>
          <p:cNvSpPr txBox="1"/>
          <p:nvPr/>
        </p:nvSpPr>
        <p:spPr>
          <a:xfrm>
            <a:off x="8275320" y="1828800"/>
            <a:ext cx="3108960" cy="640080"/>
          </a:xfrm>
          <a:prstGeom prst="rect">
            <a:avLst/>
          </a:prstGeom>
          <a:noFill/>
          <a:ln/>
        </p:spPr>
        <p:txBody>
          <a:bodyPr wrap="square" lIns="0" tIns="0" rIns="0" bIns="0" rtlCol="0" anchor="t"/>
          <a:lstStyle/>
          <a:p>
            <a:pPr indent="0" marL="0">
              <a:buNone/>
            </a:pPr>
            <a:r>
              <a:rPr lang="en-US" sz="1500" dirty="0">
                <a:solidFill>
                  <a:schemeClr val="tx1"/>
                </a:solidFill>
              </a:rPr>
              <a:t>two answers agree: how often both are wrong (gpt-oss-20b)</a:t>
            </a:r>
            <a:endParaRPr lang="en-US" sz="1500" dirty="0"/>
          </a:p>
        </p:txBody>
      </p:sp>
      <p:sp>
        <p:nvSpPr>
          <p:cNvPr id="22" name="Text 20"/>
          <p:cNvSpPr txBox="1"/>
          <p:nvPr/>
        </p:nvSpPr>
        <p:spPr>
          <a:xfrm>
            <a:off x="8275320" y="2606040"/>
            <a:ext cx="1463040" cy="640080"/>
          </a:xfrm>
          <a:prstGeom prst="rect">
            <a:avLst/>
          </a:prstGeom>
          <a:noFill/>
          <a:ln/>
        </p:spPr>
        <p:txBody>
          <a:bodyPr wrap="square" lIns="0" tIns="0" rIns="0" bIns="0" rtlCol="0" anchor="ctr"/>
          <a:lstStyle/>
          <a:p>
            <a:pPr indent="0" marL="0">
              <a:buNone/>
            </a:pPr>
            <a:r>
              <a:rPr lang="en-US" sz="1600" dirty="0">
                <a:solidFill>
                  <a:schemeClr val="tx1"/>
                </a:solidFill>
              </a:rPr>
              <a:t>two in words</a:t>
            </a:r>
            <a:endParaRPr lang="en-US" sz="1600" dirty="0"/>
          </a:p>
        </p:txBody>
      </p:sp>
      <p:sp>
        <p:nvSpPr>
          <p:cNvPr id="23" name="Text 21"/>
          <p:cNvSpPr txBox="1"/>
          <p:nvPr/>
        </p:nvSpPr>
        <p:spPr>
          <a:xfrm>
            <a:off x="9738360" y="2606040"/>
            <a:ext cx="1691640" cy="640080"/>
          </a:xfrm>
          <a:prstGeom prst="rect">
            <a:avLst/>
          </a:prstGeom>
          <a:noFill/>
          <a:ln/>
        </p:spPr>
        <p:txBody>
          <a:bodyPr wrap="square" lIns="0" tIns="0" rIns="0" bIns="0" rtlCol="0" anchor="ctr"/>
          <a:lstStyle/>
          <a:p>
            <a:pPr indent="0" marL="0">
              <a:buNone/>
            </a:pPr>
            <a:r>
              <a:rPr lang="en-US" sz="2600" b="1" dirty="0">
                <a:solidFill>
                  <a:srgbClr val="7F7F7F"/>
                </a:solidFill>
              </a:rPr>
              <a:t>1.5%</a:t>
            </a:r>
            <a:endParaRPr lang="en-US" sz="2600" dirty="0"/>
          </a:p>
        </p:txBody>
      </p:sp>
      <p:sp>
        <p:nvSpPr>
          <p:cNvPr id="24" name="Text 22"/>
          <p:cNvSpPr txBox="1"/>
          <p:nvPr/>
        </p:nvSpPr>
        <p:spPr>
          <a:xfrm>
            <a:off x="8275320" y="3383280"/>
            <a:ext cx="1463040" cy="640080"/>
          </a:xfrm>
          <a:prstGeom prst="rect">
            <a:avLst/>
          </a:prstGeom>
          <a:noFill/>
          <a:ln/>
        </p:spPr>
        <p:txBody>
          <a:bodyPr wrap="square" lIns="0" tIns="0" rIns="0" bIns="0" rtlCol="0" anchor="ctr"/>
          <a:lstStyle/>
          <a:p>
            <a:pPr indent="0" marL="0">
              <a:buNone/>
            </a:pPr>
            <a:r>
              <a:rPr lang="en-US" sz="1600" dirty="0">
                <a:solidFill>
                  <a:schemeClr val="tx1"/>
                </a:solidFill>
              </a:rPr>
              <a:t>words + program</a:t>
            </a:r>
            <a:endParaRPr lang="en-US" sz="1600" dirty="0"/>
          </a:p>
        </p:txBody>
      </p:sp>
      <p:sp>
        <p:nvSpPr>
          <p:cNvPr id="25" name="Text 23"/>
          <p:cNvSpPr txBox="1"/>
          <p:nvPr/>
        </p:nvSpPr>
        <p:spPr>
          <a:xfrm>
            <a:off x="9738360" y="3383280"/>
            <a:ext cx="1691640" cy="640080"/>
          </a:xfrm>
          <a:prstGeom prst="rect">
            <a:avLst/>
          </a:prstGeom>
          <a:noFill/>
          <a:ln/>
        </p:spPr>
        <p:txBody>
          <a:bodyPr wrap="square" lIns="0" tIns="0" rIns="0" bIns="0" rtlCol="0" anchor="ctr"/>
          <a:lstStyle/>
          <a:p>
            <a:pPr indent="0" marL="0">
              <a:buNone/>
            </a:pPr>
            <a:r>
              <a:rPr lang="en-US" sz="2600" b="1" dirty="0">
                <a:solidFill>
                  <a:srgbClr val="4472C4"/>
                </a:solidFill>
              </a:rPr>
              <a:t>0.3%</a:t>
            </a:r>
            <a:endParaRPr lang="en-US" sz="2600" dirty="0"/>
          </a:p>
        </p:txBody>
      </p:sp>
      <p:sp>
        <p:nvSpPr>
          <p:cNvPr id="26" name="Text 24"/>
          <p:cNvSpPr txBox="1"/>
          <p:nvPr/>
        </p:nvSpPr>
        <p:spPr>
          <a:xfrm>
            <a:off x="8275320" y="4434840"/>
            <a:ext cx="3108960" cy="548640"/>
          </a:xfrm>
          <a:prstGeom prst="rect">
            <a:avLst/>
          </a:prstGeom>
          <a:noFill/>
          <a:ln/>
        </p:spPr>
        <p:txBody>
          <a:bodyPr wrap="square" lIns="0" tIns="0" rIns="0" bIns="0" rtlCol="0" anchor="ctr"/>
          <a:lstStyle/>
          <a:p>
            <a:pPr indent="0" marL="0">
              <a:buNone/>
            </a:pPr>
            <a:r>
              <a:rPr lang="en-US" sz="1700" b="1" dirty="0">
                <a:solidFill>
                  <a:schemeClr val="tx1"/>
                </a:solidFill>
              </a:rPr>
              <a:t>→ the program as a check</a:t>
            </a:r>
            <a:endParaRPr lang="en-US" sz="1700" dirty="0"/>
          </a:p>
        </p:txBody>
      </p:sp>
      <p:sp>
        <p:nvSpPr>
          <p:cNvPr id="27"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Write a program when the answer must be computed; elsewhere, use it as a second opinion</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fact? Isn't it the answer?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The fact for the routing problems of Finding 1: how to call OR-Tools (excerpt of the 11-line snippet)</a:t>
            </a:r>
            <a:endParaRPr lang="en-US" sz="1700" dirty="0"/>
          </a:p>
        </p:txBody>
      </p:sp>
      <p:sp>
        <p:nvSpPr>
          <p:cNvPr id="4" name="the fact, excerpt"/>
          <p:cNvSpPr/>
          <p:nvPr/>
        </p:nvSpPr>
        <p:spPr>
          <a:xfrm>
            <a:off x="548640" y="1783080"/>
            <a:ext cx="6675120" cy="3611880"/>
          </a:xfrm>
          <a:prstGeom prst="rect">
            <a:avLst/>
          </a:prstGeom>
          <a:solidFill>
            <a:srgbClr val="F7F7F7"/>
          </a:solidFill>
          <a:ln w="9525">
            <a:solidFill>
              <a:srgbClr val="BFBFBF"/>
            </a:solidFill>
            <a:prstDash val="solid"/>
          </a:ln>
        </p:spPr>
      </p:sp>
      <p:sp>
        <p:nvSpPr>
          <p:cNvPr id="5" name="Text 3"/>
          <p:cNvSpPr txBox="1"/>
          <p:nvPr/>
        </p:nvSpPr>
        <p:spPr>
          <a:xfrm>
            <a:off x="731520" y="1874520"/>
            <a:ext cx="6400800" cy="342900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mgr = pywrapcp.RoutingIndexManager(n + 1, K, 0)</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 = pywrapcp.RoutingModel(mgr)</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cb = r.RegisterTransitCallback(cost)</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r.SetArcCostEvaluatorOfAllVehicles(cb)</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dcb = r.RegisterUnaryTransitCallback(demand)</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r.AddDimensionWithVehicleCapacity(dcb, 0, [Q] * K,</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                 True, "Load")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p.first_solution_strategy = ...PATH_CHEAPEST_ARC</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sol = r.SolveWithParameters(p)</a:t>
            </a:r>
            <a:endParaRPr lang="en-US" sz="1400" dirty="0"/>
          </a:p>
          <a:p>
            <a:pPr indent="0" marL="0">
              <a:buNone/>
            </a:pPr>
            <a:r>
              <a:rPr lang="en-US" sz="1400" dirty="0">
                <a:solidFill>
                  <a:srgbClr val="7F7F7F"/>
                </a:solidFill>
                <a:latin typeface="Courier New" pitchFamily="34" charset="0"/>
                <a:ea typeface="Courier New" pitchFamily="34" charset="-122"/>
                <a:cs typeface="Courier New" pitchFamily="34" charset="-120"/>
              </a:rPr>
              <a:t>...  (11 lines in all)</a:t>
            </a:r>
            <a:endParaRPr lang="en-US" sz="1400" dirty="0"/>
          </a:p>
        </p:txBody>
      </p:sp>
      <p:sp>
        <p:nvSpPr>
          <p:cNvPr id="6" name="Text 4"/>
          <p:cNvSpPr txBox="1"/>
          <p:nvPr/>
        </p:nvSpPr>
        <p:spPr>
          <a:xfrm>
            <a:off x="7498080" y="178308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7" name="Text 5"/>
          <p:cNvSpPr txBox="1"/>
          <p:nvPr/>
        </p:nvSpPr>
        <p:spPr>
          <a:xfrm>
            <a:off x="7818120" y="1783080"/>
            <a:ext cx="3794760" cy="457200"/>
          </a:xfrm>
          <a:prstGeom prst="rect">
            <a:avLst/>
          </a:prstGeom>
          <a:noFill/>
          <a:ln/>
        </p:spPr>
        <p:txBody>
          <a:bodyPr wrap="square" lIns="0" tIns="0" rIns="0" bIns="0" rtlCol="0" anchor="ctr"/>
          <a:lstStyle/>
          <a:p>
            <a:pPr indent="0" marL="0">
              <a:buNone/>
            </a:pPr>
            <a:r>
              <a:rPr lang="en-US" sz="1500" dirty="0">
                <a:solidFill>
                  <a:schemeClr val="tx1"/>
                </a:solidFill>
              </a:rPr>
              <a:t>how to call the library: names and arguments</a:t>
            </a:r>
            <a:endParaRPr lang="en-US" sz="1500" dirty="0"/>
          </a:p>
        </p:txBody>
      </p:sp>
      <p:sp>
        <p:nvSpPr>
          <p:cNvPr id="8" name="Text 6"/>
          <p:cNvSpPr txBox="1"/>
          <p:nvPr/>
        </p:nvSpPr>
        <p:spPr>
          <a:xfrm>
            <a:off x="7498080" y="228600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7818120" y="2286000"/>
            <a:ext cx="3794760" cy="457200"/>
          </a:xfrm>
          <a:prstGeom prst="rect">
            <a:avLst/>
          </a:prstGeom>
          <a:noFill/>
          <a:ln/>
        </p:spPr>
        <p:txBody>
          <a:bodyPr wrap="square" lIns="0" tIns="0" rIns="0" bIns="0" rtlCol="0" anchor="ctr"/>
          <a:lstStyle/>
          <a:p>
            <a:pPr indent="0" marL="0">
              <a:buNone/>
            </a:pPr>
            <a:r>
              <a:rPr lang="en-US" sz="1500" dirty="0">
                <a:solidFill>
                  <a:schemeClr val="tx1"/>
                </a:solidFill>
              </a:rPr>
              <a:t>the same text for all 30 problems of this kind</a:t>
            </a:r>
            <a:endParaRPr lang="en-US" sz="1500" dirty="0"/>
          </a:p>
        </p:txBody>
      </p:sp>
      <p:sp>
        <p:nvSpPr>
          <p:cNvPr id="10" name="Text 8"/>
          <p:cNvSpPr txBox="1"/>
          <p:nvPr/>
        </p:nvSpPr>
        <p:spPr>
          <a:xfrm>
            <a:off x="7498080" y="2788920"/>
            <a:ext cx="32004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1" name="Text 9"/>
          <p:cNvSpPr txBox="1"/>
          <p:nvPr/>
        </p:nvSpPr>
        <p:spPr>
          <a:xfrm>
            <a:off x="7818120" y="2788920"/>
            <a:ext cx="3794760" cy="457200"/>
          </a:xfrm>
          <a:prstGeom prst="rect">
            <a:avLst/>
          </a:prstGeom>
          <a:noFill/>
          <a:ln/>
        </p:spPr>
        <p:txBody>
          <a:bodyPr wrap="square" lIns="0" tIns="0" rIns="0" bIns="0" rtlCol="0" anchor="ctr"/>
          <a:lstStyle/>
          <a:p>
            <a:pPr indent="0" marL="0">
              <a:buNone/>
            </a:pPr>
            <a:r>
              <a:rPr lang="en-US" sz="1500" dirty="0">
                <a:solidFill>
                  <a:schemeClr val="tx1"/>
                </a:solidFill>
              </a:rPr>
              <a:t>no route, no numbers, no answer</a:t>
            </a:r>
            <a:endParaRPr lang="en-US" sz="1500" dirty="0"/>
          </a:p>
        </p:txBody>
      </p:sp>
      <p:sp>
        <p:nvSpPr>
          <p:cNvPr id="12" name="why the sheet hurts"/>
          <p:cNvSpPr/>
          <p:nvPr/>
        </p:nvSpPr>
        <p:spPr>
          <a:xfrm>
            <a:off x="7498080" y="3429000"/>
            <a:ext cx="4114800" cy="1965960"/>
          </a:xfrm>
          <a:prstGeom prst="roundRect">
            <a:avLst>
              <a:gd name="adj" fmla="val 3721"/>
            </a:avLst>
          </a:prstGeom>
          <a:solidFill>
            <a:srgbClr val="F2F2F2"/>
          </a:solidFill>
          <a:ln w="9525">
            <a:solidFill>
              <a:srgbClr val="D9D9D9"/>
            </a:solidFill>
            <a:prstDash val="solid"/>
          </a:ln>
        </p:spPr>
      </p:sp>
      <p:sp>
        <p:nvSpPr>
          <p:cNvPr id="13" name="Text 11"/>
          <p:cNvSpPr txBox="1"/>
          <p:nvPr/>
        </p:nvSpPr>
        <p:spPr>
          <a:xfrm>
            <a:off x="7680960" y="3520440"/>
            <a:ext cx="3749040" cy="1783080"/>
          </a:xfrm>
          <a:prstGeom prst="rect">
            <a:avLst/>
          </a:prstGeom>
          <a:noFill/>
          <a:ln/>
        </p:spPr>
        <p:txBody>
          <a:bodyPr wrap="square" lIns="0" tIns="0" rIns="0" bIns="0" rtlCol="0" anchor="t"/>
          <a:lstStyle/>
          <a:p>
            <a:pPr indent="0" marL="0">
              <a:buNone/>
            </a:pPr>
            <a:r>
              <a:rPr lang="en-US" sz="1400" b="1" dirty="0">
                <a:solidFill>
                  <a:schemeClr val="tx1"/>
                </a:solidFill>
              </a:rPr>
              <a:t>Why is a long reference sheet worse than nothing (7% vs 23%)?</a:t>
            </a:r>
            <a:endParaRPr lang="en-US" sz="1400" dirty="0"/>
          </a:p>
          <a:p>
            <a:pPr indent="0" marL="0">
              <a:buNone/>
            </a:pPr>
            <a:r>
              <a:rPr lang="en-US" sz="1400" dirty="0">
                <a:solidFill>
                  <a:schemeClr val="tx1"/>
                </a:solidFill>
              </a:rPr>
              <a:t>It shows routing, but not the capacity rule. The model fills the gap with a call that does not exist (10 programs: RegisterUnaryLongLivingCallback).</a:t>
            </a:r>
            <a:endParaRPr lang="en-US" sz="1400" dirty="0"/>
          </a:p>
        </p:txBody>
      </p:sp>
      <p:sp>
        <p:nvSpPr>
          <p:cNvPr id="14" name="Text 1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fact says how to call the library, not how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fact?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(seed 1)</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fact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fact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fact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fact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fact (page 19).</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fact;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fact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fact,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fact,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fact,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fact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a fact the model lacks; given the fact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seed):</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585216">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85216">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85216">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85216">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85216">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85216">
                <a:tc>
                  <a:txBody>
                    <a:bodyPr/>
                    <a:lstStyle/>
                    <a:p>
                      <a:pPr indent="0" marL="0">
                        <a:buNone/>
                      </a:pPr>
                      <a:r>
                        <a:rPr lang="en-US" sz="1500" dirty="0">
                          <a:solidFill>
                            <a:schemeClr val="tx1"/>
                          </a:solidFill>
                        </a:rPr>
                        <a:t>Competition math</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text answer and the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when they agree, 0.3% are wrong (gpt-oss-20b)</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85216">
                <a:tc>
                  <a:txBody>
                    <a:bodyPr/>
                    <a:lstStyle/>
                    <a:p>
                      <a:pPr indent="0" marL="0">
                        <a:buNone/>
                      </a:pPr>
                      <a:r>
                        <a:rPr lang="en-US" sz="1500" dirty="0">
                          <a:solidFill>
                            <a:schemeClr val="tx1"/>
                          </a:solidFill>
                        </a:rPr>
                        <a:t>Proofs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Lean checks every step</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 perfect check; writing the proof is the hard part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seeds)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fact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fact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65760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competition math (MATH-500)</a:t>
            </a:r>
            <a:endParaRPr lang="en-US" sz="1600" dirty="0"/>
          </a:p>
        </p:txBody>
      </p:sp>
      <p:sp>
        <p:nvSpPr>
          <p:cNvPr id="38" name="Text 36"/>
          <p:cNvSpPr txBox="1"/>
          <p:nvPr/>
        </p:nvSpPr>
        <p:spPr>
          <a:xfrm>
            <a:off x="8686800" y="402336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9" name="Text 37"/>
          <p:cNvSpPr txBox="1"/>
          <p:nvPr/>
        </p:nvSpPr>
        <p:spPr>
          <a:xfrm>
            <a:off x="9601200" y="402336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0" name="Text 38"/>
          <p:cNvSpPr txBox="1"/>
          <p:nvPr/>
        </p:nvSpPr>
        <p:spPr>
          <a:xfrm>
            <a:off x="6400800" y="438912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text answers</a:t>
            </a:r>
            <a:endParaRPr lang="en-US" sz="1500" dirty="0"/>
          </a:p>
        </p:txBody>
      </p:sp>
      <p:sp>
        <p:nvSpPr>
          <p:cNvPr id="41" name="Text 39"/>
          <p:cNvSpPr txBox="1"/>
          <p:nvPr/>
        </p:nvSpPr>
        <p:spPr>
          <a:xfrm>
            <a:off x="8686800" y="438912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89.2%</a:t>
            </a:r>
            <a:endParaRPr lang="en-US" sz="1700" dirty="0"/>
          </a:p>
        </p:txBody>
      </p:sp>
      <p:sp>
        <p:nvSpPr>
          <p:cNvPr id="42" name="tokens vote of 3 text answers"/>
          <p:cNvSpPr/>
          <p:nvPr/>
        </p:nvSpPr>
        <p:spPr>
          <a:xfrm>
            <a:off x="9601200" y="4489704"/>
            <a:ext cx="147475" cy="256032"/>
          </a:xfrm>
          <a:prstGeom prst="rect">
            <a:avLst/>
          </a:prstGeom>
          <a:solidFill>
            <a:srgbClr val="7F7F7F"/>
          </a:solidFill>
          <a:ln w="6350">
            <a:solidFill>
              <a:srgbClr val="7F7F7F"/>
            </a:solidFill>
            <a:prstDash val="solid"/>
          </a:ln>
        </p:spPr>
      </p:sp>
      <p:sp>
        <p:nvSpPr>
          <p:cNvPr id="43" name="Text 41"/>
          <p:cNvSpPr txBox="1"/>
          <p:nvPr/>
        </p:nvSpPr>
        <p:spPr>
          <a:xfrm>
            <a:off x="9840115" y="438912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2.3k</a:t>
            </a:r>
            <a:endParaRPr lang="en-US" sz="1500" dirty="0"/>
          </a:p>
        </p:txBody>
      </p:sp>
      <p:sp>
        <p:nvSpPr>
          <p:cNvPr id="44" name="Text 42"/>
          <p:cNvSpPr txBox="1"/>
          <p:nvPr/>
        </p:nvSpPr>
        <p:spPr>
          <a:xfrm>
            <a:off x="6400800" y="49194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text = program, else think</a:t>
            </a:r>
            <a:endParaRPr lang="en-US" sz="1500" dirty="0"/>
          </a:p>
        </p:txBody>
      </p:sp>
      <p:sp>
        <p:nvSpPr>
          <p:cNvPr id="45" name="Text 43"/>
          <p:cNvSpPr txBox="1"/>
          <p:nvPr/>
        </p:nvSpPr>
        <p:spPr>
          <a:xfrm>
            <a:off x="8686800" y="49194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97.2%</a:t>
            </a:r>
            <a:endParaRPr lang="en-US" sz="1700" dirty="0"/>
          </a:p>
        </p:txBody>
      </p:sp>
      <p:sp>
        <p:nvSpPr>
          <p:cNvPr id="46" name="tokens text = program, else think"/>
          <p:cNvSpPr/>
          <p:nvPr/>
        </p:nvSpPr>
        <p:spPr>
          <a:xfrm>
            <a:off x="9601200" y="5020056"/>
            <a:ext cx="218006" cy="256032"/>
          </a:xfrm>
          <a:prstGeom prst="rect">
            <a:avLst/>
          </a:prstGeom>
          <a:solidFill>
            <a:srgbClr val="4472C4"/>
          </a:solidFill>
          <a:ln w="6350">
            <a:solidFill>
              <a:srgbClr val="4472C4"/>
            </a:solidFill>
            <a:prstDash val="solid"/>
          </a:ln>
        </p:spPr>
      </p:sp>
      <p:sp>
        <p:nvSpPr>
          <p:cNvPr id="47" name="Text 45"/>
          <p:cNvSpPr txBox="1"/>
          <p:nvPr/>
        </p:nvSpPr>
        <p:spPr>
          <a:xfrm>
            <a:off x="9910646" y="49194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3.4k</a:t>
            </a:r>
            <a:endParaRPr lang="en-US" sz="1500" dirty="0"/>
          </a:p>
        </p:txBody>
      </p:sp>
      <p:sp>
        <p:nvSpPr>
          <p:cNvPr id="48" name="Text 4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seeds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2026-10-19T14:24:53Z</dcterms:created>
  <dcterms:modified xsi:type="dcterms:W3CDTF">2026-10-19T14:24:53Z</dcterms:modified>
</cp:coreProperties>
</file>