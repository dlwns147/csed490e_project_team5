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863868c7-7d04-ed96-d6f8-ba26627d3b16}">
          <p14:sldIdLst>
            <p14:sldId id="256"/>
            <p14:sldId id="257"/>
            <p14:sldId id="258"/>
            <p14:sldId id="259"/>
            <p14:sldId id="260"/>
            <p14:sldId id="261"/>
            <p14:sldId id="262"/>
            <p14:sldId id="263"/>
            <p14:sldId id="264"/>
          </p14:sldIdLst>
        </p14:section>
        <p14:section name="Extra pages" id="{6be392ba-d282-c24e-e049-e1f4e516e36e}">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안녕하세요, 5조입니다. LLM으로 계산 수학 문제를 정확하고 싸게 푸는 방법을 제안합니다. 질문은 하나입니다. 추가 노력을 힌트, 검사,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저희가 푸는 문제는 네 종류이고, 두 무리로 나뉩니다. 기하 계산과 Codeforces 경시 문제는 맞는 알고리즘이 필요하고, 경시 문제는 그중 어려운 쪽으로 중앙값이 Codeforces Master 수준입니다. 배송 경로와 최적화 문장제는 솔버를 맞게 부르는 법이 필요하고, 문장제는 글을 수식으로 옮기는 단계가 더 있습니다. 이 문제들을 고른 이유는 답이 정확히 하나라 코드로 채점할 수 있고, 필요한 것이 서로 달라서 추가 노력을 어디에 써야 할지 비교할 수 있기 때문입니다. 공개 모델 Qwen3와 gpt-oss로 맞힌 문제 수와 토큰 수를 함께 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LLM은 말로 답할 수도 있고, 프로그램을 짤 수도 있습니다. Qwen3-8B에게 같은 도형의 넓이의 두 배를 물었습니다. 옮기고 돌리고 뒤집어도 답은 436입니다. 말로 답하면 매번 다른 답이 나오지만, 프로그램은 네 번 모두 436입니다. 계산에는 프로그램이 맞는 도구입니다.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하지만 두 가지 문제가 있습니다. 첫째, 프로그램은 조용히 틀립니다. 같은 문제인데 프롬프트에 보조 코드만 더하면 6 대신 0을 출력하고, 에러 메시지도 없습니다. 없는 라이브러리 함수를 불러서 죽기도 합니다. 둘째, 오래 생각하면 비쌉니다. 경시 문제 311개에서 gpt-oss-120b는 오래 생각하면 57%에서 66%로 오르지만, 토큰은 4.4배를 씁니다. 그래서 질문입니다. 추가 노력을 코드 힌트, 공짜 검사, 더 많은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첫 번째 발견입니다. 매뉴얼이 아니라 짧은 힌트를 주세요. Qwen3-32B가 OR-Tools로 배송 경로 프로그램을 짭니다. 긴 참조 문서를 주면 존재하지 않는 함수를 불러서 죽고, 정확한 사용법 열한 줄을 주면 최적 경로를 찾습니다. 경로 문제 30개에서 최적해를 찾는 비율은 아무것도 안 주면 23%, 오래 생각하면 오히려 3%, 긴 참조 문서는 7%, 정확한 사용법은 77에서 90%입니다. 최적화 문장제와 기하에서도 같았습니다. 모르는 것은 생각한다고 생기지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검사 A는 문제에 적힌 예제입니다. 예제를 통과하면 바로 제출하고, 틀리면 그 문제만 더 생각합니다. 예제만 쓰면 65%로 조금 낮고, 모든 경우를 다 따져 보는 짧은 프로그램과도 답을 맞춰 보면 66%가 됩니다. 검사 B는 프로그램을 두 버전으로 짜서, 답이 다를 때만 생각합니다. 두 경우 모두 항상 생각할 때와 정확도는 같고, 토큰은 18에서 27% 적습니다. 두 검사 모두 정답이 필요 없고, 기하, 경시, 경로, 문장제에서 모두 통했습니다.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(55초) 두 발견을 합친 것이 저희 방법입니다. 실제 최적화 문제로 보겠습니다. 1단계, 모델이 없는 메서드를 불러서 죽습니다. 2단계, 힌트를 줍니다. 이 힌트는 사람이 쓴 것이 아니라, 모델이 다른 문제에서 짜서 검사를 통과한 자기 프로그램에서 자동으로 가져옵니다. 3단계, 두 버전의 답이 20000으로 같으니, 4단계 생각은 건너뜁니다. 생각만 했다면 5.3k 토큰이 들었을 문제를 0.6k로 풉니다. 5단계, 같은 종류의 새 데이터에는 검사된 프로그램을 재사용합니다. 기하와 최적화 208문제를 세 모델로 풀면, 어려워 보이는 문제에 생각을 몰아주면 74%, 저희 방법은 87%이고 토큰도 더 적습니다. 단계 아래 아이콘은 그 단계를 어디에 쓰는지입니다. 경시 문제는 라이브러리 없이 알고리즘만 짜서 힌트가 필요 없고, 검사와 생각만 씁니다. 재사용은 같은 문제가 반복되는 경로 문제에만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마지막으로 새로운 점과 다음 계획입니다. 왼쪽이 흔히 쓰는 방법, 오른쪽이 저희 방법입니다. 첫째, 기존에는 어려워 보이는 문제에 생각을 몰아주거나 언제 생각할지를 학습시키지만, 저희는 학습 없이 공짜 검사가 실패한 문제에만 생각을 써서 74%를 87%로 올리고 토큰도 줄였습니다. 둘째, 기존에는 매뉴얼이나 교사 모델이 짠 프로그램을 주지만, 저희는 모델 자신이 짜서 검사를 통과한 프로그램을 짧은 힌트로 주므로 사람도 정답도 필요 없습니다. 셋째, 특화 모델을 파인튜닝하지 않고도 24GB GPU 한 장으로 같은 69.5%를 냅니다. 다음으로는 더 많은 모델로 검증을 마치고, 실행은 되지만 문제를 잘못 수식으로 옮긴 오류를 힌트로 고칠 수 있는지 시험하고, 문제 종류마다 힌트를 찾겠습니다.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최적화 문장제용으로 파인튜닝한 ORLM-8B가 MAMO에서 69.5%인데, 학습하지 않은 Qwen3-8B도 같은 69.5%를 더 적은 토큰으로 냅니다. gpt-oss-20b는 78.8%입니다.
다음 계획. 하나, MAMO 검증을 Qwen3-32B와 Qwen3.6까지 세 시드로 마칩니다. 둘, 검사로 못 잡는 오류입니다. 지금 남은 오류의 절반쯤은 정답 라벨이 의심스러운 문제이고, 나머지는 같은 유형에서 같은 수식 실수가 반복됩니다. 예를 들어 순서 제약이나 공급 균형을 잘못 씁니다. 고치기 한 번이나 생각으로는 안 고쳐져서, 힌트 하나로 고쳐지는지 시험합니다. 셋, 지금은 같은 종류의 문제 안에서만 자동 힌트가 통하므로, 문제 종류마다 힌트를 찾고 최종 보고서와 코드를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Can retrieval (RAG) find the hint? (slide 5)
16: Why can thinking make it worse? (slide 5)
17: What if a wrong program passes the check? (slide 6)
18: Is there always a free check? (slide 6)
19: Who writes the hint? (slide 7)
20: Is 'think on the hardest' a weak baseline? (slide 7)
29: What if the same problem repeats? (slide 7)
11: Why no hint for contest problems? (slide 7)
28: Where does the recipe stop? (slide 7)
21, 22, 23: What is new vs PAL and cascades? (slide 8)
24: Why not majority voting? (slide 8)
25, 30: Is the comparison fair? (slide 8)
26: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image" Target="../media/image-7-3.png"/><Relationship Id="rId20" Type="http://schemas.openxmlformats.org/officeDocument/2006/relationships/image" Target="../media/image-7-4.png"/><Relationship Id="rId21" Type="http://schemas.openxmlformats.org/officeDocument/2006/relationships/image" Target="../media/image-7-5.png"/><Relationship Id="rId22" Type="http://schemas.openxmlformats.org/officeDocument/2006/relationships/image" Target="../media/image-7-6.png"/><Relationship Id="rId23" Type="http://schemas.openxmlformats.org/officeDocument/2006/relationships/slideLayout" Target="../slideLayouts/slideLayout3.xml"/><Relationship Id="rId2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3.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slideLayout" Target="../slideLayouts/slideLayout3.xml"/><Relationship Id="rId8"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hint,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a:t>
            </a:r>
            <a:endParaRPr lang="en-US" sz="2200" dirty="0"/>
          </a:p>
        </p:txBody>
      </p:sp>
      <p:sp>
        <p:nvSpPr>
          <p:cNvPr id="4" name="choice a missing fact"/>
          <p:cNvSpPr/>
          <p:nvPr/>
        </p:nvSpPr>
        <p:spPr>
          <a:xfrm>
            <a:off x="3145536" y="4892040"/>
            <a:ext cx="1874520" cy="502920"/>
          </a:xfrm>
          <a:prstGeom prst="roundRect">
            <a:avLst>
              <a:gd name="adj" fmla="val 36364"/>
            </a:avLst>
          </a:prstGeom>
          <a:solidFill>
            <a:srgbClr val="E2F0D9"/>
          </a:solidFill>
          <a:ln w="12700">
            <a:solidFill>
              <a:srgbClr val="38761D"/>
            </a:solidFill>
            <a:prstDash val="solid"/>
          </a:ln>
        </p:spPr>
      </p:sp>
      <p:pic>
        <p:nvPicPr>
          <p:cNvPr id="5" name="choice icon fact" descr="/NAS/SJ/POSTECH/nlp/figs/icons/fact.png">    </p:cNvPr>
          <p:cNvPicPr>
            <a:picLocks noChangeAspect="1"/>
          </p:cNvPicPr>
          <p:nvPr/>
        </p:nvPicPr>
        <p:blipFill>
          <a:blip r:embed="rId1"/>
          <a:stretch>
            <a:fillRect/>
          </a:stretch>
        </p:blipFill>
        <p:spPr>
          <a:xfrm>
            <a:off x="3255264" y="4978908"/>
            <a:ext cx="329184" cy="329184"/>
          </a:xfrm>
          <a:prstGeom prst="rect">
            <a:avLst/>
          </a:prstGeom>
        </p:spPr>
      </p:pic>
      <p:sp>
        <p:nvSpPr>
          <p:cNvPr id="6" name="Text 3"/>
          <p:cNvSpPr txBox="1"/>
          <p:nvPr/>
        </p:nvSpPr>
        <p:spPr>
          <a:xfrm>
            <a:off x="364845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 name="choice a free check"/>
          <p:cNvSpPr/>
          <p:nvPr/>
        </p:nvSpPr>
        <p:spPr>
          <a:xfrm>
            <a:off x="5157216" y="4892040"/>
            <a:ext cx="1874520" cy="502920"/>
          </a:xfrm>
          <a:prstGeom prst="roundRect">
            <a:avLst>
              <a:gd name="adj" fmla="val 36364"/>
            </a:avLst>
          </a:prstGeom>
          <a:solidFill>
            <a:srgbClr val="E2F0D9"/>
          </a:solidFill>
          <a:ln w="12700">
            <a:solidFill>
              <a:srgbClr val="38761D"/>
            </a:solidFill>
            <a:prstDash val="solid"/>
          </a:ln>
        </p:spPr>
      </p:sp>
      <p:pic>
        <p:nvPicPr>
          <p:cNvPr id="8" name="choice icon check" descr="/NAS/SJ/POSTECH/nlp/figs/icons/check.png">    </p:cNvPr>
          <p:cNvPicPr>
            <a:picLocks noChangeAspect="1"/>
          </p:cNvPicPr>
          <p:nvPr/>
        </p:nvPicPr>
        <p:blipFill>
          <a:blip r:embed="rId2"/>
          <a:stretch>
            <a:fillRect/>
          </a:stretch>
        </p:blipFill>
        <p:spPr>
          <a:xfrm>
            <a:off x="5266944" y="4978908"/>
            <a:ext cx="329184" cy="329184"/>
          </a:xfrm>
          <a:prstGeom prst="rect">
            <a:avLst/>
          </a:prstGeom>
        </p:spPr>
      </p:pic>
      <p:sp>
        <p:nvSpPr>
          <p:cNvPr id="9" name="Text 5"/>
          <p:cNvSpPr txBox="1"/>
          <p:nvPr/>
        </p:nvSpPr>
        <p:spPr>
          <a:xfrm>
            <a:off x="566013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10" name="choice more thinking"/>
          <p:cNvSpPr/>
          <p:nvPr/>
        </p:nvSpPr>
        <p:spPr>
          <a:xfrm>
            <a:off x="7168896" y="4892040"/>
            <a:ext cx="1874520" cy="502920"/>
          </a:xfrm>
          <a:prstGeom prst="roundRect">
            <a:avLst>
              <a:gd name="adj" fmla="val 36364"/>
            </a:avLst>
          </a:prstGeom>
          <a:solidFill>
            <a:srgbClr val="FADBD8"/>
          </a:solidFill>
          <a:ln w="12700">
            <a:solidFill>
              <a:srgbClr val="C00000"/>
            </a:solidFill>
            <a:prstDash val="solid"/>
          </a:ln>
        </p:spPr>
      </p:sp>
      <p:pic>
        <p:nvPicPr>
          <p:cNvPr id="11" name="choice icon brain" descr="/NAS/SJ/POSTECH/nlp/figs/icons/brain.png">    </p:cNvPr>
          <p:cNvPicPr>
            <a:picLocks noChangeAspect="1"/>
          </p:cNvPicPr>
          <p:nvPr/>
        </p:nvPicPr>
        <p:blipFill>
          <a:blip r:embed="rId3"/>
          <a:stretch>
            <a:fillRect/>
          </a:stretch>
        </p:blipFill>
        <p:spPr>
          <a:xfrm>
            <a:off x="7278624" y="4978908"/>
            <a:ext cx="329184" cy="329184"/>
          </a:xfrm>
          <a:prstGeom prst="rect">
            <a:avLst/>
          </a:prstGeom>
        </p:spPr>
      </p:pic>
      <p:sp>
        <p:nvSpPr>
          <p:cNvPr id="12" name="Text 7"/>
          <p:cNvSpPr txBox="1"/>
          <p:nvPr/>
        </p:nvSpPr>
        <p:spPr>
          <a:xfrm>
            <a:off x="7671816" y="4892040"/>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Text 4"/>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plans delivery routes with Google's OR-Tools library</a:t>
            </a:r>
            <a:endParaRPr lang="en-US" sz="1700" dirty="0"/>
          </a:p>
        </p:txBody>
      </p:sp>
      <p:sp>
        <p:nvSpPr>
          <p:cNvPr id="12" name="box a long reference she"/>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13" name="Text 6"/>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a long reference sheet</a:t>
            </a:r>
            <a:endParaRPr lang="en-US" sz="1600" dirty="0"/>
          </a:p>
        </p:txBody>
      </p:sp>
      <p:sp>
        <p:nvSpPr>
          <p:cNvPr id="14" name="Shape 7"/>
          <p:cNvSpPr/>
          <p:nvPr/>
        </p:nvSpPr>
        <p:spPr>
          <a:xfrm>
            <a:off x="3017520" y="2057400"/>
            <a:ext cx="320040" cy="0"/>
          </a:xfrm>
          <a:prstGeom prst="line">
            <a:avLst/>
          </a:prstGeom>
          <a:noFill/>
          <a:ln w="25400">
            <a:solidFill>
              <a:srgbClr val="7F7F7F"/>
            </a:solidFill>
            <a:prstDash val="solid"/>
            <a:tailEnd type="triangle"/>
          </a:ln>
        </p:spPr>
      </p:sp>
      <p:sp>
        <p:nvSpPr>
          <p:cNvPr id="15" name="code RegisterUnaryLongLiv"/>
          <p:cNvSpPr/>
          <p:nvPr/>
        </p:nvSpPr>
        <p:spPr>
          <a:xfrm>
            <a:off x="3337560" y="1783080"/>
            <a:ext cx="4480560" cy="548640"/>
          </a:xfrm>
          <a:prstGeom prst="rect">
            <a:avLst/>
          </a:prstGeom>
          <a:solidFill>
            <a:srgbClr val="FFFFFF"/>
          </a:solidFill>
          <a:ln w="9525">
            <a:solidFill>
              <a:srgbClr val="BFBFBF"/>
            </a:solidFill>
            <a:prstDash val="solid"/>
          </a:ln>
        </p:spPr>
      </p:sp>
      <p:sp>
        <p:nvSpPr>
          <p:cNvPr id="16" name="Text 9"/>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RegisterUnaryLongLivingCallback()</a:t>
            </a:r>
            <a:endParaRPr lang="en-US" sz="1500" dirty="0"/>
          </a:p>
        </p:txBody>
      </p:sp>
      <p:sp>
        <p:nvSpPr>
          <p:cNvPr id="17" name="Text 10"/>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does not exist: crash</a:t>
            </a:r>
            <a:endParaRPr lang="en-US" sz="1700" dirty="0"/>
          </a:p>
        </p:txBody>
      </p:sp>
      <p:sp>
        <p:nvSpPr>
          <p:cNvPr id="18" name="box the exact usage (11 "/>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9" name="Text 12"/>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the exact usage (11 lines)</a:t>
            </a:r>
            <a:endParaRPr lang="en-US" sz="1600" dirty="0"/>
          </a:p>
        </p:txBody>
      </p:sp>
      <p:sp>
        <p:nvSpPr>
          <p:cNvPr id="20" name="Shape 13"/>
          <p:cNvSpPr/>
          <p:nvPr/>
        </p:nvSpPr>
        <p:spPr>
          <a:xfrm>
            <a:off x="3017520" y="2788920"/>
            <a:ext cx="320040" cy="0"/>
          </a:xfrm>
          <a:prstGeom prst="line">
            <a:avLst/>
          </a:prstGeom>
          <a:noFill/>
          <a:ln w="25400">
            <a:solidFill>
              <a:srgbClr val="7F7F7F"/>
            </a:solidFill>
            <a:prstDash val="solid"/>
            <a:tailEnd type="triangle"/>
          </a:ln>
        </p:spPr>
      </p:sp>
      <p:sp>
        <p:nvSpPr>
          <p:cNvPr id="21" name="code RegisterUnaryTransit"/>
          <p:cNvSpPr/>
          <p:nvPr/>
        </p:nvSpPr>
        <p:spPr>
          <a:xfrm>
            <a:off x="3337560" y="2514600"/>
            <a:ext cx="4480560" cy="548640"/>
          </a:xfrm>
          <a:prstGeom prst="rect">
            <a:avLst/>
          </a:prstGeom>
          <a:solidFill>
            <a:srgbClr val="FFFFFF"/>
          </a:solidFill>
          <a:ln w="9525">
            <a:solidFill>
              <a:srgbClr val="BFBFBF"/>
            </a:solidFill>
            <a:prstDash val="solid"/>
          </a:ln>
        </p:spPr>
      </p:sp>
      <p:sp>
        <p:nvSpPr>
          <p:cNvPr id="22" name="Text 15"/>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RegisterUnaryTransitCallback()</a:t>
            </a:r>
            <a:endParaRPr lang="en-US" sz="1500" dirty="0"/>
          </a:p>
        </p:txBody>
      </p:sp>
      <p:sp>
        <p:nvSpPr>
          <p:cNvPr id="23" name="Text 16"/>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runs: best route</a:t>
            </a:r>
            <a:endParaRPr lang="en-US" sz="1700" dirty="0"/>
          </a:p>
        </p:txBody>
      </p:sp>
      <p:sp>
        <p:nvSpPr>
          <p:cNvPr id="24" name="Text 17"/>
          <p:cNvSpPr txBox="1"/>
          <p:nvPr/>
        </p:nvSpPr>
        <p:spPr>
          <a:xfrm>
            <a:off x="548640" y="33375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25" name="Text 18"/>
          <p:cNvSpPr txBox="1"/>
          <p:nvPr/>
        </p:nvSpPr>
        <p:spPr>
          <a:xfrm>
            <a:off x="548640" y="37490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26" name="bar nothing extra"/>
          <p:cNvSpPr/>
          <p:nvPr/>
        </p:nvSpPr>
        <p:spPr>
          <a:xfrm>
            <a:off x="3063240" y="3817620"/>
            <a:ext cx="1409090" cy="228600"/>
          </a:xfrm>
          <a:prstGeom prst="rect">
            <a:avLst/>
          </a:prstGeom>
          <a:solidFill>
            <a:srgbClr val="7F7F7F"/>
          </a:solidFill>
          <a:ln w="6350">
            <a:solidFill>
              <a:srgbClr val="7F7F7F"/>
            </a:solidFill>
            <a:prstDash val="solid"/>
          </a:ln>
        </p:spPr>
      </p:sp>
      <p:sp>
        <p:nvSpPr>
          <p:cNvPr id="27" name="Text 20"/>
          <p:cNvSpPr txBox="1"/>
          <p:nvPr/>
        </p:nvSpPr>
        <p:spPr>
          <a:xfrm>
            <a:off x="4563770" y="374904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8" name="Text 21"/>
          <p:cNvSpPr txBox="1"/>
          <p:nvPr/>
        </p:nvSpPr>
        <p:spPr>
          <a:xfrm>
            <a:off x="548640" y="42062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9" name="bar think longer"/>
          <p:cNvSpPr/>
          <p:nvPr/>
        </p:nvSpPr>
        <p:spPr>
          <a:xfrm>
            <a:off x="3063240" y="4274820"/>
            <a:ext cx="183794" cy="228600"/>
          </a:xfrm>
          <a:prstGeom prst="rect">
            <a:avLst/>
          </a:prstGeom>
          <a:solidFill>
            <a:srgbClr val="C00000"/>
          </a:solidFill>
          <a:ln w="6350">
            <a:solidFill>
              <a:srgbClr val="C00000"/>
            </a:solidFill>
            <a:prstDash val="solid"/>
          </a:ln>
        </p:spPr>
      </p:sp>
      <p:sp>
        <p:nvSpPr>
          <p:cNvPr id="30" name="Text 23"/>
          <p:cNvSpPr txBox="1"/>
          <p:nvPr/>
        </p:nvSpPr>
        <p:spPr>
          <a:xfrm>
            <a:off x="3338474" y="42062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1" name="Text 24"/>
          <p:cNvSpPr txBox="1"/>
          <p:nvPr/>
        </p:nvSpPr>
        <p:spPr>
          <a:xfrm>
            <a:off x="548640" y="46634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32" name="bar long reference sheet"/>
          <p:cNvSpPr/>
          <p:nvPr/>
        </p:nvSpPr>
        <p:spPr>
          <a:xfrm>
            <a:off x="3063240" y="4732020"/>
            <a:ext cx="428854" cy="228600"/>
          </a:xfrm>
          <a:prstGeom prst="rect">
            <a:avLst/>
          </a:prstGeom>
          <a:solidFill>
            <a:srgbClr val="C00000"/>
          </a:solidFill>
          <a:ln w="6350">
            <a:solidFill>
              <a:srgbClr val="C00000"/>
            </a:solidFill>
            <a:prstDash val="solid"/>
          </a:ln>
        </p:spPr>
      </p:sp>
      <p:sp>
        <p:nvSpPr>
          <p:cNvPr id="33" name="Text 26"/>
          <p:cNvSpPr txBox="1"/>
          <p:nvPr/>
        </p:nvSpPr>
        <p:spPr>
          <a:xfrm>
            <a:off x="3583534" y="46634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4" name="Text 27"/>
          <p:cNvSpPr txBox="1"/>
          <p:nvPr/>
        </p:nvSpPr>
        <p:spPr>
          <a:xfrm>
            <a:off x="548640" y="51206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35" name="bar exact usage"/>
          <p:cNvSpPr/>
          <p:nvPr/>
        </p:nvSpPr>
        <p:spPr>
          <a:xfrm>
            <a:off x="3063240" y="5189220"/>
            <a:ext cx="5084978" cy="228600"/>
          </a:xfrm>
          <a:prstGeom prst="rect">
            <a:avLst/>
          </a:prstGeom>
          <a:solidFill>
            <a:srgbClr val="4472C4"/>
          </a:solidFill>
          <a:ln w="6350">
            <a:solidFill>
              <a:srgbClr val="4472C4"/>
            </a:solidFill>
            <a:prstDash val="solid"/>
          </a:ln>
        </p:spPr>
      </p:sp>
      <p:sp>
        <p:nvSpPr>
          <p:cNvPr id="36" name="Text 29"/>
          <p:cNvSpPr txBox="1"/>
          <p:nvPr/>
        </p:nvSpPr>
        <p:spPr>
          <a:xfrm>
            <a:off x="8239658" y="512064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77–90% (3 seeds)</a:t>
            </a:r>
            <a:endParaRPr lang="en-US" sz="1800" dirty="0"/>
          </a:p>
        </p:txBody>
      </p:sp>
      <p:sp>
        <p:nvSpPr>
          <p:cNvPr id="37"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Check A: the problem's own examples"/>
          <p:cNvSpPr/>
          <p:nvPr/>
        </p:nvSpPr>
        <p:spPr>
          <a:xfrm>
            <a:off x="548640" y="1325880"/>
            <a:ext cx="544068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1732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A: the problem's own examples</a:t>
            </a:r>
            <a:endParaRPr lang="en-US" sz="1800" dirty="0"/>
          </a:p>
        </p:txBody>
      </p:sp>
      <p:sp>
        <p:nvSpPr>
          <p:cNvPr id="13" name="box &quot;Make a triangle!&quot;: "/>
          <p:cNvSpPr/>
          <p:nvPr/>
        </p:nvSpPr>
        <p:spPr>
          <a:xfrm>
            <a:off x="777240" y="1920240"/>
            <a:ext cx="4983480" cy="512064"/>
          </a:xfrm>
          <a:prstGeom prst="roundRect">
            <a:avLst>
              <a:gd name="adj" fmla="val 10714"/>
            </a:avLst>
          </a:prstGeom>
          <a:solidFill>
            <a:srgbClr val="E2F0D9"/>
          </a:solidFill>
          <a:ln w="9525">
            <a:solidFill>
              <a:srgbClr val="BFBFBF"/>
            </a:solidFill>
            <a:prstDash val="solid"/>
          </a:ln>
        </p:spPr>
      </p:sp>
      <p:sp>
        <p:nvSpPr>
          <p:cNvPr id="14" name="Text 7"/>
          <p:cNvSpPr txBox="1"/>
          <p:nvPr/>
        </p:nvSpPr>
        <p:spPr>
          <a:xfrm>
            <a:off x="850392" y="1920240"/>
            <a:ext cx="4837176" cy="512064"/>
          </a:xfrm>
          <a:prstGeom prst="rect">
            <a:avLst/>
          </a:prstGeom>
          <a:noFill/>
          <a:ln/>
        </p:spPr>
        <p:txBody>
          <a:bodyPr wrap="square" lIns="0" tIns="0" rIns="0" bIns="0" rtlCol="0" anchor="ctr"/>
          <a:lstStyle/>
          <a:p>
            <a:pPr algn="ctr" indent="0" marL="0">
              <a:buNone/>
            </a:pPr>
            <a:r>
              <a:rPr lang="en-US" sz="1500" dirty="0">
                <a:solidFill>
                  <a:srgbClr val="38761D"/>
                </a:solidFill>
              </a:rPr>
              <a:t>"Make a triangle!": examples pass → submit</a:t>
            </a:r>
            <a:endParaRPr lang="en-US" sz="1500" dirty="0"/>
          </a:p>
        </p:txBody>
      </p:sp>
      <p:sp>
        <p:nvSpPr>
          <p:cNvPr id="15" name="box &quot;Arrow&quot;: an example "/>
          <p:cNvSpPr/>
          <p:nvPr/>
        </p:nvSpPr>
        <p:spPr>
          <a:xfrm>
            <a:off x="777240" y="2523744"/>
            <a:ext cx="4983480" cy="512064"/>
          </a:xfrm>
          <a:prstGeom prst="roundRect">
            <a:avLst>
              <a:gd name="adj" fmla="val 10714"/>
            </a:avLst>
          </a:prstGeom>
          <a:solidFill>
            <a:srgbClr val="FADBD8"/>
          </a:solidFill>
          <a:ln w="9525">
            <a:solidFill>
              <a:srgbClr val="BFBFBF"/>
            </a:solidFill>
            <a:prstDash val="solid"/>
          </a:ln>
        </p:spPr>
      </p:sp>
      <p:sp>
        <p:nvSpPr>
          <p:cNvPr id="16" name="Text 9"/>
          <p:cNvSpPr txBox="1"/>
          <p:nvPr/>
        </p:nvSpPr>
        <p:spPr>
          <a:xfrm>
            <a:off x="850392" y="2523744"/>
            <a:ext cx="4837176" cy="512064"/>
          </a:xfrm>
          <a:prstGeom prst="rect">
            <a:avLst/>
          </a:prstGeom>
          <a:noFill/>
          <a:ln/>
        </p:spPr>
        <p:txBody>
          <a:bodyPr wrap="square" lIns="0" tIns="0" rIns="0" bIns="0" rtlCol="0" anchor="ctr"/>
          <a:lstStyle/>
          <a:p>
            <a:pPr algn="ctr" indent="0" marL="0">
              <a:buNone/>
            </a:pPr>
            <a:r>
              <a:rPr lang="en-US" sz="1500" dirty="0">
                <a:solidFill>
                  <a:srgbClr val="C00000"/>
                </a:solidFill>
              </a:rPr>
              <a:t>"Arrow": an example fails → think harder → right</a:t>
            </a:r>
            <a:endParaRPr lang="en-US" sz="1500" dirty="0"/>
          </a:p>
        </p:txBody>
      </p:sp>
      <p:sp>
        <p:nvSpPr>
          <p:cNvPr id="17" name="Text 10"/>
          <p:cNvSpPr txBox="1"/>
          <p:nvPr/>
        </p:nvSpPr>
        <p:spPr>
          <a:xfrm>
            <a:off x="777240" y="3154680"/>
            <a:ext cx="4983480" cy="365760"/>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18" name="Text 11"/>
          <p:cNvSpPr txBox="1"/>
          <p:nvPr/>
        </p:nvSpPr>
        <p:spPr>
          <a:xfrm>
            <a:off x="2926080" y="35204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19" name="Text 12"/>
          <p:cNvSpPr txBox="1"/>
          <p:nvPr/>
        </p:nvSpPr>
        <p:spPr>
          <a:xfrm>
            <a:off x="3840480" y="3520440"/>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0" name="Text 13"/>
          <p:cNvSpPr txBox="1"/>
          <p:nvPr/>
        </p:nvSpPr>
        <p:spPr>
          <a:xfrm>
            <a:off x="777240" y="388620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1" name="Text 14"/>
          <p:cNvSpPr txBox="1"/>
          <p:nvPr/>
        </p:nvSpPr>
        <p:spPr>
          <a:xfrm>
            <a:off x="2926080" y="38862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2" name="tokens always think hard"/>
          <p:cNvSpPr/>
          <p:nvPr/>
        </p:nvSpPr>
        <p:spPr>
          <a:xfrm>
            <a:off x="3840480" y="3986784"/>
            <a:ext cx="1188720" cy="256032"/>
          </a:xfrm>
          <a:prstGeom prst="rect">
            <a:avLst/>
          </a:prstGeom>
          <a:solidFill>
            <a:srgbClr val="7F7F7F"/>
          </a:solidFill>
          <a:ln w="6350">
            <a:solidFill>
              <a:srgbClr val="7F7F7F"/>
            </a:solidFill>
            <a:prstDash val="solid"/>
          </a:ln>
        </p:spPr>
      </p:sp>
      <p:sp>
        <p:nvSpPr>
          <p:cNvPr id="23" name="Text 16"/>
          <p:cNvSpPr txBox="1"/>
          <p:nvPr/>
        </p:nvSpPr>
        <p:spPr>
          <a:xfrm>
            <a:off x="5120640" y="38862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4" name="Text 17"/>
          <p:cNvSpPr txBox="1"/>
          <p:nvPr/>
        </p:nvSpPr>
        <p:spPr>
          <a:xfrm>
            <a:off x="777240" y="4416552"/>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a:t>
            </a:r>
            <a:endParaRPr lang="en-US" sz="1500" dirty="0"/>
          </a:p>
        </p:txBody>
      </p:sp>
      <p:sp>
        <p:nvSpPr>
          <p:cNvPr id="25" name="Text 18"/>
          <p:cNvSpPr txBox="1"/>
          <p:nvPr/>
        </p:nvSpPr>
        <p:spPr>
          <a:xfrm>
            <a:off x="2926080" y="441655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6" name="tokens an example fails"/>
          <p:cNvSpPr/>
          <p:nvPr/>
        </p:nvSpPr>
        <p:spPr>
          <a:xfrm>
            <a:off x="3840480" y="4517136"/>
            <a:ext cx="797746" cy="256032"/>
          </a:xfrm>
          <a:prstGeom prst="rect">
            <a:avLst/>
          </a:prstGeom>
          <a:solidFill>
            <a:srgbClr val="5B9BD5"/>
          </a:solidFill>
          <a:ln w="6350">
            <a:solidFill>
              <a:srgbClr val="5B9BD5"/>
            </a:solidFill>
            <a:prstDash val="solid"/>
          </a:ln>
        </p:spPr>
      </p:sp>
      <p:sp>
        <p:nvSpPr>
          <p:cNvPr id="27" name="Text 20"/>
          <p:cNvSpPr txBox="1"/>
          <p:nvPr/>
        </p:nvSpPr>
        <p:spPr>
          <a:xfrm>
            <a:off x="4729666" y="441655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8" name="Text 21"/>
          <p:cNvSpPr txBox="1"/>
          <p:nvPr/>
        </p:nvSpPr>
        <p:spPr>
          <a:xfrm>
            <a:off x="777240" y="4946904"/>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 brute-force check</a:t>
            </a:r>
            <a:endParaRPr lang="en-US" sz="1500" dirty="0"/>
          </a:p>
        </p:txBody>
      </p:sp>
      <p:sp>
        <p:nvSpPr>
          <p:cNvPr id="29" name="Text 22"/>
          <p:cNvSpPr txBox="1"/>
          <p:nvPr/>
        </p:nvSpPr>
        <p:spPr>
          <a:xfrm>
            <a:off x="2926080" y="49469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0" name="tokens + brute-force check"/>
          <p:cNvSpPr/>
          <p:nvPr/>
        </p:nvSpPr>
        <p:spPr>
          <a:xfrm>
            <a:off x="3840480" y="5047488"/>
            <a:ext cx="975461" cy="256032"/>
          </a:xfrm>
          <a:prstGeom prst="rect">
            <a:avLst/>
          </a:prstGeom>
          <a:solidFill>
            <a:srgbClr val="4472C4"/>
          </a:solidFill>
          <a:ln w="6350">
            <a:solidFill>
              <a:srgbClr val="4472C4"/>
            </a:solidFill>
            <a:prstDash val="solid"/>
          </a:ln>
        </p:spPr>
      </p:sp>
      <p:sp>
        <p:nvSpPr>
          <p:cNvPr id="31" name="Text 24"/>
          <p:cNvSpPr txBox="1"/>
          <p:nvPr/>
        </p:nvSpPr>
        <p:spPr>
          <a:xfrm>
            <a:off x="4907381" y="49469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2" name="Check B: two versions must agree"/>
          <p:cNvSpPr/>
          <p:nvPr/>
        </p:nvSpPr>
        <p:spPr>
          <a:xfrm>
            <a:off x="6172200" y="132588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1732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B: two versions must agree</a:t>
            </a:r>
            <a:endParaRPr lang="en-US" sz="1800" dirty="0"/>
          </a:p>
        </p:txBody>
      </p:sp>
      <p:sp>
        <p:nvSpPr>
          <p:cNvPr id="34" name="box program A (task only"/>
          <p:cNvSpPr/>
          <p:nvPr/>
        </p:nvSpPr>
        <p:spPr>
          <a:xfrm>
            <a:off x="6400800" y="1920240"/>
            <a:ext cx="4983480" cy="512064"/>
          </a:xfrm>
          <a:prstGeom prst="roundRect">
            <a:avLst>
              <a:gd name="adj" fmla="val 10714"/>
            </a:avLst>
          </a:prstGeom>
          <a:solidFill>
            <a:srgbClr val="E2F0D9"/>
          </a:solidFill>
          <a:ln w="9525">
            <a:solidFill>
              <a:srgbClr val="BFBFBF"/>
            </a:solidFill>
            <a:prstDash val="solid"/>
          </a:ln>
        </p:spPr>
      </p:sp>
      <p:sp>
        <p:nvSpPr>
          <p:cNvPr id="35" name="Text 28"/>
          <p:cNvSpPr txBox="1"/>
          <p:nvPr/>
        </p:nvSpPr>
        <p:spPr>
          <a:xfrm>
            <a:off x="6473952" y="1920240"/>
            <a:ext cx="4837176" cy="512064"/>
          </a:xfrm>
          <a:prstGeom prst="rect">
            <a:avLst/>
          </a:prstGeom>
          <a:noFill/>
          <a:ln/>
        </p:spPr>
        <p:txBody>
          <a:bodyPr wrap="square" lIns="0" tIns="0" rIns="0" bIns="0" rtlCol="0" anchor="ctr"/>
          <a:lstStyle/>
          <a:p>
            <a:pPr algn="ctr" indent="0" marL="0">
              <a:buNone/>
            </a:pPr>
            <a:r>
              <a:rPr lang="en-US" sz="1500" dirty="0">
                <a:solidFill>
                  <a:srgbClr val="38761D"/>
                </a:solidFill>
              </a:rPr>
              <a:t>program A (task only) → 6</a:t>
            </a:r>
            <a:endParaRPr lang="en-US" sz="1500" dirty="0"/>
          </a:p>
        </p:txBody>
      </p:sp>
      <p:sp>
        <p:nvSpPr>
          <p:cNvPr id="36" name="box program B (+ helper "/>
          <p:cNvSpPr/>
          <p:nvPr/>
        </p:nvSpPr>
        <p:spPr>
          <a:xfrm>
            <a:off x="6400800" y="2523744"/>
            <a:ext cx="4983480" cy="512064"/>
          </a:xfrm>
          <a:prstGeom prst="roundRect">
            <a:avLst>
              <a:gd name="adj" fmla="val 10714"/>
            </a:avLst>
          </a:prstGeom>
          <a:solidFill>
            <a:srgbClr val="FADBD8"/>
          </a:solidFill>
          <a:ln w="9525">
            <a:solidFill>
              <a:srgbClr val="BFBFBF"/>
            </a:solidFill>
            <a:prstDash val="solid"/>
          </a:ln>
        </p:spPr>
      </p:sp>
      <p:sp>
        <p:nvSpPr>
          <p:cNvPr id="37" name="Text 30"/>
          <p:cNvSpPr txBox="1"/>
          <p:nvPr/>
        </p:nvSpPr>
        <p:spPr>
          <a:xfrm>
            <a:off x="6473952" y="2523744"/>
            <a:ext cx="4837176" cy="512064"/>
          </a:xfrm>
          <a:prstGeom prst="rect">
            <a:avLst/>
          </a:prstGeom>
          <a:noFill/>
          <a:ln/>
        </p:spPr>
        <p:txBody>
          <a:bodyPr wrap="square" lIns="0" tIns="0" rIns="0" bIns="0" rtlCol="0" anchor="ctr"/>
          <a:lstStyle/>
          <a:p>
            <a:pPr algn="ctr" indent="0" marL="0">
              <a:buNone/>
            </a:pPr>
            <a:r>
              <a:rPr lang="en-US" sz="1500" dirty="0">
                <a:solidFill>
                  <a:srgbClr val="C00000"/>
                </a:solidFill>
              </a:rPr>
              <a:t>program B (+ helper code) → 0: differ → think</a:t>
            </a:r>
            <a:endParaRPr lang="en-US" sz="1500" dirty="0"/>
          </a:p>
        </p:txBody>
      </p:sp>
      <p:sp>
        <p:nvSpPr>
          <p:cNvPr id="38" name="Text 31"/>
          <p:cNvSpPr txBox="1"/>
          <p:nvPr/>
        </p:nvSpPr>
        <p:spPr>
          <a:xfrm>
            <a:off x="6400800" y="3154680"/>
            <a:ext cx="4983480" cy="365760"/>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 3 runs)</a:t>
            </a:r>
            <a:endParaRPr lang="en-US" sz="1500" dirty="0"/>
          </a:p>
        </p:txBody>
      </p:sp>
      <p:sp>
        <p:nvSpPr>
          <p:cNvPr id="39" name="Text 32"/>
          <p:cNvSpPr txBox="1"/>
          <p:nvPr/>
        </p:nvSpPr>
        <p:spPr>
          <a:xfrm>
            <a:off x="8549640" y="35204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0" name="Text 33"/>
          <p:cNvSpPr txBox="1"/>
          <p:nvPr/>
        </p:nvSpPr>
        <p:spPr>
          <a:xfrm>
            <a:off x="9464040" y="3520440"/>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1" name="Text 34"/>
          <p:cNvSpPr txBox="1"/>
          <p:nvPr/>
        </p:nvSpPr>
        <p:spPr>
          <a:xfrm>
            <a:off x="6400800" y="388620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42" name="Text 35"/>
          <p:cNvSpPr txBox="1"/>
          <p:nvPr/>
        </p:nvSpPr>
        <p:spPr>
          <a:xfrm>
            <a:off x="8549640" y="38862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43" name="tokens always think"/>
          <p:cNvSpPr/>
          <p:nvPr/>
        </p:nvSpPr>
        <p:spPr>
          <a:xfrm>
            <a:off x="9464040" y="3986784"/>
            <a:ext cx="1188720" cy="256032"/>
          </a:xfrm>
          <a:prstGeom prst="rect">
            <a:avLst/>
          </a:prstGeom>
          <a:solidFill>
            <a:srgbClr val="7F7F7F"/>
          </a:solidFill>
          <a:ln w="6350">
            <a:solidFill>
              <a:srgbClr val="7F7F7F"/>
            </a:solidFill>
            <a:prstDash val="solid"/>
          </a:ln>
        </p:spPr>
      </p:sp>
      <p:sp>
        <p:nvSpPr>
          <p:cNvPr id="44" name="Text 37"/>
          <p:cNvSpPr txBox="1"/>
          <p:nvPr/>
        </p:nvSpPr>
        <p:spPr>
          <a:xfrm>
            <a:off x="10744200" y="38862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45" name="Text 38"/>
          <p:cNvSpPr txBox="1"/>
          <p:nvPr/>
        </p:nvSpPr>
        <p:spPr>
          <a:xfrm>
            <a:off x="6400800" y="4416552"/>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only if they differ</a:t>
            </a:r>
            <a:endParaRPr lang="en-US" sz="1500" dirty="0"/>
          </a:p>
        </p:txBody>
      </p:sp>
      <p:sp>
        <p:nvSpPr>
          <p:cNvPr id="46" name="Text 39"/>
          <p:cNvSpPr txBox="1"/>
          <p:nvPr/>
        </p:nvSpPr>
        <p:spPr>
          <a:xfrm>
            <a:off x="8549640" y="441655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47" name="tokens only if they differ"/>
          <p:cNvSpPr/>
          <p:nvPr/>
        </p:nvSpPr>
        <p:spPr>
          <a:xfrm>
            <a:off x="9464040" y="4517136"/>
            <a:ext cx="866355" cy="256032"/>
          </a:xfrm>
          <a:prstGeom prst="rect">
            <a:avLst/>
          </a:prstGeom>
          <a:solidFill>
            <a:srgbClr val="4472C4"/>
          </a:solidFill>
          <a:ln w="6350">
            <a:solidFill>
              <a:srgbClr val="4472C4"/>
            </a:solidFill>
            <a:prstDash val="solid"/>
          </a:ln>
        </p:spPr>
      </p:sp>
      <p:sp>
        <p:nvSpPr>
          <p:cNvPr id="48" name="Text 41"/>
          <p:cNvSpPr txBox="1"/>
          <p:nvPr/>
        </p:nvSpPr>
        <p:spPr>
          <a:xfrm>
            <a:off x="10421835" y="441655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49" name="Text 4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7863840" y="987552"/>
            <a:ext cx="3749040" cy="274320"/>
          </a:xfrm>
          <a:prstGeom prst="rect">
            <a:avLst/>
          </a:prstGeom>
          <a:noFill/>
          <a:ln/>
        </p:spPr>
        <p:txBody>
          <a:bodyPr wrap="square" lIns="0" tIns="0" rIns="0" bIns="0" rtlCol="0" anchor="ctr"/>
          <a:lstStyle/>
          <a:p>
            <a:pPr algn="r" indent="0" marL="0">
              <a:buNone/>
            </a:pPr>
            <a:r>
              <a:rPr lang="en-US" sz="1400" dirty="0">
                <a:solidFill>
                  <a:srgbClr val="7F7F7F"/>
                </a:solidFill>
              </a:rPr>
              <a:t>icons under each step: where it is used</a:t>
            </a:r>
            <a:endParaRPr lang="en-US" sz="1400" dirty="0"/>
          </a:p>
        </p:txBody>
      </p:sp>
      <p:sp>
        <p:nvSpPr>
          <p:cNvPr id="10" name="Text 6"/>
          <p:cNvSpPr txBox="1"/>
          <p:nvPr/>
        </p:nvSpPr>
        <p:spPr>
          <a:xfrm>
            <a:off x="548640" y="1170432"/>
            <a:ext cx="78638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minimum cost of X, Y, Z under three limits → 20000</a:t>
            </a:r>
            <a:endParaRPr lang="en-US" sz="1600" dirty="0"/>
          </a:p>
        </p:txBody>
      </p:sp>
      <p:sp>
        <p:nvSpPr>
          <p:cNvPr id="11" name="Text 7"/>
          <p:cNvSpPr txBox="1"/>
          <p:nvPr/>
        </p:nvSpPr>
        <p:spPr>
          <a:xfrm>
            <a:off x="54864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1 Program</a:t>
            </a:r>
            <a:endParaRPr lang="en-US" sz="1700" dirty="0"/>
          </a:p>
        </p:txBody>
      </p:sp>
      <p:sp>
        <p:nvSpPr>
          <p:cNvPr id="12" name="step 1 Program"/>
          <p:cNvSpPr/>
          <p:nvPr/>
        </p:nvSpPr>
        <p:spPr>
          <a:xfrm>
            <a:off x="548640" y="2011680"/>
            <a:ext cx="2103120" cy="1325880"/>
          </a:xfrm>
          <a:prstGeom prst="roundRect">
            <a:avLst>
              <a:gd name="adj" fmla="val 5517"/>
            </a:avLst>
          </a:prstGeom>
          <a:solidFill>
            <a:srgbClr val="FADBD8"/>
          </a:solidFill>
          <a:ln w="12700">
            <a:solidFill>
              <a:srgbClr val="C00000"/>
            </a:solidFill>
            <a:prstDash val="solid"/>
          </a:ln>
        </p:spPr>
      </p:sp>
      <p:sp>
        <p:nvSpPr>
          <p:cNvPr id="13" name="Text 9"/>
          <p:cNvSpPr txBox="1"/>
          <p:nvPr/>
        </p:nvSpPr>
        <p:spPr>
          <a:xfrm>
            <a:off x="621792" y="2057400"/>
            <a:ext cx="1956816" cy="566928"/>
          </a:xfrm>
          <a:prstGeom prst="rect">
            <a:avLst/>
          </a:prstGeom>
          <a:noFill/>
          <a:ln/>
        </p:spPr>
        <p:txBody>
          <a:bodyPr wrap="square" lIns="0" tIns="0" rIns="0" bIns="0" rtlCol="0" anchor="ctr"/>
          <a:lstStyle/>
          <a:p>
            <a:pPr algn="ctr" indent="0" marL="0">
              <a:buNone/>
            </a:pPr>
            <a:r>
              <a:rPr lang="en-US" sz="1400" b="1" dirty="0">
                <a:solidFill>
                  <a:srgbClr val="C00000"/>
                </a:solidFill>
                <a:latin typeface="Courier New" pitchFamily="34" charset="0"/>
                <a:ea typeface="Courier New" pitchFamily="34" charset="-122"/>
                <a:cs typeface="Courier New" pitchFamily="34" charset="-120"/>
              </a:rPr>
              <a:t>Objective()</a:t>
            </a:r>
            <a:endParaRPr lang="en-US" sz="1400" dirty="0"/>
          </a:p>
          <a:p>
            <a:pPr algn="ctr" indent="0" marL="0">
              <a:buNone/>
            </a:pPr>
            <a:r>
              <a:rPr lang="en-US" sz="1400" b="1" dirty="0">
                <a:solidFill>
                  <a:srgbClr val="C00000"/>
                </a:solidFill>
                <a:latin typeface="Courier New" pitchFamily="34" charset="0"/>
                <a:ea typeface="Courier New" pitchFamily="34" charset="-122"/>
                <a:cs typeface="Courier New" pitchFamily="34" charset="-120"/>
              </a:rPr>
              <a:t>.Minimize()</a:t>
            </a:r>
            <a:endParaRPr lang="en-US" sz="1400" dirty="0"/>
          </a:p>
        </p:txBody>
      </p:sp>
      <p:sp>
        <p:nvSpPr>
          <p:cNvPr id="14" name="Text 10"/>
          <p:cNvSpPr txBox="1"/>
          <p:nvPr/>
        </p:nvSpPr>
        <p:spPr>
          <a:xfrm>
            <a:off x="64008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 crash, no hint</a:t>
            </a:r>
            <a:endParaRPr lang="en-US" sz="1400" dirty="0"/>
          </a:p>
        </p:txBody>
      </p:sp>
      <p:sp>
        <p:nvSpPr>
          <p:cNvPr id="15" name="Shape 11"/>
          <p:cNvSpPr/>
          <p:nvPr/>
        </p:nvSpPr>
        <p:spPr>
          <a:xfrm>
            <a:off x="2651760" y="2670048"/>
            <a:ext cx="137160" cy="0"/>
          </a:xfrm>
          <a:prstGeom prst="line">
            <a:avLst/>
          </a:prstGeom>
          <a:noFill/>
          <a:ln w="25400">
            <a:solidFill>
              <a:srgbClr val="7F7F7F"/>
            </a:solidFill>
            <a:prstDash val="solid"/>
            <a:tailEnd type="triangle"/>
          </a:ln>
        </p:spPr>
      </p:sp>
      <p:pic>
        <p:nvPicPr>
          <p:cNvPr id="16" name="step 1 used on shapes" descr="/NAS/SJ/POSTECH/nlp/figs/icons/shapes.png">    </p:cNvPr>
          <p:cNvPicPr>
            <a:picLocks noChangeAspect="1"/>
          </p:cNvPicPr>
          <p:nvPr/>
        </p:nvPicPr>
        <p:blipFill>
          <a:blip r:embed="rId3"/>
          <a:stretch>
            <a:fillRect/>
          </a:stretch>
        </p:blipFill>
        <p:spPr>
          <a:xfrm>
            <a:off x="1042416" y="3401568"/>
            <a:ext cx="237744" cy="237744"/>
          </a:xfrm>
          <a:prstGeom prst="rect">
            <a:avLst/>
          </a:prstGeom>
        </p:spPr>
      </p:pic>
      <p:pic>
        <p:nvPicPr>
          <p:cNvPr id="17" name="step 1 used on trophy" descr="/NAS/SJ/POSTECH/nlp/figs/icons/trophy.png">    </p:cNvPr>
          <p:cNvPicPr>
            <a:picLocks noChangeAspect="1"/>
          </p:cNvPicPr>
          <p:nvPr/>
        </p:nvPicPr>
        <p:blipFill>
          <a:blip r:embed="rId4"/>
          <a:stretch>
            <a:fillRect/>
          </a:stretch>
        </p:blipFill>
        <p:spPr>
          <a:xfrm>
            <a:off x="1335024" y="3401568"/>
            <a:ext cx="237744" cy="237744"/>
          </a:xfrm>
          <a:prstGeom prst="rect">
            <a:avLst/>
          </a:prstGeom>
        </p:spPr>
      </p:pic>
      <p:pic>
        <p:nvPicPr>
          <p:cNvPr id="18" name="step 1 used on truck" descr="/NAS/SJ/POSTECH/nlp/figs/icons/truck.png">    </p:cNvPr>
          <p:cNvPicPr>
            <a:picLocks noChangeAspect="1"/>
          </p:cNvPicPr>
          <p:nvPr/>
        </p:nvPicPr>
        <p:blipFill>
          <a:blip r:embed="rId5"/>
          <a:stretch>
            <a:fillRect/>
          </a:stretch>
        </p:blipFill>
        <p:spPr>
          <a:xfrm>
            <a:off x="1627632" y="3401568"/>
            <a:ext cx="237744" cy="237744"/>
          </a:xfrm>
          <a:prstGeom prst="rect">
            <a:avLst/>
          </a:prstGeom>
        </p:spPr>
      </p:pic>
      <p:pic>
        <p:nvPicPr>
          <p:cNvPr id="19" name="step 1 used on calc" descr="/NAS/SJ/POSTECH/nlp/figs/icons/calc.png">    </p:cNvPr>
          <p:cNvPicPr>
            <a:picLocks noChangeAspect="1"/>
          </p:cNvPicPr>
          <p:nvPr/>
        </p:nvPicPr>
        <p:blipFill>
          <a:blip r:embed="rId6"/>
          <a:stretch>
            <a:fillRect/>
          </a:stretch>
        </p:blipFill>
        <p:spPr>
          <a:xfrm>
            <a:off x="1920240" y="3401568"/>
            <a:ext cx="237744" cy="237744"/>
          </a:xfrm>
          <a:prstGeom prst="rect">
            <a:avLst/>
          </a:prstGeom>
        </p:spPr>
      </p:pic>
      <p:sp>
        <p:nvSpPr>
          <p:cNvPr id="20" name="Text 12"/>
          <p:cNvSpPr txBox="1"/>
          <p:nvPr/>
        </p:nvSpPr>
        <p:spPr>
          <a:xfrm>
            <a:off x="278892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2 + Hint</a:t>
            </a:r>
            <a:endParaRPr lang="en-US" sz="1700" dirty="0"/>
          </a:p>
        </p:txBody>
      </p:sp>
      <p:sp>
        <p:nvSpPr>
          <p:cNvPr id="21" name="step 2 + Fact"/>
          <p:cNvSpPr/>
          <p:nvPr/>
        </p:nvSpPr>
        <p:spPr>
          <a:xfrm>
            <a:off x="2788920" y="2011680"/>
            <a:ext cx="2103120" cy="1325880"/>
          </a:xfrm>
          <a:prstGeom prst="roundRect">
            <a:avLst>
              <a:gd name="adj" fmla="val 5517"/>
            </a:avLst>
          </a:prstGeom>
          <a:solidFill>
            <a:srgbClr val="E2F0D9"/>
          </a:solidFill>
          <a:ln w="12700">
            <a:solidFill>
              <a:srgbClr val="38761D"/>
            </a:solidFill>
            <a:prstDash val="solid"/>
          </a:ln>
        </p:spPr>
      </p:sp>
      <p:sp>
        <p:nvSpPr>
          <p:cNvPr id="22" name="Text 14"/>
          <p:cNvSpPr txBox="1"/>
          <p:nvPr/>
        </p:nvSpPr>
        <p:spPr>
          <a:xfrm>
            <a:off x="2862072" y="2057400"/>
            <a:ext cx="1956816" cy="566928"/>
          </a:xfrm>
          <a:prstGeom prst="rect">
            <a:avLst/>
          </a:prstGeom>
          <a:noFill/>
          <a:ln/>
        </p:spPr>
        <p:txBody>
          <a:bodyPr wrap="square" lIns="0" tIns="0" rIns="0" bIns="0" rtlCol="0" anchor="ctr"/>
          <a:lstStyle/>
          <a:p>
            <a:pPr algn="ctr" indent="0" marL="0">
              <a:buNone/>
            </a:pPr>
            <a:r>
              <a:rPr lang="en-US" sz="1400" b="1" dirty="0">
                <a:solidFill>
                  <a:srgbClr val="38761D"/>
                </a:solidFill>
                <a:latin typeface="Courier New" pitchFamily="34" charset="0"/>
                <a:ea typeface="Courier New" pitchFamily="34" charset="-122"/>
                <a:cs typeface="Courier New" pitchFamily="34" charset="-120"/>
              </a:rPr>
              <a:t>solver</a:t>
            </a:r>
            <a:endParaRPr lang="en-US" sz="1400" dirty="0"/>
          </a:p>
          <a:p>
            <a:pPr algn="ctr" indent="0" marL="0">
              <a:buNone/>
            </a:pPr>
            <a:r>
              <a:rPr lang="en-US" sz="1400" b="1" dirty="0">
                <a:solidFill>
                  <a:srgbClr val="38761D"/>
                </a:solidFill>
                <a:latin typeface="Courier New" pitchFamily="34" charset="0"/>
                <a:ea typeface="Courier New" pitchFamily="34" charset="-122"/>
                <a:cs typeface="Courier New" pitchFamily="34" charset="-120"/>
              </a:rPr>
              <a:t>.Minimize(...)</a:t>
            </a:r>
            <a:endParaRPr lang="en-US" sz="1400" dirty="0"/>
          </a:p>
        </p:txBody>
      </p:sp>
      <p:sp>
        <p:nvSpPr>
          <p:cNvPr id="23" name="Text 15"/>
          <p:cNvSpPr txBox="1"/>
          <p:nvPr/>
        </p:nvSpPr>
        <p:spPr>
          <a:xfrm>
            <a:off x="288036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found automatically: its own checked program</a:t>
            </a:r>
            <a:endParaRPr lang="en-US" sz="1400" dirty="0"/>
          </a:p>
        </p:txBody>
      </p:sp>
      <p:sp>
        <p:nvSpPr>
          <p:cNvPr id="24" name="Shape 16"/>
          <p:cNvSpPr/>
          <p:nvPr/>
        </p:nvSpPr>
        <p:spPr>
          <a:xfrm>
            <a:off x="4892040" y="2670048"/>
            <a:ext cx="137160" cy="0"/>
          </a:xfrm>
          <a:prstGeom prst="line">
            <a:avLst/>
          </a:prstGeom>
          <a:noFill/>
          <a:ln w="25400">
            <a:solidFill>
              <a:srgbClr val="7F7F7F"/>
            </a:solidFill>
            <a:prstDash val="solid"/>
            <a:tailEnd type="triangle"/>
          </a:ln>
        </p:spPr>
      </p:sp>
      <p:pic>
        <p:nvPicPr>
          <p:cNvPr id="25" name="step 2 used on shapes" descr="/NAS/SJ/POSTECH/nlp/figs/icons/shapes.png">    </p:cNvPr>
          <p:cNvPicPr>
            <a:picLocks noChangeAspect="1"/>
          </p:cNvPicPr>
          <p:nvPr/>
        </p:nvPicPr>
        <p:blipFill>
          <a:blip r:embed="rId7"/>
          <a:stretch>
            <a:fillRect/>
          </a:stretch>
        </p:blipFill>
        <p:spPr>
          <a:xfrm>
            <a:off x="3282696" y="3401568"/>
            <a:ext cx="237744" cy="237744"/>
          </a:xfrm>
          <a:prstGeom prst="rect">
            <a:avLst/>
          </a:prstGeom>
        </p:spPr>
      </p:pic>
      <p:pic>
        <p:nvPicPr>
          <p:cNvPr id="26" name="step 2 not needed on trophy" descr="/NAS/SJ/POSTECH/nlp/figs/icons/trophy.png">    </p:cNvPr>
          <p:cNvPicPr>
            <a:picLocks noChangeAspect="1"/>
          </p:cNvPicPr>
          <p:nvPr/>
        </p:nvPicPr>
        <p:blipFill>
          <a:blip r:embed="rId8">
            <a:alphaModFix amt="18000"/>
          </a:blip>
          <a:stretch>
            <a:fillRect/>
          </a:stretch>
        </p:blipFill>
        <p:spPr>
          <a:xfrm>
            <a:off x="3575304" y="3401568"/>
            <a:ext cx="237744" cy="237744"/>
          </a:xfrm>
          <a:prstGeom prst="rect">
            <a:avLst/>
          </a:prstGeom>
        </p:spPr>
      </p:pic>
      <p:pic>
        <p:nvPicPr>
          <p:cNvPr id="27" name="step 2 used on truck" descr="/NAS/SJ/POSTECH/nlp/figs/icons/truck.png">    </p:cNvPr>
          <p:cNvPicPr>
            <a:picLocks noChangeAspect="1"/>
          </p:cNvPicPr>
          <p:nvPr/>
        </p:nvPicPr>
        <p:blipFill>
          <a:blip r:embed="rId9"/>
          <a:stretch>
            <a:fillRect/>
          </a:stretch>
        </p:blipFill>
        <p:spPr>
          <a:xfrm>
            <a:off x="3867912" y="3401568"/>
            <a:ext cx="237744" cy="237744"/>
          </a:xfrm>
          <a:prstGeom prst="rect">
            <a:avLst/>
          </a:prstGeom>
        </p:spPr>
      </p:pic>
      <p:pic>
        <p:nvPicPr>
          <p:cNvPr id="28" name="step 2 used on calc" descr="/NAS/SJ/POSTECH/nlp/figs/icons/calc.png">    </p:cNvPr>
          <p:cNvPicPr>
            <a:picLocks noChangeAspect="1"/>
          </p:cNvPicPr>
          <p:nvPr/>
        </p:nvPicPr>
        <p:blipFill>
          <a:blip r:embed="rId10"/>
          <a:stretch>
            <a:fillRect/>
          </a:stretch>
        </p:blipFill>
        <p:spPr>
          <a:xfrm>
            <a:off x="4160520" y="3401568"/>
            <a:ext cx="237744" cy="237744"/>
          </a:xfrm>
          <a:prstGeom prst="rect">
            <a:avLst/>
          </a:prstGeom>
        </p:spPr>
      </p:pic>
      <p:sp>
        <p:nvSpPr>
          <p:cNvPr id="29" name="Text 17"/>
          <p:cNvSpPr txBox="1"/>
          <p:nvPr/>
        </p:nvSpPr>
        <p:spPr>
          <a:xfrm>
            <a:off x="502920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3 Free check</a:t>
            </a:r>
            <a:endParaRPr lang="en-US" sz="1700" dirty="0"/>
          </a:p>
        </p:txBody>
      </p:sp>
      <p:sp>
        <p:nvSpPr>
          <p:cNvPr id="30" name="step 3 Free check"/>
          <p:cNvSpPr/>
          <p:nvPr/>
        </p:nvSpPr>
        <p:spPr>
          <a:xfrm>
            <a:off x="5029200" y="2011680"/>
            <a:ext cx="2103120" cy="1325880"/>
          </a:xfrm>
          <a:prstGeom prst="roundRect">
            <a:avLst>
              <a:gd name="adj" fmla="val 5517"/>
            </a:avLst>
          </a:prstGeom>
          <a:solidFill>
            <a:srgbClr val="E2F0D9"/>
          </a:solidFill>
          <a:ln w="12700">
            <a:solidFill>
              <a:srgbClr val="38761D"/>
            </a:solidFill>
            <a:prstDash val="solid"/>
          </a:ln>
        </p:spPr>
      </p:sp>
      <p:sp>
        <p:nvSpPr>
          <p:cNvPr id="31" name="Text 19"/>
          <p:cNvSpPr txBox="1"/>
          <p:nvPr/>
        </p:nvSpPr>
        <p:spPr>
          <a:xfrm>
            <a:off x="5102352" y="2057400"/>
            <a:ext cx="1956816" cy="566928"/>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32" name="Text 20"/>
          <p:cNvSpPr txBox="1"/>
          <p:nvPr/>
        </p:nvSpPr>
        <p:spPr>
          <a:xfrm>
            <a:off x="512064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a second version agrees</a:t>
            </a:r>
            <a:endParaRPr lang="en-US" sz="1400" dirty="0"/>
          </a:p>
        </p:txBody>
      </p:sp>
      <p:sp>
        <p:nvSpPr>
          <p:cNvPr id="33" name="Shape 21"/>
          <p:cNvSpPr/>
          <p:nvPr/>
        </p:nvSpPr>
        <p:spPr>
          <a:xfrm>
            <a:off x="7132320" y="2670048"/>
            <a:ext cx="137160" cy="0"/>
          </a:xfrm>
          <a:prstGeom prst="line">
            <a:avLst/>
          </a:prstGeom>
          <a:noFill/>
          <a:ln w="25400">
            <a:solidFill>
              <a:srgbClr val="7F7F7F"/>
            </a:solidFill>
            <a:prstDash val="solid"/>
            <a:tailEnd type="triangle"/>
          </a:ln>
        </p:spPr>
      </p:sp>
      <p:pic>
        <p:nvPicPr>
          <p:cNvPr id="34" name="step 3 used on shapes" descr="/NAS/SJ/POSTECH/nlp/figs/icons/shapes.png">    </p:cNvPr>
          <p:cNvPicPr>
            <a:picLocks noChangeAspect="1"/>
          </p:cNvPicPr>
          <p:nvPr/>
        </p:nvPicPr>
        <p:blipFill>
          <a:blip r:embed="rId11"/>
          <a:stretch>
            <a:fillRect/>
          </a:stretch>
        </p:blipFill>
        <p:spPr>
          <a:xfrm>
            <a:off x="5522976" y="3401568"/>
            <a:ext cx="237744" cy="237744"/>
          </a:xfrm>
          <a:prstGeom prst="rect">
            <a:avLst/>
          </a:prstGeom>
        </p:spPr>
      </p:pic>
      <p:pic>
        <p:nvPicPr>
          <p:cNvPr id="35" name="step 3 used on trophy" descr="/NAS/SJ/POSTECH/nlp/figs/icons/trophy.png">    </p:cNvPr>
          <p:cNvPicPr>
            <a:picLocks noChangeAspect="1"/>
          </p:cNvPicPr>
          <p:nvPr/>
        </p:nvPicPr>
        <p:blipFill>
          <a:blip r:embed="rId12"/>
          <a:stretch>
            <a:fillRect/>
          </a:stretch>
        </p:blipFill>
        <p:spPr>
          <a:xfrm>
            <a:off x="5815584" y="3401568"/>
            <a:ext cx="237744" cy="237744"/>
          </a:xfrm>
          <a:prstGeom prst="rect">
            <a:avLst/>
          </a:prstGeom>
        </p:spPr>
      </p:pic>
      <p:pic>
        <p:nvPicPr>
          <p:cNvPr id="36" name="step 3 used on truck" descr="/NAS/SJ/POSTECH/nlp/figs/icons/truck.png">    </p:cNvPr>
          <p:cNvPicPr>
            <a:picLocks noChangeAspect="1"/>
          </p:cNvPicPr>
          <p:nvPr/>
        </p:nvPicPr>
        <p:blipFill>
          <a:blip r:embed="rId13"/>
          <a:stretch>
            <a:fillRect/>
          </a:stretch>
        </p:blipFill>
        <p:spPr>
          <a:xfrm>
            <a:off x="6108192" y="3401568"/>
            <a:ext cx="237744" cy="237744"/>
          </a:xfrm>
          <a:prstGeom prst="rect">
            <a:avLst/>
          </a:prstGeom>
        </p:spPr>
      </p:pic>
      <p:pic>
        <p:nvPicPr>
          <p:cNvPr id="37" name="step 3 used on calc" descr="/NAS/SJ/POSTECH/nlp/figs/icons/calc.png">    </p:cNvPr>
          <p:cNvPicPr>
            <a:picLocks noChangeAspect="1"/>
          </p:cNvPicPr>
          <p:nvPr/>
        </p:nvPicPr>
        <p:blipFill>
          <a:blip r:embed="rId14"/>
          <a:stretch>
            <a:fillRect/>
          </a:stretch>
        </p:blipFill>
        <p:spPr>
          <a:xfrm>
            <a:off x="6400800" y="3401568"/>
            <a:ext cx="237744" cy="237744"/>
          </a:xfrm>
          <a:prstGeom prst="rect">
            <a:avLst/>
          </a:prstGeom>
        </p:spPr>
      </p:pic>
      <p:sp>
        <p:nvSpPr>
          <p:cNvPr id="38" name="Text 22"/>
          <p:cNvSpPr txBox="1"/>
          <p:nvPr/>
        </p:nvSpPr>
        <p:spPr>
          <a:xfrm>
            <a:off x="726948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4 Think?</a:t>
            </a:r>
            <a:endParaRPr lang="en-US" sz="1700" dirty="0"/>
          </a:p>
        </p:txBody>
      </p:sp>
      <p:sp>
        <p:nvSpPr>
          <p:cNvPr id="39" name="step 4 Think?"/>
          <p:cNvSpPr/>
          <p:nvPr/>
        </p:nvSpPr>
        <p:spPr>
          <a:xfrm>
            <a:off x="7269480" y="2011680"/>
            <a:ext cx="2103120" cy="1325880"/>
          </a:xfrm>
          <a:prstGeom prst="roundRect">
            <a:avLst>
              <a:gd name="adj" fmla="val 5517"/>
            </a:avLst>
          </a:prstGeom>
          <a:solidFill>
            <a:srgbClr val="F2F2F2"/>
          </a:solidFill>
          <a:ln w="12700">
            <a:solidFill>
              <a:srgbClr val="7F7F7F"/>
            </a:solidFill>
            <a:prstDash val="solid"/>
          </a:ln>
        </p:spPr>
      </p:sp>
      <p:sp>
        <p:nvSpPr>
          <p:cNvPr id="40" name="Text 24"/>
          <p:cNvSpPr txBox="1"/>
          <p:nvPr/>
        </p:nvSpPr>
        <p:spPr>
          <a:xfrm>
            <a:off x="7342632" y="2057400"/>
            <a:ext cx="1956816" cy="566928"/>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41" name="Text 25"/>
          <p:cNvSpPr txBox="1"/>
          <p:nvPr/>
        </p:nvSpPr>
        <p:spPr>
          <a:xfrm>
            <a:off x="736092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think only if the two differ</a:t>
            </a:r>
            <a:endParaRPr lang="en-US" sz="1400" dirty="0"/>
          </a:p>
        </p:txBody>
      </p:sp>
      <p:sp>
        <p:nvSpPr>
          <p:cNvPr id="42" name="Shape 26"/>
          <p:cNvSpPr/>
          <p:nvPr/>
        </p:nvSpPr>
        <p:spPr>
          <a:xfrm>
            <a:off x="9372600" y="2670048"/>
            <a:ext cx="137160" cy="0"/>
          </a:xfrm>
          <a:prstGeom prst="line">
            <a:avLst/>
          </a:prstGeom>
          <a:noFill/>
          <a:ln w="25400">
            <a:solidFill>
              <a:srgbClr val="7F7F7F"/>
            </a:solidFill>
            <a:prstDash val="solid"/>
            <a:tailEnd type="triangle"/>
          </a:ln>
        </p:spPr>
      </p:sp>
      <p:pic>
        <p:nvPicPr>
          <p:cNvPr id="43" name="step 4 used on shapes" descr="/NAS/SJ/POSTECH/nlp/figs/icons/shapes.png">    </p:cNvPr>
          <p:cNvPicPr>
            <a:picLocks noChangeAspect="1"/>
          </p:cNvPicPr>
          <p:nvPr/>
        </p:nvPicPr>
        <p:blipFill>
          <a:blip r:embed="rId15"/>
          <a:stretch>
            <a:fillRect/>
          </a:stretch>
        </p:blipFill>
        <p:spPr>
          <a:xfrm>
            <a:off x="7763256" y="3401568"/>
            <a:ext cx="237744" cy="237744"/>
          </a:xfrm>
          <a:prstGeom prst="rect">
            <a:avLst/>
          </a:prstGeom>
        </p:spPr>
      </p:pic>
      <p:pic>
        <p:nvPicPr>
          <p:cNvPr id="44" name="step 4 used on trophy" descr="/NAS/SJ/POSTECH/nlp/figs/icons/trophy.png">    </p:cNvPr>
          <p:cNvPicPr>
            <a:picLocks noChangeAspect="1"/>
          </p:cNvPicPr>
          <p:nvPr/>
        </p:nvPicPr>
        <p:blipFill>
          <a:blip r:embed="rId16"/>
          <a:stretch>
            <a:fillRect/>
          </a:stretch>
        </p:blipFill>
        <p:spPr>
          <a:xfrm>
            <a:off x="8055864" y="3401568"/>
            <a:ext cx="237744" cy="237744"/>
          </a:xfrm>
          <a:prstGeom prst="rect">
            <a:avLst/>
          </a:prstGeom>
        </p:spPr>
      </p:pic>
      <p:pic>
        <p:nvPicPr>
          <p:cNvPr id="45" name="step 4 used on truck" descr="/NAS/SJ/POSTECH/nlp/figs/icons/truck.png">    </p:cNvPr>
          <p:cNvPicPr>
            <a:picLocks noChangeAspect="1"/>
          </p:cNvPicPr>
          <p:nvPr/>
        </p:nvPicPr>
        <p:blipFill>
          <a:blip r:embed="rId17"/>
          <a:stretch>
            <a:fillRect/>
          </a:stretch>
        </p:blipFill>
        <p:spPr>
          <a:xfrm>
            <a:off x="8348472" y="3401568"/>
            <a:ext cx="237744" cy="237744"/>
          </a:xfrm>
          <a:prstGeom prst="rect">
            <a:avLst/>
          </a:prstGeom>
        </p:spPr>
      </p:pic>
      <p:pic>
        <p:nvPicPr>
          <p:cNvPr id="46" name="step 4 used on calc" descr="/NAS/SJ/POSTECH/nlp/figs/icons/calc.png">    </p:cNvPr>
          <p:cNvPicPr>
            <a:picLocks noChangeAspect="1"/>
          </p:cNvPicPr>
          <p:nvPr/>
        </p:nvPicPr>
        <p:blipFill>
          <a:blip r:embed="rId18"/>
          <a:stretch>
            <a:fillRect/>
          </a:stretch>
        </p:blipFill>
        <p:spPr>
          <a:xfrm>
            <a:off x="8641080" y="3401568"/>
            <a:ext cx="237744" cy="237744"/>
          </a:xfrm>
          <a:prstGeom prst="rect">
            <a:avLst/>
          </a:prstGeom>
        </p:spPr>
      </p:pic>
      <p:sp>
        <p:nvSpPr>
          <p:cNvPr id="47" name="Text 27"/>
          <p:cNvSpPr txBox="1"/>
          <p:nvPr/>
        </p:nvSpPr>
        <p:spPr>
          <a:xfrm>
            <a:off x="950976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5 Reuse</a:t>
            </a:r>
            <a:endParaRPr lang="en-US" sz="1700" dirty="0"/>
          </a:p>
        </p:txBody>
      </p:sp>
      <p:sp>
        <p:nvSpPr>
          <p:cNvPr id="48" name="step 5 Reuse"/>
          <p:cNvSpPr/>
          <p:nvPr/>
        </p:nvSpPr>
        <p:spPr>
          <a:xfrm>
            <a:off x="9509760" y="2011680"/>
            <a:ext cx="2103120" cy="1325880"/>
          </a:xfrm>
          <a:prstGeom prst="roundRect">
            <a:avLst>
              <a:gd name="adj" fmla="val 5517"/>
            </a:avLst>
          </a:prstGeom>
          <a:solidFill>
            <a:srgbClr val="DEEBF7"/>
          </a:solidFill>
          <a:ln w="12700">
            <a:solidFill>
              <a:srgbClr val="4472C4"/>
            </a:solidFill>
            <a:prstDash val="solid"/>
          </a:ln>
        </p:spPr>
      </p:sp>
      <p:sp>
        <p:nvSpPr>
          <p:cNvPr id="49" name="Text 29"/>
          <p:cNvSpPr txBox="1"/>
          <p:nvPr/>
        </p:nvSpPr>
        <p:spPr>
          <a:xfrm>
            <a:off x="9582912" y="2057400"/>
            <a:ext cx="1956816" cy="566928"/>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50" name="Text 30"/>
          <p:cNvSpPr txBox="1"/>
          <p:nvPr/>
        </p:nvSpPr>
        <p:spPr>
          <a:xfrm>
            <a:off x="960120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same kind, new data: no new tokens</a:t>
            </a:r>
            <a:endParaRPr lang="en-US" sz="1400" dirty="0"/>
          </a:p>
        </p:txBody>
      </p:sp>
      <p:pic>
        <p:nvPicPr>
          <p:cNvPr id="51" name="step 5 not needed on shapes" descr="/NAS/SJ/POSTECH/nlp/figs/icons/shapes.png">    </p:cNvPr>
          <p:cNvPicPr>
            <a:picLocks noChangeAspect="1"/>
          </p:cNvPicPr>
          <p:nvPr/>
        </p:nvPicPr>
        <p:blipFill>
          <a:blip r:embed="rId19">
            <a:alphaModFix amt="18000"/>
          </a:blip>
          <a:stretch>
            <a:fillRect/>
          </a:stretch>
        </p:blipFill>
        <p:spPr>
          <a:xfrm>
            <a:off x="10003536" y="3401568"/>
            <a:ext cx="237744" cy="237744"/>
          </a:xfrm>
          <a:prstGeom prst="rect">
            <a:avLst/>
          </a:prstGeom>
        </p:spPr>
      </p:pic>
      <p:pic>
        <p:nvPicPr>
          <p:cNvPr id="52" name="step 5 not needed on trophy" descr="/NAS/SJ/POSTECH/nlp/figs/icons/trophy.png">    </p:cNvPr>
          <p:cNvPicPr>
            <a:picLocks noChangeAspect="1"/>
          </p:cNvPicPr>
          <p:nvPr/>
        </p:nvPicPr>
        <p:blipFill>
          <a:blip r:embed="rId20">
            <a:alphaModFix amt="18000"/>
          </a:blip>
          <a:stretch>
            <a:fillRect/>
          </a:stretch>
        </p:blipFill>
        <p:spPr>
          <a:xfrm>
            <a:off x="10296144" y="3401568"/>
            <a:ext cx="237744" cy="237744"/>
          </a:xfrm>
          <a:prstGeom prst="rect">
            <a:avLst/>
          </a:prstGeom>
        </p:spPr>
      </p:pic>
      <p:pic>
        <p:nvPicPr>
          <p:cNvPr id="53" name="step 5 used on truck" descr="/NAS/SJ/POSTECH/nlp/figs/icons/truck.png">    </p:cNvPr>
          <p:cNvPicPr>
            <a:picLocks noChangeAspect="1"/>
          </p:cNvPicPr>
          <p:nvPr/>
        </p:nvPicPr>
        <p:blipFill>
          <a:blip r:embed="rId21"/>
          <a:stretch>
            <a:fillRect/>
          </a:stretch>
        </p:blipFill>
        <p:spPr>
          <a:xfrm>
            <a:off x="10588752" y="3401568"/>
            <a:ext cx="237744" cy="237744"/>
          </a:xfrm>
          <a:prstGeom prst="rect">
            <a:avLst/>
          </a:prstGeom>
        </p:spPr>
      </p:pic>
      <p:pic>
        <p:nvPicPr>
          <p:cNvPr id="54" name="step 5 not needed on calc" descr="/NAS/SJ/POSTECH/nlp/figs/icons/calc.png">    </p:cNvPr>
          <p:cNvPicPr>
            <a:picLocks noChangeAspect="1"/>
          </p:cNvPicPr>
          <p:nvPr/>
        </p:nvPicPr>
        <p:blipFill>
          <a:blip r:embed="rId22">
            <a:alphaModFix amt="18000"/>
          </a:blip>
          <a:stretch>
            <a:fillRect/>
          </a:stretch>
        </p:blipFill>
        <p:spPr>
          <a:xfrm>
            <a:off x="10881360" y="3401568"/>
            <a:ext cx="237744" cy="237744"/>
          </a:xfrm>
          <a:prstGeom prst="rect">
            <a:avLst/>
          </a:prstGeom>
        </p:spPr>
      </p:pic>
      <p:sp>
        <p:nvSpPr>
          <p:cNvPr id="55" name="Text 31"/>
          <p:cNvSpPr txBox="1"/>
          <p:nvPr/>
        </p:nvSpPr>
        <p:spPr>
          <a:xfrm>
            <a:off x="548640" y="3730752"/>
            <a:ext cx="6400800" cy="365760"/>
          </a:xfrm>
          <a:prstGeom prst="rect">
            <a:avLst/>
          </a:prstGeom>
          <a:noFill/>
          <a:ln/>
        </p:spPr>
        <p:txBody>
          <a:bodyPr wrap="square" lIns="0" tIns="0" rIns="0" bIns="0" rtlCol="0" anchor="ctr"/>
          <a:lstStyle/>
          <a:p>
            <a:pPr indent="0" marL="0">
              <a:buNone/>
            </a:pPr>
            <a:r>
              <a:rPr lang="en-US" sz="1600" b="1" dirty="0">
                <a:solidFill>
                  <a:schemeClr val="tx1"/>
                </a:solidFill>
              </a:rPr>
              <a:t>108 geometry + 100 optimization problems × 3 models:</a:t>
            </a:r>
            <a:endParaRPr lang="en-US" sz="1600" dirty="0"/>
          </a:p>
        </p:txBody>
      </p:sp>
      <p:sp>
        <p:nvSpPr>
          <p:cNvPr id="56" name="Text 32"/>
          <p:cNvSpPr txBox="1"/>
          <p:nvPr/>
        </p:nvSpPr>
        <p:spPr>
          <a:xfrm>
            <a:off x="2560320" y="406908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7" name="Text 33"/>
          <p:cNvSpPr txBox="1"/>
          <p:nvPr/>
        </p:nvSpPr>
        <p:spPr>
          <a:xfrm>
            <a:off x="3474720" y="4069080"/>
            <a:ext cx="347472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8" name="Text 34"/>
          <p:cNvSpPr txBox="1"/>
          <p:nvPr/>
        </p:nvSpPr>
        <p:spPr>
          <a:xfrm>
            <a:off x="548640" y="4434840"/>
            <a:ext cx="1920240" cy="457200"/>
          </a:xfrm>
          <a:prstGeom prst="rect">
            <a:avLst/>
          </a:prstGeom>
          <a:noFill/>
          <a:ln/>
        </p:spPr>
        <p:txBody>
          <a:bodyPr wrap="square" lIns="0" tIns="0" rIns="0" bIns="0" rtlCol="0" anchor="ctr"/>
          <a:lstStyle/>
          <a:p>
            <a:pPr algn="r" indent="0" marL="0">
              <a:buNone/>
            </a:pPr>
            <a:r>
              <a:rPr lang="en-US" sz="1500" dirty="0">
                <a:solidFill>
                  <a:schemeClr val="tx1"/>
                </a:solidFill>
              </a:rPr>
              <a:t>think on hardest-looking</a:t>
            </a:r>
            <a:endParaRPr lang="en-US" sz="1500" dirty="0"/>
          </a:p>
        </p:txBody>
      </p:sp>
      <p:sp>
        <p:nvSpPr>
          <p:cNvPr id="59" name="Text 35"/>
          <p:cNvSpPr txBox="1"/>
          <p:nvPr/>
        </p:nvSpPr>
        <p:spPr>
          <a:xfrm>
            <a:off x="2560320" y="443484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60" name="tokens think on hardest-looking"/>
          <p:cNvSpPr/>
          <p:nvPr/>
        </p:nvSpPr>
        <p:spPr>
          <a:xfrm>
            <a:off x="3474720" y="4535424"/>
            <a:ext cx="2743200" cy="256032"/>
          </a:xfrm>
          <a:prstGeom prst="rect">
            <a:avLst/>
          </a:prstGeom>
          <a:solidFill>
            <a:srgbClr val="7F7F7F"/>
          </a:solidFill>
          <a:ln w="6350">
            <a:solidFill>
              <a:srgbClr val="7F7F7F"/>
            </a:solidFill>
            <a:prstDash val="solid"/>
          </a:ln>
        </p:spPr>
      </p:sp>
      <p:sp>
        <p:nvSpPr>
          <p:cNvPr id="61" name="Text 37"/>
          <p:cNvSpPr txBox="1"/>
          <p:nvPr/>
        </p:nvSpPr>
        <p:spPr>
          <a:xfrm>
            <a:off x="6309360" y="443484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2" name="Text 38"/>
          <p:cNvSpPr txBox="1"/>
          <p:nvPr/>
        </p:nvSpPr>
        <p:spPr>
          <a:xfrm>
            <a:off x="548640" y="4965192"/>
            <a:ext cx="1920240" cy="457200"/>
          </a:xfrm>
          <a:prstGeom prst="rect">
            <a:avLst/>
          </a:prstGeom>
          <a:noFill/>
          <a:ln/>
        </p:spPr>
        <p:txBody>
          <a:bodyPr wrap="square" lIns="0" tIns="0" rIns="0" bIns="0" rtlCol="0" anchor="ctr"/>
          <a:lstStyle/>
          <a:p>
            <a:pPr algn="r" indent="0" marL="0">
              <a:buNone/>
            </a:pPr>
            <a:r>
              <a:rPr lang="en-US" sz="1500" dirty="0">
                <a:solidFill>
                  <a:schemeClr val="tx1"/>
                </a:solidFill>
              </a:rPr>
              <a:t>our method</a:t>
            </a:r>
            <a:endParaRPr lang="en-US" sz="1500" dirty="0"/>
          </a:p>
        </p:txBody>
      </p:sp>
      <p:sp>
        <p:nvSpPr>
          <p:cNvPr id="63" name="Text 39"/>
          <p:cNvSpPr txBox="1"/>
          <p:nvPr/>
        </p:nvSpPr>
        <p:spPr>
          <a:xfrm>
            <a:off x="2560320" y="49651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4" name="tokens our method"/>
          <p:cNvSpPr/>
          <p:nvPr/>
        </p:nvSpPr>
        <p:spPr>
          <a:xfrm>
            <a:off x="3474720" y="5065776"/>
            <a:ext cx="1672683" cy="256032"/>
          </a:xfrm>
          <a:prstGeom prst="rect">
            <a:avLst/>
          </a:prstGeom>
          <a:solidFill>
            <a:srgbClr val="4472C4"/>
          </a:solidFill>
          <a:ln w="6350">
            <a:solidFill>
              <a:srgbClr val="4472C4"/>
            </a:solidFill>
            <a:prstDash val="solid"/>
          </a:ln>
        </p:spPr>
      </p:sp>
      <p:sp>
        <p:nvSpPr>
          <p:cNvPr id="65" name="Text 41"/>
          <p:cNvSpPr txBox="1"/>
          <p:nvPr/>
        </p:nvSpPr>
        <p:spPr>
          <a:xfrm>
            <a:off x="5238843" y="49651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6" name="Text 42"/>
          <p:cNvSpPr txBox="1"/>
          <p:nvPr/>
        </p:nvSpPr>
        <p:spPr>
          <a:xfrm>
            <a:off x="7498080" y="3730752"/>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79% = 79%</a:t>
            </a:r>
            <a:endParaRPr lang="en-US" sz="2400" dirty="0"/>
          </a:p>
        </p:txBody>
      </p:sp>
      <p:sp>
        <p:nvSpPr>
          <p:cNvPr id="67" name="Text 43"/>
          <p:cNvSpPr txBox="1"/>
          <p:nvPr/>
        </p:nvSpPr>
        <p:spPr>
          <a:xfrm>
            <a:off x="7498080" y="4169664"/>
            <a:ext cx="4114800" cy="457200"/>
          </a:xfrm>
          <a:prstGeom prst="rect">
            <a:avLst/>
          </a:prstGeom>
          <a:noFill/>
          <a:ln/>
        </p:spPr>
        <p:txBody>
          <a:bodyPr wrap="square" lIns="0" tIns="0" rIns="0" bIns="0" rtlCol="0" anchor="t"/>
          <a:lstStyle/>
          <a:p>
            <a:pPr indent="0" marL="0">
              <a:buNone/>
            </a:pPr>
            <a:r>
              <a:rPr lang="en-US" sz="1400" dirty="0">
                <a:solidFill>
                  <a:schemeClr val="tx1"/>
                </a:solidFill>
              </a:rPr>
              <a:t>the hint found automatically (its own earlier checked program) = a hand-written hint, on new problems</a:t>
            </a:r>
            <a:endParaRPr lang="en-US" sz="1400" dirty="0"/>
          </a:p>
        </p:txBody>
      </p:sp>
      <p:sp>
        <p:nvSpPr>
          <p:cNvPr id="68" name="Text 44"/>
          <p:cNvSpPr txBox="1"/>
          <p:nvPr/>
        </p:nvSpPr>
        <p:spPr>
          <a:xfrm>
            <a:off x="7498080" y="4645152"/>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0.6k vs 5.3k</a:t>
            </a:r>
            <a:endParaRPr lang="en-US" sz="2400" dirty="0"/>
          </a:p>
        </p:txBody>
      </p:sp>
      <p:sp>
        <p:nvSpPr>
          <p:cNvPr id="69" name="Text 45"/>
          <p:cNvSpPr txBox="1"/>
          <p:nvPr/>
        </p:nvSpPr>
        <p:spPr>
          <a:xfrm>
            <a:off x="7498080" y="5084064"/>
            <a:ext cx="4114800" cy="457200"/>
          </a:xfrm>
          <a:prstGeom prst="rect">
            <a:avLst/>
          </a:prstGeom>
          <a:noFill/>
          <a:ln/>
        </p:spPr>
        <p:txBody>
          <a:bodyPr wrap="square" lIns="0" tIns="0" rIns="0" bIns="0" rtlCol="0" anchor="t"/>
          <a:lstStyle/>
          <a:p>
            <a:pPr indent="0" marL="0">
              <a:buNone/>
            </a:pPr>
            <a:r>
              <a:rPr lang="en-US" sz="1400" dirty="0">
                <a:solidFill>
                  <a:schemeClr val="tx1"/>
                </a:solidFill>
              </a:rPr>
              <a:t>tokens on this problem vs thinking alone</a:t>
            </a:r>
            <a:endParaRPr lang="en-US" sz="1400" dirty="0"/>
          </a:p>
        </p:txBody>
      </p:sp>
      <p:sp>
        <p:nvSpPr>
          <p:cNvPr id="70" name="Text 4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548640" y="1188720"/>
            <a:ext cx="484632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766560" y="1188720"/>
            <a:ext cx="484632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box "/>
          <p:cNvSpPr/>
          <p:nvPr/>
        </p:nvSpPr>
        <p:spPr>
          <a:xfrm>
            <a:off x="548640" y="1600200"/>
            <a:ext cx="4846320" cy="685800"/>
          </a:xfrm>
          <a:prstGeom prst="roundRect">
            <a:avLst>
              <a:gd name="adj" fmla="val 8000"/>
            </a:avLst>
          </a:prstGeom>
          <a:solidFill>
            <a:srgbClr val="F2F2F2"/>
          </a:solidFill>
          <a:ln w="9525">
            <a:solidFill>
              <a:srgbClr val="BFBFBF"/>
            </a:solidFill>
            <a:prstDash val="solid"/>
          </a:ln>
        </p:spPr>
      </p:sp>
      <p:sp>
        <p:nvSpPr>
          <p:cNvPr id="6" name="Text 4"/>
          <p:cNvSpPr txBox="1"/>
          <p:nvPr/>
        </p:nvSpPr>
        <p:spPr>
          <a:xfrm>
            <a:off x="62179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7" name="usual icon 0" descr="/NAS/SJ/POSTECH/nlp/figs/icons/brain.png">    </p:cNvPr>
          <p:cNvPicPr>
            <a:picLocks noChangeAspect="1"/>
          </p:cNvPicPr>
          <p:nvPr/>
        </p:nvPicPr>
        <p:blipFill>
          <a:blip r:embed="rId1"/>
          <a:stretch>
            <a:fillRect/>
          </a:stretch>
        </p:blipFill>
        <p:spPr>
          <a:xfrm>
            <a:off x="685800" y="1737360"/>
            <a:ext cx="411480" cy="411480"/>
          </a:xfrm>
          <a:prstGeom prst="rect">
            <a:avLst/>
          </a:prstGeom>
        </p:spPr>
      </p:pic>
      <p:sp>
        <p:nvSpPr>
          <p:cNvPr id="8" name="Text 5"/>
          <p:cNvSpPr txBox="1"/>
          <p:nvPr/>
        </p:nvSpPr>
        <p:spPr>
          <a:xfrm>
            <a:off x="1234440" y="1600200"/>
            <a:ext cx="406908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when to think</a:t>
            </a:r>
            <a:endParaRPr lang="en-US" sz="1500" dirty="0"/>
          </a:p>
        </p:txBody>
      </p:sp>
      <p:sp>
        <p:nvSpPr>
          <p:cNvPr id="9" name="arrow 0"/>
          <p:cNvSpPr/>
          <p:nvPr/>
        </p:nvSpPr>
        <p:spPr>
          <a:xfrm>
            <a:off x="5577840" y="1755648"/>
            <a:ext cx="1005840" cy="384048"/>
          </a:xfrm>
          <a:prstGeom prst="rightArrow">
            <a:avLst/>
          </a:prstGeom>
          <a:solidFill>
            <a:srgbClr val="4472C4"/>
          </a:solidFill>
          <a:ln w="12700">
            <a:solidFill>
              <a:srgbClr val="4472C4"/>
            </a:solidFill>
            <a:prstDash val="solid"/>
          </a:ln>
        </p:spPr>
      </p:sp>
      <p:sp>
        <p:nvSpPr>
          <p:cNvPr id="10" name="box "/>
          <p:cNvSpPr/>
          <p:nvPr/>
        </p:nvSpPr>
        <p:spPr>
          <a:xfrm>
            <a:off x="6766560" y="1600200"/>
            <a:ext cx="4846320" cy="685800"/>
          </a:xfrm>
          <a:prstGeom prst="roundRect">
            <a:avLst>
              <a:gd name="adj" fmla="val 8000"/>
            </a:avLst>
          </a:prstGeom>
          <a:solidFill>
            <a:srgbClr val="DEEBF7"/>
          </a:solidFill>
          <a:ln w="9525">
            <a:solidFill>
              <a:srgbClr val="BFBFBF"/>
            </a:solidFill>
            <a:prstDash val="solid"/>
          </a:ln>
        </p:spPr>
      </p:sp>
      <p:sp>
        <p:nvSpPr>
          <p:cNvPr id="11" name="Text 8"/>
          <p:cNvSpPr txBox="1"/>
          <p:nvPr/>
        </p:nvSpPr>
        <p:spPr>
          <a:xfrm>
            <a:off x="683971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2" name="ours icon 0" descr="/NAS/SJ/POSTECH/nlp/figs/icons/check.png">    </p:cNvPr>
          <p:cNvPicPr>
            <a:picLocks noChangeAspect="1"/>
          </p:cNvPicPr>
          <p:nvPr/>
        </p:nvPicPr>
        <p:blipFill>
          <a:blip r:embed="rId2"/>
          <a:stretch>
            <a:fillRect/>
          </a:stretch>
        </p:blipFill>
        <p:spPr>
          <a:xfrm>
            <a:off x="6903720" y="1737360"/>
            <a:ext cx="411480" cy="411480"/>
          </a:xfrm>
          <a:prstGeom prst="rect">
            <a:avLst/>
          </a:prstGeom>
        </p:spPr>
      </p:pic>
      <p:sp>
        <p:nvSpPr>
          <p:cNvPr id="13" name="Text 9"/>
          <p:cNvSpPr txBox="1"/>
          <p:nvPr/>
        </p:nvSpPr>
        <p:spPr>
          <a:xfrm>
            <a:off x="7452360" y="160020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a:t>
            </a:r>
            <a:endParaRPr lang="en-US" sz="1500" dirty="0"/>
          </a:p>
        </p:txBody>
      </p:sp>
      <p:sp>
        <p:nvSpPr>
          <p:cNvPr id="14" name="box "/>
          <p:cNvSpPr/>
          <p:nvPr/>
        </p:nvSpPr>
        <p:spPr>
          <a:xfrm>
            <a:off x="548640" y="2423160"/>
            <a:ext cx="4846320" cy="685800"/>
          </a:xfrm>
          <a:prstGeom prst="roundRect">
            <a:avLst>
              <a:gd name="adj" fmla="val 8000"/>
            </a:avLst>
          </a:prstGeom>
          <a:solidFill>
            <a:srgbClr val="F2F2F2"/>
          </a:solidFill>
          <a:ln w="9525">
            <a:solidFill>
              <a:srgbClr val="BFBFBF"/>
            </a:solidFill>
            <a:prstDash val="solid"/>
          </a:ln>
        </p:spPr>
      </p:sp>
      <p:sp>
        <p:nvSpPr>
          <p:cNvPr id="15" name="Text 11"/>
          <p:cNvSpPr txBox="1"/>
          <p:nvPr/>
        </p:nvSpPr>
        <p:spPr>
          <a:xfrm>
            <a:off x="62179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6" name="usual icon 1" descr="/NAS/SJ/POSTECH/nlp/figs/icons/page.png">    </p:cNvPr>
          <p:cNvPicPr>
            <a:picLocks noChangeAspect="1"/>
          </p:cNvPicPr>
          <p:nvPr/>
        </p:nvPicPr>
        <p:blipFill>
          <a:blip r:embed="rId3"/>
          <a:stretch>
            <a:fillRect/>
          </a:stretch>
        </p:blipFill>
        <p:spPr>
          <a:xfrm>
            <a:off x="685800" y="2560320"/>
            <a:ext cx="411480" cy="411480"/>
          </a:xfrm>
          <a:prstGeom prst="rect">
            <a:avLst/>
          </a:prstGeom>
        </p:spPr>
      </p:pic>
      <p:sp>
        <p:nvSpPr>
          <p:cNvPr id="17" name="Text 12"/>
          <p:cNvSpPr txBox="1"/>
          <p:nvPr/>
        </p:nvSpPr>
        <p:spPr>
          <a:xfrm>
            <a:off x="1234440" y="2423160"/>
            <a:ext cx="4069080" cy="685800"/>
          </a:xfrm>
          <a:prstGeom prst="rect">
            <a:avLst/>
          </a:prstGeom>
          <a:noFill/>
          <a:ln/>
        </p:spPr>
        <p:txBody>
          <a:bodyPr wrap="square" lIns="0" tIns="0" rIns="0" bIns="0" rtlCol="0" anchor="ctr"/>
          <a:lstStyle/>
          <a:p>
            <a:pPr indent="0" marL="0">
              <a:buNone/>
            </a:pPr>
            <a:r>
              <a:rPr lang="en-US" sz="1500" dirty="0">
                <a:solidFill>
                  <a:srgbClr val="404040"/>
                </a:solidFill>
              </a:rPr>
              <a:t>give the manual, or a teacher's programs checked against answers</a:t>
            </a:r>
            <a:endParaRPr lang="en-US" sz="1500" dirty="0"/>
          </a:p>
        </p:txBody>
      </p:sp>
      <p:sp>
        <p:nvSpPr>
          <p:cNvPr id="18" name="arrow 1"/>
          <p:cNvSpPr/>
          <p:nvPr/>
        </p:nvSpPr>
        <p:spPr>
          <a:xfrm>
            <a:off x="5577840" y="2578608"/>
            <a:ext cx="1005840" cy="384048"/>
          </a:xfrm>
          <a:prstGeom prst="rightArrow">
            <a:avLst/>
          </a:prstGeom>
          <a:solidFill>
            <a:srgbClr val="4472C4"/>
          </a:solidFill>
          <a:ln w="12700">
            <a:solidFill>
              <a:srgbClr val="4472C4"/>
            </a:solidFill>
            <a:prstDash val="solid"/>
          </a:ln>
        </p:spPr>
      </p:sp>
      <p:sp>
        <p:nvSpPr>
          <p:cNvPr id="19" name="box "/>
          <p:cNvSpPr/>
          <p:nvPr/>
        </p:nvSpPr>
        <p:spPr>
          <a:xfrm>
            <a:off x="6766560" y="2423160"/>
            <a:ext cx="4846320" cy="685800"/>
          </a:xfrm>
          <a:prstGeom prst="roundRect">
            <a:avLst>
              <a:gd name="adj" fmla="val 8000"/>
            </a:avLst>
          </a:prstGeom>
          <a:solidFill>
            <a:srgbClr val="DEEBF7"/>
          </a:solidFill>
          <a:ln w="9525">
            <a:solidFill>
              <a:srgbClr val="BFBFBF"/>
            </a:solidFill>
            <a:prstDash val="solid"/>
          </a:ln>
        </p:spPr>
      </p:sp>
      <p:sp>
        <p:nvSpPr>
          <p:cNvPr id="20" name="Text 15"/>
          <p:cNvSpPr txBox="1"/>
          <p:nvPr/>
        </p:nvSpPr>
        <p:spPr>
          <a:xfrm>
            <a:off x="683971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1" name="ours icon 1" descr="/NAS/SJ/POSTECH/nlp/figs/icons/fact.png">    </p:cNvPr>
          <p:cNvPicPr>
            <a:picLocks noChangeAspect="1"/>
          </p:cNvPicPr>
          <p:nvPr/>
        </p:nvPicPr>
        <p:blipFill>
          <a:blip r:embed="rId4"/>
          <a:stretch>
            <a:fillRect/>
          </a:stretch>
        </p:blipFill>
        <p:spPr>
          <a:xfrm>
            <a:off x="6903720" y="2560320"/>
            <a:ext cx="411480" cy="411480"/>
          </a:xfrm>
          <a:prstGeom prst="rect">
            <a:avLst/>
          </a:prstGeom>
        </p:spPr>
      </p:pic>
      <p:sp>
        <p:nvSpPr>
          <p:cNvPr id="22" name="Text 16"/>
          <p:cNvSpPr txBox="1"/>
          <p:nvPr/>
        </p:nvSpPr>
        <p:spPr>
          <a:xfrm>
            <a:off x="7452360" y="242316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give one hint: the model's own checked program; no answer key</a:t>
            </a:r>
            <a:endParaRPr lang="en-US" sz="1500" dirty="0"/>
          </a:p>
        </p:txBody>
      </p:sp>
      <p:sp>
        <p:nvSpPr>
          <p:cNvPr id="23" name="box "/>
          <p:cNvSpPr/>
          <p:nvPr/>
        </p:nvSpPr>
        <p:spPr>
          <a:xfrm>
            <a:off x="548640" y="3246120"/>
            <a:ext cx="4846320" cy="685800"/>
          </a:xfrm>
          <a:prstGeom prst="roundRect">
            <a:avLst>
              <a:gd name="adj" fmla="val 8000"/>
            </a:avLst>
          </a:prstGeom>
          <a:solidFill>
            <a:srgbClr val="F2F2F2"/>
          </a:solidFill>
          <a:ln w="9525">
            <a:solidFill>
              <a:srgbClr val="BFBFBF"/>
            </a:solidFill>
            <a:prstDash val="solid"/>
          </a:ln>
        </p:spPr>
      </p:sp>
      <p:sp>
        <p:nvSpPr>
          <p:cNvPr id="24" name="Text 18"/>
          <p:cNvSpPr txBox="1"/>
          <p:nvPr/>
        </p:nvSpPr>
        <p:spPr>
          <a:xfrm>
            <a:off x="62179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5" name="usual icon 2" descr="/NAS/SJ/POSTECH/nlp/figs/icons/robot.png">    </p:cNvPr>
          <p:cNvPicPr>
            <a:picLocks noChangeAspect="1"/>
          </p:cNvPicPr>
          <p:nvPr/>
        </p:nvPicPr>
        <p:blipFill>
          <a:blip r:embed="rId5"/>
          <a:stretch>
            <a:fillRect/>
          </a:stretch>
        </p:blipFill>
        <p:spPr>
          <a:xfrm>
            <a:off x="685800" y="3383280"/>
            <a:ext cx="411480" cy="411480"/>
          </a:xfrm>
          <a:prstGeom prst="rect">
            <a:avLst/>
          </a:prstGeom>
        </p:spPr>
      </p:pic>
      <p:sp>
        <p:nvSpPr>
          <p:cNvPr id="26" name="Text 19"/>
          <p:cNvSpPr txBox="1"/>
          <p:nvPr/>
        </p:nvSpPr>
        <p:spPr>
          <a:xfrm>
            <a:off x="1234440" y="3246120"/>
            <a:ext cx="406908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model (ORLM-8B)</a:t>
            </a:r>
            <a:endParaRPr lang="en-US" sz="1500" dirty="0"/>
          </a:p>
        </p:txBody>
      </p:sp>
      <p:sp>
        <p:nvSpPr>
          <p:cNvPr id="27" name="arrow 2"/>
          <p:cNvSpPr/>
          <p:nvPr/>
        </p:nvSpPr>
        <p:spPr>
          <a:xfrm>
            <a:off x="5577840" y="3401568"/>
            <a:ext cx="1005840" cy="384048"/>
          </a:xfrm>
          <a:prstGeom prst="rightArrow">
            <a:avLst/>
          </a:prstGeom>
          <a:solidFill>
            <a:srgbClr val="4472C4"/>
          </a:solidFill>
          <a:ln w="12700">
            <a:solidFill>
              <a:srgbClr val="4472C4"/>
            </a:solidFill>
            <a:prstDash val="solid"/>
          </a:ln>
        </p:spPr>
      </p:sp>
      <p:sp>
        <p:nvSpPr>
          <p:cNvPr id="28" name="box "/>
          <p:cNvSpPr/>
          <p:nvPr/>
        </p:nvSpPr>
        <p:spPr>
          <a:xfrm>
            <a:off x="6766560" y="3246120"/>
            <a:ext cx="4846320" cy="685800"/>
          </a:xfrm>
          <a:prstGeom prst="roundRect">
            <a:avLst>
              <a:gd name="adj" fmla="val 8000"/>
            </a:avLst>
          </a:prstGeom>
          <a:solidFill>
            <a:srgbClr val="DEEBF7"/>
          </a:solidFill>
          <a:ln w="9525">
            <a:solidFill>
              <a:srgbClr val="BFBFBF"/>
            </a:solidFill>
            <a:prstDash val="solid"/>
          </a:ln>
        </p:spPr>
      </p:sp>
      <p:sp>
        <p:nvSpPr>
          <p:cNvPr id="29" name="Text 22"/>
          <p:cNvSpPr txBox="1"/>
          <p:nvPr/>
        </p:nvSpPr>
        <p:spPr>
          <a:xfrm>
            <a:off x="683971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30" name="ours icon 2" descr="/NAS/SJ/POSTECH/nlp/figs/icons/gpu.png">    </p:cNvPr>
          <p:cNvPicPr>
            <a:picLocks noChangeAspect="1"/>
          </p:cNvPicPr>
          <p:nvPr/>
        </p:nvPicPr>
        <p:blipFill>
          <a:blip r:embed="rId6"/>
          <a:stretch>
            <a:fillRect/>
          </a:stretch>
        </p:blipFill>
        <p:spPr>
          <a:xfrm>
            <a:off x="6903720" y="3383280"/>
            <a:ext cx="411480" cy="411480"/>
          </a:xfrm>
          <a:prstGeom prst="rect">
            <a:avLst/>
          </a:prstGeom>
        </p:spPr>
      </p:pic>
      <p:sp>
        <p:nvSpPr>
          <p:cNvPr id="31" name="Text 23"/>
          <p:cNvSpPr txBox="1"/>
          <p:nvPr/>
        </p:nvSpPr>
        <p:spPr>
          <a:xfrm>
            <a:off x="7452360" y="324612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no training, one 24 GB GPU: the same 69.5% on MAMO</a:t>
            </a:r>
            <a:endParaRPr lang="en-US" sz="1500" dirty="0"/>
          </a:p>
        </p:txBody>
      </p:sp>
      <p:sp>
        <p:nvSpPr>
          <p:cNvPr id="32" name="Text 24"/>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3" name="Shape 25"/>
          <p:cNvSpPr/>
          <p:nvPr/>
        </p:nvSpPr>
        <p:spPr>
          <a:xfrm>
            <a:off x="2194560" y="4800600"/>
            <a:ext cx="7772400" cy="0"/>
          </a:xfrm>
          <a:prstGeom prst="line">
            <a:avLst/>
          </a:prstGeom>
          <a:noFill/>
          <a:ln w="38100">
            <a:solidFill>
              <a:srgbClr val="BFBFBF"/>
            </a:solidFill>
            <a:prstDash val="solid"/>
          </a:ln>
        </p:spPr>
      </p:sp>
      <p:sp>
        <p:nvSpPr>
          <p:cNvPr id="34"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5"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6" name="Text 27"/>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finish the held-out test on more models</a:t>
            </a:r>
            <a:endParaRPr lang="en-US" sz="1500" dirty="0"/>
          </a:p>
        </p:txBody>
      </p:sp>
      <p:sp>
        <p:nvSpPr>
          <p:cNvPr id="37"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38" name="milestone icon 1" descr="/NAS/SJ/POSTECH/nlp/figs/icons/warn.png">    </p:cNvPr>
          <p:cNvPicPr>
            <a:picLocks noChangeAspect="1"/>
          </p:cNvPicPr>
          <p:nvPr/>
        </p:nvPicPr>
        <p:blipFill>
          <a:blip r:embed="rId8"/>
          <a:stretch>
            <a:fillRect/>
          </a:stretch>
        </p:blipFill>
        <p:spPr>
          <a:xfrm>
            <a:off x="5907024" y="4626864"/>
            <a:ext cx="347472" cy="347472"/>
          </a:xfrm>
          <a:prstGeom prst="rect">
            <a:avLst/>
          </a:prstGeom>
        </p:spPr>
      </p:pic>
      <p:sp>
        <p:nvSpPr>
          <p:cNvPr id="39" name="Text 29"/>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errors no check catches: programs that run but model the problem wrong</a:t>
            </a:r>
            <a:endParaRPr lang="en-US" sz="1500" dirty="0"/>
          </a:p>
        </p:txBody>
      </p:sp>
      <p:sp>
        <p:nvSpPr>
          <p:cNvPr id="40"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1"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2" name="Text 31"/>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hints for every problem type; report and code</a:t>
            </a:r>
            <a:endParaRPr lang="en-US" sz="1500" dirty="0"/>
          </a:p>
        </p:txBody>
      </p:sp>
      <p:sp>
        <p:nvSpPr>
          <p:cNvPr id="43"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(seed 1)</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19).</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seed):</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seeds)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seeds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2026-10-19T18:21:46Z</dcterms:created>
  <dcterms:modified xsi:type="dcterms:W3CDTF">2026-10-19T18:21:46Z</dcterms:modified>
</cp:coreProperties>
</file>