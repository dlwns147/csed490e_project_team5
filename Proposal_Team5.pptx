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dc79cecb-57cb-f8fc-2d11-2229a63c4a6d}">
          <p14:sldIdLst>
            <p14:sldId id="256"/>
            <p14:sldId id="257"/>
            <p14:sldId id="258"/>
            <p14:sldId id="259"/>
            <p14:sldId id="260"/>
            <p14:sldId id="261"/>
            <p14:sldId id="262"/>
            <p14:sldId id="263"/>
            <p14:sldId id="264"/>
          </p14:sldIdLst>
        </p14:section>
        <p14:section name="Extra pages" id="{eca2beb0-36dd-2dbc-1f91-b02d6462817f}">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안녕하세요, 5조입니다. LLM으로 계산 수학 문제를 정확하고 싸게 푸는 방법을 제안합니다. 질문은 하나입니다. 추가 노력을 힌트, 검사,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저희가 푸는 문제는 네 종류이고, 두 무리로 나뉩니다. 기하 계산과 Codeforces 경시 문제는 맞는 알고리즘이 필요하고, 경시 문제는 그중 어려운 쪽으로 중앙값이 Codeforces Master 수준입니다. 배송 경로와 최적화 문장제는 솔버를 맞게 부르는 법이 필요하고, 문장제는 글을 수식으로 옮기는 단계가 더 있습니다. 이 문제들을 고른 이유는 답이 정확히 하나라 코드로 채점할 수 있고, 필요한 것이 서로 달라서 추가 노력을 어디에 써야 할지 비교할 수 있기 때문입니다. 공개 모델 Qwen3와 gpt-oss로 맞힌 문제 수와 토큰 수를 함께 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(20초) LLM은 말로 답할 수도 있고, 프로그램을 짤 수도 있습니다. Qwen3-8B에게 같은 도형의 넓이의 두 배를 물었습니다. 옮기고 돌리고 뒤집어도 답은 436입니다. 말로 답하면 매번 다른 답이 나오지만, 프로그램은 네 번 모두 436입니다. 계산에는 프로그램이 맞는 도구입니다.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하지만 두 가지 문제가 있습니다. 첫째, 프로그램은 조용히 틀립니다. 같은 문제인데 프롬프트에 보조 코드만 더하면 6 대신 0을 출력하고, 에러 메시지도 없습니다. 없는 라이브러리 함수를 불러서 죽기도 합니다. 둘째, 오래 생각하면 비쌉니다. 경시 문제 311개에서 gpt-oss-120b는 오래 생각하면 57%에서 66%로 오르지만, 토큰은 4.4배를 씁니다. 그래서 질문입니다. 추가 노력을 코드 힌트, 공짜 검사, 더 많은 생각 중 어디에 써야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(35초) 첫 번째 발견입니다. 매뉴얼이 아니라 짧은 힌트를 주세요. Qwen3-32B가 OR-Tools로 배송 경로 프로그램을 짭니다. 긴 참조 문서를 주면 존재하지 않는 함수를 불러서 죽고, 정확한 사용법 열한 줄을 주면 최적 경로를 찾습니다. 경로 문제 30개에서 최적해를 찾는 비율은 아무것도 안 주면 23%, 오래 생각하면 오히려 3%, 긴 참조 문서는 7%, 정확한 사용법은 77에서 90%입니다. 최적화 문장제와 기하에서도 같았습니다. 모르는 것은 생각한다고 생기지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두 번째 발견입니다. 공짜 검사가 실패할 때만 생각하게 하세요. 공짜 검사란, 정답을 몰라도 프로그램을 실행만 해서 틀렸는지 알아보는 방법입니다. 모델에게 더 생각시키지 않으니 토큰이 거의 들지 않습니다. 통과하면 답을 그대로 쓰고, 실패한 문제에만 더 생각합니다. 검사 A는 문제에 적힌 예제입니다. 'Make a triangle!'은 예제 3, 4, 5에서 정답 0을 그대로 내서 바로 씁니다. 'Arrow'는 예제와 꼭짓점이 달라서 그 문제만 더 생각했고, 맞았습니다. 예제만 쓰면 65%이고, 모든 경우를 다 따져 보는 느린 프로그램과도 답을 맞춰 보면 66%로, 항상 오래 생각할 때와 정확도가 같고 토큰은 18% 적습니다. 검사 B는 프로그램을 두 가지로 짜서 답을 비교합니다. 같으면 쓰고, 6과 0처럼 다르면 생각합니다. 기하 108문제에서 99% 대 98%이고, 토큰은 27%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(60초, [생략 가능] 포함 80초) 두 발견을 합친 것이 저희 방법입니다. 실제 최적화 문제로 보면, 1단계에서 모델이 없는 메서드를 불러 죽습니다. 2단계 힌트는 모델이 다른 문제에서 짜서 검사를 통과한 자기 프로그램에서 자동으로 가져옵니다. 3단계, 두 버전의 답이 20000으로 같으니 4단계 생각은 건너뛰어, 생각만 했을 때의 5.3k 대신 0.6k 토큰을 씁니다. 5단계, 같은 종류의 새 데이터에는 이 프로그램을 재사용합니다. [생략 가능] 아이콘은 각 단계를 쓰는 문제 종류이고, 경시 문제는 라이브러리가 없어 힌트 없이 검사와 생각만 씁니다. 전체 비교는 이렇게 했습니다. 기존 방식은 각 문제에 세 번 빠르게 답하게 해서 답이 갈리는 문제를 어렵다고 보고 거기에 생각을 씁니다. 저희는 모든 문제에 사람이 쓴 힌트를 먼저 주고 검사에 실패한 문제만 생각하게 합니다. 기하와 최적화 208문제를 세 모델로 풀면 정답률이 74% 대 87%, 토큰은 4.1k 대 2.5k입니다. [생략 가능] 오른쪽 79%는 개발에 쓰지 않은 MAMO 문제 863개에서 gpt-oss-20b에 자동 힌트를 준 결과로, 사람이 쓴 힌트와 같고, 힌트가 없으면 73%입니다.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(75초) 마지막으로 새로운 점과 다음 계획입니다. 왼쪽이 흔히 쓰는 방법, 오른쪽이 저희 방법입니다. 첫째, 기존에는 세 번 답해서 답이 갈리는 문제에 생각을 몰아주거나 언제 생각할지를 학습시키지만, 저희는 학습 없이 공짜 검사가 실패한 문제에만 생각을 씁니다. 둘째, 기존에는 매뉴얼이나 교사 모델이 짜서 정답으로 확인한 프로그램을 주지만, 저희는 모델 자신이 짜서 검사를 통과한 프로그램을 짧은 힌트로 주므로 사람도 정답도 필요 없습니다. 셋째, 비용입니다. 개발에 쓰지 않은 MAMO 863문제에서 최적화용으로 파인튜닝한 ORLM-8B를 저희 채점기로 돌리면 69.5%인데, 학습하지 않은 Qwen3-8B에 자기 힌트를 주면 24GB GPU 한 장으로 같은 69.5%를 더 적은 토큰에 냅니다. 다음으로는 더 많은 모델로 검증을 마치고, 실행은 되지만 문제를 잘못 수식으로 옮긴 오류를 힌트로 고칠 수 있는지 시험하고, 문제 종류마다 힌트를 찾겠습니다.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MAMO 검증을 Qwen3-32B와 Qwen3.6까지 세 시드로 마칩니다. 둘, 검사로 못 잡는 오류입니다. 지금 남은 오류의 절반쯤은 정답 라벨이 의심스러운 문제이고, 나머지는 같은 유형에서 같은 수식 실수가 반복됩니다. 예를 들어 순서 제약이나 공급 균형을 잘못 씁니다. 고치기 한 번이나 생각으로는 안 고쳐져서, 힌트 하나로 고쳐지는지 시험합니다. 셋, 지금은 같은 종류의 문제 안에서만 자동 힌트가 통하므로, 문제 종류마다 힌트를 찾고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Can retrieval (RAG) find the hint? (slide 5)
16: Why can thinking make it worse? (slide 5)
17: What if a wrong program passes the check? (slide 6)
18: Is there always a free check? (slide 6)
19: Who writes the hint? (slide 7)
20: Is 'think on the hardest' a weak baseline? (slide 7)
29: What if the same problem repeats? (slide 7)
11: Why no hint for contest problems? (slide 7)
28: Where does the recipe stop? (slide 7)
21, 22, 23: What is new vs PAL and cascades? (slide 8)
24: Why not majority voting? (slide 8)
25, 30: Is the comparison fair? (slide 8)
26: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image" Target="../media/image-7-3.png"/><Relationship Id="rId20" Type="http://schemas.openxmlformats.org/officeDocument/2006/relationships/image" Target="../media/image-7-4.png"/><Relationship Id="rId21" Type="http://schemas.openxmlformats.org/officeDocument/2006/relationships/image" Target="../media/image-7-5.png"/><Relationship Id="rId22" Type="http://schemas.openxmlformats.org/officeDocument/2006/relationships/image" Target="../media/image-7-6.png"/><Relationship Id="rId23" Type="http://schemas.openxmlformats.org/officeDocument/2006/relationships/slideLayout" Target="../slideLayouts/slideLayout3.xml"/><Relationship Id="rId2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2.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slideLayout" Target="../slideLayouts/slideLayout3.xml"/><Relationship Id="rId8"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hint,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a:t>
            </a:r>
            <a:endParaRPr lang="en-US" sz="2200" dirty="0"/>
          </a:p>
        </p:txBody>
      </p:sp>
      <p:sp>
        <p:nvSpPr>
          <p:cNvPr id="4" name="choice a missing fact"/>
          <p:cNvSpPr/>
          <p:nvPr/>
        </p:nvSpPr>
        <p:spPr>
          <a:xfrm>
            <a:off x="3145536" y="4892040"/>
            <a:ext cx="1874520" cy="502920"/>
          </a:xfrm>
          <a:prstGeom prst="roundRect">
            <a:avLst>
              <a:gd name="adj" fmla="val 36364"/>
            </a:avLst>
          </a:prstGeom>
          <a:solidFill>
            <a:srgbClr val="E2F0D9"/>
          </a:solidFill>
          <a:ln w="12700">
            <a:solidFill>
              <a:srgbClr val="38761D"/>
            </a:solidFill>
            <a:prstDash val="solid"/>
          </a:ln>
        </p:spPr>
      </p:sp>
      <p:pic>
        <p:nvPicPr>
          <p:cNvPr id="5" name="choice icon fact" descr="/NAS/SJ/POSTECH/nlp/figs/icons/fact.png">    </p:cNvPr>
          <p:cNvPicPr>
            <a:picLocks noChangeAspect="1"/>
          </p:cNvPicPr>
          <p:nvPr/>
        </p:nvPicPr>
        <p:blipFill>
          <a:blip r:embed="rId1"/>
          <a:stretch>
            <a:fillRect/>
          </a:stretch>
        </p:blipFill>
        <p:spPr>
          <a:xfrm>
            <a:off x="3255264" y="4978908"/>
            <a:ext cx="329184" cy="329184"/>
          </a:xfrm>
          <a:prstGeom prst="rect">
            <a:avLst/>
          </a:prstGeom>
        </p:spPr>
      </p:pic>
      <p:sp>
        <p:nvSpPr>
          <p:cNvPr id="6" name="Text 3"/>
          <p:cNvSpPr txBox="1"/>
          <p:nvPr/>
        </p:nvSpPr>
        <p:spPr>
          <a:xfrm>
            <a:off x="364845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 name="choice a free check"/>
          <p:cNvSpPr/>
          <p:nvPr/>
        </p:nvSpPr>
        <p:spPr>
          <a:xfrm>
            <a:off x="5157216" y="4892040"/>
            <a:ext cx="1874520" cy="502920"/>
          </a:xfrm>
          <a:prstGeom prst="roundRect">
            <a:avLst>
              <a:gd name="adj" fmla="val 36364"/>
            </a:avLst>
          </a:prstGeom>
          <a:solidFill>
            <a:srgbClr val="E2F0D9"/>
          </a:solidFill>
          <a:ln w="12700">
            <a:solidFill>
              <a:srgbClr val="38761D"/>
            </a:solidFill>
            <a:prstDash val="solid"/>
          </a:ln>
        </p:spPr>
      </p:sp>
      <p:pic>
        <p:nvPicPr>
          <p:cNvPr id="8" name="choice icon check" descr="/NAS/SJ/POSTECH/nlp/figs/icons/check.png">    </p:cNvPr>
          <p:cNvPicPr>
            <a:picLocks noChangeAspect="1"/>
          </p:cNvPicPr>
          <p:nvPr/>
        </p:nvPicPr>
        <p:blipFill>
          <a:blip r:embed="rId2"/>
          <a:stretch>
            <a:fillRect/>
          </a:stretch>
        </p:blipFill>
        <p:spPr>
          <a:xfrm>
            <a:off x="5266944" y="4978908"/>
            <a:ext cx="329184" cy="329184"/>
          </a:xfrm>
          <a:prstGeom prst="rect">
            <a:avLst/>
          </a:prstGeom>
        </p:spPr>
      </p:pic>
      <p:sp>
        <p:nvSpPr>
          <p:cNvPr id="9" name="Text 5"/>
          <p:cNvSpPr txBox="1"/>
          <p:nvPr/>
        </p:nvSpPr>
        <p:spPr>
          <a:xfrm>
            <a:off x="5660136" y="4892040"/>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10" name="choice more thinking"/>
          <p:cNvSpPr/>
          <p:nvPr/>
        </p:nvSpPr>
        <p:spPr>
          <a:xfrm>
            <a:off x="7168896" y="4892040"/>
            <a:ext cx="1874520" cy="502920"/>
          </a:xfrm>
          <a:prstGeom prst="roundRect">
            <a:avLst>
              <a:gd name="adj" fmla="val 36364"/>
            </a:avLst>
          </a:prstGeom>
          <a:solidFill>
            <a:srgbClr val="FADBD8"/>
          </a:solidFill>
          <a:ln w="12700">
            <a:solidFill>
              <a:srgbClr val="C00000"/>
            </a:solidFill>
            <a:prstDash val="solid"/>
          </a:ln>
        </p:spPr>
      </p:sp>
      <p:pic>
        <p:nvPicPr>
          <p:cNvPr id="11" name="choice icon brain" descr="/NAS/SJ/POSTECH/nlp/figs/icons/brain.png">    </p:cNvPr>
          <p:cNvPicPr>
            <a:picLocks noChangeAspect="1"/>
          </p:cNvPicPr>
          <p:nvPr/>
        </p:nvPicPr>
        <p:blipFill>
          <a:blip r:embed="rId3"/>
          <a:stretch>
            <a:fillRect/>
          </a:stretch>
        </p:blipFill>
        <p:spPr>
          <a:xfrm>
            <a:off x="7278624" y="4978908"/>
            <a:ext cx="329184" cy="329184"/>
          </a:xfrm>
          <a:prstGeom prst="rect">
            <a:avLst/>
          </a:prstGeom>
        </p:spPr>
      </p:pic>
      <p:sp>
        <p:nvSpPr>
          <p:cNvPr id="12" name="Text 7"/>
          <p:cNvSpPr txBox="1"/>
          <p:nvPr/>
        </p:nvSpPr>
        <p:spPr>
          <a:xfrm>
            <a:off x="7671816" y="4892040"/>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Text 4"/>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12" name="box a long reference she"/>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13" name="Text 6"/>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a long reference sheet</a:t>
            </a:r>
            <a:endParaRPr lang="en-US" sz="1600" dirty="0"/>
          </a:p>
        </p:txBody>
      </p:sp>
      <p:sp>
        <p:nvSpPr>
          <p:cNvPr id="14" name="Shape 7"/>
          <p:cNvSpPr/>
          <p:nvPr/>
        </p:nvSpPr>
        <p:spPr>
          <a:xfrm>
            <a:off x="3017520" y="2057400"/>
            <a:ext cx="320040" cy="0"/>
          </a:xfrm>
          <a:prstGeom prst="line">
            <a:avLst/>
          </a:prstGeom>
          <a:noFill/>
          <a:ln w="25400">
            <a:solidFill>
              <a:srgbClr val="7F7F7F"/>
            </a:solidFill>
            <a:prstDash val="solid"/>
            <a:tailEnd type="triangle"/>
          </a:ln>
        </p:spPr>
      </p:sp>
      <p:sp>
        <p:nvSpPr>
          <p:cNvPr id="15"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16" name="Text 9"/>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17" name="Text 10"/>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8" name="box the exact usage (11 "/>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9" name="Text 12"/>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the exact usage (11 lines)</a:t>
            </a:r>
            <a:endParaRPr lang="en-US" sz="1600" dirty="0"/>
          </a:p>
        </p:txBody>
      </p:sp>
      <p:sp>
        <p:nvSpPr>
          <p:cNvPr id="20" name="Shape 13"/>
          <p:cNvSpPr/>
          <p:nvPr/>
        </p:nvSpPr>
        <p:spPr>
          <a:xfrm>
            <a:off x="3017520" y="2788920"/>
            <a:ext cx="320040" cy="0"/>
          </a:xfrm>
          <a:prstGeom prst="line">
            <a:avLst/>
          </a:prstGeom>
          <a:noFill/>
          <a:ln w="25400">
            <a:solidFill>
              <a:srgbClr val="7F7F7F"/>
            </a:solidFill>
            <a:prstDash val="solid"/>
            <a:tailEnd type="triangle"/>
          </a:ln>
        </p:spPr>
      </p:sp>
      <p:sp>
        <p:nvSpPr>
          <p:cNvPr id="21"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22" name="Text 15"/>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23" name="Text 16"/>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24" name="Text 17"/>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25" name="Text 18"/>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26" name="bar nothing extra"/>
          <p:cNvSpPr/>
          <p:nvPr/>
        </p:nvSpPr>
        <p:spPr>
          <a:xfrm>
            <a:off x="3063240" y="3817620"/>
            <a:ext cx="1409090" cy="228600"/>
          </a:xfrm>
          <a:prstGeom prst="rect">
            <a:avLst/>
          </a:prstGeom>
          <a:solidFill>
            <a:srgbClr val="7F7F7F"/>
          </a:solidFill>
          <a:ln w="6350">
            <a:solidFill>
              <a:srgbClr val="7F7F7F"/>
            </a:solidFill>
            <a:prstDash val="solid"/>
          </a:ln>
        </p:spPr>
      </p:sp>
      <p:sp>
        <p:nvSpPr>
          <p:cNvPr id="27" name="Text 20"/>
          <p:cNvSpPr txBox="1"/>
          <p:nvPr/>
        </p:nvSpPr>
        <p:spPr>
          <a:xfrm>
            <a:off x="4563770" y="374904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8" name="Text 21"/>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9" name="bar think longer"/>
          <p:cNvSpPr/>
          <p:nvPr/>
        </p:nvSpPr>
        <p:spPr>
          <a:xfrm>
            <a:off x="3063240" y="4274820"/>
            <a:ext cx="183794" cy="228600"/>
          </a:xfrm>
          <a:prstGeom prst="rect">
            <a:avLst/>
          </a:prstGeom>
          <a:solidFill>
            <a:srgbClr val="C00000"/>
          </a:solidFill>
          <a:ln w="6350">
            <a:solidFill>
              <a:srgbClr val="C00000"/>
            </a:solidFill>
            <a:prstDash val="solid"/>
          </a:ln>
        </p:spPr>
      </p:sp>
      <p:sp>
        <p:nvSpPr>
          <p:cNvPr id="30" name="Text 23"/>
          <p:cNvSpPr txBox="1"/>
          <p:nvPr/>
        </p:nvSpPr>
        <p:spPr>
          <a:xfrm>
            <a:off x="3338474" y="42062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1" name="Text 24"/>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32" name="bar long reference sheet"/>
          <p:cNvSpPr/>
          <p:nvPr/>
        </p:nvSpPr>
        <p:spPr>
          <a:xfrm>
            <a:off x="3063240" y="4732020"/>
            <a:ext cx="428854" cy="228600"/>
          </a:xfrm>
          <a:prstGeom prst="rect">
            <a:avLst/>
          </a:prstGeom>
          <a:solidFill>
            <a:srgbClr val="C00000"/>
          </a:solidFill>
          <a:ln w="6350">
            <a:solidFill>
              <a:srgbClr val="C00000"/>
            </a:solidFill>
            <a:prstDash val="solid"/>
          </a:ln>
        </p:spPr>
      </p:sp>
      <p:sp>
        <p:nvSpPr>
          <p:cNvPr id="33" name="Text 26"/>
          <p:cNvSpPr txBox="1"/>
          <p:nvPr/>
        </p:nvSpPr>
        <p:spPr>
          <a:xfrm>
            <a:off x="3583534" y="466344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4" name="Text 27"/>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35" name="bar exact usage"/>
          <p:cNvSpPr/>
          <p:nvPr/>
        </p:nvSpPr>
        <p:spPr>
          <a:xfrm>
            <a:off x="3063240" y="5189220"/>
            <a:ext cx="5084978" cy="228600"/>
          </a:xfrm>
          <a:prstGeom prst="rect">
            <a:avLst/>
          </a:prstGeom>
          <a:solidFill>
            <a:srgbClr val="4472C4"/>
          </a:solidFill>
          <a:ln w="6350">
            <a:solidFill>
              <a:srgbClr val="4472C4"/>
            </a:solidFill>
            <a:prstDash val="solid"/>
          </a:ln>
        </p:spPr>
      </p:sp>
      <p:sp>
        <p:nvSpPr>
          <p:cNvPr id="36" name="Text 29"/>
          <p:cNvSpPr txBox="1"/>
          <p:nvPr/>
        </p:nvSpPr>
        <p:spPr>
          <a:xfrm>
            <a:off x="8239658" y="512064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77–90% (3 seeds)</a:t>
            </a:r>
            <a:endParaRPr lang="en-US" sz="1800" dirty="0"/>
          </a:p>
        </p:txBody>
      </p:sp>
      <p:sp>
        <p:nvSpPr>
          <p:cNvPr id="37"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box the model's program"/>
          <p:cNvSpPr/>
          <p:nvPr/>
        </p:nvSpPr>
        <p:spPr>
          <a:xfrm>
            <a:off x="548640" y="1371600"/>
            <a:ext cx="2011680" cy="548640"/>
          </a:xfrm>
          <a:prstGeom prst="roundRect">
            <a:avLst>
              <a:gd name="adj" fmla="val 10000"/>
            </a:avLst>
          </a:prstGeom>
          <a:solidFill>
            <a:srgbClr val="F2F2F2"/>
          </a:solidFill>
          <a:ln w="9525">
            <a:solidFill>
              <a:srgbClr val="BFBFBF"/>
            </a:solidFill>
            <a:prstDash val="solid"/>
          </a:ln>
        </p:spPr>
      </p:sp>
      <p:sp>
        <p:nvSpPr>
          <p:cNvPr id="12" name="Text 5"/>
          <p:cNvSpPr txBox="1"/>
          <p:nvPr/>
        </p:nvSpPr>
        <p:spPr>
          <a:xfrm>
            <a:off x="621792" y="1371600"/>
            <a:ext cx="1865376" cy="548640"/>
          </a:xfrm>
          <a:prstGeom prst="rect">
            <a:avLst/>
          </a:prstGeom>
          <a:noFill/>
          <a:ln/>
        </p:spPr>
        <p:txBody>
          <a:bodyPr wrap="square" lIns="0" tIns="0" rIns="0" bIns="0" rtlCol="0" anchor="ctr"/>
          <a:lstStyle/>
          <a:p>
            <a:pPr algn="ctr" indent="0" marL="0">
              <a:buNone/>
            </a:pPr>
            <a:r>
              <a:rPr lang="en-US" sz="1500" b="1" dirty="0">
                <a:solidFill>
                  <a:schemeClr val="tx1"/>
                </a:solidFill>
              </a:rPr>
              <a:t>the model's program</a:t>
            </a:r>
            <a:endParaRPr lang="en-US" sz="1500" dirty="0"/>
          </a:p>
        </p:txBody>
      </p:sp>
      <p:sp>
        <p:nvSpPr>
          <p:cNvPr id="13" name="Shape 6"/>
          <p:cNvSpPr/>
          <p:nvPr/>
        </p:nvSpPr>
        <p:spPr>
          <a:xfrm>
            <a:off x="2560320" y="1645920"/>
            <a:ext cx="274320" cy="0"/>
          </a:xfrm>
          <a:prstGeom prst="line">
            <a:avLst/>
          </a:prstGeom>
          <a:noFill/>
          <a:ln w="25400">
            <a:solidFill>
              <a:srgbClr val="7F7F7F"/>
            </a:solidFill>
            <a:prstDash val="solid"/>
            <a:tailEnd type="triangle"/>
          </a:ln>
        </p:spPr>
      </p:sp>
      <p:sp>
        <p:nvSpPr>
          <p:cNvPr id="14" name="box free check: run it a"/>
          <p:cNvSpPr/>
          <p:nvPr/>
        </p:nvSpPr>
        <p:spPr>
          <a:xfrm>
            <a:off x="2834640" y="1371600"/>
            <a:ext cx="3840480" cy="548640"/>
          </a:xfrm>
          <a:prstGeom prst="roundRect">
            <a:avLst>
              <a:gd name="adj" fmla="val 10000"/>
            </a:avLst>
          </a:prstGeom>
          <a:solidFill>
            <a:srgbClr val="DEEBF7"/>
          </a:solidFill>
          <a:ln w="9525">
            <a:solidFill>
              <a:srgbClr val="BFBFBF"/>
            </a:solidFill>
            <a:prstDash val="solid"/>
          </a:ln>
        </p:spPr>
      </p:sp>
      <p:sp>
        <p:nvSpPr>
          <p:cNvPr id="15" name="Text 8"/>
          <p:cNvSpPr txBox="1"/>
          <p:nvPr/>
        </p:nvSpPr>
        <p:spPr>
          <a:xfrm>
            <a:off x="2907792" y="1371600"/>
            <a:ext cx="3694176" cy="548640"/>
          </a:xfrm>
          <a:prstGeom prst="rect">
            <a:avLst/>
          </a:prstGeom>
          <a:noFill/>
          <a:ln/>
        </p:spPr>
        <p:txBody>
          <a:bodyPr wrap="square" lIns="0" tIns="0" rIns="0" bIns="0" rtlCol="0" anchor="ctr"/>
          <a:lstStyle/>
          <a:p>
            <a:pPr algn="ctr" indent="0" marL="0">
              <a:buNone/>
            </a:pPr>
            <a:r>
              <a:rPr lang="en-US" sz="1500" b="1" dirty="0">
                <a:solidFill>
                  <a:srgbClr val="1F3864"/>
                </a:solidFill>
              </a:rPr>
              <a:t>free check: run it and compare (no answer key, no thinking)</a:t>
            </a:r>
            <a:endParaRPr lang="en-US" sz="1500" dirty="0"/>
          </a:p>
        </p:txBody>
      </p:sp>
      <p:sp>
        <p:nvSpPr>
          <p:cNvPr id="16" name="Shape 9"/>
          <p:cNvSpPr/>
          <p:nvPr/>
        </p:nvSpPr>
        <p:spPr>
          <a:xfrm flipV="1">
            <a:off x="6675120" y="1481328"/>
            <a:ext cx="365760" cy="164592"/>
          </a:xfrm>
          <a:prstGeom prst="line">
            <a:avLst/>
          </a:prstGeom>
          <a:noFill/>
          <a:ln w="25400">
            <a:solidFill>
              <a:srgbClr val="7F7F7F"/>
            </a:solidFill>
            <a:prstDash val="solid"/>
            <a:tailEnd type="triangle"/>
          </a:ln>
        </p:spPr>
      </p:sp>
      <p:sp>
        <p:nvSpPr>
          <p:cNvPr id="17" name="Shape 10"/>
          <p:cNvSpPr/>
          <p:nvPr/>
        </p:nvSpPr>
        <p:spPr>
          <a:xfrm>
            <a:off x="6675120" y="1645920"/>
            <a:ext cx="365760" cy="164592"/>
          </a:xfrm>
          <a:prstGeom prst="line">
            <a:avLst/>
          </a:prstGeom>
          <a:noFill/>
          <a:ln w="25400">
            <a:solidFill>
              <a:srgbClr val="7F7F7F"/>
            </a:solidFill>
            <a:prstDash val="solid"/>
            <a:tailEnd type="triangle"/>
          </a:ln>
        </p:spPr>
      </p:sp>
      <p:sp>
        <p:nvSpPr>
          <p:cNvPr id="18" name="box ✓ pass → keep the an"/>
          <p:cNvSpPr/>
          <p:nvPr/>
        </p:nvSpPr>
        <p:spPr>
          <a:xfrm>
            <a:off x="7040880" y="1316736"/>
            <a:ext cx="4572000" cy="310896"/>
          </a:xfrm>
          <a:prstGeom prst="roundRect">
            <a:avLst>
              <a:gd name="adj" fmla="val 17647"/>
            </a:avLst>
          </a:prstGeom>
          <a:solidFill>
            <a:srgbClr val="E2F0D9"/>
          </a:solidFill>
          <a:ln w="9525">
            <a:solidFill>
              <a:srgbClr val="BFBFBF"/>
            </a:solidFill>
            <a:prstDash val="solid"/>
          </a:ln>
        </p:spPr>
      </p:sp>
      <p:sp>
        <p:nvSpPr>
          <p:cNvPr id="19" name="Text 12"/>
          <p:cNvSpPr txBox="1"/>
          <p:nvPr/>
        </p:nvSpPr>
        <p:spPr>
          <a:xfrm>
            <a:off x="7114032" y="1316736"/>
            <a:ext cx="4425696" cy="310896"/>
          </a:xfrm>
          <a:prstGeom prst="rect">
            <a:avLst/>
          </a:prstGeom>
          <a:noFill/>
          <a:ln/>
        </p:spPr>
        <p:txBody>
          <a:bodyPr wrap="square" lIns="0" tIns="0" rIns="0" bIns="0" rtlCol="0" anchor="ctr"/>
          <a:lstStyle/>
          <a:p>
            <a:pPr algn="ctr" indent="0" marL="0">
              <a:buNone/>
            </a:pPr>
            <a:r>
              <a:rPr lang="en-US" sz="1400" b="1" dirty="0">
                <a:solidFill>
                  <a:srgbClr val="38761D"/>
                </a:solidFill>
              </a:rPr>
              <a:t>✓ pass → keep the answer (no extra tokens)</a:t>
            </a:r>
            <a:endParaRPr lang="en-US" sz="1400" dirty="0"/>
          </a:p>
        </p:txBody>
      </p:sp>
      <p:sp>
        <p:nvSpPr>
          <p:cNvPr id="20" name="box ✗ fail → think harde"/>
          <p:cNvSpPr/>
          <p:nvPr/>
        </p:nvSpPr>
        <p:spPr>
          <a:xfrm>
            <a:off x="7040880" y="1664208"/>
            <a:ext cx="4572000" cy="310896"/>
          </a:xfrm>
          <a:prstGeom prst="roundRect">
            <a:avLst>
              <a:gd name="adj" fmla="val 17647"/>
            </a:avLst>
          </a:prstGeom>
          <a:solidFill>
            <a:srgbClr val="FADBD8"/>
          </a:solidFill>
          <a:ln w="9525">
            <a:solidFill>
              <a:srgbClr val="BFBFBF"/>
            </a:solidFill>
            <a:prstDash val="solid"/>
          </a:ln>
        </p:spPr>
      </p:sp>
      <p:sp>
        <p:nvSpPr>
          <p:cNvPr id="21" name="Text 14"/>
          <p:cNvSpPr txBox="1"/>
          <p:nvPr/>
        </p:nvSpPr>
        <p:spPr>
          <a:xfrm>
            <a:off x="7114032" y="1664208"/>
            <a:ext cx="4425696" cy="310896"/>
          </a:xfrm>
          <a:prstGeom prst="rect">
            <a:avLst/>
          </a:prstGeom>
          <a:noFill/>
          <a:ln/>
        </p:spPr>
        <p:txBody>
          <a:bodyPr wrap="square" lIns="0" tIns="0" rIns="0" bIns="0" rtlCol="0" anchor="ctr"/>
          <a:lstStyle/>
          <a:p>
            <a:pPr algn="ctr" indent="0" marL="0">
              <a:buNone/>
            </a:pPr>
            <a:r>
              <a:rPr lang="en-US" sz="1400" b="1" dirty="0">
                <a:solidFill>
                  <a:srgbClr val="C00000"/>
                </a:solidFill>
              </a:rPr>
              <a:t>✗ fail → think harder (tokens are spent only here)</a:t>
            </a:r>
            <a:endParaRPr lang="en-US" sz="1400" dirty="0"/>
          </a:p>
        </p:txBody>
      </p:sp>
      <p:sp>
        <p:nvSpPr>
          <p:cNvPr id="22" name="Check A: the examples printed in the problem"/>
          <p:cNvSpPr/>
          <p:nvPr/>
        </p:nvSpPr>
        <p:spPr>
          <a:xfrm>
            <a:off x="548640" y="2103120"/>
            <a:ext cx="5440680" cy="3429000"/>
          </a:xfrm>
          <a:prstGeom prst="roundRect">
            <a:avLst>
              <a:gd name="adj" fmla="val 2133"/>
            </a:avLst>
          </a:prstGeom>
          <a:solidFill>
            <a:srgbClr val="F2F2F2"/>
          </a:solidFill>
          <a:ln w="9525">
            <a:solidFill>
              <a:srgbClr val="D9D9D9"/>
            </a:solidFill>
            <a:prstDash val="solid"/>
          </a:ln>
        </p:spPr>
      </p:sp>
      <p:sp>
        <p:nvSpPr>
          <p:cNvPr id="23" name="Text 16"/>
          <p:cNvSpPr txBox="1"/>
          <p:nvPr/>
        </p:nvSpPr>
        <p:spPr>
          <a:xfrm>
            <a:off x="777240" y="2148840"/>
            <a:ext cx="4983480" cy="411480"/>
          </a:xfrm>
          <a:prstGeom prst="rect">
            <a:avLst/>
          </a:prstGeom>
          <a:noFill/>
          <a:ln/>
        </p:spPr>
        <p:txBody>
          <a:bodyPr wrap="square" lIns="0" tIns="0" rIns="0" bIns="0" rtlCol="0" anchor="ctr"/>
          <a:lstStyle/>
          <a:p>
            <a:pPr indent="0" marL="0">
              <a:buNone/>
            </a:pPr>
            <a:r>
              <a:rPr lang="en-US" sz="1700" b="1" dirty="0">
                <a:solidFill>
                  <a:srgbClr val="4472C4"/>
                </a:solidFill>
              </a:rPr>
              <a:t>Check A: the examples printed in the problem</a:t>
            </a:r>
            <a:endParaRPr lang="en-US" sz="1700" dirty="0"/>
          </a:p>
        </p:txBody>
      </p:sp>
      <p:sp>
        <p:nvSpPr>
          <p:cNvPr id="24" name="box Make a triangle!: ex"/>
          <p:cNvSpPr/>
          <p:nvPr/>
        </p:nvSpPr>
        <p:spPr>
          <a:xfrm>
            <a:off x="777240" y="2578608"/>
            <a:ext cx="4983480" cy="438912"/>
          </a:xfrm>
          <a:prstGeom prst="roundRect">
            <a:avLst>
              <a:gd name="adj" fmla="val 12500"/>
            </a:avLst>
          </a:prstGeom>
          <a:solidFill>
            <a:srgbClr val="E2F0D9"/>
          </a:solidFill>
          <a:ln w="9525">
            <a:solidFill>
              <a:srgbClr val="BFBFBF"/>
            </a:solidFill>
            <a:prstDash val="solid"/>
          </a:ln>
        </p:spPr>
      </p:sp>
      <p:sp>
        <p:nvSpPr>
          <p:cNvPr id="25" name="Text 18"/>
          <p:cNvSpPr txBox="1"/>
          <p:nvPr/>
        </p:nvSpPr>
        <p:spPr>
          <a:xfrm>
            <a:off x="850392" y="2578608"/>
            <a:ext cx="4837176" cy="438912"/>
          </a:xfrm>
          <a:prstGeom prst="rect">
            <a:avLst/>
          </a:prstGeom>
          <a:noFill/>
          <a:ln/>
        </p:spPr>
        <p:txBody>
          <a:bodyPr wrap="square" lIns="0" tIns="0" rIns="0" bIns="0" rtlCol="0" anchor="ctr"/>
          <a:lstStyle/>
          <a:p>
            <a:pPr algn="ctr" indent="0" marL="0">
              <a:buNone/>
            </a:pPr>
            <a:r>
              <a:rPr lang="en-US" sz="1400" dirty="0">
                <a:solidFill>
                  <a:srgbClr val="38761D"/>
                </a:solidFill>
              </a:rPr>
              <a:t>Make a triangle!: example 3 4 5 → 0, prints 0 ✓ → keep</a:t>
            </a:r>
            <a:endParaRPr lang="en-US" sz="1400" dirty="0"/>
          </a:p>
        </p:txBody>
      </p:sp>
      <p:sp>
        <p:nvSpPr>
          <p:cNvPr id="26" name="box Arrow: corners diffe"/>
          <p:cNvSpPr/>
          <p:nvPr/>
        </p:nvSpPr>
        <p:spPr>
          <a:xfrm>
            <a:off x="777240" y="3081528"/>
            <a:ext cx="4983480" cy="438912"/>
          </a:xfrm>
          <a:prstGeom prst="roundRect">
            <a:avLst>
              <a:gd name="adj" fmla="val 12500"/>
            </a:avLst>
          </a:prstGeom>
          <a:solidFill>
            <a:srgbClr val="FADBD8"/>
          </a:solidFill>
          <a:ln w="9525">
            <a:solidFill>
              <a:srgbClr val="BFBFBF"/>
            </a:solidFill>
            <a:prstDash val="solid"/>
          </a:ln>
        </p:spPr>
      </p:sp>
      <p:sp>
        <p:nvSpPr>
          <p:cNvPr id="27" name="Text 20"/>
          <p:cNvSpPr txBox="1"/>
          <p:nvPr/>
        </p:nvSpPr>
        <p:spPr>
          <a:xfrm>
            <a:off x="850392" y="3081528"/>
            <a:ext cx="4837176" cy="438912"/>
          </a:xfrm>
          <a:prstGeom prst="rect">
            <a:avLst/>
          </a:prstGeom>
          <a:noFill/>
          <a:ln/>
        </p:spPr>
        <p:txBody>
          <a:bodyPr wrap="square" lIns="0" tIns="0" rIns="0" bIns="0" rtlCol="0" anchor="ctr"/>
          <a:lstStyle/>
          <a:p>
            <a:pPr algn="ctr" indent="0" marL="0">
              <a:buNone/>
            </a:pPr>
            <a:r>
              <a:rPr lang="en-US" sz="1400" dirty="0">
                <a:solidFill>
                  <a:srgbClr val="C00000"/>
                </a:solidFill>
              </a:rPr>
              <a:t>Arrow: corners differ from the example ✗ → think → right</a:t>
            </a:r>
            <a:endParaRPr lang="en-US" sz="1400" dirty="0"/>
          </a:p>
        </p:txBody>
      </p:sp>
      <p:sp>
        <p:nvSpPr>
          <p:cNvPr id="28" name="Text 21"/>
          <p:cNvSpPr txBox="1"/>
          <p:nvPr/>
        </p:nvSpPr>
        <p:spPr>
          <a:xfrm>
            <a:off x="777240" y="3584448"/>
            <a:ext cx="4983480" cy="320040"/>
          </a:xfrm>
          <a:prstGeom prst="rect">
            <a:avLst/>
          </a:prstGeom>
          <a:noFill/>
          <a:ln/>
        </p:spPr>
        <p:txBody>
          <a:bodyPr wrap="square" lIns="0" tIns="0" rIns="0" bIns="0" rtlCol="0" anchor="ctr"/>
          <a:lstStyle/>
          <a:p>
            <a:pPr indent="0" marL="0">
              <a:buNone/>
            </a:pPr>
            <a:r>
              <a:rPr lang="en-US" sz="1400" b="1" dirty="0">
                <a:solidFill>
                  <a:schemeClr val="tx1"/>
                </a:solidFill>
              </a:rPr>
              <a:t>311 contest problems (gpt-oss-120b)</a:t>
            </a:r>
            <a:endParaRPr lang="en-US" sz="1400" dirty="0"/>
          </a:p>
        </p:txBody>
      </p:sp>
      <p:sp>
        <p:nvSpPr>
          <p:cNvPr id="29" name="Text 22"/>
          <p:cNvSpPr txBox="1"/>
          <p:nvPr/>
        </p:nvSpPr>
        <p:spPr>
          <a:xfrm>
            <a:off x="2926080" y="385876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0" name="Text 23"/>
          <p:cNvSpPr txBox="1"/>
          <p:nvPr/>
        </p:nvSpPr>
        <p:spPr>
          <a:xfrm>
            <a:off x="3840480" y="3858768"/>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1" name="Text 24"/>
          <p:cNvSpPr txBox="1"/>
          <p:nvPr/>
        </p:nvSpPr>
        <p:spPr>
          <a:xfrm>
            <a:off x="777240" y="4224528"/>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2" name="Text 25"/>
          <p:cNvSpPr txBox="1"/>
          <p:nvPr/>
        </p:nvSpPr>
        <p:spPr>
          <a:xfrm>
            <a:off x="2926080" y="422452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3" name="tokens always think hard"/>
          <p:cNvSpPr/>
          <p:nvPr/>
        </p:nvSpPr>
        <p:spPr>
          <a:xfrm>
            <a:off x="3840480" y="4325112"/>
            <a:ext cx="1188720" cy="256032"/>
          </a:xfrm>
          <a:prstGeom prst="rect">
            <a:avLst/>
          </a:prstGeom>
          <a:solidFill>
            <a:srgbClr val="7F7F7F"/>
          </a:solidFill>
          <a:ln w="6350">
            <a:solidFill>
              <a:srgbClr val="7F7F7F"/>
            </a:solidFill>
            <a:prstDash val="solid"/>
          </a:ln>
        </p:spPr>
      </p:sp>
      <p:sp>
        <p:nvSpPr>
          <p:cNvPr id="34" name="Text 27"/>
          <p:cNvSpPr txBox="1"/>
          <p:nvPr/>
        </p:nvSpPr>
        <p:spPr>
          <a:xfrm>
            <a:off x="5120640" y="422452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35" name="Text 28"/>
          <p:cNvSpPr txBox="1"/>
          <p:nvPr/>
        </p:nvSpPr>
        <p:spPr>
          <a:xfrm>
            <a:off x="777240" y="4681728"/>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think if an example fails</a:t>
            </a:r>
            <a:endParaRPr lang="en-US" sz="1500" dirty="0"/>
          </a:p>
        </p:txBody>
      </p:sp>
      <p:sp>
        <p:nvSpPr>
          <p:cNvPr id="36" name="Text 29"/>
          <p:cNvSpPr txBox="1"/>
          <p:nvPr/>
        </p:nvSpPr>
        <p:spPr>
          <a:xfrm>
            <a:off x="2926080" y="4681728"/>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37" name="tokens think if an example fails"/>
          <p:cNvSpPr/>
          <p:nvPr/>
        </p:nvSpPr>
        <p:spPr>
          <a:xfrm>
            <a:off x="3840480" y="4782312"/>
            <a:ext cx="797746" cy="256032"/>
          </a:xfrm>
          <a:prstGeom prst="rect">
            <a:avLst/>
          </a:prstGeom>
          <a:solidFill>
            <a:srgbClr val="5B9BD5"/>
          </a:solidFill>
          <a:ln w="6350">
            <a:solidFill>
              <a:srgbClr val="5B9BD5"/>
            </a:solidFill>
            <a:prstDash val="solid"/>
          </a:ln>
        </p:spPr>
      </p:sp>
      <p:sp>
        <p:nvSpPr>
          <p:cNvPr id="38" name="Text 31"/>
          <p:cNvSpPr txBox="1"/>
          <p:nvPr/>
        </p:nvSpPr>
        <p:spPr>
          <a:xfrm>
            <a:off x="4729666" y="4681728"/>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39" name="Text 32"/>
          <p:cNvSpPr txBox="1"/>
          <p:nvPr/>
        </p:nvSpPr>
        <p:spPr>
          <a:xfrm>
            <a:off x="777240" y="5138928"/>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 or a brute-force run</a:t>
            </a:r>
            <a:endParaRPr lang="en-US" sz="1500" dirty="0"/>
          </a:p>
        </p:txBody>
      </p:sp>
      <p:sp>
        <p:nvSpPr>
          <p:cNvPr id="40" name="Text 33"/>
          <p:cNvSpPr txBox="1"/>
          <p:nvPr/>
        </p:nvSpPr>
        <p:spPr>
          <a:xfrm>
            <a:off x="2926080" y="5138928"/>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1" name="tokens … or a brute-force run"/>
          <p:cNvSpPr/>
          <p:nvPr/>
        </p:nvSpPr>
        <p:spPr>
          <a:xfrm>
            <a:off x="3840480" y="5239512"/>
            <a:ext cx="975461" cy="256032"/>
          </a:xfrm>
          <a:prstGeom prst="rect">
            <a:avLst/>
          </a:prstGeom>
          <a:solidFill>
            <a:srgbClr val="4472C4"/>
          </a:solidFill>
          <a:ln w="6350">
            <a:solidFill>
              <a:srgbClr val="4472C4"/>
            </a:solidFill>
            <a:prstDash val="solid"/>
          </a:ln>
        </p:spPr>
      </p:sp>
      <p:sp>
        <p:nvSpPr>
          <p:cNvPr id="42" name="Text 35"/>
          <p:cNvSpPr txBox="1"/>
          <p:nvPr/>
        </p:nvSpPr>
        <p:spPr>
          <a:xfrm>
            <a:off x="4907381" y="5138928"/>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3" name="Check B: write it twice, compare"/>
          <p:cNvSpPr/>
          <p:nvPr/>
        </p:nvSpPr>
        <p:spPr>
          <a:xfrm>
            <a:off x="6172200" y="2103120"/>
            <a:ext cx="5440680" cy="3429000"/>
          </a:xfrm>
          <a:prstGeom prst="roundRect">
            <a:avLst>
              <a:gd name="adj" fmla="val 2133"/>
            </a:avLst>
          </a:prstGeom>
          <a:solidFill>
            <a:srgbClr val="F2F2F2"/>
          </a:solidFill>
          <a:ln w="9525">
            <a:solidFill>
              <a:srgbClr val="D9D9D9"/>
            </a:solidFill>
            <a:prstDash val="solid"/>
          </a:ln>
        </p:spPr>
      </p:sp>
      <p:sp>
        <p:nvSpPr>
          <p:cNvPr id="44" name="Text 37"/>
          <p:cNvSpPr txBox="1"/>
          <p:nvPr/>
        </p:nvSpPr>
        <p:spPr>
          <a:xfrm>
            <a:off x="6400800" y="2148840"/>
            <a:ext cx="4983480" cy="411480"/>
          </a:xfrm>
          <a:prstGeom prst="rect">
            <a:avLst/>
          </a:prstGeom>
          <a:noFill/>
          <a:ln/>
        </p:spPr>
        <p:txBody>
          <a:bodyPr wrap="square" lIns="0" tIns="0" rIns="0" bIns="0" rtlCol="0" anchor="ctr"/>
          <a:lstStyle/>
          <a:p>
            <a:pPr indent="0" marL="0">
              <a:buNone/>
            </a:pPr>
            <a:r>
              <a:rPr lang="en-US" sz="1700" b="1" dirty="0">
                <a:solidFill>
                  <a:srgbClr val="4472C4"/>
                </a:solidFill>
              </a:rPr>
              <a:t>Check B: write it twice, compare</a:t>
            </a:r>
            <a:endParaRPr lang="en-US" sz="1700" dirty="0"/>
          </a:p>
        </p:txBody>
      </p:sp>
      <p:sp>
        <p:nvSpPr>
          <p:cNvPr id="45" name="box both versions print "/>
          <p:cNvSpPr/>
          <p:nvPr/>
        </p:nvSpPr>
        <p:spPr>
          <a:xfrm>
            <a:off x="6400800" y="2578608"/>
            <a:ext cx="4983480" cy="438912"/>
          </a:xfrm>
          <a:prstGeom prst="roundRect">
            <a:avLst>
              <a:gd name="adj" fmla="val 12500"/>
            </a:avLst>
          </a:prstGeom>
          <a:solidFill>
            <a:srgbClr val="E2F0D9"/>
          </a:solidFill>
          <a:ln w="9525">
            <a:solidFill>
              <a:srgbClr val="BFBFBF"/>
            </a:solidFill>
            <a:prstDash val="solid"/>
          </a:ln>
        </p:spPr>
      </p:sp>
      <p:sp>
        <p:nvSpPr>
          <p:cNvPr id="46" name="Text 39"/>
          <p:cNvSpPr txBox="1"/>
          <p:nvPr/>
        </p:nvSpPr>
        <p:spPr>
          <a:xfrm>
            <a:off x="6473952" y="2578608"/>
            <a:ext cx="4837176" cy="438912"/>
          </a:xfrm>
          <a:prstGeom prst="rect">
            <a:avLst/>
          </a:prstGeom>
          <a:noFill/>
          <a:ln/>
        </p:spPr>
        <p:txBody>
          <a:bodyPr wrap="square" lIns="0" tIns="0" rIns="0" bIns="0" rtlCol="0" anchor="ctr"/>
          <a:lstStyle/>
          <a:p>
            <a:pPr algn="ctr" indent="0" marL="0">
              <a:buNone/>
            </a:pPr>
            <a:r>
              <a:rPr lang="en-US" sz="1400" dirty="0">
                <a:solidFill>
                  <a:srgbClr val="38761D"/>
                </a:solidFill>
              </a:rPr>
              <a:t>both versions print the same → keep</a:t>
            </a:r>
            <a:endParaRPr lang="en-US" sz="1400" dirty="0"/>
          </a:p>
        </p:txBody>
      </p:sp>
      <p:sp>
        <p:nvSpPr>
          <p:cNvPr id="47" name="box version A → 6, versi"/>
          <p:cNvSpPr/>
          <p:nvPr/>
        </p:nvSpPr>
        <p:spPr>
          <a:xfrm>
            <a:off x="6400800" y="3081528"/>
            <a:ext cx="4983480" cy="438912"/>
          </a:xfrm>
          <a:prstGeom prst="roundRect">
            <a:avLst>
              <a:gd name="adj" fmla="val 12500"/>
            </a:avLst>
          </a:prstGeom>
          <a:solidFill>
            <a:srgbClr val="FADBD8"/>
          </a:solidFill>
          <a:ln w="9525">
            <a:solidFill>
              <a:srgbClr val="BFBFBF"/>
            </a:solidFill>
            <a:prstDash val="solid"/>
          </a:ln>
        </p:spPr>
      </p:sp>
      <p:sp>
        <p:nvSpPr>
          <p:cNvPr id="48" name="Text 41"/>
          <p:cNvSpPr txBox="1"/>
          <p:nvPr/>
        </p:nvSpPr>
        <p:spPr>
          <a:xfrm>
            <a:off x="6473952" y="3081528"/>
            <a:ext cx="4837176" cy="438912"/>
          </a:xfrm>
          <a:prstGeom prst="rect">
            <a:avLst/>
          </a:prstGeom>
          <a:noFill/>
          <a:ln/>
        </p:spPr>
        <p:txBody>
          <a:bodyPr wrap="square" lIns="0" tIns="0" rIns="0" bIns="0" rtlCol="0" anchor="ctr"/>
          <a:lstStyle/>
          <a:p>
            <a:pPr algn="ctr" indent="0" marL="0">
              <a:buNone/>
            </a:pPr>
            <a:r>
              <a:rPr lang="en-US" sz="1400" dirty="0">
                <a:solidFill>
                  <a:srgbClr val="C00000"/>
                </a:solidFill>
              </a:rPr>
              <a:t>version A → 6, version B → 0 ✗ → think harder</a:t>
            </a:r>
            <a:endParaRPr lang="en-US" sz="1400" dirty="0"/>
          </a:p>
        </p:txBody>
      </p:sp>
      <p:sp>
        <p:nvSpPr>
          <p:cNvPr id="49" name="Text 42"/>
          <p:cNvSpPr txBox="1"/>
          <p:nvPr/>
        </p:nvSpPr>
        <p:spPr>
          <a:xfrm>
            <a:off x="6400800" y="3584448"/>
            <a:ext cx="4983480" cy="320040"/>
          </a:xfrm>
          <a:prstGeom prst="rect">
            <a:avLst/>
          </a:prstGeom>
          <a:noFill/>
          <a:ln/>
        </p:spPr>
        <p:txBody>
          <a:bodyPr wrap="square" lIns="0" tIns="0" rIns="0" bIns="0" rtlCol="0" anchor="ctr"/>
          <a:lstStyle/>
          <a:p>
            <a:pPr indent="0" marL="0">
              <a:buNone/>
            </a:pPr>
            <a:r>
              <a:rPr lang="en-US" sz="1400" b="1" dirty="0">
                <a:solidFill>
                  <a:schemeClr val="tx1"/>
                </a:solidFill>
              </a:rPr>
              <a:t>108 geometry problems (Qwen3-32B, 3 runs)</a:t>
            </a:r>
            <a:endParaRPr lang="en-US" sz="1400" dirty="0"/>
          </a:p>
        </p:txBody>
      </p:sp>
      <p:sp>
        <p:nvSpPr>
          <p:cNvPr id="50" name="Text 43"/>
          <p:cNvSpPr txBox="1"/>
          <p:nvPr/>
        </p:nvSpPr>
        <p:spPr>
          <a:xfrm>
            <a:off x="8549640" y="385876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1" name="Text 44"/>
          <p:cNvSpPr txBox="1"/>
          <p:nvPr/>
        </p:nvSpPr>
        <p:spPr>
          <a:xfrm>
            <a:off x="9464040" y="3858768"/>
            <a:ext cx="19202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2" name="Text 45"/>
          <p:cNvSpPr txBox="1"/>
          <p:nvPr/>
        </p:nvSpPr>
        <p:spPr>
          <a:xfrm>
            <a:off x="6400800" y="4224528"/>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3" name="Text 46"/>
          <p:cNvSpPr txBox="1"/>
          <p:nvPr/>
        </p:nvSpPr>
        <p:spPr>
          <a:xfrm>
            <a:off x="8549640" y="422452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4" name="tokens always think"/>
          <p:cNvSpPr/>
          <p:nvPr/>
        </p:nvSpPr>
        <p:spPr>
          <a:xfrm>
            <a:off x="9464040" y="4325112"/>
            <a:ext cx="1188720" cy="256032"/>
          </a:xfrm>
          <a:prstGeom prst="rect">
            <a:avLst/>
          </a:prstGeom>
          <a:solidFill>
            <a:srgbClr val="7F7F7F"/>
          </a:solidFill>
          <a:ln w="6350">
            <a:solidFill>
              <a:srgbClr val="7F7F7F"/>
            </a:solidFill>
            <a:prstDash val="solid"/>
          </a:ln>
        </p:spPr>
      </p:sp>
      <p:sp>
        <p:nvSpPr>
          <p:cNvPr id="55" name="Text 48"/>
          <p:cNvSpPr txBox="1"/>
          <p:nvPr/>
        </p:nvSpPr>
        <p:spPr>
          <a:xfrm>
            <a:off x="10744200" y="422452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6" name="Text 49"/>
          <p:cNvSpPr txBox="1"/>
          <p:nvPr/>
        </p:nvSpPr>
        <p:spPr>
          <a:xfrm>
            <a:off x="6400800" y="4681728"/>
            <a:ext cx="2057400" cy="457200"/>
          </a:xfrm>
          <a:prstGeom prst="rect">
            <a:avLst/>
          </a:prstGeom>
          <a:noFill/>
          <a:ln/>
        </p:spPr>
        <p:txBody>
          <a:bodyPr wrap="square" lIns="0" tIns="0" rIns="0" bIns="0" rtlCol="0" anchor="ctr"/>
          <a:lstStyle/>
          <a:p>
            <a:pPr algn="r" indent="0" marL="0">
              <a:buNone/>
            </a:pPr>
            <a:r>
              <a:rPr lang="en-US" sz="1500" dirty="0">
                <a:solidFill>
                  <a:schemeClr val="tx1"/>
                </a:solidFill>
              </a:rPr>
              <a:t>think if they differ</a:t>
            </a:r>
            <a:endParaRPr lang="en-US" sz="1500" dirty="0"/>
          </a:p>
        </p:txBody>
      </p:sp>
      <p:sp>
        <p:nvSpPr>
          <p:cNvPr id="57" name="Text 50"/>
          <p:cNvSpPr txBox="1"/>
          <p:nvPr/>
        </p:nvSpPr>
        <p:spPr>
          <a:xfrm>
            <a:off x="8549640" y="4681728"/>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8" name="tokens think if they differ"/>
          <p:cNvSpPr/>
          <p:nvPr/>
        </p:nvSpPr>
        <p:spPr>
          <a:xfrm>
            <a:off x="9464040" y="4782312"/>
            <a:ext cx="866355" cy="256032"/>
          </a:xfrm>
          <a:prstGeom prst="rect">
            <a:avLst/>
          </a:prstGeom>
          <a:solidFill>
            <a:srgbClr val="4472C4"/>
          </a:solidFill>
          <a:ln w="6350">
            <a:solidFill>
              <a:srgbClr val="4472C4"/>
            </a:solidFill>
            <a:prstDash val="solid"/>
          </a:ln>
        </p:spPr>
      </p:sp>
      <p:sp>
        <p:nvSpPr>
          <p:cNvPr id="59" name="Text 52"/>
          <p:cNvSpPr txBox="1"/>
          <p:nvPr/>
        </p:nvSpPr>
        <p:spPr>
          <a:xfrm>
            <a:off x="10421835" y="4681728"/>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60" name="Text 5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7863840" y="987552"/>
            <a:ext cx="3749040" cy="274320"/>
          </a:xfrm>
          <a:prstGeom prst="rect">
            <a:avLst/>
          </a:prstGeom>
          <a:noFill/>
          <a:ln/>
        </p:spPr>
        <p:txBody>
          <a:bodyPr wrap="square" lIns="0" tIns="0" rIns="0" bIns="0" rtlCol="0" anchor="ctr"/>
          <a:lstStyle/>
          <a:p>
            <a:pPr algn="r" indent="0" marL="0">
              <a:buNone/>
            </a:pPr>
            <a:r>
              <a:rPr lang="en-US" sz="1400" dirty="0">
                <a:solidFill>
                  <a:srgbClr val="7F7F7F"/>
                </a:solidFill>
              </a:rPr>
              <a:t>icons under each step: where it is used</a:t>
            </a:r>
            <a:endParaRPr lang="en-US" sz="1400" dirty="0"/>
          </a:p>
        </p:txBody>
      </p:sp>
      <p:sp>
        <p:nvSpPr>
          <p:cNvPr id="10" name="Text 6"/>
          <p:cNvSpPr txBox="1"/>
          <p:nvPr/>
        </p:nvSpPr>
        <p:spPr>
          <a:xfrm>
            <a:off x="548640" y="1170432"/>
            <a:ext cx="78638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minimum cost of X, Y, Z under three limits → 20000</a:t>
            </a:r>
            <a:endParaRPr lang="en-US" sz="1600" dirty="0"/>
          </a:p>
        </p:txBody>
      </p:sp>
      <p:sp>
        <p:nvSpPr>
          <p:cNvPr id="11" name="Text 7"/>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12"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13" name="Text 9"/>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14" name="Text 10"/>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hint</a:t>
            </a:r>
            <a:endParaRPr lang="en-US" sz="1400" dirty="0"/>
          </a:p>
        </p:txBody>
      </p:sp>
      <p:sp>
        <p:nvSpPr>
          <p:cNvPr id="15" name="Shape 11"/>
          <p:cNvSpPr/>
          <p:nvPr/>
        </p:nvSpPr>
        <p:spPr>
          <a:xfrm>
            <a:off x="2651760" y="2670048"/>
            <a:ext cx="137160" cy="0"/>
          </a:xfrm>
          <a:prstGeom prst="line">
            <a:avLst/>
          </a:prstGeom>
          <a:noFill/>
          <a:ln w="25400">
            <a:solidFill>
              <a:srgbClr val="7F7F7F"/>
            </a:solidFill>
            <a:prstDash val="solid"/>
            <a:tailEnd type="triangle"/>
          </a:ln>
        </p:spPr>
      </p:sp>
      <p:pic>
        <p:nvPicPr>
          <p:cNvPr id="16" name="step 1 used on shapes" descr="/NAS/SJ/POSTECH/nlp/figs/icons/shapes.png">    </p:cNvPr>
          <p:cNvPicPr>
            <a:picLocks noChangeAspect="1"/>
          </p:cNvPicPr>
          <p:nvPr/>
        </p:nvPicPr>
        <p:blipFill>
          <a:blip r:embed="rId3"/>
          <a:stretch>
            <a:fillRect/>
          </a:stretch>
        </p:blipFill>
        <p:spPr>
          <a:xfrm>
            <a:off x="1042416" y="3401568"/>
            <a:ext cx="237744" cy="237744"/>
          </a:xfrm>
          <a:prstGeom prst="rect">
            <a:avLst/>
          </a:prstGeom>
        </p:spPr>
      </p:pic>
      <p:pic>
        <p:nvPicPr>
          <p:cNvPr id="17" name="step 1 used on trophy" descr="/NAS/SJ/POSTECH/nlp/figs/icons/trophy.png">    </p:cNvPr>
          <p:cNvPicPr>
            <a:picLocks noChangeAspect="1"/>
          </p:cNvPicPr>
          <p:nvPr/>
        </p:nvPicPr>
        <p:blipFill>
          <a:blip r:embed="rId4"/>
          <a:stretch>
            <a:fillRect/>
          </a:stretch>
        </p:blipFill>
        <p:spPr>
          <a:xfrm>
            <a:off x="1335024" y="3401568"/>
            <a:ext cx="237744" cy="237744"/>
          </a:xfrm>
          <a:prstGeom prst="rect">
            <a:avLst/>
          </a:prstGeom>
        </p:spPr>
      </p:pic>
      <p:pic>
        <p:nvPicPr>
          <p:cNvPr id="18" name="step 1 used on truck" descr="/NAS/SJ/POSTECH/nlp/figs/icons/truck.png">    </p:cNvPr>
          <p:cNvPicPr>
            <a:picLocks noChangeAspect="1"/>
          </p:cNvPicPr>
          <p:nvPr/>
        </p:nvPicPr>
        <p:blipFill>
          <a:blip r:embed="rId5"/>
          <a:stretch>
            <a:fillRect/>
          </a:stretch>
        </p:blipFill>
        <p:spPr>
          <a:xfrm>
            <a:off x="1627632" y="3401568"/>
            <a:ext cx="237744" cy="237744"/>
          </a:xfrm>
          <a:prstGeom prst="rect">
            <a:avLst/>
          </a:prstGeom>
        </p:spPr>
      </p:pic>
      <p:pic>
        <p:nvPicPr>
          <p:cNvPr id="19" name="step 1 used on calc" descr="/NAS/SJ/POSTECH/nlp/figs/icons/calc.png">    </p:cNvPr>
          <p:cNvPicPr>
            <a:picLocks noChangeAspect="1"/>
          </p:cNvPicPr>
          <p:nvPr/>
        </p:nvPicPr>
        <p:blipFill>
          <a:blip r:embed="rId6"/>
          <a:stretch>
            <a:fillRect/>
          </a:stretch>
        </p:blipFill>
        <p:spPr>
          <a:xfrm>
            <a:off x="1920240" y="3401568"/>
            <a:ext cx="237744" cy="237744"/>
          </a:xfrm>
          <a:prstGeom prst="rect">
            <a:avLst/>
          </a:prstGeom>
        </p:spPr>
      </p:pic>
      <p:sp>
        <p:nvSpPr>
          <p:cNvPr id="20" name="Text 12"/>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Hint</a:t>
            </a:r>
            <a:endParaRPr lang="en-US" sz="1700" dirty="0"/>
          </a:p>
        </p:txBody>
      </p:sp>
      <p:sp>
        <p:nvSpPr>
          <p:cNvPr id="21"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22" name="Text 14"/>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23" name="Text 15"/>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24" name="Shape 16"/>
          <p:cNvSpPr/>
          <p:nvPr/>
        </p:nvSpPr>
        <p:spPr>
          <a:xfrm>
            <a:off x="4892040" y="2670048"/>
            <a:ext cx="137160" cy="0"/>
          </a:xfrm>
          <a:prstGeom prst="line">
            <a:avLst/>
          </a:prstGeom>
          <a:noFill/>
          <a:ln w="25400">
            <a:solidFill>
              <a:srgbClr val="7F7F7F"/>
            </a:solidFill>
            <a:prstDash val="solid"/>
            <a:tailEnd type="triangle"/>
          </a:ln>
        </p:spPr>
      </p:sp>
      <p:pic>
        <p:nvPicPr>
          <p:cNvPr id="25" name="step 2 used on shapes" descr="/NAS/SJ/POSTECH/nlp/figs/icons/shapes.png">    </p:cNvPr>
          <p:cNvPicPr>
            <a:picLocks noChangeAspect="1"/>
          </p:cNvPicPr>
          <p:nvPr/>
        </p:nvPicPr>
        <p:blipFill>
          <a:blip r:embed="rId7"/>
          <a:stretch>
            <a:fillRect/>
          </a:stretch>
        </p:blipFill>
        <p:spPr>
          <a:xfrm>
            <a:off x="3282696" y="3401568"/>
            <a:ext cx="237744" cy="237744"/>
          </a:xfrm>
          <a:prstGeom prst="rect">
            <a:avLst/>
          </a:prstGeom>
        </p:spPr>
      </p:pic>
      <p:pic>
        <p:nvPicPr>
          <p:cNvPr id="26" name="step 2 not needed on trophy" descr="/NAS/SJ/POSTECH/nlp/figs/icons/trophy.png">    </p:cNvPr>
          <p:cNvPicPr>
            <a:picLocks noChangeAspect="1"/>
          </p:cNvPicPr>
          <p:nvPr/>
        </p:nvPicPr>
        <p:blipFill>
          <a:blip r:embed="rId8">
            <a:alphaModFix amt="18000"/>
          </a:blip>
          <a:stretch>
            <a:fillRect/>
          </a:stretch>
        </p:blipFill>
        <p:spPr>
          <a:xfrm>
            <a:off x="3575304" y="3401568"/>
            <a:ext cx="237744" cy="237744"/>
          </a:xfrm>
          <a:prstGeom prst="rect">
            <a:avLst/>
          </a:prstGeom>
        </p:spPr>
      </p:pic>
      <p:pic>
        <p:nvPicPr>
          <p:cNvPr id="27" name="step 2 used on truck" descr="/NAS/SJ/POSTECH/nlp/figs/icons/truck.png">    </p:cNvPr>
          <p:cNvPicPr>
            <a:picLocks noChangeAspect="1"/>
          </p:cNvPicPr>
          <p:nvPr/>
        </p:nvPicPr>
        <p:blipFill>
          <a:blip r:embed="rId9"/>
          <a:stretch>
            <a:fillRect/>
          </a:stretch>
        </p:blipFill>
        <p:spPr>
          <a:xfrm>
            <a:off x="3867912" y="3401568"/>
            <a:ext cx="237744" cy="237744"/>
          </a:xfrm>
          <a:prstGeom prst="rect">
            <a:avLst/>
          </a:prstGeom>
        </p:spPr>
      </p:pic>
      <p:pic>
        <p:nvPicPr>
          <p:cNvPr id="28" name="step 2 used on calc" descr="/NAS/SJ/POSTECH/nlp/figs/icons/calc.png">    </p:cNvPr>
          <p:cNvPicPr>
            <a:picLocks noChangeAspect="1"/>
          </p:cNvPicPr>
          <p:nvPr/>
        </p:nvPicPr>
        <p:blipFill>
          <a:blip r:embed="rId10"/>
          <a:stretch>
            <a:fillRect/>
          </a:stretch>
        </p:blipFill>
        <p:spPr>
          <a:xfrm>
            <a:off x="4160520" y="3401568"/>
            <a:ext cx="237744" cy="237744"/>
          </a:xfrm>
          <a:prstGeom prst="rect">
            <a:avLst/>
          </a:prstGeom>
        </p:spPr>
      </p:pic>
      <p:sp>
        <p:nvSpPr>
          <p:cNvPr id="29" name="Text 17"/>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30"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31" name="Text 19"/>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32" name="Text 20"/>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33" name="Shape 21"/>
          <p:cNvSpPr/>
          <p:nvPr/>
        </p:nvSpPr>
        <p:spPr>
          <a:xfrm>
            <a:off x="7132320" y="2670048"/>
            <a:ext cx="137160" cy="0"/>
          </a:xfrm>
          <a:prstGeom prst="line">
            <a:avLst/>
          </a:prstGeom>
          <a:noFill/>
          <a:ln w="25400">
            <a:solidFill>
              <a:srgbClr val="7F7F7F"/>
            </a:solidFill>
            <a:prstDash val="solid"/>
            <a:tailEnd type="triangle"/>
          </a:ln>
        </p:spPr>
      </p:sp>
      <p:pic>
        <p:nvPicPr>
          <p:cNvPr id="34" name="step 3 used on shapes" descr="/NAS/SJ/POSTECH/nlp/figs/icons/shapes.png">    </p:cNvPr>
          <p:cNvPicPr>
            <a:picLocks noChangeAspect="1"/>
          </p:cNvPicPr>
          <p:nvPr/>
        </p:nvPicPr>
        <p:blipFill>
          <a:blip r:embed="rId11"/>
          <a:stretch>
            <a:fillRect/>
          </a:stretch>
        </p:blipFill>
        <p:spPr>
          <a:xfrm>
            <a:off x="5522976" y="3401568"/>
            <a:ext cx="237744" cy="237744"/>
          </a:xfrm>
          <a:prstGeom prst="rect">
            <a:avLst/>
          </a:prstGeom>
        </p:spPr>
      </p:pic>
      <p:pic>
        <p:nvPicPr>
          <p:cNvPr id="35" name="step 3 used on trophy" descr="/NAS/SJ/POSTECH/nlp/figs/icons/trophy.png">    </p:cNvPr>
          <p:cNvPicPr>
            <a:picLocks noChangeAspect="1"/>
          </p:cNvPicPr>
          <p:nvPr/>
        </p:nvPicPr>
        <p:blipFill>
          <a:blip r:embed="rId12"/>
          <a:stretch>
            <a:fillRect/>
          </a:stretch>
        </p:blipFill>
        <p:spPr>
          <a:xfrm>
            <a:off x="5815584" y="3401568"/>
            <a:ext cx="237744" cy="237744"/>
          </a:xfrm>
          <a:prstGeom prst="rect">
            <a:avLst/>
          </a:prstGeom>
        </p:spPr>
      </p:pic>
      <p:pic>
        <p:nvPicPr>
          <p:cNvPr id="36" name="step 3 used on truck" descr="/NAS/SJ/POSTECH/nlp/figs/icons/truck.png">    </p:cNvPr>
          <p:cNvPicPr>
            <a:picLocks noChangeAspect="1"/>
          </p:cNvPicPr>
          <p:nvPr/>
        </p:nvPicPr>
        <p:blipFill>
          <a:blip r:embed="rId13"/>
          <a:stretch>
            <a:fillRect/>
          </a:stretch>
        </p:blipFill>
        <p:spPr>
          <a:xfrm>
            <a:off x="6108192" y="3401568"/>
            <a:ext cx="237744" cy="237744"/>
          </a:xfrm>
          <a:prstGeom prst="rect">
            <a:avLst/>
          </a:prstGeom>
        </p:spPr>
      </p:pic>
      <p:pic>
        <p:nvPicPr>
          <p:cNvPr id="37" name="step 3 used on calc" descr="/NAS/SJ/POSTECH/nlp/figs/icons/calc.png">    </p:cNvPr>
          <p:cNvPicPr>
            <a:picLocks noChangeAspect="1"/>
          </p:cNvPicPr>
          <p:nvPr/>
        </p:nvPicPr>
        <p:blipFill>
          <a:blip r:embed="rId14"/>
          <a:stretch>
            <a:fillRect/>
          </a:stretch>
        </p:blipFill>
        <p:spPr>
          <a:xfrm>
            <a:off x="6400800" y="3401568"/>
            <a:ext cx="237744" cy="237744"/>
          </a:xfrm>
          <a:prstGeom prst="rect">
            <a:avLst/>
          </a:prstGeom>
        </p:spPr>
      </p:pic>
      <p:sp>
        <p:nvSpPr>
          <p:cNvPr id="38" name="Text 22"/>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39"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40" name="Text 24"/>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41" name="Text 25"/>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think only if the two differ</a:t>
            </a:r>
            <a:endParaRPr lang="en-US" sz="1400" dirty="0"/>
          </a:p>
        </p:txBody>
      </p:sp>
      <p:sp>
        <p:nvSpPr>
          <p:cNvPr id="42" name="Shape 26"/>
          <p:cNvSpPr/>
          <p:nvPr/>
        </p:nvSpPr>
        <p:spPr>
          <a:xfrm>
            <a:off x="9372600" y="2670048"/>
            <a:ext cx="137160" cy="0"/>
          </a:xfrm>
          <a:prstGeom prst="line">
            <a:avLst/>
          </a:prstGeom>
          <a:noFill/>
          <a:ln w="25400">
            <a:solidFill>
              <a:srgbClr val="7F7F7F"/>
            </a:solidFill>
            <a:prstDash val="solid"/>
            <a:tailEnd type="triangle"/>
          </a:ln>
        </p:spPr>
      </p:sp>
      <p:pic>
        <p:nvPicPr>
          <p:cNvPr id="43" name="step 4 used on shapes" descr="/NAS/SJ/POSTECH/nlp/figs/icons/shapes.png">    </p:cNvPr>
          <p:cNvPicPr>
            <a:picLocks noChangeAspect="1"/>
          </p:cNvPicPr>
          <p:nvPr/>
        </p:nvPicPr>
        <p:blipFill>
          <a:blip r:embed="rId15"/>
          <a:stretch>
            <a:fillRect/>
          </a:stretch>
        </p:blipFill>
        <p:spPr>
          <a:xfrm>
            <a:off x="7763256" y="3401568"/>
            <a:ext cx="237744" cy="237744"/>
          </a:xfrm>
          <a:prstGeom prst="rect">
            <a:avLst/>
          </a:prstGeom>
        </p:spPr>
      </p:pic>
      <p:pic>
        <p:nvPicPr>
          <p:cNvPr id="44" name="step 4 used on trophy" descr="/NAS/SJ/POSTECH/nlp/figs/icons/trophy.png">    </p:cNvPr>
          <p:cNvPicPr>
            <a:picLocks noChangeAspect="1"/>
          </p:cNvPicPr>
          <p:nvPr/>
        </p:nvPicPr>
        <p:blipFill>
          <a:blip r:embed="rId16"/>
          <a:stretch>
            <a:fillRect/>
          </a:stretch>
        </p:blipFill>
        <p:spPr>
          <a:xfrm>
            <a:off x="8055864" y="3401568"/>
            <a:ext cx="237744" cy="237744"/>
          </a:xfrm>
          <a:prstGeom prst="rect">
            <a:avLst/>
          </a:prstGeom>
        </p:spPr>
      </p:pic>
      <p:pic>
        <p:nvPicPr>
          <p:cNvPr id="45" name="step 4 used on truck" descr="/NAS/SJ/POSTECH/nlp/figs/icons/truck.png">    </p:cNvPr>
          <p:cNvPicPr>
            <a:picLocks noChangeAspect="1"/>
          </p:cNvPicPr>
          <p:nvPr/>
        </p:nvPicPr>
        <p:blipFill>
          <a:blip r:embed="rId17"/>
          <a:stretch>
            <a:fillRect/>
          </a:stretch>
        </p:blipFill>
        <p:spPr>
          <a:xfrm>
            <a:off x="8348472" y="3401568"/>
            <a:ext cx="237744" cy="237744"/>
          </a:xfrm>
          <a:prstGeom prst="rect">
            <a:avLst/>
          </a:prstGeom>
        </p:spPr>
      </p:pic>
      <p:pic>
        <p:nvPicPr>
          <p:cNvPr id="46" name="step 4 used on calc" descr="/NAS/SJ/POSTECH/nlp/figs/icons/calc.png">    </p:cNvPr>
          <p:cNvPicPr>
            <a:picLocks noChangeAspect="1"/>
          </p:cNvPicPr>
          <p:nvPr/>
        </p:nvPicPr>
        <p:blipFill>
          <a:blip r:embed="rId18"/>
          <a:stretch>
            <a:fillRect/>
          </a:stretch>
        </p:blipFill>
        <p:spPr>
          <a:xfrm>
            <a:off x="8641080" y="3401568"/>
            <a:ext cx="237744" cy="237744"/>
          </a:xfrm>
          <a:prstGeom prst="rect">
            <a:avLst/>
          </a:prstGeom>
        </p:spPr>
      </p:pic>
      <p:sp>
        <p:nvSpPr>
          <p:cNvPr id="47" name="Text 27"/>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48"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49" name="Text 29"/>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50" name="Text 30"/>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 no new tokens</a:t>
            </a:r>
            <a:endParaRPr lang="en-US" sz="1400" dirty="0"/>
          </a:p>
        </p:txBody>
      </p:sp>
      <p:pic>
        <p:nvPicPr>
          <p:cNvPr id="51" name="step 5 not needed on shapes" descr="/NAS/SJ/POSTECH/nlp/figs/icons/shapes.png">    </p:cNvPr>
          <p:cNvPicPr>
            <a:picLocks noChangeAspect="1"/>
          </p:cNvPicPr>
          <p:nvPr/>
        </p:nvPicPr>
        <p:blipFill>
          <a:blip r:embed="rId19">
            <a:alphaModFix amt="18000"/>
          </a:blip>
          <a:stretch>
            <a:fillRect/>
          </a:stretch>
        </p:blipFill>
        <p:spPr>
          <a:xfrm>
            <a:off x="10003536" y="3401568"/>
            <a:ext cx="237744" cy="237744"/>
          </a:xfrm>
          <a:prstGeom prst="rect">
            <a:avLst/>
          </a:prstGeom>
        </p:spPr>
      </p:pic>
      <p:pic>
        <p:nvPicPr>
          <p:cNvPr id="52" name="step 5 not needed on trophy" descr="/NAS/SJ/POSTECH/nlp/figs/icons/trophy.png">    </p:cNvPr>
          <p:cNvPicPr>
            <a:picLocks noChangeAspect="1"/>
          </p:cNvPicPr>
          <p:nvPr/>
        </p:nvPicPr>
        <p:blipFill>
          <a:blip r:embed="rId20">
            <a:alphaModFix amt="18000"/>
          </a:blip>
          <a:stretch>
            <a:fillRect/>
          </a:stretch>
        </p:blipFill>
        <p:spPr>
          <a:xfrm>
            <a:off x="10296144" y="3401568"/>
            <a:ext cx="237744" cy="237744"/>
          </a:xfrm>
          <a:prstGeom prst="rect">
            <a:avLst/>
          </a:prstGeom>
        </p:spPr>
      </p:pic>
      <p:pic>
        <p:nvPicPr>
          <p:cNvPr id="53" name="step 5 used on truck" descr="/NAS/SJ/POSTECH/nlp/figs/icons/truck.png">    </p:cNvPr>
          <p:cNvPicPr>
            <a:picLocks noChangeAspect="1"/>
          </p:cNvPicPr>
          <p:nvPr/>
        </p:nvPicPr>
        <p:blipFill>
          <a:blip r:embed="rId21"/>
          <a:stretch>
            <a:fillRect/>
          </a:stretch>
        </p:blipFill>
        <p:spPr>
          <a:xfrm>
            <a:off x="10588752" y="3401568"/>
            <a:ext cx="237744" cy="237744"/>
          </a:xfrm>
          <a:prstGeom prst="rect">
            <a:avLst/>
          </a:prstGeom>
        </p:spPr>
      </p:pic>
      <p:pic>
        <p:nvPicPr>
          <p:cNvPr id="54" name="step 5 not needed on calc" descr="/NAS/SJ/POSTECH/nlp/figs/icons/calc.png">    </p:cNvPr>
          <p:cNvPicPr>
            <a:picLocks noChangeAspect="1"/>
          </p:cNvPicPr>
          <p:nvPr/>
        </p:nvPicPr>
        <p:blipFill>
          <a:blip r:embed="rId22">
            <a:alphaModFix amt="18000"/>
          </a:blip>
          <a:stretch>
            <a:fillRect/>
          </a:stretch>
        </p:blipFill>
        <p:spPr>
          <a:xfrm>
            <a:off x="10881360" y="3401568"/>
            <a:ext cx="237744" cy="237744"/>
          </a:xfrm>
          <a:prstGeom prst="rect">
            <a:avLst/>
          </a:prstGeom>
        </p:spPr>
      </p:pic>
      <p:sp>
        <p:nvSpPr>
          <p:cNvPr id="55" name="Text 31"/>
          <p:cNvSpPr txBox="1"/>
          <p:nvPr/>
        </p:nvSpPr>
        <p:spPr>
          <a:xfrm>
            <a:off x="548640" y="3730752"/>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108 geometry + 100 optimization problems × 3 models:</a:t>
            </a:r>
            <a:endParaRPr lang="en-US" sz="1600" dirty="0"/>
          </a:p>
        </p:txBody>
      </p:sp>
      <p:sp>
        <p:nvSpPr>
          <p:cNvPr id="56" name="Text 32"/>
          <p:cNvSpPr txBox="1"/>
          <p:nvPr/>
        </p:nvSpPr>
        <p:spPr>
          <a:xfrm>
            <a:off x="2834640" y="406908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7" name="Text 33"/>
          <p:cNvSpPr txBox="1"/>
          <p:nvPr/>
        </p:nvSpPr>
        <p:spPr>
          <a:xfrm>
            <a:off x="3749040" y="406908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8" name="Text 34"/>
          <p:cNvSpPr txBox="1"/>
          <p:nvPr/>
        </p:nvSpPr>
        <p:spPr>
          <a:xfrm>
            <a:off x="548640" y="443484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on hardest-looking</a:t>
            </a:r>
            <a:endParaRPr lang="en-US" sz="1500" dirty="0"/>
          </a:p>
        </p:txBody>
      </p:sp>
      <p:sp>
        <p:nvSpPr>
          <p:cNvPr id="59" name="Text 35"/>
          <p:cNvSpPr txBox="1"/>
          <p:nvPr/>
        </p:nvSpPr>
        <p:spPr>
          <a:xfrm>
            <a:off x="2834640" y="443484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60" name="tokens think on hardest-looking"/>
          <p:cNvSpPr/>
          <p:nvPr/>
        </p:nvSpPr>
        <p:spPr>
          <a:xfrm>
            <a:off x="3749040" y="4535424"/>
            <a:ext cx="2468880" cy="256032"/>
          </a:xfrm>
          <a:prstGeom prst="rect">
            <a:avLst/>
          </a:prstGeom>
          <a:solidFill>
            <a:srgbClr val="7F7F7F"/>
          </a:solidFill>
          <a:ln w="6350">
            <a:solidFill>
              <a:srgbClr val="7F7F7F"/>
            </a:solidFill>
            <a:prstDash val="solid"/>
          </a:ln>
        </p:spPr>
      </p:sp>
      <p:sp>
        <p:nvSpPr>
          <p:cNvPr id="61" name="Text 37"/>
          <p:cNvSpPr txBox="1"/>
          <p:nvPr/>
        </p:nvSpPr>
        <p:spPr>
          <a:xfrm>
            <a:off x="6309360" y="443484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2" name="Text 38"/>
          <p:cNvSpPr txBox="1"/>
          <p:nvPr/>
        </p:nvSpPr>
        <p:spPr>
          <a:xfrm>
            <a:off x="548640" y="496519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3" name="Text 39"/>
          <p:cNvSpPr txBox="1"/>
          <p:nvPr/>
        </p:nvSpPr>
        <p:spPr>
          <a:xfrm>
            <a:off x="2834640" y="49651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4" name="tokens ours, hand-written hint"/>
          <p:cNvSpPr/>
          <p:nvPr/>
        </p:nvSpPr>
        <p:spPr>
          <a:xfrm>
            <a:off x="3749040" y="5065776"/>
            <a:ext cx="1505415" cy="256032"/>
          </a:xfrm>
          <a:prstGeom prst="rect">
            <a:avLst/>
          </a:prstGeom>
          <a:solidFill>
            <a:srgbClr val="4472C4"/>
          </a:solidFill>
          <a:ln w="6350">
            <a:solidFill>
              <a:srgbClr val="4472C4"/>
            </a:solidFill>
            <a:prstDash val="solid"/>
          </a:ln>
        </p:spPr>
      </p:sp>
      <p:sp>
        <p:nvSpPr>
          <p:cNvPr id="65" name="Text 41"/>
          <p:cNvSpPr txBox="1"/>
          <p:nvPr/>
        </p:nvSpPr>
        <p:spPr>
          <a:xfrm>
            <a:off x="5345895" y="49651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6" name="Text 42"/>
          <p:cNvSpPr txBox="1"/>
          <p:nvPr/>
        </p:nvSpPr>
        <p:spPr>
          <a:xfrm>
            <a:off x="7498080" y="3730752"/>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67" name="Text 43"/>
          <p:cNvSpPr txBox="1"/>
          <p:nvPr/>
        </p:nvSpPr>
        <p:spPr>
          <a:xfrm>
            <a:off x="7498080" y="4169664"/>
            <a:ext cx="4114800" cy="731520"/>
          </a:xfrm>
          <a:prstGeom prst="rect">
            <a:avLst/>
          </a:prstGeom>
          <a:noFill/>
          <a:ln/>
        </p:spPr>
        <p:txBody>
          <a:bodyPr wrap="square" lIns="0" tIns="0" rIns="0" bIns="0" rtlCol="0" anchor="t"/>
          <a:lstStyle/>
          <a:p>
            <a:pPr indent="0" marL="0">
              <a:buNone/>
            </a:pPr>
            <a:r>
              <a:rPr lang="en-US" sz="1400" dirty="0">
                <a:solidFill>
                  <a:schemeClr val="tx1"/>
                </a:solidFill>
              </a:rPr>
              <a:t>gpt-oss-20b on 863 held-out MAMO problems: its own checked program as the hint = a hand-written hint (no hint: 73%)</a:t>
            </a:r>
            <a:endParaRPr lang="en-US" sz="1400" dirty="0"/>
          </a:p>
        </p:txBody>
      </p:sp>
      <p:sp>
        <p:nvSpPr>
          <p:cNvPr id="68" name="Text 44"/>
          <p:cNvSpPr txBox="1"/>
          <p:nvPr/>
        </p:nvSpPr>
        <p:spPr>
          <a:xfrm>
            <a:off x="7498080" y="4983480"/>
            <a:ext cx="4114800" cy="365760"/>
          </a:xfrm>
          <a:prstGeom prst="rect">
            <a:avLst/>
          </a:prstGeom>
          <a:noFill/>
          <a:ln/>
        </p:spPr>
        <p:txBody>
          <a:bodyPr wrap="square" lIns="0" tIns="0" rIns="0" bIns="0" rtlCol="0" anchor="ctr"/>
          <a:lstStyle/>
          <a:p>
            <a:pPr indent="0" marL="0">
              <a:buNone/>
            </a:pPr>
            <a:r>
              <a:rPr lang="en-US" sz="1400" dirty="0">
                <a:solidFill>
                  <a:schemeClr val="tx1"/>
                </a:solidFill>
              </a:rPr>
              <a:t>This problem: </a:t>
            </a:r>
            <a:pPr indent="0" marL="0">
              <a:buNone/>
            </a:pPr>
            <a:r>
              <a:rPr lang="en-US" sz="1400" b="1" dirty="0">
                <a:solidFill>
                  <a:srgbClr val="4472C4"/>
                </a:solidFill>
              </a:rPr>
              <a:t>0.6k tokens</a:t>
            </a:r>
            <a:pPr indent="0" marL="0">
              <a:buNone/>
            </a:pPr>
            <a:r>
              <a:rPr lang="en-US" sz="1400" dirty="0">
                <a:solidFill>
                  <a:schemeClr val="tx1"/>
                </a:solidFill>
              </a:rPr>
              <a:t> (thinking alone: 5.3k)</a:t>
            </a:r>
            <a:endParaRPr lang="en-US" sz="1400" dirty="0"/>
          </a:p>
        </p:txBody>
      </p:sp>
      <p:sp>
        <p:nvSpPr>
          <p:cNvPr id="69" name="Text 4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where 3 quick answers disagree,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on the same 208 problems</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 key</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 1.1k tokens</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69.5% at 1.0k tokens</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finish the held-out test on more models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warn.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errors no check catches: programs that run but model the problem wrong</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for every problem type; report and code</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(seed 1)</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19).</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seed):</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seeds)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seeds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2026-10-19T18:36:24Z</dcterms:created>
  <dcterms:modified xsi:type="dcterms:W3CDTF">2026-10-19T18:36:24Z</dcterms:modified>
</cp:coreProperties>
</file>