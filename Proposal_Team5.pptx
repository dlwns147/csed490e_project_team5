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b611fe70-d987-260b-ebc9-3081d79a73c6}">
          <p14:sldIdLst>
            <p14:sldId id="256"/>
            <p14:sldId id="257"/>
            <p14:sldId id="258"/>
            <p14:sldId id="259"/>
            <p14:sldId id="260"/>
            <p14:sldId id="261"/>
            <p14:sldId id="262"/>
            <p14:sldId id="263"/>
            <p14:sldId id="264"/>
          </p14:sldIdLst>
        </p14:section>
        <p14:section name="Extra pages" id="{e5d303d5-df49-e37e-3e67-6b41d6a65282}">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저희가 다루는 문제는 네 종류이고, 두 무리로 나뉩니다. 기하와 경시 문제는 맞는 알고리즘이 필요하고, 배송 경로와 최적화 문장제는 솔버 라이브러리를 맞게 부르는 법이 필요합니다. 이런 코드는 이미 코딩 에이전트가 실제로 쓰고 있는데, 틀려도 티가 나지 않고, 오래 생각하게 하면 비용이 큽니다. 답이 정확히 하나라서 코드로 채점할 수 있다는 점도 이 문제들을 고른 이유입니다. 이 두 무리를 기억해 주세요. 뒤에서 각각 다른 해결책이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먼저, 계산은 프로그램에 맡깁니다. 같은 도형을 옮기고 돌리면 말로 한 답은 매번 바뀌지만, 프로그램은 항상 436입니다. 그런데 프로그램에도 문제가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가지가 문제입니다. 첫째, 프로그램은 조용히 틀립니다. 점 10개를 감싸는 고무줄의 꼭짓점은 6개인데, 같은 모델에게 문제만 주면 6을 내고, 코딩 에이전트가 받는 도구 목록처럼 필요 없는 도우미 함수 8개를 같이 주면 0을 냅니다. 에러가 없어서 답을 모르면 틀린 줄 모릅니다. 없는 함수를 불러 멈추기도 합니다. 둘째, 오래 생각하면 비쌉니다. 큰 모델도 토큰을 4.4배 써서 9점을 더 얻을 뿐입니다. 그래서 질문은, 추가 노력을 힌트, 검사, 생각 중 어디에 써야 하느냐입니다.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발견은 솔버를 부르는 무리의 이야기입니다. 매뉴얼이 아니라 짧은 힌트를 주세요. 트럭 경로를 짜는 과제에 사용법 열한 줄을 붙이면, 모델이 맞는 함수를 불러 최적 경로를 찾습니다. 필요한 규칙이 빠진 긴 매뉴얼을 주면 없는 함수를 지어내 멈춥니다. 30문제에서 아무것도 안 주면 23%, 오래 생각하게 하면 오히려 3%, 짧은 힌트는 83%입니다. 모르는 함수 이름은 오래 생각한다고 생기지 않습니다. 그럼 알고리즘이 틀리는 경우는 어떻게 할까요?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두 번째 발견은 알고리즘이 필요한 무리의 이야기입니다. 생각은 공짜 검사가 실패한 문제에만 쓰세요. 공짜 검사란, 정답 없이 프로그램을 실행해서 이미 아는 것과 비교해 보는 것으로, 토큰이 거의 들지 않습니다. 경시 문제에는 막대가 3, 4, 5이면 답은 0이라는 예제가 있어서, 프로그램에 넣어 0이 나오면 그대로 내고, 다르면 그 문제만 더 생각합니다. 예제가 없으면 프로그램을 두 가지로 짜서 답이 다를 때만 생각합니다. 그러면 항상 오래 생각할 때와 같은 정확도를 토큰 18에서 27% 적게 얻고, 정답은 필요 없습니다. 이 둘을 합치면 저희 방법이 됩니다.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이제 4장의 질문에 답하면, 힌트를 먼저, 그다음 공짜 검사, 생각은 검사가 실패할 때만입니다. 위의 네 단계가 그 순서이고, 같은 종류가 다시 오면 검사된 프로그램을 재사용합니다. 힌트는 사람 없이 만듭니다. 같은 종류의 앞선 문제들에서 모델이 짠 프로그램 중 실행되어 숫자를 낸 것을 모으고, 가장 짧은 것을 예시로 붙입니다. 오른쪽처럼, 어려워 보이는 문제에 생각을 몰아주는 기존 방식은 74%, 검사만 써도 77%, 힌트까지 쓰면 84에서 87%이고 토큰도 적습니다. 핵심은, 문제가 어려워 보이는지가 아니라 무엇이 틀렸는지에 따라 노력을 쓰는 것입니다. 이름을 모르면 힌트, 조용히 틀리면 검사, 정말 어려우면 생각입니다.
[참고, 읽지 않음] 힌트 풀의 검사는 '실행되어 숫자를 냄'뿐이라, 풀 안에도 틀린 프로그램이 있습니다(8B 이상 모델에서 17~38%). 정답으로 나중에 확인해 보니, 실제로 고른 가장 짧은 프로그램은 8B 이상 다섯 모델 모두에서 맞았고, Qwen3-4B와 1.7B에서는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검사로 생각할 때를 정하고, 매뉴얼 대신 짧은 힌트를 사람 없이 고르며, 파인튜닝한 8B 특화 모델과 같은 정확도를 학습하지 않은 8B 모델로 냅니다. 앞으로 할 일도 세 가지입니다. 첫째, 처음 보는 문제 종류에서도 힌트를 자동으로 고르는 것. 둘째, 실행은 되지만 문제를 잘못 옮긴 프로그램까지 토큰 없이 잡는 검사. 셋째, Lean이 모든 단계를 검사해 주는 수학 증명으로 넓히는 것입니다. 각각 정확도와 토큰을 함께 재서 지금 결과와 비교하겠습니다.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감사합니다. 한 줄로 줄이면, 문제가 어려워 보이는지가 아니라 무엇이 틀렸는지에 따라 노력을 쓰자는 것입니다.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and what does it do?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라이브러리를 어떻게 부르는지 보여 줍니다. 사람이 쓴 힌트는 경로 문제에서 OR-Tools 사용법 11줄로, 이 문제의 숫자도 답도 없고 30문제에 똑같이 붙습니다. 자동 힌트는 같은 종류의 다른 문제, 예를 들어 밴과 트럭 문제에서 모델이 짜서 검사를 통과한 가장 짧은 프로그램입니다. 그 문제의 숫자와 제약이 들어 있지만, 가장 짧은 것을 고르면 거의 함수 호출만 남습니다. 힌트가 하는 일은 없는 함수 이름을 지어내지 않게 하는 것입니다. Qwen3-1.7B는 힌트 없이 존재하지 않는 Solver.SUCCESS, solver.INFINITY를 써서 0.1%였고, 힌트를 주면 45%입니다. 하지만 문제를 수식으로 옮기는 일은 여전히 모델의 몫이라 남은 오류는 대부분 잘못된 수식입니다. 참고로 가장 짧은 것 대신 가장 비슷한 문제의 프로그램을 주면 수식 패턴까지 따라 들어가서, 그 프로그램이 맞으면 반복되는 수식 실수를 고치고, 틀리면 같이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685800"/>
          </a:xfrm>
          <a:prstGeom prst="rect">
            <a:avLst/>
          </a:prstGeom>
          <a:noFill/>
          <a:ln/>
        </p:spPr>
        <p:txBody>
          <a:bodyPr wrap="square" lIns="0" tIns="0" rIns="0" bIns="0" rtlCol="0" anchor="t"/>
          <a:lstStyle/>
          <a:p>
            <a:pPr indent="0" marL="0">
              <a:buNone/>
            </a:pPr>
            <a:r>
              <a:rPr lang="en-US" sz="1300" dirty="0">
                <a:solidFill>
                  <a:schemeClr val="tx2"/>
                </a:solidFill>
              </a:rPr>
              <a:t>A: the task only. B: the task + 8 helper functions it did not need (Qwen3-14B)</a:t>
            </a:r>
            <a:endParaRPr lang="en-US" sz="13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runs and prints a "/>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runs and prints a number</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pasted as "/>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pasted as an example</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77824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92640" y="2724912"/>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77824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92640" y="3191256"/>
            <a:ext cx="937260" cy="256032"/>
          </a:xfrm>
          <a:prstGeom prst="rect">
            <a:avLst/>
          </a:prstGeom>
          <a:solidFill>
            <a:srgbClr val="7F7F7F"/>
          </a:solidFill>
          <a:ln w="6350">
            <a:solidFill>
              <a:srgbClr val="7F7F7F"/>
            </a:solidFill>
            <a:prstDash val="solid"/>
          </a:ln>
        </p:spPr>
      </p:sp>
      <p:sp>
        <p:nvSpPr>
          <p:cNvPr id="60" name="Text 40"/>
          <p:cNvSpPr txBox="1"/>
          <p:nvPr/>
        </p:nvSpPr>
        <p:spPr>
          <a:xfrm>
            <a:off x="1072134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29584"/>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think when the check fails</a:t>
            </a:r>
            <a:endParaRPr lang="en-US" sz="1500" dirty="0"/>
          </a:p>
        </p:txBody>
      </p:sp>
      <p:sp>
        <p:nvSpPr>
          <p:cNvPr id="62" name="Text 42"/>
          <p:cNvSpPr txBox="1"/>
          <p:nvPr/>
        </p:nvSpPr>
        <p:spPr>
          <a:xfrm>
            <a:off x="877824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77%</a:t>
            </a:r>
            <a:endParaRPr lang="en-US" sz="1700" dirty="0"/>
          </a:p>
        </p:txBody>
      </p:sp>
      <p:sp>
        <p:nvSpPr>
          <p:cNvPr id="63" name="tokens think when the check fails"/>
          <p:cNvSpPr/>
          <p:nvPr/>
        </p:nvSpPr>
        <p:spPr>
          <a:xfrm>
            <a:off x="9692640" y="3630168"/>
            <a:ext cx="960120" cy="256032"/>
          </a:xfrm>
          <a:prstGeom prst="rect">
            <a:avLst/>
          </a:prstGeom>
          <a:solidFill>
            <a:srgbClr val="7F7F7F"/>
          </a:solidFill>
          <a:ln w="6350">
            <a:solidFill>
              <a:srgbClr val="7F7F7F"/>
            </a:solidFill>
            <a:prstDash val="solid"/>
          </a:ln>
        </p:spPr>
      </p:sp>
      <p:sp>
        <p:nvSpPr>
          <p:cNvPr id="64" name="Text 44"/>
          <p:cNvSpPr txBox="1"/>
          <p:nvPr/>
        </p:nvSpPr>
        <p:spPr>
          <a:xfrm>
            <a:off x="10744200"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4.2k</a:t>
            </a:r>
            <a:endParaRPr lang="en-US" sz="1500" dirty="0"/>
          </a:p>
        </p:txBody>
      </p:sp>
      <p:sp>
        <p:nvSpPr>
          <p:cNvPr id="65" name="Text 45"/>
          <p:cNvSpPr txBox="1"/>
          <p:nvPr/>
        </p:nvSpPr>
        <p:spPr>
          <a:xfrm>
            <a:off x="6400800" y="396849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 hint found by search</a:t>
            </a:r>
            <a:endParaRPr lang="en-US" sz="1500" dirty="0"/>
          </a:p>
        </p:txBody>
      </p:sp>
      <p:sp>
        <p:nvSpPr>
          <p:cNvPr id="66" name="Text 46"/>
          <p:cNvSpPr txBox="1"/>
          <p:nvPr/>
        </p:nvSpPr>
        <p:spPr>
          <a:xfrm>
            <a:off x="8778240" y="3968496"/>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7" name="tokens + hint found by search"/>
          <p:cNvSpPr/>
          <p:nvPr/>
        </p:nvSpPr>
        <p:spPr>
          <a:xfrm>
            <a:off x="9692640" y="4069080"/>
            <a:ext cx="754380" cy="256032"/>
          </a:xfrm>
          <a:prstGeom prst="rect">
            <a:avLst/>
          </a:prstGeom>
          <a:solidFill>
            <a:srgbClr val="5B9BD5"/>
          </a:solidFill>
          <a:ln w="6350">
            <a:solidFill>
              <a:srgbClr val="5B9BD5"/>
            </a:solidFill>
            <a:prstDash val="solid"/>
          </a:ln>
        </p:spPr>
      </p:sp>
      <p:sp>
        <p:nvSpPr>
          <p:cNvPr id="68" name="Text 48"/>
          <p:cNvSpPr txBox="1"/>
          <p:nvPr/>
        </p:nvSpPr>
        <p:spPr>
          <a:xfrm>
            <a:off x="10538460" y="3968496"/>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9" name="Text 49"/>
          <p:cNvSpPr txBox="1"/>
          <p:nvPr/>
        </p:nvSpPr>
        <p:spPr>
          <a:xfrm>
            <a:off x="6400800" y="4407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 hand-written hint</a:t>
            </a:r>
            <a:endParaRPr lang="en-US" sz="1500" dirty="0"/>
          </a:p>
        </p:txBody>
      </p:sp>
      <p:sp>
        <p:nvSpPr>
          <p:cNvPr id="70" name="Text 50"/>
          <p:cNvSpPr txBox="1"/>
          <p:nvPr/>
        </p:nvSpPr>
        <p:spPr>
          <a:xfrm>
            <a:off x="8778240" y="4407408"/>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71" name="tokens + hand-written hint"/>
          <p:cNvSpPr/>
          <p:nvPr/>
        </p:nvSpPr>
        <p:spPr>
          <a:xfrm>
            <a:off x="9692640" y="4507992"/>
            <a:ext cx="571500" cy="256032"/>
          </a:xfrm>
          <a:prstGeom prst="rect">
            <a:avLst/>
          </a:prstGeom>
          <a:solidFill>
            <a:srgbClr val="4472C4"/>
          </a:solidFill>
          <a:ln w="6350">
            <a:solidFill>
              <a:srgbClr val="4472C4"/>
            </a:solidFill>
            <a:prstDash val="solid"/>
          </a:ln>
        </p:spPr>
      </p:sp>
      <p:sp>
        <p:nvSpPr>
          <p:cNvPr id="72" name="Text 52"/>
          <p:cNvSpPr txBox="1"/>
          <p:nvPr/>
        </p:nvSpPr>
        <p:spPr>
          <a:xfrm>
            <a:off x="10355580" y="4407408"/>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73" name="Text 53"/>
          <p:cNvSpPr txBox="1"/>
          <p:nvPr/>
        </p:nvSpPr>
        <p:spPr>
          <a:xfrm>
            <a:off x="6400800" y="4919472"/>
            <a:ext cx="4983480" cy="548640"/>
          </a:xfrm>
          <a:prstGeom prst="rect">
            <a:avLst/>
          </a:prstGeom>
          <a:noFill/>
          <a:ln/>
        </p:spPr>
        <p:txBody>
          <a:bodyPr wrap="square" lIns="0" tIns="0" rIns="0" bIns="0" rtlCol="0" anchor="t"/>
          <a:lstStyle/>
          <a:p>
            <a:pPr indent="0" marL="0">
              <a:buNone/>
            </a:pPr>
            <a:r>
              <a:rPr lang="en-US" sz="1400" dirty="0">
                <a:solidFill>
                  <a:schemeClr val="tx2"/>
                </a:solidFill>
              </a:rPr>
              <a:t>Held-out MAMO (863): a hint picked with no human = a hand-written one (79% = 79%, gpt-oss-20b)</a:t>
            </a:r>
            <a:endParaRPr lang="en-US" sz="1400" dirty="0"/>
          </a:p>
        </p:txBody>
      </p:sp>
      <p:sp>
        <p:nvSpPr>
          <p:cNvPr id="74"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 74%</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77%</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 short hint first: 87%; one picked with no human matches it</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and what does it do?</a:t>
            </a:r>
            <a:endParaRPr lang="en-US" sz="3600" dirty="0"/>
          </a:p>
        </p:txBody>
      </p:sp>
      <p:sp>
        <p:nvSpPr>
          <p:cNvPr id="3" name="hand-written fact"/>
          <p:cNvSpPr/>
          <p:nvPr/>
        </p:nvSpPr>
        <p:spPr>
          <a:xfrm>
            <a:off x="548640" y="1280160"/>
            <a:ext cx="5440680" cy="2194560"/>
          </a:xfrm>
          <a:prstGeom prst="roundRect">
            <a:avLst>
              <a:gd name="adj" fmla="val 3333"/>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Written by hand (routing): library usage only</a:t>
            </a:r>
            <a:endParaRPr lang="en-US" sz="1600" dirty="0"/>
          </a:p>
        </p:txBody>
      </p:sp>
      <p:sp>
        <p:nvSpPr>
          <p:cNvPr id="5" name="Text 3"/>
          <p:cNvSpPr txBox="1"/>
          <p:nvPr/>
        </p:nvSpPr>
        <p:spPr>
          <a:xfrm>
            <a:off x="77724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mgr = pywrapcp.RoutingIndexManager(n + 1, K, 0)</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 = pywrapcp.RoutingModel(mgr)</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dcb = r.RegisterUnaryTransitCallback(demand)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r.AddDimensionWithVehicleCapacity(dcb, ...)</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 = r.SolveWithParameters(p)</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11 lines, the same for all 30 problems</a:t>
            </a:r>
            <a:endParaRPr lang="en-US" sz="1300" dirty="0"/>
          </a:p>
        </p:txBody>
      </p:sp>
      <p:sp>
        <p:nvSpPr>
          <p:cNvPr id="6" name="automatic fact"/>
          <p:cNvSpPr/>
          <p:nvPr/>
        </p:nvSpPr>
        <p:spPr>
          <a:xfrm>
            <a:off x="6172200" y="1280160"/>
            <a:ext cx="5440680" cy="2194560"/>
          </a:xfrm>
          <a:prstGeom prst="roundRect">
            <a:avLst>
              <a:gd name="adj" fmla="val 3333"/>
            </a:avLst>
          </a:prstGeom>
          <a:solidFill>
            <a:srgbClr val="F2F2F2"/>
          </a:solidFill>
          <a:ln w="9525">
            <a:solidFill>
              <a:srgbClr val="D9D9D9"/>
            </a:solidFill>
            <a:prstDash val="solid"/>
          </a:ln>
        </p:spPr>
      </p:sp>
      <p:sp>
        <p:nvSpPr>
          <p:cNvPr id="7" name="Text 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Automatic (word problems): another problem's program</a:t>
            </a:r>
            <a:endParaRPr lang="en-US" sz="1600" dirty="0"/>
          </a:p>
        </p:txBody>
      </p:sp>
      <p:sp>
        <p:nvSpPr>
          <p:cNvPr id="8" name="Text 6"/>
          <p:cNvSpPr txBox="1"/>
          <p:nvPr/>
        </p:nvSpPr>
        <p:spPr>
          <a:xfrm>
            <a:off x="640080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solver = pywraplp.Solver.CreateSolver('SCIP')</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 = solver.IntVar(0, solver.infinity(), 'v')</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(that problem's own limits)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solver.Minimize(v)</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status = solver.Solve()</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a vans-and-trucks problem, not this one</a:t>
            </a:r>
            <a:endParaRPr lang="en-US" sz="1300" dirty="0"/>
          </a:p>
        </p:txBody>
      </p:sp>
      <p:sp>
        <p:nvSpPr>
          <p:cNvPr id="9" name="what the fact does"/>
          <p:cNvSpPr/>
          <p:nvPr/>
        </p:nvSpPr>
        <p:spPr>
          <a:xfrm>
            <a:off x="548640" y="3657600"/>
            <a:ext cx="11064240" cy="1600200"/>
          </a:xfrm>
          <a:prstGeom prst="roundRect">
            <a:avLst>
              <a:gd name="adj" fmla="val 4571"/>
            </a:avLst>
          </a:prstGeom>
          <a:solidFill>
            <a:srgbClr val="F2F2F2"/>
          </a:solidFill>
          <a:ln w="9525">
            <a:solidFill>
              <a:srgbClr val="D9D9D9"/>
            </a:solidFill>
            <a:prstDash val="solid"/>
          </a:ln>
        </p:spPr>
      </p:sp>
      <p:sp>
        <p:nvSpPr>
          <p:cNvPr id="10" name="Text 8"/>
          <p:cNvSpPr txBox="1"/>
          <p:nvPr/>
        </p:nvSpPr>
        <p:spPr>
          <a:xfrm>
            <a:off x="777240" y="3712464"/>
            <a:ext cx="4572000" cy="365760"/>
          </a:xfrm>
          <a:prstGeom prst="rect">
            <a:avLst/>
          </a:prstGeom>
          <a:noFill/>
          <a:ln/>
        </p:spPr>
        <p:txBody>
          <a:bodyPr wrap="square" lIns="0" tIns="0" rIns="0" bIns="0" rtlCol="0" anchor="ctr"/>
          <a:lstStyle/>
          <a:p>
            <a:pPr indent="0" marL="0">
              <a:buNone/>
            </a:pPr>
            <a:r>
              <a:rPr lang="en-US" sz="1600" b="1" dirty="0">
                <a:solidFill>
                  <a:srgbClr val="4472C4"/>
                </a:solidFill>
              </a:rPr>
              <a:t>What it does</a:t>
            </a:r>
            <a:endParaRPr lang="en-US" sz="1600" dirty="0"/>
          </a:p>
        </p:txBody>
      </p:sp>
      <p:sp>
        <p:nvSpPr>
          <p:cNvPr id="11" name="Text 9"/>
          <p:cNvSpPr txBox="1"/>
          <p:nvPr/>
        </p:nvSpPr>
        <p:spPr>
          <a:xfrm>
            <a:off x="777240" y="4096512"/>
            <a:ext cx="274320" cy="365760"/>
          </a:xfrm>
          <a:prstGeom prst="rect">
            <a:avLst/>
          </a:prstGeom>
          <a:noFill/>
          <a:ln/>
        </p:spPr>
        <p:txBody>
          <a:bodyPr wrap="square" lIns="0" tIns="0" rIns="0" bIns="0" rtlCol="0" anchor="ctr"/>
          <a:lstStyle/>
          <a:p>
            <a:pPr indent="0" marL="0">
              <a:buNone/>
            </a:pPr>
            <a:r>
              <a:rPr lang="en-US" sz="1700" b="1" dirty="0">
                <a:solidFill>
                  <a:srgbClr val="38761D"/>
                </a:solidFill>
              </a:rPr>
              <a:t>✓</a:t>
            </a:r>
            <a:endParaRPr lang="en-US" sz="1700" dirty="0"/>
          </a:p>
        </p:txBody>
      </p:sp>
      <p:sp>
        <p:nvSpPr>
          <p:cNvPr id="12" name="Text 10"/>
          <p:cNvSpPr txBox="1"/>
          <p:nvPr/>
        </p:nvSpPr>
        <p:spPr>
          <a:xfrm>
            <a:off x="1097280" y="4096512"/>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stops invented function names: Qwen3-1.7B wrote Solver.SUCCESS and solver.INFINITY (do not exist); with the hint 0.1% → 45% solved</a:t>
            </a:r>
            <a:endParaRPr lang="en-US" sz="1400" dirty="0"/>
          </a:p>
        </p:txBody>
      </p:sp>
      <p:sp>
        <p:nvSpPr>
          <p:cNvPr id="13" name="Text 11"/>
          <p:cNvSpPr txBox="1"/>
          <p:nvPr/>
        </p:nvSpPr>
        <p:spPr>
          <a:xfrm>
            <a:off x="777240" y="4480560"/>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4" name="Text 12"/>
          <p:cNvSpPr txBox="1"/>
          <p:nvPr/>
        </p:nvSpPr>
        <p:spPr>
          <a:xfrm>
            <a:off x="1097280" y="4480560"/>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does not write the equations: modelling the problem is still the model's job (most errors left are wrong equations)</a:t>
            </a:r>
            <a:endParaRPr lang="en-US" sz="1400" dirty="0"/>
          </a:p>
        </p:txBody>
      </p:sp>
      <p:sp>
        <p:nvSpPr>
          <p:cNvPr id="15" name="Text 13"/>
          <p:cNvSpPr txBox="1"/>
          <p:nvPr/>
        </p:nvSpPr>
        <p:spPr>
          <a:xfrm>
            <a:off x="777240" y="4864608"/>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6" name="Text 14"/>
          <p:cNvSpPr txBox="1"/>
          <p:nvPr/>
        </p:nvSpPr>
        <p:spPr>
          <a:xfrm>
            <a:off x="1097280" y="4864608"/>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never holds this problem's numbers or answer: one hint per problem type</a:t>
            </a:r>
            <a:endParaRPr lang="en-US" sz="1400" dirty="0"/>
          </a:p>
        </p:txBody>
      </p:sp>
      <p:sp>
        <p:nvSpPr>
          <p:cNvPr id="17" name="Text 1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shows how to call the library; the model still has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31920"/>
            <a:ext cx="4983480" cy="1554480"/>
          </a:xfrm>
          <a:prstGeom prst="rect">
            <a:avLst/>
          </a:prstGeom>
          <a:noFill/>
          <a:ln/>
        </p:spPr>
        <p:txBody>
          <a:bodyPr wrap="square" lIns="0" tIns="0" rIns="0" bIns="0" rtlCol="0" anchor="t"/>
          <a:lstStyle/>
          <a:p>
            <a:pPr indent="0" marL="0">
              <a:buNone/>
            </a:pPr>
            <a:r>
              <a:rPr lang="en-US" sz="1300" b="1" dirty="0">
                <a:solidFill>
                  <a:schemeClr val="tx1"/>
                </a:solidFill>
              </a:rPr>
              <a:t>Limits: </a:t>
            </a:r>
            <a:pPr indent="0" marL="0">
              <a:buNone/>
            </a:pPr>
            <a:r>
              <a:rPr lang="en-US" sz="1300" dirty="0">
                <a:solidFill>
                  <a:schemeClr val="tx1"/>
                </a:solidFill>
              </a:rPr>
              <a:t>it keeps 60–77% of what a full library gives; the library holds five models' programs; on varied problems it mostly saves tokens. A program that runs can be wrong: 17–38% of the pool for 8B and larger models (the shortest one was right for all five), and the shortest was wrong for Qwen3-4B and 1.7B.</a:t>
            </a:r>
            <a:endParaRPr lang="en-US" sz="13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2026-10-20T01:29:49Z</dcterms:created>
  <dcterms:modified xsi:type="dcterms:W3CDTF">2026-10-20T01:29:49Z</dcterms:modified>
</cp:coreProperties>
</file>