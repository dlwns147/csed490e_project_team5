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7b44b55d-b23a-ef58-99fd-de838483eba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7ca72f2d-3070-5b49-4723-86bfd2798d2a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(10초) 안녕하세요, 5조입니다. LLM으로 계산 수학 문제를 정확하고 싸게 푸는 방법을 제안합니다. 질문은 하나입니다. 추가 노력을 사실, 검사,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(25초) 저희가 푸는 문제는 다섯 종류입니다. 기하 계산, Codeforces 기하 문제, 배송 경로, 최적화 문장제, 그리고 확장으로 경시 수학과 증명입니다. 쉽지 않습니다. 경시 문제의 중앙값은 Codeforces Master 수준이고, AIME는 고등학생 상위 5% 정도가 치는 시험입니다. 공개 모델인 Qwen3와 gpt-oss를 직접 돌리고, 맞힌 문제 수와 쓴 토큰 수를 함께 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(20초) LLM은 말로 답할 수도 있고, 프로그램을 짤 수도 있습니다. Qwen3-8B에게 같은 도형의 넓이의 두 배를 물었습니다. 옮기고 돌리고 뒤집어도 답은 436입니다. 말로 답하면 매번 다른 답이 나오지만, 프로그램은 네 번 모두 436입니다. 계산에는 프로그램이 맞는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하지만 두 가지 문제가 있습니다. 첫째, 프로그램은 조용히 틀립니다. 같은 문제인데 프롬프트에 보조 코드만 더하면 6 대신 0을 출력하고, 에러 메시지도 없습니다. 없는 라이브러리 함수를 불러서 죽기도 합니다. 둘째, 오래 생각하면 비쌉니다. gpt-oss-120b는 오래 생각하면 57%에서 66%로 오르지만, 토큰은 4.4배를 씁니다. 그래서 질문입니다. 추가 노력을 빠진 사실, 공짜 검사, 더 많은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첫 번째 발견입니다. 매뉴얼이 아니라 사실을 주세요. Qwen3-32B가 OR-Tools로 배송 경로 프로그램을 짭니다. 긴 참조 문서를 주면 존재하지 않는 함수를 불러서 죽고, 정확한 사용법 열한 줄을 주면 최적 경로를 찾습니다. 경로 문제 30개에서 최적해를 찾는 비율은 아무것도 안 주면 23%, 오래 생각하면 오히려 3%, 긴 참조 문서는 7%, 정확한 사용법은 77에서 90%입니다. 최적화 문장제와 기하에서도 같았습니다. 모르는 사실은 생각한다고 생기지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(30초) 두 번째 발견입니다. 공짜 검사가 실패할 때만 생각하게 하세요. 검사 A는 문제에 적힌 예제입니다. 예제를 통과하면 바로 제출하고, 틀리면 그 문제만 더 생각합니다. 검사 B는 프로그램을 두 버전으로 짜서, 답이 다를 때만 생각합니다. 두 경우 모두 항상 생각할 때와 정확도는 같고, 토큰은 18에서 27% 적습니다. 두 검사 모두 정답이 필요 없고, 기하, 경시, 경로, 문장제에서 모두 통했습니다.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(50초) 두 발견을 합친 것이 저희 방법입니다. 실제 최적화 문제로 보겠습니다. 1단계, 모델이 없는 메서드를 불러서 죽습니다. 2단계, 사실을 줍니다. 이 사실은 사람이 쓴 것이 아니라, 모델이 다른 문제에서 짜서 검사를 통과한 자기 프로그램에서 자동으로 가져옵니다. 3단계, 두 버전의 답이 20000으로 같으니, 4단계 생각은 건너뜁니다. 생각만 했다면 5.3k 토큰이 들었을 문제를 0.6k로 풉니다. 5단계, 같은 종류의 새 데이터에는 검사된 프로그램을 재사용합니다. 기하와 최적화 208문제를 세 모델로 풀면, 어려워 보이는 문제에 생각을 몰아주면 74%, 저희 방법은 87%이고 토큰도 더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새로운 점은 세 가지입니다. 학습 없이, 공짜 검사가 실패할 때만 생각합니다. 정답 없이, 모델 자신의 검사된 프로그램을 사실로 줍니다. 그리고 특화 모델을 파인튜닝하지 않고도, 24GB GPU 한 장으로 같은 정확도를 냅니다. 다음으로는 더 많은 모델로 검증을 마치고, 검사로 못 잡는 오류, 즉 실행은 되지만 문제를 잘못 모델링한 프로그램을 다루겠습니다. 정리하면, 빠진 사실을 먼저 주고, 공짜 검사가 실패한 곳에서만 생각하게 하자는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(5초) 감사합니다. 질문 받겠습니다. 예상 질문마다 보충 슬라이드를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15875">
            <a:solidFill>
              <a:srgbClr val="A6A6A6"/>
            </a:solidFill>
            <a:prstDash val="dash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(extension)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not shown on trophy" descr="/NAS/SJ/POSTECH/nlp/figs/icons/trophy.png">    </p:cNvPr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13" name="box a long reference she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long reference sheet</a:t>
            </a:r>
            <a:endParaRPr lang="en-US" sz="1600" dirty="0"/>
          </a:p>
        </p:txBody>
      </p:sp>
      <p:sp>
        <p:nvSpPr>
          <p:cNvPr id="15" name="Shape 7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9" name="box the exact usage (11 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exact usage (11 lines)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25" name="Text 17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of 30 routing problems solved optimally: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7" name="bar nothing extra"/>
          <p:cNvSpPr/>
          <p:nvPr/>
        </p:nvSpPr>
        <p:spPr>
          <a:xfrm>
            <a:off x="3063240" y="3817620"/>
            <a:ext cx="1409090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56377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30" name="bar think longer"/>
          <p:cNvSpPr/>
          <p:nvPr/>
        </p:nvSpPr>
        <p:spPr>
          <a:xfrm>
            <a:off x="3063240" y="4274820"/>
            <a:ext cx="18379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3338474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3%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long reference sheet</a:t>
            </a:r>
            <a:endParaRPr lang="en-US" sz="1600" dirty="0"/>
          </a:p>
        </p:txBody>
      </p:sp>
      <p:sp>
        <p:nvSpPr>
          <p:cNvPr id="33" name="bar long reference sheet"/>
          <p:cNvSpPr/>
          <p:nvPr/>
        </p:nvSpPr>
        <p:spPr>
          <a:xfrm>
            <a:off x="3063240" y="4732020"/>
            <a:ext cx="42885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583534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7%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usage</a:t>
            </a:r>
            <a:endParaRPr lang="en-US" sz="1600" dirty="0"/>
          </a:p>
        </p:txBody>
      </p:sp>
      <p:sp>
        <p:nvSpPr>
          <p:cNvPr id="36" name="bar exact usage"/>
          <p:cNvSpPr/>
          <p:nvPr/>
        </p:nvSpPr>
        <p:spPr>
          <a:xfrm>
            <a:off x="3063240" y="5189220"/>
            <a:ext cx="50849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39658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77–90% (3 seeds)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holds on trophy" descr="/NAS/SJ/POSTECH/nlp/figs/icons/troph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Check A: the problem's own examples"/>
          <p:cNvSpPr/>
          <p:nvPr/>
        </p:nvSpPr>
        <p:spPr>
          <a:xfrm>
            <a:off x="548640" y="13258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77724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14" name="box &quot;Make a triangle!&quot;: "/>
          <p:cNvSpPr/>
          <p:nvPr/>
        </p:nvSpPr>
        <p:spPr>
          <a:xfrm>
            <a:off x="777240" y="196596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850392" y="196596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6" name="box &quot;Arrow&quot;: an example "/>
          <p:cNvSpPr/>
          <p:nvPr/>
        </p:nvSpPr>
        <p:spPr>
          <a:xfrm>
            <a:off x="777240" y="262432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850392" y="262432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3337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265176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356616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77724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2651760" y="4114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3" name="tokens always think hard"/>
          <p:cNvSpPr/>
          <p:nvPr/>
        </p:nvSpPr>
        <p:spPr>
          <a:xfrm>
            <a:off x="3566160" y="421538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5120640" y="4114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77240" y="46451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2651760" y="4645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7" name="tokens only on failure"/>
          <p:cNvSpPr/>
          <p:nvPr/>
        </p:nvSpPr>
        <p:spPr>
          <a:xfrm>
            <a:off x="3566160" y="474573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858168" y="46451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9" name="Check B: two versions must agree"/>
          <p:cNvSpPr/>
          <p:nvPr/>
        </p:nvSpPr>
        <p:spPr>
          <a:xfrm>
            <a:off x="6172200" y="132588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40080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31" name="box program A (task only"/>
          <p:cNvSpPr/>
          <p:nvPr/>
        </p:nvSpPr>
        <p:spPr>
          <a:xfrm>
            <a:off x="6400800" y="196596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6473952" y="196596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33" name="box program B (+ helper "/>
          <p:cNvSpPr/>
          <p:nvPr/>
        </p:nvSpPr>
        <p:spPr>
          <a:xfrm>
            <a:off x="6400800" y="262432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473952" y="262432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35" name="Text 27"/>
          <p:cNvSpPr txBox="1"/>
          <p:nvPr/>
        </p:nvSpPr>
        <p:spPr>
          <a:xfrm>
            <a:off x="6400800" y="33375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6" name="Text 28"/>
          <p:cNvSpPr txBox="1"/>
          <p:nvPr/>
        </p:nvSpPr>
        <p:spPr>
          <a:xfrm>
            <a:off x="8275320" y="37490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18972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6400800" y="4114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8275320" y="4114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40" name="tokens always think"/>
          <p:cNvSpPr/>
          <p:nvPr/>
        </p:nvSpPr>
        <p:spPr>
          <a:xfrm>
            <a:off x="9189720" y="421538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10744200" y="4114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6400800" y="46451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43" name="Text 35"/>
          <p:cNvSpPr txBox="1"/>
          <p:nvPr/>
        </p:nvSpPr>
        <p:spPr>
          <a:xfrm>
            <a:off x="8275320" y="4645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44" name="tokens only if they differ"/>
          <p:cNvSpPr/>
          <p:nvPr/>
        </p:nvSpPr>
        <p:spPr>
          <a:xfrm>
            <a:off x="9189720" y="474573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10347443" y="46451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10" name="holds on shapes" descr="/NAS/SJ/POSTECH/nlp/figs/icons/sha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11" name="not shown on trophy" descr="/NAS/SJ/POSTECH/nlp/figs/icons/trophy.png">    </p:cNvPr>
          <p:cNvPicPr>
            <a:picLocks noChangeAspect="1"/>
          </p:cNvPicPr>
          <p:nvPr/>
        </p:nvPicPr>
        <p:blipFill>
          <a:blip r:embed="rId4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12" name="holds on truck" descr="/NAS/SJ/POSTECH/nlp/figs/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3" name="holds on calc" descr="/NAS/SJ/POSTECH/nlp/figs/icons/cal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4" name="not shown on sqrt" descr="/NAS/SJ/POSTECH/nlp/figs/icons/sqrt.png">    </p:cNvPr>
          <p:cNvPicPr>
            <a:picLocks noChangeAspect="1"/>
          </p:cNvPicPr>
          <p:nvPr/>
        </p:nvPicPr>
        <p:blipFill>
          <a:blip r:embed="rId7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548640" y="11704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minimum cost of X, Y, Z under three limits → 20000</a:t>
            </a:r>
            <a:endParaRPr lang="en-US" sz="1600" dirty="0"/>
          </a:p>
        </p:txBody>
      </p:sp>
      <p:sp>
        <p:nvSpPr>
          <p:cNvPr id="16" name="Text 7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7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9" name="Text 10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Text 12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22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24" name="Text 15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17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7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2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32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7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108 geometry + 100 optimization problems × 3 models: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42" name="Text 33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45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8" name="Text 39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9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52" name="Text 43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53" name="Text 44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Expected questions, by the talk slide that raises them → extra page (type the number and press Enter)</a:t>
            </a:r>
            <a:endParaRPr lang="en-US" sz="1600" dirty="0"/>
          </a:p>
        </p:txBody>
      </p:sp>
      <p:sp>
        <p:nvSpPr>
          <p:cNvPr id="4" name="box "/>
          <p:cNvSpPr/>
          <p:nvPr/>
        </p:nvSpPr>
        <p:spPr>
          <a:xfrm>
            <a:off x="54864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from slide 2"/>
          <p:cNvSpPr/>
          <p:nvPr/>
        </p:nvSpPr>
        <p:spPr>
          <a:xfrm>
            <a:off x="62179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the findings cover all five kinds?</a:t>
            </a:r>
            <a:endParaRPr lang="en-US" sz="1400" dirty="0"/>
          </a:p>
        </p:txBody>
      </p:sp>
      <p:sp>
        <p:nvSpPr>
          <p:cNvPr id="9" name="page coverage"/>
          <p:cNvSpPr/>
          <p:nvPr/>
        </p:nvSpPr>
        <p:spPr>
          <a:xfrm>
            <a:off x="544982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1" name="box "/>
          <p:cNvSpPr/>
          <p:nvPr/>
        </p:nvSpPr>
        <p:spPr>
          <a:xfrm>
            <a:off x="54864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from slide 2"/>
          <p:cNvSpPr/>
          <p:nvPr/>
        </p:nvSpPr>
        <p:spPr>
          <a:xfrm>
            <a:off x="62179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 are the problems?</a:t>
            </a:r>
            <a:endParaRPr lang="en-US" sz="1400" dirty="0"/>
          </a:p>
        </p:txBody>
      </p:sp>
      <p:sp>
        <p:nvSpPr>
          <p:cNvPr id="16" name="page kinds"/>
          <p:cNvSpPr/>
          <p:nvPr/>
        </p:nvSpPr>
        <p:spPr>
          <a:xfrm>
            <a:off x="544982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982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8" name="box "/>
          <p:cNvSpPr/>
          <p:nvPr/>
        </p:nvSpPr>
        <p:spPr>
          <a:xfrm>
            <a:off x="54864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0" name="from slide 2"/>
          <p:cNvSpPr/>
          <p:nvPr/>
        </p:nvSpPr>
        <p:spPr>
          <a:xfrm>
            <a:off x="62179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25603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Proofs? Where does it stop?</a:t>
            </a:r>
            <a:endParaRPr lang="en-US" sz="1400" dirty="0"/>
          </a:p>
        </p:txBody>
      </p:sp>
      <p:sp>
        <p:nvSpPr>
          <p:cNvPr id="23" name="page proof"/>
          <p:cNvSpPr/>
          <p:nvPr/>
        </p:nvSpPr>
        <p:spPr>
          <a:xfrm>
            <a:off x="494690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4690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25" name="page limits"/>
          <p:cNvSpPr/>
          <p:nvPr/>
        </p:nvSpPr>
        <p:spPr>
          <a:xfrm>
            <a:off x="544982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982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27" name="box "/>
          <p:cNvSpPr/>
          <p:nvPr/>
        </p:nvSpPr>
        <p:spPr>
          <a:xfrm>
            <a:off x="54864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9" name="from slide 3"/>
          <p:cNvSpPr/>
          <p:nvPr/>
        </p:nvSpPr>
        <p:spPr>
          <a:xfrm>
            <a:off x="62179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a program always better than words?</a:t>
            </a:r>
            <a:endParaRPr lang="en-US" sz="1400" dirty="0"/>
          </a:p>
        </p:txBody>
      </p:sp>
      <p:sp>
        <p:nvSpPr>
          <p:cNvPr id="32" name="page progwords"/>
          <p:cNvSpPr/>
          <p:nvPr/>
        </p:nvSpPr>
        <p:spPr>
          <a:xfrm>
            <a:off x="544982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982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34" name="box "/>
          <p:cNvSpPr/>
          <p:nvPr/>
        </p:nvSpPr>
        <p:spPr>
          <a:xfrm>
            <a:off x="54864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from slide 4"/>
          <p:cNvSpPr/>
          <p:nvPr/>
        </p:nvSpPr>
        <p:spPr>
          <a:xfrm>
            <a:off x="62179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34747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does helper code change the answer?</a:t>
            </a:r>
            <a:endParaRPr lang="en-US" sz="1400" dirty="0"/>
          </a:p>
        </p:txBody>
      </p:sp>
      <p:sp>
        <p:nvSpPr>
          <p:cNvPr id="39" name="page two"/>
          <p:cNvSpPr/>
          <p:nvPr/>
        </p:nvSpPr>
        <p:spPr>
          <a:xfrm>
            <a:off x="544982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982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  <p:sp>
        <p:nvSpPr>
          <p:cNvPr id="41" name="box "/>
          <p:cNvSpPr/>
          <p:nvPr/>
        </p:nvSpPr>
        <p:spPr>
          <a:xfrm>
            <a:off x="54864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179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3" name="from slide 5"/>
          <p:cNvSpPr/>
          <p:nvPr/>
        </p:nvSpPr>
        <p:spPr>
          <a:xfrm>
            <a:off x="62179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exactly is the fact? Isn't it the answer?</a:t>
            </a:r>
            <a:endParaRPr lang="en-US" sz="1400" dirty="0"/>
          </a:p>
        </p:txBody>
      </p:sp>
      <p:sp>
        <p:nvSpPr>
          <p:cNvPr id="46" name="page fact"/>
          <p:cNvSpPr/>
          <p:nvPr/>
        </p:nvSpPr>
        <p:spPr>
          <a:xfrm>
            <a:off x="544982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4982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sp>
        <p:nvSpPr>
          <p:cNvPr id="48" name="box "/>
          <p:cNvSpPr/>
          <p:nvPr/>
        </p:nvSpPr>
        <p:spPr>
          <a:xfrm>
            <a:off x="54864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0" name="from slide 5"/>
          <p:cNvSpPr/>
          <p:nvPr/>
        </p:nvSpPr>
        <p:spPr>
          <a:xfrm>
            <a:off x="62179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179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508760" y="4389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 retrieval (RAG) find the fact?</a:t>
            </a:r>
            <a:endParaRPr lang="en-US" sz="1400" dirty="0"/>
          </a:p>
        </p:txBody>
      </p:sp>
      <p:sp>
        <p:nvSpPr>
          <p:cNvPr id="53" name="page rag"/>
          <p:cNvSpPr/>
          <p:nvPr/>
        </p:nvSpPr>
        <p:spPr>
          <a:xfrm>
            <a:off x="544982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4982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55" name="box "/>
          <p:cNvSpPr/>
          <p:nvPr/>
        </p:nvSpPr>
        <p:spPr>
          <a:xfrm>
            <a:off x="54864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2179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7" name="from slide 5"/>
          <p:cNvSpPr/>
          <p:nvPr/>
        </p:nvSpPr>
        <p:spPr>
          <a:xfrm>
            <a:off x="62179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179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50876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can thinking make it worse?</a:t>
            </a:r>
            <a:endParaRPr lang="en-US" sz="1400" dirty="0"/>
          </a:p>
        </p:txBody>
      </p:sp>
      <p:sp>
        <p:nvSpPr>
          <p:cNvPr id="60" name="page think"/>
          <p:cNvSpPr/>
          <p:nvPr/>
        </p:nvSpPr>
        <p:spPr>
          <a:xfrm>
            <a:off x="544982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4982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62" name="box "/>
          <p:cNvSpPr/>
          <p:nvPr/>
        </p:nvSpPr>
        <p:spPr>
          <a:xfrm>
            <a:off x="548640" y="5303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1792" y="5303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4" name="from slide 6"/>
          <p:cNvSpPr/>
          <p:nvPr/>
        </p:nvSpPr>
        <p:spPr>
          <a:xfrm>
            <a:off x="621792" y="5358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21792" y="5358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1508760" y="5303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a wrong program passes the check?</a:t>
            </a:r>
            <a:endParaRPr lang="en-US" sz="1400" dirty="0"/>
          </a:p>
        </p:txBody>
      </p:sp>
      <p:sp>
        <p:nvSpPr>
          <p:cNvPr id="67" name="page leak"/>
          <p:cNvSpPr/>
          <p:nvPr/>
        </p:nvSpPr>
        <p:spPr>
          <a:xfrm>
            <a:off x="5449824" y="5349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449824" y="5349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  <p:sp>
        <p:nvSpPr>
          <p:cNvPr id="69" name="box "/>
          <p:cNvSpPr/>
          <p:nvPr/>
        </p:nvSpPr>
        <p:spPr>
          <a:xfrm>
            <a:off x="617220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24535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1" name="from slide 6"/>
          <p:cNvSpPr/>
          <p:nvPr/>
        </p:nvSpPr>
        <p:spPr>
          <a:xfrm>
            <a:off x="624535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4535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13232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there always a free check?</a:t>
            </a:r>
            <a:endParaRPr lang="en-US" sz="1400" dirty="0"/>
          </a:p>
        </p:txBody>
      </p:sp>
      <p:sp>
        <p:nvSpPr>
          <p:cNvPr id="74" name="page checks"/>
          <p:cNvSpPr/>
          <p:nvPr/>
        </p:nvSpPr>
        <p:spPr>
          <a:xfrm>
            <a:off x="1107338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107338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76" name="box "/>
          <p:cNvSpPr/>
          <p:nvPr/>
        </p:nvSpPr>
        <p:spPr>
          <a:xfrm>
            <a:off x="617220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24535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8" name="from slide 7"/>
          <p:cNvSpPr/>
          <p:nvPr/>
        </p:nvSpPr>
        <p:spPr>
          <a:xfrm>
            <a:off x="624535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24535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13232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 writes the fact?</a:t>
            </a:r>
            <a:endParaRPr lang="en-US" sz="1400" dirty="0"/>
          </a:p>
        </p:txBody>
      </p:sp>
      <p:sp>
        <p:nvSpPr>
          <p:cNvPr id="81" name="page auto"/>
          <p:cNvSpPr/>
          <p:nvPr/>
        </p:nvSpPr>
        <p:spPr>
          <a:xfrm>
            <a:off x="1107338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107338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83" name="box "/>
          <p:cNvSpPr/>
          <p:nvPr/>
        </p:nvSpPr>
        <p:spPr>
          <a:xfrm>
            <a:off x="617220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24535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5" name="from slide 7"/>
          <p:cNvSpPr/>
          <p:nvPr/>
        </p:nvSpPr>
        <p:spPr>
          <a:xfrm>
            <a:off x="624535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24535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132320" y="2560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'think on the hardest' a weak baseline?</a:t>
            </a:r>
            <a:endParaRPr lang="en-US" sz="1400" dirty="0"/>
          </a:p>
        </p:txBody>
      </p:sp>
      <p:sp>
        <p:nvSpPr>
          <p:cNvPr id="88" name="page hard"/>
          <p:cNvSpPr/>
          <p:nvPr/>
        </p:nvSpPr>
        <p:spPr>
          <a:xfrm>
            <a:off x="1107338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07338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90" name="box "/>
          <p:cNvSpPr/>
          <p:nvPr/>
        </p:nvSpPr>
        <p:spPr>
          <a:xfrm>
            <a:off x="617220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24535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2" name="from slide 7"/>
          <p:cNvSpPr/>
          <p:nvPr/>
        </p:nvSpPr>
        <p:spPr>
          <a:xfrm>
            <a:off x="624535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24535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13232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the same problem repeats?</a:t>
            </a:r>
            <a:endParaRPr lang="en-US" sz="1400" dirty="0"/>
          </a:p>
        </p:txBody>
      </p:sp>
      <p:sp>
        <p:nvSpPr>
          <p:cNvPr id="95" name="page reuse"/>
          <p:cNvSpPr/>
          <p:nvPr/>
        </p:nvSpPr>
        <p:spPr>
          <a:xfrm>
            <a:off x="1107338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107338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97" name="box "/>
          <p:cNvSpPr/>
          <p:nvPr/>
        </p:nvSpPr>
        <p:spPr>
          <a:xfrm>
            <a:off x="617220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624535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9" name="from slide 8"/>
          <p:cNvSpPr/>
          <p:nvPr/>
        </p:nvSpPr>
        <p:spPr>
          <a:xfrm>
            <a:off x="624535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24535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7132320" y="347472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is new vs PAL and cascades?</a:t>
            </a:r>
            <a:endParaRPr lang="en-US" sz="1400" dirty="0"/>
          </a:p>
        </p:txBody>
      </p:sp>
      <p:sp>
        <p:nvSpPr>
          <p:cNvPr id="102" name="page published"/>
          <p:cNvSpPr/>
          <p:nvPr/>
        </p:nvSpPr>
        <p:spPr>
          <a:xfrm>
            <a:off x="1006754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6754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104" name="page related"/>
          <p:cNvSpPr/>
          <p:nvPr/>
        </p:nvSpPr>
        <p:spPr>
          <a:xfrm>
            <a:off x="1057046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57046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06" name="page reported"/>
          <p:cNvSpPr/>
          <p:nvPr/>
        </p:nvSpPr>
        <p:spPr>
          <a:xfrm>
            <a:off x="1107338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07338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08" name="box "/>
          <p:cNvSpPr/>
          <p:nvPr/>
        </p:nvSpPr>
        <p:spPr>
          <a:xfrm>
            <a:off x="617220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24535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0" name="from slide 8"/>
          <p:cNvSpPr/>
          <p:nvPr/>
        </p:nvSpPr>
        <p:spPr>
          <a:xfrm>
            <a:off x="624535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624535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713232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not majority voting?</a:t>
            </a:r>
            <a:endParaRPr lang="en-US" sz="1400" dirty="0"/>
          </a:p>
        </p:txBody>
      </p:sp>
      <p:sp>
        <p:nvSpPr>
          <p:cNvPr id="113" name="page vote"/>
          <p:cNvSpPr/>
          <p:nvPr/>
        </p:nvSpPr>
        <p:spPr>
          <a:xfrm>
            <a:off x="1107338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7338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5" name="box "/>
          <p:cNvSpPr/>
          <p:nvPr/>
        </p:nvSpPr>
        <p:spPr>
          <a:xfrm>
            <a:off x="617220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24535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7" name="from slide 8"/>
          <p:cNvSpPr/>
          <p:nvPr/>
        </p:nvSpPr>
        <p:spPr>
          <a:xfrm>
            <a:off x="624535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24535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9" name="Text 117"/>
          <p:cNvSpPr txBox="1"/>
          <p:nvPr/>
        </p:nvSpPr>
        <p:spPr>
          <a:xfrm>
            <a:off x="7132320" y="43891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comparison fair?</a:t>
            </a:r>
            <a:endParaRPr lang="en-US" sz="1400" dirty="0"/>
          </a:p>
        </p:txBody>
      </p:sp>
      <p:sp>
        <p:nvSpPr>
          <p:cNvPr id="120" name="page fair"/>
          <p:cNvSpPr/>
          <p:nvPr/>
        </p:nvSpPr>
        <p:spPr>
          <a:xfrm>
            <a:off x="1057046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57046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22" name="page setup"/>
          <p:cNvSpPr/>
          <p:nvPr/>
        </p:nvSpPr>
        <p:spPr>
          <a:xfrm>
            <a:off x="1107338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107338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31</a:t>
            </a:r>
            <a:endParaRPr lang="en-US" sz="1400" dirty="0"/>
          </a:p>
        </p:txBody>
      </p:sp>
      <p:sp>
        <p:nvSpPr>
          <p:cNvPr id="124" name="box "/>
          <p:cNvSpPr/>
          <p:nvPr/>
        </p:nvSpPr>
        <p:spPr>
          <a:xfrm>
            <a:off x="617220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24535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26" name="from slide 8"/>
          <p:cNvSpPr/>
          <p:nvPr/>
        </p:nvSpPr>
        <p:spPr>
          <a:xfrm>
            <a:off x="624535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624535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713232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Does it hold for smaller models?</a:t>
            </a:r>
            <a:endParaRPr lang="en-US" sz="1400" dirty="0"/>
          </a:p>
        </p:txBody>
      </p:sp>
      <p:sp>
        <p:nvSpPr>
          <p:cNvPr id="129" name="page small"/>
          <p:cNvSpPr/>
          <p:nvPr/>
        </p:nvSpPr>
        <p:spPr>
          <a:xfrm>
            <a:off x="1107338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1107338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31" name="Text 12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Also: 27 all policies, cost vs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do the findings cover all five kinds?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Where each result was measured (models and numbers as on the talk slides)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Contest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Routing, scheduling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Word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Math and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 program, not words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 of 8 copies right vs 1 of 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words as good (98% vs 87%); the program as a second opinion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Give the fact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only the needed tools: 92% vs 75%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23% → 77–90%; 6% → 100% valid plans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65% → 72%; small models +44 points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no fact helps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Free check, think on failure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99% @ 4.3k vs 98% @ 5.9k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66.3% @ 24.7k vs 66.2% @ 30.1k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part of the 87% below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beats always thinking at 12–22% of its tokens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MATH-500: same accuracy at 77% of the tokens; AIME: costs more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Whole recipe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routing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check and think only (no fact)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held-out MAMO: automatic fact = hand-written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proofs need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Reuse a checked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94% vs 7% of days valid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✓ holds   ~ partly   ✗ does not help   – not tested.   The 87% pools 108 geometry and 100 optimization problems, each solved by 3 models.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recipe is shown on geometry, routing and word problems; proofs need a different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a program always better than words?</a:t>
            </a:r>
            <a:endParaRPr lang="en-US" sz="3600" dirty="0"/>
          </a:p>
        </p:txBody>
      </p:sp>
      <p:sp>
        <p:nvSpPr>
          <p:cNvPr id="3" name="words vs program Computing an answer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Computing an answer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twice the area of one shape, 8 copies (Qwen3-8B)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 of 8 right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8 of 8 right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write a program</a:t>
            </a:r>
            <a:endParaRPr lang="en-US" sz="1700" dirty="0"/>
          </a:p>
        </p:txBody>
      </p:sp>
      <p:sp>
        <p:nvSpPr>
          <p:cNvPr id="11" name="words vs program Short-answer contest math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Short-answer contest math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MATH-500 (Qwen3.6)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98.3%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86.8%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words are fine</a:t>
            </a:r>
            <a:endParaRPr lang="en-US" sz="1700" dirty="0"/>
          </a:p>
        </p:txBody>
      </p:sp>
      <p:sp>
        <p:nvSpPr>
          <p:cNvPr id="19" name="words vs program A second opinion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A second opinion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two answers agree: how often both are wrong (gpt-oss-20b)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in words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1.5%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words + program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0.3%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the program as a check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Write a program when the answer must be computed; elsewhere, use it as a second opinion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exactly is the fact? Isn't it the answer?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fact for the routing problems of Finding 1: how to call OR-Tools (excerpt of the 11-line snippet)</a:t>
            </a:r>
            <a:endParaRPr lang="en-US" sz="1700" dirty="0"/>
          </a:p>
        </p:txBody>
      </p:sp>
      <p:sp>
        <p:nvSpPr>
          <p:cNvPr id="4" name="the fact, excerpt"/>
          <p:cNvSpPr/>
          <p:nvPr/>
        </p:nvSpPr>
        <p:spPr>
          <a:xfrm>
            <a:off x="548640" y="1783080"/>
            <a:ext cx="6675120" cy="3611880"/>
          </a:xfrm>
          <a:prstGeom prst="rect">
            <a:avLst/>
          </a:prstGeom>
          <a:solidFill>
            <a:srgbClr val="F7F7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6400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mgr = pywrapcp.RoutingIndexManager(n + 1, K, 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pywrapcp.RoutingModel(mgr)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 = r.RegisterTransitCallback(cost)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r.SetArcCostEvaluatorOfAllVehicles(cb)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dcb = r.RegisterUnaryTransitCallback(demand)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r.AddDimensionWithVehicleCapacity(dcb, 0, [Q] * K,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True, "Load")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p.first_solution_strategy = ...PATH_CHEAPEST_ARC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 = r.SolveWithParameters(p)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 (11 lines in all)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783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7830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to call the library: names and arguments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same text for all 30 problems of this kind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7889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7889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route, no numbers, no answer</a:t>
            </a:r>
            <a:endParaRPr lang="en-US" sz="1500" dirty="0"/>
          </a:p>
        </p:txBody>
      </p:sp>
      <p:sp>
        <p:nvSpPr>
          <p:cNvPr id="12" name="why the sheet hurts"/>
          <p:cNvSpPr/>
          <p:nvPr/>
        </p:nvSpPr>
        <p:spPr>
          <a:xfrm>
            <a:off x="7498080" y="34290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35204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 is a long reference sheet worse than nothing (7% vs 23%)?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shows routing, but not the capacity rule. The model fills the gap with a call that does not exist (10 programs: RegisterUnaryLongLivingCallback).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fact says how to call the library, not how to solve the problem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can retrieval (RAG) find the fact?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BM25 search over a library of titled snippets, Qwen3-32B, % solved optimally (seed 1)</a:t>
            </a:r>
            <a:endParaRPr lang="en-US" sz="1700" dirty="0"/>
          </a:p>
        </p:txBody>
      </p:sp>
      <p:sp>
        <p:nvSpPr>
          <p:cNvPr id="4" name="rag 6 optimization problems"/>
          <p:cNvSpPr/>
          <p:nvPr/>
        </p:nvSpPr>
        <p:spPr>
          <a:xfrm>
            <a:off x="54864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6 optimization problems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7" name="bar no fact"/>
          <p:cNvSpPr/>
          <p:nvPr/>
        </p:nvSpPr>
        <p:spPr>
          <a:xfrm>
            <a:off x="3017520" y="2411273"/>
            <a:ext cx="1378458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7418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67%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10" name="bar hand-written fact"/>
          <p:cNvSpPr/>
          <p:nvPr/>
        </p:nvSpPr>
        <p:spPr>
          <a:xfrm>
            <a:off x="3017520" y="2941625"/>
            <a:ext cx="1975104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96%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13" name="bar retrieved, top 1"/>
          <p:cNvSpPr/>
          <p:nvPr/>
        </p:nvSpPr>
        <p:spPr>
          <a:xfrm>
            <a:off x="3017520" y="3471977"/>
            <a:ext cx="1995678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04638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97%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3</a:t>
            </a:r>
            <a:endParaRPr lang="en-US" sz="1600" dirty="0"/>
          </a:p>
        </p:txBody>
      </p:sp>
      <p:sp>
        <p:nvSpPr>
          <p:cNvPr id="16" name="bar retrieved, top 3"/>
          <p:cNvSpPr/>
          <p:nvPr/>
        </p:nvSpPr>
        <p:spPr>
          <a:xfrm>
            <a:off x="3017520" y="4002329"/>
            <a:ext cx="1913382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2342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19" name="bar untitled pages, top 3"/>
          <p:cNvSpPr/>
          <p:nvPr/>
        </p:nvSpPr>
        <p:spPr>
          <a:xfrm>
            <a:off x="3017520" y="4532681"/>
            <a:ext cx="1851660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60620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90%</a:t>
            </a:r>
            <a:endParaRPr lang="en-US" sz="1800" dirty="0"/>
          </a:p>
        </p:txBody>
      </p:sp>
      <p:sp>
        <p:nvSpPr>
          <p:cNvPr id="21" name="rag Routing (30 CVRP problems)"/>
          <p:cNvSpPr/>
          <p:nvPr/>
        </p:nvSpPr>
        <p:spPr>
          <a:xfrm>
            <a:off x="617220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Routing (30 CVRP problems)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24" name="bar no fact"/>
          <p:cNvSpPr/>
          <p:nvPr/>
        </p:nvSpPr>
        <p:spPr>
          <a:xfrm>
            <a:off x="8641080" y="2411273"/>
            <a:ext cx="47320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5722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27" name="bar hand-written fact"/>
          <p:cNvSpPr/>
          <p:nvPr/>
        </p:nvSpPr>
        <p:spPr>
          <a:xfrm>
            <a:off x="8641080" y="2941625"/>
            <a:ext cx="170764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40162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30" name="bar retrieved, top 1"/>
          <p:cNvSpPr/>
          <p:nvPr/>
        </p:nvSpPr>
        <p:spPr>
          <a:xfrm>
            <a:off x="8641080" y="3471977"/>
            <a:ext cx="1440180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72700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70%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top 3 (+ a near miss)</a:t>
            </a:r>
            <a:endParaRPr lang="en-US" sz="1600" dirty="0"/>
          </a:p>
        </p:txBody>
      </p:sp>
      <p:sp>
        <p:nvSpPr>
          <p:cNvPr id="33" name="bar top 3 (+ a near miss)"/>
          <p:cNvSpPr/>
          <p:nvPr/>
        </p:nvSpPr>
        <p:spPr>
          <a:xfrm>
            <a:off x="8641080" y="4002329"/>
            <a:ext cx="1172718" cy="265176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05238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57%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36" name="bar untitled pages, top 3"/>
          <p:cNvSpPr/>
          <p:nvPr/>
        </p:nvSpPr>
        <p:spPr>
          <a:xfrm>
            <a:off x="8641080" y="4532681"/>
            <a:ext cx="109042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22942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53%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near miss: top 3 also brings the TSP routing page. No documentation at all? The model's own checked program is the fact (page 19).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Precise retrieval works like a hand-written fact; a near-miss page can cost 26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can thinking make it worse?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writes OR-Tools programs for optimization word problems (NL4OPT + IndustryOR)</a:t>
            </a:r>
            <a:endParaRPr lang="en-US" sz="1700" dirty="0"/>
          </a:p>
        </p:txBody>
      </p:sp>
      <p:sp>
        <p:nvSpPr>
          <p:cNvPr id="4" name="box thinking, no fact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thinking, no fact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code Objective().SetMaxim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Objective().SetMaximize()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invented method: crash</a:t>
            </a:r>
            <a:endParaRPr lang="en-US" sz="1700" dirty="0"/>
          </a:p>
        </p:txBody>
      </p:sp>
      <p:sp>
        <p:nvSpPr>
          <p:cNvPr id="10" name="box exact usage first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exact usage first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code solver.Maximize(...)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solver.Maximize(...)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the real call: runs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solved: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no thinking</a:t>
            </a:r>
            <a:endParaRPr lang="en-US" sz="1600" dirty="0"/>
          </a:p>
        </p:txBody>
      </p:sp>
      <p:sp>
        <p:nvSpPr>
          <p:cNvPr id="18" name="bar no fact, no thinking"/>
          <p:cNvSpPr/>
          <p:nvPr/>
        </p:nvSpPr>
        <p:spPr>
          <a:xfrm>
            <a:off x="3794760" y="3726180"/>
            <a:ext cx="352830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4504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65.4%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thinking</a:t>
            </a:r>
            <a:endParaRPr lang="en-US" sz="1600" dirty="0"/>
          </a:p>
        </p:txBody>
      </p:sp>
      <p:sp>
        <p:nvSpPr>
          <p:cNvPr id="21" name="bar no fact, thinking"/>
          <p:cNvSpPr/>
          <p:nvPr/>
        </p:nvSpPr>
        <p:spPr>
          <a:xfrm>
            <a:off x="3794760" y="4183380"/>
            <a:ext cx="2805379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1579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52.0%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fact, always thinking</a:t>
            </a:r>
            <a:endParaRPr lang="en-US" sz="1600" dirty="0"/>
          </a:p>
        </p:txBody>
      </p:sp>
      <p:sp>
        <p:nvSpPr>
          <p:cNvPr id="24" name="bar fact, always thinking"/>
          <p:cNvSpPr/>
          <p:nvPr/>
        </p:nvSpPr>
        <p:spPr>
          <a:xfrm>
            <a:off x="3794760" y="4640580"/>
            <a:ext cx="3884371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0571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72.0% · 5.5k tokens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27" name="bar fact first, think on failure"/>
          <p:cNvSpPr/>
          <p:nvPr/>
        </p:nvSpPr>
        <p:spPr>
          <a:xfrm>
            <a:off x="3794760" y="5097780"/>
            <a:ext cx="3905951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2151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72.4% · 1.3k tokens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add a fact the model lacks; given the fact first, thinking helps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if a wrong program passes the check?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 happens, but a perfect check would buy little: thinking rarely fixes those problems</a:t>
            </a:r>
            <a:endParaRPr lang="en-US" sz="1700" dirty="0"/>
          </a:p>
        </p:txBody>
      </p:sp>
      <p:sp>
        <p:nvSpPr>
          <p:cNvPr id="4" name="leak 24–37%"/>
          <p:cNvSpPr/>
          <p:nvPr/>
        </p:nvSpPr>
        <p:spPr>
          <a:xfrm>
            <a:off x="54864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24–37%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gpt-oss-120b's wrong contest programs pass the problem's examples</a:t>
            </a:r>
            <a:endParaRPr lang="en-US" sz="1500" dirty="0"/>
          </a:p>
        </p:txBody>
      </p:sp>
      <p:sp>
        <p:nvSpPr>
          <p:cNvPr id="7" name="leak 12–16%"/>
          <p:cNvSpPr/>
          <p:nvPr/>
        </p:nvSpPr>
        <p:spPr>
          <a:xfrm>
            <a:off x="429768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12–16%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word problems: both programs agree and both are wrong (14B+ models)</a:t>
            </a:r>
            <a:endParaRPr lang="en-US" sz="1500" dirty="0"/>
          </a:p>
        </p:txBody>
      </p:sp>
      <p:sp>
        <p:nvSpPr>
          <p:cNvPr id="10" name="example Find Color"/>
          <p:cNvSpPr/>
          <p:nvPr/>
        </p:nvSpPr>
        <p:spPr>
          <a:xfrm>
            <a:off x="8046720" y="178308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202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Example: "Find Color" (contest)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passes all 3 examples → submitted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fails hidden test 11</a:t>
            </a:r>
            <a:endParaRPr lang="en-US" sz="1500" dirty="0"/>
          </a:p>
        </p:txBody>
      </p:sp>
      <p:sp>
        <p:nvSpPr>
          <p:cNvPr id="12" name="perfect check"/>
          <p:cNvSpPr/>
          <p:nvPr/>
        </p:nvSpPr>
        <p:spPr>
          <a:xfrm>
            <a:off x="548640" y="374904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94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the check were perfect (word problems, every seed):</a:t>
            </a:r>
            <a:endParaRPr lang="en-US" sz="1600" dirty="0"/>
          </a:p>
        </p:txBody>
      </p:sp>
      <p:sp>
        <p:nvSpPr>
          <p:cNvPr id="14" name="box the leaked problems "/>
          <p:cNvSpPr/>
          <p:nvPr/>
        </p:nvSpPr>
        <p:spPr>
          <a:xfrm>
            <a:off x="7772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leaked problems go to thinking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546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box thinking fixes only "/>
          <p:cNvSpPr/>
          <p:nvPr/>
        </p:nvSpPr>
        <p:spPr>
          <a:xfrm>
            <a:off x="35204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thinking fixes only 7–16% of them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box +0.8 to +2.6 points "/>
          <p:cNvSpPr/>
          <p:nvPr/>
        </p:nvSpPr>
        <p:spPr>
          <a:xfrm>
            <a:off x="62636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+0.8 to +2.6 points (Qwen3-8B: +5.6)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some 'wrong' answers are wrong labels: nl4opt-174 gold 7500, true 5625 (3 of 4 we read)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Next target: programs that run and agree but model the problem wrong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there always a free check?</a:t>
            </a:r>
            <a:endParaRPr lang="en-US" sz="3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Free check (no answer key)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How well it works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examples printed in the 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never rejects a right program; 24–37% of wrong ones pass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move or turn the input: the answer must not change; or two versions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picks the right program 99.7% of the time (majority vote: 95.7%)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Routing, scheduling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 checks every rule of the plan (capacity, time windows)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exact for the rules; whether the plan is the best is not checked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two programs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12–16% agree but are both wrong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Competition math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text answer and the program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when they agree, 0.3% are wrong (gpt-oss-20b)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Lean checks every step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perfect check; writing the proof is the hard part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task here has a free check; how much it catches decides how much thinking it saves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'think on the hardest' a weak baseline?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We gave the router each problem's true Codeforces rating (exploratory; 311 contest problems, gpt-oss-120b, 3 seeds)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Send a problem to high effort when ...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2600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61.4%</a:t>
            </a:r>
            <a:endParaRPr lang="en-US" sz="1700" dirty="0"/>
          </a:p>
        </p:txBody>
      </p:sp>
      <p:sp>
        <p:nvSpPr>
          <p:cNvPr id="9" name="tokens true rating ≥ 2600"/>
          <p:cNvSpPr/>
          <p:nvPr/>
        </p:nvSpPr>
        <p:spPr>
          <a:xfrm>
            <a:off x="4480560" y="2569464"/>
            <a:ext cx="159123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6323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19.4k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99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2400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99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63.3%</a:t>
            </a:r>
            <a:endParaRPr lang="en-US" sz="1700" dirty="0"/>
          </a:p>
        </p:txBody>
      </p:sp>
      <p:sp>
        <p:nvSpPr>
          <p:cNvPr id="13" name="tokens true rating ≥ 2400"/>
          <p:cNvSpPr/>
          <p:nvPr/>
        </p:nvSpPr>
        <p:spPr>
          <a:xfrm>
            <a:off x="4480560" y="3099816"/>
            <a:ext cx="1861913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3913" y="2999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22.7k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1800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5295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65.3%</a:t>
            </a:r>
            <a:endParaRPr lang="en-US" sz="1700" dirty="0"/>
          </a:p>
        </p:txBody>
      </p:sp>
      <p:sp>
        <p:nvSpPr>
          <p:cNvPr id="17" name="tokens true rating ≥ 1800"/>
          <p:cNvSpPr/>
          <p:nvPr/>
        </p:nvSpPr>
        <p:spPr>
          <a:xfrm>
            <a:off x="4480560" y="3630168"/>
            <a:ext cx="228022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2228" y="3529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27.8k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its first answer is long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62.1%</a:t>
            </a:r>
            <a:endParaRPr lang="en-US" sz="1700" dirty="0"/>
          </a:p>
        </p:txBody>
      </p:sp>
      <p:sp>
        <p:nvSpPr>
          <p:cNvPr id="21" name="tokens its first answer is long"/>
          <p:cNvSpPr/>
          <p:nvPr/>
        </p:nvSpPr>
        <p:spPr>
          <a:xfrm>
            <a:off x="4480560" y="4160520"/>
            <a:ext cx="18865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8520" y="40599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23.0k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90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590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5" name="tokens always"/>
          <p:cNvSpPr/>
          <p:nvPr/>
        </p:nvSpPr>
        <p:spPr>
          <a:xfrm>
            <a:off x="4480560" y="4690872"/>
            <a:ext cx="246888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0" y="4590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30.1k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 (free check)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5120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65.0%</a:t>
            </a:r>
            <a:endParaRPr lang="en-US" sz="1700" dirty="0"/>
          </a:p>
        </p:txBody>
      </p:sp>
      <p:sp>
        <p:nvSpPr>
          <p:cNvPr id="29" name="tokens an example fails (free check)"/>
          <p:cNvSpPr/>
          <p:nvPr/>
        </p:nvSpPr>
        <p:spPr>
          <a:xfrm>
            <a:off x="4480560" y="5221224"/>
            <a:ext cx="165685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8856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20.2k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74% → 87%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208 geometry and optimization problems × 3 models: think on the hardest-looking (Snell et al.) → fact first, think on failure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429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79%</a:t>
            </a:r>
            <a:endParaRPr lang="en-US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even with the best fix chosen per difficulty level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Even the true difficulty does not say which program is wrong; a free check does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an exact snippet beats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not majority voting?</a:t>
            </a:r>
            <a:endParaRPr lang="en-US" sz="3600" dirty="0"/>
          </a:p>
        </p:txBody>
      </p:sp>
      <p:sp>
        <p:nvSpPr>
          <p:cNvPr id="3" name="pick one of three"/>
          <p:cNvSpPr/>
          <p:nvPr/>
        </p:nvSpPr>
        <p:spPr>
          <a:xfrm>
            <a:off x="54864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Pick 1 of 3 programs (Qwen3-8B, 300 geometry problems): % picked wrong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majority vote</a:t>
            </a:r>
            <a:endParaRPr lang="en-US" sz="1600" dirty="0"/>
          </a:p>
        </p:txBody>
      </p:sp>
      <p:sp>
        <p:nvSpPr>
          <p:cNvPr id="6" name="bar majority vote"/>
          <p:cNvSpPr/>
          <p:nvPr/>
        </p:nvSpPr>
        <p:spPr>
          <a:xfrm>
            <a:off x="2926080" y="2132838"/>
            <a:ext cx="86502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82542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4.3%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CodeT (+340 tokens)</a:t>
            </a:r>
            <a:endParaRPr lang="en-US" sz="1600" dirty="0"/>
          </a:p>
        </p:txBody>
      </p:sp>
      <p:sp>
        <p:nvSpPr>
          <p:cNvPr id="9" name="bar CodeT (+340 tokens)"/>
          <p:cNvSpPr/>
          <p:nvPr/>
        </p:nvSpPr>
        <p:spPr>
          <a:xfrm>
            <a:off x="2926080" y="2635758"/>
            <a:ext cx="80467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5603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4.0%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DeepConf</a:t>
            </a:r>
            <a:endParaRPr lang="en-US" sz="1600" dirty="0"/>
          </a:p>
        </p:txBody>
      </p:sp>
      <p:sp>
        <p:nvSpPr>
          <p:cNvPr id="12" name="bar DeepConf"/>
          <p:cNvSpPr/>
          <p:nvPr/>
        </p:nvSpPr>
        <p:spPr>
          <a:xfrm>
            <a:off x="2926080" y="3138678"/>
            <a:ext cx="1066190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3710" y="3063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5.3%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661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MBR-exec</a:t>
            </a:r>
            <a:endParaRPr lang="en-US" sz="1600" dirty="0"/>
          </a:p>
        </p:txBody>
      </p:sp>
      <p:sp>
        <p:nvSpPr>
          <p:cNvPr id="15" name="bar MBR-exec"/>
          <p:cNvSpPr/>
          <p:nvPr/>
        </p:nvSpPr>
        <p:spPr>
          <a:xfrm>
            <a:off x="2926080" y="3641598"/>
            <a:ext cx="1267358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35661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6.3%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symmetry check</a:t>
            </a:r>
            <a:endParaRPr lang="en-US" sz="1600" dirty="0"/>
          </a:p>
        </p:txBody>
      </p:sp>
      <p:sp>
        <p:nvSpPr>
          <p:cNvPr id="18" name="bar symmetry check"/>
          <p:cNvSpPr/>
          <p:nvPr/>
        </p:nvSpPr>
        <p:spPr>
          <a:xfrm>
            <a:off x="2926080" y="4144518"/>
            <a:ext cx="60350" cy="25146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77870" y="4069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0.3%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634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symmetry check: run the program on a moved copy; a right program gives the same answer (no extra tokens)</a:t>
            </a:r>
            <a:endParaRPr lang="en-US" sz="1400" dirty="0"/>
          </a:p>
        </p:txBody>
      </p:sp>
      <p:sp>
        <p:nvSpPr>
          <p:cNvPr id="21" name="votes vs checks"/>
          <p:cNvSpPr/>
          <p:nvPr/>
        </p:nvSpPr>
        <p:spPr>
          <a:xfrm>
            <a:off x="617220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325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word problems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programs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68.4%</a:t>
            </a:r>
            <a:endParaRPr lang="en-US" sz="1700" dirty="0"/>
          </a:p>
        </p:txBody>
      </p:sp>
      <p:sp>
        <p:nvSpPr>
          <p:cNvPr id="27" name="tokens vote of 3 programs"/>
          <p:cNvSpPr/>
          <p:nvPr/>
        </p:nvSpPr>
        <p:spPr>
          <a:xfrm>
            <a:off x="9601200" y="2157984"/>
            <a:ext cx="70531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63171" y="2057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1.1k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2587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thinking runs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2587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79.4%</a:t>
            </a:r>
            <a:endParaRPr lang="en-US" sz="1700" dirty="0"/>
          </a:p>
        </p:txBody>
      </p:sp>
      <p:sp>
        <p:nvSpPr>
          <p:cNvPr id="31" name="tokens vote of 3 thinking runs"/>
          <p:cNvSpPr/>
          <p:nvPr/>
        </p:nvSpPr>
        <p:spPr>
          <a:xfrm>
            <a:off x="9601200" y="2688336"/>
            <a:ext cx="105156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744200" y="2587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16.4k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1181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 first, think on failure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31181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72.4%</a:t>
            </a:r>
            <a:endParaRPr lang="en-US" sz="1700" dirty="0"/>
          </a:p>
        </p:txBody>
      </p:sp>
      <p:sp>
        <p:nvSpPr>
          <p:cNvPr id="35" name="tokens fact first, think on failure"/>
          <p:cNvSpPr/>
          <p:nvPr/>
        </p:nvSpPr>
        <p:spPr>
          <a:xfrm>
            <a:off x="9601200" y="3218688"/>
            <a:ext cx="83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75995" y="3118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1.3k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657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competition math (MATH-500)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0" y="4023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0" y="4023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text answers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89.2%</a:t>
            </a:r>
            <a:endParaRPr lang="en-US" sz="1700" dirty="0"/>
          </a:p>
        </p:txBody>
      </p:sp>
      <p:sp>
        <p:nvSpPr>
          <p:cNvPr id="42" name="tokens vote of 3 text answers"/>
          <p:cNvSpPr/>
          <p:nvPr/>
        </p:nvSpPr>
        <p:spPr>
          <a:xfrm>
            <a:off x="9601200" y="4489704"/>
            <a:ext cx="147475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40115" y="4389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2.3k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49194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 = program, else think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919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97.2%</a:t>
            </a:r>
            <a:endParaRPr lang="en-US" sz="1700" dirty="0"/>
          </a:p>
        </p:txBody>
      </p:sp>
      <p:sp>
        <p:nvSpPr>
          <p:cNvPr id="46" name="tokens text = program, else think"/>
          <p:cNvSpPr/>
          <p:nvPr/>
        </p:nvSpPr>
        <p:spPr>
          <a:xfrm>
            <a:off x="9601200" y="5020056"/>
            <a:ext cx="21800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10646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3.4k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check picks the right answer, a vote the popular one; 3 thinking runs win only at 12×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 comparison fair?</a:t>
            </a:r>
            <a:endParaRPr lang="en-US" sz="3600" dirty="0"/>
          </a:p>
        </p:txBody>
      </p:sp>
      <p:sp>
        <p:nvSpPr>
          <p:cNvPr id="3" name="fair Input tokens count too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coins" descr="/NAS/SJ/POSTECH/nlp/figs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Input tokens count too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+213 tokens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 tokens for the exact snippet (701 vs 488); a long reference sheet adds 413, extra tools 912. Input is cheaper and cacheable: no conclusion flips. Running programs uses CPU, which we do not count.</a:t>
            </a:r>
            <a:endParaRPr lang="en-US" sz="1500" dirty="0"/>
          </a:p>
        </p:txBody>
      </p:sp>
      <p:sp>
        <p:nvSpPr>
          <p:cNvPr id="8" name="fair Memorized problems?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Memorized problems?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81% vs 83%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older vs newer contests at the same difficulty (rating below 2000): no sign of memory, though all are before 2022. MAMO was held out until the end, and every method runs on the same model.</a:t>
            </a:r>
            <a:endParaRPr lang="en-US" sz="1500" dirty="0"/>
          </a:p>
        </p:txBody>
      </p:sp>
      <p:sp>
        <p:nvSpPr>
          <p:cNvPr id="13" name="fair Small differences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4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1540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differences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3 seeds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pre-registered; when the gap is 1–4 problems we say 'same accuracy, fewer tokens', not 'better' (3 vs 1 problems: p = 0.62).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models, problems and grader for every method; every accuracy comes with its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208 geometry and optimization problems ×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setup, scoring and hardware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2026-10-19T14:16:32Z</dcterms:created>
  <dcterms:modified xsi:type="dcterms:W3CDTF">2026-10-19T14:16:32Z</dcterms:modified>
</cp:coreProperties>
</file>