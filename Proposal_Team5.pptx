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fa5ad9b4-e3ce-f2c7-9a40-edc9bba8bfe2}">
          <p14:sldIdLst>
            <p14:sldId id="256"/>
            <p14:sldId id="257"/>
            <p14:sldId id="258"/>
            <p14:sldId id="259"/>
            <p14:sldId id="260"/>
            <p14:sldId id="261"/>
            <p14:sldId id="262"/>
            <p14:sldId id="263"/>
            <p14:sldId id="264"/>
          </p14:sldIdLst>
        </p14:section>
        <p14:section name="Extra pages" id="{fe6609a3-50b5-5813-48e6-623e1a624650}">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안녕하세요, 5조입니다. LLM으로 계산 수학 문제를 정확하고 싸게 푸는 방법을 제안합니다. 질문은 하나입니다. 추가 노력을 힌트, 검사,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저희가 푸는 문제는 네 종류이고, 두 무리로 나뉩니다. 기하 계산과 Codeforces 경시 문제는 맞는 알고리즘이 필요하고, 경시 문제는 그중 어려운 쪽으로 중앙값이 Codeforces Master 수준입니다. 배송 경로와 최적화 문장제는 솔버를 맞게 부르는 법이 필요하고, 문장제는 글을 수식으로 옮기는 단계가 더 있습니다. 이 문제들을 고른 이유는 답이 정확히 하나라 코드로 채점할 수 있고, 필요한 것이 서로 달라서 추가 노력을 어디에 써야 할지 비교할 수 있기 때문입니다. 공개 모델 Qwen3와 gpt-oss로 맞힌 문제 수와 토큰 수를 함께 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(20초) LLM은 말로 답할 수도 있고, 프로그램을 짤 수도 있습니다. Qwen3-8B에게 같은 도형의 넓이의 두 배를 물었습니다. 옮기고 돌리고 뒤집어도 답은 436입니다. 말로 답하면 매번 다른 답이 나오지만, 프로그램은 네 번 모두 436입니다. 계산에는 프로그램이 맞는 도구입니다.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하지만 두 가지 문제가 있습니다. 첫째, 프로그램은 조용히 틀립니다. 같은 문제인데 프롬프트에 보조 코드만 더하면 6 대신 0을 출력하고, 에러 메시지도 없습니다. 없는 라이브러리 함수를 불러서 죽기도 합니다. 둘째, 오래 생각하면 비쌉니다. 경시 문제 311개에서 gpt-oss-120b는 오래 생각하면 57%에서 66%로 오르지만, 토큰은 4.4배를 씁니다. 그래서 질문입니다. 추가 노력을 코드 힌트, 공짜 검사, 더 많은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첫 번째 발견입니다. 매뉴얼이 아니라 짧은 힌트를 주세요. Qwen3-32B가 OR-Tools로 배송 경로 프로그램을 짭니다. 긴 참조 문서를 주면 존재하지 않는 함수를 불러서 죽고, 정확한 사용법 열한 줄을 주면 최적 경로를 찾습니다. 경로 문제 30개에서 최적해를 찾는 비율은 아무것도 안 주면 23%, 오래 생각하면 오히려 3%, 긴 참조 문서는 7%, 정확한 사용법은 77에서 90%입니다. 최적화 문장제와 기하에서도 같았습니다. 모르는 것은 생각한다고 생기지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두 번째 발견입니다. 공짜 검사가 실패할 때만 생각하게 하세요. 검사 A는 문제에 적힌 예제입니다. 예제를 통과하면 바로 제출하고, 틀리면 그 문제만 더 생각합니다. 예제만 쓰면 65%로 조금 낮고, 모든 경우를 다 따져 보는 짧은 프로그램과도 답을 맞춰 보면 66%가 됩니다. 검사 B는 프로그램을 두 버전으로 짜서, 답이 다를 때만 생각합니다. 두 경우 모두 항상 생각할 때와 정확도는 같고, 토큰은 18에서 27% 적습니다. 두 검사 모두 정답이 필요 없고, 기하, 경시, 경로, 문장제에서 모두 통했습니다.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(55초) 두 발견을 합친 것이 저희 방법입니다. 실제 최적화 문제로 보겠습니다. 1단계, 모델이 없는 메서드를 불러서 죽습니다. 2단계, 힌트를 줍니다. 이 힌트는 사람이 쓴 것이 아니라, 모델이 다른 문제에서 짜서 검사를 통과한 자기 프로그램에서 자동으로 가져옵니다. 3단계, 두 버전의 답이 20000으로 같으니, 4단계 생각은 건너뜁니다. 생각만 했다면 5.3k 토큰이 들었을 문제를 0.6k로 풉니다. 5단계, 같은 종류의 새 데이터에는 검사된 프로그램을 재사용합니다. 기하와 최적화 208문제를 세 모델로 풀면, 어려워 보이는 문제에 생각을 몰아주면 74%, 저희 방법은 87%이고 토큰도 더 적습니다. 단계 아래 아이콘은 그 단계를 어디에 쓰는지입니다. 경시 문제는 라이브러리 없이 알고리즘만 짜서 힌트가 필요 없고, 검사와 생각만 씁니다. 재사용은 같은 문제가 반복되는 경로 문제에만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새로운 점은 세 가지입니다. 학습 없이, 공짜 검사가 실패할 때만 생각합니다. 정답 없이, 모델 자신의 검사된 프로그램을 힌트로 줍니다. 그리고 특화 모델을 파인튜닝하지 않고도, 24GB GPU 한 장으로 같은 정확도를 냅니다. 다음으로는 더 많은 모델로 검증을 마치고, 검사로 못 잡는 오류, 즉 실행은 되지만 문제를 잘못 모델링한 프로그램을 다루겠습니다. 정리하면, 짧은 힌트를 먼저 주고, 공짜 검사가 실패한 곳에서만 생각하게 하자는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감사합니다. 질문 받겠습니다. 예상 질문마다 보충 슬라이드를 준비했으니, 번호를 누르면 바로 넘어갑니다.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없습니다. 실패의 원인이 추론이라서, 예제와 짧은 완전 탐색 프로그램으로 검사하고 실패할 때만 더 생각하게 하면 항상 생각할 때와 같은 66%를 18% 적은 토큰에 얻습니다. 재사용은 같은 문제가 데이터만 바뀌어 반복될 때 쓰므로 매번 새 문제인 경시에는 맞지 않습니다. 전체 방법의 87% 대 74%는 기하와 최적화 208문제를 세 모델로 푼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image" Target="../media/image-7-3.png"/><Relationship Id="rId20" Type="http://schemas.openxmlformats.org/officeDocument/2006/relationships/image" Target="../media/image-7-4.png"/><Relationship Id="rId21" Type="http://schemas.openxmlformats.org/officeDocument/2006/relationships/image" Target="../media/image-7-5.png"/><Relationship Id="rId22" Type="http://schemas.openxmlformats.org/officeDocument/2006/relationships/image" Target="../media/image-7-6.png"/><Relationship Id="rId23" Type="http://schemas.openxmlformats.org/officeDocument/2006/relationships/slideLayout" Target="../slideLayouts/slideLayout3.xml"/><Relationship Id="rId2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2.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3.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slideLayout" Target="../slideLayouts/slideLayout3.xml"/><Relationship Id="rId8"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hint,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a:t>
            </a:r>
            <a:endParaRPr lang="en-US" sz="2200" dirty="0"/>
          </a:p>
        </p:txBody>
      </p:sp>
      <p:sp>
        <p:nvSpPr>
          <p:cNvPr id="4" name="choice a missing fact"/>
          <p:cNvSpPr/>
          <p:nvPr/>
        </p:nvSpPr>
        <p:spPr>
          <a:xfrm>
            <a:off x="3145536" y="4892040"/>
            <a:ext cx="1874520" cy="502920"/>
          </a:xfrm>
          <a:prstGeom prst="roundRect">
            <a:avLst>
              <a:gd name="adj" fmla="val 36364"/>
            </a:avLst>
          </a:prstGeom>
          <a:solidFill>
            <a:srgbClr val="E2F0D9"/>
          </a:solidFill>
          <a:ln w="12700">
            <a:solidFill>
              <a:srgbClr val="38761D"/>
            </a:solidFill>
            <a:prstDash val="solid"/>
          </a:ln>
        </p:spPr>
      </p:sp>
      <p:pic>
        <p:nvPicPr>
          <p:cNvPr id="5" name="choice icon fact" descr="/NAS/SJ/POSTECH/nlp/figs/icons/fact.png">    </p:cNvPr>
          <p:cNvPicPr>
            <a:picLocks noChangeAspect="1"/>
          </p:cNvPicPr>
          <p:nvPr/>
        </p:nvPicPr>
        <p:blipFill>
          <a:blip r:embed="rId1"/>
          <a:stretch>
            <a:fillRect/>
          </a:stretch>
        </p:blipFill>
        <p:spPr>
          <a:xfrm>
            <a:off x="3255264" y="4978908"/>
            <a:ext cx="329184" cy="329184"/>
          </a:xfrm>
          <a:prstGeom prst="rect">
            <a:avLst/>
          </a:prstGeom>
        </p:spPr>
      </p:pic>
      <p:sp>
        <p:nvSpPr>
          <p:cNvPr id="6" name="Text 3"/>
          <p:cNvSpPr txBox="1"/>
          <p:nvPr/>
        </p:nvSpPr>
        <p:spPr>
          <a:xfrm>
            <a:off x="364845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 name="choice a free check"/>
          <p:cNvSpPr/>
          <p:nvPr/>
        </p:nvSpPr>
        <p:spPr>
          <a:xfrm>
            <a:off x="5157216" y="4892040"/>
            <a:ext cx="1874520" cy="502920"/>
          </a:xfrm>
          <a:prstGeom prst="roundRect">
            <a:avLst>
              <a:gd name="adj" fmla="val 36364"/>
            </a:avLst>
          </a:prstGeom>
          <a:solidFill>
            <a:srgbClr val="E2F0D9"/>
          </a:solidFill>
          <a:ln w="12700">
            <a:solidFill>
              <a:srgbClr val="38761D"/>
            </a:solidFill>
            <a:prstDash val="solid"/>
          </a:ln>
        </p:spPr>
      </p:sp>
      <p:pic>
        <p:nvPicPr>
          <p:cNvPr id="8" name="choice icon check" descr="/NAS/SJ/POSTECH/nlp/figs/icons/check.png">    </p:cNvPr>
          <p:cNvPicPr>
            <a:picLocks noChangeAspect="1"/>
          </p:cNvPicPr>
          <p:nvPr/>
        </p:nvPicPr>
        <p:blipFill>
          <a:blip r:embed="rId2"/>
          <a:stretch>
            <a:fillRect/>
          </a:stretch>
        </p:blipFill>
        <p:spPr>
          <a:xfrm>
            <a:off x="5266944" y="4978908"/>
            <a:ext cx="329184" cy="329184"/>
          </a:xfrm>
          <a:prstGeom prst="rect">
            <a:avLst/>
          </a:prstGeom>
        </p:spPr>
      </p:pic>
      <p:sp>
        <p:nvSpPr>
          <p:cNvPr id="9" name="Text 5"/>
          <p:cNvSpPr txBox="1"/>
          <p:nvPr/>
        </p:nvSpPr>
        <p:spPr>
          <a:xfrm>
            <a:off x="566013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10" name="choice more thinking"/>
          <p:cNvSpPr/>
          <p:nvPr/>
        </p:nvSpPr>
        <p:spPr>
          <a:xfrm>
            <a:off x="7168896" y="4892040"/>
            <a:ext cx="1874520" cy="502920"/>
          </a:xfrm>
          <a:prstGeom prst="roundRect">
            <a:avLst>
              <a:gd name="adj" fmla="val 36364"/>
            </a:avLst>
          </a:prstGeom>
          <a:solidFill>
            <a:srgbClr val="FADBD8"/>
          </a:solidFill>
          <a:ln w="12700">
            <a:solidFill>
              <a:srgbClr val="C00000"/>
            </a:solidFill>
            <a:prstDash val="solid"/>
          </a:ln>
        </p:spPr>
      </p:sp>
      <p:pic>
        <p:nvPicPr>
          <p:cNvPr id="11" name="choice icon brain" descr="/NAS/SJ/POSTECH/nlp/figs/icons/brain.png">    </p:cNvPr>
          <p:cNvPicPr>
            <a:picLocks noChangeAspect="1"/>
          </p:cNvPicPr>
          <p:nvPr/>
        </p:nvPicPr>
        <p:blipFill>
          <a:blip r:embed="rId3"/>
          <a:stretch>
            <a:fillRect/>
          </a:stretch>
        </p:blipFill>
        <p:spPr>
          <a:xfrm>
            <a:off x="7278624" y="4978908"/>
            <a:ext cx="329184" cy="329184"/>
          </a:xfrm>
          <a:prstGeom prst="rect">
            <a:avLst/>
          </a:prstGeom>
        </p:spPr>
      </p:pic>
      <p:sp>
        <p:nvSpPr>
          <p:cNvPr id="12" name="Text 7"/>
          <p:cNvSpPr txBox="1"/>
          <p:nvPr/>
        </p:nvSpPr>
        <p:spPr>
          <a:xfrm>
            <a:off x="7671816" y="4892040"/>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Text 4"/>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plans delivery routes with Google's OR-Tools library</a:t>
            </a:r>
            <a:endParaRPr lang="en-US" sz="1700" dirty="0"/>
          </a:p>
        </p:txBody>
      </p:sp>
      <p:sp>
        <p:nvSpPr>
          <p:cNvPr id="12" name="box a long reference she"/>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13" name="Text 6"/>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a long reference sheet</a:t>
            </a:r>
            <a:endParaRPr lang="en-US" sz="1600" dirty="0"/>
          </a:p>
        </p:txBody>
      </p:sp>
      <p:sp>
        <p:nvSpPr>
          <p:cNvPr id="14" name="Shape 7"/>
          <p:cNvSpPr/>
          <p:nvPr/>
        </p:nvSpPr>
        <p:spPr>
          <a:xfrm>
            <a:off x="3017520" y="2057400"/>
            <a:ext cx="320040" cy="0"/>
          </a:xfrm>
          <a:prstGeom prst="line">
            <a:avLst/>
          </a:prstGeom>
          <a:noFill/>
          <a:ln w="25400">
            <a:solidFill>
              <a:srgbClr val="7F7F7F"/>
            </a:solidFill>
            <a:prstDash val="solid"/>
            <a:tailEnd type="triangle"/>
          </a:ln>
        </p:spPr>
      </p:sp>
      <p:sp>
        <p:nvSpPr>
          <p:cNvPr id="15" name="code RegisterUnaryLongLiv"/>
          <p:cNvSpPr/>
          <p:nvPr/>
        </p:nvSpPr>
        <p:spPr>
          <a:xfrm>
            <a:off x="3337560" y="1783080"/>
            <a:ext cx="4480560" cy="548640"/>
          </a:xfrm>
          <a:prstGeom prst="rect">
            <a:avLst/>
          </a:prstGeom>
          <a:solidFill>
            <a:srgbClr val="FFFFFF"/>
          </a:solidFill>
          <a:ln w="9525">
            <a:solidFill>
              <a:srgbClr val="BFBFBF"/>
            </a:solidFill>
            <a:prstDash val="solid"/>
          </a:ln>
        </p:spPr>
      </p:sp>
      <p:sp>
        <p:nvSpPr>
          <p:cNvPr id="16" name="Text 9"/>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RegisterUnaryLongLivingCallback()</a:t>
            </a:r>
            <a:endParaRPr lang="en-US" sz="1500" dirty="0"/>
          </a:p>
        </p:txBody>
      </p:sp>
      <p:sp>
        <p:nvSpPr>
          <p:cNvPr id="17" name="Text 10"/>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does not exist: crash</a:t>
            </a:r>
            <a:endParaRPr lang="en-US" sz="1700" dirty="0"/>
          </a:p>
        </p:txBody>
      </p:sp>
      <p:sp>
        <p:nvSpPr>
          <p:cNvPr id="18" name="box the exact usage (11 "/>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9" name="Text 12"/>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the exact usage (11 lines)</a:t>
            </a:r>
            <a:endParaRPr lang="en-US" sz="1600" dirty="0"/>
          </a:p>
        </p:txBody>
      </p:sp>
      <p:sp>
        <p:nvSpPr>
          <p:cNvPr id="20" name="Shape 13"/>
          <p:cNvSpPr/>
          <p:nvPr/>
        </p:nvSpPr>
        <p:spPr>
          <a:xfrm>
            <a:off x="3017520" y="2788920"/>
            <a:ext cx="320040" cy="0"/>
          </a:xfrm>
          <a:prstGeom prst="line">
            <a:avLst/>
          </a:prstGeom>
          <a:noFill/>
          <a:ln w="25400">
            <a:solidFill>
              <a:srgbClr val="7F7F7F"/>
            </a:solidFill>
            <a:prstDash val="solid"/>
            <a:tailEnd type="triangle"/>
          </a:ln>
        </p:spPr>
      </p:sp>
      <p:sp>
        <p:nvSpPr>
          <p:cNvPr id="21" name="code RegisterUnaryTransit"/>
          <p:cNvSpPr/>
          <p:nvPr/>
        </p:nvSpPr>
        <p:spPr>
          <a:xfrm>
            <a:off x="3337560" y="2514600"/>
            <a:ext cx="4480560" cy="548640"/>
          </a:xfrm>
          <a:prstGeom prst="rect">
            <a:avLst/>
          </a:prstGeom>
          <a:solidFill>
            <a:srgbClr val="FFFFFF"/>
          </a:solidFill>
          <a:ln w="9525">
            <a:solidFill>
              <a:srgbClr val="BFBFBF"/>
            </a:solidFill>
            <a:prstDash val="solid"/>
          </a:ln>
        </p:spPr>
      </p:sp>
      <p:sp>
        <p:nvSpPr>
          <p:cNvPr id="22" name="Text 15"/>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RegisterUnaryTransitCallback()</a:t>
            </a:r>
            <a:endParaRPr lang="en-US" sz="1500" dirty="0"/>
          </a:p>
        </p:txBody>
      </p:sp>
      <p:sp>
        <p:nvSpPr>
          <p:cNvPr id="23" name="Text 16"/>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runs: best route</a:t>
            </a:r>
            <a:endParaRPr lang="en-US" sz="1700" dirty="0"/>
          </a:p>
        </p:txBody>
      </p:sp>
      <p:sp>
        <p:nvSpPr>
          <p:cNvPr id="24" name="Text 17"/>
          <p:cNvSpPr txBox="1"/>
          <p:nvPr/>
        </p:nvSpPr>
        <p:spPr>
          <a:xfrm>
            <a:off x="548640" y="33375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25" name="Text 18"/>
          <p:cNvSpPr txBox="1"/>
          <p:nvPr/>
        </p:nvSpPr>
        <p:spPr>
          <a:xfrm>
            <a:off x="548640" y="37490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26" name="bar nothing extra"/>
          <p:cNvSpPr/>
          <p:nvPr/>
        </p:nvSpPr>
        <p:spPr>
          <a:xfrm>
            <a:off x="3063240" y="3817620"/>
            <a:ext cx="1409090" cy="228600"/>
          </a:xfrm>
          <a:prstGeom prst="rect">
            <a:avLst/>
          </a:prstGeom>
          <a:solidFill>
            <a:srgbClr val="7F7F7F"/>
          </a:solidFill>
          <a:ln w="6350">
            <a:solidFill>
              <a:srgbClr val="7F7F7F"/>
            </a:solidFill>
            <a:prstDash val="solid"/>
          </a:ln>
        </p:spPr>
      </p:sp>
      <p:sp>
        <p:nvSpPr>
          <p:cNvPr id="27" name="Text 20"/>
          <p:cNvSpPr txBox="1"/>
          <p:nvPr/>
        </p:nvSpPr>
        <p:spPr>
          <a:xfrm>
            <a:off x="4563770" y="374904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8" name="Text 21"/>
          <p:cNvSpPr txBox="1"/>
          <p:nvPr/>
        </p:nvSpPr>
        <p:spPr>
          <a:xfrm>
            <a:off x="548640" y="42062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9" name="bar think longer"/>
          <p:cNvSpPr/>
          <p:nvPr/>
        </p:nvSpPr>
        <p:spPr>
          <a:xfrm>
            <a:off x="3063240" y="4274820"/>
            <a:ext cx="183794" cy="228600"/>
          </a:xfrm>
          <a:prstGeom prst="rect">
            <a:avLst/>
          </a:prstGeom>
          <a:solidFill>
            <a:srgbClr val="C00000"/>
          </a:solidFill>
          <a:ln w="6350">
            <a:solidFill>
              <a:srgbClr val="C00000"/>
            </a:solidFill>
            <a:prstDash val="solid"/>
          </a:ln>
        </p:spPr>
      </p:sp>
      <p:sp>
        <p:nvSpPr>
          <p:cNvPr id="30" name="Text 23"/>
          <p:cNvSpPr txBox="1"/>
          <p:nvPr/>
        </p:nvSpPr>
        <p:spPr>
          <a:xfrm>
            <a:off x="3338474" y="420624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1" name="Text 24"/>
          <p:cNvSpPr txBox="1"/>
          <p:nvPr/>
        </p:nvSpPr>
        <p:spPr>
          <a:xfrm>
            <a:off x="548640" y="46634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32" name="bar long reference sheet"/>
          <p:cNvSpPr/>
          <p:nvPr/>
        </p:nvSpPr>
        <p:spPr>
          <a:xfrm>
            <a:off x="3063240" y="4732020"/>
            <a:ext cx="428854" cy="228600"/>
          </a:xfrm>
          <a:prstGeom prst="rect">
            <a:avLst/>
          </a:prstGeom>
          <a:solidFill>
            <a:srgbClr val="C00000"/>
          </a:solidFill>
          <a:ln w="6350">
            <a:solidFill>
              <a:srgbClr val="C00000"/>
            </a:solidFill>
            <a:prstDash val="solid"/>
          </a:ln>
        </p:spPr>
      </p:sp>
      <p:sp>
        <p:nvSpPr>
          <p:cNvPr id="33" name="Text 26"/>
          <p:cNvSpPr txBox="1"/>
          <p:nvPr/>
        </p:nvSpPr>
        <p:spPr>
          <a:xfrm>
            <a:off x="3583534" y="466344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4" name="Text 27"/>
          <p:cNvSpPr txBox="1"/>
          <p:nvPr/>
        </p:nvSpPr>
        <p:spPr>
          <a:xfrm>
            <a:off x="548640" y="51206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35" name="bar exact usage"/>
          <p:cNvSpPr/>
          <p:nvPr/>
        </p:nvSpPr>
        <p:spPr>
          <a:xfrm>
            <a:off x="3063240" y="5189220"/>
            <a:ext cx="5084978" cy="228600"/>
          </a:xfrm>
          <a:prstGeom prst="rect">
            <a:avLst/>
          </a:prstGeom>
          <a:solidFill>
            <a:srgbClr val="4472C4"/>
          </a:solidFill>
          <a:ln w="6350">
            <a:solidFill>
              <a:srgbClr val="4472C4"/>
            </a:solidFill>
            <a:prstDash val="solid"/>
          </a:ln>
        </p:spPr>
      </p:sp>
      <p:sp>
        <p:nvSpPr>
          <p:cNvPr id="36" name="Text 29"/>
          <p:cNvSpPr txBox="1"/>
          <p:nvPr/>
        </p:nvSpPr>
        <p:spPr>
          <a:xfrm>
            <a:off x="8239658" y="512064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77–90% (3 seeds)</a:t>
            </a:r>
            <a:endParaRPr lang="en-US" sz="1800" dirty="0"/>
          </a:p>
        </p:txBody>
      </p:sp>
      <p:sp>
        <p:nvSpPr>
          <p:cNvPr id="37"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Check A: the problem's own examples"/>
          <p:cNvSpPr/>
          <p:nvPr/>
        </p:nvSpPr>
        <p:spPr>
          <a:xfrm>
            <a:off x="548640" y="1325880"/>
            <a:ext cx="544068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17320"/>
            <a:ext cx="4983480" cy="457200"/>
          </a:xfrm>
          <a:prstGeom prst="rect">
            <a:avLst/>
          </a:prstGeom>
          <a:noFill/>
          <a:ln/>
        </p:spPr>
        <p:txBody>
          <a:bodyPr wrap="square" lIns="0" tIns="0" rIns="0" bIns="0" rtlCol="0" anchor="ctr"/>
          <a:lstStyle/>
          <a:p>
            <a:pPr indent="0" marL="0">
              <a:buNone/>
            </a:pPr>
            <a:r>
              <a:rPr lang="en-US" sz="1800" b="1" dirty="0">
                <a:solidFill>
                  <a:srgbClr val="4472C4"/>
                </a:solidFill>
              </a:rPr>
              <a:t>Check A: the problem's own examples</a:t>
            </a:r>
            <a:endParaRPr lang="en-US" sz="1800" dirty="0"/>
          </a:p>
        </p:txBody>
      </p:sp>
      <p:sp>
        <p:nvSpPr>
          <p:cNvPr id="13" name="box &quot;Make a triangle!&quot;: "/>
          <p:cNvSpPr/>
          <p:nvPr/>
        </p:nvSpPr>
        <p:spPr>
          <a:xfrm>
            <a:off x="777240" y="1920240"/>
            <a:ext cx="4983480" cy="512064"/>
          </a:xfrm>
          <a:prstGeom prst="roundRect">
            <a:avLst>
              <a:gd name="adj" fmla="val 10714"/>
            </a:avLst>
          </a:prstGeom>
          <a:solidFill>
            <a:srgbClr val="E2F0D9"/>
          </a:solidFill>
          <a:ln w="9525">
            <a:solidFill>
              <a:srgbClr val="BFBFBF"/>
            </a:solidFill>
            <a:prstDash val="solid"/>
          </a:ln>
        </p:spPr>
      </p:sp>
      <p:sp>
        <p:nvSpPr>
          <p:cNvPr id="14" name="Text 7"/>
          <p:cNvSpPr txBox="1"/>
          <p:nvPr/>
        </p:nvSpPr>
        <p:spPr>
          <a:xfrm>
            <a:off x="850392" y="1920240"/>
            <a:ext cx="4837176" cy="512064"/>
          </a:xfrm>
          <a:prstGeom prst="rect">
            <a:avLst/>
          </a:prstGeom>
          <a:noFill/>
          <a:ln/>
        </p:spPr>
        <p:txBody>
          <a:bodyPr wrap="square" lIns="0" tIns="0" rIns="0" bIns="0" rtlCol="0" anchor="ctr"/>
          <a:lstStyle/>
          <a:p>
            <a:pPr algn="ctr" indent="0" marL="0">
              <a:buNone/>
            </a:pPr>
            <a:r>
              <a:rPr lang="en-US" sz="1500" dirty="0">
                <a:solidFill>
                  <a:srgbClr val="38761D"/>
                </a:solidFill>
              </a:rPr>
              <a:t>"Make a triangle!": examples pass → submit</a:t>
            </a:r>
            <a:endParaRPr lang="en-US" sz="1500" dirty="0"/>
          </a:p>
        </p:txBody>
      </p:sp>
      <p:sp>
        <p:nvSpPr>
          <p:cNvPr id="15" name="box &quot;Arrow&quot;: an example "/>
          <p:cNvSpPr/>
          <p:nvPr/>
        </p:nvSpPr>
        <p:spPr>
          <a:xfrm>
            <a:off x="777240" y="2523744"/>
            <a:ext cx="4983480" cy="512064"/>
          </a:xfrm>
          <a:prstGeom prst="roundRect">
            <a:avLst>
              <a:gd name="adj" fmla="val 10714"/>
            </a:avLst>
          </a:prstGeom>
          <a:solidFill>
            <a:srgbClr val="FADBD8"/>
          </a:solidFill>
          <a:ln w="9525">
            <a:solidFill>
              <a:srgbClr val="BFBFBF"/>
            </a:solidFill>
            <a:prstDash val="solid"/>
          </a:ln>
        </p:spPr>
      </p:sp>
      <p:sp>
        <p:nvSpPr>
          <p:cNvPr id="16" name="Text 9"/>
          <p:cNvSpPr txBox="1"/>
          <p:nvPr/>
        </p:nvSpPr>
        <p:spPr>
          <a:xfrm>
            <a:off x="850392" y="2523744"/>
            <a:ext cx="4837176" cy="512064"/>
          </a:xfrm>
          <a:prstGeom prst="rect">
            <a:avLst/>
          </a:prstGeom>
          <a:noFill/>
          <a:ln/>
        </p:spPr>
        <p:txBody>
          <a:bodyPr wrap="square" lIns="0" tIns="0" rIns="0" bIns="0" rtlCol="0" anchor="ctr"/>
          <a:lstStyle/>
          <a:p>
            <a:pPr algn="ctr" indent="0" marL="0">
              <a:buNone/>
            </a:pPr>
            <a:r>
              <a:rPr lang="en-US" sz="1500" dirty="0">
                <a:solidFill>
                  <a:srgbClr val="C00000"/>
                </a:solidFill>
              </a:rPr>
              <a:t>"Arrow": an example fails → think harder → right</a:t>
            </a:r>
            <a:endParaRPr lang="en-US" sz="1500" dirty="0"/>
          </a:p>
        </p:txBody>
      </p:sp>
      <p:sp>
        <p:nvSpPr>
          <p:cNvPr id="17" name="Text 10"/>
          <p:cNvSpPr txBox="1"/>
          <p:nvPr/>
        </p:nvSpPr>
        <p:spPr>
          <a:xfrm>
            <a:off x="777240" y="3154680"/>
            <a:ext cx="4983480" cy="365760"/>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18" name="Text 11"/>
          <p:cNvSpPr txBox="1"/>
          <p:nvPr/>
        </p:nvSpPr>
        <p:spPr>
          <a:xfrm>
            <a:off x="2926080" y="35204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19" name="Text 12"/>
          <p:cNvSpPr txBox="1"/>
          <p:nvPr/>
        </p:nvSpPr>
        <p:spPr>
          <a:xfrm>
            <a:off x="3840480" y="3520440"/>
            <a:ext cx="19202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0" name="Text 13"/>
          <p:cNvSpPr txBox="1"/>
          <p:nvPr/>
        </p:nvSpPr>
        <p:spPr>
          <a:xfrm>
            <a:off x="777240" y="3886200"/>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21" name="Text 14"/>
          <p:cNvSpPr txBox="1"/>
          <p:nvPr/>
        </p:nvSpPr>
        <p:spPr>
          <a:xfrm>
            <a:off x="2926080" y="38862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2" name="tokens always think hard"/>
          <p:cNvSpPr/>
          <p:nvPr/>
        </p:nvSpPr>
        <p:spPr>
          <a:xfrm>
            <a:off x="3840480" y="3986784"/>
            <a:ext cx="1188720" cy="256032"/>
          </a:xfrm>
          <a:prstGeom prst="rect">
            <a:avLst/>
          </a:prstGeom>
          <a:solidFill>
            <a:srgbClr val="7F7F7F"/>
          </a:solidFill>
          <a:ln w="6350">
            <a:solidFill>
              <a:srgbClr val="7F7F7F"/>
            </a:solidFill>
            <a:prstDash val="solid"/>
          </a:ln>
        </p:spPr>
      </p:sp>
      <p:sp>
        <p:nvSpPr>
          <p:cNvPr id="23" name="Text 16"/>
          <p:cNvSpPr txBox="1"/>
          <p:nvPr/>
        </p:nvSpPr>
        <p:spPr>
          <a:xfrm>
            <a:off x="5120640" y="38862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24" name="Text 17"/>
          <p:cNvSpPr txBox="1"/>
          <p:nvPr/>
        </p:nvSpPr>
        <p:spPr>
          <a:xfrm>
            <a:off x="777240" y="4416552"/>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a:t>
            </a:r>
            <a:endParaRPr lang="en-US" sz="1500" dirty="0"/>
          </a:p>
        </p:txBody>
      </p:sp>
      <p:sp>
        <p:nvSpPr>
          <p:cNvPr id="25" name="Text 18"/>
          <p:cNvSpPr txBox="1"/>
          <p:nvPr/>
        </p:nvSpPr>
        <p:spPr>
          <a:xfrm>
            <a:off x="2926080" y="441655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26" name="tokens an example fails"/>
          <p:cNvSpPr/>
          <p:nvPr/>
        </p:nvSpPr>
        <p:spPr>
          <a:xfrm>
            <a:off x="3840480" y="4517136"/>
            <a:ext cx="797746" cy="256032"/>
          </a:xfrm>
          <a:prstGeom prst="rect">
            <a:avLst/>
          </a:prstGeom>
          <a:solidFill>
            <a:srgbClr val="5B9BD5"/>
          </a:solidFill>
          <a:ln w="6350">
            <a:solidFill>
              <a:srgbClr val="5B9BD5"/>
            </a:solidFill>
            <a:prstDash val="solid"/>
          </a:ln>
        </p:spPr>
      </p:sp>
      <p:sp>
        <p:nvSpPr>
          <p:cNvPr id="27" name="Text 20"/>
          <p:cNvSpPr txBox="1"/>
          <p:nvPr/>
        </p:nvSpPr>
        <p:spPr>
          <a:xfrm>
            <a:off x="4729666" y="441655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28" name="Text 21"/>
          <p:cNvSpPr txBox="1"/>
          <p:nvPr/>
        </p:nvSpPr>
        <p:spPr>
          <a:xfrm>
            <a:off x="777240" y="4946904"/>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 brute-force check</a:t>
            </a:r>
            <a:endParaRPr lang="en-US" sz="1500" dirty="0"/>
          </a:p>
        </p:txBody>
      </p:sp>
      <p:sp>
        <p:nvSpPr>
          <p:cNvPr id="29" name="Text 22"/>
          <p:cNvSpPr txBox="1"/>
          <p:nvPr/>
        </p:nvSpPr>
        <p:spPr>
          <a:xfrm>
            <a:off x="2926080" y="49469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30" name="tokens + brute-force check"/>
          <p:cNvSpPr/>
          <p:nvPr/>
        </p:nvSpPr>
        <p:spPr>
          <a:xfrm>
            <a:off x="3840480" y="5047488"/>
            <a:ext cx="975461" cy="256032"/>
          </a:xfrm>
          <a:prstGeom prst="rect">
            <a:avLst/>
          </a:prstGeom>
          <a:solidFill>
            <a:srgbClr val="4472C4"/>
          </a:solidFill>
          <a:ln w="6350">
            <a:solidFill>
              <a:srgbClr val="4472C4"/>
            </a:solidFill>
            <a:prstDash val="solid"/>
          </a:ln>
        </p:spPr>
      </p:sp>
      <p:sp>
        <p:nvSpPr>
          <p:cNvPr id="31" name="Text 24"/>
          <p:cNvSpPr txBox="1"/>
          <p:nvPr/>
        </p:nvSpPr>
        <p:spPr>
          <a:xfrm>
            <a:off x="4907381" y="49469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32" name="Check B: two versions must agree"/>
          <p:cNvSpPr/>
          <p:nvPr/>
        </p:nvSpPr>
        <p:spPr>
          <a:xfrm>
            <a:off x="6172200" y="132588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17320"/>
            <a:ext cx="4983480" cy="457200"/>
          </a:xfrm>
          <a:prstGeom prst="rect">
            <a:avLst/>
          </a:prstGeom>
          <a:noFill/>
          <a:ln/>
        </p:spPr>
        <p:txBody>
          <a:bodyPr wrap="square" lIns="0" tIns="0" rIns="0" bIns="0" rtlCol="0" anchor="ctr"/>
          <a:lstStyle/>
          <a:p>
            <a:pPr indent="0" marL="0">
              <a:buNone/>
            </a:pPr>
            <a:r>
              <a:rPr lang="en-US" sz="1800" b="1" dirty="0">
                <a:solidFill>
                  <a:srgbClr val="4472C4"/>
                </a:solidFill>
              </a:rPr>
              <a:t>Check B: two versions must agree</a:t>
            </a:r>
            <a:endParaRPr lang="en-US" sz="1800" dirty="0"/>
          </a:p>
        </p:txBody>
      </p:sp>
      <p:sp>
        <p:nvSpPr>
          <p:cNvPr id="34" name="box program A (task only"/>
          <p:cNvSpPr/>
          <p:nvPr/>
        </p:nvSpPr>
        <p:spPr>
          <a:xfrm>
            <a:off x="6400800" y="1920240"/>
            <a:ext cx="4983480" cy="512064"/>
          </a:xfrm>
          <a:prstGeom prst="roundRect">
            <a:avLst>
              <a:gd name="adj" fmla="val 10714"/>
            </a:avLst>
          </a:prstGeom>
          <a:solidFill>
            <a:srgbClr val="E2F0D9"/>
          </a:solidFill>
          <a:ln w="9525">
            <a:solidFill>
              <a:srgbClr val="BFBFBF"/>
            </a:solidFill>
            <a:prstDash val="solid"/>
          </a:ln>
        </p:spPr>
      </p:sp>
      <p:sp>
        <p:nvSpPr>
          <p:cNvPr id="35" name="Text 28"/>
          <p:cNvSpPr txBox="1"/>
          <p:nvPr/>
        </p:nvSpPr>
        <p:spPr>
          <a:xfrm>
            <a:off x="6473952" y="1920240"/>
            <a:ext cx="4837176" cy="512064"/>
          </a:xfrm>
          <a:prstGeom prst="rect">
            <a:avLst/>
          </a:prstGeom>
          <a:noFill/>
          <a:ln/>
        </p:spPr>
        <p:txBody>
          <a:bodyPr wrap="square" lIns="0" tIns="0" rIns="0" bIns="0" rtlCol="0" anchor="ctr"/>
          <a:lstStyle/>
          <a:p>
            <a:pPr algn="ctr" indent="0" marL="0">
              <a:buNone/>
            </a:pPr>
            <a:r>
              <a:rPr lang="en-US" sz="1500" dirty="0">
                <a:solidFill>
                  <a:srgbClr val="38761D"/>
                </a:solidFill>
              </a:rPr>
              <a:t>program A (task only) → 6</a:t>
            </a:r>
            <a:endParaRPr lang="en-US" sz="1500" dirty="0"/>
          </a:p>
        </p:txBody>
      </p:sp>
      <p:sp>
        <p:nvSpPr>
          <p:cNvPr id="36" name="box program B (+ helper "/>
          <p:cNvSpPr/>
          <p:nvPr/>
        </p:nvSpPr>
        <p:spPr>
          <a:xfrm>
            <a:off x="6400800" y="2523744"/>
            <a:ext cx="4983480" cy="512064"/>
          </a:xfrm>
          <a:prstGeom prst="roundRect">
            <a:avLst>
              <a:gd name="adj" fmla="val 10714"/>
            </a:avLst>
          </a:prstGeom>
          <a:solidFill>
            <a:srgbClr val="FADBD8"/>
          </a:solidFill>
          <a:ln w="9525">
            <a:solidFill>
              <a:srgbClr val="BFBFBF"/>
            </a:solidFill>
            <a:prstDash val="solid"/>
          </a:ln>
        </p:spPr>
      </p:sp>
      <p:sp>
        <p:nvSpPr>
          <p:cNvPr id="37" name="Text 30"/>
          <p:cNvSpPr txBox="1"/>
          <p:nvPr/>
        </p:nvSpPr>
        <p:spPr>
          <a:xfrm>
            <a:off x="6473952" y="2523744"/>
            <a:ext cx="4837176" cy="512064"/>
          </a:xfrm>
          <a:prstGeom prst="rect">
            <a:avLst/>
          </a:prstGeom>
          <a:noFill/>
          <a:ln/>
        </p:spPr>
        <p:txBody>
          <a:bodyPr wrap="square" lIns="0" tIns="0" rIns="0" bIns="0" rtlCol="0" anchor="ctr"/>
          <a:lstStyle/>
          <a:p>
            <a:pPr algn="ctr" indent="0" marL="0">
              <a:buNone/>
            </a:pPr>
            <a:r>
              <a:rPr lang="en-US" sz="1500" dirty="0">
                <a:solidFill>
                  <a:srgbClr val="C00000"/>
                </a:solidFill>
              </a:rPr>
              <a:t>program B (+ helper code) → 0: differ → think</a:t>
            </a:r>
            <a:endParaRPr lang="en-US" sz="1500" dirty="0"/>
          </a:p>
        </p:txBody>
      </p:sp>
      <p:sp>
        <p:nvSpPr>
          <p:cNvPr id="38" name="Text 31"/>
          <p:cNvSpPr txBox="1"/>
          <p:nvPr/>
        </p:nvSpPr>
        <p:spPr>
          <a:xfrm>
            <a:off x="6400800" y="3154680"/>
            <a:ext cx="4983480" cy="365760"/>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 3 runs)</a:t>
            </a:r>
            <a:endParaRPr lang="en-US" sz="1500" dirty="0"/>
          </a:p>
        </p:txBody>
      </p:sp>
      <p:sp>
        <p:nvSpPr>
          <p:cNvPr id="39" name="Text 32"/>
          <p:cNvSpPr txBox="1"/>
          <p:nvPr/>
        </p:nvSpPr>
        <p:spPr>
          <a:xfrm>
            <a:off x="8549640" y="35204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0" name="Text 33"/>
          <p:cNvSpPr txBox="1"/>
          <p:nvPr/>
        </p:nvSpPr>
        <p:spPr>
          <a:xfrm>
            <a:off x="9464040" y="3520440"/>
            <a:ext cx="19202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1" name="Text 34"/>
          <p:cNvSpPr txBox="1"/>
          <p:nvPr/>
        </p:nvSpPr>
        <p:spPr>
          <a:xfrm>
            <a:off x="6400800" y="3886200"/>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42" name="Text 35"/>
          <p:cNvSpPr txBox="1"/>
          <p:nvPr/>
        </p:nvSpPr>
        <p:spPr>
          <a:xfrm>
            <a:off x="8549640" y="38862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43" name="tokens always think"/>
          <p:cNvSpPr/>
          <p:nvPr/>
        </p:nvSpPr>
        <p:spPr>
          <a:xfrm>
            <a:off x="9464040" y="3986784"/>
            <a:ext cx="1188720" cy="256032"/>
          </a:xfrm>
          <a:prstGeom prst="rect">
            <a:avLst/>
          </a:prstGeom>
          <a:solidFill>
            <a:srgbClr val="7F7F7F"/>
          </a:solidFill>
          <a:ln w="6350">
            <a:solidFill>
              <a:srgbClr val="7F7F7F"/>
            </a:solidFill>
            <a:prstDash val="solid"/>
          </a:ln>
        </p:spPr>
      </p:sp>
      <p:sp>
        <p:nvSpPr>
          <p:cNvPr id="44" name="Text 37"/>
          <p:cNvSpPr txBox="1"/>
          <p:nvPr/>
        </p:nvSpPr>
        <p:spPr>
          <a:xfrm>
            <a:off x="10744200" y="38862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45" name="Text 38"/>
          <p:cNvSpPr txBox="1"/>
          <p:nvPr/>
        </p:nvSpPr>
        <p:spPr>
          <a:xfrm>
            <a:off x="6400800" y="4416552"/>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only if they differ</a:t>
            </a:r>
            <a:endParaRPr lang="en-US" sz="1500" dirty="0"/>
          </a:p>
        </p:txBody>
      </p:sp>
      <p:sp>
        <p:nvSpPr>
          <p:cNvPr id="46" name="Text 39"/>
          <p:cNvSpPr txBox="1"/>
          <p:nvPr/>
        </p:nvSpPr>
        <p:spPr>
          <a:xfrm>
            <a:off x="8549640" y="441655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47" name="tokens only if they differ"/>
          <p:cNvSpPr/>
          <p:nvPr/>
        </p:nvSpPr>
        <p:spPr>
          <a:xfrm>
            <a:off x="9464040" y="4517136"/>
            <a:ext cx="866355" cy="256032"/>
          </a:xfrm>
          <a:prstGeom prst="rect">
            <a:avLst/>
          </a:prstGeom>
          <a:solidFill>
            <a:srgbClr val="4472C4"/>
          </a:solidFill>
          <a:ln w="6350">
            <a:solidFill>
              <a:srgbClr val="4472C4"/>
            </a:solidFill>
            <a:prstDash val="solid"/>
          </a:ln>
        </p:spPr>
      </p:sp>
      <p:sp>
        <p:nvSpPr>
          <p:cNvPr id="48" name="Text 41"/>
          <p:cNvSpPr txBox="1"/>
          <p:nvPr/>
        </p:nvSpPr>
        <p:spPr>
          <a:xfrm>
            <a:off x="10421835" y="441655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49" name="Text 4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7863840" y="987552"/>
            <a:ext cx="3749040" cy="274320"/>
          </a:xfrm>
          <a:prstGeom prst="rect">
            <a:avLst/>
          </a:prstGeom>
          <a:noFill/>
          <a:ln/>
        </p:spPr>
        <p:txBody>
          <a:bodyPr wrap="square" lIns="0" tIns="0" rIns="0" bIns="0" rtlCol="0" anchor="ctr"/>
          <a:lstStyle/>
          <a:p>
            <a:pPr algn="r" indent="0" marL="0">
              <a:buNone/>
            </a:pPr>
            <a:r>
              <a:rPr lang="en-US" sz="1400" dirty="0">
                <a:solidFill>
                  <a:srgbClr val="7F7F7F"/>
                </a:solidFill>
              </a:rPr>
              <a:t>icons under each step: where it is used</a:t>
            </a:r>
            <a:endParaRPr lang="en-US" sz="1400" dirty="0"/>
          </a:p>
        </p:txBody>
      </p:sp>
      <p:sp>
        <p:nvSpPr>
          <p:cNvPr id="10" name="Text 6"/>
          <p:cNvSpPr txBox="1"/>
          <p:nvPr/>
        </p:nvSpPr>
        <p:spPr>
          <a:xfrm>
            <a:off x="548640" y="1170432"/>
            <a:ext cx="78638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minimum cost of X, Y, Z under three limits → 20000</a:t>
            </a:r>
            <a:endParaRPr lang="en-US" sz="1600" dirty="0"/>
          </a:p>
        </p:txBody>
      </p:sp>
      <p:sp>
        <p:nvSpPr>
          <p:cNvPr id="11" name="Text 7"/>
          <p:cNvSpPr txBox="1"/>
          <p:nvPr/>
        </p:nvSpPr>
        <p:spPr>
          <a:xfrm>
            <a:off x="54864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1 Program</a:t>
            </a:r>
            <a:endParaRPr lang="en-US" sz="1700" dirty="0"/>
          </a:p>
        </p:txBody>
      </p:sp>
      <p:sp>
        <p:nvSpPr>
          <p:cNvPr id="12" name="step 1 Program"/>
          <p:cNvSpPr/>
          <p:nvPr/>
        </p:nvSpPr>
        <p:spPr>
          <a:xfrm>
            <a:off x="548640" y="2011680"/>
            <a:ext cx="2103120" cy="1325880"/>
          </a:xfrm>
          <a:prstGeom prst="roundRect">
            <a:avLst>
              <a:gd name="adj" fmla="val 5517"/>
            </a:avLst>
          </a:prstGeom>
          <a:solidFill>
            <a:srgbClr val="FADBD8"/>
          </a:solidFill>
          <a:ln w="12700">
            <a:solidFill>
              <a:srgbClr val="C00000"/>
            </a:solidFill>
            <a:prstDash val="solid"/>
          </a:ln>
        </p:spPr>
      </p:sp>
      <p:sp>
        <p:nvSpPr>
          <p:cNvPr id="13" name="Text 9"/>
          <p:cNvSpPr txBox="1"/>
          <p:nvPr/>
        </p:nvSpPr>
        <p:spPr>
          <a:xfrm>
            <a:off x="621792" y="2057400"/>
            <a:ext cx="1956816" cy="566928"/>
          </a:xfrm>
          <a:prstGeom prst="rect">
            <a:avLst/>
          </a:prstGeom>
          <a:noFill/>
          <a:ln/>
        </p:spPr>
        <p:txBody>
          <a:bodyPr wrap="square" lIns="0" tIns="0" rIns="0" bIns="0" rtlCol="0" anchor="ctr"/>
          <a:lstStyle/>
          <a:p>
            <a:pPr algn="ctr" indent="0" marL="0">
              <a:buNone/>
            </a:pPr>
            <a:r>
              <a:rPr lang="en-US" sz="1400" b="1" dirty="0">
                <a:solidFill>
                  <a:srgbClr val="C00000"/>
                </a:solidFill>
                <a:latin typeface="Courier New" pitchFamily="34" charset="0"/>
                <a:ea typeface="Courier New" pitchFamily="34" charset="-122"/>
                <a:cs typeface="Courier New" pitchFamily="34" charset="-120"/>
              </a:rPr>
              <a:t>Objective()</a:t>
            </a:r>
            <a:endParaRPr lang="en-US" sz="1400" dirty="0"/>
          </a:p>
          <a:p>
            <a:pPr algn="ctr" indent="0" marL="0">
              <a:buNone/>
            </a:pPr>
            <a:r>
              <a:rPr lang="en-US" sz="1400" b="1" dirty="0">
                <a:solidFill>
                  <a:srgbClr val="C00000"/>
                </a:solidFill>
                <a:latin typeface="Courier New" pitchFamily="34" charset="0"/>
                <a:ea typeface="Courier New" pitchFamily="34" charset="-122"/>
                <a:cs typeface="Courier New" pitchFamily="34" charset="-120"/>
              </a:rPr>
              <a:t>.Minimize()</a:t>
            </a:r>
            <a:endParaRPr lang="en-US" sz="1400" dirty="0"/>
          </a:p>
        </p:txBody>
      </p:sp>
      <p:sp>
        <p:nvSpPr>
          <p:cNvPr id="14" name="Text 10"/>
          <p:cNvSpPr txBox="1"/>
          <p:nvPr/>
        </p:nvSpPr>
        <p:spPr>
          <a:xfrm>
            <a:off x="64008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 crash, no hint</a:t>
            </a:r>
            <a:endParaRPr lang="en-US" sz="1400" dirty="0"/>
          </a:p>
        </p:txBody>
      </p:sp>
      <p:sp>
        <p:nvSpPr>
          <p:cNvPr id="15" name="Shape 11"/>
          <p:cNvSpPr/>
          <p:nvPr/>
        </p:nvSpPr>
        <p:spPr>
          <a:xfrm>
            <a:off x="2651760" y="2670048"/>
            <a:ext cx="137160" cy="0"/>
          </a:xfrm>
          <a:prstGeom prst="line">
            <a:avLst/>
          </a:prstGeom>
          <a:noFill/>
          <a:ln w="25400">
            <a:solidFill>
              <a:srgbClr val="7F7F7F"/>
            </a:solidFill>
            <a:prstDash val="solid"/>
            <a:tailEnd type="triangle"/>
          </a:ln>
        </p:spPr>
      </p:sp>
      <p:pic>
        <p:nvPicPr>
          <p:cNvPr id="16" name="step 1 used on shapes" descr="/NAS/SJ/POSTECH/nlp/figs/icons/shapes.png">    </p:cNvPr>
          <p:cNvPicPr>
            <a:picLocks noChangeAspect="1"/>
          </p:cNvPicPr>
          <p:nvPr/>
        </p:nvPicPr>
        <p:blipFill>
          <a:blip r:embed="rId3"/>
          <a:stretch>
            <a:fillRect/>
          </a:stretch>
        </p:blipFill>
        <p:spPr>
          <a:xfrm>
            <a:off x="1042416" y="3401568"/>
            <a:ext cx="237744" cy="237744"/>
          </a:xfrm>
          <a:prstGeom prst="rect">
            <a:avLst/>
          </a:prstGeom>
        </p:spPr>
      </p:pic>
      <p:pic>
        <p:nvPicPr>
          <p:cNvPr id="17" name="step 1 used on trophy" descr="/NAS/SJ/POSTECH/nlp/figs/icons/trophy.png">    </p:cNvPr>
          <p:cNvPicPr>
            <a:picLocks noChangeAspect="1"/>
          </p:cNvPicPr>
          <p:nvPr/>
        </p:nvPicPr>
        <p:blipFill>
          <a:blip r:embed="rId4"/>
          <a:stretch>
            <a:fillRect/>
          </a:stretch>
        </p:blipFill>
        <p:spPr>
          <a:xfrm>
            <a:off x="1335024" y="3401568"/>
            <a:ext cx="237744" cy="237744"/>
          </a:xfrm>
          <a:prstGeom prst="rect">
            <a:avLst/>
          </a:prstGeom>
        </p:spPr>
      </p:pic>
      <p:pic>
        <p:nvPicPr>
          <p:cNvPr id="18" name="step 1 used on truck" descr="/NAS/SJ/POSTECH/nlp/figs/icons/truck.png">    </p:cNvPr>
          <p:cNvPicPr>
            <a:picLocks noChangeAspect="1"/>
          </p:cNvPicPr>
          <p:nvPr/>
        </p:nvPicPr>
        <p:blipFill>
          <a:blip r:embed="rId5"/>
          <a:stretch>
            <a:fillRect/>
          </a:stretch>
        </p:blipFill>
        <p:spPr>
          <a:xfrm>
            <a:off x="1627632" y="3401568"/>
            <a:ext cx="237744" cy="237744"/>
          </a:xfrm>
          <a:prstGeom prst="rect">
            <a:avLst/>
          </a:prstGeom>
        </p:spPr>
      </p:pic>
      <p:pic>
        <p:nvPicPr>
          <p:cNvPr id="19" name="step 1 used on calc" descr="/NAS/SJ/POSTECH/nlp/figs/icons/calc.png">    </p:cNvPr>
          <p:cNvPicPr>
            <a:picLocks noChangeAspect="1"/>
          </p:cNvPicPr>
          <p:nvPr/>
        </p:nvPicPr>
        <p:blipFill>
          <a:blip r:embed="rId6"/>
          <a:stretch>
            <a:fillRect/>
          </a:stretch>
        </p:blipFill>
        <p:spPr>
          <a:xfrm>
            <a:off x="1920240" y="3401568"/>
            <a:ext cx="237744" cy="237744"/>
          </a:xfrm>
          <a:prstGeom prst="rect">
            <a:avLst/>
          </a:prstGeom>
        </p:spPr>
      </p:pic>
      <p:sp>
        <p:nvSpPr>
          <p:cNvPr id="20" name="Text 12"/>
          <p:cNvSpPr txBox="1"/>
          <p:nvPr/>
        </p:nvSpPr>
        <p:spPr>
          <a:xfrm>
            <a:off x="278892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2 + Hint</a:t>
            </a:r>
            <a:endParaRPr lang="en-US" sz="1700" dirty="0"/>
          </a:p>
        </p:txBody>
      </p:sp>
      <p:sp>
        <p:nvSpPr>
          <p:cNvPr id="21" name="step 2 + Fact"/>
          <p:cNvSpPr/>
          <p:nvPr/>
        </p:nvSpPr>
        <p:spPr>
          <a:xfrm>
            <a:off x="2788920" y="2011680"/>
            <a:ext cx="2103120" cy="1325880"/>
          </a:xfrm>
          <a:prstGeom prst="roundRect">
            <a:avLst>
              <a:gd name="adj" fmla="val 5517"/>
            </a:avLst>
          </a:prstGeom>
          <a:solidFill>
            <a:srgbClr val="E2F0D9"/>
          </a:solidFill>
          <a:ln w="12700">
            <a:solidFill>
              <a:srgbClr val="38761D"/>
            </a:solidFill>
            <a:prstDash val="solid"/>
          </a:ln>
        </p:spPr>
      </p:sp>
      <p:sp>
        <p:nvSpPr>
          <p:cNvPr id="22" name="Text 14"/>
          <p:cNvSpPr txBox="1"/>
          <p:nvPr/>
        </p:nvSpPr>
        <p:spPr>
          <a:xfrm>
            <a:off x="2862072" y="2057400"/>
            <a:ext cx="1956816" cy="566928"/>
          </a:xfrm>
          <a:prstGeom prst="rect">
            <a:avLst/>
          </a:prstGeom>
          <a:noFill/>
          <a:ln/>
        </p:spPr>
        <p:txBody>
          <a:bodyPr wrap="square" lIns="0" tIns="0" rIns="0" bIns="0" rtlCol="0" anchor="ctr"/>
          <a:lstStyle/>
          <a:p>
            <a:pPr algn="ctr" indent="0" marL="0">
              <a:buNone/>
            </a:pPr>
            <a:r>
              <a:rPr lang="en-US" sz="1400" b="1" dirty="0">
                <a:solidFill>
                  <a:srgbClr val="38761D"/>
                </a:solidFill>
                <a:latin typeface="Courier New" pitchFamily="34" charset="0"/>
                <a:ea typeface="Courier New" pitchFamily="34" charset="-122"/>
                <a:cs typeface="Courier New" pitchFamily="34" charset="-120"/>
              </a:rPr>
              <a:t>solver</a:t>
            </a:r>
            <a:endParaRPr lang="en-US" sz="1400" dirty="0"/>
          </a:p>
          <a:p>
            <a:pPr algn="ctr" indent="0" marL="0">
              <a:buNone/>
            </a:pPr>
            <a:r>
              <a:rPr lang="en-US" sz="1400" b="1" dirty="0">
                <a:solidFill>
                  <a:srgbClr val="38761D"/>
                </a:solidFill>
                <a:latin typeface="Courier New" pitchFamily="34" charset="0"/>
                <a:ea typeface="Courier New" pitchFamily="34" charset="-122"/>
                <a:cs typeface="Courier New" pitchFamily="34" charset="-120"/>
              </a:rPr>
              <a:t>.Minimize(...)</a:t>
            </a:r>
            <a:endParaRPr lang="en-US" sz="1400" dirty="0"/>
          </a:p>
        </p:txBody>
      </p:sp>
      <p:sp>
        <p:nvSpPr>
          <p:cNvPr id="23" name="Text 15"/>
          <p:cNvSpPr txBox="1"/>
          <p:nvPr/>
        </p:nvSpPr>
        <p:spPr>
          <a:xfrm>
            <a:off x="288036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found automatically: its own checked program</a:t>
            </a:r>
            <a:endParaRPr lang="en-US" sz="1400" dirty="0"/>
          </a:p>
        </p:txBody>
      </p:sp>
      <p:sp>
        <p:nvSpPr>
          <p:cNvPr id="24" name="Shape 16"/>
          <p:cNvSpPr/>
          <p:nvPr/>
        </p:nvSpPr>
        <p:spPr>
          <a:xfrm>
            <a:off x="4892040" y="2670048"/>
            <a:ext cx="137160" cy="0"/>
          </a:xfrm>
          <a:prstGeom prst="line">
            <a:avLst/>
          </a:prstGeom>
          <a:noFill/>
          <a:ln w="25400">
            <a:solidFill>
              <a:srgbClr val="7F7F7F"/>
            </a:solidFill>
            <a:prstDash val="solid"/>
            <a:tailEnd type="triangle"/>
          </a:ln>
        </p:spPr>
      </p:sp>
      <p:pic>
        <p:nvPicPr>
          <p:cNvPr id="25" name="step 2 used on shapes" descr="/NAS/SJ/POSTECH/nlp/figs/icons/shapes.png">    </p:cNvPr>
          <p:cNvPicPr>
            <a:picLocks noChangeAspect="1"/>
          </p:cNvPicPr>
          <p:nvPr/>
        </p:nvPicPr>
        <p:blipFill>
          <a:blip r:embed="rId7"/>
          <a:stretch>
            <a:fillRect/>
          </a:stretch>
        </p:blipFill>
        <p:spPr>
          <a:xfrm>
            <a:off x="3282696" y="3401568"/>
            <a:ext cx="237744" cy="237744"/>
          </a:xfrm>
          <a:prstGeom prst="rect">
            <a:avLst/>
          </a:prstGeom>
        </p:spPr>
      </p:pic>
      <p:pic>
        <p:nvPicPr>
          <p:cNvPr id="26" name="step 2 not needed on trophy" descr="/NAS/SJ/POSTECH/nlp/figs/icons/trophy.png">    </p:cNvPr>
          <p:cNvPicPr>
            <a:picLocks noChangeAspect="1"/>
          </p:cNvPicPr>
          <p:nvPr/>
        </p:nvPicPr>
        <p:blipFill>
          <a:blip r:embed="rId8">
            <a:alphaModFix amt="18000"/>
          </a:blip>
          <a:stretch>
            <a:fillRect/>
          </a:stretch>
        </p:blipFill>
        <p:spPr>
          <a:xfrm>
            <a:off x="3575304" y="3401568"/>
            <a:ext cx="237744" cy="237744"/>
          </a:xfrm>
          <a:prstGeom prst="rect">
            <a:avLst/>
          </a:prstGeom>
        </p:spPr>
      </p:pic>
      <p:pic>
        <p:nvPicPr>
          <p:cNvPr id="27" name="step 2 used on truck" descr="/NAS/SJ/POSTECH/nlp/figs/icons/truck.png">    </p:cNvPr>
          <p:cNvPicPr>
            <a:picLocks noChangeAspect="1"/>
          </p:cNvPicPr>
          <p:nvPr/>
        </p:nvPicPr>
        <p:blipFill>
          <a:blip r:embed="rId9"/>
          <a:stretch>
            <a:fillRect/>
          </a:stretch>
        </p:blipFill>
        <p:spPr>
          <a:xfrm>
            <a:off x="3867912" y="3401568"/>
            <a:ext cx="237744" cy="237744"/>
          </a:xfrm>
          <a:prstGeom prst="rect">
            <a:avLst/>
          </a:prstGeom>
        </p:spPr>
      </p:pic>
      <p:pic>
        <p:nvPicPr>
          <p:cNvPr id="28" name="step 2 used on calc" descr="/NAS/SJ/POSTECH/nlp/figs/icons/calc.png">    </p:cNvPr>
          <p:cNvPicPr>
            <a:picLocks noChangeAspect="1"/>
          </p:cNvPicPr>
          <p:nvPr/>
        </p:nvPicPr>
        <p:blipFill>
          <a:blip r:embed="rId10"/>
          <a:stretch>
            <a:fillRect/>
          </a:stretch>
        </p:blipFill>
        <p:spPr>
          <a:xfrm>
            <a:off x="4160520" y="3401568"/>
            <a:ext cx="237744" cy="237744"/>
          </a:xfrm>
          <a:prstGeom prst="rect">
            <a:avLst/>
          </a:prstGeom>
        </p:spPr>
      </p:pic>
      <p:sp>
        <p:nvSpPr>
          <p:cNvPr id="29" name="Text 17"/>
          <p:cNvSpPr txBox="1"/>
          <p:nvPr/>
        </p:nvSpPr>
        <p:spPr>
          <a:xfrm>
            <a:off x="502920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3 Free check</a:t>
            </a:r>
            <a:endParaRPr lang="en-US" sz="1700" dirty="0"/>
          </a:p>
        </p:txBody>
      </p:sp>
      <p:sp>
        <p:nvSpPr>
          <p:cNvPr id="30" name="step 3 Free check"/>
          <p:cNvSpPr/>
          <p:nvPr/>
        </p:nvSpPr>
        <p:spPr>
          <a:xfrm>
            <a:off x="5029200" y="2011680"/>
            <a:ext cx="2103120" cy="1325880"/>
          </a:xfrm>
          <a:prstGeom prst="roundRect">
            <a:avLst>
              <a:gd name="adj" fmla="val 5517"/>
            </a:avLst>
          </a:prstGeom>
          <a:solidFill>
            <a:srgbClr val="E2F0D9"/>
          </a:solidFill>
          <a:ln w="12700">
            <a:solidFill>
              <a:srgbClr val="38761D"/>
            </a:solidFill>
            <a:prstDash val="solid"/>
          </a:ln>
        </p:spPr>
      </p:sp>
      <p:sp>
        <p:nvSpPr>
          <p:cNvPr id="31" name="Text 19"/>
          <p:cNvSpPr txBox="1"/>
          <p:nvPr/>
        </p:nvSpPr>
        <p:spPr>
          <a:xfrm>
            <a:off x="5102352" y="2057400"/>
            <a:ext cx="1956816" cy="566928"/>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32" name="Text 20"/>
          <p:cNvSpPr txBox="1"/>
          <p:nvPr/>
        </p:nvSpPr>
        <p:spPr>
          <a:xfrm>
            <a:off x="512064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a second version agrees</a:t>
            </a:r>
            <a:endParaRPr lang="en-US" sz="1400" dirty="0"/>
          </a:p>
        </p:txBody>
      </p:sp>
      <p:sp>
        <p:nvSpPr>
          <p:cNvPr id="33" name="Shape 21"/>
          <p:cNvSpPr/>
          <p:nvPr/>
        </p:nvSpPr>
        <p:spPr>
          <a:xfrm>
            <a:off x="7132320" y="2670048"/>
            <a:ext cx="137160" cy="0"/>
          </a:xfrm>
          <a:prstGeom prst="line">
            <a:avLst/>
          </a:prstGeom>
          <a:noFill/>
          <a:ln w="25400">
            <a:solidFill>
              <a:srgbClr val="7F7F7F"/>
            </a:solidFill>
            <a:prstDash val="solid"/>
            <a:tailEnd type="triangle"/>
          </a:ln>
        </p:spPr>
      </p:sp>
      <p:pic>
        <p:nvPicPr>
          <p:cNvPr id="34" name="step 3 used on shapes" descr="/NAS/SJ/POSTECH/nlp/figs/icons/shapes.png">    </p:cNvPr>
          <p:cNvPicPr>
            <a:picLocks noChangeAspect="1"/>
          </p:cNvPicPr>
          <p:nvPr/>
        </p:nvPicPr>
        <p:blipFill>
          <a:blip r:embed="rId11"/>
          <a:stretch>
            <a:fillRect/>
          </a:stretch>
        </p:blipFill>
        <p:spPr>
          <a:xfrm>
            <a:off x="5522976" y="3401568"/>
            <a:ext cx="237744" cy="237744"/>
          </a:xfrm>
          <a:prstGeom prst="rect">
            <a:avLst/>
          </a:prstGeom>
        </p:spPr>
      </p:pic>
      <p:pic>
        <p:nvPicPr>
          <p:cNvPr id="35" name="step 3 used on trophy" descr="/NAS/SJ/POSTECH/nlp/figs/icons/trophy.png">    </p:cNvPr>
          <p:cNvPicPr>
            <a:picLocks noChangeAspect="1"/>
          </p:cNvPicPr>
          <p:nvPr/>
        </p:nvPicPr>
        <p:blipFill>
          <a:blip r:embed="rId12"/>
          <a:stretch>
            <a:fillRect/>
          </a:stretch>
        </p:blipFill>
        <p:spPr>
          <a:xfrm>
            <a:off x="5815584" y="3401568"/>
            <a:ext cx="237744" cy="237744"/>
          </a:xfrm>
          <a:prstGeom prst="rect">
            <a:avLst/>
          </a:prstGeom>
        </p:spPr>
      </p:pic>
      <p:pic>
        <p:nvPicPr>
          <p:cNvPr id="36" name="step 3 used on truck" descr="/NAS/SJ/POSTECH/nlp/figs/icons/truck.png">    </p:cNvPr>
          <p:cNvPicPr>
            <a:picLocks noChangeAspect="1"/>
          </p:cNvPicPr>
          <p:nvPr/>
        </p:nvPicPr>
        <p:blipFill>
          <a:blip r:embed="rId13"/>
          <a:stretch>
            <a:fillRect/>
          </a:stretch>
        </p:blipFill>
        <p:spPr>
          <a:xfrm>
            <a:off x="6108192" y="3401568"/>
            <a:ext cx="237744" cy="237744"/>
          </a:xfrm>
          <a:prstGeom prst="rect">
            <a:avLst/>
          </a:prstGeom>
        </p:spPr>
      </p:pic>
      <p:pic>
        <p:nvPicPr>
          <p:cNvPr id="37" name="step 3 used on calc" descr="/NAS/SJ/POSTECH/nlp/figs/icons/calc.png">    </p:cNvPr>
          <p:cNvPicPr>
            <a:picLocks noChangeAspect="1"/>
          </p:cNvPicPr>
          <p:nvPr/>
        </p:nvPicPr>
        <p:blipFill>
          <a:blip r:embed="rId14"/>
          <a:stretch>
            <a:fillRect/>
          </a:stretch>
        </p:blipFill>
        <p:spPr>
          <a:xfrm>
            <a:off x="6400800" y="3401568"/>
            <a:ext cx="237744" cy="237744"/>
          </a:xfrm>
          <a:prstGeom prst="rect">
            <a:avLst/>
          </a:prstGeom>
        </p:spPr>
      </p:pic>
      <p:sp>
        <p:nvSpPr>
          <p:cNvPr id="38" name="Text 22"/>
          <p:cNvSpPr txBox="1"/>
          <p:nvPr/>
        </p:nvSpPr>
        <p:spPr>
          <a:xfrm>
            <a:off x="726948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4 Think?</a:t>
            </a:r>
            <a:endParaRPr lang="en-US" sz="1700" dirty="0"/>
          </a:p>
        </p:txBody>
      </p:sp>
      <p:sp>
        <p:nvSpPr>
          <p:cNvPr id="39" name="step 4 Think?"/>
          <p:cNvSpPr/>
          <p:nvPr/>
        </p:nvSpPr>
        <p:spPr>
          <a:xfrm>
            <a:off x="7269480" y="2011680"/>
            <a:ext cx="2103120" cy="1325880"/>
          </a:xfrm>
          <a:prstGeom prst="roundRect">
            <a:avLst>
              <a:gd name="adj" fmla="val 5517"/>
            </a:avLst>
          </a:prstGeom>
          <a:solidFill>
            <a:srgbClr val="F2F2F2"/>
          </a:solidFill>
          <a:ln w="12700">
            <a:solidFill>
              <a:srgbClr val="7F7F7F"/>
            </a:solidFill>
            <a:prstDash val="solid"/>
          </a:ln>
        </p:spPr>
      </p:sp>
      <p:sp>
        <p:nvSpPr>
          <p:cNvPr id="40" name="Text 24"/>
          <p:cNvSpPr txBox="1"/>
          <p:nvPr/>
        </p:nvSpPr>
        <p:spPr>
          <a:xfrm>
            <a:off x="7342632" y="2057400"/>
            <a:ext cx="1956816" cy="566928"/>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41" name="Text 25"/>
          <p:cNvSpPr txBox="1"/>
          <p:nvPr/>
        </p:nvSpPr>
        <p:spPr>
          <a:xfrm>
            <a:off x="736092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think only if the two differ</a:t>
            </a:r>
            <a:endParaRPr lang="en-US" sz="1400" dirty="0"/>
          </a:p>
        </p:txBody>
      </p:sp>
      <p:sp>
        <p:nvSpPr>
          <p:cNvPr id="42" name="Shape 26"/>
          <p:cNvSpPr/>
          <p:nvPr/>
        </p:nvSpPr>
        <p:spPr>
          <a:xfrm>
            <a:off x="9372600" y="2670048"/>
            <a:ext cx="137160" cy="0"/>
          </a:xfrm>
          <a:prstGeom prst="line">
            <a:avLst/>
          </a:prstGeom>
          <a:noFill/>
          <a:ln w="25400">
            <a:solidFill>
              <a:srgbClr val="7F7F7F"/>
            </a:solidFill>
            <a:prstDash val="solid"/>
            <a:tailEnd type="triangle"/>
          </a:ln>
        </p:spPr>
      </p:sp>
      <p:pic>
        <p:nvPicPr>
          <p:cNvPr id="43" name="step 4 used on shapes" descr="/NAS/SJ/POSTECH/nlp/figs/icons/shapes.png">    </p:cNvPr>
          <p:cNvPicPr>
            <a:picLocks noChangeAspect="1"/>
          </p:cNvPicPr>
          <p:nvPr/>
        </p:nvPicPr>
        <p:blipFill>
          <a:blip r:embed="rId15"/>
          <a:stretch>
            <a:fillRect/>
          </a:stretch>
        </p:blipFill>
        <p:spPr>
          <a:xfrm>
            <a:off x="7763256" y="3401568"/>
            <a:ext cx="237744" cy="237744"/>
          </a:xfrm>
          <a:prstGeom prst="rect">
            <a:avLst/>
          </a:prstGeom>
        </p:spPr>
      </p:pic>
      <p:pic>
        <p:nvPicPr>
          <p:cNvPr id="44" name="step 4 used on trophy" descr="/NAS/SJ/POSTECH/nlp/figs/icons/trophy.png">    </p:cNvPr>
          <p:cNvPicPr>
            <a:picLocks noChangeAspect="1"/>
          </p:cNvPicPr>
          <p:nvPr/>
        </p:nvPicPr>
        <p:blipFill>
          <a:blip r:embed="rId16"/>
          <a:stretch>
            <a:fillRect/>
          </a:stretch>
        </p:blipFill>
        <p:spPr>
          <a:xfrm>
            <a:off x="8055864" y="3401568"/>
            <a:ext cx="237744" cy="237744"/>
          </a:xfrm>
          <a:prstGeom prst="rect">
            <a:avLst/>
          </a:prstGeom>
        </p:spPr>
      </p:pic>
      <p:pic>
        <p:nvPicPr>
          <p:cNvPr id="45" name="step 4 used on truck" descr="/NAS/SJ/POSTECH/nlp/figs/icons/truck.png">    </p:cNvPr>
          <p:cNvPicPr>
            <a:picLocks noChangeAspect="1"/>
          </p:cNvPicPr>
          <p:nvPr/>
        </p:nvPicPr>
        <p:blipFill>
          <a:blip r:embed="rId17"/>
          <a:stretch>
            <a:fillRect/>
          </a:stretch>
        </p:blipFill>
        <p:spPr>
          <a:xfrm>
            <a:off x="8348472" y="3401568"/>
            <a:ext cx="237744" cy="237744"/>
          </a:xfrm>
          <a:prstGeom prst="rect">
            <a:avLst/>
          </a:prstGeom>
        </p:spPr>
      </p:pic>
      <p:pic>
        <p:nvPicPr>
          <p:cNvPr id="46" name="step 4 used on calc" descr="/NAS/SJ/POSTECH/nlp/figs/icons/calc.png">    </p:cNvPr>
          <p:cNvPicPr>
            <a:picLocks noChangeAspect="1"/>
          </p:cNvPicPr>
          <p:nvPr/>
        </p:nvPicPr>
        <p:blipFill>
          <a:blip r:embed="rId18"/>
          <a:stretch>
            <a:fillRect/>
          </a:stretch>
        </p:blipFill>
        <p:spPr>
          <a:xfrm>
            <a:off x="8641080" y="3401568"/>
            <a:ext cx="237744" cy="237744"/>
          </a:xfrm>
          <a:prstGeom prst="rect">
            <a:avLst/>
          </a:prstGeom>
        </p:spPr>
      </p:pic>
      <p:sp>
        <p:nvSpPr>
          <p:cNvPr id="47" name="Text 27"/>
          <p:cNvSpPr txBox="1"/>
          <p:nvPr/>
        </p:nvSpPr>
        <p:spPr>
          <a:xfrm>
            <a:off x="950976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5 Reuse</a:t>
            </a:r>
            <a:endParaRPr lang="en-US" sz="1700" dirty="0"/>
          </a:p>
        </p:txBody>
      </p:sp>
      <p:sp>
        <p:nvSpPr>
          <p:cNvPr id="48" name="step 5 Reuse"/>
          <p:cNvSpPr/>
          <p:nvPr/>
        </p:nvSpPr>
        <p:spPr>
          <a:xfrm>
            <a:off x="9509760" y="2011680"/>
            <a:ext cx="2103120" cy="1325880"/>
          </a:xfrm>
          <a:prstGeom prst="roundRect">
            <a:avLst>
              <a:gd name="adj" fmla="val 5517"/>
            </a:avLst>
          </a:prstGeom>
          <a:solidFill>
            <a:srgbClr val="DEEBF7"/>
          </a:solidFill>
          <a:ln w="12700">
            <a:solidFill>
              <a:srgbClr val="4472C4"/>
            </a:solidFill>
            <a:prstDash val="solid"/>
          </a:ln>
        </p:spPr>
      </p:sp>
      <p:sp>
        <p:nvSpPr>
          <p:cNvPr id="49" name="Text 29"/>
          <p:cNvSpPr txBox="1"/>
          <p:nvPr/>
        </p:nvSpPr>
        <p:spPr>
          <a:xfrm>
            <a:off x="9582912" y="2057400"/>
            <a:ext cx="1956816" cy="566928"/>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50" name="Text 30"/>
          <p:cNvSpPr txBox="1"/>
          <p:nvPr/>
        </p:nvSpPr>
        <p:spPr>
          <a:xfrm>
            <a:off x="960120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same kind, new data: no new tokens</a:t>
            </a:r>
            <a:endParaRPr lang="en-US" sz="1400" dirty="0"/>
          </a:p>
        </p:txBody>
      </p:sp>
      <p:pic>
        <p:nvPicPr>
          <p:cNvPr id="51" name="step 5 not needed on shapes" descr="/NAS/SJ/POSTECH/nlp/figs/icons/shapes.png">    </p:cNvPr>
          <p:cNvPicPr>
            <a:picLocks noChangeAspect="1"/>
          </p:cNvPicPr>
          <p:nvPr/>
        </p:nvPicPr>
        <p:blipFill>
          <a:blip r:embed="rId19">
            <a:alphaModFix amt="18000"/>
          </a:blip>
          <a:stretch>
            <a:fillRect/>
          </a:stretch>
        </p:blipFill>
        <p:spPr>
          <a:xfrm>
            <a:off x="10003536" y="3401568"/>
            <a:ext cx="237744" cy="237744"/>
          </a:xfrm>
          <a:prstGeom prst="rect">
            <a:avLst/>
          </a:prstGeom>
        </p:spPr>
      </p:pic>
      <p:pic>
        <p:nvPicPr>
          <p:cNvPr id="52" name="step 5 not needed on trophy" descr="/NAS/SJ/POSTECH/nlp/figs/icons/trophy.png">    </p:cNvPr>
          <p:cNvPicPr>
            <a:picLocks noChangeAspect="1"/>
          </p:cNvPicPr>
          <p:nvPr/>
        </p:nvPicPr>
        <p:blipFill>
          <a:blip r:embed="rId20">
            <a:alphaModFix amt="18000"/>
          </a:blip>
          <a:stretch>
            <a:fillRect/>
          </a:stretch>
        </p:blipFill>
        <p:spPr>
          <a:xfrm>
            <a:off x="10296144" y="3401568"/>
            <a:ext cx="237744" cy="237744"/>
          </a:xfrm>
          <a:prstGeom prst="rect">
            <a:avLst/>
          </a:prstGeom>
        </p:spPr>
      </p:pic>
      <p:pic>
        <p:nvPicPr>
          <p:cNvPr id="53" name="step 5 used on truck" descr="/NAS/SJ/POSTECH/nlp/figs/icons/truck.png">    </p:cNvPr>
          <p:cNvPicPr>
            <a:picLocks noChangeAspect="1"/>
          </p:cNvPicPr>
          <p:nvPr/>
        </p:nvPicPr>
        <p:blipFill>
          <a:blip r:embed="rId21"/>
          <a:stretch>
            <a:fillRect/>
          </a:stretch>
        </p:blipFill>
        <p:spPr>
          <a:xfrm>
            <a:off x="10588752" y="3401568"/>
            <a:ext cx="237744" cy="237744"/>
          </a:xfrm>
          <a:prstGeom prst="rect">
            <a:avLst/>
          </a:prstGeom>
        </p:spPr>
      </p:pic>
      <p:pic>
        <p:nvPicPr>
          <p:cNvPr id="54" name="step 5 not needed on calc" descr="/NAS/SJ/POSTECH/nlp/figs/icons/calc.png">    </p:cNvPr>
          <p:cNvPicPr>
            <a:picLocks noChangeAspect="1"/>
          </p:cNvPicPr>
          <p:nvPr/>
        </p:nvPicPr>
        <p:blipFill>
          <a:blip r:embed="rId22">
            <a:alphaModFix amt="18000"/>
          </a:blip>
          <a:stretch>
            <a:fillRect/>
          </a:stretch>
        </p:blipFill>
        <p:spPr>
          <a:xfrm>
            <a:off x="10881360" y="3401568"/>
            <a:ext cx="237744" cy="237744"/>
          </a:xfrm>
          <a:prstGeom prst="rect">
            <a:avLst/>
          </a:prstGeom>
        </p:spPr>
      </p:pic>
      <p:sp>
        <p:nvSpPr>
          <p:cNvPr id="55" name="Text 31"/>
          <p:cNvSpPr txBox="1"/>
          <p:nvPr/>
        </p:nvSpPr>
        <p:spPr>
          <a:xfrm>
            <a:off x="548640" y="3730752"/>
            <a:ext cx="6400800" cy="365760"/>
          </a:xfrm>
          <a:prstGeom prst="rect">
            <a:avLst/>
          </a:prstGeom>
          <a:noFill/>
          <a:ln/>
        </p:spPr>
        <p:txBody>
          <a:bodyPr wrap="square" lIns="0" tIns="0" rIns="0" bIns="0" rtlCol="0" anchor="ctr"/>
          <a:lstStyle/>
          <a:p>
            <a:pPr indent="0" marL="0">
              <a:buNone/>
            </a:pPr>
            <a:r>
              <a:rPr lang="en-US" sz="1600" b="1" dirty="0">
                <a:solidFill>
                  <a:schemeClr val="tx1"/>
                </a:solidFill>
              </a:rPr>
              <a:t>108 geometry + 100 optimization problems × 3 models:</a:t>
            </a:r>
            <a:endParaRPr lang="en-US" sz="1600" dirty="0"/>
          </a:p>
        </p:txBody>
      </p:sp>
      <p:sp>
        <p:nvSpPr>
          <p:cNvPr id="56" name="Text 32"/>
          <p:cNvSpPr txBox="1"/>
          <p:nvPr/>
        </p:nvSpPr>
        <p:spPr>
          <a:xfrm>
            <a:off x="2560320" y="406908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7" name="Text 33"/>
          <p:cNvSpPr txBox="1"/>
          <p:nvPr/>
        </p:nvSpPr>
        <p:spPr>
          <a:xfrm>
            <a:off x="3474720" y="4069080"/>
            <a:ext cx="347472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8" name="Text 34"/>
          <p:cNvSpPr txBox="1"/>
          <p:nvPr/>
        </p:nvSpPr>
        <p:spPr>
          <a:xfrm>
            <a:off x="548640" y="4434840"/>
            <a:ext cx="1920240" cy="457200"/>
          </a:xfrm>
          <a:prstGeom prst="rect">
            <a:avLst/>
          </a:prstGeom>
          <a:noFill/>
          <a:ln/>
        </p:spPr>
        <p:txBody>
          <a:bodyPr wrap="square" lIns="0" tIns="0" rIns="0" bIns="0" rtlCol="0" anchor="ctr"/>
          <a:lstStyle/>
          <a:p>
            <a:pPr algn="r" indent="0" marL="0">
              <a:buNone/>
            </a:pPr>
            <a:r>
              <a:rPr lang="en-US" sz="1500" dirty="0">
                <a:solidFill>
                  <a:schemeClr val="tx1"/>
                </a:solidFill>
              </a:rPr>
              <a:t>think on hardest-looking</a:t>
            </a:r>
            <a:endParaRPr lang="en-US" sz="1500" dirty="0"/>
          </a:p>
        </p:txBody>
      </p:sp>
      <p:sp>
        <p:nvSpPr>
          <p:cNvPr id="59" name="Text 35"/>
          <p:cNvSpPr txBox="1"/>
          <p:nvPr/>
        </p:nvSpPr>
        <p:spPr>
          <a:xfrm>
            <a:off x="2560320" y="443484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60" name="tokens think on hardest-looking"/>
          <p:cNvSpPr/>
          <p:nvPr/>
        </p:nvSpPr>
        <p:spPr>
          <a:xfrm>
            <a:off x="3474720" y="4535424"/>
            <a:ext cx="2743200" cy="256032"/>
          </a:xfrm>
          <a:prstGeom prst="rect">
            <a:avLst/>
          </a:prstGeom>
          <a:solidFill>
            <a:srgbClr val="7F7F7F"/>
          </a:solidFill>
          <a:ln w="6350">
            <a:solidFill>
              <a:srgbClr val="7F7F7F"/>
            </a:solidFill>
            <a:prstDash val="solid"/>
          </a:ln>
        </p:spPr>
      </p:sp>
      <p:sp>
        <p:nvSpPr>
          <p:cNvPr id="61" name="Text 37"/>
          <p:cNvSpPr txBox="1"/>
          <p:nvPr/>
        </p:nvSpPr>
        <p:spPr>
          <a:xfrm>
            <a:off x="6309360" y="443484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2" name="Text 38"/>
          <p:cNvSpPr txBox="1"/>
          <p:nvPr/>
        </p:nvSpPr>
        <p:spPr>
          <a:xfrm>
            <a:off x="548640" y="4965192"/>
            <a:ext cx="1920240" cy="457200"/>
          </a:xfrm>
          <a:prstGeom prst="rect">
            <a:avLst/>
          </a:prstGeom>
          <a:noFill/>
          <a:ln/>
        </p:spPr>
        <p:txBody>
          <a:bodyPr wrap="square" lIns="0" tIns="0" rIns="0" bIns="0" rtlCol="0" anchor="ctr"/>
          <a:lstStyle/>
          <a:p>
            <a:pPr algn="r" indent="0" marL="0">
              <a:buNone/>
            </a:pPr>
            <a:r>
              <a:rPr lang="en-US" sz="1500" dirty="0">
                <a:solidFill>
                  <a:schemeClr val="tx1"/>
                </a:solidFill>
              </a:rPr>
              <a:t>our method</a:t>
            </a:r>
            <a:endParaRPr lang="en-US" sz="1500" dirty="0"/>
          </a:p>
        </p:txBody>
      </p:sp>
      <p:sp>
        <p:nvSpPr>
          <p:cNvPr id="63" name="Text 39"/>
          <p:cNvSpPr txBox="1"/>
          <p:nvPr/>
        </p:nvSpPr>
        <p:spPr>
          <a:xfrm>
            <a:off x="2560320" y="49651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4" name="tokens our method"/>
          <p:cNvSpPr/>
          <p:nvPr/>
        </p:nvSpPr>
        <p:spPr>
          <a:xfrm>
            <a:off x="3474720" y="5065776"/>
            <a:ext cx="1672683" cy="256032"/>
          </a:xfrm>
          <a:prstGeom prst="rect">
            <a:avLst/>
          </a:prstGeom>
          <a:solidFill>
            <a:srgbClr val="4472C4"/>
          </a:solidFill>
          <a:ln w="6350">
            <a:solidFill>
              <a:srgbClr val="4472C4"/>
            </a:solidFill>
            <a:prstDash val="solid"/>
          </a:ln>
        </p:spPr>
      </p:sp>
      <p:sp>
        <p:nvSpPr>
          <p:cNvPr id="65" name="Text 41"/>
          <p:cNvSpPr txBox="1"/>
          <p:nvPr/>
        </p:nvSpPr>
        <p:spPr>
          <a:xfrm>
            <a:off x="5238843" y="49651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6" name="Text 42"/>
          <p:cNvSpPr txBox="1"/>
          <p:nvPr/>
        </p:nvSpPr>
        <p:spPr>
          <a:xfrm>
            <a:off x="7498080" y="3730752"/>
            <a:ext cx="4114800" cy="457200"/>
          </a:xfrm>
          <a:prstGeom prst="rect">
            <a:avLst/>
          </a:prstGeom>
          <a:noFill/>
          <a:ln/>
        </p:spPr>
        <p:txBody>
          <a:bodyPr wrap="square" lIns="0" tIns="0" rIns="0" bIns="0" rtlCol="0" anchor="ctr"/>
          <a:lstStyle/>
          <a:p>
            <a:pPr indent="0" marL="0">
              <a:buNone/>
            </a:pPr>
            <a:r>
              <a:rPr lang="en-US" sz="2400" b="1" dirty="0">
                <a:solidFill>
                  <a:srgbClr val="4472C4"/>
                </a:solidFill>
              </a:rPr>
              <a:t>79% = 79%</a:t>
            </a:r>
            <a:endParaRPr lang="en-US" sz="2400" dirty="0"/>
          </a:p>
        </p:txBody>
      </p:sp>
      <p:sp>
        <p:nvSpPr>
          <p:cNvPr id="67" name="Text 43"/>
          <p:cNvSpPr txBox="1"/>
          <p:nvPr/>
        </p:nvSpPr>
        <p:spPr>
          <a:xfrm>
            <a:off x="7498080" y="4169664"/>
            <a:ext cx="4114800" cy="457200"/>
          </a:xfrm>
          <a:prstGeom prst="rect">
            <a:avLst/>
          </a:prstGeom>
          <a:noFill/>
          <a:ln/>
        </p:spPr>
        <p:txBody>
          <a:bodyPr wrap="square" lIns="0" tIns="0" rIns="0" bIns="0" rtlCol="0" anchor="t"/>
          <a:lstStyle/>
          <a:p>
            <a:pPr indent="0" marL="0">
              <a:buNone/>
            </a:pPr>
            <a:r>
              <a:rPr lang="en-US" sz="1400" dirty="0">
                <a:solidFill>
                  <a:schemeClr val="tx1"/>
                </a:solidFill>
              </a:rPr>
              <a:t>the hint found automatically (its own earlier checked program) = a hand-written hint, on new problems</a:t>
            </a:r>
            <a:endParaRPr lang="en-US" sz="1400" dirty="0"/>
          </a:p>
        </p:txBody>
      </p:sp>
      <p:sp>
        <p:nvSpPr>
          <p:cNvPr id="68" name="Text 44"/>
          <p:cNvSpPr txBox="1"/>
          <p:nvPr/>
        </p:nvSpPr>
        <p:spPr>
          <a:xfrm>
            <a:off x="7498080" y="4645152"/>
            <a:ext cx="4114800" cy="457200"/>
          </a:xfrm>
          <a:prstGeom prst="rect">
            <a:avLst/>
          </a:prstGeom>
          <a:noFill/>
          <a:ln/>
        </p:spPr>
        <p:txBody>
          <a:bodyPr wrap="square" lIns="0" tIns="0" rIns="0" bIns="0" rtlCol="0" anchor="ctr"/>
          <a:lstStyle/>
          <a:p>
            <a:pPr indent="0" marL="0">
              <a:buNone/>
            </a:pPr>
            <a:r>
              <a:rPr lang="en-US" sz="2400" b="1" dirty="0">
                <a:solidFill>
                  <a:srgbClr val="4472C4"/>
                </a:solidFill>
              </a:rPr>
              <a:t>0.6k vs 5.3k</a:t>
            </a:r>
            <a:endParaRPr lang="en-US" sz="2400" dirty="0"/>
          </a:p>
        </p:txBody>
      </p:sp>
      <p:sp>
        <p:nvSpPr>
          <p:cNvPr id="69" name="Text 45"/>
          <p:cNvSpPr txBox="1"/>
          <p:nvPr/>
        </p:nvSpPr>
        <p:spPr>
          <a:xfrm>
            <a:off x="7498080" y="5084064"/>
            <a:ext cx="4114800" cy="457200"/>
          </a:xfrm>
          <a:prstGeom prst="rect">
            <a:avLst/>
          </a:prstGeom>
          <a:noFill/>
          <a:ln/>
        </p:spPr>
        <p:txBody>
          <a:bodyPr wrap="square" lIns="0" tIns="0" rIns="0" bIns="0" rtlCol="0" anchor="t"/>
          <a:lstStyle/>
          <a:p>
            <a:pPr indent="0" marL="0">
              <a:buNone/>
            </a:pPr>
            <a:r>
              <a:rPr lang="en-US" sz="1400" dirty="0">
                <a:solidFill>
                  <a:schemeClr val="tx1"/>
                </a:solidFill>
              </a:rPr>
              <a:t>tokens on this problem vs thinking alone</a:t>
            </a:r>
            <a:endParaRPr lang="en-US" sz="1400" dirty="0"/>
          </a:p>
        </p:txBody>
      </p:sp>
      <p:sp>
        <p:nvSpPr>
          <p:cNvPr id="70" name="Text 4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548640" y="1188720"/>
            <a:ext cx="484632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766560" y="1188720"/>
            <a:ext cx="484632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box "/>
          <p:cNvSpPr/>
          <p:nvPr/>
        </p:nvSpPr>
        <p:spPr>
          <a:xfrm>
            <a:off x="548640" y="1600200"/>
            <a:ext cx="4846320" cy="685800"/>
          </a:xfrm>
          <a:prstGeom prst="roundRect">
            <a:avLst>
              <a:gd name="adj" fmla="val 8000"/>
            </a:avLst>
          </a:prstGeom>
          <a:solidFill>
            <a:srgbClr val="F2F2F2"/>
          </a:solidFill>
          <a:ln w="9525">
            <a:solidFill>
              <a:srgbClr val="BFBFBF"/>
            </a:solidFill>
            <a:prstDash val="solid"/>
          </a:ln>
        </p:spPr>
      </p:sp>
      <p:sp>
        <p:nvSpPr>
          <p:cNvPr id="6" name="Text 4"/>
          <p:cNvSpPr txBox="1"/>
          <p:nvPr/>
        </p:nvSpPr>
        <p:spPr>
          <a:xfrm>
            <a:off x="621792" y="160020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7" name="usual icon 0" descr="/NAS/SJ/POSTECH/nlp/figs/icons/brain.png">    </p:cNvPr>
          <p:cNvPicPr>
            <a:picLocks noChangeAspect="1"/>
          </p:cNvPicPr>
          <p:nvPr/>
        </p:nvPicPr>
        <p:blipFill>
          <a:blip r:embed="rId1"/>
          <a:stretch>
            <a:fillRect/>
          </a:stretch>
        </p:blipFill>
        <p:spPr>
          <a:xfrm>
            <a:off x="685800" y="1737360"/>
            <a:ext cx="411480" cy="411480"/>
          </a:xfrm>
          <a:prstGeom prst="rect">
            <a:avLst/>
          </a:prstGeom>
        </p:spPr>
      </p:pic>
      <p:sp>
        <p:nvSpPr>
          <p:cNvPr id="8" name="Text 5"/>
          <p:cNvSpPr txBox="1"/>
          <p:nvPr/>
        </p:nvSpPr>
        <p:spPr>
          <a:xfrm>
            <a:off x="1234440" y="1600200"/>
            <a:ext cx="4069080" cy="685800"/>
          </a:xfrm>
          <a:prstGeom prst="rect">
            <a:avLst/>
          </a:prstGeom>
          <a:noFill/>
          <a:ln/>
        </p:spPr>
        <p:txBody>
          <a:bodyPr wrap="square" lIns="0" tIns="0" rIns="0" bIns="0" rtlCol="0" anchor="ctr"/>
          <a:lstStyle/>
          <a:p>
            <a:pPr indent="0" marL="0">
              <a:buNone/>
            </a:pPr>
            <a:r>
              <a:rPr lang="en-US" sz="1500" dirty="0">
                <a:solidFill>
                  <a:srgbClr val="404040"/>
                </a:solidFill>
              </a:rPr>
              <a:t>think more on hard-looking problems, or train when to think</a:t>
            </a:r>
            <a:endParaRPr lang="en-US" sz="1500" dirty="0"/>
          </a:p>
        </p:txBody>
      </p:sp>
      <p:sp>
        <p:nvSpPr>
          <p:cNvPr id="9" name="arrow 0"/>
          <p:cNvSpPr/>
          <p:nvPr/>
        </p:nvSpPr>
        <p:spPr>
          <a:xfrm>
            <a:off x="5577840" y="1755648"/>
            <a:ext cx="1005840" cy="384048"/>
          </a:xfrm>
          <a:prstGeom prst="rightArrow">
            <a:avLst/>
          </a:prstGeom>
          <a:solidFill>
            <a:srgbClr val="4472C4"/>
          </a:solidFill>
          <a:ln w="12700">
            <a:solidFill>
              <a:srgbClr val="4472C4"/>
            </a:solidFill>
            <a:prstDash val="solid"/>
          </a:ln>
        </p:spPr>
      </p:sp>
      <p:sp>
        <p:nvSpPr>
          <p:cNvPr id="10" name="box "/>
          <p:cNvSpPr/>
          <p:nvPr/>
        </p:nvSpPr>
        <p:spPr>
          <a:xfrm>
            <a:off x="6766560" y="1600200"/>
            <a:ext cx="4846320" cy="685800"/>
          </a:xfrm>
          <a:prstGeom prst="roundRect">
            <a:avLst>
              <a:gd name="adj" fmla="val 8000"/>
            </a:avLst>
          </a:prstGeom>
          <a:solidFill>
            <a:srgbClr val="DEEBF7"/>
          </a:solidFill>
          <a:ln w="9525">
            <a:solidFill>
              <a:srgbClr val="BFBFBF"/>
            </a:solidFill>
            <a:prstDash val="solid"/>
          </a:ln>
        </p:spPr>
      </p:sp>
      <p:sp>
        <p:nvSpPr>
          <p:cNvPr id="11" name="Text 8"/>
          <p:cNvSpPr txBox="1"/>
          <p:nvPr/>
        </p:nvSpPr>
        <p:spPr>
          <a:xfrm>
            <a:off x="6839712" y="160020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12" name="ours icon 0" descr="/NAS/SJ/POSTECH/nlp/figs/icons/check.png">    </p:cNvPr>
          <p:cNvPicPr>
            <a:picLocks noChangeAspect="1"/>
          </p:cNvPicPr>
          <p:nvPr/>
        </p:nvPicPr>
        <p:blipFill>
          <a:blip r:embed="rId2"/>
          <a:stretch>
            <a:fillRect/>
          </a:stretch>
        </p:blipFill>
        <p:spPr>
          <a:xfrm>
            <a:off x="6903720" y="1737360"/>
            <a:ext cx="411480" cy="411480"/>
          </a:xfrm>
          <a:prstGeom prst="rect">
            <a:avLst/>
          </a:prstGeom>
        </p:spPr>
      </p:pic>
      <p:sp>
        <p:nvSpPr>
          <p:cNvPr id="13" name="Text 9"/>
          <p:cNvSpPr txBox="1"/>
          <p:nvPr/>
        </p:nvSpPr>
        <p:spPr>
          <a:xfrm>
            <a:off x="7452360" y="160020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think only when a free check fails; no training (87% vs 74%)</a:t>
            </a:r>
            <a:endParaRPr lang="en-US" sz="1500" dirty="0"/>
          </a:p>
        </p:txBody>
      </p:sp>
      <p:sp>
        <p:nvSpPr>
          <p:cNvPr id="14" name="box "/>
          <p:cNvSpPr/>
          <p:nvPr/>
        </p:nvSpPr>
        <p:spPr>
          <a:xfrm>
            <a:off x="548640" y="2423160"/>
            <a:ext cx="4846320" cy="685800"/>
          </a:xfrm>
          <a:prstGeom prst="roundRect">
            <a:avLst>
              <a:gd name="adj" fmla="val 8000"/>
            </a:avLst>
          </a:prstGeom>
          <a:solidFill>
            <a:srgbClr val="F2F2F2"/>
          </a:solidFill>
          <a:ln w="9525">
            <a:solidFill>
              <a:srgbClr val="BFBFBF"/>
            </a:solidFill>
            <a:prstDash val="solid"/>
          </a:ln>
        </p:spPr>
      </p:sp>
      <p:sp>
        <p:nvSpPr>
          <p:cNvPr id="15" name="Text 11"/>
          <p:cNvSpPr txBox="1"/>
          <p:nvPr/>
        </p:nvSpPr>
        <p:spPr>
          <a:xfrm>
            <a:off x="621792" y="242316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16" name="usual icon 1" descr="/NAS/SJ/POSTECH/nlp/figs/icons/page.png">    </p:cNvPr>
          <p:cNvPicPr>
            <a:picLocks noChangeAspect="1"/>
          </p:cNvPicPr>
          <p:nvPr/>
        </p:nvPicPr>
        <p:blipFill>
          <a:blip r:embed="rId3"/>
          <a:stretch>
            <a:fillRect/>
          </a:stretch>
        </p:blipFill>
        <p:spPr>
          <a:xfrm>
            <a:off x="685800" y="2560320"/>
            <a:ext cx="411480" cy="411480"/>
          </a:xfrm>
          <a:prstGeom prst="rect">
            <a:avLst/>
          </a:prstGeom>
        </p:spPr>
      </p:pic>
      <p:sp>
        <p:nvSpPr>
          <p:cNvPr id="17" name="Text 12"/>
          <p:cNvSpPr txBox="1"/>
          <p:nvPr/>
        </p:nvSpPr>
        <p:spPr>
          <a:xfrm>
            <a:off x="1234440" y="2423160"/>
            <a:ext cx="4069080" cy="685800"/>
          </a:xfrm>
          <a:prstGeom prst="rect">
            <a:avLst/>
          </a:prstGeom>
          <a:noFill/>
          <a:ln/>
        </p:spPr>
        <p:txBody>
          <a:bodyPr wrap="square" lIns="0" tIns="0" rIns="0" bIns="0" rtlCol="0" anchor="ctr"/>
          <a:lstStyle/>
          <a:p>
            <a:pPr indent="0" marL="0">
              <a:buNone/>
            </a:pPr>
            <a:r>
              <a:rPr lang="en-US" sz="1500" dirty="0">
                <a:solidFill>
                  <a:srgbClr val="404040"/>
                </a:solidFill>
              </a:rPr>
              <a:t>give the manual, or a teacher's programs checked against answers</a:t>
            </a:r>
            <a:endParaRPr lang="en-US" sz="1500" dirty="0"/>
          </a:p>
        </p:txBody>
      </p:sp>
      <p:sp>
        <p:nvSpPr>
          <p:cNvPr id="18" name="arrow 1"/>
          <p:cNvSpPr/>
          <p:nvPr/>
        </p:nvSpPr>
        <p:spPr>
          <a:xfrm>
            <a:off x="5577840" y="2578608"/>
            <a:ext cx="1005840" cy="384048"/>
          </a:xfrm>
          <a:prstGeom prst="rightArrow">
            <a:avLst/>
          </a:prstGeom>
          <a:solidFill>
            <a:srgbClr val="4472C4"/>
          </a:solidFill>
          <a:ln w="12700">
            <a:solidFill>
              <a:srgbClr val="4472C4"/>
            </a:solidFill>
            <a:prstDash val="solid"/>
          </a:ln>
        </p:spPr>
      </p:sp>
      <p:sp>
        <p:nvSpPr>
          <p:cNvPr id="19" name="box "/>
          <p:cNvSpPr/>
          <p:nvPr/>
        </p:nvSpPr>
        <p:spPr>
          <a:xfrm>
            <a:off x="6766560" y="2423160"/>
            <a:ext cx="4846320" cy="685800"/>
          </a:xfrm>
          <a:prstGeom prst="roundRect">
            <a:avLst>
              <a:gd name="adj" fmla="val 8000"/>
            </a:avLst>
          </a:prstGeom>
          <a:solidFill>
            <a:srgbClr val="DEEBF7"/>
          </a:solidFill>
          <a:ln w="9525">
            <a:solidFill>
              <a:srgbClr val="BFBFBF"/>
            </a:solidFill>
            <a:prstDash val="solid"/>
          </a:ln>
        </p:spPr>
      </p:sp>
      <p:sp>
        <p:nvSpPr>
          <p:cNvPr id="20" name="Text 15"/>
          <p:cNvSpPr txBox="1"/>
          <p:nvPr/>
        </p:nvSpPr>
        <p:spPr>
          <a:xfrm>
            <a:off x="6839712" y="242316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21" name="ours icon 1" descr="/NAS/SJ/POSTECH/nlp/figs/icons/fact.png">    </p:cNvPr>
          <p:cNvPicPr>
            <a:picLocks noChangeAspect="1"/>
          </p:cNvPicPr>
          <p:nvPr/>
        </p:nvPicPr>
        <p:blipFill>
          <a:blip r:embed="rId4"/>
          <a:stretch>
            <a:fillRect/>
          </a:stretch>
        </p:blipFill>
        <p:spPr>
          <a:xfrm>
            <a:off x="6903720" y="2560320"/>
            <a:ext cx="411480" cy="411480"/>
          </a:xfrm>
          <a:prstGeom prst="rect">
            <a:avLst/>
          </a:prstGeom>
        </p:spPr>
      </p:pic>
      <p:sp>
        <p:nvSpPr>
          <p:cNvPr id="22" name="Text 16"/>
          <p:cNvSpPr txBox="1"/>
          <p:nvPr/>
        </p:nvSpPr>
        <p:spPr>
          <a:xfrm>
            <a:off x="7452360" y="242316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give one hint: the model's own checked program; no answer key</a:t>
            </a:r>
            <a:endParaRPr lang="en-US" sz="1500" dirty="0"/>
          </a:p>
        </p:txBody>
      </p:sp>
      <p:sp>
        <p:nvSpPr>
          <p:cNvPr id="23" name="box "/>
          <p:cNvSpPr/>
          <p:nvPr/>
        </p:nvSpPr>
        <p:spPr>
          <a:xfrm>
            <a:off x="548640" y="3246120"/>
            <a:ext cx="4846320" cy="685800"/>
          </a:xfrm>
          <a:prstGeom prst="roundRect">
            <a:avLst>
              <a:gd name="adj" fmla="val 8000"/>
            </a:avLst>
          </a:prstGeom>
          <a:solidFill>
            <a:srgbClr val="F2F2F2"/>
          </a:solidFill>
          <a:ln w="9525">
            <a:solidFill>
              <a:srgbClr val="BFBFBF"/>
            </a:solidFill>
            <a:prstDash val="solid"/>
          </a:ln>
        </p:spPr>
      </p:sp>
      <p:sp>
        <p:nvSpPr>
          <p:cNvPr id="24" name="Text 18"/>
          <p:cNvSpPr txBox="1"/>
          <p:nvPr/>
        </p:nvSpPr>
        <p:spPr>
          <a:xfrm>
            <a:off x="621792" y="324612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25" name="usual icon 2" descr="/NAS/SJ/POSTECH/nlp/figs/icons/robot.png">    </p:cNvPr>
          <p:cNvPicPr>
            <a:picLocks noChangeAspect="1"/>
          </p:cNvPicPr>
          <p:nvPr/>
        </p:nvPicPr>
        <p:blipFill>
          <a:blip r:embed="rId5"/>
          <a:stretch>
            <a:fillRect/>
          </a:stretch>
        </p:blipFill>
        <p:spPr>
          <a:xfrm>
            <a:off x="685800" y="3383280"/>
            <a:ext cx="411480" cy="411480"/>
          </a:xfrm>
          <a:prstGeom prst="rect">
            <a:avLst/>
          </a:prstGeom>
        </p:spPr>
      </p:pic>
      <p:sp>
        <p:nvSpPr>
          <p:cNvPr id="26" name="Text 19"/>
          <p:cNvSpPr txBox="1"/>
          <p:nvPr/>
        </p:nvSpPr>
        <p:spPr>
          <a:xfrm>
            <a:off x="1234440" y="3246120"/>
            <a:ext cx="4069080" cy="685800"/>
          </a:xfrm>
          <a:prstGeom prst="rect">
            <a:avLst/>
          </a:prstGeom>
          <a:noFill/>
          <a:ln/>
        </p:spPr>
        <p:txBody>
          <a:bodyPr wrap="square" lIns="0" tIns="0" rIns="0" bIns="0" rtlCol="0" anchor="ctr"/>
          <a:lstStyle/>
          <a:p>
            <a:pPr indent="0" marL="0">
              <a:buNone/>
            </a:pPr>
            <a:r>
              <a:rPr lang="en-US" sz="1500" dirty="0">
                <a:solidFill>
                  <a:srgbClr val="404040"/>
                </a:solidFill>
              </a:rPr>
              <a:t>fine-tune a specialist model (ORLM-8B)</a:t>
            </a:r>
            <a:endParaRPr lang="en-US" sz="1500" dirty="0"/>
          </a:p>
        </p:txBody>
      </p:sp>
      <p:sp>
        <p:nvSpPr>
          <p:cNvPr id="27" name="arrow 2"/>
          <p:cNvSpPr/>
          <p:nvPr/>
        </p:nvSpPr>
        <p:spPr>
          <a:xfrm>
            <a:off x="5577840" y="3401568"/>
            <a:ext cx="1005840" cy="384048"/>
          </a:xfrm>
          <a:prstGeom prst="rightArrow">
            <a:avLst/>
          </a:prstGeom>
          <a:solidFill>
            <a:srgbClr val="4472C4"/>
          </a:solidFill>
          <a:ln w="12700">
            <a:solidFill>
              <a:srgbClr val="4472C4"/>
            </a:solidFill>
            <a:prstDash val="solid"/>
          </a:ln>
        </p:spPr>
      </p:sp>
      <p:sp>
        <p:nvSpPr>
          <p:cNvPr id="28" name="box "/>
          <p:cNvSpPr/>
          <p:nvPr/>
        </p:nvSpPr>
        <p:spPr>
          <a:xfrm>
            <a:off x="6766560" y="3246120"/>
            <a:ext cx="4846320" cy="685800"/>
          </a:xfrm>
          <a:prstGeom prst="roundRect">
            <a:avLst>
              <a:gd name="adj" fmla="val 8000"/>
            </a:avLst>
          </a:prstGeom>
          <a:solidFill>
            <a:srgbClr val="DEEBF7"/>
          </a:solidFill>
          <a:ln w="9525">
            <a:solidFill>
              <a:srgbClr val="BFBFBF"/>
            </a:solidFill>
            <a:prstDash val="solid"/>
          </a:ln>
        </p:spPr>
      </p:sp>
      <p:sp>
        <p:nvSpPr>
          <p:cNvPr id="29" name="Text 22"/>
          <p:cNvSpPr txBox="1"/>
          <p:nvPr/>
        </p:nvSpPr>
        <p:spPr>
          <a:xfrm>
            <a:off x="6839712" y="324612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30" name="ours icon 2" descr="/NAS/SJ/POSTECH/nlp/figs/icons/gpu.png">    </p:cNvPr>
          <p:cNvPicPr>
            <a:picLocks noChangeAspect="1"/>
          </p:cNvPicPr>
          <p:nvPr/>
        </p:nvPicPr>
        <p:blipFill>
          <a:blip r:embed="rId6"/>
          <a:stretch>
            <a:fillRect/>
          </a:stretch>
        </p:blipFill>
        <p:spPr>
          <a:xfrm>
            <a:off x="6903720" y="3383280"/>
            <a:ext cx="411480" cy="411480"/>
          </a:xfrm>
          <a:prstGeom prst="rect">
            <a:avLst/>
          </a:prstGeom>
        </p:spPr>
      </p:pic>
      <p:sp>
        <p:nvSpPr>
          <p:cNvPr id="31" name="Text 23"/>
          <p:cNvSpPr txBox="1"/>
          <p:nvPr/>
        </p:nvSpPr>
        <p:spPr>
          <a:xfrm>
            <a:off x="7452360" y="324612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no training, one 24 GB GPU: the same 69.5% on MAMO</a:t>
            </a:r>
            <a:endParaRPr lang="en-US" sz="1500" dirty="0"/>
          </a:p>
        </p:txBody>
      </p:sp>
      <p:sp>
        <p:nvSpPr>
          <p:cNvPr id="32" name="Text 24"/>
          <p:cNvSpPr txBox="1"/>
          <p:nvPr/>
        </p:nvSpPr>
        <p:spPr>
          <a:xfrm>
            <a:off x="548640" y="4114800"/>
            <a:ext cx="11064240" cy="365760"/>
          </a:xfrm>
          <a:prstGeom prst="rect">
            <a:avLst/>
          </a:prstGeom>
          <a:noFill/>
          <a:ln/>
        </p:spPr>
        <p:txBody>
          <a:bodyPr wrap="square" lIns="0" tIns="0" rIns="0" bIns="0" rtlCol="0" anchor="ctr"/>
          <a:lstStyle/>
          <a:p>
            <a:pPr indent="0" marL="0">
              <a:buNone/>
            </a:pPr>
            <a:r>
              <a:rPr lang="en-US" sz="1600" b="1" dirty="0">
                <a:solidFill>
                  <a:schemeClr val="tx1"/>
                </a:solidFill>
              </a:rPr>
              <a:t>Next, until the final report</a:t>
            </a:r>
            <a:endParaRPr lang="en-US" sz="1600" dirty="0"/>
          </a:p>
        </p:txBody>
      </p:sp>
      <p:sp>
        <p:nvSpPr>
          <p:cNvPr id="33" name="Shape 25"/>
          <p:cNvSpPr/>
          <p:nvPr/>
        </p:nvSpPr>
        <p:spPr>
          <a:xfrm>
            <a:off x="2194560" y="4800600"/>
            <a:ext cx="7772400" cy="0"/>
          </a:xfrm>
          <a:prstGeom prst="line">
            <a:avLst/>
          </a:prstGeom>
          <a:noFill/>
          <a:ln w="38100">
            <a:solidFill>
              <a:srgbClr val="BFBFBF"/>
            </a:solidFill>
            <a:prstDash val="solid"/>
          </a:ln>
        </p:spPr>
      </p:sp>
      <p:sp>
        <p:nvSpPr>
          <p:cNvPr id="34" name="milestone 0"/>
          <p:cNvSpPr/>
          <p:nvPr/>
        </p:nvSpPr>
        <p:spPr>
          <a:xfrm>
            <a:off x="1920240" y="4526280"/>
            <a:ext cx="548640" cy="548640"/>
          </a:xfrm>
          <a:prstGeom prst="ellipse">
            <a:avLst/>
          </a:prstGeom>
          <a:solidFill>
            <a:srgbClr val="FFFFFF"/>
          </a:solidFill>
          <a:ln w="25400">
            <a:solidFill>
              <a:srgbClr val="4472C4"/>
            </a:solidFill>
            <a:prstDash val="solid"/>
          </a:ln>
        </p:spPr>
      </p:sp>
      <p:pic>
        <p:nvPicPr>
          <p:cNvPr id="35" name="milestone icon 0" descr="/NAS/SJ/POSTECH/nlp/figs/icons/check.png">    </p:cNvPr>
          <p:cNvPicPr>
            <a:picLocks noChangeAspect="1"/>
          </p:cNvPicPr>
          <p:nvPr/>
        </p:nvPicPr>
        <p:blipFill>
          <a:blip r:embed="rId7"/>
          <a:stretch>
            <a:fillRect/>
          </a:stretch>
        </p:blipFill>
        <p:spPr>
          <a:xfrm>
            <a:off x="2020824" y="4626864"/>
            <a:ext cx="347472" cy="347472"/>
          </a:xfrm>
          <a:prstGeom prst="rect">
            <a:avLst/>
          </a:prstGeom>
        </p:spPr>
      </p:pic>
      <p:sp>
        <p:nvSpPr>
          <p:cNvPr id="36" name="Text 27"/>
          <p:cNvSpPr txBox="1"/>
          <p:nvPr/>
        </p:nvSpPr>
        <p:spPr>
          <a:xfrm>
            <a:off x="5486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finish the held-out test on more models</a:t>
            </a:r>
            <a:endParaRPr lang="en-US" sz="1500" dirty="0"/>
          </a:p>
        </p:txBody>
      </p:sp>
      <p:sp>
        <p:nvSpPr>
          <p:cNvPr id="37" name="milestone 1"/>
          <p:cNvSpPr/>
          <p:nvPr/>
        </p:nvSpPr>
        <p:spPr>
          <a:xfrm>
            <a:off x="5806440" y="4526280"/>
            <a:ext cx="548640" cy="548640"/>
          </a:xfrm>
          <a:prstGeom prst="ellipse">
            <a:avLst/>
          </a:prstGeom>
          <a:solidFill>
            <a:srgbClr val="FFFFFF"/>
          </a:solidFill>
          <a:ln w="25400">
            <a:solidFill>
              <a:srgbClr val="4472C4"/>
            </a:solidFill>
            <a:prstDash val="solid"/>
          </a:ln>
        </p:spPr>
      </p:sp>
      <p:pic>
        <p:nvPicPr>
          <p:cNvPr id="38" name="milestone icon 1" descr="/NAS/SJ/POSTECH/nlp/figs/icons/warn.png">    </p:cNvPr>
          <p:cNvPicPr>
            <a:picLocks noChangeAspect="1"/>
          </p:cNvPicPr>
          <p:nvPr/>
        </p:nvPicPr>
        <p:blipFill>
          <a:blip r:embed="rId8"/>
          <a:stretch>
            <a:fillRect/>
          </a:stretch>
        </p:blipFill>
        <p:spPr>
          <a:xfrm>
            <a:off x="5907024" y="4626864"/>
            <a:ext cx="347472" cy="347472"/>
          </a:xfrm>
          <a:prstGeom prst="rect">
            <a:avLst/>
          </a:prstGeom>
        </p:spPr>
      </p:pic>
      <p:sp>
        <p:nvSpPr>
          <p:cNvPr id="39" name="Text 29"/>
          <p:cNvSpPr txBox="1"/>
          <p:nvPr/>
        </p:nvSpPr>
        <p:spPr>
          <a:xfrm>
            <a:off x="44348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errors no check catches: programs that run but model the problem wrong</a:t>
            </a:r>
            <a:endParaRPr lang="en-US" sz="1500" dirty="0"/>
          </a:p>
        </p:txBody>
      </p:sp>
      <p:sp>
        <p:nvSpPr>
          <p:cNvPr id="40" name="milestone 2"/>
          <p:cNvSpPr/>
          <p:nvPr/>
        </p:nvSpPr>
        <p:spPr>
          <a:xfrm>
            <a:off x="9692640" y="4526280"/>
            <a:ext cx="548640" cy="548640"/>
          </a:xfrm>
          <a:prstGeom prst="ellipse">
            <a:avLst/>
          </a:prstGeom>
          <a:solidFill>
            <a:srgbClr val="FFFFFF"/>
          </a:solidFill>
          <a:ln w="25400">
            <a:solidFill>
              <a:srgbClr val="4472C4"/>
            </a:solidFill>
            <a:prstDash val="solid"/>
          </a:ln>
        </p:spPr>
      </p:sp>
      <p:pic>
        <p:nvPicPr>
          <p:cNvPr id="41" name="milestone icon 2" descr="/NAS/SJ/POSTECH/nlp/figs/icons/code.png">    </p:cNvPr>
          <p:cNvPicPr>
            <a:picLocks noChangeAspect="1"/>
          </p:cNvPicPr>
          <p:nvPr/>
        </p:nvPicPr>
        <p:blipFill>
          <a:blip r:embed="rId9"/>
          <a:stretch>
            <a:fillRect/>
          </a:stretch>
        </p:blipFill>
        <p:spPr>
          <a:xfrm>
            <a:off x="9793224" y="4626864"/>
            <a:ext cx="347472" cy="347472"/>
          </a:xfrm>
          <a:prstGeom prst="rect">
            <a:avLst/>
          </a:prstGeom>
        </p:spPr>
      </p:pic>
      <p:sp>
        <p:nvSpPr>
          <p:cNvPr id="42" name="Text 31"/>
          <p:cNvSpPr txBox="1"/>
          <p:nvPr/>
        </p:nvSpPr>
        <p:spPr>
          <a:xfrm>
            <a:off x="83210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hints for every problem type; report and code</a:t>
            </a:r>
            <a:endParaRPr lang="en-US" sz="1500" dirty="0"/>
          </a:p>
        </p:txBody>
      </p:sp>
      <p:sp>
        <p:nvSpPr>
          <p:cNvPr id="43"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Thank you: questions?</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b="1" dirty="0">
                <a:solidFill>
                  <a:srgbClr val="4472C4"/>
                </a:solidFill>
              </a:rPr>
              <a:t>Expected questions, by the talk slide that raises them → extra page (type the number and press Enter)</a:t>
            </a:r>
            <a:endParaRPr lang="en-US" sz="1600" dirty="0"/>
          </a:p>
        </p:txBody>
      </p:sp>
      <p:sp>
        <p:nvSpPr>
          <p:cNvPr id="4" name="box "/>
          <p:cNvSpPr/>
          <p:nvPr/>
        </p:nvSpPr>
        <p:spPr>
          <a:xfrm>
            <a:off x="548640" y="1645920"/>
            <a:ext cx="5440680" cy="402336"/>
          </a:xfrm>
          <a:prstGeom prst="roundRect">
            <a:avLst>
              <a:gd name="adj" fmla="val 13636"/>
            </a:avLst>
          </a:prstGeom>
          <a:solidFill>
            <a:srgbClr val="F2F2F2"/>
          </a:solidFill>
          <a:ln w="9525">
            <a:solidFill>
              <a:srgbClr val="BFBFBF"/>
            </a:solidFill>
            <a:prstDash val="solid"/>
          </a:ln>
        </p:spPr>
      </p:sp>
      <p:sp>
        <p:nvSpPr>
          <p:cNvPr id="5" name="Text 3"/>
          <p:cNvSpPr txBox="1"/>
          <p:nvPr/>
        </p:nvSpPr>
        <p:spPr>
          <a:xfrm>
            <a:off x="621792" y="16459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6" name="from slide 2"/>
          <p:cNvSpPr/>
          <p:nvPr/>
        </p:nvSpPr>
        <p:spPr>
          <a:xfrm>
            <a:off x="621792" y="1700784"/>
            <a:ext cx="777240" cy="292608"/>
          </a:xfrm>
          <a:prstGeom prst="roundRect">
            <a:avLst>
              <a:gd name="adj" fmla="val 18750"/>
            </a:avLst>
          </a:prstGeom>
          <a:solidFill>
            <a:srgbClr val="D9D9D9"/>
          </a:solidFill>
          <a:ln w="12700">
            <a:solidFill>
              <a:srgbClr val="D9D9D9"/>
            </a:solidFill>
            <a:prstDash val="solid"/>
          </a:ln>
        </p:spPr>
      </p:sp>
      <p:sp>
        <p:nvSpPr>
          <p:cNvPr id="7" name="Text 5"/>
          <p:cNvSpPr txBox="1"/>
          <p:nvPr/>
        </p:nvSpPr>
        <p:spPr>
          <a:xfrm>
            <a:off x="621792" y="17007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2</a:t>
            </a:r>
            <a:endParaRPr lang="en-US" sz="1400" dirty="0"/>
          </a:p>
        </p:txBody>
      </p:sp>
      <p:sp>
        <p:nvSpPr>
          <p:cNvPr id="8" name="Text 6"/>
          <p:cNvSpPr txBox="1"/>
          <p:nvPr/>
        </p:nvSpPr>
        <p:spPr>
          <a:xfrm>
            <a:off x="1508760" y="16459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Why these problems? How do they differ?</a:t>
            </a:r>
            <a:endParaRPr lang="en-US" sz="1400" dirty="0"/>
          </a:p>
        </p:txBody>
      </p:sp>
      <p:sp>
        <p:nvSpPr>
          <p:cNvPr id="9" name="page why"/>
          <p:cNvSpPr/>
          <p:nvPr/>
        </p:nvSpPr>
        <p:spPr>
          <a:xfrm>
            <a:off x="5449824" y="1691640"/>
            <a:ext cx="438912" cy="310896"/>
          </a:xfrm>
          <a:prstGeom prst="roundRect">
            <a:avLst>
              <a:gd name="adj" fmla="val 23529"/>
            </a:avLst>
          </a:prstGeom>
          <a:solidFill>
            <a:srgbClr val="4472C4"/>
          </a:solidFill>
          <a:ln w="12700">
            <a:solidFill>
              <a:srgbClr val="4472C4"/>
            </a:solidFill>
            <a:prstDash val="solid"/>
          </a:ln>
        </p:spPr>
      </p:sp>
      <p:sp>
        <p:nvSpPr>
          <p:cNvPr id="10" name="Text 8"/>
          <p:cNvSpPr txBox="1"/>
          <p:nvPr/>
        </p:nvSpPr>
        <p:spPr>
          <a:xfrm>
            <a:off x="5449824" y="16916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10</a:t>
            </a:r>
            <a:endParaRPr lang="en-US" sz="1400" dirty="0"/>
          </a:p>
        </p:txBody>
      </p:sp>
      <p:sp>
        <p:nvSpPr>
          <p:cNvPr id="11" name="box "/>
          <p:cNvSpPr/>
          <p:nvPr/>
        </p:nvSpPr>
        <p:spPr>
          <a:xfrm>
            <a:off x="548640" y="2103120"/>
            <a:ext cx="5440680" cy="402336"/>
          </a:xfrm>
          <a:prstGeom prst="roundRect">
            <a:avLst>
              <a:gd name="adj" fmla="val 13636"/>
            </a:avLst>
          </a:prstGeom>
          <a:solidFill>
            <a:srgbClr val="F2F2F2"/>
          </a:solidFill>
          <a:ln w="9525">
            <a:solidFill>
              <a:srgbClr val="BFBFBF"/>
            </a:solidFill>
            <a:prstDash val="solid"/>
          </a:ln>
        </p:spPr>
      </p:sp>
      <p:sp>
        <p:nvSpPr>
          <p:cNvPr id="12" name="Text 10"/>
          <p:cNvSpPr txBox="1"/>
          <p:nvPr/>
        </p:nvSpPr>
        <p:spPr>
          <a:xfrm>
            <a:off x="621792" y="21031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13" name="from slide 2"/>
          <p:cNvSpPr/>
          <p:nvPr/>
        </p:nvSpPr>
        <p:spPr>
          <a:xfrm>
            <a:off x="621792" y="2157984"/>
            <a:ext cx="777240" cy="292608"/>
          </a:xfrm>
          <a:prstGeom prst="roundRect">
            <a:avLst>
              <a:gd name="adj" fmla="val 18750"/>
            </a:avLst>
          </a:prstGeom>
          <a:solidFill>
            <a:srgbClr val="D9D9D9"/>
          </a:solidFill>
          <a:ln w="12700">
            <a:solidFill>
              <a:srgbClr val="D9D9D9"/>
            </a:solidFill>
            <a:prstDash val="solid"/>
          </a:ln>
        </p:spPr>
      </p:sp>
      <p:sp>
        <p:nvSpPr>
          <p:cNvPr id="14" name="Text 12"/>
          <p:cNvSpPr txBox="1"/>
          <p:nvPr/>
        </p:nvSpPr>
        <p:spPr>
          <a:xfrm>
            <a:off x="621792" y="21579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2</a:t>
            </a:r>
            <a:endParaRPr lang="en-US" sz="1400" dirty="0"/>
          </a:p>
        </p:txBody>
      </p:sp>
      <p:sp>
        <p:nvSpPr>
          <p:cNvPr id="15" name="Text 13"/>
          <p:cNvSpPr txBox="1"/>
          <p:nvPr/>
        </p:nvSpPr>
        <p:spPr>
          <a:xfrm>
            <a:off x="1508760" y="2103120"/>
            <a:ext cx="3886200" cy="402336"/>
          </a:xfrm>
          <a:prstGeom prst="rect">
            <a:avLst/>
          </a:prstGeom>
          <a:noFill/>
          <a:ln/>
        </p:spPr>
        <p:txBody>
          <a:bodyPr wrap="square" lIns="0" tIns="0" rIns="0" bIns="0" rtlCol="0" anchor="ctr"/>
          <a:lstStyle/>
          <a:p>
            <a:pPr indent="0" marL="0">
              <a:buNone/>
            </a:pPr>
            <a:r>
              <a:rPr lang="en-US" sz="1400" dirty="0">
                <a:solidFill>
                  <a:schemeClr val="tx1"/>
                </a:solidFill>
              </a:rPr>
              <a:t>Do the findings cover every kind?</a:t>
            </a:r>
            <a:endParaRPr lang="en-US" sz="1400" dirty="0"/>
          </a:p>
        </p:txBody>
      </p:sp>
      <p:sp>
        <p:nvSpPr>
          <p:cNvPr id="16" name="page coverage"/>
          <p:cNvSpPr/>
          <p:nvPr/>
        </p:nvSpPr>
        <p:spPr>
          <a:xfrm>
            <a:off x="5449824" y="2148840"/>
            <a:ext cx="438912" cy="310896"/>
          </a:xfrm>
          <a:prstGeom prst="roundRect">
            <a:avLst>
              <a:gd name="adj" fmla="val 23529"/>
            </a:avLst>
          </a:prstGeom>
          <a:solidFill>
            <a:srgbClr val="4472C4"/>
          </a:solidFill>
          <a:ln w="12700">
            <a:solidFill>
              <a:srgbClr val="4472C4"/>
            </a:solidFill>
            <a:prstDash val="solid"/>
          </a:ln>
        </p:spPr>
      </p:sp>
      <p:sp>
        <p:nvSpPr>
          <p:cNvPr id="17" name="Text 15"/>
          <p:cNvSpPr txBox="1"/>
          <p:nvPr/>
        </p:nvSpPr>
        <p:spPr>
          <a:xfrm>
            <a:off x="5449824" y="21488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11</a:t>
            </a:r>
            <a:endParaRPr lang="en-US" sz="1400" dirty="0"/>
          </a:p>
        </p:txBody>
      </p:sp>
      <p:sp>
        <p:nvSpPr>
          <p:cNvPr id="18" name="box "/>
          <p:cNvSpPr/>
          <p:nvPr/>
        </p:nvSpPr>
        <p:spPr>
          <a:xfrm>
            <a:off x="548640" y="2560320"/>
            <a:ext cx="5440680" cy="402336"/>
          </a:xfrm>
          <a:prstGeom prst="roundRect">
            <a:avLst>
              <a:gd name="adj" fmla="val 13636"/>
            </a:avLst>
          </a:prstGeom>
          <a:solidFill>
            <a:srgbClr val="F2F2F2"/>
          </a:solidFill>
          <a:ln w="9525">
            <a:solidFill>
              <a:srgbClr val="BFBFBF"/>
            </a:solidFill>
            <a:prstDash val="solid"/>
          </a:ln>
        </p:spPr>
      </p:sp>
      <p:sp>
        <p:nvSpPr>
          <p:cNvPr id="19" name="Text 17"/>
          <p:cNvSpPr txBox="1"/>
          <p:nvPr/>
        </p:nvSpPr>
        <p:spPr>
          <a:xfrm>
            <a:off x="621792" y="25603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20" name="from slide 2"/>
          <p:cNvSpPr/>
          <p:nvPr/>
        </p:nvSpPr>
        <p:spPr>
          <a:xfrm>
            <a:off x="621792" y="2615184"/>
            <a:ext cx="777240" cy="292608"/>
          </a:xfrm>
          <a:prstGeom prst="roundRect">
            <a:avLst>
              <a:gd name="adj" fmla="val 18750"/>
            </a:avLst>
          </a:prstGeom>
          <a:solidFill>
            <a:srgbClr val="D9D9D9"/>
          </a:solidFill>
          <a:ln w="12700">
            <a:solidFill>
              <a:srgbClr val="D9D9D9"/>
            </a:solidFill>
            <a:prstDash val="solid"/>
          </a:ln>
        </p:spPr>
      </p:sp>
      <p:sp>
        <p:nvSpPr>
          <p:cNvPr id="21" name="Text 19"/>
          <p:cNvSpPr txBox="1"/>
          <p:nvPr/>
        </p:nvSpPr>
        <p:spPr>
          <a:xfrm>
            <a:off x="621792" y="26151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2</a:t>
            </a:r>
            <a:endParaRPr lang="en-US" sz="1400" dirty="0"/>
          </a:p>
        </p:txBody>
      </p:sp>
      <p:sp>
        <p:nvSpPr>
          <p:cNvPr id="22" name="Text 20"/>
          <p:cNvSpPr txBox="1"/>
          <p:nvPr/>
        </p:nvSpPr>
        <p:spPr>
          <a:xfrm>
            <a:off x="1508760" y="2560320"/>
            <a:ext cx="3886200" cy="402336"/>
          </a:xfrm>
          <a:prstGeom prst="rect">
            <a:avLst/>
          </a:prstGeom>
          <a:noFill/>
          <a:ln/>
        </p:spPr>
        <p:txBody>
          <a:bodyPr wrap="square" lIns="0" tIns="0" rIns="0" bIns="0" rtlCol="0" anchor="ctr"/>
          <a:lstStyle/>
          <a:p>
            <a:pPr indent="0" marL="0">
              <a:buNone/>
            </a:pPr>
            <a:r>
              <a:rPr lang="en-US" sz="1400" dirty="0">
                <a:solidFill>
                  <a:schemeClr val="tx1"/>
                </a:solidFill>
              </a:rPr>
              <a:t>How hard are the problems?</a:t>
            </a:r>
            <a:endParaRPr lang="en-US" sz="1400" dirty="0"/>
          </a:p>
        </p:txBody>
      </p:sp>
      <p:sp>
        <p:nvSpPr>
          <p:cNvPr id="23" name="page kinds"/>
          <p:cNvSpPr/>
          <p:nvPr/>
        </p:nvSpPr>
        <p:spPr>
          <a:xfrm>
            <a:off x="5449824" y="2606040"/>
            <a:ext cx="438912" cy="310896"/>
          </a:xfrm>
          <a:prstGeom prst="roundRect">
            <a:avLst>
              <a:gd name="adj" fmla="val 23529"/>
            </a:avLst>
          </a:prstGeom>
          <a:solidFill>
            <a:srgbClr val="4472C4"/>
          </a:solidFill>
          <a:ln w="12700">
            <a:solidFill>
              <a:srgbClr val="4472C4"/>
            </a:solidFill>
            <a:prstDash val="solid"/>
          </a:ln>
        </p:spPr>
      </p:sp>
      <p:sp>
        <p:nvSpPr>
          <p:cNvPr id="24" name="Text 22"/>
          <p:cNvSpPr txBox="1"/>
          <p:nvPr/>
        </p:nvSpPr>
        <p:spPr>
          <a:xfrm>
            <a:off x="5449824" y="26060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12</a:t>
            </a:r>
            <a:endParaRPr lang="en-US" sz="1400" dirty="0"/>
          </a:p>
        </p:txBody>
      </p:sp>
      <p:sp>
        <p:nvSpPr>
          <p:cNvPr id="25" name="box "/>
          <p:cNvSpPr/>
          <p:nvPr/>
        </p:nvSpPr>
        <p:spPr>
          <a:xfrm>
            <a:off x="548640" y="3017520"/>
            <a:ext cx="5440680" cy="402336"/>
          </a:xfrm>
          <a:prstGeom prst="roundRect">
            <a:avLst>
              <a:gd name="adj" fmla="val 13636"/>
            </a:avLst>
          </a:prstGeom>
          <a:solidFill>
            <a:srgbClr val="F2F2F2"/>
          </a:solidFill>
          <a:ln w="9525">
            <a:solidFill>
              <a:srgbClr val="BFBFBF"/>
            </a:solidFill>
            <a:prstDash val="solid"/>
          </a:ln>
        </p:spPr>
      </p:sp>
      <p:sp>
        <p:nvSpPr>
          <p:cNvPr id="26" name="Text 24"/>
          <p:cNvSpPr txBox="1"/>
          <p:nvPr/>
        </p:nvSpPr>
        <p:spPr>
          <a:xfrm>
            <a:off x="621792" y="30175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27" name="from slide 4"/>
          <p:cNvSpPr/>
          <p:nvPr/>
        </p:nvSpPr>
        <p:spPr>
          <a:xfrm>
            <a:off x="621792" y="3072384"/>
            <a:ext cx="777240" cy="292608"/>
          </a:xfrm>
          <a:prstGeom prst="roundRect">
            <a:avLst>
              <a:gd name="adj" fmla="val 18750"/>
            </a:avLst>
          </a:prstGeom>
          <a:solidFill>
            <a:srgbClr val="D9D9D9"/>
          </a:solidFill>
          <a:ln w="12700">
            <a:solidFill>
              <a:srgbClr val="D9D9D9"/>
            </a:solidFill>
            <a:prstDash val="solid"/>
          </a:ln>
        </p:spPr>
      </p:sp>
      <p:sp>
        <p:nvSpPr>
          <p:cNvPr id="28" name="Text 26"/>
          <p:cNvSpPr txBox="1"/>
          <p:nvPr/>
        </p:nvSpPr>
        <p:spPr>
          <a:xfrm>
            <a:off x="621792" y="30723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4</a:t>
            </a:r>
            <a:endParaRPr lang="en-US" sz="1400" dirty="0"/>
          </a:p>
        </p:txBody>
      </p:sp>
      <p:sp>
        <p:nvSpPr>
          <p:cNvPr id="29" name="Text 27"/>
          <p:cNvSpPr txBox="1"/>
          <p:nvPr/>
        </p:nvSpPr>
        <p:spPr>
          <a:xfrm>
            <a:off x="1508760" y="30175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Why does helper code change the answer?</a:t>
            </a:r>
            <a:endParaRPr lang="en-US" sz="1400" dirty="0"/>
          </a:p>
        </p:txBody>
      </p:sp>
      <p:sp>
        <p:nvSpPr>
          <p:cNvPr id="30" name="page two"/>
          <p:cNvSpPr/>
          <p:nvPr/>
        </p:nvSpPr>
        <p:spPr>
          <a:xfrm>
            <a:off x="5449824" y="3063240"/>
            <a:ext cx="438912" cy="310896"/>
          </a:xfrm>
          <a:prstGeom prst="roundRect">
            <a:avLst>
              <a:gd name="adj" fmla="val 23529"/>
            </a:avLst>
          </a:prstGeom>
          <a:solidFill>
            <a:srgbClr val="4472C4"/>
          </a:solidFill>
          <a:ln w="12700">
            <a:solidFill>
              <a:srgbClr val="4472C4"/>
            </a:solidFill>
            <a:prstDash val="solid"/>
          </a:ln>
        </p:spPr>
      </p:sp>
      <p:sp>
        <p:nvSpPr>
          <p:cNvPr id="31" name="Text 29"/>
          <p:cNvSpPr txBox="1"/>
          <p:nvPr/>
        </p:nvSpPr>
        <p:spPr>
          <a:xfrm>
            <a:off x="5449824" y="30632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13</a:t>
            </a:r>
            <a:endParaRPr lang="en-US" sz="1400" dirty="0"/>
          </a:p>
        </p:txBody>
      </p:sp>
      <p:sp>
        <p:nvSpPr>
          <p:cNvPr id="32" name="box "/>
          <p:cNvSpPr/>
          <p:nvPr/>
        </p:nvSpPr>
        <p:spPr>
          <a:xfrm>
            <a:off x="548640" y="3474720"/>
            <a:ext cx="5440680" cy="402336"/>
          </a:xfrm>
          <a:prstGeom prst="roundRect">
            <a:avLst>
              <a:gd name="adj" fmla="val 13636"/>
            </a:avLst>
          </a:prstGeom>
          <a:solidFill>
            <a:srgbClr val="F2F2F2"/>
          </a:solidFill>
          <a:ln w="9525">
            <a:solidFill>
              <a:srgbClr val="BFBFBF"/>
            </a:solidFill>
            <a:prstDash val="solid"/>
          </a:ln>
        </p:spPr>
      </p:sp>
      <p:sp>
        <p:nvSpPr>
          <p:cNvPr id="33" name="Text 31"/>
          <p:cNvSpPr txBox="1"/>
          <p:nvPr/>
        </p:nvSpPr>
        <p:spPr>
          <a:xfrm>
            <a:off x="621792" y="34747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34" name="from slide 5"/>
          <p:cNvSpPr/>
          <p:nvPr/>
        </p:nvSpPr>
        <p:spPr>
          <a:xfrm>
            <a:off x="621792" y="3529584"/>
            <a:ext cx="777240" cy="292608"/>
          </a:xfrm>
          <a:prstGeom prst="roundRect">
            <a:avLst>
              <a:gd name="adj" fmla="val 18750"/>
            </a:avLst>
          </a:prstGeom>
          <a:solidFill>
            <a:srgbClr val="D9D9D9"/>
          </a:solidFill>
          <a:ln w="12700">
            <a:solidFill>
              <a:srgbClr val="D9D9D9"/>
            </a:solidFill>
            <a:prstDash val="solid"/>
          </a:ln>
        </p:spPr>
      </p:sp>
      <p:sp>
        <p:nvSpPr>
          <p:cNvPr id="35" name="Text 33"/>
          <p:cNvSpPr txBox="1"/>
          <p:nvPr/>
        </p:nvSpPr>
        <p:spPr>
          <a:xfrm>
            <a:off x="621792" y="35295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5</a:t>
            </a:r>
            <a:endParaRPr lang="en-US" sz="1400" dirty="0"/>
          </a:p>
        </p:txBody>
      </p:sp>
      <p:sp>
        <p:nvSpPr>
          <p:cNvPr id="36" name="Text 34"/>
          <p:cNvSpPr txBox="1"/>
          <p:nvPr/>
        </p:nvSpPr>
        <p:spPr>
          <a:xfrm>
            <a:off x="1508760" y="34747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What exactly is the hint? Isn't it the answer?</a:t>
            </a:r>
            <a:endParaRPr lang="en-US" sz="1400" dirty="0"/>
          </a:p>
        </p:txBody>
      </p:sp>
      <p:sp>
        <p:nvSpPr>
          <p:cNvPr id="37" name="page fact"/>
          <p:cNvSpPr/>
          <p:nvPr/>
        </p:nvSpPr>
        <p:spPr>
          <a:xfrm>
            <a:off x="5449824" y="3520440"/>
            <a:ext cx="438912" cy="310896"/>
          </a:xfrm>
          <a:prstGeom prst="roundRect">
            <a:avLst>
              <a:gd name="adj" fmla="val 23529"/>
            </a:avLst>
          </a:prstGeom>
          <a:solidFill>
            <a:srgbClr val="4472C4"/>
          </a:solidFill>
          <a:ln w="12700">
            <a:solidFill>
              <a:srgbClr val="4472C4"/>
            </a:solidFill>
            <a:prstDash val="solid"/>
          </a:ln>
        </p:spPr>
      </p:sp>
      <p:sp>
        <p:nvSpPr>
          <p:cNvPr id="38" name="Text 36"/>
          <p:cNvSpPr txBox="1"/>
          <p:nvPr/>
        </p:nvSpPr>
        <p:spPr>
          <a:xfrm>
            <a:off x="5449824" y="35204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14</a:t>
            </a:r>
            <a:endParaRPr lang="en-US" sz="1400" dirty="0"/>
          </a:p>
        </p:txBody>
      </p:sp>
      <p:sp>
        <p:nvSpPr>
          <p:cNvPr id="39" name="box "/>
          <p:cNvSpPr/>
          <p:nvPr/>
        </p:nvSpPr>
        <p:spPr>
          <a:xfrm>
            <a:off x="548640" y="3931920"/>
            <a:ext cx="5440680" cy="402336"/>
          </a:xfrm>
          <a:prstGeom prst="roundRect">
            <a:avLst>
              <a:gd name="adj" fmla="val 13636"/>
            </a:avLst>
          </a:prstGeom>
          <a:solidFill>
            <a:srgbClr val="F2F2F2"/>
          </a:solidFill>
          <a:ln w="9525">
            <a:solidFill>
              <a:srgbClr val="BFBFBF"/>
            </a:solidFill>
            <a:prstDash val="solid"/>
          </a:ln>
        </p:spPr>
      </p:sp>
      <p:sp>
        <p:nvSpPr>
          <p:cNvPr id="40" name="Text 38"/>
          <p:cNvSpPr txBox="1"/>
          <p:nvPr/>
        </p:nvSpPr>
        <p:spPr>
          <a:xfrm>
            <a:off x="621792" y="39319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41" name="from slide 5"/>
          <p:cNvSpPr/>
          <p:nvPr/>
        </p:nvSpPr>
        <p:spPr>
          <a:xfrm>
            <a:off x="621792" y="3986784"/>
            <a:ext cx="777240" cy="292608"/>
          </a:xfrm>
          <a:prstGeom prst="roundRect">
            <a:avLst>
              <a:gd name="adj" fmla="val 18750"/>
            </a:avLst>
          </a:prstGeom>
          <a:solidFill>
            <a:srgbClr val="D9D9D9"/>
          </a:solidFill>
          <a:ln w="12700">
            <a:solidFill>
              <a:srgbClr val="D9D9D9"/>
            </a:solidFill>
            <a:prstDash val="solid"/>
          </a:ln>
        </p:spPr>
      </p:sp>
      <p:sp>
        <p:nvSpPr>
          <p:cNvPr id="42" name="Text 40"/>
          <p:cNvSpPr txBox="1"/>
          <p:nvPr/>
        </p:nvSpPr>
        <p:spPr>
          <a:xfrm>
            <a:off x="621792" y="39867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5</a:t>
            </a:r>
            <a:endParaRPr lang="en-US" sz="1400" dirty="0"/>
          </a:p>
        </p:txBody>
      </p:sp>
      <p:sp>
        <p:nvSpPr>
          <p:cNvPr id="43" name="Text 41"/>
          <p:cNvSpPr txBox="1"/>
          <p:nvPr/>
        </p:nvSpPr>
        <p:spPr>
          <a:xfrm>
            <a:off x="1508760" y="3931920"/>
            <a:ext cx="3886200" cy="402336"/>
          </a:xfrm>
          <a:prstGeom prst="rect">
            <a:avLst/>
          </a:prstGeom>
          <a:noFill/>
          <a:ln/>
        </p:spPr>
        <p:txBody>
          <a:bodyPr wrap="square" lIns="0" tIns="0" rIns="0" bIns="0" rtlCol="0" anchor="ctr"/>
          <a:lstStyle/>
          <a:p>
            <a:pPr indent="0" marL="0">
              <a:buNone/>
            </a:pPr>
            <a:r>
              <a:rPr lang="en-US" sz="1400" dirty="0">
                <a:solidFill>
                  <a:schemeClr val="tx1"/>
                </a:solidFill>
              </a:rPr>
              <a:t>Can retrieval (RAG) find the hint?</a:t>
            </a:r>
            <a:endParaRPr lang="en-US" sz="1400" dirty="0"/>
          </a:p>
        </p:txBody>
      </p:sp>
      <p:sp>
        <p:nvSpPr>
          <p:cNvPr id="44" name="page rag"/>
          <p:cNvSpPr/>
          <p:nvPr/>
        </p:nvSpPr>
        <p:spPr>
          <a:xfrm>
            <a:off x="5449824" y="3977640"/>
            <a:ext cx="438912" cy="310896"/>
          </a:xfrm>
          <a:prstGeom prst="roundRect">
            <a:avLst>
              <a:gd name="adj" fmla="val 23529"/>
            </a:avLst>
          </a:prstGeom>
          <a:solidFill>
            <a:srgbClr val="4472C4"/>
          </a:solidFill>
          <a:ln w="12700">
            <a:solidFill>
              <a:srgbClr val="4472C4"/>
            </a:solidFill>
            <a:prstDash val="solid"/>
          </a:ln>
        </p:spPr>
      </p:sp>
      <p:sp>
        <p:nvSpPr>
          <p:cNvPr id="45" name="Text 43"/>
          <p:cNvSpPr txBox="1"/>
          <p:nvPr/>
        </p:nvSpPr>
        <p:spPr>
          <a:xfrm>
            <a:off x="5449824" y="39776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15</a:t>
            </a:r>
            <a:endParaRPr lang="en-US" sz="1400" dirty="0"/>
          </a:p>
        </p:txBody>
      </p:sp>
      <p:sp>
        <p:nvSpPr>
          <p:cNvPr id="46" name="box "/>
          <p:cNvSpPr/>
          <p:nvPr/>
        </p:nvSpPr>
        <p:spPr>
          <a:xfrm>
            <a:off x="548640" y="4389120"/>
            <a:ext cx="5440680" cy="402336"/>
          </a:xfrm>
          <a:prstGeom prst="roundRect">
            <a:avLst>
              <a:gd name="adj" fmla="val 13636"/>
            </a:avLst>
          </a:prstGeom>
          <a:solidFill>
            <a:srgbClr val="F2F2F2"/>
          </a:solidFill>
          <a:ln w="9525">
            <a:solidFill>
              <a:srgbClr val="BFBFBF"/>
            </a:solidFill>
            <a:prstDash val="solid"/>
          </a:ln>
        </p:spPr>
      </p:sp>
      <p:sp>
        <p:nvSpPr>
          <p:cNvPr id="47" name="Text 45"/>
          <p:cNvSpPr txBox="1"/>
          <p:nvPr/>
        </p:nvSpPr>
        <p:spPr>
          <a:xfrm>
            <a:off x="621792" y="43891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48" name="from slide 5"/>
          <p:cNvSpPr/>
          <p:nvPr/>
        </p:nvSpPr>
        <p:spPr>
          <a:xfrm>
            <a:off x="621792" y="4443984"/>
            <a:ext cx="777240" cy="292608"/>
          </a:xfrm>
          <a:prstGeom prst="roundRect">
            <a:avLst>
              <a:gd name="adj" fmla="val 18750"/>
            </a:avLst>
          </a:prstGeom>
          <a:solidFill>
            <a:srgbClr val="D9D9D9"/>
          </a:solidFill>
          <a:ln w="12700">
            <a:solidFill>
              <a:srgbClr val="D9D9D9"/>
            </a:solidFill>
            <a:prstDash val="solid"/>
          </a:ln>
        </p:spPr>
      </p:sp>
      <p:sp>
        <p:nvSpPr>
          <p:cNvPr id="49" name="Text 47"/>
          <p:cNvSpPr txBox="1"/>
          <p:nvPr/>
        </p:nvSpPr>
        <p:spPr>
          <a:xfrm>
            <a:off x="621792" y="44439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5</a:t>
            </a:r>
            <a:endParaRPr lang="en-US" sz="1400" dirty="0"/>
          </a:p>
        </p:txBody>
      </p:sp>
      <p:sp>
        <p:nvSpPr>
          <p:cNvPr id="50" name="Text 48"/>
          <p:cNvSpPr txBox="1"/>
          <p:nvPr/>
        </p:nvSpPr>
        <p:spPr>
          <a:xfrm>
            <a:off x="1508760" y="43891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Why can thinking make it worse?</a:t>
            </a:r>
            <a:endParaRPr lang="en-US" sz="1400" dirty="0"/>
          </a:p>
        </p:txBody>
      </p:sp>
      <p:sp>
        <p:nvSpPr>
          <p:cNvPr id="51" name="page think"/>
          <p:cNvSpPr/>
          <p:nvPr/>
        </p:nvSpPr>
        <p:spPr>
          <a:xfrm>
            <a:off x="5449824" y="4434840"/>
            <a:ext cx="438912" cy="310896"/>
          </a:xfrm>
          <a:prstGeom prst="roundRect">
            <a:avLst>
              <a:gd name="adj" fmla="val 23529"/>
            </a:avLst>
          </a:prstGeom>
          <a:solidFill>
            <a:srgbClr val="4472C4"/>
          </a:solidFill>
          <a:ln w="12700">
            <a:solidFill>
              <a:srgbClr val="4472C4"/>
            </a:solidFill>
            <a:prstDash val="solid"/>
          </a:ln>
        </p:spPr>
      </p:sp>
      <p:sp>
        <p:nvSpPr>
          <p:cNvPr id="52" name="Text 50"/>
          <p:cNvSpPr txBox="1"/>
          <p:nvPr/>
        </p:nvSpPr>
        <p:spPr>
          <a:xfrm>
            <a:off x="5449824" y="44348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16</a:t>
            </a:r>
            <a:endParaRPr lang="en-US" sz="1400" dirty="0"/>
          </a:p>
        </p:txBody>
      </p:sp>
      <p:sp>
        <p:nvSpPr>
          <p:cNvPr id="53" name="box "/>
          <p:cNvSpPr/>
          <p:nvPr/>
        </p:nvSpPr>
        <p:spPr>
          <a:xfrm>
            <a:off x="548640" y="4846320"/>
            <a:ext cx="5440680" cy="402336"/>
          </a:xfrm>
          <a:prstGeom prst="roundRect">
            <a:avLst>
              <a:gd name="adj" fmla="val 13636"/>
            </a:avLst>
          </a:prstGeom>
          <a:solidFill>
            <a:srgbClr val="F2F2F2"/>
          </a:solidFill>
          <a:ln w="9525">
            <a:solidFill>
              <a:srgbClr val="BFBFBF"/>
            </a:solidFill>
            <a:prstDash val="solid"/>
          </a:ln>
        </p:spPr>
      </p:sp>
      <p:sp>
        <p:nvSpPr>
          <p:cNvPr id="54" name="Text 52"/>
          <p:cNvSpPr txBox="1"/>
          <p:nvPr/>
        </p:nvSpPr>
        <p:spPr>
          <a:xfrm>
            <a:off x="621792" y="48463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55" name="from slide 6"/>
          <p:cNvSpPr/>
          <p:nvPr/>
        </p:nvSpPr>
        <p:spPr>
          <a:xfrm>
            <a:off x="621792" y="4901184"/>
            <a:ext cx="777240" cy="292608"/>
          </a:xfrm>
          <a:prstGeom prst="roundRect">
            <a:avLst>
              <a:gd name="adj" fmla="val 18750"/>
            </a:avLst>
          </a:prstGeom>
          <a:solidFill>
            <a:srgbClr val="D9D9D9"/>
          </a:solidFill>
          <a:ln w="12700">
            <a:solidFill>
              <a:srgbClr val="D9D9D9"/>
            </a:solidFill>
            <a:prstDash val="solid"/>
          </a:ln>
        </p:spPr>
      </p:sp>
      <p:sp>
        <p:nvSpPr>
          <p:cNvPr id="56" name="Text 54"/>
          <p:cNvSpPr txBox="1"/>
          <p:nvPr/>
        </p:nvSpPr>
        <p:spPr>
          <a:xfrm>
            <a:off x="621792" y="49011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6</a:t>
            </a:r>
            <a:endParaRPr lang="en-US" sz="1400" dirty="0"/>
          </a:p>
        </p:txBody>
      </p:sp>
      <p:sp>
        <p:nvSpPr>
          <p:cNvPr id="57" name="Text 55"/>
          <p:cNvSpPr txBox="1"/>
          <p:nvPr/>
        </p:nvSpPr>
        <p:spPr>
          <a:xfrm>
            <a:off x="1508760" y="48463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What if a wrong program passes the check?</a:t>
            </a:r>
            <a:endParaRPr lang="en-US" sz="1400" dirty="0"/>
          </a:p>
        </p:txBody>
      </p:sp>
      <p:sp>
        <p:nvSpPr>
          <p:cNvPr id="58" name="page leak"/>
          <p:cNvSpPr/>
          <p:nvPr/>
        </p:nvSpPr>
        <p:spPr>
          <a:xfrm>
            <a:off x="5449824" y="4892040"/>
            <a:ext cx="438912" cy="310896"/>
          </a:xfrm>
          <a:prstGeom prst="roundRect">
            <a:avLst>
              <a:gd name="adj" fmla="val 23529"/>
            </a:avLst>
          </a:prstGeom>
          <a:solidFill>
            <a:srgbClr val="4472C4"/>
          </a:solidFill>
          <a:ln w="12700">
            <a:solidFill>
              <a:srgbClr val="4472C4"/>
            </a:solidFill>
            <a:prstDash val="solid"/>
          </a:ln>
        </p:spPr>
      </p:sp>
      <p:sp>
        <p:nvSpPr>
          <p:cNvPr id="59" name="Text 57"/>
          <p:cNvSpPr txBox="1"/>
          <p:nvPr/>
        </p:nvSpPr>
        <p:spPr>
          <a:xfrm>
            <a:off x="5449824" y="48920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17</a:t>
            </a:r>
            <a:endParaRPr lang="en-US" sz="1400" dirty="0"/>
          </a:p>
        </p:txBody>
      </p:sp>
      <p:sp>
        <p:nvSpPr>
          <p:cNvPr id="60" name="box "/>
          <p:cNvSpPr/>
          <p:nvPr/>
        </p:nvSpPr>
        <p:spPr>
          <a:xfrm>
            <a:off x="548640" y="5303520"/>
            <a:ext cx="5440680" cy="402336"/>
          </a:xfrm>
          <a:prstGeom prst="roundRect">
            <a:avLst>
              <a:gd name="adj" fmla="val 13636"/>
            </a:avLst>
          </a:prstGeom>
          <a:solidFill>
            <a:srgbClr val="F2F2F2"/>
          </a:solidFill>
          <a:ln w="9525">
            <a:solidFill>
              <a:srgbClr val="BFBFBF"/>
            </a:solidFill>
            <a:prstDash val="solid"/>
          </a:ln>
        </p:spPr>
      </p:sp>
      <p:sp>
        <p:nvSpPr>
          <p:cNvPr id="61" name="Text 59"/>
          <p:cNvSpPr txBox="1"/>
          <p:nvPr/>
        </p:nvSpPr>
        <p:spPr>
          <a:xfrm>
            <a:off x="621792" y="53035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62" name="from slide 6"/>
          <p:cNvSpPr/>
          <p:nvPr/>
        </p:nvSpPr>
        <p:spPr>
          <a:xfrm>
            <a:off x="621792" y="5358384"/>
            <a:ext cx="777240" cy="292608"/>
          </a:xfrm>
          <a:prstGeom prst="roundRect">
            <a:avLst>
              <a:gd name="adj" fmla="val 18750"/>
            </a:avLst>
          </a:prstGeom>
          <a:solidFill>
            <a:srgbClr val="D9D9D9"/>
          </a:solidFill>
          <a:ln w="12700">
            <a:solidFill>
              <a:srgbClr val="D9D9D9"/>
            </a:solidFill>
            <a:prstDash val="solid"/>
          </a:ln>
        </p:spPr>
      </p:sp>
      <p:sp>
        <p:nvSpPr>
          <p:cNvPr id="63" name="Text 61"/>
          <p:cNvSpPr txBox="1"/>
          <p:nvPr/>
        </p:nvSpPr>
        <p:spPr>
          <a:xfrm>
            <a:off x="621792" y="53583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6</a:t>
            </a:r>
            <a:endParaRPr lang="en-US" sz="1400" dirty="0"/>
          </a:p>
        </p:txBody>
      </p:sp>
      <p:sp>
        <p:nvSpPr>
          <p:cNvPr id="64" name="Text 62"/>
          <p:cNvSpPr txBox="1"/>
          <p:nvPr/>
        </p:nvSpPr>
        <p:spPr>
          <a:xfrm>
            <a:off x="1508760" y="5303520"/>
            <a:ext cx="3886200" cy="402336"/>
          </a:xfrm>
          <a:prstGeom prst="rect">
            <a:avLst/>
          </a:prstGeom>
          <a:noFill/>
          <a:ln/>
        </p:spPr>
        <p:txBody>
          <a:bodyPr wrap="square" lIns="0" tIns="0" rIns="0" bIns="0" rtlCol="0" anchor="ctr"/>
          <a:lstStyle/>
          <a:p>
            <a:pPr indent="0" marL="0">
              <a:buNone/>
            </a:pPr>
            <a:r>
              <a:rPr lang="en-US" sz="1400" dirty="0">
                <a:solidFill>
                  <a:schemeClr val="tx1"/>
                </a:solidFill>
              </a:rPr>
              <a:t>Is there always a free check?</a:t>
            </a:r>
            <a:endParaRPr lang="en-US" sz="1400" dirty="0"/>
          </a:p>
        </p:txBody>
      </p:sp>
      <p:sp>
        <p:nvSpPr>
          <p:cNvPr id="65" name="page checks"/>
          <p:cNvSpPr/>
          <p:nvPr/>
        </p:nvSpPr>
        <p:spPr>
          <a:xfrm>
            <a:off x="5449824" y="5349240"/>
            <a:ext cx="438912" cy="310896"/>
          </a:xfrm>
          <a:prstGeom prst="roundRect">
            <a:avLst>
              <a:gd name="adj" fmla="val 23529"/>
            </a:avLst>
          </a:prstGeom>
          <a:solidFill>
            <a:srgbClr val="4472C4"/>
          </a:solidFill>
          <a:ln w="12700">
            <a:solidFill>
              <a:srgbClr val="4472C4"/>
            </a:solidFill>
            <a:prstDash val="solid"/>
          </a:ln>
        </p:spPr>
      </p:sp>
      <p:sp>
        <p:nvSpPr>
          <p:cNvPr id="66" name="Text 64"/>
          <p:cNvSpPr txBox="1"/>
          <p:nvPr/>
        </p:nvSpPr>
        <p:spPr>
          <a:xfrm>
            <a:off x="5449824" y="53492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18</a:t>
            </a:r>
            <a:endParaRPr lang="en-US" sz="1400" dirty="0"/>
          </a:p>
        </p:txBody>
      </p:sp>
      <p:sp>
        <p:nvSpPr>
          <p:cNvPr id="67" name="box "/>
          <p:cNvSpPr/>
          <p:nvPr/>
        </p:nvSpPr>
        <p:spPr>
          <a:xfrm>
            <a:off x="6172200" y="1645920"/>
            <a:ext cx="5440680" cy="402336"/>
          </a:xfrm>
          <a:prstGeom prst="roundRect">
            <a:avLst>
              <a:gd name="adj" fmla="val 13636"/>
            </a:avLst>
          </a:prstGeom>
          <a:solidFill>
            <a:srgbClr val="F2F2F2"/>
          </a:solidFill>
          <a:ln w="9525">
            <a:solidFill>
              <a:srgbClr val="BFBFBF"/>
            </a:solidFill>
            <a:prstDash val="solid"/>
          </a:ln>
        </p:spPr>
      </p:sp>
      <p:sp>
        <p:nvSpPr>
          <p:cNvPr id="68" name="Text 66"/>
          <p:cNvSpPr txBox="1"/>
          <p:nvPr/>
        </p:nvSpPr>
        <p:spPr>
          <a:xfrm>
            <a:off x="6245352" y="16459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69" name="from slide 7"/>
          <p:cNvSpPr/>
          <p:nvPr/>
        </p:nvSpPr>
        <p:spPr>
          <a:xfrm>
            <a:off x="6245352" y="1700784"/>
            <a:ext cx="777240" cy="292608"/>
          </a:xfrm>
          <a:prstGeom prst="roundRect">
            <a:avLst>
              <a:gd name="adj" fmla="val 18750"/>
            </a:avLst>
          </a:prstGeom>
          <a:solidFill>
            <a:srgbClr val="D9D9D9"/>
          </a:solidFill>
          <a:ln w="12700">
            <a:solidFill>
              <a:srgbClr val="D9D9D9"/>
            </a:solidFill>
            <a:prstDash val="solid"/>
          </a:ln>
        </p:spPr>
      </p:sp>
      <p:sp>
        <p:nvSpPr>
          <p:cNvPr id="70" name="Text 68"/>
          <p:cNvSpPr txBox="1"/>
          <p:nvPr/>
        </p:nvSpPr>
        <p:spPr>
          <a:xfrm>
            <a:off x="6245352" y="17007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7</a:t>
            </a:r>
            <a:endParaRPr lang="en-US" sz="1400" dirty="0"/>
          </a:p>
        </p:txBody>
      </p:sp>
      <p:sp>
        <p:nvSpPr>
          <p:cNvPr id="71" name="Text 69"/>
          <p:cNvSpPr txBox="1"/>
          <p:nvPr/>
        </p:nvSpPr>
        <p:spPr>
          <a:xfrm>
            <a:off x="7132320" y="16459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Who writes the hint?</a:t>
            </a:r>
            <a:endParaRPr lang="en-US" sz="1400" dirty="0"/>
          </a:p>
        </p:txBody>
      </p:sp>
      <p:sp>
        <p:nvSpPr>
          <p:cNvPr id="72" name="page auto"/>
          <p:cNvSpPr/>
          <p:nvPr/>
        </p:nvSpPr>
        <p:spPr>
          <a:xfrm>
            <a:off x="11073384" y="1691640"/>
            <a:ext cx="438912" cy="310896"/>
          </a:xfrm>
          <a:prstGeom prst="roundRect">
            <a:avLst>
              <a:gd name="adj" fmla="val 23529"/>
            </a:avLst>
          </a:prstGeom>
          <a:solidFill>
            <a:srgbClr val="4472C4"/>
          </a:solidFill>
          <a:ln w="12700">
            <a:solidFill>
              <a:srgbClr val="4472C4"/>
            </a:solidFill>
            <a:prstDash val="solid"/>
          </a:ln>
        </p:spPr>
      </p:sp>
      <p:sp>
        <p:nvSpPr>
          <p:cNvPr id="73" name="Text 71"/>
          <p:cNvSpPr txBox="1"/>
          <p:nvPr/>
        </p:nvSpPr>
        <p:spPr>
          <a:xfrm>
            <a:off x="11073384" y="16916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19</a:t>
            </a:r>
            <a:endParaRPr lang="en-US" sz="1400" dirty="0"/>
          </a:p>
        </p:txBody>
      </p:sp>
      <p:sp>
        <p:nvSpPr>
          <p:cNvPr id="74" name="box "/>
          <p:cNvSpPr/>
          <p:nvPr/>
        </p:nvSpPr>
        <p:spPr>
          <a:xfrm>
            <a:off x="6172200" y="2103120"/>
            <a:ext cx="5440680" cy="402336"/>
          </a:xfrm>
          <a:prstGeom prst="roundRect">
            <a:avLst>
              <a:gd name="adj" fmla="val 13636"/>
            </a:avLst>
          </a:prstGeom>
          <a:solidFill>
            <a:srgbClr val="F2F2F2"/>
          </a:solidFill>
          <a:ln w="9525">
            <a:solidFill>
              <a:srgbClr val="BFBFBF"/>
            </a:solidFill>
            <a:prstDash val="solid"/>
          </a:ln>
        </p:spPr>
      </p:sp>
      <p:sp>
        <p:nvSpPr>
          <p:cNvPr id="75" name="Text 73"/>
          <p:cNvSpPr txBox="1"/>
          <p:nvPr/>
        </p:nvSpPr>
        <p:spPr>
          <a:xfrm>
            <a:off x="6245352" y="21031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76" name="from slide 7"/>
          <p:cNvSpPr/>
          <p:nvPr/>
        </p:nvSpPr>
        <p:spPr>
          <a:xfrm>
            <a:off x="6245352" y="2157984"/>
            <a:ext cx="777240" cy="292608"/>
          </a:xfrm>
          <a:prstGeom prst="roundRect">
            <a:avLst>
              <a:gd name="adj" fmla="val 18750"/>
            </a:avLst>
          </a:prstGeom>
          <a:solidFill>
            <a:srgbClr val="D9D9D9"/>
          </a:solidFill>
          <a:ln w="12700">
            <a:solidFill>
              <a:srgbClr val="D9D9D9"/>
            </a:solidFill>
            <a:prstDash val="solid"/>
          </a:ln>
        </p:spPr>
      </p:sp>
      <p:sp>
        <p:nvSpPr>
          <p:cNvPr id="77" name="Text 75"/>
          <p:cNvSpPr txBox="1"/>
          <p:nvPr/>
        </p:nvSpPr>
        <p:spPr>
          <a:xfrm>
            <a:off x="6245352" y="21579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7</a:t>
            </a:r>
            <a:endParaRPr lang="en-US" sz="1400" dirty="0"/>
          </a:p>
        </p:txBody>
      </p:sp>
      <p:sp>
        <p:nvSpPr>
          <p:cNvPr id="78" name="Text 76"/>
          <p:cNvSpPr txBox="1"/>
          <p:nvPr/>
        </p:nvSpPr>
        <p:spPr>
          <a:xfrm>
            <a:off x="7132320" y="2103120"/>
            <a:ext cx="3886200" cy="402336"/>
          </a:xfrm>
          <a:prstGeom prst="rect">
            <a:avLst/>
          </a:prstGeom>
          <a:noFill/>
          <a:ln/>
        </p:spPr>
        <p:txBody>
          <a:bodyPr wrap="square" lIns="0" tIns="0" rIns="0" bIns="0" rtlCol="0" anchor="ctr"/>
          <a:lstStyle/>
          <a:p>
            <a:pPr indent="0" marL="0">
              <a:buNone/>
            </a:pPr>
            <a:r>
              <a:rPr lang="en-US" sz="1400" dirty="0">
                <a:solidFill>
                  <a:schemeClr val="tx1"/>
                </a:solidFill>
              </a:rPr>
              <a:t>Is 'think on the hardest' a weak baseline?</a:t>
            </a:r>
            <a:endParaRPr lang="en-US" sz="1400" dirty="0"/>
          </a:p>
        </p:txBody>
      </p:sp>
      <p:sp>
        <p:nvSpPr>
          <p:cNvPr id="79" name="page hard"/>
          <p:cNvSpPr/>
          <p:nvPr/>
        </p:nvSpPr>
        <p:spPr>
          <a:xfrm>
            <a:off x="11073384" y="2148840"/>
            <a:ext cx="438912" cy="310896"/>
          </a:xfrm>
          <a:prstGeom prst="roundRect">
            <a:avLst>
              <a:gd name="adj" fmla="val 23529"/>
            </a:avLst>
          </a:prstGeom>
          <a:solidFill>
            <a:srgbClr val="4472C4"/>
          </a:solidFill>
          <a:ln w="12700">
            <a:solidFill>
              <a:srgbClr val="4472C4"/>
            </a:solidFill>
            <a:prstDash val="solid"/>
          </a:ln>
        </p:spPr>
      </p:sp>
      <p:sp>
        <p:nvSpPr>
          <p:cNvPr id="80" name="Text 78"/>
          <p:cNvSpPr txBox="1"/>
          <p:nvPr/>
        </p:nvSpPr>
        <p:spPr>
          <a:xfrm>
            <a:off x="11073384" y="21488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20</a:t>
            </a:r>
            <a:endParaRPr lang="en-US" sz="1400" dirty="0"/>
          </a:p>
        </p:txBody>
      </p:sp>
      <p:sp>
        <p:nvSpPr>
          <p:cNvPr id="81" name="box "/>
          <p:cNvSpPr/>
          <p:nvPr/>
        </p:nvSpPr>
        <p:spPr>
          <a:xfrm>
            <a:off x="6172200" y="2560320"/>
            <a:ext cx="5440680" cy="402336"/>
          </a:xfrm>
          <a:prstGeom prst="roundRect">
            <a:avLst>
              <a:gd name="adj" fmla="val 13636"/>
            </a:avLst>
          </a:prstGeom>
          <a:solidFill>
            <a:srgbClr val="F2F2F2"/>
          </a:solidFill>
          <a:ln w="9525">
            <a:solidFill>
              <a:srgbClr val="BFBFBF"/>
            </a:solidFill>
            <a:prstDash val="solid"/>
          </a:ln>
        </p:spPr>
      </p:sp>
      <p:sp>
        <p:nvSpPr>
          <p:cNvPr id="82" name="Text 80"/>
          <p:cNvSpPr txBox="1"/>
          <p:nvPr/>
        </p:nvSpPr>
        <p:spPr>
          <a:xfrm>
            <a:off x="6245352" y="25603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83" name="from slide 7"/>
          <p:cNvSpPr/>
          <p:nvPr/>
        </p:nvSpPr>
        <p:spPr>
          <a:xfrm>
            <a:off x="6245352" y="2615184"/>
            <a:ext cx="777240" cy="292608"/>
          </a:xfrm>
          <a:prstGeom prst="roundRect">
            <a:avLst>
              <a:gd name="adj" fmla="val 18750"/>
            </a:avLst>
          </a:prstGeom>
          <a:solidFill>
            <a:srgbClr val="D9D9D9"/>
          </a:solidFill>
          <a:ln w="12700">
            <a:solidFill>
              <a:srgbClr val="D9D9D9"/>
            </a:solidFill>
            <a:prstDash val="solid"/>
          </a:ln>
        </p:spPr>
      </p:sp>
      <p:sp>
        <p:nvSpPr>
          <p:cNvPr id="84" name="Text 82"/>
          <p:cNvSpPr txBox="1"/>
          <p:nvPr/>
        </p:nvSpPr>
        <p:spPr>
          <a:xfrm>
            <a:off x="6245352" y="26151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7</a:t>
            </a:r>
            <a:endParaRPr lang="en-US" sz="1400" dirty="0"/>
          </a:p>
        </p:txBody>
      </p:sp>
      <p:sp>
        <p:nvSpPr>
          <p:cNvPr id="85" name="Text 83"/>
          <p:cNvSpPr txBox="1"/>
          <p:nvPr/>
        </p:nvSpPr>
        <p:spPr>
          <a:xfrm>
            <a:off x="7132320" y="25603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What if the same problem repeats?</a:t>
            </a:r>
            <a:endParaRPr lang="en-US" sz="1400" dirty="0"/>
          </a:p>
        </p:txBody>
      </p:sp>
      <p:sp>
        <p:nvSpPr>
          <p:cNvPr id="86" name="page reuse"/>
          <p:cNvSpPr/>
          <p:nvPr/>
        </p:nvSpPr>
        <p:spPr>
          <a:xfrm>
            <a:off x="11073384" y="2606040"/>
            <a:ext cx="438912" cy="310896"/>
          </a:xfrm>
          <a:prstGeom prst="roundRect">
            <a:avLst>
              <a:gd name="adj" fmla="val 23529"/>
            </a:avLst>
          </a:prstGeom>
          <a:solidFill>
            <a:srgbClr val="4472C4"/>
          </a:solidFill>
          <a:ln w="12700">
            <a:solidFill>
              <a:srgbClr val="4472C4"/>
            </a:solidFill>
            <a:prstDash val="solid"/>
          </a:ln>
        </p:spPr>
      </p:sp>
      <p:sp>
        <p:nvSpPr>
          <p:cNvPr id="87" name="Text 85"/>
          <p:cNvSpPr txBox="1"/>
          <p:nvPr/>
        </p:nvSpPr>
        <p:spPr>
          <a:xfrm>
            <a:off x="11073384" y="26060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29</a:t>
            </a:r>
            <a:endParaRPr lang="en-US" sz="1400" dirty="0"/>
          </a:p>
        </p:txBody>
      </p:sp>
      <p:sp>
        <p:nvSpPr>
          <p:cNvPr id="88" name="box "/>
          <p:cNvSpPr/>
          <p:nvPr/>
        </p:nvSpPr>
        <p:spPr>
          <a:xfrm>
            <a:off x="6172200" y="3017520"/>
            <a:ext cx="5440680" cy="402336"/>
          </a:xfrm>
          <a:prstGeom prst="roundRect">
            <a:avLst>
              <a:gd name="adj" fmla="val 13636"/>
            </a:avLst>
          </a:prstGeom>
          <a:solidFill>
            <a:srgbClr val="F2F2F2"/>
          </a:solidFill>
          <a:ln w="9525">
            <a:solidFill>
              <a:srgbClr val="BFBFBF"/>
            </a:solidFill>
            <a:prstDash val="solid"/>
          </a:ln>
        </p:spPr>
      </p:sp>
      <p:sp>
        <p:nvSpPr>
          <p:cNvPr id="89" name="Text 87"/>
          <p:cNvSpPr txBox="1"/>
          <p:nvPr/>
        </p:nvSpPr>
        <p:spPr>
          <a:xfrm>
            <a:off x="6245352" y="30175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90" name="from slide 7"/>
          <p:cNvSpPr/>
          <p:nvPr/>
        </p:nvSpPr>
        <p:spPr>
          <a:xfrm>
            <a:off x="6245352" y="3072384"/>
            <a:ext cx="777240" cy="292608"/>
          </a:xfrm>
          <a:prstGeom prst="roundRect">
            <a:avLst>
              <a:gd name="adj" fmla="val 18750"/>
            </a:avLst>
          </a:prstGeom>
          <a:solidFill>
            <a:srgbClr val="D9D9D9"/>
          </a:solidFill>
          <a:ln w="12700">
            <a:solidFill>
              <a:srgbClr val="D9D9D9"/>
            </a:solidFill>
            <a:prstDash val="solid"/>
          </a:ln>
        </p:spPr>
      </p:sp>
      <p:sp>
        <p:nvSpPr>
          <p:cNvPr id="91" name="Text 89"/>
          <p:cNvSpPr txBox="1"/>
          <p:nvPr/>
        </p:nvSpPr>
        <p:spPr>
          <a:xfrm>
            <a:off x="6245352" y="30723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7</a:t>
            </a:r>
            <a:endParaRPr lang="en-US" sz="1400" dirty="0"/>
          </a:p>
        </p:txBody>
      </p:sp>
      <p:sp>
        <p:nvSpPr>
          <p:cNvPr id="92" name="Text 90"/>
          <p:cNvSpPr txBox="1"/>
          <p:nvPr/>
        </p:nvSpPr>
        <p:spPr>
          <a:xfrm>
            <a:off x="7132320" y="30175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Why no hint for contest problems?</a:t>
            </a:r>
            <a:endParaRPr lang="en-US" sz="1400" dirty="0"/>
          </a:p>
        </p:txBody>
      </p:sp>
      <p:sp>
        <p:nvSpPr>
          <p:cNvPr id="93" name="page coverage"/>
          <p:cNvSpPr/>
          <p:nvPr/>
        </p:nvSpPr>
        <p:spPr>
          <a:xfrm>
            <a:off x="11073384" y="3063240"/>
            <a:ext cx="438912" cy="310896"/>
          </a:xfrm>
          <a:prstGeom prst="roundRect">
            <a:avLst>
              <a:gd name="adj" fmla="val 23529"/>
            </a:avLst>
          </a:prstGeom>
          <a:solidFill>
            <a:srgbClr val="4472C4"/>
          </a:solidFill>
          <a:ln w="12700">
            <a:solidFill>
              <a:srgbClr val="4472C4"/>
            </a:solidFill>
            <a:prstDash val="solid"/>
          </a:ln>
        </p:spPr>
      </p:sp>
      <p:sp>
        <p:nvSpPr>
          <p:cNvPr id="94" name="Text 92"/>
          <p:cNvSpPr txBox="1"/>
          <p:nvPr/>
        </p:nvSpPr>
        <p:spPr>
          <a:xfrm>
            <a:off x="11073384" y="30632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11</a:t>
            </a:r>
            <a:endParaRPr lang="en-US" sz="1400" dirty="0"/>
          </a:p>
        </p:txBody>
      </p:sp>
      <p:sp>
        <p:nvSpPr>
          <p:cNvPr id="95" name="box "/>
          <p:cNvSpPr/>
          <p:nvPr/>
        </p:nvSpPr>
        <p:spPr>
          <a:xfrm>
            <a:off x="6172200" y="3474720"/>
            <a:ext cx="5440680" cy="402336"/>
          </a:xfrm>
          <a:prstGeom prst="roundRect">
            <a:avLst>
              <a:gd name="adj" fmla="val 13636"/>
            </a:avLst>
          </a:prstGeom>
          <a:solidFill>
            <a:srgbClr val="F2F2F2"/>
          </a:solidFill>
          <a:ln w="9525">
            <a:solidFill>
              <a:srgbClr val="BFBFBF"/>
            </a:solidFill>
            <a:prstDash val="solid"/>
          </a:ln>
        </p:spPr>
      </p:sp>
      <p:sp>
        <p:nvSpPr>
          <p:cNvPr id="96" name="Text 94"/>
          <p:cNvSpPr txBox="1"/>
          <p:nvPr/>
        </p:nvSpPr>
        <p:spPr>
          <a:xfrm>
            <a:off x="6245352" y="34747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97" name="from slide 7"/>
          <p:cNvSpPr/>
          <p:nvPr/>
        </p:nvSpPr>
        <p:spPr>
          <a:xfrm>
            <a:off x="6245352" y="3529584"/>
            <a:ext cx="777240" cy="292608"/>
          </a:xfrm>
          <a:prstGeom prst="roundRect">
            <a:avLst>
              <a:gd name="adj" fmla="val 18750"/>
            </a:avLst>
          </a:prstGeom>
          <a:solidFill>
            <a:srgbClr val="D9D9D9"/>
          </a:solidFill>
          <a:ln w="12700">
            <a:solidFill>
              <a:srgbClr val="D9D9D9"/>
            </a:solidFill>
            <a:prstDash val="solid"/>
          </a:ln>
        </p:spPr>
      </p:sp>
      <p:sp>
        <p:nvSpPr>
          <p:cNvPr id="98" name="Text 96"/>
          <p:cNvSpPr txBox="1"/>
          <p:nvPr/>
        </p:nvSpPr>
        <p:spPr>
          <a:xfrm>
            <a:off x="6245352" y="35295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7</a:t>
            </a:r>
            <a:endParaRPr lang="en-US" sz="1400" dirty="0"/>
          </a:p>
        </p:txBody>
      </p:sp>
      <p:sp>
        <p:nvSpPr>
          <p:cNvPr id="99" name="Text 97"/>
          <p:cNvSpPr txBox="1"/>
          <p:nvPr/>
        </p:nvSpPr>
        <p:spPr>
          <a:xfrm>
            <a:off x="7132320" y="34747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Where does the recipe stop?</a:t>
            </a:r>
            <a:endParaRPr lang="en-US" sz="1400" dirty="0"/>
          </a:p>
        </p:txBody>
      </p:sp>
      <p:sp>
        <p:nvSpPr>
          <p:cNvPr id="100" name="page limits"/>
          <p:cNvSpPr/>
          <p:nvPr/>
        </p:nvSpPr>
        <p:spPr>
          <a:xfrm>
            <a:off x="11073384" y="3520440"/>
            <a:ext cx="438912" cy="310896"/>
          </a:xfrm>
          <a:prstGeom prst="roundRect">
            <a:avLst>
              <a:gd name="adj" fmla="val 23529"/>
            </a:avLst>
          </a:prstGeom>
          <a:solidFill>
            <a:srgbClr val="4472C4"/>
          </a:solidFill>
          <a:ln w="12700">
            <a:solidFill>
              <a:srgbClr val="4472C4"/>
            </a:solidFill>
            <a:prstDash val="solid"/>
          </a:ln>
        </p:spPr>
      </p:sp>
      <p:sp>
        <p:nvSpPr>
          <p:cNvPr id="101" name="Text 99"/>
          <p:cNvSpPr txBox="1"/>
          <p:nvPr/>
        </p:nvSpPr>
        <p:spPr>
          <a:xfrm>
            <a:off x="11073384" y="35204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28</a:t>
            </a:r>
            <a:endParaRPr lang="en-US" sz="1400" dirty="0"/>
          </a:p>
        </p:txBody>
      </p:sp>
      <p:sp>
        <p:nvSpPr>
          <p:cNvPr id="102" name="box "/>
          <p:cNvSpPr/>
          <p:nvPr/>
        </p:nvSpPr>
        <p:spPr>
          <a:xfrm>
            <a:off x="6172200" y="3931920"/>
            <a:ext cx="5440680" cy="402336"/>
          </a:xfrm>
          <a:prstGeom prst="roundRect">
            <a:avLst>
              <a:gd name="adj" fmla="val 13636"/>
            </a:avLst>
          </a:prstGeom>
          <a:solidFill>
            <a:srgbClr val="F2F2F2"/>
          </a:solidFill>
          <a:ln w="9525">
            <a:solidFill>
              <a:srgbClr val="BFBFBF"/>
            </a:solidFill>
            <a:prstDash val="solid"/>
          </a:ln>
        </p:spPr>
      </p:sp>
      <p:sp>
        <p:nvSpPr>
          <p:cNvPr id="103" name="Text 101"/>
          <p:cNvSpPr txBox="1"/>
          <p:nvPr/>
        </p:nvSpPr>
        <p:spPr>
          <a:xfrm>
            <a:off x="6245352" y="39319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104" name="from slide 8"/>
          <p:cNvSpPr/>
          <p:nvPr/>
        </p:nvSpPr>
        <p:spPr>
          <a:xfrm>
            <a:off x="6245352" y="3986784"/>
            <a:ext cx="777240" cy="292608"/>
          </a:xfrm>
          <a:prstGeom prst="roundRect">
            <a:avLst>
              <a:gd name="adj" fmla="val 18750"/>
            </a:avLst>
          </a:prstGeom>
          <a:solidFill>
            <a:srgbClr val="D9D9D9"/>
          </a:solidFill>
          <a:ln w="12700">
            <a:solidFill>
              <a:srgbClr val="D9D9D9"/>
            </a:solidFill>
            <a:prstDash val="solid"/>
          </a:ln>
        </p:spPr>
      </p:sp>
      <p:sp>
        <p:nvSpPr>
          <p:cNvPr id="105" name="Text 103"/>
          <p:cNvSpPr txBox="1"/>
          <p:nvPr/>
        </p:nvSpPr>
        <p:spPr>
          <a:xfrm>
            <a:off x="6245352" y="39867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8</a:t>
            </a:r>
            <a:endParaRPr lang="en-US" sz="1400" dirty="0"/>
          </a:p>
        </p:txBody>
      </p:sp>
      <p:sp>
        <p:nvSpPr>
          <p:cNvPr id="106" name="Text 104"/>
          <p:cNvSpPr txBox="1"/>
          <p:nvPr/>
        </p:nvSpPr>
        <p:spPr>
          <a:xfrm>
            <a:off x="7132320" y="3931920"/>
            <a:ext cx="2880360" cy="402336"/>
          </a:xfrm>
          <a:prstGeom prst="rect">
            <a:avLst/>
          </a:prstGeom>
          <a:noFill/>
          <a:ln/>
        </p:spPr>
        <p:txBody>
          <a:bodyPr wrap="square" lIns="0" tIns="0" rIns="0" bIns="0" rtlCol="0" anchor="ctr"/>
          <a:lstStyle/>
          <a:p>
            <a:pPr indent="0" marL="0">
              <a:buNone/>
            </a:pPr>
            <a:r>
              <a:rPr lang="en-US" sz="1400" dirty="0">
                <a:solidFill>
                  <a:schemeClr val="tx1"/>
                </a:solidFill>
              </a:rPr>
              <a:t>What is new vs PAL and cascades?</a:t>
            </a:r>
            <a:endParaRPr lang="en-US" sz="1400" dirty="0"/>
          </a:p>
        </p:txBody>
      </p:sp>
      <p:sp>
        <p:nvSpPr>
          <p:cNvPr id="107" name="page published"/>
          <p:cNvSpPr/>
          <p:nvPr/>
        </p:nvSpPr>
        <p:spPr>
          <a:xfrm>
            <a:off x="10067544" y="3977640"/>
            <a:ext cx="438912" cy="310896"/>
          </a:xfrm>
          <a:prstGeom prst="roundRect">
            <a:avLst>
              <a:gd name="adj" fmla="val 23529"/>
            </a:avLst>
          </a:prstGeom>
          <a:solidFill>
            <a:srgbClr val="4472C4"/>
          </a:solidFill>
          <a:ln w="12700">
            <a:solidFill>
              <a:srgbClr val="4472C4"/>
            </a:solidFill>
            <a:prstDash val="solid"/>
          </a:ln>
        </p:spPr>
      </p:sp>
      <p:sp>
        <p:nvSpPr>
          <p:cNvPr id="108" name="Text 106"/>
          <p:cNvSpPr txBox="1"/>
          <p:nvPr/>
        </p:nvSpPr>
        <p:spPr>
          <a:xfrm>
            <a:off x="10067544" y="39776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21</a:t>
            </a:r>
            <a:endParaRPr lang="en-US" sz="1400" dirty="0"/>
          </a:p>
        </p:txBody>
      </p:sp>
      <p:sp>
        <p:nvSpPr>
          <p:cNvPr id="109" name="page related"/>
          <p:cNvSpPr/>
          <p:nvPr/>
        </p:nvSpPr>
        <p:spPr>
          <a:xfrm>
            <a:off x="10570464" y="3977640"/>
            <a:ext cx="438912" cy="310896"/>
          </a:xfrm>
          <a:prstGeom prst="roundRect">
            <a:avLst>
              <a:gd name="adj" fmla="val 23529"/>
            </a:avLst>
          </a:prstGeom>
          <a:solidFill>
            <a:srgbClr val="4472C4"/>
          </a:solidFill>
          <a:ln w="12700">
            <a:solidFill>
              <a:srgbClr val="4472C4"/>
            </a:solidFill>
            <a:prstDash val="solid"/>
          </a:ln>
        </p:spPr>
      </p:sp>
      <p:sp>
        <p:nvSpPr>
          <p:cNvPr id="110" name="Text 108"/>
          <p:cNvSpPr txBox="1"/>
          <p:nvPr/>
        </p:nvSpPr>
        <p:spPr>
          <a:xfrm>
            <a:off x="10570464" y="39776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22</a:t>
            </a:r>
            <a:endParaRPr lang="en-US" sz="1400" dirty="0"/>
          </a:p>
        </p:txBody>
      </p:sp>
      <p:sp>
        <p:nvSpPr>
          <p:cNvPr id="111" name="page reported"/>
          <p:cNvSpPr/>
          <p:nvPr/>
        </p:nvSpPr>
        <p:spPr>
          <a:xfrm>
            <a:off x="11073384" y="3977640"/>
            <a:ext cx="438912" cy="310896"/>
          </a:xfrm>
          <a:prstGeom prst="roundRect">
            <a:avLst>
              <a:gd name="adj" fmla="val 23529"/>
            </a:avLst>
          </a:prstGeom>
          <a:solidFill>
            <a:srgbClr val="4472C4"/>
          </a:solidFill>
          <a:ln w="12700">
            <a:solidFill>
              <a:srgbClr val="4472C4"/>
            </a:solidFill>
            <a:prstDash val="solid"/>
          </a:ln>
        </p:spPr>
      </p:sp>
      <p:sp>
        <p:nvSpPr>
          <p:cNvPr id="112" name="Text 110"/>
          <p:cNvSpPr txBox="1"/>
          <p:nvPr/>
        </p:nvSpPr>
        <p:spPr>
          <a:xfrm>
            <a:off x="11073384" y="39776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23</a:t>
            </a:r>
            <a:endParaRPr lang="en-US" sz="1400" dirty="0"/>
          </a:p>
        </p:txBody>
      </p:sp>
      <p:sp>
        <p:nvSpPr>
          <p:cNvPr id="113" name="box "/>
          <p:cNvSpPr/>
          <p:nvPr/>
        </p:nvSpPr>
        <p:spPr>
          <a:xfrm>
            <a:off x="6172200" y="4389120"/>
            <a:ext cx="5440680" cy="402336"/>
          </a:xfrm>
          <a:prstGeom prst="roundRect">
            <a:avLst>
              <a:gd name="adj" fmla="val 13636"/>
            </a:avLst>
          </a:prstGeom>
          <a:solidFill>
            <a:srgbClr val="F2F2F2"/>
          </a:solidFill>
          <a:ln w="9525">
            <a:solidFill>
              <a:srgbClr val="BFBFBF"/>
            </a:solidFill>
            <a:prstDash val="solid"/>
          </a:ln>
        </p:spPr>
      </p:sp>
      <p:sp>
        <p:nvSpPr>
          <p:cNvPr id="114" name="Text 112"/>
          <p:cNvSpPr txBox="1"/>
          <p:nvPr/>
        </p:nvSpPr>
        <p:spPr>
          <a:xfrm>
            <a:off x="6245352" y="43891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115" name="from slide 8"/>
          <p:cNvSpPr/>
          <p:nvPr/>
        </p:nvSpPr>
        <p:spPr>
          <a:xfrm>
            <a:off x="6245352" y="4443984"/>
            <a:ext cx="777240" cy="292608"/>
          </a:xfrm>
          <a:prstGeom prst="roundRect">
            <a:avLst>
              <a:gd name="adj" fmla="val 18750"/>
            </a:avLst>
          </a:prstGeom>
          <a:solidFill>
            <a:srgbClr val="D9D9D9"/>
          </a:solidFill>
          <a:ln w="12700">
            <a:solidFill>
              <a:srgbClr val="D9D9D9"/>
            </a:solidFill>
            <a:prstDash val="solid"/>
          </a:ln>
        </p:spPr>
      </p:sp>
      <p:sp>
        <p:nvSpPr>
          <p:cNvPr id="116" name="Text 114"/>
          <p:cNvSpPr txBox="1"/>
          <p:nvPr/>
        </p:nvSpPr>
        <p:spPr>
          <a:xfrm>
            <a:off x="6245352" y="44439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8</a:t>
            </a:r>
            <a:endParaRPr lang="en-US" sz="1400" dirty="0"/>
          </a:p>
        </p:txBody>
      </p:sp>
      <p:sp>
        <p:nvSpPr>
          <p:cNvPr id="117" name="Text 115"/>
          <p:cNvSpPr txBox="1"/>
          <p:nvPr/>
        </p:nvSpPr>
        <p:spPr>
          <a:xfrm>
            <a:off x="7132320" y="4389120"/>
            <a:ext cx="3886200" cy="402336"/>
          </a:xfrm>
          <a:prstGeom prst="rect">
            <a:avLst/>
          </a:prstGeom>
          <a:noFill/>
          <a:ln/>
        </p:spPr>
        <p:txBody>
          <a:bodyPr wrap="square" lIns="0" tIns="0" rIns="0" bIns="0" rtlCol="0" anchor="ctr"/>
          <a:lstStyle/>
          <a:p>
            <a:pPr indent="0" marL="0">
              <a:buNone/>
            </a:pPr>
            <a:r>
              <a:rPr lang="en-US" sz="1400" dirty="0">
                <a:solidFill>
                  <a:schemeClr val="tx1"/>
                </a:solidFill>
              </a:rPr>
              <a:t>Why not majority voting?</a:t>
            </a:r>
            <a:endParaRPr lang="en-US" sz="1400" dirty="0"/>
          </a:p>
        </p:txBody>
      </p:sp>
      <p:sp>
        <p:nvSpPr>
          <p:cNvPr id="118" name="page vote"/>
          <p:cNvSpPr/>
          <p:nvPr/>
        </p:nvSpPr>
        <p:spPr>
          <a:xfrm>
            <a:off x="11073384" y="4434840"/>
            <a:ext cx="438912" cy="310896"/>
          </a:xfrm>
          <a:prstGeom prst="roundRect">
            <a:avLst>
              <a:gd name="adj" fmla="val 23529"/>
            </a:avLst>
          </a:prstGeom>
          <a:solidFill>
            <a:srgbClr val="4472C4"/>
          </a:solidFill>
          <a:ln w="12700">
            <a:solidFill>
              <a:srgbClr val="4472C4"/>
            </a:solidFill>
            <a:prstDash val="solid"/>
          </a:ln>
        </p:spPr>
      </p:sp>
      <p:sp>
        <p:nvSpPr>
          <p:cNvPr id="119" name="Text 117"/>
          <p:cNvSpPr txBox="1"/>
          <p:nvPr/>
        </p:nvSpPr>
        <p:spPr>
          <a:xfrm>
            <a:off x="11073384" y="44348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24</a:t>
            </a:r>
            <a:endParaRPr lang="en-US" sz="1400" dirty="0"/>
          </a:p>
        </p:txBody>
      </p:sp>
      <p:sp>
        <p:nvSpPr>
          <p:cNvPr id="120" name="box "/>
          <p:cNvSpPr/>
          <p:nvPr/>
        </p:nvSpPr>
        <p:spPr>
          <a:xfrm>
            <a:off x="6172200" y="4846320"/>
            <a:ext cx="5440680" cy="402336"/>
          </a:xfrm>
          <a:prstGeom prst="roundRect">
            <a:avLst>
              <a:gd name="adj" fmla="val 13636"/>
            </a:avLst>
          </a:prstGeom>
          <a:solidFill>
            <a:srgbClr val="F2F2F2"/>
          </a:solidFill>
          <a:ln w="9525">
            <a:solidFill>
              <a:srgbClr val="BFBFBF"/>
            </a:solidFill>
            <a:prstDash val="solid"/>
          </a:ln>
        </p:spPr>
      </p:sp>
      <p:sp>
        <p:nvSpPr>
          <p:cNvPr id="121" name="Text 119"/>
          <p:cNvSpPr txBox="1"/>
          <p:nvPr/>
        </p:nvSpPr>
        <p:spPr>
          <a:xfrm>
            <a:off x="6245352" y="48463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122" name="from slide 8"/>
          <p:cNvSpPr/>
          <p:nvPr/>
        </p:nvSpPr>
        <p:spPr>
          <a:xfrm>
            <a:off x="6245352" y="4901184"/>
            <a:ext cx="777240" cy="292608"/>
          </a:xfrm>
          <a:prstGeom prst="roundRect">
            <a:avLst>
              <a:gd name="adj" fmla="val 18750"/>
            </a:avLst>
          </a:prstGeom>
          <a:solidFill>
            <a:srgbClr val="D9D9D9"/>
          </a:solidFill>
          <a:ln w="12700">
            <a:solidFill>
              <a:srgbClr val="D9D9D9"/>
            </a:solidFill>
            <a:prstDash val="solid"/>
          </a:ln>
        </p:spPr>
      </p:sp>
      <p:sp>
        <p:nvSpPr>
          <p:cNvPr id="123" name="Text 121"/>
          <p:cNvSpPr txBox="1"/>
          <p:nvPr/>
        </p:nvSpPr>
        <p:spPr>
          <a:xfrm>
            <a:off x="6245352" y="49011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8</a:t>
            </a:r>
            <a:endParaRPr lang="en-US" sz="1400" dirty="0"/>
          </a:p>
        </p:txBody>
      </p:sp>
      <p:sp>
        <p:nvSpPr>
          <p:cNvPr id="124" name="Text 122"/>
          <p:cNvSpPr txBox="1"/>
          <p:nvPr/>
        </p:nvSpPr>
        <p:spPr>
          <a:xfrm>
            <a:off x="7132320" y="4846320"/>
            <a:ext cx="3383280" cy="402336"/>
          </a:xfrm>
          <a:prstGeom prst="rect">
            <a:avLst/>
          </a:prstGeom>
          <a:noFill/>
          <a:ln/>
        </p:spPr>
        <p:txBody>
          <a:bodyPr wrap="square" lIns="0" tIns="0" rIns="0" bIns="0" rtlCol="0" anchor="ctr"/>
          <a:lstStyle/>
          <a:p>
            <a:pPr indent="0" marL="0">
              <a:buNone/>
            </a:pPr>
            <a:r>
              <a:rPr lang="en-US" sz="1400" dirty="0">
                <a:solidFill>
                  <a:schemeClr val="tx1"/>
                </a:solidFill>
              </a:rPr>
              <a:t>Is the comparison fair?</a:t>
            </a:r>
            <a:endParaRPr lang="en-US" sz="1400" dirty="0"/>
          </a:p>
        </p:txBody>
      </p:sp>
      <p:sp>
        <p:nvSpPr>
          <p:cNvPr id="125" name="page fair"/>
          <p:cNvSpPr/>
          <p:nvPr/>
        </p:nvSpPr>
        <p:spPr>
          <a:xfrm>
            <a:off x="10570464" y="4892040"/>
            <a:ext cx="438912" cy="310896"/>
          </a:xfrm>
          <a:prstGeom prst="roundRect">
            <a:avLst>
              <a:gd name="adj" fmla="val 23529"/>
            </a:avLst>
          </a:prstGeom>
          <a:solidFill>
            <a:srgbClr val="4472C4"/>
          </a:solidFill>
          <a:ln w="12700">
            <a:solidFill>
              <a:srgbClr val="4472C4"/>
            </a:solidFill>
            <a:prstDash val="solid"/>
          </a:ln>
        </p:spPr>
      </p:sp>
      <p:sp>
        <p:nvSpPr>
          <p:cNvPr id="126" name="Text 124"/>
          <p:cNvSpPr txBox="1"/>
          <p:nvPr/>
        </p:nvSpPr>
        <p:spPr>
          <a:xfrm>
            <a:off x="10570464" y="48920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25</a:t>
            </a:r>
            <a:endParaRPr lang="en-US" sz="1400" dirty="0"/>
          </a:p>
        </p:txBody>
      </p:sp>
      <p:sp>
        <p:nvSpPr>
          <p:cNvPr id="127" name="page setup"/>
          <p:cNvSpPr/>
          <p:nvPr/>
        </p:nvSpPr>
        <p:spPr>
          <a:xfrm>
            <a:off x="11073384" y="4892040"/>
            <a:ext cx="438912" cy="310896"/>
          </a:xfrm>
          <a:prstGeom prst="roundRect">
            <a:avLst>
              <a:gd name="adj" fmla="val 23529"/>
            </a:avLst>
          </a:prstGeom>
          <a:solidFill>
            <a:srgbClr val="4472C4"/>
          </a:solidFill>
          <a:ln w="12700">
            <a:solidFill>
              <a:srgbClr val="4472C4"/>
            </a:solidFill>
            <a:prstDash val="solid"/>
          </a:ln>
        </p:spPr>
      </p:sp>
      <p:sp>
        <p:nvSpPr>
          <p:cNvPr id="128" name="Text 126"/>
          <p:cNvSpPr txBox="1"/>
          <p:nvPr/>
        </p:nvSpPr>
        <p:spPr>
          <a:xfrm>
            <a:off x="11073384" y="48920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30</a:t>
            </a:r>
            <a:endParaRPr lang="en-US" sz="1400" dirty="0"/>
          </a:p>
        </p:txBody>
      </p:sp>
      <p:sp>
        <p:nvSpPr>
          <p:cNvPr id="129" name="box "/>
          <p:cNvSpPr/>
          <p:nvPr/>
        </p:nvSpPr>
        <p:spPr>
          <a:xfrm>
            <a:off x="6172200" y="5303520"/>
            <a:ext cx="5440680" cy="402336"/>
          </a:xfrm>
          <a:prstGeom prst="roundRect">
            <a:avLst>
              <a:gd name="adj" fmla="val 13636"/>
            </a:avLst>
          </a:prstGeom>
          <a:solidFill>
            <a:srgbClr val="F2F2F2"/>
          </a:solidFill>
          <a:ln w="9525">
            <a:solidFill>
              <a:srgbClr val="BFBFBF"/>
            </a:solidFill>
            <a:prstDash val="solid"/>
          </a:ln>
        </p:spPr>
      </p:sp>
      <p:sp>
        <p:nvSpPr>
          <p:cNvPr id="130" name="Text 128"/>
          <p:cNvSpPr txBox="1"/>
          <p:nvPr/>
        </p:nvSpPr>
        <p:spPr>
          <a:xfrm>
            <a:off x="6245352" y="5303520"/>
            <a:ext cx="5294376" cy="402336"/>
          </a:xfrm>
          <a:prstGeom prst="rect">
            <a:avLst/>
          </a:prstGeom>
          <a:noFill/>
          <a:ln/>
        </p:spPr>
        <p:txBody>
          <a:bodyPr wrap="square" lIns="0" tIns="0" rIns="0" bIns="0" rtlCol="0" anchor="ctr"/>
          <a:lstStyle/>
          <a:p>
            <a:pPr algn="ctr" indent="0" marL="0">
              <a:buNone/>
            </a:pPr>
            <a:endParaRPr lang="en-US" sz="1500" dirty="0"/>
          </a:p>
        </p:txBody>
      </p:sp>
      <p:sp>
        <p:nvSpPr>
          <p:cNvPr id="131" name="from slide 8"/>
          <p:cNvSpPr/>
          <p:nvPr/>
        </p:nvSpPr>
        <p:spPr>
          <a:xfrm>
            <a:off x="6245352" y="5358384"/>
            <a:ext cx="777240" cy="292608"/>
          </a:xfrm>
          <a:prstGeom prst="roundRect">
            <a:avLst>
              <a:gd name="adj" fmla="val 18750"/>
            </a:avLst>
          </a:prstGeom>
          <a:solidFill>
            <a:srgbClr val="D9D9D9"/>
          </a:solidFill>
          <a:ln w="12700">
            <a:solidFill>
              <a:srgbClr val="D9D9D9"/>
            </a:solidFill>
            <a:prstDash val="solid"/>
          </a:ln>
        </p:spPr>
      </p:sp>
      <p:sp>
        <p:nvSpPr>
          <p:cNvPr id="132" name="Text 130"/>
          <p:cNvSpPr txBox="1"/>
          <p:nvPr/>
        </p:nvSpPr>
        <p:spPr>
          <a:xfrm>
            <a:off x="6245352" y="5358384"/>
            <a:ext cx="777240" cy="292608"/>
          </a:xfrm>
          <a:prstGeom prst="rect">
            <a:avLst/>
          </a:prstGeom>
          <a:noFill/>
          <a:ln/>
        </p:spPr>
        <p:txBody>
          <a:bodyPr wrap="square" lIns="0" tIns="0" rIns="0" bIns="0" rtlCol="0" anchor="ctr"/>
          <a:lstStyle/>
          <a:p>
            <a:pPr algn="ctr" indent="0" marL="0">
              <a:buNone/>
            </a:pPr>
            <a:r>
              <a:rPr lang="en-US" sz="1400" dirty="0">
                <a:solidFill>
                  <a:srgbClr val="404040"/>
                </a:solidFill>
              </a:rPr>
              <a:t>slide 8</a:t>
            </a:r>
            <a:endParaRPr lang="en-US" sz="1400" dirty="0"/>
          </a:p>
        </p:txBody>
      </p:sp>
      <p:sp>
        <p:nvSpPr>
          <p:cNvPr id="133" name="Text 131"/>
          <p:cNvSpPr txBox="1"/>
          <p:nvPr/>
        </p:nvSpPr>
        <p:spPr>
          <a:xfrm>
            <a:off x="7132320" y="5303520"/>
            <a:ext cx="3886200" cy="402336"/>
          </a:xfrm>
          <a:prstGeom prst="rect">
            <a:avLst/>
          </a:prstGeom>
          <a:noFill/>
          <a:ln/>
        </p:spPr>
        <p:txBody>
          <a:bodyPr wrap="square" lIns="0" tIns="0" rIns="0" bIns="0" rtlCol="0" anchor="ctr"/>
          <a:lstStyle/>
          <a:p>
            <a:pPr indent="0" marL="0">
              <a:buNone/>
            </a:pPr>
            <a:r>
              <a:rPr lang="en-US" sz="1400" dirty="0">
                <a:solidFill>
                  <a:schemeClr val="tx1"/>
                </a:solidFill>
              </a:rPr>
              <a:t>Does it hold for smaller models?</a:t>
            </a:r>
            <a:endParaRPr lang="en-US" sz="1400" dirty="0"/>
          </a:p>
        </p:txBody>
      </p:sp>
      <p:sp>
        <p:nvSpPr>
          <p:cNvPr id="134" name="page small"/>
          <p:cNvSpPr/>
          <p:nvPr/>
        </p:nvSpPr>
        <p:spPr>
          <a:xfrm>
            <a:off x="11073384" y="5349240"/>
            <a:ext cx="438912" cy="310896"/>
          </a:xfrm>
          <a:prstGeom prst="roundRect">
            <a:avLst>
              <a:gd name="adj" fmla="val 23529"/>
            </a:avLst>
          </a:prstGeom>
          <a:solidFill>
            <a:srgbClr val="4472C4"/>
          </a:solidFill>
          <a:ln w="12700">
            <a:solidFill>
              <a:srgbClr val="4472C4"/>
            </a:solidFill>
            <a:prstDash val="solid"/>
          </a:ln>
        </p:spPr>
      </p:sp>
      <p:sp>
        <p:nvSpPr>
          <p:cNvPr id="135" name="Text 133"/>
          <p:cNvSpPr txBox="1"/>
          <p:nvPr/>
        </p:nvSpPr>
        <p:spPr>
          <a:xfrm>
            <a:off x="11073384" y="5349240"/>
            <a:ext cx="438912" cy="310896"/>
          </a:xfrm>
          <a:prstGeom prst="rect">
            <a:avLst/>
          </a:prstGeom>
          <a:noFill/>
          <a:ln/>
        </p:spPr>
        <p:txBody>
          <a:bodyPr wrap="square" lIns="0" tIns="0" rIns="0" bIns="0" rtlCol="0" anchor="ctr"/>
          <a:lstStyle/>
          <a:p>
            <a:pPr algn="ctr" indent="0" marL="0">
              <a:buNone/>
            </a:pPr>
            <a:r>
              <a:rPr lang="en-US" sz="1400" b="1" dirty="0">
                <a:solidFill>
                  <a:srgbClr val="FFFFFF"/>
                </a:solidFill>
              </a:rPr>
              <a:t>26</a:t>
            </a:r>
            <a:endParaRPr lang="en-US" sz="1400" dirty="0"/>
          </a:p>
        </p:txBody>
      </p:sp>
      <p:sp>
        <p:nvSpPr>
          <p:cNvPr id="136" name="Text 134"/>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500" dirty="0">
                <a:solidFill>
                  <a:schemeClr val="tx2"/>
                </a:solidFill>
              </a:rPr>
              <a:t>Also: 27 all policies, cost vs accuracy</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 library to hint: plain algorithms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hint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(seed 1)</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19).</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seed):</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seeds)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seeds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2026-10-19T14:50:19Z</dcterms:created>
  <dcterms:modified xsi:type="dcterms:W3CDTF">2026-10-19T14:50:19Z</dcterms:modified>
</cp:coreProperties>
</file>