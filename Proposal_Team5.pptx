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3.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978dc987-e7d7-e9bf-0bc6-b2c4e2e941d0}">
          <p14:sldIdLst>
            <p14:sldId id="256"/>
            <p14:sldId id="257"/>
            <p14:sldId id="258"/>
            <p14:sldId id="259"/>
            <p14:sldId id="260"/>
            <p14:sldId id="261"/>
            <p14:sldId id="262"/>
            <p14:sldId id="263"/>
            <p14:sldId id="264"/>
          </p14:sldIdLst>
        </p14:section>
        <p14:section name="Extra pages" id="{d101d1c7-33e1-3178-4859-dbc3f3ed0029}">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안녕하세요, 5조입니다. 저희는 답을 정확히 계산해야 하는 수학 문제를 LLM이 프로그램을 짜서 푸는 경우에 집중합니다. 목표는 더 적은 토큰으로 맞는 답을 얻는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저희가 푸는 문제는 네 종류입니다. 기하와 Codeforces 경시 문제는 맞는 알고리즘이, 배송 경로와 최적화 문장제는 솔버를 맞게 부르는 법이 필요합니다. 경시 문제의 중앙값은 Codeforces Master 수준입니다. 답이 정확히 하나라 코드로 채점할 수 있고, 필요한 것이 서로 달라서 추가 노력을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LLM은 말로 답할 수도, 프로그램을 짤 수도 있습니다. 같은 도형을 옮기고 돌리면 말로 한 답은 매번 바뀌지만, 프로그램은 항상 436입니다. 그래서 계산은 프로그램에 맡깁니다.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하지만 두 가지가 문제입니다. 첫째, 프로그램은 조용히 틀립니다. 같은 문제에 보조 코드만 더하면 6 대신 0을 내고 에러도 없습니다. 없는 함수를 불러 죽기도 합니다. 둘째, 오래 생각하면 비쌉니다. gpt-oss-120b는 토큰을 4.4배 써서 9점을 더 얻습니다. 그래서 추가 노력을 힌트, 공짜 검사, 생각 중 어디에 쓸지가 저희 질문입니다.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첫 번째 발견입니다. 매뉴얼이 아니라 짧은 힌트를 주세요. 트럭 경로를 짜는 과제에 OR-Tools 사용법 열한 줄을 붙이면, Qwen3-32B가 맞는 함수를 불러 최적 경로를 찾습니다. 긴 참조 문서를 주면 없는 함수를 지어내 죽습니다. 30문제에서 아무것도 안 주면 23%, 오래 생각하면 3%, 짧은 힌트는 83%입니다. 이 힌트를 사람 없이 고르는 방법은 뒤의 방법 슬라이드에서 보여 드립니다.
[참고, 읽지 않음] 모델은 답을 무작위로 뽑기 때문에 같은 실험도 돌릴 때마다 조금씩 다릅니다. 짧은 힌트 막대는 같은 실험을 세 번 돌린 평균입니다(77, 83, 90%). 나머지 막대는 한 번씩 돌린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두 번째 발견입니다. 공짜 검사가 실패할 때만 생각하게 하세요. 공짜 검사란 프로그램을 실행해서 이미 아는 것과 비교해 보는 것으로, 정답도 추가 생각도 필요 없습니다. 문제에 '막대 3, 4, 5면 답 0'이라는 예제가 있으면, 모델 없이 우리 프로그램을 3, 4, 5로 돌려 봅니다. 0이 나오면 그대로 내고, 다르면 그 문제만 더 생각합니다. 예제가 없으면 프로그램을 두 번 짜서 비교합니다. 그러면 경시 문제에서 66%, 기하에서 99%로, 항상 생각할 때와 같은 정확도를 18에서 27% 적은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둘을 합친 것이 저희 방법입니다. 힌트를 붙여 쓰고, 검사하고, 실패할 때만 생각하고, 같은 종류가 다시 오면 재사용합니다. 힌트는 사람 없이 이렇게 고릅니다. 모델이 같은 종류의 문제에 짰던 프로그램 중 검사를 통과한 것을 모으고, 가장 짧은 것을 힌트로 씁니다. 실제 문제 하나에서는 힌트 없이 죽던 프로그램이 힌트로 바로 20000을 맞혀, 5.3k 대신 0.6k 토큰을 썼습니다. 기하와 최적화 208문제를 세 모델로 풀면, 답이 갈리는 문제에 생각을 몰아주는 기존 방식은 74%, 저희는 87%이고 토큰도 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새로운 점은 세 가지입니다. 학습 없이 공짜 검사로 생각할 때를 정하고, 정답 없이 모델 자신의 프로그램을 힌트로 쓰며, 파인튜닝한 특화 모델 ORLM-8B와 같은 69.5%를 학습하지 않은 8B 모델로 냅니다. 다음으로는 더 많은 모델로 검증하고, 실행은 되지만 문제를 잘못 수식으로 옮긴 오류를 다루고, 문제 종류마다 힌트를 찾겠습니다.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ORLM-8B는 최적화 문장제용으로 파인튜닝한 공개 모델이고, 모델 카드의 형식과 솔버, 그리디 디코딩으로 저희 채점기에서 돌렸습니다: MAMO 69.5%, 문제당 1.1k 토큰(샘플링하면 64~66%). Qwen3-8B는 학습 없이 자기 힌트를 붙여 프로그램을 한 번 짜고 실행이 안 될 때만 생각하게 해서 69.5%, 1.0k 토큰입니다. 두 버전 검사까지 쓰면 71%(3.1k), gpt-oss-20b는 78.8%입니다.
다음 계획. 하나, MAMO 검증을 Qwen3-32B와 Qwen3.6까지 세 시드로 마칩니다. 둘, 검사로 못 잡는 오류입니다. 지금 남은 오류의 절반쯤은 정답 라벨이 의심스러운 문제이고, 나머지는 같은 유형에서 같은 수식 실수가 반복됩니다. 예를 들어 순서 제약이나 공급 균형을 잘못 씁니다. 고치기 한 번이나 생각으로는 안 고쳐져서, 힌트 하나로 고쳐지는지 시험합니다. 셋, 지금은 같은 종류의 문제 안에서만 자동 힌트가 통하므로, 문제 종류마다 힌트를 찾고 최종 보고서와 코드를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Isn't it the answer? (slide 5)
15, 20: How do we get the exact hint? (slide 5)
16: Can retrieval (RAG) find the hint? (slide 5)
17: Why can thinking make it worse? (slide 5)
18: What if a wrong program passes the check? (slide 6)
19: Is there always a free check? (slide 6)
20: Who writes the hint? (slide 7)
21: Is 'think on the hardest' a weak baseline? (slide 7)
30: What if the same problem repeats? (slide 7)
11: Why no hint for contest problems? (slide 7)
29: Where does the recipe stop? (slide 7)
22, 23, 24: What is new vs PAL and cascades? (slide 8)
25: Why not majority voting? (slide 8)
26, 31: Is the comparison fair? (slide 8)
27: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과제 앞에 붙여 줍니다. 그 종류에 필요한 호출만 보여 줍니다. 얻는 방법은 세 가지입니다. 첫째, 사람이 종류마다 한 번 씁니다. 트럭 경로라면 OR-Tools 사용법 11줄입니다. 둘째, 제목이 붙은 코드 조각 라이브러리에서 BM25로 검색해 맨 위 하나를 씁니다. 손으로 쓴 것과 거의 같지만, 비슷하지만 다른 문서가 섞이면 크게 떨어집니다. 셋째, 모델이 같은 종류의 다른 문제에서 짠 프로그램 중 공짜 검사를 통과한 가장 짧은 것을 씁니다. 처음 쓰는 MAMO에서 사람이 쓴 힌트와 같은 정확도였습니다. 다만 같은 종류 안에서만 통하고, 다른 종류의 프로그램을 주면 14에서 21점 떨어집니다. 필요한 것만 주는 것도 중요해서, 기하에서 도우미 함수를 다 주면 75%, 필요한 것만 주면 92%였습니다.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slideLayout" Target="../slideLayouts/slideLayout3.xml"/><Relationship Id="rId2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2.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3.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3.xml"/><Relationship Id="rId8"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Focus: math with an exact answer, solved by programs an LLM writes</a:t>
            </a:r>
            <a:endParaRPr lang="en-US" sz="2200" dirty="0"/>
          </a:p>
          <a:p>
            <a:pPr algn="ctr" indent="0" marL="0">
              <a:buNone/>
            </a:pPr>
            <a:r>
              <a:rPr lang="en-US" sz="1600" dirty="0">
                <a:solidFill>
                  <a:srgbClr val="44546A"/>
                </a:solidFill>
              </a:rPr>
              <a:t>Team 5: Sangjun Lee, Seongbin Park · POSTECH CSED490E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the hint is given"/>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the hint is given (Qwen3-32B, OR-Tools)</a:t>
            </a:r>
            <a:endParaRPr lang="en-US" sz="1800" dirty="0"/>
          </a:p>
        </p:txBody>
      </p:sp>
      <p:sp>
        <p:nvSpPr>
          <p:cNvPr id="13" name="box Task: plan routes fo"/>
          <p:cNvSpPr/>
          <p:nvPr/>
        </p:nvSpPr>
        <p:spPr>
          <a:xfrm>
            <a:off x="777240" y="1874520"/>
            <a:ext cx="4892040" cy="457200"/>
          </a:xfrm>
          <a:prstGeom prst="roundRect">
            <a:avLst>
              <a:gd name="adj" fmla="val 12000"/>
            </a:avLst>
          </a:prstGeom>
          <a:solidFill>
            <a:srgbClr val="FFFFFF"/>
          </a:solidFill>
          <a:ln w="9525">
            <a:solidFill>
              <a:srgbClr val="BFBFBF"/>
            </a:solidFill>
            <a:prstDash val="solid"/>
          </a:ln>
        </p:spPr>
      </p:sp>
      <p:sp>
        <p:nvSpPr>
          <p:cNvPr id="14" name="Text 7"/>
          <p:cNvSpPr txBox="1"/>
          <p:nvPr/>
        </p:nvSpPr>
        <p:spPr>
          <a:xfrm>
            <a:off x="850392" y="1874520"/>
            <a:ext cx="4745736" cy="457200"/>
          </a:xfrm>
          <a:prstGeom prst="rect">
            <a:avLst/>
          </a:prstGeom>
          <a:noFill/>
          <a:ln/>
        </p:spPr>
        <p:txBody>
          <a:bodyPr wrap="square" lIns="0" tIns="0" rIns="0" bIns="0" rtlCol="0" anchor="ctr"/>
          <a:lstStyle/>
          <a:p>
            <a:pPr algn="ctr" indent="0" marL="0">
              <a:buNone/>
            </a:pPr>
            <a:r>
              <a:rPr lang="en-US" sz="1500" dirty="0">
                <a:solidFill>
                  <a:schemeClr val="tx1"/>
                </a:solidFill>
              </a:rPr>
              <a:t>Task: plan routes for trucks with a weight limit</a:t>
            </a:r>
            <a:endParaRPr lang="en-US" sz="1500" dirty="0"/>
          </a:p>
        </p:txBody>
      </p:sp>
      <p:sp>
        <p:nvSpPr>
          <p:cNvPr id="15" name="Text 8"/>
          <p:cNvSpPr txBox="1"/>
          <p:nvPr/>
        </p:nvSpPr>
        <p:spPr>
          <a:xfrm>
            <a:off x="3108960" y="2331720"/>
            <a:ext cx="274320" cy="2286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6" name="the hint"/>
          <p:cNvSpPr/>
          <p:nvPr/>
        </p:nvSpPr>
        <p:spPr>
          <a:xfrm>
            <a:off x="777240" y="2560320"/>
            <a:ext cx="4892040" cy="960120"/>
          </a:xfrm>
          <a:prstGeom prst="roundRect">
            <a:avLst>
              <a:gd name="adj" fmla="val 5714"/>
            </a:avLst>
          </a:prstGeom>
          <a:solidFill>
            <a:srgbClr val="E2F0D9"/>
          </a:solidFill>
          <a:ln w="12700">
            <a:solidFill>
              <a:srgbClr val="38761D"/>
            </a:solidFill>
            <a:prstDash val="solid"/>
          </a:ln>
        </p:spPr>
      </p:sp>
      <p:sp>
        <p:nvSpPr>
          <p:cNvPr id="17" name="Text 10"/>
          <p:cNvSpPr txBox="1"/>
          <p:nvPr/>
        </p:nvSpPr>
        <p:spPr>
          <a:xfrm>
            <a:off x="914400" y="2578608"/>
            <a:ext cx="4663440" cy="914400"/>
          </a:xfrm>
          <a:prstGeom prst="rect">
            <a:avLst/>
          </a:prstGeom>
          <a:noFill/>
          <a:ln/>
        </p:spPr>
        <p:txBody>
          <a:bodyPr wrap="square" lIns="0" tIns="0" rIns="0" bIns="0" rtlCol="0" anchor="ctr"/>
          <a:lstStyle/>
          <a:p>
            <a:pPr indent="0" marL="0">
              <a:buNone/>
            </a:pPr>
            <a:r>
              <a:rPr lang="en-US" sz="1400" b="1" dirty="0">
                <a:solidFill>
                  <a:srgbClr val="38761D"/>
                </a:solidFill>
                <a:latin typeface="Calibri" pitchFamily="34" charset="0"/>
                <a:ea typeface="Calibri" pitchFamily="34" charset="-122"/>
                <a:cs typeface="Calibri" pitchFamily="34" charset="-120"/>
              </a:rPr>
              <a:t>Hint: the exact usage, 11 lines, e.g.</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r.RegisterUnaryTransitCallback(demand)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r.AddDimensionWithVehicleCapacity(...)</a:t>
            </a:r>
            <a:endParaRPr lang="en-US" sz="1400" dirty="0"/>
          </a:p>
        </p:txBody>
      </p:sp>
      <p:sp>
        <p:nvSpPr>
          <p:cNvPr id="18" name="Shape 11"/>
          <p:cNvSpPr/>
          <p:nvPr/>
        </p:nvSpPr>
        <p:spPr>
          <a:xfrm>
            <a:off x="3218688" y="3520440"/>
            <a:ext cx="0" cy="182880"/>
          </a:xfrm>
          <a:prstGeom prst="line">
            <a:avLst/>
          </a:prstGeom>
          <a:noFill/>
          <a:ln w="25400">
            <a:solidFill>
              <a:srgbClr val="7F7F7F"/>
            </a:solidFill>
            <a:prstDash val="solid"/>
            <a:tailEnd type="triangle"/>
          </a:ln>
        </p:spPr>
      </p:sp>
      <p:sp>
        <p:nvSpPr>
          <p:cNvPr id="19" name="box ✓ the program runs: "/>
          <p:cNvSpPr/>
          <p:nvPr/>
        </p:nvSpPr>
        <p:spPr>
          <a:xfrm>
            <a:off x="777240" y="3703320"/>
            <a:ext cx="4892040" cy="411480"/>
          </a:xfrm>
          <a:prstGeom prst="roundRect">
            <a:avLst>
              <a:gd name="adj" fmla="val 13333"/>
            </a:avLst>
          </a:prstGeom>
          <a:solidFill>
            <a:srgbClr val="E2F0D9"/>
          </a:solidFill>
          <a:ln w="9525">
            <a:solidFill>
              <a:srgbClr val="BFBFBF"/>
            </a:solidFill>
            <a:prstDash val="solid"/>
          </a:ln>
        </p:spPr>
      </p:sp>
      <p:sp>
        <p:nvSpPr>
          <p:cNvPr id="20" name="Text 13"/>
          <p:cNvSpPr txBox="1"/>
          <p:nvPr/>
        </p:nvSpPr>
        <p:spPr>
          <a:xfrm>
            <a:off x="850392" y="3703320"/>
            <a:ext cx="4745736" cy="411480"/>
          </a:xfrm>
          <a:prstGeom prst="rect">
            <a:avLst/>
          </a:prstGeom>
          <a:noFill/>
          <a:ln/>
        </p:spPr>
        <p:txBody>
          <a:bodyPr wrap="square" lIns="0" tIns="0" rIns="0" bIns="0" rtlCol="0" anchor="ctr"/>
          <a:lstStyle/>
          <a:p>
            <a:pPr algn="ctr" indent="0" marL="0">
              <a:buNone/>
            </a:pPr>
            <a:r>
              <a:rPr lang="en-US" sz="1500" b="1" dirty="0">
                <a:solidFill>
                  <a:srgbClr val="38761D"/>
                </a:solidFill>
              </a:rPr>
              <a:t>✓ the program runs: best route</a:t>
            </a:r>
            <a:endParaRPr lang="en-US" sz="1500" dirty="0"/>
          </a:p>
        </p:txBody>
      </p:sp>
      <p:sp>
        <p:nvSpPr>
          <p:cNvPr id="21" name="Text 14"/>
          <p:cNvSpPr txBox="1"/>
          <p:nvPr/>
        </p:nvSpPr>
        <p:spPr>
          <a:xfrm>
            <a:off x="777240" y="4224528"/>
            <a:ext cx="4892040" cy="320040"/>
          </a:xfrm>
          <a:prstGeom prst="rect">
            <a:avLst/>
          </a:prstGeom>
          <a:noFill/>
          <a:ln/>
        </p:spPr>
        <p:txBody>
          <a:bodyPr wrap="square" lIns="0" tIns="0" rIns="0" bIns="0" rtlCol="0" anchor="ctr"/>
          <a:lstStyle/>
          <a:p>
            <a:pPr indent="0" marL="0">
              <a:buNone/>
            </a:pPr>
            <a:r>
              <a:rPr lang="en-US" sz="1500" b="1" dirty="0">
                <a:solidFill>
                  <a:schemeClr val="tx1"/>
                </a:solidFill>
              </a:rPr>
              <a:t>A long reference sheet instead (no weight rule in it):</a:t>
            </a:r>
            <a:endParaRPr lang="en-US" sz="1500" dirty="0"/>
          </a:p>
        </p:txBody>
      </p:sp>
      <p:sp>
        <p:nvSpPr>
          <p:cNvPr id="22" name="invented call"/>
          <p:cNvSpPr/>
          <p:nvPr/>
        </p:nvSpPr>
        <p:spPr>
          <a:xfrm>
            <a:off x="777240" y="4572000"/>
            <a:ext cx="4892040" cy="777240"/>
          </a:xfrm>
          <a:prstGeom prst="roundRect">
            <a:avLst>
              <a:gd name="adj" fmla="val 7059"/>
            </a:avLst>
          </a:prstGeom>
          <a:solidFill>
            <a:srgbClr val="FADBD8"/>
          </a:solidFill>
          <a:ln w="12700">
            <a:solidFill>
              <a:srgbClr val="C00000"/>
            </a:solidFill>
            <a:prstDash val="solid"/>
          </a:ln>
        </p:spPr>
      </p:sp>
      <p:sp>
        <p:nvSpPr>
          <p:cNvPr id="23" name="Text 16"/>
          <p:cNvSpPr txBox="1"/>
          <p:nvPr/>
        </p:nvSpPr>
        <p:spPr>
          <a:xfrm>
            <a:off x="914400" y="4572000"/>
            <a:ext cx="4663440" cy="777240"/>
          </a:xfrm>
          <a:prstGeom prst="rect">
            <a:avLst/>
          </a:prstGeom>
          <a:noFill/>
          <a:ln/>
        </p:spPr>
        <p:txBody>
          <a:bodyPr wrap="square" lIns="0" tIns="0" rIns="0" bIns="0" rtlCol="0" anchor="ctr"/>
          <a:lstStyle/>
          <a:p>
            <a:pPr indent="0" marL="0">
              <a:buNone/>
            </a:pPr>
            <a:r>
              <a:rPr lang="en-US" sz="1400" dirty="0">
                <a:solidFill>
                  <a:srgbClr val="C00000"/>
                </a:solidFill>
                <a:latin typeface="Courier New" pitchFamily="34" charset="0"/>
                <a:ea typeface="Courier New" pitchFamily="34" charset="-122"/>
                <a:cs typeface="Courier New" pitchFamily="34" charset="-120"/>
              </a:rPr>
              <a:t>RegisterUnaryLongLivingCallback()</a:t>
            </a:r>
            <a:endParaRPr lang="en-US" sz="1400" dirty="0"/>
          </a:p>
          <a:p>
            <a:pPr indent="0" marL="0">
              <a:buNone/>
            </a:pPr>
            <a:r>
              <a:rPr lang="en-US" sz="1400" b="1" dirty="0">
                <a:solidFill>
                  <a:srgbClr val="C00000"/>
                </a:solidFill>
              </a:rPr>
              <a:t>✗ invented, does not exist: crash</a:t>
            </a:r>
            <a:endParaRPr lang="en-US" sz="1400" dirty="0"/>
          </a:p>
        </p:txBody>
      </p:sp>
      <p:sp>
        <p:nvSpPr>
          <p:cNvPr id="24"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25" name="Text 18"/>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30 routing problems solved optimally</a:t>
            </a:r>
            <a:endParaRPr lang="en-US" sz="1800" dirty="0"/>
          </a:p>
        </p:txBody>
      </p:sp>
      <p:sp>
        <p:nvSpPr>
          <p:cNvPr id="26" name="Text 19"/>
          <p:cNvSpPr txBox="1"/>
          <p:nvPr/>
        </p:nvSpPr>
        <p:spPr>
          <a:xfrm>
            <a:off x="6400800" y="20574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task only</a:t>
            </a:r>
            <a:endParaRPr lang="en-US" sz="1600" dirty="0"/>
          </a:p>
        </p:txBody>
      </p:sp>
      <p:sp>
        <p:nvSpPr>
          <p:cNvPr id="27" name="bar task only"/>
          <p:cNvSpPr/>
          <p:nvPr/>
        </p:nvSpPr>
        <p:spPr>
          <a:xfrm>
            <a:off x="8138160" y="2160270"/>
            <a:ext cx="525780" cy="342900"/>
          </a:xfrm>
          <a:prstGeom prst="rect">
            <a:avLst/>
          </a:prstGeom>
          <a:solidFill>
            <a:srgbClr val="7F7F7F"/>
          </a:solidFill>
          <a:ln w="6350">
            <a:solidFill>
              <a:srgbClr val="7F7F7F"/>
            </a:solidFill>
            <a:prstDash val="solid"/>
          </a:ln>
        </p:spPr>
      </p:sp>
      <p:sp>
        <p:nvSpPr>
          <p:cNvPr id="28" name="Text 21"/>
          <p:cNvSpPr txBox="1"/>
          <p:nvPr/>
        </p:nvSpPr>
        <p:spPr>
          <a:xfrm>
            <a:off x="8755380" y="2057400"/>
            <a:ext cx="914400" cy="54864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9" name="Text 22"/>
          <p:cNvSpPr txBox="1"/>
          <p:nvPr/>
        </p:nvSpPr>
        <p:spPr>
          <a:xfrm>
            <a:off x="6400800" y="27432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think longer</a:t>
            </a:r>
            <a:endParaRPr lang="en-US" sz="1600" dirty="0"/>
          </a:p>
        </p:txBody>
      </p:sp>
      <p:sp>
        <p:nvSpPr>
          <p:cNvPr id="30" name="bar + think longer"/>
          <p:cNvSpPr/>
          <p:nvPr/>
        </p:nvSpPr>
        <p:spPr>
          <a:xfrm>
            <a:off x="8138160" y="2846070"/>
            <a:ext cx="68580" cy="342900"/>
          </a:xfrm>
          <a:prstGeom prst="rect">
            <a:avLst/>
          </a:prstGeom>
          <a:solidFill>
            <a:srgbClr val="C00000"/>
          </a:solidFill>
          <a:ln w="6350">
            <a:solidFill>
              <a:srgbClr val="C00000"/>
            </a:solidFill>
            <a:prstDash val="solid"/>
          </a:ln>
        </p:spPr>
      </p:sp>
      <p:sp>
        <p:nvSpPr>
          <p:cNvPr id="31" name="Text 24"/>
          <p:cNvSpPr txBox="1"/>
          <p:nvPr/>
        </p:nvSpPr>
        <p:spPr>
          <a:xfrm>
            <a:off x="8298180" y="27432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2" name="Text 25"/>
          <p:cNvSpPr txBox="1"/>
          <p:nvPr/>
        </p:nvSpPr>
        <p:spPr>
          <a:xfrm>
            <a:off x="6400800" y="34290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long sheet</a:t>
            </a:r>
            <a:endParaRPr lang="en-US" sz="1600" dirty="0"/>
          </a:p>
        </p:txBody>
      </p:sp>
      <p:sp>
        <p:nvSpPr>
          <p:cNvPr id="33" name="bar + long sheet"/>
          <p:cNvSpPr/>
          <p:nvPr/>
        </p:nvSpPr>
        <p:spPr>
          <a:xfrm>
            <a:off x="8138160" y="3531870"/>
            <a:ext cx="160020" cy="342900"/>
          </a:xfrm>
          <a:prstGeom prst="rect">
            <a:avLst/>
          </a:prstGeom>
          <a:solidFill>
            <a:srgbClr val="C00000"/>
          </a:solidFill>
          <a:ln w="6350">
            <a:solidFill>
              <a:srgbClr val="C00000"/>
            </a:solidFill>
            <a:prstDash val="solid"/>
          </a:ln>
        </p:spPr>
      </p:sp>
      <p:sp>
        <p:nvSpPr>
          <p:cNvPr id="34" name="Text 27"/>
          <p:cNvSpPr txBox="1"/>
          <p:nvPr/>
        </p:nvSpPr>
        <p:spPr>
          <a:xfrm>
            <a:off x="8389620" y="34290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5" name="Text 28"/>
          <p:cNvSpPr txBox="1"/>
          <p:nvPr/>
        </p:nvSpPr>
        <p:spPr>
          <a:xfrm>
            <a:off x="6400800" y="41148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short hint</a:t>
            </a:r>
            <a:endParaRPr lang="en-US" sz="1600" dirty="0"/>
          </a:p>
        </p:txBody>
      </p:sp>
      <p:sp>
        <p:nvSpPr>
          <p:cNvPr id="36" name="bar + short hint"/>
          <p:cNvSpPr/>
          <p:nvPr/>
        </p:nvSpPr>
        <p:spPr>
          <a:xfrm>
            <a:off x="8138160" y="4217670"/>
            <a:ext cx="1897380" cy="342900"/>
          </a:xfrm>
          <a:prstGeom prst="rect">
            <a:avLst/>
          </a:prstGeom>
          <a:solidFill>
            <a:srgbClr val="4472C4"/>
          </a:solidFill>
          <a:ln w="6350">
            <a:solidFill>
              <a:srgbClr val="4472C4"/>
            </a:solidFill>
            <a:prstDash val="solid"/>
          </a:ln>
        </p:spPr>
      </p:sp>
      <p:sp>
        <p:nvSpPr>
          <p:cNvPr id="37" name="Text 30"/>
          <p:cNvSpPr txBox="1"/>
          <p:nvPr/>
        </p:nvSpPr>
        <p:spPr>
          <a:xfrm>
            <a:off x="10126980" y="4114800"/>
            <a:ext cx="914400" cy="548640"/>
          </a:xfrm>
          <a:prstGeom prst="rect">
            <a:avLst/>
          </a:prstGeom>
          <a:noFill/>
          <a:ln/>
        </p:spPr>
        <p:txBody>
          <a:bodyPr wrap="square" lIns="0" tIns="0" rIns="0" bIns="0" rtlCol="0" anchor="ctr"/>
          <a:lstStyle/>
          <a:p>
            <a:pPr indent="0" marL="0">
              <a:buNone/>
            </a:pPr>
            <a:r>
              <a:rPr lang="en-US" sz="1800" b="1" dirty="0">
                <a:solidFill>
                  <a:srgbClr val="4472C4"/>
                </a:solidFill>
              </a:rPr>
              <a:t>83%</a:t>
            </a:r>
            <a:endParaRPr lang="en-US" sz="1800" dirty="0"/>
          </a:p>
        </p:txBody>
      </p:sp>
      <p:sp>
        <p:nvSpPr>
          <p:cNvPr id="38" name="Text 31"/>
          <p:cNvSpPr txBox="1"/>
          <p:nvPr/>
        </p:nvSpPr>
        <p:spPr>
          <a:xfrm>
            <a:off x="6400800" y="4937760"/>
            <a:ext cx="4983480" cy="411480"/>
          </a:xfrm>
          <a:prstGeom prst="rect">
            <a:avLst/>
          </a:prstGeom>
          <a:noFill/>
          <a:ln/>
        </p:spPr>
        <p:txBody>
          <a:bodyPr wrap="square" lIns="0" tIns="0" rIns="0" bIns="0" rtlCol="0" anchor="ctr"/>
          <a:lstStyle/>
          <a:p>
            <a:pPr indent="0" marL="0">
              <a:buNone/>
            </a:pPr>
            <a:r>
              <a:rPr lang="en-US" sz="1400" dirty="0">
                <a:solidFill>
                  <a:schemeClr val="tx2"/>
                </a:solidFill>
              </a:rPr>
              <a:t>How we pick the hint without a human: see our method</a:t>
            </a:r>
            <a:endParaRPr lang="en-US" sz="14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 give it the hint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a free check works"/>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640080"/>
          </a:xfrm>
          <a:prstGeom prst="rect">
            <a:avLst/>
          </a:prstGeom>
          <a:noFill/>
          <a:ln/>
        </p:spPr>
        <p:txBody>
          <a:bodyPr wrap="square" lIns="0" tIns="0" rIns="0" bIns="0" rtlCol="0" anchor="t"/>
          <a:lstStyle/>
          <a:p>
            <a:pPr indent="0" marL="0">
              <a:buNone/>
            </a:pPr>
            <a:r>
              <a:rPr lang="en-US" sz="1600" b="1" dirty="0">
                <a:solidFill>
                  <a:srgbClr val="4472C4"/>
                </a:solidFill>
              </a:rPr>
              <a:t>Free check</a:t>
            </a:r>
            <a:pPr indent="0" marL="0">
              <a:buNone/>
            </a:pPr>
            <a:r>
              <a:rPr lang="en-US" sz="1600" dirty="0">
                <a:solidFill>
                  <a:schemeClr val="tx1"/>
                </a:solidFill>
              </a:rPr>
              <a:t>: run the program and compare with something we already know. No answer key, almost no cost.</a:t>
            </a:r>
            <a:endParaRPr lang="en-US" sz="1600" dirty="0"/>
          </a:p>
        </p:txBody>
      </p:sp>
      <p:sp>
        <p:nvSpPr>
          <p:cNvPr id="13" name="box The problem shows an"/>
          <p:cNvSpPr/>
          <p:nvPr/>
        </p:nvSpPr>
        <p:spPr>
          <a:xfrm>
            <a:off x="777240" y="2148840"/>
            <a:ext cx="4892040" cy="530352"/>
          </a:xfrm>
          <a:prstGeom prst="roundRect">
            <a:avLst>
              <a:gd name="adj" fmla="val 10345"/>
            </a:avLst>
          </a:prstGeom>
          <a:solidFill>
            <a:srgbClr val="FFFFFF"/>
          </a:solidFill>
          <a:ln w="9525">
            <a:solidFill>
              <a:srgbClr val="BFBFBF"/>
            </a:solidFill>
            <a:prstDash val="solid"/>
          </a:ln>
        </p:spPr>
      </p:sp>
      <p:sp>
        <p:nvSpPr>
          <p:cNvPr id="14" name="Text 7"/>
          <p:cNvSpPr txBox="1"/>
          <p:nvPr/>
        </p:nvSpPr>
        <p:spPr>
          <a:xfrm>
            <a:off x="850392" y="2148840"/>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The problem shows an example: sticks 3 4 5 → answer 0</a:t>
            </a:r>
            <a:endParaRPr lang="en-US" sz="1500" dirty="0"/>
          </a:p>
        </p:txBody>
      </p:sp>
      <p:sp>
        <p:nvSpPr>
          <p:cNvPr id="15" name="Shape 8"/>
          <p:cNvSpPr/>
          <p:nvPr/>
        </p:nvSpPr>
        <p:spPr>
          <a:xfrm>
            <a:off x="3218688" y="2679192"/>
            <a:ext cx="0" cy="182880"/>
          </a:xfrm>
          <a:prstGeom prst="line">
            <a:avLst/>
          </a:prstGeom>
          <a:noFill/>
          <a:ln w="25400">
            <a:solidFill>
              <a:srgbClr val="7F7F7F"/>
            </a:solidFill>
            <a:prstDash val="solid"/>
            <a:tailEnd type="triangle"/>
          </a:ln>
        </p:spPr>
      </p:sp>
      <p:sp>
        <p:nvSpPr>
          <p:cNvPr id="16" name="box Run our program on 3"/>
          <p:cNvSpPr/>
          <p:nvPr/>
        </p:nvSpPr>
        <p:spPr>
          <a:xfrm>
            <a:off x="777240" y="2862072"/>
            <a:ext cx="4892040" cy="530352"/>
          </a:xfrm>
          <a:prstGeom prst="roundRect">
            <a:avLst>
              <a:gd name="adj" fmla="val 10345"/>
            </a:avLst>
          </a:prstGeom>
          <a:solidFill>
            <a:srgbClr val="FFFFFF"/>
          </a:solidFill>
          <a:ln w="9525">
            <a:solidFill>
              <a:srgbClr val="BFBFBF"/>
            </a:solidFill>
            <a:prstDash val="solid"/>
          </a:ln>
        </p:spPr>
      </p:sp>
      <p:sp>
        <p:nvSpPr>
          <p:cNvPr id="17" name="Text 10"/>
          <p:cNvSpPr txBox="1"/>
          <p:nvPr/>
        </p:nvSpPr>
        <p:spPr>
          <a:xfrm>
            <a:off x="850392" y="2862072"/>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Run our program on 3 4 5 (no model needed): it prints 0</a:t>
            </a:r>
            <a:endParaRPr lang="en-US" sz="1500" dirty="0"/>
          </a:p>
        </p:txBody>
      </p:sp>
      <p:sp>
        <p:nvSpPr>
          <p:cNvPr id="18" name="Shape 11"/>
          <p:cNvSpPr/>
          <p:nvPr/>
        </p:nvSpPr>
        <p:spPr>
          <a:xfrm>
            <a:off x="1920240" y="3392424"/>
            <a:ext cx="182880" cy="201168"/>
          </a:xfrm>
          <a:prstGeom prst="line">
            <a:avLst/>
          </a:prstGeom>
          <a:noFill/>
          <a:ln w="25400">
            <a:solidFill>
              <a:srgbClr val="7F7F7F"/>
            </a:solidFill>
            <a:prstDash val="solid"/>
            <a:tailEnd type="triangle"/>
          </a:ln>
        </p:spPr>
      </p:sp>
      <p:sp>
        <p:nvSpPr>
          <p:cNvPr id="19" name="Shape 12"/>
          <p:cNvSpPr/>
          <p:nvPr/>
        </p:nvSpPr>
        <p:spPr>
          <a:xfrm>
            <a:off x="4343400" y="3392424"/>
            <a:ext cx="182880" cy="201168"/>
          </a:xfrm>
          <a:prstGeom prst="line">
            <a:avLst/>
          </a:prstGeom>
          <a:noFill/>
          <a:ln w="25400">
            <a:solidFill>
              <a:srgbClr val="7F7F7F"/>
            </a:solidFill>
            <a:prstDash val="solid"/>
            <a:tailEnd type="triangle"/>
          </a:ln>
        </p:spPr>
      </p:sp>
      <p:sp>
        <p:nvSpPr>
          <p:cNvPr id="20" name="box ✓ same → submit (no "/>
          <p:cNvSpPr/>
          <p:nvPr/>
        </p:nvSpPr>
        <p:spPr>
          <a:xfrm>
            <a:off x="777240" y="3593592"/>
            <a:ext cx="2377440" cy="603504"/>
          </a:xfrm>
          <a:prstGeom prst="roundRect">
            <a:avLst>
              <a:gd name="adj" fmla="val 9091"/>
            </a:avLst>
          </a:prstGeom>
          <a:solidFill>
            <a:srgbClr val="E2F0D9"/>
          </a:solidFill>
          <a:ln w="9525">
            <a:solidFill>
              <a:srgbClr val="BFBFBF"/>
            </a:solidFill>
            <a:prstDash val="solid"/>
          </a:ln>
        </p:spPr>
      </p:sp>
      <p:sp>
        <p:nvSpPr>
          <p:cNvPr id="21" name="Text 14"/>
          <p:cNvSpPr txBox="1"/>
          <p:nvPr/>
        </p:nvSpPr>
        <p:spPr>
          <a:xfrm>
            <a:off x="850392" y="3593592"/>
            <a:ext cx="2231136" cy="603504"/>
          </a:xfrm>
          <a:prstGeom prst="rect">
            <a:avLst/>
          </a:prstGeom>
          <a:noFill/>
          <a:ln/>
        </p:spPr>
        <p:txBody>
          <a:bodyPr wrap="square" lIns="0" tIns="0" rIns="0" bIns="0" rtlCol="0" anchor="ctr"/>
          <a:lstStyle/>
          <a:p>
            <a:pPr algn="ctr" indent="0" marL="0">
              <a:buNone/>
            </a:pPr>
            <a:r>
              <a:rPr lang="en-US" sz="1500" b="1" dirty="0">
                <a:solidFill>
                  <a:srgbClr val="38761D"/>
                </a:solidFill>
              </a:rPr>
              <a:t>✓ same → submit (no extra tokens)</a:t>
            </a:r>
            <a:endParaRPr lang="en-US" sz="1500" dirty="0"/>
          </a:p>
        </p:txBody>
      </p:sp>
      <p:sp>
        <p:nvSpPr>
          <p:cNvPr id="22" name="box ✗ different → think "/>
          <p:cNvSpPr/>
          <p:nvPr/>
        </p:nvSpPr>
        <p:spPr>
          <a:xfrm>
            <a:off x="3291840" y="3593592"/>
            <a:ext cx="2377440" cy="603504"/>
          </a:xfrm>
          <a:prstGeom prst="roundRect">
            <a:avLst>
              <a:gd name="adj" fmla="val 9091"/>
            </a:avLst>
          </a:prstGeom>
          <a:solidFill>
            <a:srgbClr val="FADBD8"/>
          </a:solidFill>
          <a:ln w="9525">
            <a:solidFill>
              <a:srgbClr val="BFBFBF"/>
            </a:solidFill>
            <a:prstDash val="solid"/>
          </a:ln>
        </p:spPr>
      </p:sp>
      <p:sp>
        <p:nvSpPr>
          <p:cNvPr id="23" name="Text 16"/>
          <p:cNvSpPr txBox="1"/>
          <p:nvPr/>
        </p:nvSpPr>
        <p:spPr>
          <a:xfrm>
            <a:off x="3364992" y="3593592"/>
            <a:ext cx="2231136" cy="603504"/>
          </a:xfrm>
          <a:prstGeom prst="rect">
            <a:avLst/>
          </a:prstGeom>
          <a:noFill/>
          <a:ln/>
        </p:spPr>
        <p:txBody>
          <a:bodyPr wrap="square" lIns="0" tIns="0" rIns="0" bIns="0" rtlCol="0" anchor="ctr"/>
          <a:lstStyle/>
          <a:p>
            <a:pPr algn="ctr" indent="0" marL="0">
              <a:buNone/>
            </a:pPr>
            <a:r>
              <a:rPr lang="en-US" sz="1500" b="1" dirty="0">
                <a:solidFill>
                  <a:srgbClr val="C00000"/>
                </a:solidFill>
              </a:rPr>
              <a:t>✗ different → think harder, write again</a:t>
            </a:r>
            <a:endParaRPr lang="en-US" sz="1500" dirty="0"/>
          </a:p>
        </p:txBody>
      </p:sp>
      <p:sp>
        <p:nvSpPr>
          <p:cNvPr id="24" name="Text 17"/>
          <p:cNvSpPr txBox="1"/>
          <p:nvPr/>
        </p:nvSpPr>
        <p:spPr>
          <a:xfrm>
            <a:off x="777240" y="4315968"/>
            <a:ext cx="4892040" cy="347472"/>
          </a:xfrm>
          <a:prstGeom prst="rect">
            <a:avLst/>
          </a:prstGeom>
          <a:noFill/>
          <a:ln/>
        </p:spPr>
        <p:txBody>
          <a:bodyPr wrap="square" lIns="0" tIns="0" rIns="0" bIns="0" rtlCol="0" anchor="ctr"/>
          <a:lstStyle/>
          <a:p>
            <a:pPr indent="0" marL="0">
              <a:buNone/>
            </a:pPr>
            <a:r>
              <a:rPr lang="en-US" sz="1500" b="1" dirty="0">
                <a:solidFill>
                  <a:schemeClr val="tx1"/>
                </a:solidFill>
              </a:rPr>
              <a:t>No example? Write the program twice, compare:</a:t>
            </a:r>
            <a:endParaRPr lang="en-US" sz="1500" dirty="0"/>
          </a:p>
        </p:txBody>
      </p:sp>
      <p:sp>
        <p:nvSpPr>
          <p:cNvPr id="25" name="box version A prints 6"/>
          <p:cNvSpPr/>
          <p:nvPr/>
        </p:nvSpPr>
        <p:spPr>
          <a:xfrm>
            <a:off x="777240" y="4736592"/>
            <a:ext cx="1463040" cy="530352"/>
          </a:xfrm>
          <a:prstGeom prst="roundRect">
            <a:avLst>
              <a:gd name="adj" fmla="val 10345"/>
            </a:avLst>
          </a:prstGeom>
          <a:solidFill>
            <a:srgbClr val="FFFFFF"/>
          </a:solidFill>
          <a:ln w="9525">
            <a:solidFill>
              <a:srgbClr val="BFBFBF"/>
            </a:solidFill>
            <a:prstDash val="solid"/>
          </a:ln>
        </p:spPr>
      </p:sp>
      <p:sp>
        <p:nvSpPr>
          <p:cNvPr id="26" name="Text 19"/>
          <p:cNvSpPr txBox="1"/>
          <p:nvPr/>
        </p:nvSpPr>
        <p:spPr>
          <a:xfrm>
            <a:off x="85039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A prints 6</a:t>
            </a:r>
            <a:endParaRPr lang="en-US" sz="1400" dirty="0"/>
          </a:p>
        </p:txBody>
      </p:sp>
      <p:sp>
        <p:nvSpPr>
          <p:cNvPr id="27" name="box version B prints 0"/>
          <p:cNvSpPr/>
          <p:nvPr/>
        </p:nvSpPr>
        <p:spPr>
          <a:xfrm>
            <a:off x="2331720" y="4736592"/>
            <a:ext cx="1463040" cy="530352"/>
          </a:xfrm>
          <a:prstGeom prst="roundRect">
            <a:avLst>
              <a:gd name="adj" fmla="val 10345"/>
            </a:avLst>
          </a:prstGeom>
          <a:solidFill>
            <a:srgbClr val="FFFFFF"/>
          </a:solidFill>
          <a:ln w="9525">
            <a:solidFill>
              <a:srgbClr val="BFBFBF"/>
            </a:solidFill>
            <a:prstDash val="solid"/>
          </a:ln>
        </p:spPr>
      </p:sp>
      <p:sp>
        <p:nvSpPr>
          <p:cNvPr id="28" name="Text 21"/>
          <p:cNvSpPr txBox="1"/>
          <p:nvPr/>
        </p:nvSpPr>
        <p:spPr>
          <a:xfrm>
            <a:off x="240487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B prints 0</a:t>
            </a:r>
            <a:endParaRPr lang="en-US" sz="1400" dirty="0"/>
          </a:p>
        </p:txBody>
      </p:sp>
      <p:sp>
        <p:nvSpPr>
          <p:cNvPr id="29" name="Shape 22"/>
          <p:cNvSpPr/>
          <p:nvPr/>
        </p:nvSpPr>
        <p:spPr>
          <a:xfrm>
            <a:off x="3794760" y="5001768"/>
            <a:ext cx="228600" cy="0"/>
          </a:xfrm>
          <a:prstGeom prst="line">
            <a:avLst/>
          </a:prstGeom>
          <a:noFill/>
          <a:ln w="25400">
            <a:solidFill>
              <a:srgbClr val="7F7F7F"/>
            </a:solidFill>
            <a:prstDash val="solid"/>
            <a:tailEnd type="triangle"/>
          </a:ln>
        </p:spPr>
      </p:sp>
      <p:sp>
        <p:nvSpPr>
          <p:cNvPr id="30" name="box ✗ different → think"/>
          <p:cNvSpPr/>
          <p:nvPr/>
        </p:nvSpPr>
        <p:spPr>
          <a:xfrm>
            <a:off x="4023360" y="4736592"/>
            <a:ext cx="1645920" cy="530352"/>
          </a:xfrm>
          <a:prstGeom prst="roundRect">
            <a:avLst>
              <a:gd name="adj" fmla="val 10345"/>
            </a:avLst>
          </a:prstGeom>
          <a:solidFill>
            <a:srgbClr val="FADBD8"/>
          </a:solidFill>
          <a:ln w="9525">
            <a:solidFill>
              <a:srgbClr val="BFBFBF"/>
            </a:solidFill>
            <a:prstDash val="solid"/>
          </a:ln>
        </p:spPr>
      </p:sp>
      <p:sp>
        <p:nvSpPr>
          <p:cNvPr id="31" name="Text 24"/>
          <p:cNvSpPr txBox="1"/>
          <p:nvPr/>
        </p:nvSpPr>
        <p:spPr>
          <a:xfrm>
            <a:off x="4096512" y="4736592"/>
            <a:ext cx="1499616" cy="530352"/>
          </a:xfrm>
          <a:prstGeom prst="rect">
            <a:avLst/>
          </a:prstGeom>
          <a:noFill/>
          <a:ln/>
        </p:spPr>
        <p:txBody>
          <a:bodyPr wrap="square" lIns="0" tIns="0" rIns="0" bIns="0" rtlCol="0" anchor="ctr"/>
          <a:lstStyle/>
          <a:p>
            <a:pPr algn="ctr" indent="0" marL="0">
              <a:buNone/>
            </a:pPr>
            <a:r>
              <a:rPr lang="en-US" sz="1400" b="1" dirty="0">
                <a:solidFill>
                  <a:srgbClr val="C00000"/>
                </a:solidFill>
              </a:rPr>
              <a:t>✗ different → think</a:t>
            </a:r>
            <a:endParaRPr lang="en-US" sz="1400" dirty="0"/>
          </a:p>
        </p:txBody>
      </p:sp>
      <p:sp>
        <p:nvSpPr>
          <p:cNvPr id="32"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the same accuracy, fewer tokens</a:t>
            </a:r>
            <a:endParaRPr lang="en-US" sz="1800" dirty="0"/>
          </a:p>
        </p:txBody>
      </p:sp>
      <p:sp>
        <p:nvSpPr>
          <p:cNvPr id="34" name="Text 27"/>
          <p:cNvSpPr txBox="1"/>
          <p:nvPr/>
        </p:nvSpPr>
        <p:spPr>
          <a:xfrm>
            <a:off x="6400800" y="184708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35" name="Text 28"/>
          <p:cNvSpPr txBox="1"/>
          <p:nvPr/>
        </p:nvSpPr>
        <p:spPr>
          <a:xfrm>
            <a:off x="864108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6" name="Text 29"/>
          <p:cNvSpPr txBox="1"/>
          <p:nvPr/>
        </p:nvSpPr>
        <p:spPr>
          <a:xfrm>
            <a:off x="9555480" y="2103120"/>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7" name="Text 30"/>
          <p:cNvSpPr txBox="1"/>
          <p:nvPr/>
        </p:nvSpPr>
        <p:spPr>
          <a:xfrm>
            <a:off x="6400800" y="2468880"/>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38" name="Text 31"/>
          <p:cNvSpPr txBox="1"/>
          <p:nvPr/>
        </p:nvSpPr>
        <p:spPr>
          <a:xfrm>
            <a:off x="864108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39" name="tokens always think hard"/>
          <p:cNvSpPr/>
          <p:nvPr/>
        </p:nvSpPr>
        <p:spPr>
          <a:xfrm>
            <a:off x="9555480" y="2569464"/>
            <a:ext cx="1097280" cy="256032"/>
          </a:xfrm>
          <a:prstGeom prst="rect">
            <a:avLst/>
          </a:prstGeom>
          <a:solidFill>
            <a:srgbClr val="7F7F7F"/>
          </a:solidFill>
          <a:ln w="6350">
            <a:solidFill>
              <a:srgbClr val="7F7F7F"/>
            </a:solidFill>
            <a:prstDash val="solid"/>
          </a:ln>
        </p:spPr>
      </p:sp>
      <p:sp>
        <p:nvSpPr>
          <p:cNvPr id="40" name="Text 33"/>
          <p:cNvSpPr txBox="1"/>
          <p:nvPr/>
        </p:nvSpPr>
        <p:spPr>
          <a:xfrm>
            <a:off x="10744200"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41" name="Text 34"/>
          <p:cNvSpPr txBox="1"/>
          <p:nvPr/>
        </p:nvSpPr>
        <p:spPr>
          <a:xfrm>
            <a:off x="6400800" y="290779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42" name="Text 35"/>
          <p:cNvSpPr txBox="1"/>
          <p:nvPr/>
        </p:nvSpPr>
        <p:spPr>
          <a:xfrm>
            <a:off x="8641080" y="29077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43" name="tokens think only on failure"/>
          <p:cNvSpPr/>
          <p:nvPr/>
        </p:nvSpPr>
        <p:spPr>
          <a:xfrm>
            <a:off x="9555480" y="3008376"/>
            <a:ext cx="900426" cy="256032"/>
          </a:xfrm>
          <a:prstGeom prst="rect">
            <a:avLst/>
          </a:prstGeom>
          <a:solidFill>
            <a:srgbClr val="4472C4"/>
          </a:solidFill>
          <a:ln w="6350">
            <a:solidFill>
              <a:srgbClr val="4472C4"/>
            </a:solidFill>
            <a:prstDash val="solid"/>
          </a:ln>
        </p:spPr>
      </p:sp>
      <p:sp>
        <p:nvSpPr>
          <p:cNvPr id="44" name="Text 37"/>
          <p:cNvSpPr txBox="1"/>
          <p:nvPr/>
        </p:nvSpPr>
        <p:spPr>
          <a:xfrm>
            <a:off x="10547346" y="29077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5" name="Text 38"/>
          <p:cNvSpPr txBox="1"/>
          <p:nvPr/>
        </p:nvSpPr>
        <p:spPr>
          <a:xfrm>
            <a:off x="6400800" y="3364992"/>
            <a:ext cx="4983480" cy="457200"/>
          </a:xfrm>
          <a:prstGeom prst="rect">
            <a:avLst/>
          </a:prstGeom>
          <a:noFill/>
          <a:ln/>
        </p:spPr>
        <p:txBody>
          <a:bodyPr wrap="square" lIns="0" tIns="0" rIns="0" bIns="0" rtlCol="0" anchor="t"/>
          <a:lstStyle/>
          <a:p>
            <a:pPr indent="0" marL="0">
              <a:buNone/>
            </a:pPr>
            <a:r>
              <a:rPr lang="en-US" sz="1400" dirty="0">
                <a:solidFill>
                  <a:schemeClr val="tx2"/>
                </a:solidFill>
              </a:rPr>
              <a:t>examples alone give 65.0% at 20k; adding a brute-force program as a second check gives 66.3%</a:t>
            </a:r>
            <a:endParaRPr lang="en-US" sz="1400" dirty="0"/>
          </a:p>
        </p:txBody>
      </p:sp>
      <p:sp>
        <p:nvSpPr>
          <p:cNvPr id="46" name="Text 39"/>
          <p:cNvSpPr txBox="1"/>
          <p:nvPr/>
        </p:nvSpPr>
        <p:spPr>
          <a:xfrm>
            <a:off x="6400800" y="393192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a:t>
            </a:r>
            <a:endParaRPr lang="en-US" sz="1500" dirty="0"/>
          </a:p>
        </p:txBody>
      </p:sp>
      <p:sp>
        <p:nvSpPr>
          <p:cNvPr id="47" name="Text 40"/>
          <p:cNvSpPr txBox="1"/>
          <p:nvPr/>
        </p:nvSpPr>
        <p:spPr>
          <a:xfrm>
            <a:off x="8641080" y="418795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8" name="Text 41"/>
          <p:cNvSpPr txBox="1"/>
          <p:nvPr/>
        </p:nvSpPr>
        <p:spPr>
          <a:xfrm>
            <a:off x="9555480" y="4187952"/>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9" name="Text 42"/>
          <p:cNvSpPr txBox="1"/>
          <p:nvPr/>
        </p:nvSpPr>
        <p:spPr>
          <a:xfrm>
            <a:off x="6400800" y="455371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50" name="Text 43"/>
          <p:cNvSpPr txBox="1"/>
          <p:nvPr/>
        </p:nvSpPr>
        <p:spPr>
          <a:xfrm>
            <a:off x="8641080" y="455371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51" name="tokens always think"/>
          <p:cNvSpPr/>
          <p:nvPr/>
        </p:nvSpPr>
        <p:spPr>
          <a:xfrm>
            <a:off x="9555480" y="4654296"/>
            <a:ext cx="1097280" cy="256032"/>
          </a:xfrm>
          <a:prstGeom prst="rect">
            <a:avLst/>
          </a:prstGeom>
          <a:solidFill>
            <a:srgbClr val="7F7F7F"/>
          </a:solidFill>
          <a:ln w="6350">
            <a:solidFill>
              <a:srgbClr val="7F7F7F"/>
            </a:solidFill>
            <a:prstDash val="solid"/>
          </a:ln>
        </p:spPr>
      </p:sp>
      <p:sp>
        <p:nvSpPr>
          <p:cNvPr id="52" name="Text 45"/>
          <p:cNvSpPr txBox="1"/>
          <p:nvPr/>
        </p:nvSpPr>
        <p:spPr>
          <a:xfrm>
            <a:off x="10744200" y="455371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53" name="Text 46"/>
          <p:cNvSpPr txBox="1"/>
          <p:nvPr/>
        </p:nvSpPr>
        <p:spPr>
          <a:xfrm>
            <a:off x="6400800" y="4992624"/>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54" name="Text 47"/>
          <p:cNvSpPr txBox="1"/>
          <p:nvPr/>
        </p:nvSpPr>
        <p:spPr>
          <a:xfrm>
            <a:off x="8641080" y="499262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55" name="tokens think only on failure"/>
          <p:cNvSpPr/>
          <p:nvPr/>
        </p:nvSpPr>
        <p:spPr>
          <a:xfrm>
            <a:off x="9555480" y="5093208"/>
            <a:ext cx="799713" cy="256032"/>
          </a:xfrm>
          <a:prstGeom prst="rect">
            <a:avLst/>
          </a:prstGeom>
          <a:solidFill>
            <a:srgbClr val="4472C4"/>
          </a:solidFill>
          <a:ln w="6350">
            <a:solidFill>
              <a:srgbClr val="4472C4"/>
            </a:solidFill>
            <a:prstDash val="solid"/>
          </a:ln>
        </p:spPr>
      </p:sp>
      <p:sp>
        <p:nvSpPr>
          <p:cNvPr id="56" name="Text 49"/>
          <p:cNvSpPr txBox="1"/>
          <p:nvPr/>
        </p:nvSpPr>
        <p:spPr>
          <a:xfrm>
            <a:off x="10446633" y="499262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57"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229600" y="987552"/>
            <a:ext cx="3383280" cy="274320"/>
          </a:xfrm>
          <a:prstGeom prst="rect">
            <a:avLst/>
          </a:prstGeom>
          <a:noFill/>
          <a:ln/>
        </p:spPr>
        <p:txBody>
          <a:bodyPr wrap="square" lIns="0" tIns="0" rIns="0" bIns="0" rtlCol="0" anchor="ctr"/>
          <a:lstStyle/>
          <a:p>
            <a:pPr algn="r" indent="0" marL="0">
              <a:buNone/>
            </a:pPr>
            <a:r>
              <a:rPr lang="en-US" sz="1400" dirty="0">
                <a:solidFill>
                  <a:srgbClr val="7F7F7F"/>
                </a:solidFill>
              </a:rPr>
              <a:t>icons: where each step is used</a:t>
            </a:r>
            <a:endParaRPr lang="en-US" sz="1400" dirty="0"/>
          </a:p>
        </p:txBody>
      </p:sp>
      <p:sp>
        <p:nvSpPr>
          <p:cNvPr id="10" name="box ① program + hint"/>
          <p:cNvSpPr/>
          <p:nvPr/>
        </p:nvSpPr>
        <p:spPr>
          <a:xfrm>
            <a:off x="548640" y="1325880"/>
            <a:ext cx="2606040" cy="502920"/>
          </a:xfrm>
          <a:prstGeom prst="roundRect">
            <a:avLst>
              <a:gd name="adj" fmla="val 10909"/>
            </a:avLst>
          </a:prstGeom>
          <a:solidFill>
            <a:srgbClr val="F2F2F2"/>
          </a:solidFill>
          <a:ln w="9525">
            <a:solidFill>
              <a:srgbClr val="BFBFBF"/>
            </a:solidFill>
            <a:prstDash val="solid"/>
          </a:ln>
        </p:spPr>
      </p:sp>
      <p:sp>
        <p:nvSpPr>
          <p:cNvPr id="11" name="Text 7"/>
          <p:cNvSpPr txBox="1"/>
          <p:nvPr/>
        </p:nvSpPr>
        <p:spPr>
          <a:xfrm>
            <a:off x="621792"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① program + hint</a:t>
            </a:r>
            <a:endParaRPr lang="en-US" sz="1500" dirty="0"/>
          </a:p>
        </p:txBody>
      </p:sp>
      <p:sp>
        <p:nvSpPr>
          <p:cNvPr id="12" name="Shape 8"/>
          <p:cNvSpPr/>
          <p:nvPr/>
        </p:nvSpPr>
        <p:spPr>
          <a:xfrm>
            <a:off x="3154680" y="1572768"/>
            <a:ext cx="201168" cy="0"/>
          </a:xfrm>
          <a:prstGeom prst="line">
            <a:avLst/>
          </a:prstGeom>
          <a:noFill/>
          <a:ln w="25400">
            <a:solidFill>
              <a:srgbClr val="7F7F7F"/>
            </a:solidFill>
            <a:prstDash val="solid"/>
            <a:tailEnd type="triangle"/>
          </a:ln>
        </p:spPr>
      </p:sp>
      <p:pic>
        <p:nvPicPr>
          <p:cNvPr id="13" name="step 1 used on shapes" descr="/NAS/SJ/POSTECH/nlp/figs/icons/shapes.png">    </p:cNvPr>
          <p:cNvPicPr>
            <a:picLocks noChangeAspect="1"/>
          </p:cNvPicPr>
          <p:nvPr/>
        </p:nvPicPr>
        <p:blipFill>
          <a:blip r:embed="rId3"/>
          <a:stretch>
            <a:fillRect/>
          </a:stretch>
        </p:blipFill>
        <p:spPr>
          <a:xfrm>
            <a:off x="1335024" y="1892808"/>
            <a:ext cx="219456" cy="219456"/>
          </a:xfrm>
          <a:prstGeom prst="rect">
            <a:avLst/>
          </a:prstGeom>
        </p:spPr>
      </p:pic>
      <p:pic>
        <p:nvPicPr>
          <p:cNvPr id="14" name="step 1 not needed on trophy" descr="/NAS/SJ/POSTECH/nlp/figs/icons/trophy.png">    </p:cNvPr>
          <p:cNvPicPr>
            <a:picLocks noChangeAspect="1"/>
          </p:cNvPicPr>
          <p:nvPr/>
        </p:nvPicPr>
        <p:blipFill>
          <a:blip r:embed="rId4">
            <a:alphaModFix amt="18000"/>
          </a:blip>
          <a:stretch>
            <a:fillRect/>
          </a:stretch>
        </p:blipFill>
        <p:spPr>
          <a:xfrm>
            <a:off x="1609344" y="1892808"/>
            <a:ext cx="219456" cy="219456"/>
          </a:xfrm>
          <a:prstGeom prst="rect">
            <a:avLst/>
          </a:prstGeom>
        </p:spPr>
      </p:pic>
      <p:pic>
        <p:nvPicPr>
          <p:cNvPr id="15" name="step 1 used on truck" descr="/NAS/SJ/POSTECH/nlp/figs/icons/truck.png">    </p:cNvPr>
          <p:cNvPicPr>
            <a:picLocks noChangeAspect="1"/>
          </p:cNvPicPr>
          <p:nvPr/>
        </p:nvPicPr>
        <p:blipFill>
          <a:blip r:embed="rId5"/>
          <a:stretch>
            <a:fillRect/>
          </a:stretch>
        </p:blipFill>
        <p:spPr>
          <a:xfrm>
            <a:off x="1883664" y="1892808"/>
            <a:ext cx="219456" cy="219456"/>
          </a:xfrm>
          <a:prstGeom prst="rect">
            <a:avLst/>
          </a:prstGeom>
        </p:spPr>
      </p:pic>
      <p:pic>
        <p:nvPicPr>
          <p:cNvPr id="16" name="step 1 used on calc" descr="/NAS/SJ/POSTECH/nlp/figs/icons/calc.png">    </p:cNvPr>
          <p:cNvPicPr>
            <a:picLocks noChangeAspect="1"/>
          </p:cNvPicPr>
          <p:nvPr/>
        </p:nvPicPr>
        <p:blipFill>
          <a:blip r:embed="rId6"/>
          <a:stretch>
            <a:fillRect/>
          </a:stretch>
        </p:blipFill>
        <p:spPr>
          <a:xfrm>
            <a:off x="2157984" y="1892808"/>
            <a:ext cx="219456" cy="219456"/>
          </a:xfrm>
          <a:prstGeom prst="rect">
            <a:avLst/>
          </a:prstGeom>
        </p:spPr>
      </p:pic>
      <p:sp>
        <p:nvSpPr>
          <p:cNvPr id="17" name="box ② free check"/>
          <p:cNvSpPr/>
          <p:nvPr/>
        </p:nvSpPr>
        <p:spPr>
          <a:xfrm>
            <a:off x="3355848" y="1325880"/>
            <a:ext cx="2606040" cy="502920"/>
          </a:xfrm>
          <a:prstGeom prst="roundRect">
            <a:avLst>
              <a:gd name="adj" fmla="val 10909"/>
            </a:avLst>
          </a:prstGeom>
          <a:solidFill>
            <a:srgbClr val="DEEBF7"/>
          </a:solidFill>
          <a:ln w="9525">
            <a:solidFill>
              <a:srgbClr val="BFBFBF"/>
            </a:solidFill>
            <a:prstDash val="solid"/>
          </a:ln>
        </p:spPr>
      </p:sp>
      <p:sp>
        <p:nvSpPr>
          <p:cNvPr id="18" name="Text 10"/>
          <p:cNvSpPr txBox="1"/>
          <p:nvPr/>
        </p:nvSpPr>
        <p:spPr>
          <a:xfrm>
            <a:off x="3429000" y="1325880"/>
            <a:ext cx="2459736" cy="502920"/>
          </a:xfrm>
          <a:prstGeom prst="rect">
            <a:avLst/>
          </a:prstGeom>
          <a:noFill/>
          <a:ln/>
        </p:spPr>
        <p:txBody>
          <a:bodyPr wrap="square" lIns="0" tIns="0" rIns="0" bIns="0" rtlCol="0" anchor="ctr"/>
          <a:lstStyle/>
          <a:p>
            <a:pPr algn="ctr" indent="0" marL="0">
              <a:buNone/>
            </a:pPr>
            <a:r>
              <a:rPr lang="en-US" sz="1500" b="1" dirty="0">
                <a:solidFill>
                  <a:srgbClr val="1F3864"/>
                </a:solidFill>
              </a:rPr>
              <a:t>② free check</a:t>
            </a:r>
            <a:endParaRPr lang="en-US" sz="1500" dirty="0"/>
          </a:p>
        </p:txBody>
      </p:sp>
      <p:sp>
        <p:nvSpPr>
          <p:cNvPr id="19" name="Shape 11"/>
          <p:cNvSpPr/>
          <p:nvPr/>
        </p:nvSpPr>
        <p:spPr>
          <a:xfrm>
            <a:off x="5961888" y="1572768"/>
            <a:ext cx="201168" cy="0"/>
          </a:xfrm>
          <a:prstGeom prst="line">
            <a:avLst/>
          </a:prstGeom>
          <a:noFill/>
          <a:ln w="25400">
            <a:solidFill>
              <a:srgbClr val="7F7F7F"/>
            </a:solidFill>
            <a:prstDash val="solid"/>
            <a:tailEnd type="triangle"/>
          </a:ln>
        </p:spPr>
      </p:sp>
      <p:pic>
        <p:nvPicPr>
          <p:cNvPr id="20" name="step 2 used on shapes" descr="/NAS/SJ/POSTECH/nlp/figs/icons/shapes.png">    </p:cNvPr>
          <p:cNvPicPr>
            <a:picLocks noChangeAspect="1"/>
          </p:cNvPicPr>
          <p:nvPr/>
        </p:nvPicPr>
        <p:blipFill>
          <a:blip r:embed="rId7"/>
          <a:stretch>
            <a:fillRect/>
          </a:stretch>
        </p:blipFill>
        <p:spPr>
          <a:xfrm>
            <a:off x="4142232" y="1892808"/>
            <a:ext cx="219456" cy="219456"/>
          </a:xfrm>
          <a:prstGeom prst="rect">
            <a:avLst/>
          </a:prstGeom>
        </p:spPr>
      </p:pic>
      <p:pic>
        <p:nvPicPr>
          <p:cNvPr id="21" name="step 2 used on trophy" descr="/NAS/SJ/POSTECH/nlp/figs/icons/trophy.png">    </p:cNvPr>
          <p:cNvPicPr>
            <a:picLocks noChangeAspect="1"/>
          </p:cNvPicPr>
          <p:nvPr/>
        </p:nvPicPr>
        <p:blipFill>
          <a:blip r:embed="rId8"/>
          <a:stretch>
            <a:fillRect/>
          </a:stretch>
        </p:blipFill>
        <p:spPr>
          <a:xfrm>
            <a:off x="4416552" y="1892808"/>
            <a:ext cx="219456" cy="219456"/>
          </a:xfrm>
          <a:prstGeom prst="rect">
            <a:avLst/>
          </a:prstGeom>
        </p:spPr>
      </p:pic>
      <p:pic>
        <p:nvPicPr>
          <p:cNvPr id="22" name="step 2 used on truck" descr="/NAS/SJ/POSTECH/nlp/figs/icons/truck.png">    </p:cNvPr>
          <p:cNvPicPr>
            <a:picLocks noChangeAspect="1"/>
          </p:cNvPicPr>
          <p:nvPr/>
        </p:nvPicPr>
        <p:blipFill>
          <a:blip r:embed="rId9"/>
          <a:stretch>
            <a:fillRect/>
          </a:stretch>
        </p:blipFill>
        <p:spPr>
          <a:xfrm>
            <a:off x="4690872" y="1892808"/>
            <a:ext cx="219456" cy="219456"/>
          </a:xfrm>
          <a:prstGeom prst="rect">
            <a:avLst/>
          </a:prstGeom>
        </p:spPr>
      </p:pic>
      <p:pic>
        <p:nvPicPr>
          <p:cNvPr id="23" name="step 2 used on calc" descr="/NAS/SJ/POSTECH/nlp/figs/icons/calc.png">    </p:cNvPr>
          <p:cNvPicPr>
            <a:picLocks noChangeAspect="1"/>
          </p:cNvPicPr>
          <p:nvPr/>
        </p:nvPicPr>
        <p:blipFill>
          <a:blip r:embed="rId10"/>
          <a:stretch>
            <a:fillRect/>
          </a:stretch>
        </p:blipFill>
        <p:spPr>
          <a:xfrm>
            <a:off x="4965192" y="1892808"/>
            <a:ext cx="219456" cy="219456"/>
          </a:xfrm>
          <a:prstGeom prst="rect">
            <a:avLst/>
          </a:prstGeom>
        </p:spPr>
      </p:pic>
      <p:sp>
        <p:nvSpPr>
          <p:cNvPr id="24" name="box ③ pass: submit · fai"/>
          <p:cNvSpPr/>
          <p:nvPr/>
        </p:nvSpPr>
        <p:spPr>
          <a:xfrm>
            <a:off x="6163056" y="1325880"/>
            <a:ext cx="2606040" cy="502920"/>
          </a:xfrm>
          <a:prstGeom prst="roundRect">
            <a:avLst>
              <a:gd name="adj" fmla="val 10909"/>
            </a:avLst>
          </a:prstGeom>
          <a:solidFill>
            <a:srgbClr val="E2F0D9"/>
          </a:solidFill>
          <a:ln w="9525">
            <a:solidFill>
              <a:srgbClr val="BFBFBF"/>
            </a:solidFill>
            <a:prstDash val="solid"/>
          </a:ln>
        </p:spPr>
      </p:sp>
      <p:sp>
        <p:nvSpPr>
          <p:cNvPr id="25" name="Text 13"/>
          <p:cNvSpPr txBox="1"/>
          <p:nvPr/>
        </p:nvSpPr>
        <p:spPr>
          <a:xfrm>
            <a:off x="6236208" y="1325880"/>
            <a:ext cx="2459736" cy="502920"/>
          </a:xfrm>
          <a:prstGeom prst="rect">
            <a:avLst/>
          </a:prstGeom>
          <a:noFill/>
          <a:ln/>
        </p:spPr>
        <p:txBody>
          <a:bodyPr wrap="square" lIns="0" tIns="0" rIns="0" bIns="0" rtlCol="0" anchor="ctr"/>
          <a:lstStyle/>
          <a:p>
            <a:pPr algn="ctr" indent="0" marL="0">
              <a:buNone/>
            </a:pPr>
            <a:r>
              <a:rPr lang="en-US" sz="1500" b="1" dirty="0">
                <a:solidFill>
                  <a:srgbClr val="38761D"/>
                </a:solidFill>
              </a:rPr>
              <a:t>③ pass: submit · fail: think</a:t>
            </a:r>
            <a:endParaRPr lang="en-US" sz="1500" dirty="0"/>
          </a:p>
        </p:txBody>
      </p:sp>
      <p:sp>
        <p:nvSpPr>
          <p:cNvPr id="26" name="Shape 14"/>
          <p:cNvSpPr/>
          <p:nvPr/>
        </p:nvSpPr>
        <p:spPr>
          <a:xfrm>
            <a:off x="8769096" y="1572768"/>
            <a:ext cx="201168" cy="0"/>
          </a:xfrm>
          <a:prstGeom prst="line">
            <a:avLst/>
          </a:prstGeom>
          <a:noFill/>
          <a:ln w="25400">
            <a:solidFill>
              <a:srgbClr val="7F7F7F"/>
            </a:solidFill>
            <a:prstDash val="solid"/>
            <a:tailEnd type="triangle"/>
          </a:ln>
        </p:spPr>
      </p:sp>
      <p:pic>
        <p:nvPicPr>
          <p:cNvPr id="27" name="step 3 used on shapes" descr="/NAS/SJ/POSTECH/nlp/figs/icons/shapes.png">    </p:cNvPr>
          <p:cNvPicPr>
            <a:picLocks noChangeAspect="1"/>
          </p:cNvPicPr>
          <p:nvPr/>
        </p:nvPicPr>
        <p:blipFill>
          <a:blip r:embed="rId11"/>
          <a:stretch>
            <a:fillRect/>
          </a:stretch>
        </p:blipFill>
        <p:spPr>
          <a:xfrm>
            <a:off x="6949440" y="1892808"/>
            <a:ext cx="219456" cy="219456"/>
          </a:xfrm>
          <a:prstGeom prst="rect">
            <a:avLst/>
          </a:prstGeom>
        </p:spPr>
      </p:pic>
      <p:pic>
        <p:nvPicPr>
          <p:cNvPr id="28" name="step 3 used on trophy" descr="/NAS/SJ/POSTECH/nlp/figs/icons/trophy.png">    </p:cNvPr>
          <p:cNvPicPr>
            <a:picLocks noChangeAspect="1"/>
          </p:cNvPicPr>
          <p:nvPr/>
        </p:nvPicPr>
        <p:blipFill>
          <a:blip r:embed="rId12"/>
          <a:stretch>
            <a:fillRect/>
          </a:stretch>
        </p:blipFill>
        <p:spPr>
          <a:xfrm>
            <a:off x="7223760" y="1892808"/>
            <a:ext cx="219456" cy="219456"/>
          </a:xfrm>
          <a:prstGeom prst="rect">
            <a:avLst/>
          </a:prstGeom>
        </p:spPr>
      </p:pic>
      <p:pic>
        <p:nvPicPr>
          <p:cNvPr id="29" name="step 3 used on truck" descr="/NAS/SJ/POSTECH/nlp/figs/icons/truck.png">    </p:cNvPr>
          <p:cNvPicPr>
            <a:picLocks noChangeAspect="1"/>
          </p:cNvPicPr>
          <p:nvPr/>
        </p:nvPicPr>
        <p:blipFill>
          <a:blip r:embed="rId13"/>
          <a:stretch>
            <a:fillRect/>
          </a:stretch>
        </p:blipFill>
        <p:spPr>
          <a:xfrm>
            <a:off x="7498080" y="1892808"/>
            <a:ext cx="219456" cy="219456"/>
          </a:xfrm>
          <a:prstGeom prst="rect">
            <a:avLst/>
          </a:prstGeom>
        </p:spPr>
      </p:pic>
      <p:pic>
        <p:nvPicPr>
          <p:cNvPr id="30" name="step 3 used on calc" descr="/NAS/SJ/POSTECH/nlp/figs/icons/calc.png">    </p:cNvPr>
          <p:cNvPicPr>
            <a:picLocks noChangeAspect="1"/>
          </p:cNvPicPr>
          <p:nvPr/>
        </p:nvPicPr>
        <p:blipFill>
          <a:blip r:embed="rId14"/>
          <a:stretch>
            <a:fillRect/>
          </a:stretch>
        </p:blipFill>
        <p:spPr>
          <a:xfrm>
            <a:off x="7772400" y="1892808"/>
            <a:ext cx="219456" cy="219456"/>
          </a:xfrm>
          <a:prstGeom prst="rect">
            <a:avLst/>
          </a:prstGeom>
        </p:spPr>
      </p:pic>
      <p:sp>
        <p:nvSpPr>
          <p:cNvPr id="31" name="box ④ same type again: r"/>
          <p:cNvSpPr/>
          <p:nvPr/>
        </p:nvSpPr>
        <p:spPr>
          <a:xfrm>
            <a:off x="8970264" y="1325880"/>
            <a:ext cx="2606040" cy="502920"/>
          </a:xfrm>
          <a:prstGeom prst="roundRect">
            <a:avLst>
              <a:gd name="adj" fmla="val 10909"/>
            </a:avLst>
          </a:prstGeom>
          <a:solidFill>
            <a:srgbClr val="F2F2F2"/>
          </a:solidFill>
          <a:ln w="9525">
            <a:solidFill>
              <a:srgbClr val="BFBFBF"/>
            </a:solidFill>
            <a:prstDash val="solid"/>
          </a:ln>
        </p:spPr>
      </p:sp>
      <p:sp>
        <p:nvSpPr>
          <p:cNvPr id="32" name="Text 16"/>
          <p:cNvSpPr txBox="1"/>
          <p:nvPr/>
        </p:nvSpPr>
        <p:spPr>
          <a:xfrm>
            <a:off x="9043416"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④ same type again: reuse it</a:t>
            </a:r>
            <a:endParaRPr lang="en-US" sz="1500" dirty="0"/>
          </a:p>
        </p:txBody>
      </p:sp>
      <p:pic>
        <p:nvPicPr>
          <p:cNvPr id="33" name="step 4 not needed on shapes" descr="/NAS/SJ/POSTECH/nlp/figs/icons/shapes.png">    </p:cNvPr>
          <p:cNvPicPr>
            <a:picLocks noChangeAspect="1"/>
          </p:cNvPicPr>
          <p:nvPr/>
        </p:nvPicPr>
        <p:blipFill>
          <a:blip r:embed="rId15">
            <a:alphaModFix amt="18000"/>
          </a:blip>
          <a:stretch>
            <a:fillRect/>
          </a:stretch>
        </p:blipFill>
        <p:spPr>
          <a:xfrm>
            <a:off x="9756648" y="1892808"/>
            <a:ext cx="219456" cy="219456"/>
          </a:xfrm>
          <a:prstGeom prst="rect">
            <a:avLst/>
          </a:prstGeom>
        </p:spPr>
      </p:pic>
      <p:pic>
        <p:nvPicPr>
          <p:cNvPr id="34" name="step 4 not needed on trophy" descr="/NAS/SJ/POSTECH/nlp/figs/icons/trophy.png">    </p:cNvPr>
          <p:cNvPicPr>
            <a:picLocks noChangeAspect="1"/>
          </p:cNvPicPr>
          <p:nvPr/>
        </p:nvPicPr>
        <p:blipFill>
          <a:blip r:embed="rId16">
            <a:alphaModFix amt="18000"/>
          </a:blip>
          <a:stretch>
            <a:fillRect/>
          </a:stretch>
        </p:blipFill>
        <p:spPr>
          <a:xfrm>
            <a:off x="10030968" y="1892808"/>
            <a:ext cx="219456" cy="219456"/>
          </a:xfrm>
          <a:prstGeom prst="rect">
            <a:avLst/>
          </a:prstGeom>
        </p:spPr>
      </p:pic>
      <p:pic>
        <p:nvPicPr>
          <p:cNvPr id="35" name="step 4 used on truck" descr="/NAS/SJ/POSTECH/nlp/figs/icons/truck.png">    </p:cNvPr>
          <p:cNvPicPr>
            <a:picLocks noChangeAspect="1"/>
          </p:cNvPicPr>
          <p:nvPr/>
        </p:nvPicPr>
        <p:blipFill>
          <a:blip r:embed="rId17"/>
          <a:stretch>
            <a:fillRect/>
          </a:stretch>
        </p:blipFill>
        <p:spPr>
          <a:xfrm>
            <a:off x="10305288" y="1892808"/>
            <a:ext cx="219456" cy="219456"/>
          </a:xfrm>
          <a:prstGeom prst="rect">
            <a:avLst/>
          </a:prstGeom>
        </p:spPr>
      </p:pic>
      <p:pic>
        <p:nvPicPr>
          <p:cNvPr id="36" name="step 4 not needed on calc" descr="/NAS/SJ/POSTECH/nlp/figs/icons/calc.png">    </p:cNvPr>
          <p:cNvPicPr>
            <a:picLocks noChangeAspect="1"/>
          </p:cNvPicPr>
          <p:nvPr/>
        </p:nvPicPr>
        <p:blipFill>
          <a:blip r:embed="rId18">
            <a:alphaModFix amt="18000"/>
          </a:blip>
          <a:stretch>
            <a:fillRect/>
          </a:stretch>
        </p:blipFill>
        <p:spPr>
          <a:xfrm>
            <a:off x="10579608" y="1892808"/>
            <a:ext cx="219456" cy="219456"/>
          </a:xfrm>
          <a:prstGeom prst="rect">
            <a:avLst/>
          </a:prstGeom>
        </p:spPr>
      </p:pic>
      <p:sp>
        <p:nvSpPr>
          <p:cNvPr id="37" name="how we pick the hint"/>
          <p:cNvSpPr/>
          <p:nvPr/>
        </p:nvSpPr>
        <p:spPr>
          <a:xfrm>
            <a:off x="548640" y="2286000"/>
            <a:ext cx="5349240" cy="3246120"/>
          </a:xfrm>
          <a:prstGeom prst="roundRect">
            <a:avLst>
              <a:gd name="adj" fmla="val 2254"/>
            </a:avLst>
          </a:prstGeom>
          <a:solidFill>
            <a:srgbClr val="F2F2F2"/>
          </a:solidFill>
          <a:ln w="9525">
            <a:solidFill>
              <a:srgbClr val="D9D9D9"/>
            </a:solidFill>
            <a:prstDash val="solid"/>
          </a:ln>
        </p:spPr>
      </p:sp>
      <p:sp>
        <p:nvSpPr>
          <p:cNvPr id="38" name="Text 18"/>
          <p:cNvSpPr txBox="1"/>
          <p:nvPr/>
        </p:nvSpPr>
        <p:spPr>
          <a:xfrm>
            <a:off x="777240" y="2340864"/>
            <a:ext cx="4937760" cy="365760"/>
          </a:xfrm>
          <a:prstGeom prst="rect">
            <a:avLst/>
          </a:prstGeom>
          <a:noFill/>
          <a:ln/>
        </p:spPr>
        <p:txBody>
          <a:bodyPr wrap="square" lIns="0" tIns="0" rIns="0" bIns="0" rtlCol="0" anchor="ctr"/>
          <a:lstStyle/>
          <a:p>
            <a:pPr indent="0" marL="0">
              <a:buNone/>
            </a:pPr>
            <a:r>
              <a:rPr lang="en-US" sz="1700" b="1" dirty="0">
                <a:solidFill>
                  <a:srgbClr val="4472C4"/>
                </a:solidFill>
              </a:rPr>
              <a:t>① How we pick the hint (once per type, no human)</a:t>
            </a:r>
            <a:endParaRPr lang="en-US" sz="1700" dirty="0"/>
          </a:p>
        </p:txBody>
      </p:sp>
      <p:sp>
        <p:nvSpPr>
          <p:cNvPr id="39" name="box its past programs"/>
          <p:cNvSpPr/>
          <p:nvPr/>
        </p:nvSpPr>
        <p:spPr>
          <a:xfrm>
            <a:off x="777240" y="2761488"/>
            <a:ext cx="1463040" cy="530352"/>
          </a:xfrm>
          <a:prstGeom prst="roundRect">
            <a:avLst>
              <a:gd name="adj" fmla="val 10345"/>
            </a:avLst>
          </a:prstGeom>
          <a:solidFill>
            <a:srgbClr val="FFFFFF"/>
          </a:solidFill>
          <a:ln w="9525">
            <a:solidFill>
              <a:srgbClr val="BFBFBF"/>
            </a:solidFill>
            <a:prstDash val="solid"/>
          </a:ln>
        </p:spPr>
      </p:sp>
      <p:sp>
        <p:nvSpPr>
          <p:cNvPr id="40" name="Text 20"/>
          <p:cNvSpPr txBox="1"/>
          <p:nvPr/>
        </p:nvSpPr>
        <p:spPr>
          <a:xfrm>
            <a:off x="850392"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its past programs</a:t>
            </a:r>
            <a:endParaRPr lang="en-US" sz="1500" dirty="0"/>
          </a:p>
        </p:txBody>
      </p:sp>
      <p:sp>
        <p:nvSpPr>
          <p:cNvPr id="41" name="Shape 21"/>
          <p:cNvSpPr/>
          <p:nvPr/>
        </p:nvSpPr>
        <p:spPr>
          <a:xfrm>
            <a:off x="2240280" y="3026664"/>
            <a:ext cx="256032" cy="0"/>
          </a:xfrm>
          <a:prstGeom prst="line">
            <a:avLst/>
          </a:prstGeom>
          <a:noFill/>
          <a:ln w="25400">
            <a:solidFill>
              <a:srgbClr val="7F7F7F"/>
            </a:solidFill>
            <a:prstDash val="solid"/>
            <a:tailEnd type="triangle"/>
          </a:ln>
        </p:spPr>
      </p:sp>
      <p:sp>
        <p:nvSpPr>
          <p:cNvPr id="42" name="box ✓ passed the check"/>
          <p:cNvSpPr/>
          <p:nvPr/>
        </p:nvSpPr>
        <p:spPr>
          <a:xfrm>
            <a:off x="2496312" y="2761488"/>
            <a:ext cx="1463040" cy="530352"/>
          </a:xfrm>
          <a:prstGeom prst="roundRect">
            <a:avLst>
              <a:gd name="adj" fmla="val 10345"/>
            </a:avLst>
          </a:prstGeom>
          <a:solidFill>
            <a:srgbClr val="FFFFFF"/>
          </a:solidFill>
          <a:ln w="9525">
            <a:solidFill>
              <a:srgbClr val="BFBFBF"/>
            </a:solidFill>
            <a:prstDash val="solid"/>
          </a:ln>
        </p:spPr>
      </p:sp>
      <p:sp>
        <p:nvSpPr>
          <p:cNvPr id="43" name="Text 23"/>
          <p:cNvSpPr txBox="1"/>
          <p:nvPr/>
        </p:nvSpPr>
        <p:spPr>
          <a:xfrm>
            <a:off x="2569464"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 passed the check</a:t>
            </a:r>
            <a:endParaRPr lang="en-US" sz="1500" dirty="0"/>
          </a:p>
        </p:txBody>
      </p:sp>
      <p:sp>
        <p:nvSpPr>
          <p:cNvPr id="44" name="Shape 24"/>
          <p:cNvSpPr/>
          <p:nvPr/>
        </p:nvSpPr>
        <p:spPr>
          <a:xfrm>
            <a:off x="3959352" y="3026664"/>
            <a:ext cx="256032" cy="0"/>
          </a:xfrm>
          <a:prstGeom prst="line">
            <a:avLst/>
          </a:prstGeom>
          <a:noFill/>
          <a:ln w="25400">
            <a:solidFill>
              <a:srgbClr val="7F7F7F"/>
            </a:solidFill>
            <a:prstDash val="solid"/>
            <a:tailEnd type="triangle"/>
          </a:ln>
        </p:spPr>
      </p:sp>
      <p:sp>
        <p:nvSpPr>
          <p:cNvPr id="45" name="box shortest = hint"/>
          <p:cNvSpPr/>
          <p:nvPr/>
        </p:nvSpPr>
        <p:spPr>
          <a:xfrm>
            <a:off x="4215384" y="2761488"/>
            <a:ext cx="1463040" cy="530352"/>
          </a:xfrm>
          <a:prstGeom prst="roundRect">
            <a:avLst>
              <a:gd name="adj" fmla="val 10345"/>
            </a:avLst>
          </a:prstGeom>
          <a:solidFill>
            <a:srgbClr val="E2F0D9"/>
          </a:solidFill>
          <a:ln w="9525">
            <a:solidFill>
              <a:srgbClr val="BFBFBF"/>
            </a:solidFill>
            <a:prstDash val="solid"/>
          </a:ln>
        </p:spPr>
      </p:sp>
      <p:sp>
        <p:nvSpPr>
          <p:cNvPr id="46" name="Text 26"/>
          <p:cNvSpPr txBox="1"/>
          <p:nvPr/>
        </p:nvSpPr>
        <p:spPr>
          <a:xfrm>
            <a:off x="4288536" y="2761488"/>
            <a:ext cx="1316736" cy="530352"/>
          </a:xfrm>
          <a:prstGeom prst="rect">
            <a:avLst/>
          </a:prstGeom>
          <a:noFill/>
          <a:ln/>
        </p:spPr>
        <p:txBody>
          <a:bodyPr wrap="square" lIns="0" tIns="0" rIns="0" bIns="0" rtlCol="0" anchor="ctr"/>
          <a:lstStyle/>
          <a:p>
            <a:pPr algn="ctr" indent="0" marL="0">
              <a:buNone/>
            </a:pPr>
            <a:r>
              <a:rPr lang="en-US" sz="1500" b="1" dirty="0">
                <a:solidFill>
                  <a:srgbClr val="38761D"/>
                </a:solidFill>
              </a:rPr>
              <a:t>shortest = hint</a:t>
            </a:r>
            <a:endParaRPr lang="en-US" sz="1500" dirty="0"/>
          </a:p>
        </p:txBody>
      </p:sp>
      <p:sp>
        <p:nvSpPr>
          <p:cNvPr id="47" name="Text 27"/>
          <p:cNvSpPr txBox="1"/>
          <p:nvPr/>
        </p:nvSpPr>
        <p:spPr>
          <a:xfrm>
            <a:off x="777240" y="3429000"/>
            <a:ext cx="4937760" cy="320040"/>
          </a:xfrm>
          <a:prstGeom prst="rect">
            <a:avLst/>
          </a:prstGeom>
          <a:noFill/>
          <a:ln/>
        </p:spPr>
        <p:txBody>
          <a:bodyPr wrap="square" lIns="0" tIns="0" rIns="0" bIns="0" rtlCol="0" anchor="ctr"/>
          <a:lstStyle/>
          <a:p>
            <a:pPr indent="0" marL="0">
              <a:buNone/>
            </a:pPr>
            <a:r>
              <a:rPr lang="en-US" sz="1500" b="1" dirty="0">
                <a:solidFill>
                  <a:schemeClr val="tx1"/>
                </a:solidFill>
              </a:rPr>
              <a:t>One real problem (Qwen3-8B, answer 20000):</a:t>
            </a:r>
            <a:endParaRPr lang="en-US" sz="1500" dirty="0"/>
          </a:p>
        </p:txBody>
      </p:sp>
      <p:sp>
        <p:nvSpPr>
          <p:cNvPr id="48" name="box ✗ no hint: it calls "/>
          <p:cNvSpPr/>
          <p:nvPr/>
        </p:nvSpPr>
        <p:spPr>
          <a:xfrm>
            <a:off x="777240" y="3794760"/>
            <a:ext cx="4892040" cy="457200"/>
          </a:xfrm>
          <a:prstGeom prst="roundRect">
            <a:avLst>
              <a:gd name="adj" fmla="val 12000"/>
            </a:avLst>
          </a:prstGeom>
          <a:solidFill>
            <a:srgbClr val="FADBD8"/>
          </a:solidFill>
          <a:ln w="9525">
            <a:solidFill>
              <a:srgbClr val="BFBFBF"/>
            </a:solidFill>
            <a:prstDash val="solid"/>
          </a:ln>
        </p:spPr>
      </p:sp>
      <p:sp>
        <p:nvSpPr>
          <p:cNvPr id="49" name="Text 29"/>
          <p:cNvSpPr txBox="1"/>
          <p:nvPr/>
        </p:nvSpPr>
        <p:spPr>
          <a:xfrm>
            <a:off x="850392" y="3794760"/>
            <a:ext cx="4745736" cy="457200"/>
          </a:xfrm>
          <a:prstGeom prst="rect">
            <a:avLst/>
          </a:prstGeom>
          <a:noFill/>
          <a:ln/>
        </p:spPr>
        <p:txBody>
          <a:bodyPr wrap="square" lIns="0" tIns="0" rIns="0" bIns="0" rtlCol="0" anchor="ctr"/>
          <a:lstStyle/>
          <a:p>
            <a:pPr algn="ctr" indent="0" marL="0">
              <a:buNone/>
            </a:pPr>
            <a:r>
              <a:rPr lang="en-US" sz="1500" dirty="0">
                <a:solidFill>
                  <a:srgbClr val="C00000"/>
                </a:solidFill>
              </a:rPr>
              <a:t>✗ no hint: it calls a function that does not exist → crash</a:t>
            </a:r>
            <a:endParaRPr lang="en-US" sz="1500" dirty="0"/>
          </a:p>
        </p:txBody>
      </p:sp>
      <p:sp>
        <p:nvSpPr>
          <p:cNvPr id="50" name="box ✓ with the hint: bot"/>
          <p:cNvSpPr/>
          <p:nvPr/>
        </p:nvSpPr>
        <p:spPr>
          <a:xfrm>
            <a:off x="777240" y="4325112"/>
            <a:ext cx="4892040" cy="457200"/>
          </a:xfrm>
          <a:prstGeom prst="roundRect">
            <a:avLst>
              <a:gd name="adj" fmla="val 12000"/>
            </a:avLst>
          </a:prstGeom>
          <a:solidFill>
            <a:srgbClr val="E2F0D9"/>
          </a:solidFill>
          <a:ln w="9525">
            <a:solidFill>
              <a:srgbClr val="BFBFBF"/>
            </a:solidFill>
            <a:prstDash val="solid"/>
          </a:ln>
        </p:spPr>
      </p:sp>
      <p:sp>
        <p:nvSpPr>
          <p:cNvPr id="51" name="Text 31"/>
          <p:cNvSpPr txBox="1"/>
          <p:nvPr/>
        </p:nvSpPr>
        <p:spPr>
          <a:xfrm>
            <a:off x="850392" y="4325112"/>
            <a:ext cx="4745736" cy="457200"/>
          </a:xfrm>
          <a:prstGeom prst="rect">
            <a:avLst/>
          </a:prstGeom>
          <a:noFill/>
          <a:ln/>
        </p:spPr>
        <p:txBody>
          <a:bodyPr wrap="square" lIns="0" tIns="0" rIns="0" bIns="0" rtlCol="0" anchor="ctr"/>
          <a:lstStyle/>
          <a:p>
            <a:pPr algn="ctr" indent="0" marL="0">
              <a:buNone/>
            </a:pPr>
            <a:r>
              <a:rPr lang="en-US" sz="1500" dirty="0">
                <a:solidFill>
                  <a:srgbClr val="38761D"/>
                </a:solidFill>
              </a:rPr>
              <a:t>✓ with the hint: both versions print 20000 → submit</a:t>
            </a:r>
            <a:endParaRPr lang="en-US" sz="1500" dirty="0"/>
          </a:p>
        </p:txBody>
      </p:sp>
      <p:sp>
        <p:nvSpPr>
          <p:cNvPr id="52" name="Text 32"/>
          <p:cNvSpPr txBox="1"/>
          <p:nvPr/>
        </p:nvSpPr>
        <p:spPr>
          <a:xfrm>
            <a:off x="777240" y="4892040"/>
            <a:ext cx="4892040" cy="411480"/>
          </a:xfrm>
          <a:prstGeom prst="rect">
            <a:avLst/>
          </a:prstGeom>
          <a:noFill/>
          <a:ln/>
        </p:spPr>
        <p:txBody>
          <a:bodyPr wrap="square" lIns="0" tIns="0" rIns="0" bIns="0" rtlCol="0" anchor="ctr"/>
          <a:lstStyle/>
          <a:p>
            <a:pPr indent="0" marL="0">
              <a:buNone/>
            </a:pPr>
            <a:r>
              <a:rPr lang="en-US" sz="1700" b="1" dirty="0">
                <a:solidFill>
                  <a:srgbClr val="4472C4"/>
                </a:solidFill>
              </a:rPr>
              <a:t>0.6k tokens</a:t>
            </a:r>
            <a:pPr indent="0" marL="0">
              <a:buNone/>
            </a:pPr>
            <a:r>
              <a:rPr lang="en-US" sz="1700" dirty="0">
                <a:solidFill>
                  <a:schemeClr val="tx1"/>
                </a:solidFill>
              </a:rPr>
              <a:t>  (thinking alone: 5.3k)</a:t>
            </a:r>
            <a:endParaRPr lang="en-US" sz="1700" dirty="0"/>
          </a:p>
        </p:txBody>
      </p:sp>
      <p:sp>
        <p:nvSpPr>
          <p:cNvPr id="53" name="overall result"/>
          <p:cNvSpPr/>
          <p:nvPr/>
        </p:nvSpPr>
        <p:spPr>
          <a:xfrm>
            <a:off x="6172200" y="2286000"/>
            <a:ext cx="5440680" cy="3246120"/>
          </a:xfrm>
          <a:prstGeom prst="roundRect">
            <a:avLst>
              <a:gd name="adj" fmla="val 2254"/>
            </a:avLst>
          </a:prstGeom>
          <a:solidFill>
            <a:srgbClr val="F2F2F2"/>
          </a:solidFill>
          <a:ln w="9525">
            <a:solidFill>
              <a:srgbClr val="D9D9D9"/>
            </a:solidFill>
            <a:prstDash val="solid"/>
          </a:ln>
        </p:spPr>
      </p:sp>
      <p:sp>
        <p:nvSpPr>
          <p:cNvPr id="54" name="Text 34"/>
          <p:cNvSpPr txBox="1"/>
          <p:nvPr/>
        </p:nvSpPr>
        <p:spPr>
          <a:xfrm>
            <a:off x="6400800" y="2340864"/>
            <a:ext cx="4983480" cy="365760"/>
          </a:xfrm>
          <a:prstGeom prst="rect">
            <a:avLst/>
          </a:prstGeom>
          <a:noFill/>
          <a:ln/>
        </p:spPr>
        <p:txBody>
          <a:bodyPr wrap="square" lIns="0" tIns="0" rIns="0" bIns="0" rtlCol="0" anchor="ctr"/>
          <a:lstStyle/>
          <a:p>
            <a:pPr indent="0" marL="0">
              <a:buNone/>
            </a:pPr>
            <a:r>
              <a:rPr lang="en-US" sz="1700" b="1" dirty="0">
                <a:solidFill>
                  <a:srgbClr val="4472C4"/>
                </a:solidFill>
              </a:rPr>
              <a:t>208 geometry + optimization problems × 3 models</a:t>
            </a:r>
            <a:endParaRPr lang="en-US" sz="1700" dirty="0"/>
          </a:p>
        </p:txBody>
      </p:sp>
      <p:sp>
        <p:nvSpPr>
          <p:cNvPr id="55" name="Text 35"/>
          <p:cNvSpPr txBox="1"/>
          <p:nvPr/>
        </p:nvSpPr>
        <p:spPr>
          <a:xfrm>
            <a:off x="8686800" y="272491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6" name="Text 36"/>
          <p:cNvSpPr txBox="1"/>
          <p:nvPr/>
        </p:nvSpPr>
        <p:spPr>
          <a:xfrm>
            <a:off x="9601200" y="2724912"/>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7" name="Text 37"/>
          <p:cNvSpPr txBox="1"/>
          <p:nvPr/>
        </p:nvSpPr>
        <p:spPr>
          <a:xfrm>
            <a:off x="6400800" y="30906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think where answers differ</a:t>
            </a:r>
            <a:endParaRPr lang="en-US" sz="1500" dirty="0"/>
          </a:p>
        </p:txBody>
      </p:sp>
      <p:sp>
        <p:nvSpPr>
          <p:cNvPr id="58" name="Text 38"/>
          <p:cNvSpPr txBox="1"/>
          <p:nvPr/>
        </p:nvSpPr>
        <p:spPr>
          <a:xfrm>
            <a:off x="8686800" y="309067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59" name="tokens think where answers differ"/>
          <p:cNvSpPr/>
          <p:nvPr/>
        </p:nvSpPr>
        <p:spPr>
          <a:xfrm>
            <a:off x="9601200" y="3191256"/>
            <a:ext cx="1051560" cy="256032"/>
          </a:xfrm>
          <a:prstGeom prst="rect">
            <a:avLst/>
          </a:prstGeom>
          <a:solidFill>
            <a:srgbClr val="7F7F7F"/>
          </a:solidFill>
          <a:ln w="6350">
            <a:solidFill>
              <a:srgbClr val="7F7F7F"/>
            </a:solidFill>
            <a:prstDash val="solid"/>
          </a:ln>
        </p:spPr>
      </p:sp>
      <p:sp>
        <p:nvSpPr>
          <p:cNvPr id="60" name="Text 40"/>
          <p:cNvSpPr txBox="1"/>
          <p:nvPr/>
        </p:nvSpPr>
        <p:spPr>
          <a:xfrm>
            <a:off x="10744200" y="309067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61" name="Text 41"/>
          <p:cNvSpPr txBox="1"/>
          <p:nvPr/>
        </p:nvSpPr>
        <p:spPr>
          <a:xfrm>
            <a:off x="6400800" y="35478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hint found by search</a:t>
            </a:r>
            <a:endParaRPr lang="en-US" sz="1500" dirty="0"/>
          </a:p>
        </p:txBody>
      </p:sp>
      <p:sp>
        <p:nvSpPr>
          <p:cNvPr id="62" name="Text 42"/>
          <p:cNvSpPr txBox="1"/>
          <p:nvPr/>
        </p:nvSpPr>
        <p:spPr>
          <a:xfrm>
            <a:off x="8686800" y="354787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84%</a:t>
            </a:r>
            <a:endParaRPr lang="en-US" sz="1700" dirty="0"/>
          </a:p>
        </p:txBody>
      </p:sp>
      <p:sp>
        <p:nvSpPr>
          <p:cNvPr id="63" name="tokens ours, hint found by search"/>
          <p:cNvSpPr/>
          <p:nvPr/>
        </p:nvSpPr>
        <p:spPr>
          <a:xfrm>
            <a:off x="9601200" y="3648456"/>
            <a:ext cx="846378" cy="256032"/>
          </a:xfrm>
          <a:prstGeom prst="rect">
            <a:avLst/>
          </a:prstGeom>
          <a:solidFill>
            <a:srgbClr val="5B9BD5"/>
          </a:solidFill>
          <a:ln w="6350">
            <a:solidFill>
              <a:srgbClr val="5B9BD5"/>
            </a:solidFill>
            <a:prstDash val="solid"/>
          </a:ln>
        </p:spPr>
      </p:sp>
      <p:sp>
        <p:nvSpPr>
          <p:cNvPr id="64" name="Text 44"/>
          <p:cNvSpPr txBox="1"/>
          <p:nvPr/>
        </p:nvSpPr>
        <p:spPr>
          <a:xfrm>
            <a:off x="10539018" y="354787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3.3k</a:t>
            </a:r>
            <a:endParaRPr lang="en-US" sz="1500" dirty="0"/>
          </a:p>
        </p:txBody>
      </p:sp>
      <p:sp>
        <p:nvSpPr>
          <p:cNvPr id="65" name="Text 45"/>
          <p:cNvSpPr txBox="1"/>
          <p:nvPr/>
        </p:nvSpPr>
        <p:spPr>
          <a:xfrm>
            <a:off x="6400800" y="4005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hand-written hint</a:t>
            </a:r>
            <a:endParaRPr lang="en-US" sz="1500" dirty="0"/>
          </a:p>
        </p:txBody>
      </p:sp>
      <p:sp>
        <p:nvSpPr>
          <p:cNvPr id="66" name="Text 46"/>
          <p:cNvSpPr txBox="1"/>
          <p:nvPr/>
        </p:nvSpPr>
        <p:spPr>
          <a:xfrm>
            <a:off x="8686800" y="4005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7" name="tokens ours, hand-written hint"/>
          <p:cNvSpPr/>
          <p:nvPr/>
        </p:nvSpPr>
        <p:spPr>
          <a:xfrm>
            <a:off x="9601200" y="4105656"/>
            <a:ext cx="641195" cy="256032"/>
          </a:xfrm>
          <a:prstGeom prst="rect">
            <a:avLst/>
          </a:prstGeom>
          <a:solidFill>
            <a:srgbClr val="4472C4"/>
          </a:solidFill>
          <a:ln w="6350">
            <a:solidFill>
              <a:srgbClr val="4472C4"/>
            </a:solidFill>
            <a:prstDash val="solid"/>
          </a:ln>
        </p:spPr>
      </p:sp>
      <p:sp>
        <p:nvSpPr>
          <p:cNvPr id="68" name="Text 48"/>
          <p:cNvSpPr txBox="1"/>
          <p:nvPr/>
        </p:nvSpPr>
        <p:spPr>
          <a:xfrm>
            <a:off x="10333835" y="4005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9" name="Text 49"/>
          <p:cNvSpPr txBox="1"/>
          <p:nvPr/>
        </p:nvSpPr>
        <p:spPr>
          <a:xfrm>
            <a:off x="6400800" y="4526280"/>
            <a:ext cx="4983480" cy="822960"/>
          </a:xfrm>
          <a:prstGeom prst="rect">
            <a:avLst/>
          </a:prstGeom>
          <a:noFill/>
          <a:ln/>
        </p:spPr>
        <p:txBody>
          <a:bodyPr wrap="square" lIns="0" tIns="0" rIns="0" bIns="0" rtlCol="0" anchor="t"/>
          <a:lstStyle/>
          <a:p>
            <a:pPr indent="0" marL="0">
              <a:buNone/>
            </a:pPr>
            <a:r>
              <a:rPr lang="en-US" sz="1400" dirty="0">
                <a:solidFill>
                  <a:schemeClr val="tx2"/>
                </a:solidFill>
              </a:rPr>
              <a:t>Held-out MAMO (863): the model's own program as the hint = a hand-written one (79% = 79%, gpt-oss-20b)</a:t>
            </a:r>
            <a:endParaRPr lang="en-US" sz="1400" dirty="0"/>
          </a:p>
        </p:txBody>
      </p:sp>
      <p:sp>
        <p:nvSpPr>
          <p:cNvPr id="70"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2103120" y="1188720"/>
            <a:ext cx="420624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949440" y="1188720"/>
            <a:ext cx="466344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Text 3"/>
          <p:cNvSpPr txBox="1"/>
          <p:nvPr/>
        </p:nvSpPr>
        <p:spPr>
          <a:xfrm>
            <a:off x="548640" y="160020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When to think</a:t>
            </a:r>
            <a:endParaRPr lang="en-US" sz="1600" dirty="0"/>
          </a:p>
        </p:txBody>
      </p:sp>
      <p:sp>
        <p:nvSpPr>
          <p:cNvPr id="6" name="box "/>
          <p:cNvSpPr/>
          <p:nvPr/>
        </p:nvSpPr>
        <p:spPr>
          <a:xfrm>
            <a:off x="2103120" y="1600200"/>
            <a:ext cx="4206240" cy="685800"/>
          </a:xfrm>
          <a:prstGeom prst="roundRect">
            <a:avLst>
              <a:gd name="adj" fmla="val 8000"/>
            </a:avLst>
          </a:prstGeom>
          <a:solidFill>
            <a:srgbClr val="F2F2F2"/>
          </a:solidFill>
          <a:ln w="9525">
            <a:solidFill>
              <a:srgbClr val="BFBFBF"/>
            </a:solidFill>
            <a:prstDash val="solid"/>
          </a:ln>
        </p:spPr>
      </p:sp>
      <p:sp>
        <p:nvSpPr>
          <p:cNvPr id="7" name="Text 5"/>
          <p:cNvSpPr txBox="1"/>
          <p:nvPr/>
        </p:nvSpPr>
        <p:spPr>
          <a:xfrm>
            <a:off x="2176272" y="160020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8" name="usual icon 0" descr="/NAS/SJ/POSTECH/nlp/figs/icons/brain.png">    </p:cNvPr>
          <p:cNvPicPr>
            <a:picLocks noChangeAspect="1"/>
          </p:cNvPicPr>
          <p:nvPr/>
        </p:nvPicPr>
        <p:blipFill>
          <a:blip r:embed="rId1"/>
          <a:stretch>
            <a:fillRect/>
          </a:stretch>
        </p:blipFill>
        <p:spPr>
          <a:xfrm>
            <a:off x="2212848" y="1737360"/>
            <a:ext cx="411480" cy="411480"/>
          </a:xfrm>
          <a:prstGeom prst="rect">
            <a:avLst/>
          </a:prstGeom>
        </p:spPr>
      </p:pic>
      <p:sp>
        <p:nvSpPr>
          <p:cNvPr id="9" name="Text 6"/>
          <p:cNvSpPr txBox="1"/>
          <p:nvPr/>
        </p:nvSpPr>
        <p:spPr>
          <a:xfrm>
            <a:off x="2743200" y="1600200"/>
            <a:ext cx="3474720" cy="685800"/>
          </a:xfrm>
          <a:prstGeom prst="rect">
            <a:avLst/>
          </a:prstGeom>
          <a:noFill/>
          <a:ln/>
        </p:spPr>
        <p:txBody>
          <a:bodyPr wrap="square" lIns="0" tIns="0" rIns="0" bIns="0" rtlCol="0" anchor="ctr"/>
          <a:lstStyle/>
          <a:p>
            <a:pPr indent="0" marL="0">
              <a:buNone/>
            </a:pPr>
            <a:r>
              <a:rPr lang="en-US" sz="1500" dirty="0">
                <a:solidFill>
                  <a:srgbClr val="404040"/>
                </a:solidFill>
              </a:rPr>
              <a:t>think more on hard-looking problems, or train the model when to think</a:t>
            </a:r>
            <a:endParaRPr lang="en-US" sz="1500" dirty="0"/>
          </a:p>
        </p:txBody>
      </p:sp>
      <p:sp>
        <p:nvSpPr>
          <p:cNvPr id="10" name="arrow 0"/>
          <p:cNvSpPr/>
          <p:nvPr/>
        </p:nvSpPr>
        <p:spPr>
          <a:xfrm>
            <a:off x="6400800" y="1783080"/>
            <a:ext cx="457200" cy="329184"/>
          </a:xfrm>
          <a:prstGeom prst="rightArrow">
            <a:avLst/>
          </a:prstGeom>
          <a:solidFill>
            <a:srgbClr val="4472C4"/>
          </a:solidFill>
          <a:ln w="12700">
            <a:solidFill>
              <a:srgbClr val="4472C4"/>
            </a:solidFill>
            <a:prstDash val="solid"/>
          </a:ln>
        </p:spPr>
      </p:sp>
      <p:sp>
        <p:nvSpPr>
          <p:cNvPr id="11" name="box "/>
          <p:cNvSpPr/>
          <p:nvPr/>
        </p:nvSpPr>
        <p:spPr>
          <a:xfrm>
            <a:off x="6949440" y="1600200"/>
            <a:ext cx="4663440" cy="685800"/>
          </a:xfrm>
          <a:prstGeom prst="roundRect">
            <a:avLst>
              <a:gd name="adj" fmla="val 8000"/>
            </a:avLst>
          </a:prstGeom>
          <a:solidFill>
            <a:srgbClr val="DEEBF7"/>
          </a:solidFill>
          <a:ln w="9525">
            <a:solidFill>
              <a:srgbClr val="BFBFBF"/>
            </a:solidFill>
            <a:prstDash val="solid"/>
          </a:ln>
        </p:spPr>
      </p:sp>
      <p:sp>
        <p:nvSpPr>
          <p:cNvPr id="12" name="Text 9"/>
          <p:cNvSpPr txBox="1"/>
          <p:nvPr/>
        </p:nvSpPr>
        <p:spPr>
          <a:xfrm>
            <a:off x="7022592" y="160020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13" name="ours icon 0" descr="/NAS/SJ/POSTECH/nlp/figs/icons/check.png">    </p:cNvPr>
          <p:cNvPicPr>
            <a:picLocks noChangeAspect="1"/>
          </p:cNvPicPr>
          <p:nvPr/>
        </p:nvPicPr>
        <p:blipFill>
          <a:blip r:embed="rId2"/>
          <a:stretch>
            <a:fillRect/>
          </a:stretch>
        </p:blipFill>
        <p:spPr>
          <a:xfrm>
            <a:off x="7059168" y="1737360"/>
            <a:ext cx="411480" cy="411480"/>
          </a:xfrm>
          <a:prstGeom prst="rect">
            <a:avLst/>
          </a:prstGeom>
        </p:spPr>
      </p:pic>
      <p:sp>
        <p:nvSpPr>
          <p:cNvPr id="14" name="Text 10"/>
          <p:cNvSpPr txBox="1"/>
          <p:nvPr/>
        </p:nvSpPr>
        <p:spPr>
          <a:xfrm>
            <a:off x="7589520" y="160020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think only when a free check fails; no training: 87% vs 74% (208 problems)</a:t>
            </a:r>
            <a:endParaRPr lang="en-US" sz="1500" dirty="0"/>
          </a:p>
        </p:txBody>
      </p:sp>
      <p:sp>
        <p:nvSpPr>
          <p:cNvPr id="15" name="Text 11"/>
          <p:cNvSpPr txBox="1"/>
          <p:nvPr/>
        </p:nvSpPr>
        <p:spPr>
          <a:xfrm>
            <a:off x="548640" y="242316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What to give</a:t>
            </a:r>
            <a:endParaRPr lang="en-US" sz="1600" dirty="0"/>
          </a:p>
        </p:txBody>
      </p:sp>
      <p:sp>
        <p:nvSpPr>
          <p:cNvPr id="16" name="box "/>
          <p:cNvSpPr/>
          <p:nvPr/>
        </p:nvSpPr>
        <p:spPr>
          <a:xfrm>
            <a:off x="2103120" y="2423160"/>
            <a:ext cx="4206240" cy="685800"/>
          </a:xfrm>
          <a:prstGeom prst="roundRect">
            <a:avLst>
              <a:gd name="adj" fmla="val 8000"/>
            </a:avLst>
          </a:prstGeom>
          <a:solidFill>
            <a:srgbClr val="F2F2F2"/>
          </a:solidFill>
          <a:ln w="9525">
            <a:solidFill>
              <a:srgbClr val="BFBFBF"/>
            </a:solidFill>
            <a:prstDash val="solid"/>
          </a:ln>
        </p:spPr>
      </p:sp>
      <p:sp>
        <p:nvSpPr>
          <p:cNvPr id="17" name="Text 13"/>
          <p:cNvSpPr txBox="1"/>
          <p:nvPr/>
        </p:nvSpPr>
        <p:spPr>
          <a:xfrm>
            <a:off x="2176272" y="242316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18" name="usual icon 1" descr="/NAS/SJ/POSTECH/nlp/figs/icons/page.png">    </p:cNvPr>
          <p:cNvPicPr>
            <a:picLocks noChangeAspect="1"/>
          </p:cNvPicPr>
          <p:nvPr/>
        </p:nvPicPr>
        <p:blipFill>
          <a:blip r:embed="rId3"/>
          <a:stretch>
            <a:fillRect/>
          </a:stretch>
        </p:blipFill>
        <p:spPr>
          <a:xfrm>
            <a:off x="2212848" y="2560320"/>
            <a:ext cx="411480" cy="411480"/>
          </a:xfrm>
          <a:prstGeom prst="rect">
            <a:avLst/>
          </a:prstGeom>
        </p:spPr>
      </p:pic>
      <p:sp>
        <p:nvSpPr>
          <p:cNvPr id="19" name="Text 14"/>
          <p:cNvSpPr txBox="1"/>
          <p:nvPr/>
        </p:nvSpPr>
        <p:spPr>
          <a:xfrm>
            <a:off x="2743200" y="2423160"/>
            <a:ext cx="3474720" cy="685800"/>
          </a:xfrm>
          <a:prstGeom prst="rect">
            <a:avLst/>
          </a:prstGeom>
          <a:noFill/>
          <a:ln/>
        </p:spPr>
        <p:txBody>
          <a:bodyPr wrap="square" lIns="0" tIns="0" rIns="0" bIns="0" rtlCol="0" anchor="ctr"/>
          <a:lstStyle/>
          <a:p>
            <a:pPr indent="0" marL="0">
              <a:buNone/>
            </a:pPr>
            <a:r>
              <a:rPr lang="en-US" sz="1500" dirty="0">
                <a:solidFill>
                  <a:srgbClr val="404040"/>
                </a:solidFill>
              </a:rPr>
              <a:t>the whole manual, or programs from a bigger model checked with answers</a:t>
            </a:r>
            <a:endParaRPr lang="en-US" sz="1500" dirty="0"/>
          </a:p>
        </p:txBody>
      </p:sp>
      <p:sp>
        <p:nvSpPr>
          <p:cNvPr id="20" name="arrow 1"/>
          <p:cNvSpPr/>
          <p:nvPr/>
        </p:nvSpPr>
        <p:spPr>
          <a:xfrm>
            <a:off x="6400800" y="2606040"/>
            <a:ext cx="457200" cy="329184"/>
          </a:xfrm>
          <a:prstGeom prst="rightArrow">
            <a:avLst/>
          </a:prstGeom>
          <a:solidFill>
            <a:srgbClr val="4472C4"/>
          </a:solidFill>
          <a:ln w="12700">
            <a:solidFill>
              <a:srgbClr val="4472C4"/>
            </a:solidFill>
            <a:prstDash val="solid"/>
          </a:ln>
        </p:spPr>
      </p:sp>
      <p:sp>
        <p:nvSpPr>
          <p:cNvPr id="21" name="box "/>
          <p:cNvSpPr/>
          <p:nvPr/>
        </p:nvSpPr>
        <p:spPr>
          <a:xfrm>
            <a:off x="6949440" y="2423160"/>
            <a:ext cx="4663440" cy="685800"/>
          </a:xfrm>
          <a:prstGeom prst="roundRect">
            <a:avLst>
              <a:gd name="adj" fmla="val 8000"/>
            </a:avLst>
          </a:prstGeom>
          <a:solidFill>
            <a:srgbClr val="DEEBF7"/>
          </a:solidFill>
          <a:ln w="9525">
            <a:solidFill>
              <a:srgbClr val="BFBFBF"/>
            </a:solidFill>
            <a:prstDash val="solid"/>
          </a:ln>
        </p:spPr>
      </p:sp>
      <p:sp>
        <p:nvSpPr>
          <p:cNvPr id="22" name="Text 17"/>
          <p:cNvSpPr txBox="1"/>
          <p:nvPr/>
        </p:nvSpPr>
        <p:spPr>
          <a:xfrm>
            <a:off x="7022592" y="242316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23" name="ours icon 1" descr="/NAS/SJ/POSTECH/nlp/figs/icons/fact.png">    </p:cNvPr>
          <p:cNvPicPr>
            <a:picLocks noChangeAspect="1"/>
          </p:cNvPicPr>
          <p:nvPr/>
        </p:nvPicPr>
        <p:blipFill>
          <a:blip r:embed="rId4"/>
          <a:stretch>
            <a:fillRect/>
          </a:stretch>
        </p:blipFill>
        <p:spPr>
          <a:xfrm>
            <a:off x="7059168" y="2560320"/>
            <a:ext cx="411480" cy="411480"/>
          </a:xfrm>
          <a:prstGeom prst="rect">
            <a:avLst/>
          </a:prstGeom>
        </p:spPr>
      </p:pic>
      <p:sp>
        <p:nvSpPr>
          <p:cNvPr id="24" name="Text 18"/>
          <p:cNvSpPr txBox="1"/>
          <p:nvPr/>
        </p:nvSpPr>
        <p:spPr>
          <a:xfrm>
            <a:off x="7589520" y="242316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one short hint: the model's own program that passed the check; no answers</a:t>
            </a:r>
            <a:endParaRPr lang="en-US" sz="1500" dirty="0"/>
          </a:p>
        </p:txBody>
      </p:sp>
      <p:sp>
        <p:nvSpPr>
          <p:cNvPr id="25" name="Text 19"/>
          <p:cNvSpPr txBox="1"/>
          <p:nvPr/>
        </p:nvSpPr>
        <p:spPr>
          <a:xfrm>
            <a:off x="548640" y="324612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What it costs</a:t>
            </a:r>
            <a:endParaRPr lang="en-US" sz="1600" dirty="0"/>
          </a:p>
        </p:txBody>
      </p:sp>
      <p:sp>
        <p:nvSpPr>
          <p:cNvPr id="26" name="box "/>
          <p:cNvSpPr/>
          <p:nvPr/>
        </p:nvSpPr>
        <p:spPr>
          <a:xfrm>
            <a:off x="2103120" y="3246120"/>
            <a:ext cx="4206240" cy="685800"/>
          </a:xfrm>
          <a:prstGeom prst="roundRect">
            <a:avLst>
              <a:gd name="adj" fmla="val 8000"/>
            </a:avLst>
          </a:prstGeom>
          <a:solidFill>
            <a:srgbClr val="F2F2F2"/>
          </a:solidFill>
          <a:ln w="9525">
            <a:solidFill>
              <a:srgbClr val="BFBFBF"/>
            </a:solidFill>
            <a:prstDash val="solid"/>
          </a:ln>
        </p:spPr>
      </p:sp>
      <p:sp>
        <p:nvSpPr>
          <p:cNvPr id="27" name="Text 21"/>
          <p:cNvSpPr txBox="1"/>
          <p:nvPr/>
        </p:nvSpPr>
        <p:spPr>
          <a:xfrm>
            <a:off x="2176272" y="324612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28" name="usual icon 2" descr="/NAS/SJ/POSTECH/nlp/figs/icons/robot.png">    </p:cNvPr>
          <p:cNvPicPr>
            <a:picLocks noChangeAspect="1"/>
          </p:cNvPicPr>
          <p:nvPr/>
        </p:nvPicPr>
        <p:blipFill>
          <a:blip r:embed="rId5"/>
          <a:stretch>
            <a:fillRect/>
          </a:stretch>
        </p:blipFill>
        <p:spPr>
          <a:xfrm>
            <a:off x="2212848" y="3383280"/>
            <a:ext cx="411480" cy="411480"/>
          </a:xfrm>
          <a:prstGeom prst="rect">
            <a:avLst/>
          </a:prstGeom>
        </p:spPr>
      </p:pic>
      <p:sp>
        <p:nvSpPr>
          <p:cNvPr id="29" name="Text 22"/>
          <p:cNvSpPr txBox="1"/>
          <p:nvPr/>
        </p:nvSpPr>
        <p:spPr>
          <a:xfrm>
            <a:off x="2743200" y="3246120"/>
            <a:ext cx="3474720" cy="685800"/>
          </a:xfrm>
          <a:prstGeom prst="rect">
            <a:avLst/>
          </a:prstGeom>
          <a:noFill/>
          <a:ln/>
        </p:spPr>
        <p:txBody>
          <a:bodyPr wrap="square" lIns="0" tIns="0" rIns="0" bIns="0" rtlCol="0" anchor="ctr"/>
          <a:lstStyle/>
          <a:p>
            <a:pPr indent="0" marL="0">
              <a:buNone/>
            </a:pPr>
            <a:r>
              <a:rPr lang="en-US" sz="1500" dirty="0">
                <a:solidFill>
                  <a:srgbClr val="404040"/>
                </a:solidFill>
              </a:rPr>
              <a:t>fine-tune a specialist (ORLM-8B): 69.5% on MAMO</a:t>
            </a:r>
            <a:endParaRPr lang="en-US" sz="1500" dirty="0"/>
          </a:p>
        </p:txBody>
      </p:sp>
      <p:sp>
        <p:nvSpPr>
          <p:cNvPr id="30" name="arrow 2"/>
          <p:cNvSpPr/>
          <p:nvPr/>
        </p:nvSpPr>
        <p:spPr>
          <a:xfrm>
            <a:off x="6400800" y="3429000"/>
            <a:ext cx="457200" cy="329184"/>
          </a:xfrm>
          <a:prstGeom prst="rightArrow">
            <a:avLst/>
          </a:prstGeom>
          <a:solidFill>
            <a:srgbClr val="4472C4"/>
          </a:solidFill>
          <a:ln w="12700">
            <a:solidFill>
              <a:srgbClr val="4472C4"/>
            </a:solidFill>
            <a:prstDash val="solid"/>
          </a:ln>
        </p:spPr>
      </p:sp>
      <p:sp>
        <p:nvSpPr>
          <p:cNvPr id="31" name="box "/>
          <p:cNvSpPr/>
          <p:nvPr/>
        </p:nvSpPr>
        <p:spPr>
          <a:xfrm>
            <a:off x="6949440" y="3246120"/>
            <a:ext cx="4663440" cy="685800"/>
          </a:xfrm>
          <a:prstGeom prst="roundRect">
            <a:avLst>
              <a:gd name="adj" fmla="val 8000"/>
            </a:avLst>
          </a:prstGeom>
          <a:solidFill>
            <a:srgbClr val="DEEBF7"/>
          </a:solidFill>
          <a:ln w="9525">
            <a:solidFill>
              <a:srgbClr val="BFBFBF"/>
            </a:solidFill>
            <a:prstDash val="solid"/>
          </a:ln>
        </p:spPr>
      </p:sp>
      <p:sp>
        <p:nvSpPr>
          <p:cNvPr id="32" name="Text 25"/>
          <p:cNvSpPr txBox="1"/>
          <p:nvPr/>
        </p:nvSpPr>
        <p:spPr>
          <a:xfrm>
            <a:off x="7022592" y="324612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33" name="ours icon 2" descr="/NAS/SJ/POSTECH/nlp/figs/icons/gpu.png">    </p:cNvPr>
          <p:cNvPicPr>
            <a:picLocks noChangeAspect="1"/>
          </p:cNvPicPr>
          <p:nvPr/>
        </p:nvPicPr>
        <p:blipFill>
          <a:blip r:embed="rId6"/>
          <a:stretch>
            <a:fillRect/>
          </a:stretch>
        </p:blipFill>
        <p:spPr>
          <a:xfrm>
            <a:off x="7059168" y="3383280"/>
            <a:ext cx="411480" cy="411480"/>
          </a:xfrm>
          <a:prstGeom prst="rect">
            <a:avLst/>
          </a:prstGeom>
        </p:spPr>
      </p:pic>
      <p:sp>
        <p:nvSpPr>
          <p:cNvPr id="34" name="Text 26"/>
          <p:cNvSpPr txBox="1"/>
          <p:nvPr/>
        </p:nvSpPr>
        <p:spPr>
          <a:xfrm>
            <a:off x="7589520" y="324612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untrained Qwen3-8B + that hint, one 24 GB GPU: the same 69.5%</a:t>
            </a:r>
            <a:endParaRPr lang="en-US" sz="1500" dirty="0"/>
          </a:p>
        </p:txBody>
      </p:sp>
      <p:sp>
        <p:nvSpPr>
          <p:cNvPr id="35" name="Text 27"/>
          <p:cNvSpPr txBox="1"/>
          <p:nvPr/>
        </p:nvSpPr>
        <p:spPr>
          <a:xfrm>
            <a:off x="548640" y="4114800"/>
            <a:ext cx="11064240" cy="365760"/>
          </a:xfrm>
          <a:prstGeom prst="rect">
            <a:avLst/>
          </a:prstGeom>
          <a:noFill/>
          <a:ln/>
        </p:spPr>
        <p:txBody>
          <a:bodyPr wrap="square" lIns="0" tIns="0" rIns="0" bIns="0" rtlCol="0" anchor="ctr"/>
          <a:lstStyle/>
          <a:p>
            <a:pPr indent="0" marL="0">
              <a:buNone/>
            </a:pPr>
            <a:r>
              <a:rPr lang="en-US" sz="1600" b="1" dirty="0">
                <a:solidFill>
                  <a:schemeClr val="tx1"/>
                </a:solidFill>
              </a:rPr>
              <a:t>Next, until the final report</a:t>
            </a:r>
            <a:endParaRPr lang="en-US" sz="1600" dirty="0"/>
          </a:p>
        </p:txBody>
      </p:sp>
      <p:sp>
        <p:nvSpPr>
          <p:cNvPr id="36" name="Shape 28"/>
          <p:cNvSpPr/>
          <p:nvPr/>
        </p:nvSpPr>
        <p:spPr>
          <a:xfrm>
            <a:off x="2194560" y="4800600"/>
            <a:ext cx="7772400" cy="0"/>
          </a:xfrm>
          <a:prstGeom prst="line">
            <a:avLst/>
          </a:prstGeom>
          <a:noFill/>
          <a:ln w="38100">
            <a:solidFill>
              <a:srgbClr val="BFBFBF"/>
            </a:solidFill>
            <a:prstDash val="solid"/>
          </a:ln>
        </p:spPr>
      </p:sp>
      <p:sp>
        <p:nvSpPr>
          <p:cNvPr id="37" name="milestone 0"/>
          <p:cNvSpPr/>
          <p:nvPr/>
        </p:nvSpPr>
        <p:spPr>
          <a:xfrm>
            <a:off x="1920240" y="4526280"/>
            <a:ext cx="548640" cy="548640"/>
          </a:xfrm>
          <a:prstGeom prst="ellipse">
            <a:avLst/>
          </a:prstGeom>
          <a:solidFill>
            <a:srgbClr val="FFFFFF"/>
          </a:solidFill>
          <a:ln w="25400">
            <a:solidFill>
              <a:srgbClr val="4472C4"/>
            </a:solidFill>
            <a:prstDash val="solid"/>
          </a:ln>
        </p:spPr>
      </p:sp>
      <p:pic>
        <p:nvPicPr>
          <p:cNvPr id="38" name="milestone icon 0" descr="/NAS/SJ/POSTECH/nlp/figs/icons/check.png">    </p:cNvPr>
          <p:cNvPicPr>
            <a:picLocks noChangeAspect="1"/>
          </p:cNvPicPr>
          <p:nvPr/>
        </p:nvPicPr>
        <p:blipFill>
          <a:blip r:embed="rId7"/>
          <a:stretch>
            <a:fillRect/>
          </a:stretch>
        </p:blipFill>
        <p:spPr>
          <a:xfrm>
            <a:off x="2020824" y="4626864"/>
            <a:ext cx="347472" cy="347472"/>
          </a:xfrm>
          <a:prstGeom prst="rect">
            <a:avLst/>
          </a:prstGeom>
        </p:spPr>
      </p:pic>
      <p:sp>
        <p:nvSpPr>
          <p:cNvPr id="39" name="Text 30"/>
          <p:cNvSpPr txBox="1"/>
          <p:nvPr/>
        </p:nvSpPr>
        <p:spPr>
          <a:xfrm>
            <a:off x="5486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finish the held-out test on more models</a:t>
            </a:r>
            <a:endParaRPr lang="en-US" sz="1500" dirty="0"/>
          </a:p>
        </p:txBody>
      </p:sp>
      <p:sp>
        <p:nvSpPr>
          <p:cNvPr id="40" name="milestone 1"/>
          <p:cNvSpPr/>
          <p:nvPr/>
        </p:nvSpPr>
        <p:spPr>
          <a:xfrm>
            <a:off x="5806440" y="4526280"/>
            <a:ext cx="548640" cy="548640"/>
          </a:xfrm>
          <a:prstGeom prst="ellipse">
            <a:avLst/>
          </a:prstGeom>
          <a:solidFill>
            <a:srgbClr val="FFFFFF"/>
          </a:solidFill>
          <a:ln w="25400">
            <a:solidFill>
              <a:srgbClr val="4472C4"/>
            </a:solidFill>
            <a:prstDash val="solid"/>
          </a:ln>
        </p:spPr>
      </p:sp>
      <p:pic>
        <p:nvPicPr>
          <p:cNvPr id="41" name="milestone icon 1" descr="/NAS/SJ/POSTECH/nlp/figs/icons/warn.png">    </p:cNvPr>
          <p:cNvPicPr>
            <a:picLocks noChangeAspect="1"/>
          </p:cNvPicPr>
          <p:nvPr/>
        </p:nvPicPr>
        <p:blipFill>
          <a:blip r:embed="rId8"/>
          <a:stretch>
            <a:fillRect/>
          </a:stretch>
        </p:blipFill>
        <p:spPr>
          <a:xfrm>
            <a:off x="5907024" y="4626864"/>
            <a:ext cx="347472" cy="347472"/>
          </a:xfrm>
          <a:prstGeom prst="rect">
            <a:avLst/>
          </a:prstGeom>
        </p:spPr>
      </p:pic>
      <p:sp>
        <p:nvSpPr>
          <p:cNvPr id="42" name="Text 32"/>
          <p:cNvSpPr txBox="1"/>
          <p:nvPr/>
        </p:nvSpPr>
        <p:spPr>
          <a:xfrm>
            <a:off x="44348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errors no check catches: programs that run but model the problem wrong</a:t>
            </a:r>
            <a:endParaRPr lang="en-US" sz="1500" dirty="0"/>
          </a:p>
        </p:txBody>
      </p:sp>
      <p:sp>
        <p:nvSpPr>
          <p:cNvPr id="43" name="milestone 2"/>
          <p:cNvSpPr/>
          <p:nvPr/>
        </p:nvSpPr>
        <p:spPr>
          <a:xfrm>
            <a:off x="9692640" y="4526280"/>
            <a:ext cx="548640" cy="548640"/>
          </a:xfrm>
          <a:prstGeom prst="ellipse">
            <a:avLst/>
          </a:prstGeom>
          <a:solidFill>
            <a:srgbClr val="FFFFFF"/>
          </a:solidFill>
          <a:ln w="25400">
            <a:solidFill>
              <a:srgbClr val="4472C4"/>
            </a:solidFill>
            <a:prstDash val="solid"/>
          </a:ln>
        </p:spPr>
      </p:sp>
      <p:pic>
        <p:nvPicPr>
          <p:cNvPr id="44" name="milestone icon 2" descr="/NAS/SJ/POSTECH/nlp/figs/icons/code.png">    </p:cNvPr>
          <p:cNvPicPr>
            <a:picLocks noChangeAspect="1"/>
          </p:cNvPicPr>
          <p:nvPr/>
        </p:nvPicPr>
        <p:blipFill>
          <a:blip r:embed="rId9"/>
          <a:stretch>
            <a:fillRect/>
          </a:stretch>
        </p:blipFill>
        <p:spPr>
          <a:xfrm>
            <a:off x="9793224" y="4626864"/>
            <a:ext cx="347472" cy="347472"/>
          </a:xfrm>
          <a:prstGeom prst="rect">
            <a:avLst/>
          </a:prstGeom>
        </p:spPr>
      </p:pic>
      <p:sp>
        <p:nvSpPr>
          <p:cNvPr id="45" name="Text 34"/>
          <p:cNvSpPr txBox="1"/>
          <p:nvPr/>
        </p:nvSpPr>
        <p:spPr>
          <a:xfrm>
            <a:off x="83210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hints for every problem type; report and code</a:t>
            </a:r>
            <a:endParaRPr lang="en-US" sz="1500" dirty="0"/>
          </a:p>
        </p:txBody>
      </p:sp>
      <p:sp>
        <p:nvSpPr>
          <p:cNvPr id="46" name="Text 3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hint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the exact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One hint per problem type, put in the prompt before the task; it shows only the calls that type needs</a:t>
            </a:r>
            <a:endParaRPr lang="en-US" sz="1700" dirty="0"/>
          </a:p>
        </p:txBody>
      </p:sp>
      <p:sp>
        <p:nvSpPr>
          <p:cNvPr id="4" name="how hint Written by hand"/>
          <p:cNvSpPr/>
          <p:nvPr/>
        </p:nvSpPr>
        <p:spPr>
          <a:xfrm>
            <a:off x="548640" y="1737360"/>
            <a:ext cx="3566160" cy="3794760"/>
          </a:xfrm>
          <a:prstGeom prst="roundRect">
            <a:avLst>
              <a:gd name="adj" fmla="val 2051"/>
            </a:avLst>
          </a:prstGeom>
          <a:solidFill>
            <a:srgbClr val="F2F2F2"/>
          </a:solidFill>
          <a:ln w="9525">
            <a:solidFill>
              <a:srgbClr val="D9D9D9"/>
            </a:solidFill>
            <a:prstDash val="solid"/>
          </a:ln>
        </p:spPr>
      </p:sp>
      <p:pic>
        <p:nvPicPr>
          <p:cNvPr id="5" name="icon pen" descr="/NAS/SJ/POSTECH/nlp/figs/icons/pen.png">    </p:cNvPr>
          <p:cNvPicPr>
            <a:picLocks noChangeAspect="1"/>
          </p:cNvPicPr>
          <p:nvPr/>
        </p:nvPicPr>
        <p:blipFill>
          <a:blip r:embed="rId1"/>
          <a:stretch>
            <a:fillRect/>
          </a:stretch>
        </p:blipFill>
        <p:spPr>
          <a:xfrm>
            <a:off x="731520" y="1847088"/>
            <a:ext cx="411480" cy="411480"/>
          </a:xfrm>
          <a:prstGeom prst="rect">
            <a:avLst/>
          </a:prstGeom>
        </p:spPr>
      </p:pic>
      <p:sp>
        <p:nvSpPr>
          <p:cNvPr id="6" name="Text 3"/>
          <p:cNvSpPr txBox="1"/>
          <p:nvPr/>
        </p:nvSpPr>
        <p:spPr>
          <a:xfrm>
            <a:off x="123444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Written by hand</a:t>
            </a:r>
            <a:endParaRPr lang="en-US" sz="1700" dirty="0"/>
          </a:p>
        </p:txBody>
      </p:sp>
      <p:sp>
        <p:nvSpPr>
          <p:cNvPr id="7" name="Text 4"/>
          <p:cNvSpPr txBox="1"/>
          <p:nvPr/>
        </p:nvSpPr>
        <p:spPr>
          <a:xfrm>
            <a:off x="73152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once per problem type: the exact library usage (e.g. 11 lines for truck routing)</a:t>
            </a:r>
            <a:endParaRPr lang="en-US" sz="1400" dirty="0"/>
          </a:p>
        </p:txBody>
      </p:sp>
      <p:sp>
        <p:nvSpPr>
          <p:cNvPr id="8" name="Text 5"/>
          <p:cNvSpPr txBox="1"/>
          <p:nvPr/>
        </p:nvSpPr>
        <p:spPr>
          <a:xfrm>
            <a:off x="73152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routing 23% → 77–90%; word problems 65% → 72% (Qwen3-32B)</a:t>
            </a:r>
            <a:endParaRPr lang="en-US" sz="1400" dirty="0"/>
          </a:p>
        </p:txBody>
      </p:sp>
      <p:sp>
        <p:nvSpPr>
          <p:cNvPr id="9" name="Text 6"/>
          <p:cNvSpPr txBox="1"/>
          <p:nvPr/>
        </p:nvSpPr>
        <p:spPr>
          <a:xfrm>
            <a:off x="73152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needs someone who knows the library</a:t>
            </a:r>
            <a:endParaRPr lang="en-US" sz="1400" dirty="0"/>
          </a:p>
        </p:txBody>
      </p:sp>
      <p:sp>
        <p:nvSpPr>
          <p:cNvPr id="10" name="how hint Found by search"/>
          <p:cNvSpPr/>
          <p:nvPr/>
        </p:nvSpPr>
        <p:spPr>
          <a:xfrm>
            <a:off x="4297680" y="1737360"/>
            <a:ext cx="3566160" cy="3794760"/>
          </a:xfrm>
          <a:prstGeom prst="roundRect">
            <a:avLst>
              <a:gd name="adj" fmla="val 2051"/>
            </a:avLst>
          </a:prstGeom>
          <a:solidFill>
            <a:srgbClr val="F2F2F2"/>
          </a:solidFill>
          <a:ln w="9525">
            <a:solidFill>
              <a:srgbClr val="D9D9D9"/>
            </a:solidFill>
            <a:prstDash val="solid"/>
          </a:ln>
        </p:spPr>
      </p:sp>
      <p:pic>
        <p:nvPicPr>
          <p:cNvPr id="11" name="icon shapes" descr="/NAS/SJ/POSTECH/nlp/figs/icons/shapes.png">    </p:cNvPr>
          <p:cNvPicPr>
            <a:picLocks noChangeAspect="1"/>
          </p:cNvPicPr>
          <p:nvPr/>
        </p:nvPicPr>
        <p:blipFill>
          <a:blip r:embed="rId2"/>
          <a:stretch>
            <a:fillRect/>
          </a:stretch>
        </p:blipFill>
        <p:spPr>
          <a:xfrm>
            <a:off x="4480560" y="1847088"/>
            <a:ext cx="411480" cy="411480"/>
          </a:xfrm>
          <a:prstGeom prst="rect">
            <a:avLst/>
          </a:prstGeom>
        </p:spPr>
      </p:pic>
      <p:sp>
        <p:nvSpPr>
          <p:cNvPr id="12" name="Text 8"/>
          <p:cNvSpPr txBox="1"/>
          <p:nvPr/>
        </p:nvSpPr>
        <p:spPr>
          <a:xfrm>
            <a:off x="498348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Found by search</a:t>
            </a:r>
            <a:endParaRPr lang="en-US" sz="1700" dirty="0"/>
          </a:p>
        </p:txBody>
      </p:sp>
      <p:sp>
        <p:nvSpPr>
          <p:cNvPr id="13" name="Text 9"/>
          <p:cNvSpPr txBox="1"/>
          <p:nvPr/>
        </p:nvSpPr>
        <p:spPr>
          <a:xfrm>
            <a:off x="448056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BM25 over a small library of titled usage snippets; take the top one</a:t>
            </a:r>
            <a:endParaRPr lang="en-US" sz="1400" dirty="0"/>
          </a:p>
        </p:txBody>
      </p:sp>
      <p:sp>
        <p:nvSpPr>
          <p:cNvPr id="14" name="Text 10"/>
          <p:cNvSpPr txBox="1"/>
          <p:nvPr/>
        </p:nvSpPr>
        <p:spPr>
          <a:xfrm>
            <a:off x="448056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97% vs 96% by hand (6 optimization problems); 84% vs 87% on the 208-problem suite</a:t>
            </a:r>
            <a:endParaRPr lang="en-US" sz="1400" dirty="0"/>
          </a:p>
        </p:txBody>
      </p:sp>
      <p:sp>
        <p:nvSpPr>
          <p:cNvPr id="15" name="Text 11"/>
          <p:cNvSpPr txBox="1"/>
          <p:nvPr/>
        </p:nvSpPr>
        <p:spPr>
          <a:xfrm>
            <a:off x="448056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a near-miss page hurts: routing 83% → 57%</a:t>
            </a:r>
            <a:endParaRPr lang="en-US" sz="1400" dirty="0"/>
          </a:p>
        </p:txBody>
      </p:sp>
      <p:sp>
        <p:nvSpPr>
          <p:cNvPr id="16" name="how hint Taken from the model's own work"/>
          <p:cNvSpPr/>
          <p:nvPr/>
        </p:nvSpPr>
        <p:spPr>
          <a:xfrm>
            <a:off x="8046720" y="1737360"/>
            <a:ext cx="3566160" cy="3794760"/>
          </a:xfrm>
          <a:prstGeom prst="roundRect">
            <a:avLst>
              <a:gd name="adj" fmla="val 2051"/>
            </a:avLst>
          </a:prstGeom>
          <a:solidFill>
            <a:srgbClr val="F2F2F2"/>
          </a:solidFill>
          <a:ln w="9525">
            <a:solidFill>
              <a:srgbClr val="D9D9D9"/>
            </a:solidFill>
            <a:prstDash val="solid"/>
          </a:ln>
        </p:spPr>
      </p:sp>
      <p:pic>
        <p:nvPicPr>
          <p:cNvPr id="17" name="icon check" descr="/NAS/SJ/POSTECH/nlp/figs/icons/check.png">    </p:cNvPr>
          <p:cNvPicPr>
            <a:picLocks noChangeAspect="1"/>
          </p:cNvPicPr>
          <p:nvPr/>
        </p:nvPicPr>
        <p:blipFill>
          <a:blip r:embed="rId3"/>
          <a:stretch>
            <a:fillRect/>
          </a:stretch>
        </p:blipFill>
        <p:spPr>
          <a:xfrm>
            <a:off x="8229600" y="1847088"/>
            <a:ext cx="411480" cy="411480"/>
          </a:xfrm>
          <a:prstGeom prst="rect">
            <a:avLst/>
          </a:prstGeom>
        </p:spPr>
      </p:pic>
      <p:sp>
        <p:nvSpPr>
          <p:cNvPr id="18" name="Text 13"/>
          <p:cNvSpPr txBox="1"/>
          <p:nvPr/>
        </p:nvSpPr>
        <p:spPr>
          <a:xfrm>
            <a:off x="873252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Taken from the model's own work</a:t>
            </a:r>
            <a:endParaRPr lang="en-US" sz="1700" dirty="0"/>
          </a:p>
        </p:txBody>
      </p:sp>
      <p:sp>
        <p:nvSpPr>
          <p:cNvPr id="19" name="Text 14"/>
          <p:cNvSpPr txBox="1"/>
          <p:nvPr/>
        </p:nvSpPr>
        <p:spPr>
          <a:xfrm>
            <a:off x="822960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run the model on other problems of the same type; keep programs that pass the free check; use the shortest</a:t>
            </a:r>
            <a:endParaRPr lang="en-US" sz="1400" dirty="0"/>
          </a:p>
        </p:txBody>
      </p:sp>
      <p:sp>
        <p:nvSpPr>
          <p:cNvPr id="20" name="Text 15"/>
          <p:cNvSpPr txBox="1"/>
          <p:nvPr/>
        </p:nvSpPr>
        <p:spPr>
          <a:xfrm>
            <a:off x="822960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held-out MAMO (863), automatic vs by hand: 79% = 79% (gpt-oss-20b), 72% vs 71% (Qwen3-14B), 71% vs 72% (Qwen3-8B)</a:t>
            </a:r>
            <a:endParaRPr lang="en-US" sz="1400" dirty="0"/>
          </a:p>
        </p:txBody>
      </p:sp>
      <p:sp>
        <p:nvSpPr>
          <p:cNvPr id="21" name="Text 16"/>
          <p:cNvSpPr txBox="1"/>
          <p:nvPr/>
        </p:nvSpPr>
        <p:spPr>
          <a:xfrm>
            <a:off x="822960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only within one problem type: another type's program costs 14–21 points</a:t>
            </a:r>
            <a:endParaRPr lang="en-US" sz="1400" dirty="0"/>
          </a:p>
        </p:txBody>
      </p:sp>
      <p:sp>
        <p:nvSpPr>
          <p:cNvPr id="22" name="Text 1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Only the needed calls: with all helpers 75%, with only the needed ones 92% (geometry)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(one run)</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20).</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run):</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runs)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runs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runs: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runs)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runs;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runs;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2026-10-19T19:34:07Z</dcterms:created>
  <dcterms:modified xsi:type="dcterms:W3CDTF">2026-10-19T19:34:07Z</dcterms:modified>
</cp:coreProperties>
</file>