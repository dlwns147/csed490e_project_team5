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2c936d8d-6338-513c-6ba0-9346b8ac8e84}">
          <p14:sldIdLst>
            <p14:sldId id="256"/>
            <p14:sldId id="257"/>
            <p14:sldId id="258"/>
            <p14:sldId id="259"/>
            <p14:sldId id="260"/>
            <p14:sldId id="261"/>
            <p14:sldId id="262"/>
            <p14:sldId id="263"/>
            <p14:sldId id="264"/>
          </p14:sldIdLst>
        </p14:section>
        <p14:section name="Extra pages" id="{feb1e1d4-b2f0-3dcd-85d0-0d854c88206a}">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앞서 푼 같은 종류의 문제들에서 검사를 통과한 프로그램을 힌트 풀로 모으고, 가장 짧은 것을 씁니다. 이 풀은 정답 없이, 문제가 들어오는 대로 채워집니다.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새로운 점은 세 가지입니다. 학습 없이 공짜 검사가 실패할 때만 생각해서 74%를 87%로 올렸고, 매뉴얼 대신 사람 없이 고른 짧은 힌트 하나를 주며, 최적화 문장제 863개인 MAMO에서, 파인튜닝한 8B 특화 모델과 같은 69.5%를 같은 크기의 8B 모델로 학습 없이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and what does it do?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What about the first time, with no past programs? (slide 7)
26: Is 'think on the hardest' a weak baseline? (slide 7)
35: What if the same problem repeats? (slide 7)
11: Why no hint for contest problems? (slide 7)
34: Where does the recipe stop? (slide 7)
27, 28, 29: What is new vs PAL and cascades? (slide 8)
30: Why not majority voting? (slide 8)
31, 36: Is the comparison fair? (slide 8)
32: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라이브러리를 어떻게 부르는지 보여 줍니다. 사람이 쓴 힌트는 경로 문제에서 OR-Tools 사용법 11줄로, 이 문제의 숫자도 답도 없고 30문제에 똑같이 붙습니다. 자동 힌트는 같은 종류의 다른 문제, 예를 들어 밴과 트럭 문제에서 모델이 짜서 검사를 통과한 가장 짧은 프로그램입니다. 그 문제의 숫자와 제약이 들어 있지만, 가장 짧은 것을 고르면 거의 함수 호출만 남습니다. 힌트가 하는 일은 없는 함수 이름을 지어내지 않게 하는 것입니다. Qwen3-1.7B는 힌트 없이 존재하지 않는 Solver.SUCCESS, solver.INFINITY를 써서 0.1%였고, 힌트를 주면 45%입니다. 하지만 문제를 수식으로 옮기는 일은 여전히 모델의 몫이라 남은 오류는 대부분 잘못된 수식입니다. 참고로 가장 짧은 것 대신 가장 비슷한 문제의 프로그램을 주면 수식 패턴까지 따라 들어가서, 그 프로그램이 맞으면 반복되는 수식 실수를 고치고, 틀리면 같이 틀립니다.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지난 프로그램이 따로 없어도 됩니다. 필요한 것은 정답이 아니라 검사를 통과한 프로그램뿐이라서, 문제가 들어오는 대로 라이브러리를 채울 수 있습니다. 새 문제가 오면 지금까지 모인 것 중 가장 비슷한 검사 통과 프로그램을 힌트로 주고, 그 문제의 프로그램이 검사를 통과하면 라이브러리에 넣습니다. 첫 문제는 다른 벤치마크의 예제 프로그램 하나로 시작했습니다. MAMO를 이렇게 흘려보내면 gpt-oss-20b는 78.6%에서 79.0%, Qwen3-14B는 72.5%에서 76.4%, Qwen3-8B는 72.1%에서 75.9%가 되고 토큰은 15에서 26% 줄었습니다. 다만 전체 라이브러리를 미리 가진 경우 이득의 60에서 77%이고, 라이브러리에는 다섯 모델의 프로그램이 들어 있었으며, 어떤 종류에서 모델 자신의 프로그램이 모두 틀리면 힌트도 틀립니다. 문제가 다양하면 주로 토큰만 줄어듭니다.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Hint pool: its own checked programs (no human)</a:t>
            </a:r>
            <a:endParaRPr lang="en-US" sz="1700" dirty="0"/>
          </a:p>
        </p:txBody>
      </p:sp>
      <p:sp>
        <p:nvSpPr>
          <p:cNvPr id="39" name="box programs on earlier "/>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programs on earlier problems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and what does it do?</a:t>
            </a:r>
            <a:endParaRPr lang="en-US" sz="3600" dirty="0"/>
          </a:p>
        </p:txBody>
      </p:sp>
      <p:sp>
        <p:nvSpPr>
          <p:cNvPr id="3" name="hand-written fact"/>
          <p:cNvSpPr/>
          <p:nvPr/>
        </p:nvSpPr>
        <p:spPr>
          <a:xfrm>
            <a:off x="548640" y="1280160"/>
            <a:ext cx="5440680" cy="2194560"/>
          </a:xfrm>
          <a:prstGeom prst="roundRect">
            <a:avLst>
              <a:gd name="adj" fmla="val 3333"/>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Written by hand (routing): library usage only</a:t>
            </a:r>
            <a:endParaRPr lang="en-US" sz="1600" dirty="0"/>
          </a:p>
        </p:txBody>
      </p:sp>
      <p:sp>
        <p:nvSpPr>
          <p:cNvPr id="5" name="Text 3"/>
          <p:cNvSpPr txBox="1"/>
          <p:nvPr/>
        </p:nvSpPr>
        <p:spPr>
          <a:xfrm>
            <a:off x="77724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mgr = pywrapcp.RoutingIndexManager(n + 1, K, 0)</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 = pywrapcp.RoutingModel(mgr)</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dcb = r.RegisterUnaryTransitCallback(demand)</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r.AddDimensionWithVehicleCapacity(dcb, ...)</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 = r.SolveWithParameters(p)</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11 lines, the same for all 30 problems</a:t>
            </a:r>
            <a:endParaRPr lang="en-US" sz="1300" dirty="0"/>
          </a:p>
        </p:txBody>
      </p:sp>
      <p:sp>
        <p:nvSpPr>
          <p:cNvPr id="6" name="automatic fact"/>
          <p:cNvSpPr/>
          <p:nvPr/>
        </p:nvSpPr>
        <p:spPr>
          <a:xfrm>
            <a:off x="6172200" y="1280160"/>
            <a:ext cx="5440680" cy="2194560"/>
          </a:xfrm>
          <a:prstGeom prst="roundRect">
            <a:avLst>
              <a:gd name="adj" fmla="val 3333"/>
            </a:avLst>
          </a:prstGeom>
          <a:solidFill>
            <a:srgbClr val="F2F2F2"/>
          </a:solidFill>
          <a:ln w="9525">
            <a:solidFill>
              <a:srgbClr val="D9D9D9"/>
            </a:solidFill>
            <a:prstDash val="solid"/>
          </a:ln>
        </p:spPr>
      </p:sp>
      <p:sp>
        <p:nvSpPr>
          <p:cNvPr id="7" name="Text 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600" b="1" dirty="0">
                <a:solidFill>
                  <a:srgbClr val="4472C4"/>
                </a:solidFill>
              </a:rPr>
              <a:t>Automatic (word problems): another problem's program</a:t>
            </a:r>
            <a:endParaRPr lang="en-US" sz="1600" dirty="0"/>
          </a:p>
        </p:txBody>
      </p:sp>
      <p:sp>
        <p:nvSpPr>
          <p:cNvPr id="8" name="Text 6"/>
          <p:cNvSpPr txBox="1"/>
          <p:nvPr/>
        </p:nvSpPr>
        <p:spPr>
          <a:xfrm>
            <a:off x="6400800" y="1828800"/>
            <a:ext cx="5029200" cy="1600200"/>
          </a:xfrm>
          <a:prstGeom prst="rect">
            <a:avLst/>
          </a:prstGeom>
          <a:noFill/>
          <a:ln/>
        </p:spPr>
        <p:txBody>
          <a:bodyPr wrap="square" lIns="0" tIns="0" rIns="0" bIns="0" rtlCol="0" anchor="t"/>
          <a:lstStyle/>
          <a:p>
            <a:pPr indent="0" marL="0">
              <a:buNone/>
            </a:pPr>
            <a:r>
              <a:rPr lang="en-US" sz="1300" dirty="0">
                <a:solidFill>
                  <a:schemeClr val="tx1"/>
                </a:solidFill>
                <a:latin typeface="Courier New" pitchFamily="34" charset="0"/>
                <a:ea typeface="Courier New" pitchFamily="34" charset="-122"/>
                <a:cs typeface="Courier New" pitchFamily="34" charset="-120"/>
              </a:rPr>
              <a:t>solver = pywraplp.Solver.CreateSolver('SCIP')</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v = solver.IntVar(0, solver.infinity(), 'v')</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(that problem's own limits)</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solver.Minimize(v)</a:t>
            </a:r>
            <a:endParaRPr lang="en-US" sz="1300" dirty="0"/>
          </a:p>
          <a:p>
            <a:pPr indent="0" marL="0">
              <a:buNone/>
            </a:pPr>
            <a:r>
              <a:rPr lang="en-US" sz="1300" dirty="0">
                <a:solidFill>
                  <a:schemeClr val="tx1"/>
                </a:solidFill>
                <a:latin typeface="Courier New" pitchFamily="34" charset="0"/>
                <a:ea typeface="Courier New" pitchFamily="34" charset="-122"/>
                <a:cs typeface="Courier New" pitchFamily="34" charset="-120"/>
              </a:rPr>
              <a:t>status = solver.Solve()</a:t>
            </a:r>
            <a:endParaRPr lang="en-US" sz="1300" dirty="0"/>
          </a:p>
          <a:p>
            <a:pPr indent="0" marL="0">
              <a:buNone/>
            </a:pPr>
            <a:r>
              <a:rPr lang="en-US" sz="1300" dirty="0">
                <a:solidFill>
                  <a:srgbClr val="7F7F7F"/>
                </a:solidFill>
                <a:latin typeface="Courier New" pitchFamily="34" charset="0"/>
                <a:ea typeface="Courier New" pitchFamily="34" charset="-122"/>
                <a:cs typeface="Courier New" pitchFamily="34" charset="-120"/>
              </a:rPr>
              <a:t>… a vans-and-trucks problem, not this one</a:t>
            </a:r>
            <a:endParaRPr lang="en-US" sz="1300" dirty="0"/>
          </a:p>
        </p:txBody>
      </p:sp>
      <p:sp>
        <p:nvSpPr>
          <p:cNvPr id="9" name="what the fact does"/>
          <p:cNvSpPr/>
          <p:nvPr/>
        </p:nvSpPr>
        <p:spPr>
          <a:xfrm>
            <a:off x="548640" y="3657600"/>
            <a:ext cx="11064240" cy="1600200"/>
          </a:xfrm>
          <a:prstGeom prst="roundRect">
            <a:avLst>
              <a:gd name="adj" fmla="val 4571"/>
            </a:avLst>
          </a:prstGeom>
          <a:solidFill>
            <a:srgbClr val="F2F2F2"/>
          </a:solidFill>
          <a:ln w="9525">
            <a:solidFill>
              <a:srgbClr val="D9D9D9"/>
            </a:solidFill>
            <a:prstDash val="solid"/>
          </a:ln>
        </p:spPr>
      </p:sp>
      <p:sp>
        <p:nvSpPr>
          <p:cNvPr id="10" name="Text 8"/>
          <p:cNvSpPr txBox="1"/>
          <p:nvPr/>
        </p:nvSpPr>
        <p:spPr>
          <a:xfrm>
            <a:off x="777240" y="3712464"/>
            <a:ext cx="4572000" cy="365760"/>
          </a:xfrm>
          <a:prstGeom prst="rect">
            <a:avLst/>
          </a:prstGeom>
          <a:noFill/>
          <a:ln/>
        </p:spPr>
        <p:txBody>
          <a:bodyPr wrap="square" lIns="0" tIns="0" rIns="0" bIns="0" rtlCol="0" anchor="ctr"/>
          <a:lstStyle/>
          <a:p>
            <a:pPr indent="0" marL="0">
              <a:buNone/>
            </a:pPr>
            <a:r>
              <a:rPr lang="en-US" sz="1600" b="1" dirty="0">
                <a:solidFill>
                  <a:srgbClr val="4472C4"/>
                </a:solidFill>
              </a:rPr>
              <a:t>What it does</a:t>
            </a:r>
            <a:endParaRPr lang="en-US" sz="1600" dirty="0"/>
          </a:p>
        </p:txBody>
      </p:sp>
      <p:sp>
        <p:nvSpPr>
          <p:cNvPr id="11" name="Text 9"/>
          <p:cNvSpPr txBox="1"/>
          <p:nvPr/>
        </p:nvSpPr>
        <p:spPr>
          <a:xfrm>
            <a:off x="777240" y="4096512"/>
            <a:ext cx="274320" cy="365760"/>
          </a:xfrm>
          <a:prstGeom prst="rect">
            <a:avLst/>
          </a:prstGeom>
          <a:noFill/>
          <a:ln/>
        </p:spPr>
        <p:txBody>
          <a:bodyPr wrap="square" lIns="0" tIns="0" rIns="0" bIns="0" rtlCol="0" anchor="ctr"/>
          <a:lstStyle/>
          <a:p>
            <a:pPr indent="0" marL="0">
              <a:buNone/>
            </a:pPr>
            <a:r>
              <a:rPr lang="en-US" sz="1700" b="1" dirty="0">
                <a:solidFill>
                  <a:srgbClr val="38761D"/>
                </a:solidFill>
              </a:rPr>
              <a:t>✓</a:t>
            </a:r>
            <a:endParaRPr lang="en-US" sz="1700" dirty="0"/>
          </a:p>
        </p:txBody>
      </p:sp>
      <p:sp>
        <p:nvSpPr>
          <p:cNvPr id="12" name="Text 10"/>
          <p:cNvSpPr txBox="1"/>
          <p:nvPr/>
        </p:nvSpPr>
        <p:spPr>
          <a:xfrm>
            <a:off x="1097280" y="4096512"/>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stops invented function names: Qwen3-1.7B wrote Solver.SUCCESS and solver.INFINITY (do not exist); with the hint 0.1% → 45% solved</a:t>
            </a:r>
            <a:endParaRPr lang="en-US" sz="1400" dirty="0"/>
          </a:p>
        </p:txBody>
      </p:sp>
      <p:sp>
        <p:nvSpPr>
          <p:cNvPr id="13" name="Text 11"/>
          <p:cNvSpPr txBox="1"/>
          <p:nvPr/>
        </p:nvSpPr>
        <p:spPr>
          <a:xfrm>
            <a:off x="777240" y="4480560"/>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4" name="Text 12"/>
          <p:cNvSpPr txBox="1"/>
          <p:nvPr/>
        </p:nvSpPr>
        <p:spPr>
          <a:xfrm>
            <a:off x="1097280" y="4480560"/>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does not write the equations: modelling the problem is still the model's job (most errors left are wrong equations)</a:t>
            </a:r>
            <a:endParaRPr lang="en-US" sz="1400" dirty="0"/>
          </a:p>
        </p:txBody>
      </p:sp>
      <p:sp>
        <p:nvSpPr>
          <p:cNvPr id="15" name="Text 13"/>
          <p:cNvSpPr txBox="1"/>
          <p:nvPr/>
        </p:nvSpPr>
        <p:spPr>
          <a:xfrm>
            <a:off x="777240" y="4864608"/>
            <a:ext cx="274320" cy="365760"/>
          </a:xfrm>
          <a:prstGeom prst="rect">
            <a:avLst/>
          </a:prstGeom>
          <a:noFill/>
          <a:ln/>
        </p:spPr>
        <p:txBody>
          <a:bodyPr wrap="square" lIns="0" tIns="0" rIns="0" bIns="0" rtlCol="0" anchor="ctr"/>
          <a:lstStyle/>
          <a:p>
            <a:pPr indent="0" marL="0">
              <a:buNone/>
            </a:pPr>
            <a:r>
              <a:rPr lang="en-US" sz="1700" b="1" dirty="0">
                <a:solidFill>
                  <a:srgbClr val="C00000"/>
                </a:solidFill>
              </a:rPr>
              <a:t>✗</a:t>
            </a:r>
            <a:endParaRPr lang="en-US" sz="1700" dirty="0"/>
          </a:p>
        </p:txBody>
      </p:sp>
      <p:sp>
        <p:nvSpPr>
          <p:cNvPr id="16" name="Text 14"/>
          <p:cNvSpPr txBox="1"/>
          <p:nvPr/>
        </p:nvSpPr>
        <p:spPr>
          <a:xfrm>
            <a:off x="1097280" y="4864608"/>
            <a:ext cx="10332720" cy="365760"/>
          </a:xfrm>
          <a:prstGeom prst="rect">
            <a:avLst/>
          </a:prstGeom>
          <a:noFill/>
          <a:ln/>
        </p:spPr>
        <p:txBody>
          <a:bodyPr wrap="square" lIns="0" tIns="0" rIns="0" bIns="0" rtlCol="0" anchor="ctr"/>
          <a:lstStyle/>
          <a:p>
            <a:pPr indent="0" marL="0">
              <a:buNone/>
            </a:pPr>
            <a:r>
              <a:rPr lang="en-US" sz="1400" dirty="0">
                <a:solidFill>
                  <a:schemeClr val="tx1"/>
                </a:solidFill>
              </a:rPr>
              <a:t>It never holds this problem's numbers or answer: one hint per problem type</a:t>
            </a:r>
            <a:endParaRPr lang="en-US" sz="1400" dirty="0"/>
          </a:p>
        </p:txBody>
      </p:sp>
      <p:sp>
        <p:nvSpPr>
          <p:cNvPr id="17" name="Text 1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shows how to call the library; the model still has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about the first time, with no past programs?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No answers are needed, only programs that passed the check; the library can fill up as problems arrive</a:t>
            </a:r>
            <a:endParaRPr lang="en-US" sz="1700" dirty="0"/>
          </a:p>
        </p:txBody>
      </p:sp>
      <p:sp>
        <p:nvSpPr>
          <p:cNvPr id="4" name="stream"/>
          <p:cNvSpPr/>
          <p:nvPr/>
        </p:nvSpPr>
        <p:spPr>
          <a:xfrm>
            <a:off x="548640" y="1737360"/>
            <a:ext cx="5440680" cy="3794760"/>
          </a:xfrm>
          <a:prstGeom prst="roundRect">
            <a:avLst>
              <a:gd name="adj" fmla="val 1928"/>
            </a:avLst>
          </a:prstGeom>
          <a:solidFill>
            <a:srgbClr val="F2F2F2"/>
          </a:solidFill>
          <a:ln w="9525">
            <a:solidFill>
              <a:srgbClr val="D9D9D9"/>
            </a:solidFill>
            <a:prstDash val="solid"/>
          </a:ln>
        </p:spPr>
      </p:sp>
      <p:sp>
        <p:nvSpPr>
          <p:cNvPr id="5" name="Text 3"/>
          <p:cNvSpPr txBox="1"/>
          <p:nvPr/>
        </p:nvSpPr>
        <p:spPr>
          <a:xfrm>
            <a:off x="77724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As problems arrive (a stream)</a:t>
            </a:r>
            <a:endParaRPr lang="en-US" sz="1800" dirty="0"/>
          </a:p>
        </p:txBody>
      </p:sp>
      <p:sp>
        <p:nvSpPr>
          <p:cNvPr id="6" name="box a new problem arrive"/>
          <p:cNvSpPr/>
          <p:nvPr/>
        </p:nvSpPr>
        <p:spPr>
          <a:xfrm>
            <a:off x="777240" y="2286000"/>
            <a:ext cx="4983480" cy="548640"/>
          </a:xfrm>
          <a:prstGeom prst="roundRect">
            <a:avLst>
              <a:gd name="adj" fmla="val 10000"/>
            </a:avLst>
          </a:prstGeom>
          <a:solidFill>
            <a:srgbClr val="FFFFFF"/>
          </a:solidFill>
          <a:ln w="9525">
            <a:solidFill>
              <a:srgbClr val="BFBFBF"/>
            </a:solidFill>
            <a:prstDash val="solid"/>
          </a:ln>
        </p:spPr>
      </p:sp>
      <p:sp>
        <p:nvSpPr>
          <p:cNvPr id="7" name="Text 5"/>
          <p:cNvSpPr txBox="1"/>
          <p:nvPr/>
        </p:nvSpPr>
        <p:spPr>
          <a:xfrm>
            <a:off x="850392" y="228600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a new problem arrives</a:t>
            </a:r>
            <a:endParaRPr lang="en-US" sz="1500" dirty="0"/>
          </a:p>
        </p:txBody>
      </p:sp>
      <p:sp>
        <p:nvSpPr>
          <p:cNvPr id="8" name="Shape 6"/>
          <p:cNvSpPr/>
          <p:nvPr/>
        </p:nvSpPr>
        <p:spPr>
          <a:xfrm>
            <a:off x="3264408" y="2834640"/>
            <a:ext cx="0" cy="228600"/>
          </a:xfrm>
          <a:prstGeom prst="line">
            <a:avLst/>
          </a:prstGeom>
          <a:noFill/>
          <a:ln w="25400">
            <a:solidFill>
              <a:srgbClr val="7F7F7F"/>
            </a:solidFill>
            <a:prstDash val="solid"/>
            <a:tailEnd type="triangle"/>
          </a:ln>
        </p:spPr>
      </p:sp>
      <p:sp>
        <p:nvSpPr>
          <p:cNvPr id="9" name="box hint = the most simi"/>
          <p:cNvSpPr/>
          <p:nvPr/>
        </p:nvSpPr>
        <p:spPr>
          <a:xfrm>
            <a:off x="777240" y="3063240"/>
            <a:ext cx="4983480" cy="548640"/>
          </a:xfrm>
          <a:prstGeom prst="roundRect">
            <a:avLst>
              <a:gd name="adj" fmla="val 10000"/>
            </a:avLst>
          </a:prstGeom>
          <a:solidFill>
            <a:srgbClr val="FFFFFF"/>
          </a:solidFill>
          <a:ln w="9525">
            <a:solidFill>
              <a:srgbClr val="BFBFBF"/>
            </a:solidFill>
            <a:prstDash val="solid"/>
          </a:ln>
        </p:spPr>
      </p:sp>
      <p:sp>
        <p:nvSpPr>
          <p:cNvPr id="10" name="Text 8"/>
          <p:cNvSpPr txBox="1"/>
          <p:nvPr/>
        </p:nvSpPr>
        <p:spPr>
          <a:xfrm>
            <a:off x="850392" y="306324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hint = the most similar checked program so far</a:t>
            </a:r>
            <a:endParaRPr lang="en-US" sz="1500" dirty="0"/>
          </a:p>
        </p:txBody>
      </p:sp>
      <p:sp>
        <p:nvSpPr>
          <p:cNvPr id="11" name="Shape 9"/>
          <p:cNvSpPr/>
          <p:nvPr/>
        </p:nvSpPr>
        <p:spPr>
          <a:xfrm>
            <a:off x="3264408" y="3611880"/>
            <a:ext cx="0" cy="228600"/>
          </a:xfrm>
          <a:prstGeom prst="line">
            <a:avLst/>
          </a:prstGeom>
          <a:noFill/>
          <a:ln w="25400">
            <a:solidFill>
              <a:srgbClr val="7F7F7F"/>
            </a:solidFill>
            <a:prstDash val="solid"/>
            <a:tailEnd type="triangle"/>
          </a:ln>
        </p:spPr>
      </p:sp>
      <p:sp>
        <p:nvSpPr>
          <p:cNvPr id="12" name="box its program passes t"/>
          <p:cNvSpPr/>
          <p:nvPr/>
        </p:nvSpPr>
        <p:spPr>
          <a:xfrm>
            <a:off x="777240" y="3840480"/>
            <a:ext cx="4983480" cy="548640"/>
          </a:xfrm>
          <a:prstGeom prst="roundRect">
            <a:avLst>
              <a:gd name="adj" fmla="val 10000"/>
            </a:avLst>
          </a:prstGeom>
          <a:solidFill>
            <a:srgbClr val="E2F0D9"/>
          </a:solidFill>
          <a:ln w="9525">
            <a:solidFill>
              <a:srgbClr val="BFBFBF"/>
            </a:solidFill>
            <a:prstDash val="solid"/>
          </a:ln>
        </p:spPr>
      </p:sp>
      <p:sp>
        <p:nvSpPr>
          <p:cNvPr id="13" name="Text 11"/>
          <p:cNvSpPr txBox="1"/>
          <p:nvPr/>
        </p:nvSpPr>
        <p:spPr>
          <a:xfrm>
            <a:off x="850392" y="384048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its program passes the check → add it to the library</a:t>
            </a:r>
            <a:endParaRPr lang="en-US" sz="1500" dirty="0"/>
          </a:p>
        </p:txBody>
      </p:sp>
      <p:sp>
        <p:nvSpPr>
          <p:cNvPr id="14" name="Text 12"/>
          <p:cNvSpPr txBox="1"/>
          <p:nvPr/>
        </p:nvSpPr>
        <p:spPr>
          <a:xfrm>
            <a:off x="777240" y="4709160"/>
            <a:ext cx="4983480" cy="731520"/>
          </a:xfrm>
          <a:prstGeom prst="rect">
            <a:avLst/>
          </a:prstGeom>
          <a:noFill/>
          <a:ln/>
        </p:spPr>
        <p:txBody>
          <a:bodyPr wrap="square" lIns="0" tIns="0" rIns="0" bIns="0" rtlCol="0" anchor="t"/>
          <a:lstStyle/>
          <a:p>
            <a:pPr indent="0" marL="0">
              <a:buNone/>
            </a:pPr>
            <a:r>
              <a:rPr lang="en-US" sz="1400" dirty="0">
                <a:solidFill>
                  <a:schemeClr val="tx2"/>
                </a:solidFill>
              </a:rPr>
              <a:t>The first problem starts from one example program of another benchmark; no answer key is used anywhere.</a:t>
            </a:r>
            <a:endParaRPr lang="en-US" sz="1400" dirty="0"/>
          </a:p>
        </p:txBody>
      </p:sp>
      <p:sp>
        <p:nvSpPr>
          <p:cNvPr id="15" name="stream result"/>
          <p:cNvSpPr/>
          <p:nvPr/>
        </p:nvSpPr>
        <p:spPr>
          <a:xfrm>
            <a:off x="6172200" y="1737360"/>
            <a:ext cx="5440680" cy="3794760"/>
          </a:xfrm>
          <a:prstGeom prst="roundRect">
            <a:avLst>
              <a:gd name="adj" fmla="val 1928"/>
            </a:avLst>
          </a:prstGeom>
          <a:solidFill>
            <a:srgbClr val="F2F2F2"/>
          </a:solidFill>
          <a:ln w="9525">
            <a:solidFill>
              <a:srgbClr val="D9D9D9"/>
            </a:solidFill>
            <a:prstDash val="solid"/>
          </a:ln>
        </p:spPr>
      </p:sp>
      <p:sp>
        <p:nvSpPr>
          <p:cNvPr id="16" name="Text 14"/>
          <p:cNvSpPr txBox="1"/>
          <p:nvPr/>
        </p:nvSpPr>
        <p:spPr>
          <a:xfrm>
            <a:off x="640080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MAMO as a stream (3 runs), with the check</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286000"/>
          <a:ext cx="4983480" cy="914400"/>
        </p:xfrm>
        <a:graphic>
          <a:graphicData uri="http://schemas.openxmlformats.org/drawingml/2006/table">
            <a:tbl>
              <a:tblPr/>
              <a:tblGrid>
                <a:gridCol w="1508760"/>
                <a:gridCol w="1737360"/>
                <a:gridCol w="1737360"/>
              </a:tblGrid>
              <a:tr h="384048">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one fixed example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stream library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384048">
                <a:tc>
                  <a:txBody>
                    <a:bodyPr/>
                    <a:lstStyle/>
                    <a:p>
                      <a:pPr indent="0" marL="0">
                        <a:buNone/>
                      </a:pPr>
                      <a:r>
                        <a:rPr lang="en-US" sz="1400" dirty="0">
                          <a:solidFill>
                            <a:schemeClr val="tx1"/>
                          </a:solidFill>
                        </a:rPr>
                        <a:t>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78.6% · 1.9k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79.0% · 1.6k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Qwen3-14B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72.5% · 2.8k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76.4% · 2.1k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Qwen3-8B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72.1% · 3.2k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75.9% · 2.3k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8" name="Text 15"/>
          <p:cNvSpPr txBox="1"/>
          <p:nvPr/>
        </p:nvSpPr>
        <p:spPr>
          <a:xfrm>
            <a:off x="6400800" y="3977640"/>
            <a:ext cx="4983480" cy="1463040"/>
          </a:xfrm>
          <a:prstGeom prst="rect">
            <a:avLst/>
          </a:prstGeom>
          <a:noFill/>
          <a:ln/>
        </p:spPr>
        <p:txBody>
          <a:bodyPr wrap="square" lIns="0" tIns="0" rIns="0" bIns="0" rtlCol="0" anchor="t"/>
          <a:lstStyle/>
          <a:p>
            <a:pPr indent="0" marL="0">
              <a:buNone/>
            </a:pPr>
            <a:r>
              <a:rPr lang="en-US" sz="1400" b="1" dirty="0">
                <a:solidFill>
                  <a:schemeClr val="tx1"/>
                </a:solidFill>
              </a:rPr>
              <a:t>Limits: </a:t>
            </a:r>
            <a:pPr indent="0" marL="0">
              <a:buNone/>
            </a:pPr>
            <a:r>
              <a:rPr lang="en-US" sz="1400" dirty="0">
                <a:solidFill>
                  <a:schemeClr val="tx1"/>
                </a:solidFill>
              </a:rPr>
              <a:t>it keeps 60–77% of what a full library gives; the library holds five models' programs; if a model's own programs for a type are all wrong, so is its hint; on varied problems it mostly saves tokens.</a:t>
            </a:r>
            <a:endParaRPr lang="en-US" sz="1400" dirty="0"/>
          </a:p>
        </p:txBody>
      </p:sp>
      <p:sp>
        <p:nvSpPr>
          <p:cNvPr id="19" name="Text 1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past programs needed: the library builds itself from checked programs as problems arrive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2026-10-19T20:14:44Z</dcterms:created>
  <dcterms:modified xsi:type="dcterms:W3CDTF">2026-10-19T20:14:44Z</dcterms:modified>
</cp:coreProperties>
</file>