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ee40c13-6538-2646-1b3c-db691d26da9a}">
          <p14:sldIdLst>
            <p14:sldId id="256"/>
            <p14:sldId id="257"/>
            <p14:sldId id="258"/>
            <p14:sldId id="259"/>
            <p14:sldId id="260"/>
            <p14:sldId id="261"/>
            <p14:sldId id="262"/>
            <p14:sldId id="263"/>
            <p14:sldId id="264"/>
          </p14:sldIdLst>
        </p14:section>
        <p14:section name="Extra pages" id="{abdd5391-3ebf-59b4-41e3-87cc14925083}">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두 번째 발견입니다. 공짜 검사가 실패할 때만 생각하게 하세요. 공짜 검사는 정답을 몰라도, 모델 없이 컴퓨터에서 프로그램을 실행만 해서 틀렸는지 알아보는 방법입니다. 실행 순서는 이렇습니다. 먼저 모델이 보통 수준으로 프로그램을 씁니다. 그다음 컴퓨터에서 검사를 돌립니다. 통과하면 그대로 내고, 실패한 문제만 깊게 생각해서 다시 씁니다. 검사 A는 문제에 적힌 예제입니다. 'Make a triangle!' 문제에는 막대 3, 4, 5면 답이 0이라는 예제가 있고, 우리 프로그램에 3, 4, 5를 넣어 0이 나오면 통과입니다. 'Arrow'는 예제의 일곱 꼭짓점과 다른 답이 나와서 다시 생각했고, 맞혔습니다. 예제만 쓰면 65%, 작은 입력을 전부 따져 보는 느린 프로그램과도 비교하면 66%로, 항상 오래 생각할 때와 같고 토큰은 18% 적습니다. 검사 B는 같은 문제를 두 가지 프롬프트로 두 번 짜서 답을 비교합니다. 6과 0처럼 다르면 실패입니다. 기하 108문제에서 99% 대 98%, 토큰은 27%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[생략 가능] 포함 80초) 두 발견을 합친 것이 저희 방법입니다. 실제 최적화 문제로 보면, 1단계에서 모델이 없는 메서드를 불러 죽습니다. 2단계 힌트는 모델이 다른 문제에서 짜서 검사를 통과한 자기 프로그램에서 자동으로 가져옵니다. 3단계, 두 버전의 답이 20000으로 같으니 4단계 생각은 건너뛰어, 생각만 했을 때의 5.3k 대신 0.6k 토큰을 씁니다. 5단계, 같은 종류의 새 데이터에는 이 프로그램을 재사용합니다. [생략 가능] 아이콘은 각 단계를 쓰는 문제 종류이고, 경시 문제는 라이브러리가 없어 힌트 없이 검사와 생각만 씁니다. 전체 비교는 이렇게 했습니다. 기존 방식은 각 문제에 세 번 빠르게 답하게 해서 답이 갈리는 문제를 어렵다고 보고 거기에 생각을 씁니다. 저희는 모든 문제에 사람이 쓴 힌트를 먼저 주고 검사에 실패한 문제만 생각하게 합니다. 기하와 최적화 208문제를 세 모델로 풀면 정답률이 74% 대 87%, 토큰은 4.1k 대 2.5k입니다. [생략 가능] 오른쪽 79%는 개발에 쓰지 않은 MAMO 문제 863개에서 gpt-oss-20b에 자동 힌트를 준 결과로, 사람이 쓴 힌트와 같고, 힌트가 없으면 73%입니다.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(75초) 마지막으로 새로운 점과 다음 계획입니다. 왼쪽이 흔히 쓰는 방법, 오른쪽이 저희 방법입니다. 첫째, 기존에는 세 번 답해서 답이 갈리는 문제에 생각을 몰아주거나 언제 생각할지를 학습시키지만, 저희는 학습 없이 공짜 검사가 실패한 문제에만 생각을 씁니다. 둘째, 기존에는 매뉴얼이나 교사 모델이 짜서 정답으로 확인한 프로그램을 주지만, 저희는 모델 자신이 짜서 검사를 통과한 프로그램을 짧은 힌트로 주므로 사람도 정답도 필요 없습니다. 셋째, 비용입니다. 개발에 쓰지 않은 MAMO 863문제에서 최적화용으로 파인튜닝한 ORLM-8B를 저희 채점기로 돌리면 69.5%인데, 학습하지 않은 Qwen3-8B에 자기 힌트를 주면 24GB GPU 한 장으로 같은 69.5%를 더 적은 토큰에 냅니다. 다음으로는 더 많은 모델로 검증을 마치고, 실행은 되지만 문제를 잘못 수식으로 옮긴 오류를 힌트로 고칠 수 있는지 시험하고,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image" Target="../media/image-7-3.png"/><Relationship Id="rId20" Type="http://schemas.openxmlformats.org/officeDocument/2006/relationships/image" Target="../media/image-7-4.png"/><Relationship Id="rId21" Type="http://schemas.openxmlformats.org/officeDocument/2006/relationships/image" Target="../media/image-7-5.png"/><Relationship Id="rId22" Type="http://schemas.openxmlformats.org/officeDocument/2006/relationships/image" Target="../media/image-7-6.png"/><Relationship Id="rId23" Type="http://schemas.openxmlformats.org/officeDocument/2006/relationships/slideLayout" Target="../slideLayouts/slideLayout3.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box ① the model writes a"/>
          <p:cNvSpPr/>
          <p:nvPr/>
        </p:nvSpPr>
        <p:spPr>
          <a:xfrm>
            <a:off x="548640" y="1371600"/>
            <a:ext cx="2651760" cy="548640"/>
          </a:xfrm>
          <a:prstGeom prst="roundRect">
            <a:avLst>
              <a:gd name="adj" fmla="val 10000"/>
            </a:avLst>
          </a:prstGeom>
          <a:solidFill>
            <a:srgbClr val="F2F2F2"/>
          </a:solidFill>
          <a:ln w="9525">
            <a:solidFill>
              <a:srgbClr val="BFBFBF"/>
            </a:solidFill>
            <a:prstDash val="solid"/>
          </a:ln>
        </p:spPr>
      </p:sp>
      <p:sp>
        <p:nvSpPr>
          <p:cNvPr id="12" name="Text 5"/>
          <p:cNvSpPr txBox="1"/>
          <p:nvPr/>
        </p:nvSpPr>
        <p:spPr>
          <a:xfrm>
            <a:off x="621792" y="1371600"/>
            <a:ext cx="2505456" cy="548640"/>
          </a:xfrm>
          <a:prstGeom prst="rect">
            <a:avLst/>
          </a:prstGeom>
          <a:noFill/>
          <a:ln/>
        </p:spPr>
        <p:txBody>
          <a:bodyPr wrap="square" lIns="0" tIns="0" rIns="0" bIns="0" rtlCol="0" anchor="ctr"/>
          <a:lstStyle/>
          <a:p>
            <a:pPr algn="ctr" indent="0" marL="0">
              <a:buNone/>
            </a:pPr>
            <a:r>
              <a:rPr lang="en-US" sz="1400" b="1" dirty="0">
                <a:solidFill>
                  <a:schemeClr val="tx1"/>
                </a:solidFill>
              </a:rPr>
              <a:t>① the model writes a program (normal effort)</a:t>
            </a:r>
            <a:endParaRPr lang="en-US" sz="1400" dirty="0"/>
          </a:p>
        </p:txBody>
      </p:sp>
      <p:sp>
        <p:nvSpPr>
          <p:cNvPr id="13" name="Shape 6"/>
          <p:cNvSpPr/>
          <p:nvPr/>
        </p:nvSpPr>
        <p:spPr>
          <a:xfrm>
            <a:off x="3200400" y="1645920"/>
            <a:ext cx="228600" cy="0"/>
          </a:xfrm>
          <a:prstGeom prst="line">
            <a:avLst/>
          </a:prstGeom>
          <a:noFill/>
          <a:ln w="25400">
            <a:solidFill>
              <a:srgbClr val="7F7F7F"/>
            </a:solidFill>
            <a:prstDash val="solid"/>
            <a:tailEnd type="triangle"/>
          </a:ln>
        </p:spPr>
      </p:sp>
      <p:sp>
        <p:nvSpPr>
          <p:cNvPr id="14" name="box ② run the free check"/>
          <p:cNvSpPr/>
          <p:nvPr/>
        </p:nvSpPr>
        <p:spPr>
          <a:xfrm>
            <a:off x="3429000" y="1371600"/>
            <a:ext cx="3246120" cy="548640"/>
          </a:xfrm>
          <a:prstGeom prst="roundRect">
            <a:avLst>
              <a:gd name="adj" fmla="val 10000"/>
            </a:avLst>
          </a:prstGeom>
          <a:solidFill>
            <a:srgbClr val="DEEBF7"/>
          </a:solidFill>
          <a:ln w="9525">
            <a:solidFill>
              <a:srgbClr val="BFBFBF"/>
            </a:solidFill>
            <a:prstDash val="solid"/>
          </a:ln>
        </p:spPr>
      </p:sp>
      <p:sp>
        <p:nvSpPr>
          <p:cNvPr id="15" name="Text 8"/>
          <p:cNvSpPr txBox="1"/>
          <p:nvPr/>
        </p:nvSpPr>
        <p:spPr>
          <a:xfrm>
            <a:off x="3502152" y="1371600"/>
            <a:ext cx="3099816" cy="548640"/>
          </a:xfrm>
          <a:prstGeom prst="rect">
            <a:avLst/>
          </a:prstGeom>
          <a:noFill/>
          <a:ln/>
        </p:spPr>
        <p:txBody>
          <a:bodyPr wrap="square" lIns="0" tIns="0" rIns="0" bIns="0" rtlCol="0" anchor="ctr"/>
          <a:lstStyle/>
          <a:p>
            <a:pPr algn="ctr" indent="0" marL="0">
              <a:buNone/>
            </a:pPr>
            <a:r>
              <a:rPr lang="en-US" sz="1400" b="1" dirty="0">
                <a:solidFill>
                  <a:srgbClr val="1F3864"/>
                </a:solidFill>
              </a:rPr>
              <a:t>② run the free check on the computer: no model, no answer key</a:t>
            </a:r>
            <a:endParaRPr lang="en-US" sz="1400" dirty="0"/>
          </a:p>
        </p:txBody>
      </p:sp>
      <p:sp>
        <p:nvSpPr>
          <p:cNvPr id="16" name="Shape 9"/>
          <p:cNvSpPr/>
          <p:nvPr/>
        </p:nvSpPr>
        <p:spPr>
          <a:xfrm flipV="1">
            <a:off x="6675120" y="1481328"/>
            <a:ext cx="365760" cy="164592"/>
          </a:xfrm>
          <a:prstGeom prst="line">
            <a:avLst/>
          </a:prstGeom>
          <a:noFill/>
          <a:ln w="25400">
            <a:solidFill>
              <a:srgbClr val="7F7F7F"/>
            </a:solidFill>
            <a:prstDash val="solid"/>
            <a:tailEnd type="triangle"/>
          </a:ln>
        </p:spPr>
      </p:sp>
      <p:sp>
        <p:nvSpPr>
          <p:cNvPr id="17" name="Shape 10"/>
          <p:cNvSpPr/>
          <p:nvPr/>
        </p:nvSpPr>
        <p:spPr>
          <a:xfrm>
            <a:off x="6675120" y="1645920"/>
            <a:ext cx="365760" cy="164592"/>
          </a:xfrm>
          <a:prstGeom prst="line">
            <a:avLst/>
          </a:prstGeom>
          <a:noFill/>
          <a:ln w="25400">
            <a:solidFill>
              <a:srgbClr val="7F7F7F"/>
            </a:solidFill>
            <a:prstDash val="solid"/>
            <a:tailEnd type="triangle"/>
          </a:ln>
        </p:spPr>
      </p:sp>
      <p:sp>
        <p:nvSpPr>
          <p:cNvPr id="18" name="box ③ ✓ pass → submit it"/>
          <p:cNvSpPr/>
          <p:nvPr/>
        </p:nvSpPr>
        <p:spPr>
          <a:xfrm>
            <a:off x="7040880" y="1316736"/>
            <a:ext cx="4572000" cy="310896"/>
          </a:xfrm>
          <a:prstGeom prst="roundRect">
            <a:avLst>
              <a:gd name="adj" fmla="val 17647"/>
            </a:avLst>
          </a:prstGeom>
          <a:solidFill>
            <a:srgbClr val="E2F0D9"/>
          </a:solidFill>
          <a:ln w="9525">
            <a:solidFill>
              <a:srgbClr val="BFBFBF"/>
            </a:solidFill>
            <a:prstDash val="solid"/>
          </a:ln>
        </p:spPr>
      </p:sp>
      <p:sp>
        <p:nvSpPr>
          <p:cNvPr id="19" name="Text 12"/>
          <p:cNvSpPr txBox="1"/>
          <p:nvPr/>
        </p:nvSpPr>
        <p:spPr>
          <a:xfrm>
            <a:off x="7114032" y="1316736"/>
            <a:ext cx="4425696" cy="310896"/>
          </a:xfrm>
          <a:prstGeom prst="rect">
            <a:avLst/>
          </a:prstGeom>
          <a:noFill/>
          <a:ln/>
        </p:spPr>
        <p:txBody>
          <a:bodyPr wrap="square" lIns="0" tIns="0" rIns="0" bIns="0" rtlCol="0" anchor="ctr"/>
          <a:lstStyle/>
          <a:p>
            <a:pPr algn="ctr" indent="0" marL="0">
              <a:buNone/>
            </a:pPr>
            <a:r>
              <a:rPr lang="en-US" sz="1400" b="1" dirty="0">
                <a:solidFill>
                  <a:srgbClr val="38761D"/>
                </a:solidFill>
              </a:rPr>
              <a:t>③ ✓ pass → submit it (no extra tokens)</a:t>
            </a:r>
            <a:endParaRPr lang="en-US" sz="1400" dirty="0"/>
          </a:p>
        </p:txBody>
      </p:sp>
      <p:sp>
        <p:nvSpPr>
          <p:cNvPr id="20" name="box ③ ✗ fail → think har"/>
          <p:cNvSpPr/>
          <p:nvPr/>
        </p:nvSpPr>
        <p:spPr>
          <a:xfrm>
            <a:off x="7040880" y="1664208"/>
            <a:ext cx="4572000" cy="310896"/>
          </a:xfrm>
          <a:prstGeom prst="roundRect">
            <a:avLst>
              <a:gd name="adj" fmla="val 17647"/>
            </a:avLst>
          </a:prstGeom>
          <a:solidFill>
            <a:srgbClr val="FADBD8"/>
          </a:solidFill>
          <a:ln w="9525">
            <a:solidFill>
              <a:srgbClr val="BFBFBF"/>
            </a:solidFill>
            <a:prstDash val="solid"/>
          </a:ln>
        </p:spPr>
      </p:sp>
      <p:sp>
        <p:nvSpPr>
          <p:cNvPr id="21" name="Text 14"/>
          <p:cNvSpPr txBox="1"/>
          <p:nvPr/>
        </p:nvSpPr>
        <p:spPr>
          <a:xfrm>
            <a:off x="7114032" y="1664208"/>
            <a:ext cx="4425696" cy="310896"/>
          </a:xfrm>
          <a:prstGeom prst="rect">
            <a:avLst/>
          </a:prstGeom>
          <a:noFill/>
          <a:ln/>
        </p:spPr>
        <p:txBody>
          <a:bodyPr wrap="square" lIns="0" tIns="0" rIns="0" bIns="0" rtlCol="0" anchor="ctr"/>
          <a:lstStyle/>
          <a:p>
            <a:pPr algn="ctr" indent="0" marL="0">
              <a:buNone/>
            </a:pPr>
            <a:r>
              <a:rPr lang="en-US" sz="1400" b="1" dirty="0">
                <a:solidFill>
                  <a:srgbClr val="C00000"/>
                </a:solidFill>
              </a:rPr>
              <a:t>③ ✗ fail → think harder, write it again (tokens only here)</a:t>
            </a:r>
            <a:endParaRPr lang="en-US" sz="1400" dirty="0"/>
          </a:p>
        </p:txBody>
      </p:sp>
      <p:sp>
        <p:nvSpPr>
          <p:cNvPr id="22" name="check A"/>
          <p:cNvSpPr/>
          <p:nvPr/>
        </p:nvSpPr>
        <p:spPr>
          <a:xfrm>
            <a:off x="548640" y="2057400"/>
            <a:ext cx="5440680" cy="3474720"/>
          </a:xfrm>
          <a:prstGeom prst="roundRect">
            <a:avLst>
              <a:gd name="adj" fmla="val 2105"/>
            </a:avLst>
          </a:prstGeom>
          <a:solidFill>
            <a:srgbClr val="F2F2F2"/>
          </a:solidFill>
          <a:ln w="9525">
            <a:solidFill>
              <a:srgbClr val="D9D9D9"/>
            </a:solidFill>
            <a:prstDash val="solid"/>
          </a:ln>
        </p:spPr>
      </p:sp>
      <p:sp>
        <p:nvSpPr>
          <p:cNvPr id="23" name="Text 16"/>
          <p:cNvSpPr txBox="1"/>
          <p:nvPr/>
        </p:nvSpPr>
        <p:spPr>
          <a:xfrm>
            <a:off x="777240" y="2103120"/>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Check A: the examples printed in the problem</a:t>
            </a:r>
            <a:endParaRPr lang="en-US" sz="1700" dirty="0"/>
          </a:p>
        </p:txBody>
      </p:sp>
      <p:sp>
        <p:nvSpPr>
          <p:cNvPr id="24" name="box Make a triangle! exa"/>
          <p:cNvSpPr/>
          <p:nvPr/>
        </p:nvSpPr>
        <p:spPr>
          <a:xfrm>
            <a:off x="777240" y="2514600"/>
            <a:ext cx="2148840" cy="457200"/>
          </a:xfrm>
          <a:prstGeom prst="roundRect">
            <a:avLst>
              <a:gd name="adj" fmla="val 12000"/>
            </a:avLst>
          </a:prstGeom>
          <a:solidFill>
            <a:srgbClr val="FFFFFF"/>
          </a:solidFill>
          <a:ln w="9525">
            <a:solidFill>
              <a:srgbClr val="BFBFBF"/>
            </a:solidFill>
            <a:prstDash val="solid"/>
          </a:ln>
        </p:spPr>
      </p:sp>
      <p:sp>
        <p:nvSpPr>
          <p:cNvPr id="25" name="Text 18"/>
          <p:cNvSpPr txBox="1"/>
          <p:nvPr/>
        </p:nvSpPr>
        <p:spPr>
          <a:xfrm>
            <a:off x="850392" y="2514600"/>
            <a:ext cx="2002536" cy="457200"/>
          </a:xfrm>
          <a:prstGeom prst="rect">
            <a:avLst/>
          </a:prstGeom>
          <a:noFill/>
          <a:ln/>
        </p:spPr>
        <p:txBody>
          <a:bodyPr wrap="square" lIns="0" tIns="0" rIns="0" bIns="0" rtlCol="0" anchor="ctr"/>
          <a:lstStyle/>
          <a:p>
            <a:pPr algn="ctr" indent="0" marL="0">
              <a:buNone/>
            </a:pPr>
            <a:r>
              <a:rPr lang="en-US" sz="1400" dirty="0">
                <a:solidFill>
                  <a:schemeClr val="tx1"/>
                </a:solidFill>
              </a:rPr>
              <a:t>Make a triangle! example: sticks 3 4 5 → 0</a:t>
            </a:r>
            <a:endParaRPr lang="en-US" sz="1400" dirty="0"/>
          </a:p>
        </p:txBody>
      </p:sp>
      <p:sp>
        <p:nvSpPr>
          <p:cNvPr id="26" name="Shape 19"/>
          <p:cNvSpPr/>
          <p:nvPr/>
        </p:nvSpPr>
        <p:spPr>
          <a:xfrm>
            <a:off x="2926080" y="2743200"/>
            <a:ext cx="137160" cy="0"/>
          </a:xfrm>
          <a:prstGeom prst="line">
            <a:avLst/>
          </a:prstGeom>
          <a:noFill/>
          <a:ln w="25400">
            <a:solidFill>
              <a:srgbClr val="7F7F7F"/>
            </a:solidFill>
            <a:prstDash val="solid"/>
            <a:tailEnd type="triangle"/>
          </a:ln>
        </p:spPr>
      </p:sp>
      <p:sp>
        <p:nvSpPr>
          <p:cNvPr id="27" name="box our program on 3 4 5"/>
          <p:cNvSpPr/>
          <p:nvPr/>
        </p:nvSpPr>
        <p:spPr>
          <a:xfrm>
            <a:off x="3063240" y="2514600"/>
            <a:ext cx="1691640" cy="457200"/>
          </a:xfrm>
          <a:prstGeom prst="roundRect">
            <a:avLst>
              <a:gd name="adj" fmla="val 12000"/>
            </a:avLst>
          </a:prstGeom>
          <a:solidFill>
            <a:srgbClr val="FFFFFF"/>
          </a:solidFill>
          <a:ln w="9525">
            <a:solidFill>
              <a:srgbClr val="BFBFBF"/>
            </a:solidFill>
            <a:prstDash val="solid"/>
          </a:ln>
        </p:spPr>
      </p:sp>
      <p:sp>
        <p:nvSpPr>
          <p:cNvPr id="28" name="Text 21"/>
          <p:cNvSpPr txBox="1"/>
          <p:nvPr/>
        </p:nvSpPr>
        <p:spPr>
          <a:xfrm>
            <a:off x="3136392" y="2514600"/>
            <a:ext cx="1545336" cy="457200"/>
          </a:xfrm>
          <a:prstGeom prst="rect">
            <a:avLst/>
          </a:prstGeom>
          <a:noFill/>
          <a:ln/>
        </p:spPr>
        <p:txBody>
          <a:bodyPr wrap="square" lIns="0" tIns="0" rIns="0" bIns="0" rtlCol="0" anchor="ctr"/>
          <a:lstStyle/>
          <a:p>
            <a:pPr algn="ctr" indent="0" marL="0">
              <a:buNone/>
            </a:pPr>
            <a:r>
              <a:rPr lang="en-US" sz="1400" dirty="0">
                <a:solidFill>
                  <a:schemeClr val="tx1"/>
                </a:solidFill>
              </a:rPr>
              <a:t>our program on 3 4 5 prints 0</a:t>
            </a:r>
            <a:endParaRPr lang="en-US" sz="1400" dirty="0"/>
          </a:p>
        </p:txBody>
      </p:sp>
      <p:sp>
        <p:nvSpPr>
          <p:cNvPr id="29" name="Shape 22"/>
          <p:cNvSpPr/>
          <p:nvPr/>
        </p:nvSpPr>
        <p:spPr>
          <a:xfrm>
            <a:off x="4754880" y="2743200"/>
            <a:ext cx="91440" cy="0"/>
          </a:xfrm>
          <a:prstGeom prst="line">
            <a:avLst/>
          </a:prstGeom>
          <a:noFill/>
          <a:ln w="25400">
            <a:solidFill>
              <a:srgbClr val="7F7F7F"/>
            </a:solidFill>
            <a:prstDash val="solid"/>
            <a:tailEnd type="triangle"/>
          </a:ln>
        </p:spPr>
      </p:sp>
      <p:sp>
        <p:nvSpPr>
          <p:cNvPr id="30" name="box ✓ same: submit"/>
          <p:cNvSpPr/>
          <p:nvPr/>
        </p:nvSpPr>
        <p:spPr>
          <a:xfrm>
            <a:off x="4846320" y="2514600"/>
            <a:ext cx="914400" cy="457200"/>
          </a:xfrm>
          <a:prstGeom prst="roundRect">
            <a:avLst>
              <a:gd name="adj" fmla="val 12000"/>
            </a:avLst>
          </a:prstGeom>
          <a:solidFill>
            <a:srgbClr val="E2F0D9"/>
          </a:solidFill>
          <a:ln w="9525">
            <a:solidFill>
              <a:srgbClr val="BFBFBF"/>
            </a:solidFill>
            <a:prstDash val="solid"/>
          </a:ln>
        </p:spPr>
      </p:sp>
      <p:sp>
        <p:nvSpPr>
          <p:cNvPr id="31" name="Text 24"/>
          <p:cNvSpPr txBox="1"/>
          <p:nvPr/>
        </p:nvSpPr>
        <p:spPr>
          <a:xfrm>
            <a:off x="4919472" y="2514600"/>
            <a:ext cx="768096" cy="457200"/>
          </a:xfrm>
          <a:prstGeom prst="rect">
            <a:avLst/>
          </a:prstGeom>
          <a:noFill/>
          <a:ln/>
        </p:spPr>
        <p:txBody>
          <a:bodyPr wrap="square" lIns="0" tIns="0" rIns="0" bIns="0" rtlCol="0" anchor="ctr"/>
          <a:lstStyle/>
          <a:p>
            <a:pPr algn="ctr" indent="0" marL="0">
              <a:buNone/>
            </a:pPr>
            <a:r>
              <a:rPr lang="en-US" sz="1400" dirty="0">
                <a:solidFill>
                  <a:srgbClr val="38761D"/>
                </a:solidFill>
              </a:rPr>
              <a:t>✓ same: submit</a:t>
            </a:r>
            <a:endParaRPr lang="en-US" sz="1400" dirty="0"/>
          </a:p>
        </p:txBody>
      </p:sp>
      <p:sp>
        <p:nvSpPr>
          <p:cNvPr id="32" name="box Arrow example: the 7"/>
          <p:cNvSpPr/>
          <p:nvPr/>
        </p:nvSpPr>
        <p:spPr>
          <a:xfrm>
            <a:off x="777240" y="3035808"/>
            <a:ext cx="2148840" cy="457200"/>
          </a:xfrm>
          <a:prstGeom prst="roundRect">
            <a:avLst>
              <a:gd name="adj" fmla="val 12000"/>
            </a:avLst>
          </a:prstGeom>
          <a:solidFill>
            <a:srgbClr val="FFFFFF"/>
          </a:solidFill>
          <a:ln w="9525">
            <a:solidFill>
              <a:srgbClr val="BFBFBF"/>
            </a:solidFill>
            <a:prstDash val="solid"/>
          </a:ln>
        </p:spPr>
      </p:sp>
      <p:sp>
        <p:nvSpPr>
          <p:cNvPr id="33" name="Text 26"/>
          <p:cNvSpPr txBox="1"/>
          <p:nvPr/>
        </p:nvSpPr>
        <p:spPr>
          <a:xfrm>
            <a:off x="850392" y="3035808"/>
            <a:ext cx="2002536" cy="457200"/>
          </a:xfrm>
          <a:prstGeom prst="rect">
            <a:avLst/>
          </a:prstGeom>
          <a:noFill/>
          <a:ln/>
        </p:spPr>
        <p:txBody>
          <a:bodyPr wrap="square" lIns="0" tIns="0" rIns="0" bIns="0" rtlCol="0" anchor="ctr"/>
          <a:lstStyle/>
          <a:p>
            <a:pPr algn="ctr" indent="0" marL="0">
              <a:buNone/>
            </a:pPr>
            <a:r>
              <a:rPr lang="en-US" sz="1400" dirty="0">
                <a:solidFill>
                  <a:schemeClr val="tx1"/>
                </a:solidFill>
              </a:rPr>
              <a:t>Arrow example: the 7 corners of the shape</a:t>
            </a:r>
            <a:endParaRPr lang="en-US" sz="1400" dirty="0"/>
          </a:p>
        </p:txBody>
      </p:sp>
      <p:sp>
        <p:nvSpPr>
          <p:cNvPr id="34" name="Shape 27"/>
          <p:cNvSpPr/>
          <p:nvPr/>
        </p:nvSpPr>
        <p:spPr>
          <a:xfrm>
            <a:off x="2926080" y="3264408"/>
            <a:ext cx="137160" cy="0"/>
          </a:xfrm>
          <a:prstGeom prst="line">
            <a:avLst/>
          </a:prstGeom>
          <a:noFill/>
          <a:ln w="25400">
            <a:solidFill>
              <a:srgbClr val="7F7F7F"/>
            </a:solidFill>
            <a:prstDash val="solid"/>
            <a:tailEnd type="triangle"/>
          </a:ln>
        </p:spPr>
      </p:sp>
      <p:sp>
        <p:nvSpPr>
          <p:cNvPr id="35" name="box our program prints o"/>
          <p:cNvSpPr/>
          <p:nvPr/>
        </p:nvSpPr>
        <p:spPr>
          <a:xfrm>
            <a:off x="3063240" y="3035808"/>
            <a:ext cx="1691640" cy="457200"/>
          </a:xfrm>
          <a:prstGeom prst="roundRect">
            <a:avLst>
              <a:gd name="adj" fmla="val 12000"/>
            </a:avLst>
          </a:prstGeom>
          <a:solidFill>
            <a:srgbClr val="FFFFFF"/>
          </a:solidFill>
          <a:ln w="9525">
            <a:solidFill>
              <a:srgbClr val="BFBFBF"/>
            </a:solidFill>
            <a:prstDash val="solid"/>
          </a:ln>
        </p:spPr>
      </p:sp>
      <p:sp>
        <p:nvSpPr>
          <p:cNvPr id="36" name="Text 29"/>
          <p:cNvSpPr txBox="1"/>
          <p:nvPr/>
        </p:nvSpPr>
        <p:spPr>
          <a:xfrm>
            <a:off x="3136392" y="3035808"/>
            <a:ext cx="1545336" cy="457200"/>
          </a:xfrm>
          <a:prstGeom prst="rect">
            <a:avLst/>
          </a:prstGeom>
          <a:noFill/>
          <a:ln/>
        </p:spPr>
        <p:txBody>
          <a:bodyPr wrap="square" lIns="0" tIns="0" rIns="0" bIns="0" rtlCol="0" anchor="ctr"/>
          <a:lstStyle/>
          <a:p>
            <a:pPr algn="ctr" indent="0" marL="0">
              <a:buNone/>
            </a:pPr>
            <a:r>
              <a:rPr lang="en-US" sz="1400" dirty="0">
                <a:solidFill>
                  <a:schemeClr val="tx1"/>
                </a:solidFill>
              </a:rPr>
              <a:t>our program prints other corners</a:t>
            </a:r>
            <a:endParaRPr lang="en-US" sz="1400" dirty="0"/>
          </a:p>
        </p:txBody>
      </p:sp>
      <p:sp>
        <p:nvSpPr>
          <p:cNvPr id="37" name="Shape 30"/>
          <p:cNvSpPr/>
          <p:nvPr/>
        </p:nvSpPr>
        <p:spPr>
          <a:xfrm>
            <a:off x="4754880" y="3264408"/>
            <a:ext cx="91440" cy="0"/>
          </a:xfrm>
          <a:prstGeom prst="line">
            <a:avLst/>
          </a:prstGeom>
          <a:noFill/>
          <a:ln w="25400">
            <a:solidFill>
              <a:srgbClr val="7F7F7F"/>
            </a:solidFill>
            <a:prstDash val="solid"/>
            <a:tailEnd type="triangle"/>
          </a:ln>
        </p:spPr>
      </p:sp>
      <p:sp>
        <p:nvSpPr>
          <p:cNvPr id="38" name="box ✗ think again"/>
          <p:cNvSpPr/>
          <p:nvPr/>
        </p:nvSpPr>
        <p:spPr>
          <a:xfrm>
            <a:off x="4846320" y="3035808"/>
            <a:ext cx="914400" cy="457200"/>
          </a:xfrm>
          <a:prstGeom prst="roundRect">
            <a:avLst>
              <a:gd name="adj" fmla="val 12000"/>
            </a:avLst>
          </a:prstGeom>
          <a:solidFill>
            <a:srgbClr val="FADBD8"/>
          </a:solidFill>
          <a:ln w="9525">
            <a:solidFill>
              <a:srgbClr val="BFBFBF"/>
            </a:solidFill>
            <a:prstDash val="solid"/>
          </a:ln>
        </p:spPr>
      </p:sp>
      <p:sp>
        <p:nvSpPr>
          <p:cNvPr id="39" name="Text 32"/>
          <p:cNvSpPr txBox="1"/>
          <p:nvPr/>
        </p:nvSpPr>
        <p:spPr>
          <a:xfrm>
            <a:off x="4919472" y="3035808"/>
            <a:ext cx="768096" cy="457200"/>
          </a:xfrm>
          <a:prstGeom prst="rect">
            <a:avLst/>
          </a:prstGeom>
          <a:noFill/>
          <a:ln/>
        </p:spPr>
        <p:txBody>
          <a:bodyPr wrap="square" lIns="0" tIns="0" rIns="0" bIns="0" rtlCol="0" anchor="ctr"/>
          <a:lstStyle/>
          <a:p>
            <a:pPr algn="ctr" indent="0" marL="0">
              <a:buNone/>
            </a:pPr>
            <a:r>
              <a:rPr lang="en-US" sz="1400" dirty="0">
                <a:solidFill>
                  <a:srgbClr val="C00000"/>
                </a:solidFill>
              </a:rPr>
              <a:t>✗ think again</a:t>
            </a:r>
            <a:endParaRPr lang="en-US" sz="1400" dirty="0"/>
          </a:p>
        </p:txBody>
      </p:sp>
      <p:sp>
        <p:nvSpPr>
          <p:cNvPr id="40" name="Text 33"/>
          <p:cNvSpPr txBox="1"/>
          <p:nvPr/>
        </p:nvSpPr>
        <p:spPr>
          <a:xfrm>
            <a:off x="777240" y="3547872"/>
            <a:ext cx="4983480" cy="274320"/>
          </a:xfrm>
          <a:prstGeom prst="rect">
            <a:avLst/>
          </a:prstGeom>
          <a:noFill/>
          <a:ln/>
        </p:spPr>
        <p:txBody>
          <a:bodyPr wrap="square" lIns="0" tIns="0" rIns="0" bIns="0" rtlCol="0" anchor="ctr"/>
          <a:lstStyle/>
          <a:p>
            <a:pPr indent="0" marL="0">
              <a:buNone/>
            </a:pPr>
            <a:r>
              <a:rPr lang="en-US" sz="1400" b="1" dirty="0">
                <a:solidFill>
                  <a:schemeClr val="tx1"/>
                </a:solidFill>
              </a:rPr>
              <a:t>311 contest problems (gpt-oss-120b)</a:t>
            </a:r>
            <a:endParaRPr lang="en-US" sz="1400" dirty="0"/>
          </a:p>
        </p:txBody>
      </p:sp>
      <p:sp>
        <p:nvSpPr>
          <p:cNvPr id="41" name="Text 34"/>
          <p:cNvSpPr txBox="1"/>
          <p:nvPr/>
        </p:nvSpPr>
        <p:spPr>
          <a:xfrm>
            <a:off x="2926080" y="379476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2" name="Text 35"/>
          <p:cNvSpPr txBox="1"/>
          <p:nvPr/>
        </p:nvSpPr>
        <p:spPr>
          <a:xfrm>
            <a:off x="3840480" y="379476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3" name="Text 36"/>
          <p:cNvSpPr txBox="1"/>
          <p:nvPr/>
        </p:nvSpPr>
        <p:spPr>
          <a:xfrm>
            <a:off x="777240" y="416052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44" name="Text 37"/>
          <p:cNvSpPr txBox="1"/>
          <p:nvPr/>
        </p:nvSpPr>
        <p:spPr>
          <a:xfrm>
            <a:off x="2926080" y="416052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45" name="tokens always think hard"/>
          <p:cNvSpPr/>
          <p:nvPr/>
        </p:nvSpPr>
        <p:spPr>
          <a:xfrm>
            <a:off x="3840480" y="4261104"/>
            <a:ext cx="1188720" cy="256032"/>
          </a:xfrm>
          <a:prstGeom prst="rect">
            <a:avLst/>
          </a:prstGeom>
          <a:solidFill>
            <a:srgbClr val="7F7F7F"/>
          </a:solidFill>
          <a:ln w="6350">
            <a:solidFill>
              <a:srgbClr val="7F7F7F"/>
            </a:solidFill>
            <a:prstDash val="solid"/>
          </a:ln>
        </p:spPr>
      </p:sp>
      <p:sp>
        <p:nvSpPr>
          <p:cNvPr id="46" name="Text 39"/>
          <p:cNvSpPr txBox="1"/>
          <p:nvPr/>
        </p:nvSpPr>
        <p:spPr>
          <a:xfrm>
            <a:off x="5120640" y="416052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7" name="Text 40"/>
          <p:cNvSpPr txBox="1"/>
          <p:nvPr/>
        </p:nvSpPr>
        <p:spPr>
          <a:xfrm>
            <a:off x="777240" y="45720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think if an example fails</a:t>
            </a:r>
            <a:endParaRPr lang="en-US" sz="1500" dirty="0"/>
          </a:p>
        </p:txBody>
      </p:sp>
      <p:sp>
        <p:nvSpPr>
          <p:cNvPr id="48" name="Text 41"/>
          <p:cNvSpPr txBox="1"/>
          <p:nvPr/>
        </p:nvSpPr>
        <p:spPr>
          <a:xfrm>
            <a:off x="2926080" y="4572000"/>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49" name="tokens think if an example fails"/>
          <p:cNvSpPr/>
          <p:nvPr/>
        </p:nvSpPr>
        <p:spPr>
          <a:xfrm>
            <a:off x="3840480" y="4672584"/>
            <a:ext cx="797746" cy="256032"/>
          </a:xfrm>
          <a:prstGeom prst="rect">
            <a:avLst/>
          </a:prstGeom>
          <a:solidFill>
            <a:srgbClr val="5B9BD5"/>
          </a:solidFill>
          <a:ln w="6350">
            <a:solidFill>
              <a:srgbClr val="5B9BD5"/>
            </a:solidFill>
            <a:prstDash val="solid"/>
          </a:ln>
        </p:spPr>
      </p:sp>
      <p:sp>
        <p:nvSpPr>
          <p:cNvPr id="50" name="Text 43"/>
          <p:cNvSpPr txBox="1"/>
          <p:nvPr/>
        </p:nvSpPr>
        <p:spPr>
          <a:xfrm>
            <a:off x="4729666" y="4572000"/>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51" name="Text 44"/>
          <p:cNvSpPr txBox="1"/>
          <p:nvPr/>
        </p:nvSpPr>
        <p:spPr>
          <a:xfrm>
            <a:off x="777240" y="498348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or a brute-force run</a:t>
            </a:r>
            <a:endParaRPr lang="en-US" sz="1500" dirty="0"/>
          </a:p>
        </p:txBody>
      </p:sp>
      <p:sp>
        <p:nvSpPr>
          <p:cNvPr id="52" name="Text 45"/>
          <p:cNvSpPr txBox="1"/>
          <p:nvPr/>
        </p:nvSpPr>
        <p:spPr>
          <a:xfrm>
            <a:off x="2926080" y="498348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53" name="tokens … or a brute-force run"/>
          <p:cNvSpPr/>
          <p:nvPr/>
        </p:nvSpPr>
        <p:spPr>
          <a:xfrm>
            <a:off x="3840480" y="5084064"/>
            <a:ext cx="975461" cy="256032"/>
          </a:xfrm>
          <a:prstGeom prst="rect">
            <a:avLst/>
          </a:prstGeom>
          <a:solidFill>
            <a:srgbClr val="4472C4"/>
          </a:solidFill>
          <a:ln w="6350">
            <a:solidFill>
              <a:srgbClr val="4472C4"/>
            </a:solidFill>
            <a:prstDash val="solid"/>
          </a:ln>
        </p:spPr>
      </p:sp>
      <p:sp>
        <p:nvSpPr>
          <p:cNvPr id="54" name="Text 47"/>
          <p:cNvSpPr txBox="1"/>
          <p:nvPr/>
        </p:nvSpPr>
        <p:spPr>
          <a:xfrm>
            <a:off x="4907381" y="498348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55" name="check B"/>
          <p:cNvSpPr/>
          <p:nvPr/>
        </p:nvSpPr>
        <p:spPr>
          <a:xfrm>
            <a:off x="6172200" y="2057400"/>
            <a:ext cx="5440680" cy="3474720"/>
          </a:xfrm>
          <a:prstGeom prst="roundRect">
            <a:avLst>
              <a:gd name="adj" fmla="val 2105"/>
            </a:avLst>
          </a:prstGeom>
          <a:solidFill>
            <a:srgbClr val="F2F2F2"/>
          </a:solidFill>
          <a:ln w="9525">
            <a:solidFill>
              <a:srgbClr val="D9D9D9"/>
            </a:solidFill>
            <a:prstDash val="solid"/>
          </a:ln>
        </p:spPr>
      </p:sp>
      <p:sp>
        <p:nvSpPr>
          <p:cNvPr id="56" name="Text 49"/>
          <p:cNvSpPr txBox="1"/>
          <p:nvPr/>
        </p:nvSpPr>
        <p:spPr>
          <a:xfrm>
            <a:off x="6400800" y="2103120"/>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Check B: write it twice, compare the answers</a:t>
            </a:r>
            <a:endParaRPr lang="en-US" sz="1700" dirty="0"/>
          </a:p>
        </p:txBody>
      </p:sp>
      <p:sp>
        <p:nvSpPr>
          <p:cNvPr id="57" name="box version A: the task "/>
          <p:cNvSpPr/>
          <p:nvPr/>
        </p:nvSpPr>
        <p:spPr>
          <a:xfrm>
            <a:off x="6400800" y="2514600"/>
            <a:ext cx="2011680" cy="457200"/>
          </a:xfrm>
          <a:prstGeom prst="roundRect">
            <a:avLst>
              <a:gd name="adj" fmla="val 12000"/>
            </a:avLst>
          </a:prstGeom>
          <a:solidFill>
            <a:srgbClr val="FFFFFF"/>
          </a:solidFill>
          <a:ln w="9525">
            <a:solidFill>
              <a:srgbClr val="BFBFBF"/>
            </a:solidFill>
            <a:prstDash val="solid"/>
          </a:ln>
        </p:spPr>
      </p:sp>
      <p:sp>
        <p:nvSpPr>
          <p:cNvPr id="58" name="Text 51"/>
          <p:cNvSpPr txBox="1"/>
          <p:nvPr/>
        </p:nvSpPr>
        <p:spPr>
          <a:xfrm>
            <a:off x="6473952" y="2514600"/>
            <a:ext cx="1865376" cy="457200"/>
          </a:xfrm>
          <a:prstGeom prst="rect">
            <a:avLst/>
          </a:prstGeom>
          <a:noFill/>
          <a:ln/>
        </p:spPr>
        <p:txBody>
          <a:bodyPr wrap="square" lIns="0" tIns="0" rIns="0" bIns="0" rtlCol="0" anchor="ctr"/>
          <a:lstStyle/>
          <a:p>
            <a:pPr algn="ctr" indent="0" marL="0">
              <a:buNone/>
            </a:pPr>
            <a:r>
              <a:rPr lang="en-US" sz="1400" dirty="0">
                <a:solidFill>
                  <a:schemeClr val="tx1"/>
                </a:solidFill>
              </a:rPr>
              <a:t>version A: the task only</a:t>
            </a:r>
            <a:endParaRPr lang="en-US" sz="1400" dirty="0"/>
          </a:p>
        </p:txBody>
      </p:sp>
      <p:sp>
        <p:nvSpPr>
          <p:cNvPr id="59" name="Shape 52"/>
          <p:cNvSpPr/>
          <p:nvPr/>
        </p:nvSpPr>
        <p:spPr>
          <a:xfrm>
            <a:off x="8412480" y="2743200"/>
            <a:ext cx="137160" cy="0"/>
          </a:xfrm>
          <a:prstGeom prst="line">
            <a:avLst/>
          </a:prstGeom>
          <a:noFill/>
          <a:ln w="25400">
            <a:solidFill>
              <a:srgbClr val="7F7F7F"/>
            </a:solidFill>
            <a:prstDash val="solid"/>
            <a:tailEnd type="triangle"/>
          </a:ln>
        </p:spPr>
      </p:sp>
      <p:sp>
        <p:nvSpPr>
          <p:cNvPr id="60" name="box prints 6"/>
          <p:cNvSpPr/>
          <p:nvPr/>
        </p:nvSpPr>
        <p:spPr>
          <a:xfrm>
            <a:off x="8549640" y="2514600"/>
            <a:ext cx="1280160" cy="457200"/>
          </a:xfrm>
          <a:prstGeom prst="roundRect">
            <a:avLst>
              <a:gd name="adj" fmla="val 12000"/>
            </a:avLst>
          </a:prstGeom>
          <a:solidFill>
            <a:srgbClr val="FFFFFF"/>
          </a:solidFill>
          <a:ln w="9525">
            <a:solidFill>
              <a:srgbClr val="BFBFBF"/>
            </a:solidFill>
            <a:prstDash val="solid"/>
          </a:ln>
        </p:spPr>
      </p:sp>
      <p:sp>
        <p:nvSpPr>
          <p:cNvPr id="61" name="Text 54"/>
          <p:cNvSpPr txBox="1"/>
          <p:nvPr/>
        </p:nvSpPr>
        <p:spPr>
          <a:xfrm>
            <a:off x="8622792" y="2514600"/>
            <a:ext cx="1133856" cy="457200"/>
          </a:xfrm>
          <a:prstGeom prst="rect">
            <a:avLst/>
          </a:prstGeom>
          <a:noFill/>
          <a:ln/>
        </p:spPr>
        <p:txBody>
          <a:bodyPr wrap="square" lIns="0" tIns="0" rIns="0" bIns="0" rtlCol="0" anchor="ctr"/>
          <a:lstStyle/>
          <a:p>
            <a:pPr algn="ctr" indent="0" marL="0">
              <a:buNone/>
            </a:pPr>
            <a:r>
              <a:rPr lang="en-US" sz="1400" dirty="0">
                <a:solidFill>
                  <a:schemeClr val="tx1"/>
                </a:solidFill>
              </a:rPr>
              <a:t>prints 6</a:t>
            </a:r>
            <a:endParaRPr lang="en-US" sz="1400" dirty="0"/>
          </a:p>
        </p:txBody>
      </p:sp>
      <p:sp>
        <p:nvSpPr>
          <p:cNvPr id="62" name="box version B: task + he"/>
          <p:cNvSpPr/>
          <p:nvPr/>
        </p:nvSpPr>
        <p:spPr>
          <a:xfrm>
            <a:off x="6400800" y="3035808"/>
            <a:ext cx="2011680" cy="457200"/>
          </a:xfrm>
          <a:prstGeom prst="roundRect">
            <a:avLst>
              <a:gd name="adj" fmla="val 12000"/>
            </a:avLst>
          </a:prstGeom>
          <a:solidFill>
            <a:srgbClr val="FFFFFF"/>
          </a:solidFill>
          <a:ln w="9525">
            <a:solidFill>
              <a:srgbClr val="BFBFBF"/>
            </a:solidFill>
            <a:prstDash val="solid"/>
          </a:ln>
        </p:spPr>
      </p:sp>
      <p:sp>
        <p:nvSpPr>
          <p:cNvPr id="63" name="Text 56"/>
          <p:cNvSpPr txBox="1"/>
          <p:nvPr/>
        </p:nvSpPr>
        <p:spPr>
          <a:xfrm>
            <a:off x="6473952" y="3035808"/>
            <a:ext cx="1865376" cy="457200"/>
          </a:xfrm>
          <a:prstGeom prst="rect">
            <a:avLst/>
          </a:prstGeom>
          <a:noFill/>
          <a:ln/>
        </p:spPr>
        <p:txBody>
          <a:bodyPr wrap="square" lIns="0" tIns="0" rIns="0" bIns="0" rtlCol="0" anchor="ctr"/>
          <a:lstStyle/>
          <a:p>
            <a:pPr algn="ctr" indent="0" marL="0">
              <a:buNone/>
            </a:pPr>
            <a:r>
              <a:rPr lang="en-US" sz="1400" dirty="0">
                <a:solidFill>
                  <a:schemeClr val="tx1"/>
                </a:solidFill>
              </a:rPr>
              <a:t>version B: task + helper code</a:t>
            </a:r>
            <a:endParaRPr lang="en-US" sz="1400" dirty="0"/>
          </a:p>
        </p:txBody>
      </p:sp>
      <p:sp>
        <p:nvSpPr>
          <p:cNvPr id="64" name="Shape 57"/>
          <p:cNvSpPr/>
          <p:nvPr/>
        </p:nvSpPr>
        <p:spPr>
          <a:xfrm>
            <a:off x="8412480" y="3264408"/>
            <a:ext cx="137160" cy="0"/>
          </a:xfrm>
          <a:prstGeom prst="line">
            <a:avLst/>
          </a:prstGeom>
          <a:noFill/>
          <a:ln w="25400">
            <a:solidFill>
              <a:srgbClr val="7F7F7F"/>
            </a:solidFill>
            <a:prstDash val="solid"/>
            <a:tailEnd type="triangle"/>
          </a:ln>
        </p:spPr>
      </p:sp>
      <p:sp>
        <p:nvSpPr>
          <p:cNvPr id="65" name="box prints 0"/>
          <p:cNvSpPr/>
          <p:nvPr/>
        </p:nvSpPr>
        <p:spPr>
          <a:xfrm>
            <a:off x="8549640" y="3035808"/>
            <a:ext cx="1280160" cy="457200"/>
          </a:xfrm>
          <a:prstGeom prst="roundRect">
            <a:avLst>
              <a:gd name="adj" fmla="val 12000"/>
            </a:avLst>
          </a:prstGeom>
          <a:solidFill>
            <a:srgbClr val="FFFFFF"/>
          </a:solidFill>
          <a:ln w="9525">
            <a:solidFill>
              <a:srgbClr val="BFBFBF"/>
            </a:solidFill>
            <a:prstDash val="solid"/>
          </a:ln>
        </p:spPr>
      </p:sp>
      <p:sp>
        <p:nvSpPr>
          <p:cNvPr id="66" name="Text 59"/>
          <p:cNvSpPr txBox="1"/>
          <p:nvPr/>
        </p:nvSpPr>
        <p:spPr>
          <a:xfrm>
            <a:off x="8622792" y="3035808"/>
            <a:ext cx="1133856" cy="457200"/>
          </a:xfrm>
          <a:prstGeom prst="rect">
            <a:avLst/>
          </a:prstGeom>
          <a:noFill/>
          <a:ln/>
        </p:spPr>
        <p:txBody>
          <a:bodyPr wrap="square" lIns="0" tIns="0" rIns="0" bIns="0" rtlCol="0" anchor="ctr"/>
          <a:lstStyle/>
          <a:p>
            <a:pPr algn="ctr" indent="0" marL="0">
              <a:buNone/>
            </a:pPr>
            <a:r>
              <a:rPr lang="en-US" sz="1400" dirty="0">
                <a:solidFill>
                  <a:schemeClr val="tx1"/>
                </a:solidFill>
              </a:rPr>
              <a:t>prints 0</a:t>
            </a:r>
            <a:endParaRPr lang="en-US" sz="1400" dirty="0"/>
          </a:p>
        </p:txBody>
      </p:sp>
      <p:sp>
        <p:nvSpPr>
          <p:cNvPr id="67" name="Shape 60"/>
          <p:cNvSpPr/>
          <p:nvPr/>
        </p:nvSpPr>
        <p:spPr>
          <a:xfrm>
            <a:off x="9829800" y="2743200"/>
            <a:ext cx="182880" cy="228600"/>
          </a:xfrm>
          <a:prstGeom prst="line">
            <a:avLst/>
          </a:prstGeom>
          <a:noFill/>
          <a:ln w="25400">
            <a:solidFill>
              <a:srgbClr val="7F7F7F"/>
            </a:solidFill>
            <a:prstDash val="solid"/>
            <a:tailEnd type="triangle"/>
          </a:ln>
        </p:spPr>
      </p:sp>
      <p:sp>
        <p:nvSpPr>
          <p:cNvPr id="68" name="Shape 61"/>
          <p:cNvSpPr/>
          <p:nvPr/>
        </p:nvSpPr>
        <p:spPr>
          <a:xfrm flipV="1">
            <a:off x="9829800" y="3063240"/>
            <a:ext cx="182880" cy="201168"/>
          </a:xfrm>
          <a:prstGeom prst="line">
            <a:avLst/>
          </a:prstGeom>
          <a:noFill/>
          <a:ln w="25400">
            <a:solidFill>
              <a:srgbClr val="7F7F7F"/>
            </a:solidFill>
            <a:prstDash val="solid"/>
            <a:tailEnd type="triangle"/>
          </a:ln>
        </p:spPr>
      </p:sp>
      <p:sp>
        <p:nvSpPr>
          <p:cNvPr id="69" name="box 6 ≠ 0: ✗ think again"/>
          <p:cNvSpPr/>
          <p:nvPr/>
        </p:nvSpPr>
        <p:spPr>
          <a:xfrm>
            <a:off x="10012680" y="2514600"/>
            <a:ext cx="1371600" cy="978408"/>
          </a:xfrm>
          <a:prstGeom prst="roundRect">
            <a:avLst>
              <a:gd name="adj" fmla="val 5607"/>
            </a:avLst>
          </a:prstGeom>
          <a:solidFill>
            <a:srgbClr val="FADBD8"/>
          </a:solidFill>
          <a:ln w="9525">
            <a:solidFill>
              <a:srgbClr val="BFBFBF"/>
            </a:solidFill>
            <a:prstDash val="solid"/>
          </a:ln>
        </p:spPr>
      </p:sp>
      <p:sp>
        <p:nvSpPr>
          <p:cNvPr id="70" name="Text 63"/>
          <p:cNvSpPr txBox="1"/>
          <p:nvPr/>
        </p:nvSpPr>
        <p:spPr>
          <a:xfrm>
            <a:off x="10085832" y="2514600"/>
            <a:ext cx="1225296" cy="978408"/>
          </a:xfrm>
          <a:prstGeom prst="rect">
            <a:avLst/>
          </a:prstGeom>
          <a:noFill/>
          <a:ln/>
        </p:spPr>
        <p:txBody>
          <a:bodyPr wrap="square" lIns="0" tIns="0" rIns="0" bIns="0" rtlCol="0" anchor="ctr"/>
          <a:lstStyle/>
          <a:p>
            <a:pPr algn="ctr" indent="0" marL="0">
              <a:buNone/>
            </a:pPr>
            <a:r>
              <a:rPr lang="en-US" sz="1400" dirty="0">
                <a:solidFill>
                  <a:srgbClr val="C00000"/>
                </a:solidFill>
              </a:rPr>
              <a:t>6 ≠ 0: ✗ think again (same: submit)</a:t>
            </a:r>
            <a:endParaRPr lang="en-US" sz="1400" dirty="0"/>
          </a:p>
        </p:txBody>
      </p:sp>
      <p:sp>
        <p:nvSpPr>
          <p:cNvPr id="71" name="Text 64"/>
          <p:cNvSpPr txBox="1"/>
          <p:nvPr/>
        </p:nvSpPr>
        <p:spPr>
          <a:xfrm>
            <a:off x="6400800" y="3547872"/>
            <a:ext cx="4983480" cy="274320"/>
          </a:xfrm>
          <a:prstGeom prst="rect">
            <a:avLst/>
          </a:prstGeom>
          <a:noFill/>
          <a:ln/>
        </p:spPr>
        <p:txBody>
          <a:bodyPr wrap="square" lIns="0" tIns="0" rIns="0" bIns="0" rtlCol="0" anchor="ctr"/>
          <a:lstStyle/>
          <a:p>
            <a:pPr indent="0" marL="0">
              <a:buNone/>
            </a:pPr>
            <a:r>
              <a:rPr lang="en-US" sz="1400" b="1" dirty="0">
                <a:solidFill>
                  <a:schemeClr val="tx1"/>
                </a:solidFill>
              </a:rPr>
              <a:t>108 geometry problems (Qwen3-32B, 3 runs)</a:t>
            </a:r>
            <a:endParaRPr lang="en-US" sz="1400" dirty="0"/>
          </a:p>
        </p:txBody>
      </p:sp>
      <p:sp>
        <p:nvSpPr>
          <p:cNvPr id="72" name="Text 65"/>
          <p:cNvSpPr txBox="1"/>
          <p:nvPr/>
        </p:nvSpPr>
        <p:spPr>
          <a:xfrm>
            <a:off x="8549640" y="379476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73" name="Text 66"/>
          <p:cNvSpPr txBox="1"/>
          <p:nvPr/>
        </p:nvSpPr>
        <p:spPr>
          <a:xfrm>
            <a:off x="9464040" y="379476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4" name="Text 67"/>
          <p:cNvSpPr txBox="1"/>
          <p:nvPr/>
        </p:nvSpPr>
        <p:spPr>
          <a:xfrm>
            <a:off x="6400800" y="416052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75" name="Text 68"/>
          <p:cNvSpPr txBox="1"/>
          <p:nvPr/>
        </p:nvSpPr>
        <p:spPr>
          <a:xfrm>
            <a:off x="8549640" y="416052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76" name="tokens always think"/>
          <p:cNvSpPr/>
          <p:nvPr/>
        </p:nvSpPr>
        <p:spPr>
          <a:xfrm>
            <a:off x="9464040" y="4261104"/>
            <a:ext cx="1188720" cy="256032"/>
          </a:xfrm>
          <a:prstGeom prst="rect">
            <a:avLst/>
          </a:prstGeom>
          <a:solidFill>
            <a:srgbClr val="7F7F7F"/>
          </a:solidFill>
          <a:ln w="6350">
            <a:solidFill>
              <a:srgbClr val="7F7F7F"/>
            </a:solidFill>
            <a:prstDash val="solid"/>
          </a:ln>
        </p:spPr>
      </p:sp>
      <p:sp>
        <p:nvSpPr>
          <p:cNvPr id="77" name="Text 70"/>
          <p:cNvSpPr txBox="1"/>
          <p:nvPr/>
        </p:nvSpPr>
        <p:spPr>
          <a:xfrm>
            <a:off x="10744200" y="416052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78" name="Text 71"/>
          <p:cNvSpPr txBox="1"/>
          <p:nvPr/>
        </p:nvSpPr>
        <p:spPr>
          <a:xfrm>
            <a:off x="6400800" y="45720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think if they differ</a:t>
            </a:r>
            <a:endParaRPr lang="en-US" sz="1500" dirty="0"/>
          </a:p>
        </p:txBody>
      </p:sp>
      <p:sp>
        <p:nvSpPr>
          <p:cNvPr id="79" name="Text 72"/>
          <p:cNvSpPr txBox="1"/>
          <p:nvPr/>
        </p:nvSpPr>
        <p:spPr>
          <a:xfrm>
            <a:off x="8549640" y="457200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80" name="tokens think if they differ"/>
          <p:cNvSpPr/>
          <p:nvPr/>
        </p:nvSpPr>
        <p:spPr>
          <a:xfrm>
            <a:off x="9464040" y="4672584"/>
            <a:ext cx="866355" cy="256032"/>
          </a:xfrm>
          <a:prstGeom prst="rect">
            <a:avLst/>
          </a:prstGeom>
          <a:solidFill>
            <a:srgbClr val="4472C4"/>
          </a:solidFill>
          <a:ln w="6350">
            <a:solidFill>
              <a:srgbClr val="4472C4"/>
            </a:solidFill>
            <a:prstDash val="solid"/>
          </a:ln>
        </p:spPr>
      </p:sp>
      <p:sp>
        <p:nvSpPr>
          <p:cNvPr id="81" name="Text 74"/>
          <p:cNvSpPr txBox="1"/>
          <p:nvPr/>
        </p:nvSpPr>
        <p:spPr>
          <a:xfrm>
            <a:off x="10421835" y="457200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82" name="Text 7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7863840" y="987552"/>
            <a:ext cx="3749040" cy="274320"/>
          </a:xfrm>
          <a:prstGeom prst="rect">
            <a:avLst/>
          </a:prstGeom>
          <a:noFill/>
          <a:ln/>
        </p:spPr>
        <p:txBody>
          <a:bodyPr wrap="square" lIns="0" tIns="0" rIns="0" bIns="0" rtlCol="0" anchor="ctr"/>
          <a:lstStyle/>
          <a:p>
            <a:pPr algn="r" indent="0" marL="0">
              <a:buNone/>
            </a:pPr>
            <a:r>
              <a:rPr lang="en-US" sz="1400" dirty="0">
                <a:solidFill>
                  <a:srgbClr val="7F7F7F"/>
                </a:solidFill>
              </a:rPr>
              <a:t>icons under each step: where it is used</a:t>
            </a:r>
            <a:endParaRPr lang="en-US" sz="1400" dirty="0"/>
          </a:p>
        </p:txBody>
      </p:sp>
      <p:sp>
        <p:nvSpPr>
          <p:cNvPr id="10"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1"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2"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3"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4"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5" name="Shape 11"/>
          <p:cNvSpPr/>
          <p:nvPr/>
        </p:nvSpPr>
        <p:spPr>
          <a:xfrm>
            <a:off x="2651760" y="2670048"/>
            <a:ext cx="137160" cy="0"/>
          </a:xfrm>
          <a:prstGeom prst="line">
            <a:avLst/>
          </a:prstGeom>
          <a:noFill/>
          <a:ln w="25400">
            <a:solidFill>
              <a:srgbClr val="7F7F7F"/>
            </a:solidFill>
            <a:prstDash val="solid"/>
            <a:tailEnd type="triangle"/>
          </a:ln>
        </p:spPr>
      </p:sp>
      <p:pic>
        <p:nvPicPr>
          <p:cNvPr id="16" name="step 1 used on shapes" descr="/NAS/SJ/POSTECH/nlp/figs/icons/shapes.png">    </p:cNvPr>
          <p:cNvPicPr>
            <a:picLocks noChangeAspect="1"/>
          </p:cNvPicPr>
          <p:nvPr/>
        </p:nvPicPr>
        <p:blipFill>
          <a:blip r:embed="rId3"/>
          <a:stretch>
            <a:fillRect/>
          </a:stretch>
        </p:blipFill>
        <p:spPr>
          <a:xfrm>
            <a:off x="1042416" y="3401568"/>
            <a:ext cx="237744" cy="237744"/>
          </a:xfrm>
          <a:prstGeom prst="rect">
            <a:avLst/>
          </a:prstGeom>
        </p:spPr>
      </p:pic>
      <p:pic>
        <p:nvPicPr>
          <p:cNvPr id="17" name="step 1 used on trophy" descr="/NAS/SJ/POSTECH/nlp/figs/icons/trophy.png">    </p:cNvPr>
          <p:cNvPicPr>
            <a:picLocks noChangeAspect="1"/>
          </p:cNvPicPr>
          <p:nvPr/>
        </p:nvPicPr>
        <p:blipFill>
          <a:blip r:embed="rId4"/>
          <a:stretch>
            <a:fillRect/>
          </a:stretch>
        </p:blipFill>
        <p:spPr>
          <a:xfrm>
            <a:off x="1335024" y="3401568"/>
            <a:ext cx="237744" cy="237744"/>
          </a:xfrm>
          <a:prstGeom prst="rect">
            <a:avLst/>
          </a:prstGeom>
        </p:spPr>
      </p:pic>
      <p:pic>
        <p:nvPicPr>
          <p:cNvPr id="18" name="step 1 used on truck" descr="/NAS/SJ/POSTECH/nlp/figs/icons/truck.png">    </p:cNvPr>
          <p:cNvPicPr>
            <a:picLocks noChangeAspect="1"/>
          </p:cNvPicPr>
          <p:nvPr/>
        </p:nvPicPr>
        <p:blipFill>
          <a:blip r:embed="rId5"/>
          <a:stretch>
            <a:fillRect/>
          </a:stretch>
        </p:blipFill>
        <p:spPr>
          <a:xfrm>
            <a:off x="1627632" y="3401568"/>
            <a:ext cx="237744" cy="237744"/>
          </a:xfrm>
          <a:prstGeom prst="rect">
            <a:avLst/>
          </a:prstGeom>
        </p:spPr>
      </p:pic>
      <p:pic>
        <p:nvPicPr>
          <p:cNvPr id="19" name="step 1 used on calc" descr="/NAS/SJ/POSTECH/nlp/figs/icons/calc.png">    </p:cNvPr>
          <p:cNvPicPr>
            <a:picLocks noChangeAspect="1"/>
          </p:cNvPicPr>
          <p:nvPr/>
        </p:nvPicPr>
        <p:blipFill>
          <a:blip r:embed="rId6"/>
          <a:stretch>
            <a:fillRect/>
          </a:stretch>
        </p:blipFill>
        <p:spPr>
          <a:xfrm>
            <a:off x="1920240" y="3401568"/>
            <a:ext cx="237744" cy="237744"/>
          </a:xfrm>
          <a:prstGeom prst="rect">
            <a:avLst/>
          </a:prstGeom>
        </p:spPr>
      </p:pic>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pic>
        <p:nvPicPr>
          <p:cNvPr id="25" name="step 2 used on shapes" descr="/NAS/SJ/POSTECH/nlp/figs/icons/shapes.png">    </p:cNvPr>
          <p:cNvPicPr>
            <a:picLocks noChangeAspect="1"/>
          </p:cNvPicPr>
          <p:nvPr/>
        </p:nvPicPr>
        <p:blipFill>
          <a:blip r:embed="rId7"/>
          <a:stretch>
            <a:fillRect/>
          </a:stretch>
        </p:blipFill>
        <p:spPr>
          <a:xfrm>
            <a:off x="3282696" y="3401568"/>
            <a:ext cx="237744" cy="237744"/>
          </a:xfrm>
          <a:prstGeom prst="rect">
            <a:avLst/>
          </a:prstGeom>
        </p:spPr>
      </p:pic>
      <p:pic>
        <p:nvPicPr>
          <p:cNvPr id="26" name="step 2 not needed on trophy" descr="/NAS/SJ/POSTECH/nlp/figs/icons/trophy.png">    </p:cNvPr>
          <p:cNvPicPr>
            <a:picLocks noChangeAspect="1"/>
          </p:cNvPicPr>
          <p:nvPr/>
        </p:nvPicPr>
        <p:blipFill>
          <a:blip r:embed="rId8">
            <a:alphaModFix amt="18000"/>
          </a:blip>
          <a:stretch>
            <a:fillRect/>
          </a:stretch>
        </p:blipFill>
        <p:spPr>
          <a:xfrm>
            <a:off x="3575304" y="3401568"/>
            <a:ext cx="237744" cy="237744"/>
          </a:xfrm>
          <a:prstGeom prst="rect">
            <a:avLst/>
          </a:prstGeom>
        </p:spPr>
      </p:pic>
      <p:pic>
        <p:nvPicPr>
          <p:cNvPr id="27" name="step 2 used on truck" descr="/NAS/SJ/POSTECH/nlp/figs/icons/truck.png">    </p:cNvPr>
          <p:cNvPicPr>
            <a:picLocks noChangeAspect="1"/>
          </p:cNvPicPr>
          <p:nvPr/>
        </p:nvPicPr>
        <p:blipFill>
          <a:blip r:embed="rId9"/>
          <a:stretch>
            <a:fillRect/>
          </a:stretch>
        </p:blipFill>
        <p:spPr>
          <a:xfrm>
            <a:off x="3867912" y="3401568"/>
            <a:ext cx="237744" cy="237744"/>
          </a:xfrm>
          <a:prstGeom prst="rect">
            <a:avLst/>
          </a:prstGeom>
        </p:spPr>
      </p:pic>
      <p:pic>
        <p:nvPicPr>
          <p:cNvPr id="28" name="step 2 used on calc" descr="/NAS/SJ/POSTECH/nlp/figs/icons/calc.png">    </p:cNvPr>
          <p:cNvPicPr>
            <a:picLocks noChangeAspect="1"/>
          </p:cNvPicPr>
          <p:nvPr/>
        </p:nvPicPr>
        <p:blipFill>
          <a:blip r:embed="rId10"/>
          <a:stretch>
            <a:fillRect/>
          </a:stretch>
        </p:blipFill>
        <p:spPr>
          <a:xfrm>
            <a:off x="4160520" y="3401568"/>
            <a:ext cx="237744" cy="237744"/>
          </a:xfrm>
          <a:prstGeom prst="rect">
            <a:avLst/>
          </a:prstGeom>
        </p:spPr>
      </p:pic>
      <p:sp>
        <p:nvSpPr>
          <p:cNvPr id="29"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30"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31"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32"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3" name="Shape 21"/>
          <p:cNvSpPr/>
          <p:nvPr/>
        </p:nvSpPr>
        <p:spPr>
          <a:xfrm>
            <a:off x="7132320" y="2670048"/>
            <a:ext cx="137160" cy="0"/>
          </a:xfrm>
          <a:prstGeom prst="line">
            <a:avLst/>
          </a:prstGeom>
          <a:noFill/>
          <a:ln w="25400">
            <a:solidFill>
              <a:srgbClr val="7F7F7F"/>
            </a:solidFill>
            <a:prstDash val="solid"/>
            <a:tailEnd type="triangle"/>
          </a:ln>
        </p:spPr>
      </p:sp>
      <p:pic>
        <p:nvPicPr>
          <p:cNvPr id="34" name="step 3 used on shapes" descr="/NAS/SJ/POSTECH/nlp/figs/icons/shapes.png">    </p:cNvPr>
          <p:cNvPicPr>
            <a:picLocks noChangeAspect="1"/>
          </p:cNvPicPr>
          <p:nvPr/>
        </p:nvPicPr>
        <p:blipFill>
          <a:blip r:embed="rId11"/>
          <a:stretch>
            <a:fillRect/>
          </a:stretch>
        </p:blipFill>
        <p:spPr>
          <a:xfrm>
            <a:off x="5522976" y="3401568"/>
            <a:ext cx="237744" cy="237744"/>
          </a:xfrm>
          <a:prstGeom prst="rect">
            <a:avLst/>
          </a:prstGeom>
        </p:spPr>
      </p:pic>
      <p:pic>
        <p:nvPicPr>
          <p:cNvPr id="35" name="step 3 used on trophy" descr="/NAS/SJ/POSTECH/nlp/figs/icons/trophy.png">    </p:cNvPr>
          <p:cNvPicPr>
            <a:picLocks noChangeAspect="1"/>
          </p:cNvPicPr>
          <p:nvPr/>
        </p:nvPicPr>
        <p:blipFill>
          <a:blip r:embed="rId12"/>
          <a:stretch>
            <a:fillRect/>
          </a:stretch>
        </p:blipFill>
        <p:spPr>
          <a:xfrm>
            <a:off x="5815584" y="3401568"/>
            <a:ext cx="237744" cy="237744"/>
          </a:xfrm>
          <a:prstGeom prst="rect">
            <a:avLst/>
          </a:prstGeom>
        </p:spPr>
      </p:pic>
      <p:pic>
        <p:nvPicPr>
          <p:cNvPr id="36" name="step 3 used on truck" descr="/NAS/SJ/POSTECH/nlp/figs/icons/truck.png">    </p:cNvPr>
          <p:cNvPicPr>
            <a:picLocks noChangeAspect="1"/>
          </p:cNvPicPr>
          <p:nvPr/>
        </p:nvPicPr>
        <p:blipFill>
          <a:blip r:embed="rId13"/>
          <a:stretch>
            <a:fillRect/>
          </a:stretch>
        </p:blipFill>
        <p:spPr>
          <a:xfrm>
            <a:off x="6108192" y="3401568"/>
            <a:ext cx="237744" cy="237744"/>
          </a:xfrm>
          <a:prstGeom prst="rect">
            <a:avLst/>
          </a:prstGeom>
        </p:spPr>
      </p:pic>
      <p:pic>
        <p:nvPicPr>
          <p:cNvPr id="37" name="step 3 used on calc" descr="/NAS/SJ/POSTECH/nlp/figs/icons/calc.png">    </p:cNvPr>
          <p:cNvPicPr>
            <a:picLocks noChangeAspect="1"/>
          </p:cNvPicPr>
          <p:nvPr/>
        </p:nvPicPr>
        <p:blipFill>
          <a:blip r:embed="rId14"/>
          <a:stretch>
            <a:fillRect/>
          </a:stretch>
        </p:blipFill>
        <p:spPr>
          <a:xfrm>
            <a:off x="6400800" y="3401568"/>
            <a:ext cx="237744" cy="237744"/>
          </a:xfrm>
          <a:prstGeom prst="rect">
            <a:avLst/>
          </a:prstGeom>
        </p:spPr>
      </p:pic>
      <p:sp>
        <p:nvSpPr>
          <p:cNvPr id="38"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9"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40"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41"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42" name="Shape 26"/>
          <p:cNvSpPr/>
          <p:nvPr/>
        </p:nvSpPr>
        <p:spPr>
          <a:xfrm>
            <a:off x="9372600" y="2670048"/>
            <a:ext cx="137160" cy="0"/>
          </a:xfrm>
          <a:prstGeom prst="line">
            <a:avLst/>
          </a:prstGeom>
          <a:noFill/>
          <a:ln w="25400">
            <a:solidFill>
              <a:srgbClr val="7F7F7F"/>
            </a:solidFill>
            <a:prstDash val="solid"/>
            <a:tailEnd type="triangle"/>
          </a:ln>
        </p:spPr>
      </p:sp>
      <p:pic>
        <p:nvPicPr>
          <p:cNvPr id="43" name="step 4 used on shapes" descr="/NAS/SJ/POSTECH/nlp/figs/icons/shapes.png">    </p:cNvPr>
          <p:cNvPicPr>
            <a:picLocks noChangeAspect="1"/>
          </p:cNvPicPr>
          <p:nvPr/>
        </p:nvPicPr>
        <p:blipFill>
          <a:blip r:embed="rId15"/>
          <a:stretch>
            <a:fillRect/>
          </a:stretch>
        </p:blipFill>
        <p:spPr>
          <a:xfrm>
            <a:off x="7763256" y="3401568"/>
            <a:ext cx="237744" cy="237744"/>
          </a:xfrm>
          <a:prstGeom prst="rect">
            <a:avLst/>
          </a:prstGeom>
        </p:spPr>
      </p:pic>
      <p:pic>
        <p:nvPicPr>
          <p:cNvPr id="44" name="step 4 used on trophy" descr="/NAS/SJ/POSTECH/nlp/figs/icons/trophy.png">    </p:cNvPr>
          <p:cNvPicPr>
            <a:picLocks noChangeAspect="1"/>
          </p:cNvPicPr>
          <p:nvPr/>
        </p:nvPicPr>
        <p:blipFill>
          <a:blip r:embed="rId16"/>
          <a:stretch>
            <a:fillRect/>
          </a:stretch>
        </p:blipFill>
        <p:spPr>
          <a:xfrm>
            <a:off x="8055864" y="3401568"/>
            <a:ext cx="237744" cy="237744"/>
          </a:xfrm>
          <a:prstGeom prst="rect">
            <a:avLst/>
          </a:prstGeom>
        </p:spPr>
      </p:pic>
      <p:pic>
        <p:nvPicPr>
          <p:cNvPr id="45" name="step 4 used on truck" descr="/NAS/SJ/POSTECH/nlp/figs/icons/truck.png">    </p:cNvPr>
          <p:cNvPicPr>
            <a:picLocks noChangeAspect="1"/>
          </p:cNvPicPr>
          <p:nvPr/>
        </p:nvPicPr>
        <p:blipFill>
          <a:blip r:embed="rId17"/>
          <a:stretch>
            <a:fillRect/>
          </a:stretch>
        </p:blipFill>
        <p:spPr>
          <a:xfrm>
            <a:off x="8348472" y="3401568"/>
            <a:ext cx="237744" cy="237744"/>
          </a:xfrm>
          <a:prstGeom prst="rect">
            <a:avLst/>
          </a:prstGeom>
        </p:spPr>
      </p:pic>
      <p:pic>
        <p:nvPicPr>
          <p:cNvPr id="46" name="step 4 used on calc" descr="/NAS/SJ/POSTECH/nlp/figs/icons/calc.png">    </p:cNvPr>
          <p:cNvPicPr>
            <a:picLocks noChangeAspect="1"/>
          </p:cNvPicPr>
          <p:nvPr/>
        </p:nvPicPr>
        <p:blipFill>
          <a:blip r:embed="rId18"/>
          <a:stretch>
            <a:fillRect/>
          </a:stretch>
        </p:blipFill>
        <p:spPr>
          <a:xfrm>
            <a:off x="8641080" y="3401568"/>
            <a:ext cx="237744" cy="237744"/>
          </a:xfrm>
          <a:prstGeom prst="rect">
            <a:avLst/>
          </a:prstGeom>
        </p:spPr>
      </p:pic>
      <p:sp>
        <p:nvSpPr>
          <p:cNvPr id="47"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48"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49"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50"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pic>
        <p:nvPicPr>
          <p:cNvPr id="51" name="step 5 not needed on shapes" descr="/NAS/SJ/POSTECH/nlp/figs/icons/shapes.png">    </p:cNvPr>
          <p:cNvPicPr>
            <a:picLocks noChangeAspect="1"/>
          </p:cNvPicPr>
          <p:nvPr/>
        </p:nvPicPr>
        <p:blipFill>
          <a:blip r:embed="rId19">
            <a:alphaModFix amt="18000"/>
          </a:blip>
          <a:stretch>
            <a:fillRect/>
          </a:stretch>
        </p:blipFill>
        <p:spPr>
          <a:xfrm>
            <a:off x="10003536" y="3401568"/>
            <a:ext cx="237744" cy="237744"/>
          </a:xfrm>
          <a:prstGeom prst="rect">
            <a:avLst/>
          </a:prstGeom>
        </p:spPr>
      </p:pic>
      <p:pic>
        <p:nvPicPr>
          <p:cNvPr id="52" name="step 5 not needed on trophy" descr="/NAS/SJ/POSTECH/nlp/figs/icons/trophy.png">    </p:cNvPr>
          <p:cNvPicPr>
            <a:picLocks noChangeAspect="1"/>
          </p:cNvPicPr>
          <p:nvPr/>
        </p:nvPicPr>
        <p:blipFill>
          <a:blip r:embed="rId20">
            <a:alphaModFix amt="18000"/>
          </a:blip>
          <a:stretch>
            <a:fillRect/>
          </a:stretch>
        </p:blipFill>
        <p:spPr>
          <a:xfrm>
            <a:off x="10296144" y="3401568"/>
            <a:ext cx="237744" cy="237744"/>
          </a:xfrm>
          <a:prstGeom prst="rect">
            <a:avLst/>
          </a:prstGeom>
        </p:spPr>
      </p:pic>
      <p:pic>
        <p:nvPicPr>
          <p:cNvPr id="53" name="step 5 used on truck" descr="/NAS/SJ/POSTECH/nlp/figs/icons/truck.png">    </p:cNvPr>
          <p:cNvPicPr>
            <a:picLocks noChangeAspect="1"/>
          </p:cNvPicPr>
          <p:nvPr/>
        </p:nvPicPr>
        <p:blipFill>
          <a:blip r:embed="rId21"/>
          <a:stretch>
            <a:fillRect/>
          </a:stretch>
        </p:blipFill>
        <p:spPr>
          <a:xfrm>
            <a:off x="10588752" y="3401568"/>
            <a:ext cx="237744" cy="237744"/>
          </a:xfrm>
          <a:prstGeom prst="rect">
            <a:avLst/>
          </a:prstGeom>
        </p:spPr>
      </p:pic>
      <p:pic>
        <p:nvPicPr>
          <p:cNvPr id="54" name="step 5 not needed on calc" descr="/NAS/SJ/POSTECH/nlp/figs/icons/calc.png">    </p:cNvPr>
          <p:cNvPicPr>
            <a:picLocks noChangeAspect="1"/>
          </p:cNvPicPr>
          <p:nvPr/>
        </p:nvPicPr>
        <p:blipFill>
          <a:blip r:embed="rId22">
            <a:alphaModFix amt="18000"/>
          </a:blip>
          <a:stretch>
            <a:fillRect/>
          </a:stretch>
        </p:blipFill>
        <p:spPr>
          <a:xfrm>
            <a:off x="10881360" y="3401568"/>
            <a:ext cx="237744" cy="237744"/>
          </a:xfrm>
          <a:prstGeom prst="rect">
            <a:avLst/>
          </a:prstGeom>
        </p:spPr>
      </p:pic>
      <p:sp>
        <p:nvSpPr>
          <p:cNvPr id="55" name="Text 31"/>
          <p:cNvSpPr txBox="1"/>
          <p:nvPr/>
        </p:nvSpPr>
        <p:spPr>
          <a:xfrm>
            <a:off x="548640" y="3730752"/>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56" name="Text 32"/>
          <p:cNvSpPr txBox="1"/>
          <p:nvPr/>
        </p:nvSpPr>
        <p:spPr>
          <a:xfrm>
            <a:off x="2834640" y="406908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7" name="Text 33"/>
          <p:cNvSpPr txBox="1"/>
          <p:nvPr/>
        </p:nvSpPr>
        <p:spPr>
          <a:xfrm>
            <a:off x="3749040" y="406908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8" name="Text 34"/>
          <p:cNvSpPr txBox="1"/>
          <p:nvPr/>
        </p:nvSpPr>
        <p:spPr>
          <a:xfrm>
            <a:off x="548640" y="443484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59" name="Text 35"/>
          <p:cNvSpPr txBox="1"/>
          <p:nvPr/>
        </p:nvSpPr>
        <p:spPr>
          <a:xfrm>
            <a:off x="2834640" y="443484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60" name="tokens think on hardest-looking"/>
          <p:cNvSpPr/>
          <p:nvPr/>
        </p:nvSpPr>
        <p:spPr>
          <a:xfrm>
            <a:off x="3749040" y="4535424"/>
            <a:ext cx="2468880" cy="256032"/>
          </a:xfrm>
          <a:prstGeom prst="rect">
            <a:avLst/>
          </a:prstGeom>
          <a:solidFill>
            <a:srgbClr val="7F7F7F"/>
          </a:solidFill>
          <a:ln w="6350">
            <a:solidFill>
              <a:srgbClr val="7F7F7F"/>
            </a:solidFill>
            <a:prstDash val="solid"/>
          </a:ln>
        </p:spPr>
      </p:sp>
      <p:sp>
        <p:nvSpPr>
          <p:cNvPr id="61" name="Text 37"/>
          <p:cNvSpPr txBox="1"/>
          <p:nvPr/>
        </p:nvSpPr>
        <p:spPr>
          <a:xfrm>
            <a:off x="6309360" y="443484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2" name="Text 38"/>
          <p:cNvSpPr txBox="1"/>
          <p:nvPr/>
        </p:nvSpPr>
        <p:spPr>
          <a:xfrm>
            <a:off x="548640" y="496519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3" name="Text 39"/>
          <p:cNvSpPr txBox="1"/>
          <p:nvPr/>
        </p:nvSpPr>
        <p:spPr>
          <a:xfrm>
            <a:off x="2834640" y="49651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4" name="tokens ours, hand-written hint"/>
          <p:cNvSpPr/>
          <p:nvPr/>
        </p:nvSpPr>
        <p:spPr>
          <a:xfrm>
            <a:off x="3749040" y="5065776"/>
            <a:ext cx="1505415" cy="256032"/>
          </a:xfrm>
          <a:prstGeom prst="rect">
            <a:avLst/>
          </a:prstGeom>
          <a:solidFill>
            <a:srgbClr val="4472C4"/>
          </a:solidFill>
          <a:ln w="6350">
            <a:solidFill>
              <a:srgbClr val="4472C4"/>
            </a:solidFill>
            <a:prstDash val="solid"/>
          </a:ln>
        </p:spPr>
      </p:sp>
      <p:sp>
        <p:nvSpPr>
          <p:cNvPr id="65" name="Text 41"/>
          <p:cNvSpPr txBox="1"/>
          <p:nvPr/>
        </p:nvSpPr>
        <p:spPr>
          <a:xfrm>
            <a:off x="5345895" y="49651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6" name="Text 42"/>
          <p:cNvSpPr txBox="1"/>
          <p:nvPr/>
        </p:nvSpPr>
        <p:spPr>
          <a:xfrm>
            <a:off x="7498080" y="37307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67" name="Text 43"/>
          <p:cNvSpPr txBox="1"/>
          <p:nvPr/>
        </p:nvSpPr>
        <p:spPr>
          <a:xfrm>
            <a:off x="7498080" y="4169664"/>
            <a:ext cx="4114800" cy="731520"/>
          </a:xfrm>
          <a:prstGeom prst="rect">
            <a:avLst/>
          </a:prstGeom>
          <a:noFill/>
          <a:ln/>
        </p:spPr>
        <p:txBody>
          <a:bodyPr wrap="square" lIns="0" tIns="0" rIns="0" bIns="0" rtlCol="0" anchor="t"/>
          <a:lstStyle/>
          <a:p>
            <a:pPr indent="0" marL="0">
              <a:buNone/>
            </a:pPr>
            <a:r>
              <a:rPr lang="en-US" sz="1400" dirty="0">
                <a:solidFill>
                  <a:schemeClr val="tx1"/>
                </a:solidFill>
              </a:rPr>
              <a:t>gpt-oss-20b on 863 held-out MAMO problems: its own checked program as the hint = a hand-written hint (no hint: 73%)</a:t>
            </a:r>
            <a:endParaRPr lang="en-US" sz="1400" dirty="0"/>
          </a:p>
        </p:txBody>
      </p:sp>
      <p:sp>
        <p:nvSpPr>
          <p:cNvPr id="68" name="Text 44"/>
          <p:cNvSpPr txBox="1"/>
          <p:nvPr/>
        </p:nvSpPr>
        <p:spPr>
          <a:xfrm>
            <a:off x="7498080" y="4983480"/>
            <a:ext cx="4114800" cy="365760"/>
          </a:xfrm>
          <a:prstGeom prst="rect">
            <a:avLst/>
          </a:prstGeom>
          <a:noFill/>
          <a:ln/>
        </p:spPr>
        <p:txBody>
          <a:bodyPr wrap="square" lIns="0" tIns="0" rIns="0" bIns="0" rtlCol="0" anchor="ctr"/>
          <a:lstStyle/>
          <a:p>
            <a:pPr indent="0" marL="0">
              <a:buNone/>
            </a:pPr>
            <a:r>
              <a:rPr lang="en-US" sz="1400" dirty="0">
                <a:solidFill>
                  <a:schemeClr val="tx1"/>
                </a:solidFill>
              </a:rPr>
              <a:t>This problem: </a:t>
            </a:r>
            <a:pPr indent="0" marL="0">
              <a:buNone/>
            </a:pPr>
            <a:r>
              <a:rPr lang="en-US" sz="1400" b="1" dirty="0">
                <a:solidFill>
                  <a:srgbClr val="4472C4"/>
                </a:solidFill>
              </a:rPr>
              <a:t>0.6k tokens</a:t>
            </a:r>
            <a:pPr indent="0" marL="0">
              <a:buNone/>
            </a:pPr>
            <a:r>
              <a:rPr lang="en-US" sz="1400" dirty="0">
                <a:solidFill>
                  <a:schemeClr val="tx1"/>
                </a:solidFill>
              </a:rPr>
              <a:t> (thinking alone: 5.3k)</a:t>
            </a:r>
            <a:endParaRPr lang="en-US" sz="1400" dirty="0"/>
          </a:p>
        </p:txBody>
      </p:sp>
      <p:sp>
        <p:nvSpPr>
          <p:cNvPr id="69" name="Text 4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where 3 quick answers disagree,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on the same 208 problems</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 1.1k tokens</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69.5% at 1.0k tokens</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2026-10-19T18:42:55Z</dcterms:created>
  <dcterms:modified xsi:type="dcterms:W3CDTF">2026-10-19T18:42:55Z</dcterms:modified>
</cp:coreProperties>
</file>