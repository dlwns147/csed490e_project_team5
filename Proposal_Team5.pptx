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863c014-2abc-cb71-475f-68c85118b29c}">
          <p14:sldIdLst>
            <p14:sldId id="256"/>
            <p14:sldId id="257"/>
            <p14:sldId id="258"/>
            <p14:sldId id="259"/>
            <p14:sldId id="260"/>
            <p14:sldId id="261"/>
            <p14:sldId id="262"/>
            <p14:sldId id="263"/>
            <p14:sldId id="264"/>
          </p14:sldIdLst>
        </p14:section>
        <p14:section name="Extra pages" id="{f134c744-0454-3d63-85f1-8b07462001f0}">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처음 써 본 문장제 벤치마크에서도, 자동으로 찾은 힌트가 사람이 쓴 힌트와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힌트로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짧은 힌트를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질문 받겠습니다. 예상 질문마다 보충 슬라이드를 준비했으니, 번호를 누르면 바로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결과를 네 종류 전부에서 잰 것은 아닙니다. 힌트 주기는 기하, 경로, 문장제에서, 공짜 검사는 네 종류 모두에서 확인했습니다. 전체 방법의 87% 대 74%는 기하 108문제와 최적화 100문제를 세 모델로 푼 결과이고, 경시 문제에는 검사와 생각만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POSTECH CSED490E (Graduate NLP) · Team 5</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10" name="holds on shapes" descr="/NAS/SJ/POSTECH/nlp/figs/icons/shapes.png">    </p:cNvPr>
          <p:cNvPicPr>
            <a:picLocks noChangeAspect="1"/>
          </p:cNvPicPr>
          <p:nvPr/>
        </p:nvPicPr>
        <p:blipFill>
          <a:blip r:embed="rId3"/>
          <a:stretch>
            <a:fillRect/>
          </a:stretch>
        </p:blipFill>
        <p:spPr>
          <a:xfrm>
            <a:off x="10058400" y="978408"/>
            <a:ext cx="274320" cy="274320"/>
          </a:xfrm>
          <a:prstGeom prst="rect">
            <a:avLst/>
          </a:prstGeom>
        </p:spPr>
      </p:pic>
      <p:pic>
        <p:nvPicPr>
          <p:cNvPr id="11" name="not shown on trophy" descr="/NAS/SJ/POSTECH/nlp/figs/icons/trophy.png">    </p:cNvPr>
          <p:cNvPicPr>
            <a:picLocks noChangeAspect="1"/>
          </p:cNvPicPr>
          <p:nvPr/>
        </p:nvPicPr>
        <p:blipFill>
          <a:blip r:embed="rId4">
            <a:alphaModFix amt="18000"/>
          </a:blip>
          <a:stretch>
            <a:fillRect/>
          </a:stretch>
        </p:blipFill>
        <p:spPr>
          <a:xfrm>
            <a:off x="10442448" y="978408"/>
            <a:ext cx="274320" cy="274320"/>
          </a:xfrm>
          <a:prstGeom prst="rect">
            <a:avLst/>
          </a:prstGeom>
        </p:spPr>
      </p:pic>
      <p:pic>
        <p:nvPicPr>
          <p:cNvPr id="12" name="holds on truck" descr="/NAS/SJ/POSTECH/nlp/figs/icons/truck.png">    </p:cNvPr>
          <p:cNvPicPr>
            <a:picLocks noChangeAspect="1"/>
          </p:cNvPicPr>
          <p:nvPr/>
        </p:nvPicPr>
        <p:blipFill>
          <a:blip r:embed="rId5"/>
          <a:stretch>
            <a:fillRect/>
          </a:stretch>
        </p:blipFill>
        <p:spPr>
          <a:xfrm>
            <a:off x="10826496" y="978408"/>
            <a:ext cx="274320" cy="274320"/>
          </a:xfrm>
          <a:prstGeom prst="rect">
            <a:avLst/>
          </a:prstGeom>
        </p:spPr>
      </p:pic>
      <p:pic>
        <p:nvPicPr>
          <p:cNvPr id="13" name="holds on calc" descr="/NAS/SJ/POSTECH/nlp/figs/icons/calc.png">    </p:cNvPr>
          <p:cNvPicPr>
            <a:picLocks noChangeAspect="1"/>
          </p:cNvPicPr>
          <p:nvPr/>
        </p:nvPicPr>
        <p:blipFill>
          <a:blip r:embed="rId6"/>
          <a:stretch>
            <a:fillRect/>
          </a:stretch>
        </p:blipFill>
        <p:spPr>
          <a:xfrm>
            <a:off x="11210544" y="978408"/>
            <a:ext cx="274320" cy="274320"/>
          </a:xfrm>
          <a:prstGeom prst="rect">
            <a:avLst/>
          </a:prstGeom>
        </p:spPr>
      </p:pic>
      <p:sp>
        <p:nvSpPr>
          <p:cNvPr id="14"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5"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6"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7"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8"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9" name="Shape 11"/>
          <p:cNvSpPr/>
          <p:nvPr/>
        </p:nvSpPr>
        <p:spPr>
          <a:xfrm>
            <a:off x="2651760" y="2670048"/>
            <a:ext cx="137160" cy="0"/>
          </a:xfrm>
          <a:prstGeom prst="line">
            <a:avLst/>
          </a:prstGeom>
          <a:noFill/>
          <a:ln w="25400">
            <a:solidFill>
              <a:srgbClr val="7F7F7F"/>
            </a:solidFill>
            <a:prstDash val="solid"/>
            <a:tailEnd type="triangle"/>
          </a:ln>
        </p:spPr>
      </p:sp>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sp>
        <p:nvSpPr>
          <p:cNvPr id="25"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26"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27"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8"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29" name="Shape 21"/>
          <p:cNvSpPr/>
          <p:nvPr/>
        </p:nvSpPr>
        <p:spPr>
          <a:xfrm>
            <a:off x="7132320" y="2670048"/>
            <a:ext cx="137160" cy="0"/>
          </a:xfrm>
          <a:prstGeom prst="line">
            <a:avLst/>
          </a:prstGeom>
          <a:noFill/>
          <a:ln w="25400">
            <a:solidFill>
              <a:srgbClr val="7F7F7F"/>
            </a:solidFill>
            <a:prstDash val="solid"/>
            <a:tailEnd type="triangle"/>
          </a:ln>
        </p:spPr>
      </p:sp>
      <p:sp>
        <p:nvSpPr>
          <p:cNvPr id="30"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1"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32"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34" name="Shape 26"/>
          <p:cNvSpPr/>
          <p:nvPr/>
        </p:nvSpPr>
        <p:spPr>
          <a:xfrm>
            <a:off x="9372600" y="2670048"/>
            <a:ext cx="137160" cy="0"/>
          </a:xfrm>
          <a:prstGeom prst="line">
            <a:avLst/>
          </a:prstGeom>
          <a:noFill/>
          <a:ln w="25400">
            <a:solidFill>
              <a:srgbClr val="7F7F7F"/>
            </a:solidFill>
            <a:prstDash val="solid"/>
            <a:tailEnd type="triangle"/>
          </a:ln>
        </p:spPr>
      </p:sp>
      <p:sp>
        <p:nvSpPr>
          <p:cNvPr id="35"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36"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37"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38"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sp>
        <p:nvSpPr>
          <p:cNvPr id="39" name="Text 31"/>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40" name="Text 32"/>
          <p:cNvSpPr txBox="1"/>
          <p:nvPr/>
        </p:nvSpPr>
        <p:spPr>
          <a:xfrm>
            <a:off x="2560320" y="3977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1" name="Text 33"/>
          <p:cNvSpPr txBox="1"/>
          <p:nvPr/>
        </p:nvSpPr>
        <p:spPr>
          <a:xfrm>
            <a:off x="3474720" y="397764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2" name="Text 34"/>
          <p:cNvSpPr txBox="1"/>
          <p:nvPr/>
        </p:nvSpPr>
        <p:spPr>
          <a:xfrm>
            <a:off x="548640" y="434340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43" name="Text 35"/>
          <p:cNvSpPr txBox="1"/>
          <p:nvPr/>
        </p:nvSpPr>
        <p:spPr>
          <a:xfrm>
            <a:off x="2560320" y="4343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44" name="tokens think on hardest-looking"/>
          <p:cNvSpPr/>
          <p:nvPr/>
        </p:nvSpPr>
        <p:spPr>
          <a:xfrm>
            <a:off x="3474720" y="4443984"/>
            <a:ext cx="2743200" cy="256032"/>
          </a:xfrm>
          <a:prstGeom prst="rect">
            <a:avLst/>
          </a:prstGeom>
          <a:solidFill>
            <a:srgbClr val="7F7F7F"/>
          </a:solidFill>
          <a:ln w="6350">
            <a:solidFill>
              <a:srgbClr val="7F7F7F"/>
            </a:solidFill>
            <a:prstDash val="solid"/>
          </a:ln>
        </p:spPr>
      </p:sp>
      <p:sp>
        <p:nvSpPr>
          <p:cNvPr id="45" name="Text 37"/>
          <p:cNvSpPr txBox="1"/>
          <p:nvPr/>
        </p:nvSpPr>
        <p:spPr>
          <a:xfrm>
            <a:off x="6309360" y="4343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46" name="Text 38"/>
          <p:cNvSpPr txBox="1"/>
          <p:nvPr/>
        </p:nvSpPr>
        <p:spPr>
          <a:xfrm>
            <a:off x="548640" y="487375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47" name="Text 39"/>
          <p:cNvSpPr txBox="1"/>
          <p:nvPr/>
        </p:nvSpPr>
        <p:spPr>
          <a:xfrm>
            <a:off x="2560320" y="48737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8" name="tokens our method"/>
          <p:cNvSpPr/>
          <p:nvPr/>
        </p:nvSpPr>
        <p:spPr>
          <a:xfrm>
            <a:off x="3474720" y="4974336"/>
            <a:ext cx="1672683" cy="256032"/>
          </a:xfrm>
          <a:prstGeom prst="rect">
            <a:avLst/>
          </a:prstGeom>
          <a:solidFill>
            <a:srgbClr val="4472C4"/>
          </a:solidFill>
          <a:ln w="6350">
            <a:solidFill>
              <a:srgbClr val="4472C4"/>
            </a:solidFill>
            <a:prstDash val="solid"/>
          </a:ln>
        </p:spPr>
      </p:sp>
      <p:sp>
        <p:nvSpPr>
          <p:cNvPr id="49" name="Text 41"/>
          <p:cNvSpPr txBox="1"/>
          <p:nvPr/>
        </p:nvSpPr>
        <p:spPr>
          <a:xfrm>
            <a:off x="5238843" y="48737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50" name="Text 42"/>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51" name="Text 43"/>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52" name="Text 44"/>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53" name="Text 45"/>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54"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b="1" dirty="0">
                <a:solidFill>
                  <a:srgbClr val="4472C4"/>
                </a:solidFill>
              </a:rPr>
              <a:t>Expected questions, by the talk slide that raises them → extra page (type the number and press Enter)</a:t>
            </a:r>
            <a:endParaRPr lang="en-US" sz="1600" dirty="0"/>
          </a:p>
        </p:txBody>
      </p:sp>
      <p:sp>
        <p:nvSpPr>
          <p:cNvPr id="4" name="box "/>
          <p:cNvSpPr/>
          <p:nvPr/>
        </p:nvSpPr>
        <p:spPr>
          <a:xfrm>
            <a:off x="548640" y="1645920"/>
            <a:ext cx="5440680" cy="402336"/>
          </a:xfrm>
          <a:prstGeom prst="roundRect">
            <a:avLst>
              <a:gd name="adj" fmla="val 13636"/>
            </a:avLst>
          </a:prstGeom>
          <a:solidFill>
            <a:srgbClr val="F2F2F2"/>
          </a:solidFill>
          <a:ln w="9525">
            <a:solidFill>
              <a:srgbClr val="BFBFBF"/>
            </a:solidFill>
            <a:prstDash val="solid"/>
          </a:ln>
        </p:spPr>
      </p:sp>
      <p:sp>
        <p:nvSpPr>
          <p:cNvPr id="5" name="Text 3"/>
          <p:cNvSpPr txBox="1"/>
          <p:nvPr/>
        </p:nvSpPr>
        <p:spPr>
          <a:xfrm>
            <a:off x="62179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 name="from slide 2"/>
          <p:cNvSpPr/>
          <p:nvPr/>
        </p:nvSpPr>
        <p:spPr>
          <a:xfrm>
            <a:off x="621792" y="1700784"/>
            <a:ext cx="777240" cy="292608"/>
          </a:xfrm>
          <a:prstGeom prst="roundRect">
            <a:avLst>
              <a:gd name="adj" fmla="val 18750"/>
            </a:avLst>
          </a:prstGeom>
          <a:solidFill>
            <a:srgbClr val="D9D9D9"/>
          </a:solidFill>
          <a:ln w="12700">
            <a:solidFill>
              <a:srgbClr val="D9D9D9"/>
            </a:solidFill>
            <a:prstDash val="solid"/>
          </a:ln>
        </p:spPr>
      </p:sp>
      <p:sp>
        <p:nvSpPr>
          <p:cNvPr id="7" name="Text 5"/>
          <p:cNvSpPr txBox="1"/>
          <p:nvPr/>
        </p:nvSpPr>
        <p:spPr>
          <a:xfrm>
            <a:off x="62179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8" name="Text 6"/>
          <p:cNvSpPr txBox="1"/>
          <p:nvPr/>
        </p:nvSpPr>
        <p:spPr>
          <a:xfrm>
            <a:off x="150876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these problems? How do they differ?</a:t>
            </a:r>
            <a:endParaRPr lang="en-US" sz="1400" dirty="0"/>
          </a:p>
        </p:txBody>
      </p:sp>
      <p:sp>
        <p:nvSpPr>
          <p:cNvPr id="9" name="page why"/>
          <p:cNvSpPr/>
          <p:nvPr/>
        </p:nvSpPr>
        <p:spPr>
          <a:xfrm>
            <a:off x="5449824" y="1691640"/>
            <a:ext cx="438912" cy="310896"/>
          </a:xfrm>
          <a:prstGeom prst="roundRect">
            <a:avLst>
              <a:gd name="adj" fmla="val 23529"/>
            </a:avLst>
          </a:prstGeom>
          <a:solidFill>
            <a:srgbClr val="4472C4"/>
          </a:solidFill>
          <a:ln w="12700">
            <a:solidFill>
              <a:srgbClr val="4472C4"/>
            </a:solidFill>
            <a:prstDash val="solid"/>
          </a:ln>
        </p:spPr>
      </p:sp>
      <p:sp>
        <p:nvSpPr>
          <p:cNvPr id="10" name="Text 8"/>
          <p:cNvSpPr txBox="1"/>
          <p:nvPr/>
        </p:nvSpPr>
        <p:spPr>
          <a:xfrm>
            <a:off x="544982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1" name="box "/>
          <p:cNvSpPr/>
          <p:nvPr/>
        </p:nvSpPr>
        <p:spPr>
          <a:xfrm>
            <a:off x="548640" y="2103120"/>
            <a:ext cx="5440680" cy="402336"/>
          </a:xfrm>
          <a:prstGeom prst="roundRect">
            <a:avLst>
              <a:gd name="adj" fmla="val 13636"/>
            </a:avLst>
          </a:prstGeom>
          <a:solidFill>
            <a:srgbClr val="F2F2F2"/>
          </a:solidFill>
          <a:ln w="9525">
            <a:solidFill>
              <a:srgbClr val="BFBFBF"/>
            </a:solidFill>
            <a:prstDash val="solid"/>
          </a:ln>
        </p:spPr>
      </p:sp>
      <p:sp>
        <p:nvSpPr>
          <p:cNvPr id="12" name="Text 10"/>
          <p:cNvSpPr txBox="1"/>
          <p:nvPr/>
        </p:nvSpPr>
        <p:spPr>
          <a:xfrm>
            <a:off x="62179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 name="from slide 2"/>
          <p:cNvSpPr/>
          <p:nvPr/>
        </p:nvSpPr>
        <p:spPr>
          <a:xfrm>
            <a:off x="621792" y="2157984"/>
            <a:ext cx="777240" cy="292608"/>
          </a:xfrm>
          <a:prstGeom prst="roundRect">
            <a:avLst>
              <a:gd name="adj" fmla="val 18750"/>
            </a:avLst>
          </a:prstGeom>
          <a:solidFill>
            <a:srgbClr val="D9D9D9"/>
          </a:solidFill>
          <a:ln w="12700">
            <a:solidFill>
              <a:srgbClr val="D9D9D9"/>
            </a:solidFill>
            <a:prstDash val="solid"/>
          </a:ln>
        </p:spPr>
      </p:sp>
      <p:sp>
        <p:nvSpPr>
          <p:cNvPr id="14" name="Text 12"/>
          <p:cNvSpPr txBox="1"/>
          <p:nvPr/>
        </p:nvSpPr>
        <p:spPr>
          <a:xfrm>
            <a:off x="62179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15" name="Text 13"/>
          <p:cNvSpPr txBox="1"/>
          <p:nvPr/>
        </p:nvSpPr>
        <p:spPr>
          <a:xfrm>
            <a:off x="150876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 the findings cover every kind?</a:t>
            </a:r>
            <a:endParaRPr lang="en-US" sz="1400" dirty="0"/>
          </a:p>
        </p:txBody>
      </p:sp>
      <p:sp>
        <p:nvSpPr>
          <p:cNvPr id="16" name="page coverage"/>
          <p:cNvSpPr/>
          <p:nvPr/>
        </p:nvSpPr>
        <p:spPr>
          <a:xfrm>
            <a:off x="5449824" y="2148840"/>
            <a:ext cx="438912" cy="310896"/>
          </a:xfrm>
          <a:prstGeom prst="roundRect">
            <a:avLst>
              <a:gd name="adj" fmla="val 23529"/>
            </a:avLst>
          </a:prstGeom>
          <a:solidFill>
            <a:srgbClr val="4472C4"/>
          </a:solidFill>
          <a:ln w="12700">
            <a:solidFill>
              <a:srgbClr val="4472C4"/>
            </a:solidFill>
            <a:prstDash val="solid"/>
          </a:ln>
        </p:spPr>
      </p:sp>
      <p:sp>
        <p:nvSpPr>
          <p:cNvPr id="17" name="Text 15"/>
          <p:cNvSpPr txBox="1"/>
          <p:nvPr/>
        </p:nvSpPr>
        <p:spPr>
          <a:xfrm>
            <a:off x="544982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18" name="box "/>
          <p:cNvSpPr/>
          <p:nvPr/>
        </p:nvSpPr>
        <p:spPr>
          <a:xfrm>
            <a:off x="548640" y="2560320"/>
            <a:ext cx="5440680" cy="402336"/>
          </a:xfrm>
          <a:prstGeom prst="roundRect">
            <a:avLst>
              <a:gd name="adj" fmla="val 13636"/>
            </a:avLst>
          </a:prstGeom>
          <a:solidFill>
            <a:srgbClr val="F2F2F2"/>
          </a:solidFill>
          <a:ln w="9525">
            <a:solidFill>
              <a:srgbClr val="BFBFBF"/>
            </a:solidFill>
            <a:prstDash val="solid"/>
          </a:ln>
        </p:spPr>
      </p:sp>
      <p:sp>
        <p:nvSpPr>
          <p:cNvPr id="19" name="Text 17"/>
          <p:cNvSpPr txBox="1"/>
          <p:nvPr/>
        </p:nvSpPr>
        <p:spPr>
          <a:xfrm>
            <a:off x="62179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0" name="from slide 2"/>
          <p:cNvSpPr/>
          <p:nvPr/>
        </p:nvSpPr>
        <p:spPr>
          <a:xfrm>
            <a:off x="621792" y="2615184"/>
            <a:ext cx="777240" cy="292608"/>
          </a:xfrm>
          <a:prstGeom prst="roundRect">
            <a:avLst>
              <a:gd name="adj" fmla="val 18750"/>
            </a:avLst>
          </a:prstGeom>
          <a:solidFill>
            <a:srgbClr val="D9D9D9"/>
          </a:solidFill>
          <a:ln w="12700">
            <a:solidFill>
              <a:srgbClr val="D9D9D9"/>
            </a:solidFill>
            <a:prstDash val="solid"/>
          </a:ln>
        </p:spPr>
      </p:sp>
      <p:sp>
        <p:nvSpPr>
          <p:cNvPr id="21" name="Text 19"/>
          <p:cNvSpPr txBox="1"/>
          <p:nvPr/>
        </p:nvSpPr>
        <p:spPr>
          <a:xfrm>
            <a:off x="62179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2" name="Text 20"/>
          <p:cNvSpPr txBox="1"/>
          <p:nvPr/>
        </p:nvSpPr>
        <p:spPr>
          <a:xfrm>
            <a:off x="150876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How hard are the problems?</a:t>
            </a:r>
            <a:endParaRPr lang="en-US" sz="1400" dirty="0"/>
          </a:p>
        </p:txBody>
      </p:sp>
      <p:sp>
        <p:nvSpPr>
          <p:cNvPr id="23" name="page kinds"/>
          <p:cNvSpPr/>
          <p:nvPr/>
        </p:nvSpPr>
        <p:spPr>
          <a:xfrm>
            <a:off x="5449824" y="2606040"/>
            <a:ext cx="438912" cy="310896"/>
          </a:xfrm>
          <a:prstGeom prst="roundRect">
            <a:avLst>
              <a:gd name="adj" fmla="val 23529"/>
            </a:avLst>
          </a:prstGeom>
          <a:solidFill>
            <a:srgbClr val="4472C4"/>
          </a:solidFill>
          <a:ln w="12700">
            <a:solidFill>
              <a:srgbClr val="4472C4"/>
            </a:solidFill>
            <a:prstDash val="solid"/>
          </a:ln>
        </p:spPr>
      </p:sp>
      <p:sp>
        <p:nvSpPr>
          <p:cNvPr id="24" name="Text 22"/>
          <p:cNvSpPr txBox="1"/>
          <p:nvPr/>
        </p:nvSpPr>
        <p:spPr>
          <a:xfrm>
            <a:off x="544982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25" name="box "/>
          <p:cNvSpPr/>
          <p:nvPr/>
        </p:nvSpPr>
        <p:spPr>
          <a:xfrm>
            <a:off x="548640" y="3017520"/>
            <a:ext cx="5440680" cy="402336"/>
          </a:xfrm>
          <a:prstGeom prst="roundRect">
            <a:avLst>
              <a:gd name="adj" fmla="val 13636"/>
            </a:avLst>
          </a:prstGeom>
          <a:solidFill>
            <a:srgbClr val="F2F2F2"/>
          </a:solidFill>
          <a:ln w="9525">
            <a:solidFill>
              <a:srgbClr val="BFBFBF"/>
            </a:solidFill>
            <a:prstDash val="solid"/>
          </a:ln>
        </p:spPr>
      </p:sp>
      <p:sp>
        <p:nvSpPr>
          <p:cNvPr id="26" name="Text 24"/>
          <p:cNvSpPr txBox="1"/>
          <p:nvPr/>
        </p:nvSpPr>
        <p:spPr>
          <a:xfrm>
            <a:off x="62179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7" name="from slide 4"/>
          <p:cNvSpPr/>
          <p:nvPr/>
        </p:nvSpPr>
        <p:spPr>
          <a:xfrm>
            <a:off x="621792" y="3072384"/>
            <a:ext cx="777240" cy="292608"/>
          </a:xfrm>
          <a:prstGeom prst="roundRect">
            <a:avLst>
              <a:gd name="adj" fmla="val 18750"/>
            </a:avLst>
          </a:prstGeom>
          <a:solidFill>
            <a:srgbClr val="D9D9D9"/>
          </a:solidFill>
          <a:ln w="12700">
            <a:solidFill>
              <a:srgbClr val="D9D9D9"/>
            </a:solidFill>
            <a:prstDash val="solid"/>
          </a:ln>
        </p:spPr>
      </p:sp>
      <p:sp>
        <p:nvSpPr>
          <p:cNvPr id="28" name="Text 26"/>
          <p:cNvSpPr txBox="1"/>
          <p:nvPr/>
        </p:nvSpPr>
        <p:spPr>
          <a:xfrm>
            <a:off x="62179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4</a:t>
            </a:r>
            <a:endParaRPr lang="en-US" sz="1400" dirty="0"/>
          </a:p>
        </p:txBody>
      </p:sp>
      <p:sp>
        <p:nvSpPr>
          <p:cNvPr id="29" name="Text 27"/>
          <p:cNvSpPr txBox="1"/>
          <p:nvPr/>
        </p:nvSpPr>
        <p:spPr>
          <a:xfrm>
            <a:off x="150876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does helper code change the answer?</a:t>
            </a:r>
            <a:endParaRPr lang="en-US" sz="1400" dirty="0"/>
          </a:p>
        </p:txBody>
      </p:sp>
      <p:sp>
        <p:nvSpPr>
          <p:cNvPr id="30" name="page two"/>
          <p:cNvSpPr/>
          <p:nvPr/>
        </p:nvSpPr>
        <p:spPr>
          <a:xfrm>
            <a:off x="5449824" y="3063240"/>
            <a:ext cx="438912" cy="310896"/>
          </a:xfrm>
          <a:prstGeom prst="roundRect">
            <a:avLst>
              <a:gd name="adj" fmla="val 23529"/>
            </a:avLst>
          </a:prstGeom>
          <a:solidFill>
            <a:srgbClr val="4472C4"/>
          </a:solidFill>
          <a:ln w="12700">
            <a:solidFill>
              <a:srgbClr val="4472C4"/>
            </a:solidFill>
            <a:prstDash val="solid"/>
          </a:ln>
        </p:spPr>
      </p:sp>
      <p:sp>
        <p:nvSpPr>
          <p:cNvPr id="31" name="Text 29"/>
          <p:cNvSpPr txBox="1"/>
          <p:nvPr/>
        </p:nvSpPr>
        <p:spPr>
          <a:xfrm>
            <a:off x="544982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13</a:t>
            </a:r>
            <a:endParaRPr lang="en-US" sz="1400" dirty="0"/>
          </a:p>
        </p:txBody>
      </p:sp>
      <p:sp>
        <p:nvSpPr>
          <p:cNvPr id="32" name="box "/>
          <p:cNvSpPr/>
          <p:nvPr/>
        </p:nvSpPr>
        <p:spPr>
          <a:xfrm>
            <a:off x="548640" y="3474720"/>
            <a:ext cx="5440680" cy="402336"/>
          </a:xfrm>
          <a:prstGeom prst="roundRect">
            <a:avLst>
              <a:gd name="adj" fmla="val 13636"/>
            </a:avLst>
          </a:prstGeom>
          <a:solidFill>
            <a:srgbClr val="F2F2F2"/>
          </a:solidFill>
          <a:ln w="9525">
            <a:solidFill>
              <a:srgbClr val="BFBFBF"/>
            </a:solidFill>
            <a:prstDash val="solid"/>
          </a:ln>
        </p:spPr>
      </p:sp>
      <p:sp>
        <p:nvSpPr>
          <p:cNvPr id="33" name="Text 31"/>
          <p:cNvSpPr txBox="1"/>
          <p:nvPr/>
        </p:nvSpPr>
        <p:spPr>
          <a:xfrm>
            <a:off x="62179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34" name="from slide 5"/>
          <p:cNvSpPr/>
          <p:nvPr/>
        </p:nvSpPr>
        <p:spPr>
          <a:xfrm>
            <a:off x="621792" y="3529584"/>
            <a:ext cx="777240" cy="292608"/>
          </a:xfrm>
          <a:prstGeom prst="roundRect">
            <a:avLst>
              <a:gd name="adj" fmla="val 18750"/>
            </a:avLst>
          </a:prstGeom>
          <a:solidFill>
            <a:srgbClr val="D9D9D9"/>
          </a:solidFill>
          <a:ln w="12700">
            <a:solidFill>
              <a:srgbClr val="D9D9D9"/>
            </a:solidFill>
            <a:prstDash val="solid"/>
          </a:ln>
        </p:spPr>
      </p:sp>
      <p:sp>
        <p:nvSpPr>
          <p:cNvPr id="35" name="Text 33"/>
          <p:cNvSpPr txBox="1"/>
          <p:nvPr/>
        </p:nvSpPr>
        <p:spPr>
          <a:xfrm>
            <a:off x="62179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36" name="Text 34"/>
          <p:cNvSpPr txBox="1"/>
          <p:nvPr/>
        </p:nvSpPr>
        <p:spPr>
          <a:xfrm>
            <a:off x="150876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exactly is the hint? Isn't it the answer?</a:t>
            </a:r>
            <a:endParaRPr lang="en-US" sz="1400" dirty="0"/>
          </a:p>
        </p:txBody>
      </p:sp>
      <p:sp>
        <p:nvSpPr>
          <p:cNvPr id="37" name="page fact"/>
          <p:cNvSpPr/>
          <p:nvPr/>
        </p:nvSpPr>
        <p:spPr>
          <a:xfrm>
            <a:off x="5449824" y="3520440"/>
            <a:ext cx="438912" cy="310896"/>
          </a:xfrm>
          <a:prstGeom prst="roundRect">
            <a:avLst>
              <a:gd name="adj" fmla="val 23529"/>
            </a:avLst>
          </a:prstGeom>
          <a:solidFill>
            <a:srgbClr val="4472C4"/>
          </a:solidFill>
          <a:ln w="12700">
            <a:solidFill>
              <a:srgbClr val="4472C4"/>
            </a:solidFill>
            <a:prstDash val="solid"/>
          </a:ln>
        </p:spPr>
      </p:sp>
      <p:sp>
        <p:nvSpPr>
          <p:cNvPr id="38" name="Text 36"/>
          <p:cNvSpPr txBox="1"/>
          <p:nvPr/>
        </p:nvSpPr>
        <p:spPr>
          <a:xfrm>
            <a:off x="544982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14</a:t>
            </a:r>
            <a:endParaRPr lang="en-US" sz="1400" dirty="0"/>
          </a:p>
        </p:txBody>
      </p:sp>
      <p:sp>
        <p:nvSpPr>
          <p:cNvPr id="39" name="box "/>
          <p:cNvSpPr/>
          <p:nvPr/>
        </p:nvSpPr>
        <p:spPr>
          <a:xfrm>
            <a:off x="548640" y="3931920"/>
            <a:ext cx="5440680" cy="402336"/>
          </a:xfrm>
          <a:prstGeom prst="roundRect">
            <a:avLst>
              <a:gd name="adj" fmla="val 13636"/>
            </a:avLst>
          </a:prstGeom>
          <a:solidFill>
            <a:srgbClr val="F2F2F2"/>
          </a:solidFill>
          <a:ln w="9525">
            <a:solidFill>
              <a:srgbClr val="BFBFBF"/>
            </a:solidFill>
            <a:prstDash val="solid"/>
          </a:ln>
        </p:spPr>
      </p:sp>
      <p:sp>
        <p:nvSpPr>
          <p:cNvPr id="40" name="Text 38"/>
          <p:cNvSpPr txBox="1"/>
          <p:nvPr/>
        </p:nvSpPr>
        <p:spPr>
          <a:xfrm>
            <a:off x="62179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1" name="from slide 5"/>
          <p:cNvSpPr/>
          <p:nvPr/>
        </p:nvSpPr>
        <p:spPr>
          <a:xfrm>
            <a:off x="621792" y="3986784"/>
            <a:ext cx="777240" cy="292608"/>
          </a:xfrm>
          <a:prstGeom prst="roundRect">
            <a:avLst>
              <a:gd name="adj" fmla="val 18750"/>
            </a:avLst>
          </a:prstGeom>
          <a:solidFill>
            <a:srgbClr val="D9D9D9"/>
          </a:solidFill>
          <a:ln w="12700">
            <a:solidFill>
              <a:srgbClr val="D9D9D9"/>
            </a:solidFill>
            <a:prstDash val="solid"/>
          </a:ln>
        </p:spPr>
      </p:sp>
      <p:sp>
        <p:nvSpPr>
          <p:cNvPr id="42" name="Text 40"/>
          <p:cNvSpPr txBox="1"/>
          <p:nvPr/>
        </p:nvSpPr>
        <p:spPr>
          <a:xfrm>
            <a:off x="62179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43" name="Text 41"/>
          <p:cNvSpPr txBox="1"/>
          <p:nvPr/>
        </p:nvSpPr>
        <p:spPr>
          <a:xfrm>
            <a:off x="150876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Can retrieval (RAG) find the hint?</a:t>
            </a:r>
            <a:endParaRPr lang="en-US" sz="1400" dirty="0"/>
          </a:p>
        </p:txBody>
      </p:sp>
      <p:sp>
        <p:nvSpPr>
          <p:cNvPr id="44" name="page rag"/>
          <p:cNvSpPr/>
          <p:nvPr/>
        </p:nvSpPr>
        <p:spPr>
          <a:xfrm>
            <a:off x="5449824" y="3977640"/>
            <a:ext cx="438912" cy="310896"/>
          </a:xfrm>
          <a:prstGeom prst="roundRect">
            <a:avLst>
              <a:gd name="adj" fmla="val 23529"/>
            </a:avLst>
          </a:prstGeom>
          <a:solidFill>
            <a:srgbClr val="4472C4"/>
          </a:solidFill>
          <a:ln w="12700">
            <a:solidFill>
              <a:srgbClr val="4472C4"/>
            </a:solidFill>
            <a:prstDash val="solid"/>
          </a:ln>
        </p:spPr>
      </p:sp>
      <p:sp>
        <p:nvSpPr>
          <p:cNvPr id="45" name="Text 43"/>
          <p:cNvSpPr txBox="1"/>
          <p:nvPr/>
        </p:nvSpPr>
        <p:spPr>
          <a:xfrm>
            <a:off x="544982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15</a:t>
            </a:r>
            <a:endParaRPr lang="en-US" sz="1400" dirty="0"/>
          </a:p>
        </p:txBody>
      </p:sp>
      <p:sp>
        <p:nvSpPr>
          <p:cNvPr id="46" name="box "/>
          <p:cNvSpPr/>
          <p:nvPr/>
        </p:nvSpPr>
        <p:spPr>
          <a:xfrm>
            <a:off x="548640" y="4389120"/>
            <a:ext cx="5440680" cy="402336"/>
          </a:xfrm>
          <a:prstGeom prst="roundRect">
            <a:avLst>
              <a:gd name="adj" fmla="val 13636"/>
            </a:avLst>
          </a:prstGeom>
          <a:solidFill>
            <a:srgbClr val="F2F2F2"/>
          </a:solidFill>
          <a:ln w="9525">
            <a:solidFill>
              <a:srgbClr val="BFBFBF"/>
            </a:solidFill>
            <a:prstDash val="solid"/>
          </a:ln>
        </p:spPr>
      </p:sp>
      <p:sp>
        <p:nvSpPr>
          <p:cNvPr id="47" name="Text 45"/>
          <p:cNvSpPr txBox="1"/>
          <p:nvPr/>
        </p:nvSpPr>
        <p:spPr>
          <a:xfrm>
            <a:off x="62179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8" name="from slide 5"/>
          <p:cNvSpPr/>
          <p:nvPr/>
        </p:nvSpPr>
        <p:spPr>
          <a:xfrm>
            <a:off x="621792" y="4443984"/>
            <a:ext cx="777240" cy="292608"/>
          </a:xfrm>
          <a:prstGeom prst="roundRect">
            <a:avLst>
              <a:gd name="adj" fmla="val 18750"/>
            </a:avLst>
          </a:prstGeom>
          <a:solidFill>
            <a:srgbClr val="D9D9D9"/>
          </a:solidFill>
          <a:ln w="12700">
            <a:solidFill>
              <a:srgbClr val="D9D9D9"/>
            </a:solidFill>
            <a:prstDash val="solid"/>
          </a:ln>
        </p:spPr>
      </p:sp>
      <p:sp>
        <p:nvSpPr>
          <p:cNvPr id="49" name="Text 47"/>
          <p:cNvSpPr txBox="1"/>
          <p:nvPr/>
        </p:nvSpPr>
        <p:spPr>
          <a:xfrm>
            <a:off x="62179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0" name="Text 48"/>
          <p:cNvSpPr txBox="1"/>
          <p:nvPr/>
        </p:nvSpPr>
        <p:spPr>
          <a:xfrm>
            <a:off x="150876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can thinking make it worse?</a:t>
            </a:r>
            <a:endParaRPr lang="en-US" sz="1400" dirty="0"/>
          </a:p>
        </p:txBody>
      </p:sp>
      <p:sp>
        <p:nvSpPr>
          <p:cNvPr id="51" name="page think"/>
          <p:cNvSpPr/>
          <p:nvPr/>
        </p:nvSpPr>
        <p:spPr>
          <a:xfrm>
            <a:off x="5449824" y="4434840"/>
            <a:ext cx="438912" cy="310896"/>
          </a:xfrm>
          <a:prstGeom prst="roundRect">
            <a:avLst>
              <a:gd name="adj" fmla="val 23529"/>
            </a:avLst>
          </a:prstGeom>
          <a:solidFill>
            <a:srgbClr val="4472C4"/>
          </a:solidFill>
          <a:ln w="12700">
            <a:solidFill>
              <a:srgbClr val="4472C4"/>
            </a:solidFill>
            <a:prstDash val="solid"/>
          </a:ln>
        </p:spPr>
      </p:sp>
      <p:sp>
        <p:nvSpPr>
          <p:cNvPr id="52" name="Text 50"/>
          <p:cNvSpPr txBox="1"/>
          <p:nvPr/>
        </p:nvSpPr>
        <p:spPr>
          <a:xfrm>
            <a:off x="544982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16</a:t>
            </a:r>
            <a:endParaRPr lang="en-US" sz="1400" dirty="0"/>
          </a:p>
        </p:txBody>
      </p:sp>
      <p:sp>
        <p:nvSpPr>
          <p:cNvPr id="53" name="box "/>
          <p:cNvSpPr/>
          <p:nvPr/>
        </p:nvSpPr>
        <p:spPr>
          <a:xfrm>
            <a:off x="548640" y="4846320"/>
            <a:ext cx="5440680" cy="402336"/>
          </a:xfrm>
          <a:prstGeom prst="roundRect">
            <a:avLst>
              <a:gd name="adj" fmla="val 13636"/>
            </a:avLst>
          </a:prstGeom>
          <a:solidFill>
            <a:srgbClr val="F2F2F2"/>
          </a:solidFill>
          <a:ln w="9525">
            <a:solidFill>
              <a:srgbClr val="BFBFBF"/>
            </a:solidFill>
            <a:prstDash val="solid"/>
          </a:ln>
        </p:spPr>
      </p:sp>
      <p:sp>
        <p:nvSpPr>
          <p:cNvPr id="54" name="Text 52"/>
          <p:cNvSpPr txBox="1"/>
          <p:nvPr/>
        </p:nvSpPr>
        <p:spPr>
          <a:xfrm>
            <a:off x="62179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5" name="from slide 6"/>
          <p:cNvSpPr/>
          <p:nvPr/>
        </p:nvSpPr>
        <p:spPr>
          <a:xfrm>
            <a:off x="621792" y="4901184"/>
            <a:ext cx="777240" cy="292608"/>
          </a:xfrm>
          <a:prstGeom prst="roundRect">
            <a:avLst>
              <a:gd name="adj" fmla="val 18750"/>
            </a:avLst>
          </a:prstGeom>
          <a:solidFill>
            <a:srgbClr val="D9D9D9"/>
          </a:solidFill>
          <a:ln w="12700">
            <a:solidFill>
              <a:srgbClr val="D9D9D9"/>
            </a:solidFill>
            <a:prstDash val="solid"/>
          </a:ln>
        </p:spPr>
      </p:sp>
      <p:sp>
        <p:nvSpPr>
          <p:cNvPr id="56" name="Text 54"/>
          <p:cNvSpPr txBox="1"/>
          <p:nvPr/>
        </p:nvSpPr>
        <p:spPr>
          <a:xfrm>
            <a:off x="62179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57" name="Text 55"/>
          <p:cNvSpPr txBox="1"/>
          <p:nvPr/>
        </p:nvSpPr>
        <p:spPr>
          <a:xfrm>
            <a:off x="150876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a wrong program passes the check?</a:t>
            </a:r>
            <a:endParaRPr lang="en-US" sz="1400" dirty="0"/>
          </a:p>
        </p:txBody>
      </p:sp>
      <p:sp>
        <p:nvSpPr>
          <p:cNvPr id="58" name="page leak"/>
          <p:cNvSpPr/>
          <p:nvPr/>
        </p:nvSpPr>
        <p:spPr>
          <a:xfrm>
            <a:off x="5449824" y="4892040"/>
            <a:ext cx="438912" cy="310896"/>
          </a:xfrm>
          <a:prstGeom prst="roundRect">
            <a:avLst>
              <a:gd name="adj" fmla="val 23529"/>
            </a:avLst>
          </a:prstGeom>
          <a:solidFill>
            <a:srgbClr val="4472C4"/>
          </a:solidFill>
          <a:ln w="12700">
            <a:solidFill>
              <a:srgbClr val="4472C4"/>
            </a:solidFill>
            <a:prstDash val="solid"/>
          </a:ln>
        </p:spPr>
      </p:sp>
      <p:sp>
        <p:nvSpPr>
          <p:cNvPr id="59" name="Text 57"/>
          <p:cNvSpPr txBox="1"/>
          <p:nvPr/>
        </p:nvSpPr>
        <p:spPr>
          <a:xfrm>
            <a:off x="544982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17</a:t>
            </a:r>
            <a:endParaRPr lang="en-US" sz="1400" dirty="0"/>
          </a:p>
        </p:txBody>
      </p:sp>
      <p:sp>
        <p:nvSpPr>
          <p:cNvPr id="60" name="box "/>
          <p:cNvSpPr/>
          <p:nvPr/>
        </p:nvSpPr>
        <p:spPr>
          <a:xfrm>
            <a:off x="548640" y="5303520"/>
            <a:ext cx="5440680" cy="402336"/>
          </a:xfrm>
          <a:prstGeom prst="roundRect">
            <a:avLst>
              <a:gd name="adj" fmla="val 13636"/>
            </a:avLst>
          </a:prstGeom>
          <a:solidFill>
            <a:srgbClr val="F2F2F2"/>
          </a:solidFill>
          <a:ln w="9525">
            <a:solidFill>
              <a:srgbClr val="BFBFBF"/>
            </a:solidFill>
            <a:prstDash val="solid"/>
          </a:ln>
        </p:spPr>
      </p:sp>
      <p:sp>
        <p:nvSpPr>
          <p:cNvPr id="61" name="Text 59"/>
          <p:cNvSpPr txBox="1"/>
          <p:nvPr/>
        </p:nvSpPr>
        <p:spPr>
          <a:xfrm>
            <a:off x="62179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2" name="from slide 6"/>
          <p:cNvSpPr/>
          <p:nvPr/>
        </p:nvSpPr>
        <p:spPr>
          <a:xfrm>
            <a:off x="621792" y="5358384"/>
            <a:ext cx="777240" cy="292608"/>
          </a:xfrm>
          <a:prstGeom prst="roundRect">
            <a:avLst>
              <a:gd name="adj" fmla="val 18750"/>
            </a:avLst>
          </a:prstGeom>
          <a:solidFill>
            <a:srgbClr val="D9D9D9"/>
          </a:solidFill>
          <a:ln w="12700">
            <a:solidFill>
              <a:srgbClr val="D9D9D9"/>
            </a:solidFill>
            <a:prstDash val="solid"/>
          </a:ln>
        </p:spPr>
      </p:sp>
      <p:sp>
        <p:nvSpPr>
          <p:cNvPr id="63" name="Text 61"/>
          <p:cNvSpPr txBox="1"/>
          <p:nvPr/>
        </p:nvSpPr>
        <p:spPr>
          <a:xfrm>
            <a:off x="62179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64" name="Text 62"/>
          <p:cNvSpPr txBox="1"/>
          <p:nvPr/>
        </p:nvSpPr>
        <p:spPr>
          <a:xfrm>
            <a:off x="150876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there always a free check?</a:t>
            </a:r>
            <a:endParaRPr lang="en-US" sz="1400" dirty="0"/>
          </a:p>
        </p:txBody>
      </p:sp>
      <p:sp>
        <p:nvSpPr>
          <p:cNvPr id="65" name="page checks"/>
          <p:cNvSpPr/>
          <p:nvPr/>
        </p:nvSpPr>
        <p:spPr>
          <a:xfrm>
            <a:off x="5449824" y="5349240"/>
            <a:ext cx="438912" cy="310896"/>
          </a:xfrm>
          <a:prstGeom prst="roundRect">
            <a:avLst>
              <a:gd name="adj" fmla="val 23529"/>
            </a:avLst>
          </a:prstGeom>
          <a:solidFill>
            <a:srgbClr val="4472C4"/>
          </a:solidFill>
          <a:ln w="12700">
            <a:solidFill>
              <a:srgbClr val="4472C4"/>
            </a:solidFill>
            <a:prstDash val="solid"/>
          </a:ln>
        </p:spPr>
      </p:sp>
      <p:sp>
        <p:nvSpPr>
          <p:cNvPr id="66" name="Text 64"/>
          <p:cNvSpPr txBox="1"/>
          <p:nvPr/>
        </p:nvSpPr>
        <p:spPr>
          <a:xfrm>
            <a:off x="544982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18</a:t>
            </a:r>
            <a:endParaRPr lang="en-US" sz="1400" dirty="0"/>
          </a:p>
        </p:txBody>
      </p:sp>
      <p:sp>
        <p:nvSpPr>
          <p:cNvPr id="67" name="box "/>
          <p:cNvSpPr/>
          <p:nvPr/>
        </p:nvSpPr>
        <p:spPr>
          <a:xfrm>
            <a:off x="6172200" y="1645920"/>
            <a:ext cx="5440680" cy="402336"/>
          </a:xfrm>
          <a:prstGeom prst="roundRect">
            <a:avLst>
              <a:gd name="adj" fmla="val 13636"/>
            </a:avLst>
          </a:prstGeom>
          <a:solidFill>
            <a:srgbClr val="F2F2F2"/>
          </a:solidFill>
          <a:ln w="9525">
            <a:solidFill>
              <a:srgbClr val="BFBFBF"/>
            </a:solidFill>
            <a:prstDash val="solid"/>
          </a:ln>
        </p:spPr>
      </p:sp>
      <p:sp>
        <p:nvSpPr>
          <p:cNvPr id="68" name="Text 66"/>
          <p:cNvSpPr txBox="1"/>
          <p:nvPr/>
        </p:nvSpPr>
        <p:spPr>
          <a:xfrm>
            <a:off x="624535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9" name="from slide 7"/>
          <p:cNvSpPr/>
          <p:nvPr/>
        </p:nvSpPr>
        <p:spPr>
          <a:xfrm>
            <a:off x="6245352" y="1700784"/>
            <a:ext cx="777240" cy="292608"/>
          </a:xfrm>
          <a:prstGeom prst="roundRect">
            <a:avLst>
              <a:gd name="adj" fmla="val 18750"/>
            </a:avLst>
          </a:prstGeom>
          <a:solidFill>
            <a:srgbClr val="D9D9D9"/>
          </a:solidFill>
          <a:ln w="12700">
            <a:solidFill>
              <a:srgbClr val="D9D9D9"/>
            </a:solidFill>
            <a:prstDash val="solid"/>
          </a:ln>
        </p:spPr>
      </p:sp>
      <p:sp>
        <p:nvSpPr>
          <p:cNvPr id="70" name="Text 68"/>
          <p:cNvSpPr txBox="1"/>
          <p:nvPr/>
        </p:nvSpPr>
        <p:spPr>
          <a:xfrm>
            <a:off x="624535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71" name="Text 69"/>
          <p:cNvSpPr txBox="1"/>
          <p:nvPr/>
        </p:nvSpPr>
        <p:spPr>
          <a:xfrm>
            <a:off x="713232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Who writes the hint?</a:t>
            </a:r>
            <a:endParaRPr lang="en-US" sz="1400" dirty="0"/>
          </a:p>
        </p:txBody>
      </p:sp>
      <p:sp>
        <p:nvSpPr>
          <p:cNvPr id="72" name="page auto"/>
          <p:cNvSpPr/>
          <p:nvPr/>
        </p:nvSpPr>
        <p:spPr>
          <a:xfrm>
            <a:off x="11073384" y="1691640"/>
            <a:ext cx="438912" cy="310896"/>
          </a:xfrm>
          <a:prstGeom prst="roundRect">
            <a:avLst>
              <a:gd name="adj" fmla="val 23529"/>
            </a:avLst>
          </a:prstGeom>
          <a:solidFill>
            <a:srgbClr val="4472C4"/>
          </a:solidFill>
          <a:ln w="12700">
            <a:solidFill>
              <a:srgbClr val="4472C4"/>
            </a:solidFill>
            <a:prstDash val="solid"/>
          </a:ln>
        </p:spPr>
      </p:sp>
      <p:sp>
        <p:nvSpPr>
          <p:cNvPr id="73" name="Text 71"/>
          <p:cNvSpPr txBox="1"/>
          <p:nvPr/>
        </p:nvSpPr>
        <p:spPr>
          <a:xfrm>
            <a:off x="1107338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19</a:t>
            </a:r>
            <a:endParaRPr lang="en-US" sz="1400" dirty="0"/>
          </a:p>
        </p:txBody>
      </p:sp>
      <p:sp>
        <p:nvSpPr>
          <p:cNvPr id="74" name="box "/>
          <p:cNvSpPr/>
          <p:nvPr/>
        </p:nvSpPr>
        <p:spPr>
          <a:xfrm>
            <a:off x="6172200" y="2103120"/>
            <a:ext cx="5440680" cy="402336"/>
          </a:xfrm>
          <a:prstGeom prst="roundRect">
            <a:avLst>
              <a:gd name="adj" fmla="val 13636"/>
            </a:avLst>
          </a:prstGeom>
          <a:solidFill>
            <a:srgbClr val="F2F2F2"/>
          </a:solidFill>
          <a:ln w="9525">
            <a:solidFill>
              <a:srgbClr val="BFBFBF"/>
            </a:solidFill>
            <a:prstDash val="solid"/>
          </a:ln>
        </p:spPr>
      </p:sp>
      <p:sp>
        <p:nvSpPr>
          <p:cNvPr id="75" name="Text 73"/>
          <p:cNvSpPr txBox="1"/>
          <p:nvPr/>
        </p:nvSpPr>
        <p:spPr>
          <a:xfrm>
            <a:off x="624535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6" name="from slide 7"/>
          <p:cNvSpPr/>
          <p:nvPr/>
        </p:nvSpPr>
        <p:spPr>
          <a:xfrm>
            <a:off x="6245352" y="2157984"/>
            <a:ext cx="777240" cy="292608"/>
          </a:xfrm>
          <a:prstGeom prst="roundRect">
            <a:avLst>
              <a:gd name="adj" fmla="val 18750"/>
            </a:avLst>
          </a:prstGeom>
          <a:solidFill>
            <a:srgbClr val="D9D9D9"/>
          </a:solidFill>
          <a:ln w="12700">
            <a:solidFill>
              <a:srgbClr val="D9D9D9"/>
            </a:solidFill>
            <a:prstDash val="solid"/>
          </a:ln>
        </p:spPr>
      </p:sp>
      <p:sp>
        <p:nvSpPr>
          <p:cNvPr id="77" name="Text 75"/>
          <p:cNvSpPr txBox="1"/>
          <p:nvPr/>
        </p:nvSpPr>
        <p:spPr>
          <a:xfrm>
            <a:off x="624535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78" name="Text 76"/>
          <p:cNvSpPr txBox="1"/>
          <p:nvPr/>
        </p:nvSpPr>
        <p:spPr>
          <a:xfrm>
            <a:off x="713232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'think on the hardest' a weak baseline?</a:t>
            </a:r>
            <a:endParaRPr lang="en-US" sz="1400" dirty="0"/>
          </a:p>
        </p:txBody>
      </p:sp>
      <p:sp>
        <p:nvSpPr>
          <p:cNvPr id="79" name="page hard"/>
          <p:cNvSpPr/>
          <p:nvPr/>
        </p:nvSpPr>
        <p:spPr>
          <a:xfrm>
            <a:off x="11073384" y="2148840"/>
            <a:ext cx="438912" cy="310896"/>
          </a:xfrm>
          <a:prstGeom prst="roundRect">
            <a:avLst>
              <a:gd name="adj" fmla="val 23529"/>
            </a:avLst>
          </a:prstGeom>
          <a:solidFill>
            <a:srgbClr val="4472C4"/>
          </a:solidFill>
          <a:ln w="12700">
            <a:solidFill>
              <a:srgbClr val="4472C4"/>
            </a:solidFill>
            <a:prstDash val="solid"/>
          </a:ln>
        </p:spPr>
      </p:sp>
      <p:sp>
        <p:nvSpPr>
          <p:cNvPr id="80" name="Text 78"/>
          <p:cNvSpPr txBox="1"/>
          <p:nvPr/>
        </p:nvSpPr>
        <p:spPr>
          <a:xfrm>
            <a:off x="1107338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20</a:t>
            </a:r>
            <a:endParaRPr lang="en-US" sz="1400" dirty="0"/>
          </a:p>
        </p:txBody>
      </p:sp>
      <p:sp>
        <p:nvSpPr>
          <p:cNvPr id="81" name="box "/>
          <p:cNvSpPr/>
          <p:nvPr/>
        </p:nvSpPr>
        <p:spPr>
          <a:xfrm>
            <a:off x="6172200" y="2560320"/>
            <a:ext cx="5440680" cy="402336"/>
          </a:xfrm>
          <a:prstGeom prst="roundRect">
            <a:avLst>
              <a:gd name="adj" fmla="val 13636"/>
            </a:avLst>
          </a:prstGeom>
          <a:solidFill>
            <a:srgbClr val="F2F2F2"/>
          </a:solidFill>
          <a:ln w="9525">
            <a:solidFill>
              <a:srgbClr val="BFBFBF"/>
            </a:solidFill>
            <a:prstDash val="solid"/>
          </a:ln>
        </p:spPr>
      </p:sp>
      <p:sp>
        <p:nvSpPr>
          <p:cNvPr id="82" name="Text 80"/>
          <p:cNvSpPr txBox="1"/>
          <p:nvPr/>
        </p:nvSpPr>
        <p:spPr>
          <a:xfrm>
            <a:off x="624535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83" name="from slide 7"/>
          <p:cNvSpPr/>
          <p:nvPr/>
        </p:nvSpPr>
        <p:spPr>
          <a:xfrm>
            <a:off x="6245352" y="2615184"/>
            <a:ext cx="777240" cy="292608"/>
          </a:xfrm>
          <a:prstGeom prst="roundRect">
            <a:avLst>
              <a:gd name="adj" fmla="val 18750"/>
            </a:avLst>
          </a:prstGeom>
          <a:solidFill>
            <a:srgbClr val="D9D9D9"/>
          </a:solidFill>
          <a:ln w="12700">
            <a:solidFill>
              <a:srgbClr val="D9D9D9"/>
            </a:solidFill>
            <a:prstDash val="solid"/>
          </a:ln>
        </p:spPr>
      </p:sp>
      <p:sp>
        <p:nvSpPr>
          <p:cNvPr id="84" name="Text 82"/>
          <p:cNvSpPr txBox="1"/>
          <p:nvPr/>
        </p:nvSpPr>
        <p:spPr>
          <a:xfrm>
            <a:off x="624535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5" name="Text 83"/>
          <p:cNvSpPr txBox="1"/>
          <p:nvPr/>
        </p:nvSpPr>
        <p:spPr>
          <a:xfrm>
            <a:off x="713232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the same problem repeats?</a:t>
            </a:r>
            <a:endParaRPr lang="en-US" sz="1400" dirty="0"/>
          </a:p>
        </p:txBody>
      </p:sp>
      <p:sp>
        <p:nvSpPr>
          <p:cNvPr id="86" name="page reuse"/>
          <p:cNvSpPr/>
          <p:nvPr/>
        </p:nvSpPr>
        <p:spPr>
          <a:xfrm>
            <a:off x="11073384" y="2606040"/>
            <a:ext cx="438912" cy="310896"/>
          </a:xfrm>
          <a:prstGeom prst="roundRect">
            <a:avLst>
              <a:gd name="adj" fmla="val 23529"/>
            </a:avLst>
          </a:prstGeom>
          <a:solidFill>
            <a:srgbClr val="4472C4"/>
          </a:solidFill>
          <a:ln w="12700">
            <a:solidFill>
              <a:srgbClr val="4472C4"/>
            </a:solidFill>
            <a:prstDash val="solid"/>
          </a:ln>
        </p:spPr>
      </p:sp>
      <p:sp>
        <p:nvSpPr>
          <p:cNvPr id="87" name="Text 85"/>
          <p:cNvSpPr txBox="1"/>
          <p:nvPr/>
        </p:nvSpPr>
        <p:spPr>
          <a:xfrm>
            <a:off x="1107338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29</a:t>
            </a:r>
            <a:endParaRPr lang="en-US" sz="1400" dirty="0"/>
          </a:p>
        </p:txBody>
      </p:sp>
      <p:sp>
        <p:nvSpPr>
          <p:cNvPr id="88" name="box "/>
          <p:cNvSpPr/>
          <p:nvPr/>
        </p:nvSpPr>
        <p:spPr>
          <a:xfrm>
            <a:off x="6172200" y="3017520"/>
            <a:ext cx="5440680" cy="402336"/>
          </a:xfrm>
          <a:prstGeom prst="roundRect">
            <a:avLst>
              <a:gd name="adj" fmla="val 13636"/>
            </a:avLst>
          </a:prstGeom>
          <a:solidFill>
            <a:srgbClr val="F2F2F2"/>
          </a:solidFill>
          <a:ln w="9525">
            <a:solidFill>
              <a:srgbClr val="BFBFBF"/>
            </a:solidFill>
            <a:prstDash val="solid"/>
          </a:ln>
        </p:spPr>
      </p:sp>
      <p:sp>
        <p:nvSpPr>
          <p:cNvPr id="89" name="Text 87"/>
          <p:cNvSpPr txBox="1"/>
          <p:nvPr/>
        </p:nvSpPr>
        <p:spPr>
          <a:xfrm>
            <a:off x="624535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0" name="from slide 7"/>
          <p:cNvSpPr/>
          <p:nvPr/>
        </p:nvSpPr>
        <p:spPr>
          <a:xfrm>
            <a:off x="6245352" y="3072384"/>
            <a:ext cx="777240" cy="292608"/>
          </a:xfrm>
          <a:prstGeom prst="roundRect">
            <a:avLst>
              <a:gd name="adj" fmla="val 18750"/>
            </a:avLst>
          </a:prstGeom>
          <a:solidFill>
            <a:srgbClr val="D9D9D9"/>
          </a:solidFill>
          <a:ln w="12700">
            <a:solidFill>
              <a:srgbClr val="D9D9D9"/>
            </a:solidFill>
            <a:prstDash val="solid"/>
          </a:ln>
        </p:spPr>
      </p:sp>
      <p:sp>
        <p:nvSpPr>
          <p:cNvPr id="91" name="Text 89"/>
          <p:cNvSpPr txBox="1"/>
          <p:nvPr/>
        </p:nvSpPr>
        <p:spPr>
          <a:xfrm>
            <a:off x="624535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2" name="Text 90"/>
          <p:cNvSpPr txBox="1"/>
          <p:nvPr/>
        </p:nvSpPr>
        <p:spPr>
          <a:xfrm>
            <a:off x="713232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Where does the recipe stop?</a:t>
            </a:r>
            <a:endParaRPr lang="en-US" sz="1400" dirty="0"/>
          </a:p>
        </p:txBody>
      </p:sp>
      <p:sp>
        <p:nvSpPr>
          <p:cNvPr id="93" name="page limits"/>
          <p:cNvSpPr/>
          <p:nvPr/>
        </p:nvSpPr>
        <p:spPr>
          <a:xfrm>
            <a:off x="11073384" y="3063240"/>
            <a:ext cx="438912" cy="310896"/>
          </a:xfrm>
          <a:prstGeom prst="roundRect">
            <a:avLst>
              <a:gd name="adj" fmla="val 23529"/>
            </a:avLst>
          </a:prstGeom>
          <a:solidFill>
            <a:srgbClr val="4472C4"/>
          </a:solidFill>
          <a:ln w="12700">
            <a:solidFill>
              <a:srgbClr val="4472C4"/>
            </a:solidFill>
            <a:prstDash val="solid"/>
          </a:ln>
        </p:spPr>
      </p:sp>
      <p:sp>
        <p:nvSpPr>
          <p:cNvPr id="94" name="Text 92"/>
          <p:cNvSpPr txBox="1"/>
          <p:nvPr/>
        </p:nvSpPr>
        <p:spPr>
          <a:xfrm>
            <a:off x="1107338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28</a:t>
            </a:r>
            <a:endParaRPr lang="en-US" sz="1400" dirty="0"/>
          </a:p>
        </p:txBody>
      </p:sp>
      <p:sp>
        <p:nvSpPr>
          <p:cNvPr id="95" name="box "/>
          <p:cNvSpPr/>
          <p:nvPr/>
        </p:nvSpPr>
        <p:spPr>
          <a:xfrm>
            <a:off x="6172200" y="3474720"/>
            <a:ext cx="5440680" cy="402336"/>
          </a:xfrm>
          <a:prstGeom prst="roundRect">
            <a:avLst>
              <a:gd name="adj" fmla="val 13636"/>
            </a:avLst>
          </a:prstGeom>
          <a:solidFill>
            <a:srgbClr val="F2F2F2"/>
          </a:solidFill>
          <a:ln w="9525">
            <a:solidFill>
              <a:srgbClr val="BFBFBF"/>
            </a:solidFill>
            <a:prstDash val="solid"/>
          </a:ln>
        </p:spPr>
      </p:sp>
      <p:sp>
        <p:nvSpPr>
          <p:cNvPr id="96" name="Text 94"/>
          <p:cNvSpPr txBox="1"/>
          <p:nvPr/>
        </p:nvSpPr>
        <p:spPr>
          <a:xfrm>
            <a:off x="624535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7" name="from slide 8"/>
          <p:cNvSpPr/>
          <p:nvPr/>
        </p:nvSpPr>
        <p:spPr>
          <a:xfrm>
            <a:off x="6245352" y="3529584"/>
            <a:ext cx="777240" cy="292608"/>
          </a:xfrm>
          <a:prstGeom prst="roundRect">
            <a:avLst>
              <a:gd name="adj" fmla="val 18750"/>
            </a:avLst>
          </a:prstGeom>
          <a:solidFill>
            <a:srgbClr val="D9D9D9"/>
          </a:solidFill>
          <a:ln w="12700">
            <a:solidFill>
              <a:srgbClr val="D9D9D9"/>
            </a:solidFill>
            <a:prstDash val="solid"/>
          </a:ln>
        </p:spPr>
      </p:sp>
      <p:sp>
        <p:nvSpPr>
          <p:cNvPr id="98" name="Text 96"/>
          <p:cNvSpPr txBox="1"/>
          <p:nvPr/>
        </p:nvSpPr>
        <p:spPr>
          <a:xfrm>
            <a:off x="624535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99" name="Text 97"/>
          <p:cNvSpPr txBox="1"/>
          <p:nvPr/>
        </p:nvSpPr>
        <p:spPr>
          <a:xfrm>
            <a:off x="7132320" y="3474720"/>
            <a:ext cx="2880360" cy="402336"/>
          </a:xfrm>
          <a:prstGeom prst="rect">
            <a:avLst/>
          </a:prstGeom>
          <a:noFill/>
          <a:ln/>
        </p:spPr>
        <p:txBody>
          <a:bodyPr wrap="square" lIns="0" tIns="0" rIns="0" bIns="0" rtlCol="0" anchor="ctr"/>
          <a:lstStyle/>
          <a:p>
            <a:pPr indent="0" marL="0">
              <a:buNone/>
            </a:pPr>
            <a:r>
              <a:rPr lang="en-US" sz="1400" dirty="0">
                <a:solidFill>
                  <a:schemeClr val="tx1"/>
                </a:solidFill>
              </a:rPr>
              <a:t>What is new vs PAL and cascades?</a:t>
            </a:r>
            <a:endParaRPr lang="en-US" sz="1400" dirty="0"/>
          </a:p>
        </p:txBody>
      </p:sp>
      <p:sp>
        <p:nvSpPr>
          <p:cNvPr id="100" name="page published"/>
          <p:cNvSpPr/>
          <p:nvPr/>
        </p:nvSpPr>
        <p:spPr>
          <a:xfrm>
            <a:off x="10067544" y="3520440"/>
            <a:ext cx="438912" cy="310896"/>
          </a:xfrm>
          <a:prstGeom prst="roundRect">
            <a:avLst>
              <a:gd name="adj" fmla="val 23529"/>
            </a:avLst>
          </a:prstGeom>
          <a:solidFill>
            <a:srgbClr val="4472C4"/>
          </a:solidFill>
          <a:ln w="12700">
            <a:solidFill>
              <a:srgbClr val="4472C4"/>
            </a:solidFill>
            <a:prstDash val="solid"/>
          </a:ln>
        </p:spPr>
      </p:sp>
      <p:sp>
        <p:nvSpPr>
          <p:cNvPr id="101" name="Text 99"/>
          <p:cNvSpPr txBox="1"/>
          <p:nvPr/>
        </p:nvSpPr>
        <p:spPr>
          <a:xfrm>
            <a:off x="1006754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21</a:t>
            </a:r>
            <a:endParaRPr lang="en-US" sz="1400" dirty="0"/>
          </a:p>
        </p:txBody>
      </p:sp>
      <p:sp>
        <p:nvSpPr>
          <p:cNvPr id="102" name="page related"/>
          <p:cNvSpPr/>
          <p:nvPr/>
        </p:nvSpPr>
        <p:spPr>
          <a:xfrm>
            <a:off x="10570464" y="3520440"/>
            <a:ext cx="438912" cy="310896"/>
          </a:xfrm>
          <a:prstGeom prst="roundRect">
            <a:avLst>
              <a:gd name="adj" fmla="val 23529"/>
            </a:avLst>
          </a:prstGeom>
          <a:solidFill>
            <a:srgbClr val="4472C4"/>
          </a:solidFill>
          <a:ln w="12700">
            <a:solidFill>
              <a:srgbClr val="4472C4"/>
            </a:solidFill>
            <a:prstDash val="solid"/>
          </a:ln>
        </p:spPr>
      </p:sp>
      <p:sp>
        <p:nvSpPr>
          <p:cNvPr id="103" name="Text 101"/>
          <p:cNvSpPr txBox="1"/>
          <p:nvPr/>
        </p:nvSpPr>
        <p:spPr>
          <a:xfrm>
            <a:off x="1057046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22</a:t>
            </a:r>
            <a:endParaRPr lang="en-US" sz="1400" dirty="0"/>
          </a:p>
        </p:txBody>
      </p:sp>
      <p:sp>
        <p:nvSpPr>
          <p:cNvPr id="104" name="page reported"/>
          <p:cNvSpPr/>
          <p:nvPr/>
        </p:nvSpPr>
        <p:spPr>
          <a:xfrm>
            <a:off x="11073384" y="3520440"/>
            <a:ext cx="438912" cy="310896"/>
          </a:xfrm>
          <a:prstGeom prst="roundRect">
            <a:avLst>
              <a:gd name="adj" fmla="val 23529"/>
            </a:avLst>
          </a:prstGeom>
          <a:solidFill>
            <a:srgbClr val="4472C4"/>
          </a:solidFill>
          <a:ln w="12700">
            <a:solidFill>
              <a:srgbClr val="4472C4"/>
            </a:solidFill>
            <a:prstDash val="solid"/>
          </a:ln>
        </p:spPr>
      </p:sp>
      <p:sp>
        <p:nvSpPr>
          <p:cNvPr id="105" name="Text 103"/>
          <p:cNvSpPr txBox="1"/>
          <p:nvPr/>
        </p:nvSpPr>
        <p:spPr>
          <a:xfrm>
            <a:off x="1107338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23</a:t>
            </a:r>
            <a:endParaRPr lang="en-US" sz="1400" dirty="0"/>
          </a:p>
        </p:txBody>
      </p:sp>
      <p:sp>
        <p:nvSpPr>
          <p:cNvPr id="106" name="box "/>
          <p:cNvSpPr/>
          <p:nvPr/>
        </p:nvSpPr>
        <p:spPr>
          <a:xfrm>
            <a:off x="6172200" y="3931920"/>
            <a:ext cx="5440680" cy="402336"/>
          </a:xfrm>
          <a:prstGeom prst="roundRect">
            <a:avLst>
              <a:gd name="adj" fmla="val 13636"/>
            </a:avLst>
          </a:prstGeom>
          <a:solidFill>
            <a:srgbClr val="F2F2F2"/>
          </a:solidFill>
          <a:ln w="9525">
            <a:solidFill>
              <a:srgbClr val="BFBFBF"/>
            </a:solidFill>
            <a:prstDash val="solid"/>
          </a:ln>
        </p:spPr>
      </p:sp>
      <p:sp>
        <p:nvSpPr>
          <p:cNvPr id="107" name="Text 105"/>
          <p:cNvSpPr txBox="1"/>
          <p:nvPr/>
        </p:nvSpPr>
        <p:spPr>
          <a:xfrm>
            <a:off x="624535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08" name="from slide 8"/>
          <p:cNvSpPr/>
          <p:nvPr/>
        </p:nvSpPr>
        <p:spPr>
          <a:xfrm>
            <a:off x="6245352" y="3986784"/>
            <a:ext cx="777240" cy="292608"/>
          </a:xfrm>
          <a:prstGeom prst="roundRect">
            <a:avLst>
              <a:gd name="adj" fmla="val 18750"/>
            </a:avLst>
          </a:prstGeom>
          <a:solidFill>
            <a:srgbClr val="D9D9D9"/>
          </a:solidFill>
          <a:ln w="12700">
            <a:solidFill>
              <a:srgbClr val="D9D9D9"/>
            </a:solidFill>
            <a:prstDash val="solid"/>
          </a:ln>
        </p:spPr>
      </p:sp>
      <p:sp>
        <p:nvSpPr>
          <p:cNvPr id="109" name="Text 107"/>
          <p:cNvSpPr txBox="1"/>
          <p:nvPr/>
        </p:nvSpPr>
        <p:spPr>
          <a:xfrm>
            <a:off x="624535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0" name="Text 108"/>
          <p:cNvSpPr txBox="1"/>
          <p:nvPr/>
        </p:nvSpPr>
        <p:spPr>
          <a:xfrm>
            <a:off x="713232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not majority voting?</a:t>
            </a:r>
            <a:endParaRPr lang="en-US" sz="1400" dirty="0"/>
          </a:p>
        </p:txBody>
      </p:sp>
      <p:sp>
        <p:nvSpPr>
          <p:cNvPr id="111" name="page vote"/>
          <p:cNvSpPr/>
          <p:nvPr/>
        </p:nvSpPr>
        <p:spPr>
          <a:xfrm>
            <a:off x="11073384" y="3977640"/>
            <a:ext cx="438912" cy="310896"/>
          </a:xfrm>
          <a:prstGeom prst="roundRect">
            <a:avLst>
              <a:gd name="adj" fmla="val 23529"/>
            </a:avLst>
          </a:prstGeom>
          <a:solidFill>
            <a:srgbClr val="4472C4"/>
          </a:solidFill>
          <a:ln w="12700">
            <a:solidFill>
              <a:srgbClr val="4472C4"/>
            </a:solidFill>
            <a:prstDash val="solid"/>
          </a:ln>
        </p:spPr>
      </p:sp>
      <p:sp>
        <p:nvSpPr>
          <p:cNvPr id="112" name="Text 110"/>
          <p:cNvSpPr txBox="1"/>
          <p:nvPr/>
        </p:nvSpPr>
        <p:spPr>
          <a:xfrm>
            <a:off x="1107338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24</a:t>
            </a:r>
            <a:endParaRPr lang="en-US" sz="1400" dirty="0"/>
          </a:p>
        </p:txBody>
      </p:sp>
      <p:sp>
        <p:nvSpPr>
          <p:cNvPr id="113" name="box "/>
          <p:cNvSpPr/>
          <p:nvPr/>
        </p:nvSpPr>
        <p:spPr>
          <a:xfrm>
            <a:off x="6172200" y="4389120"/>
            <a:ext cx="5440680" cy="402336"/>
          </a:xfrm>
          <a:prstGeom prst="roundRect">
            <a:avLst>
              <a:gd name="adj" fmla="val 13636"/>
            </a:avLst>
          </a:prstGeom>
          <a:solidFill>
            <a:srgbClr val="F2F2F2"/>
          </a:solidFill>
          <a:ln w="9525">
            <a:solidFill>
              <a:srgbClr val="BFBFBF"/>
            </a:solidFill>
            <a:prstDash val="solid"/>
          </a:ln>
        </p:spPr>
      </p:sp>
      <p:sp>
        <p:nvSpPr>
          <p:cNvPr id="114" name="Text 112"/>
          <p:cNvSpPr txBox="1"/>
          <p:nvPr/>
        </p:nvSpPr>
        <p:spPr>
          <a:xfrm>
            <a:off x="624535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5" name="from slide 8"/>
          <p:cNvSpPr/>
          <p:nvPr/>
        </p:nvSpPr>
        <p:spPr>
          <a:xfrm>
            <a:off x="6245352" y="4443984"/>
            <a:ext cx="777240" cy="292608"/>
          </a:xfrm>
          <a:prstGeom prst="roundRect">
            <a:avLst>
              <a:gd name="adj" fmla="val 18750"/>
            </a:avLst>
          </a:prstGeom>
          <a:solidFill>
            <a:srgbClr val="D9D9D9"/>
          </a:solidFill>
          <a:ln w="12700">
            <a:solidFill>
              <a:srgbClr val="D9D9D9"/>
            </a:solidFill>
            <a:prstDash val="solid"/>
          </a:ln>
        </p:spPr>
      </p:sp>
      <p:sp>
        <p:nvSpPr>
          <p:cNvPr id="116" name="Text 114"/>
          <p:cNvSpPr txBox="1"/>
          <p:nvPr/>
        </p:nvSpPr>
        <p:spPr>
          <a:xfrm>
            <a:off x="624535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7" name="Text 115"/>
          <p:cNvSpPr txBox="1"/>
          <p:nvPr/>
        </p:nvSpPr>
        <p:spPr>
          <a:xfrm>
            <a:off x="7132320" y="4389120"/>
            <a:ext cx="3383280" cy="402336"/>
          </a:xfrm>
          <a:prstGeom prst="rect">
            <a:avLst/>
          </a:prstGeom>
          <a:noFill/>
          <a:ln/>
        </p:spPr>
        <p:txBody>
          <a:bodyPr wrap="square" lIns="0" tIns="0" rIns="0" bIns="0" rtlCol="0" anchor="ctr"/>
          <a:lstStyle/>
          <a:p>
            <a:pPr indent="0" marL="0">
              <a:buNone/>
            </a:pPr>
            <a:r>
              <a:rPr lang="en-US" sz="1400" dirty="0">
                <a:solidFill>
                  <a:schemeClr val="tx1"/>
                </a:solidFill>
              </a:rPr>
              <a:t>Is the comparison fair?</a:t>
            </a:r>
            <a:endParaRPr lang="en-US" sz="1400" dirty="0"/>
          </a:p>
        </p:txBody>
      </p:sp>
      <p:sp>
        <p:nvSpPr>
          <p:cNvPr id="118" name="page fair"/>
          <p:cNvSpPr/>
          <p:nvPr/>
        </p:nvSpPr>
        <p:spPr>
          <a:xfrm>
            <a:off x="10570464" y="4434840"/>
            <a:ext cx="438912" cy="310896"/>
          </a:xfrm>
          <a:prstGeom prst="roundRect">
            <a:avLst>
              <a:gd name="adj" fmla="val 23529"/>
            </a:avLst>
          </a:prstGeom>
          <a:solidFill>
            <a:srgbClr val="4472C4"/>
          </a:solidFill>
          <a:ln w="12700">
            <a:solidFill>
              <a:srgbClr val="4472C4"/>
            </a:solidFill>
            <a:prstDash val="solid"/>
          </a:ln>
        </p:spPr>
      </p:sp>
      <p:sp>
        <p:nvSpPr>
          <p:cNvPr id="119" name="Text 117"/>
          <p:cNvSpPr txBox="1"/>
          <p:nvPr/>
        </p:nvSpPr>
        <p:spPr>
          <a:xfrm>
            <a:off x="1057046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25</a:t>
            </a:r>
            <a:endParaRPr lang="en-US" sz="1400" dirty="0"/>
          </a:p>
        </p:txBody>
      </p:sp>
      <p:sp>
        <p:nvSpPr>
          <p:cNvPr id="120" name="page setup"/>
          <p:cNvSpPr/>
          <p:nvPr/>
        </p:nvSpPr>
        <p:spPr>
          <a:xfrm>
            <a:off x="11073384" y="4434840"/>
            <a:ext cx="438912" cy="310896"/>
          </a:xfrm>
          <a:prstGeom prst="roundRect">
            <a:avLst>
              <a:gd name="adj" fmla="val 23529"/>
            </a:avLst>
          </a:prstGeom>
          <a:solidFill>
            <a:srgbClr val="4472C4"/>
          </a:solidFill>
          <a:ln w="12700">
            <a:solidFill>
              <a:srgbClr val="4472C4"/>
            </a:solidFill>
            <a:prstDash val="solid"/>
          </a:ln>
        </p:spPr>
      </p:sp>
      <p:sp>
        <p:nvSpPr>
          <p:cNvPr id="121" name="Text 119"/>
          <p:cNvSpPr txBox="1"/>
          <p:nvPr/>
        </p:nvSpPr>
        <p:spPr>
          <a:xfrm>
            <a:off x="1107338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30</a:t>
            </a:r>
            <a:endParaRPr lang="en-US" sz="1400" dirty="0"/>
          </a:p>
        </p:txBody>
      </p:sp>
      <p:sp>
        <p:nvSpPr>
          <p:cNvPr id="122" name="box "/>
          <p:cNvSpPr/>
          <p:nvPr/>
        </p:nvSpPr>
        <p:spPr>
          <a:xfrm>
            <a:off x="6172200" y="4846320"/>
            <a:ext cx="5440680" cy="402336"/>
          </a:xfrm>
          <a:prstGeom prst="roundRect">
            <a:avLst>
              <a:gd name="adj" fmla="val 13636"/>
            </a:avLst>
          </a:prstGeom>
          <a:solidFill>
            <a:srgbClr val="F2F2F2"/>
          </a:solidFill>
          <a:ln w="9525">
            <a:solidFill>
              <a:srgbClr val="BFBFBF"/>
            </a:solidFill>
            <a:prstDash val="solid"/>
          </a:ln>
        </p:spPr>
      </p:sp>
      <p:sp>
        <p:nvSpPr>
          <p:cNvPr id="123" name="Text 121"/>
          <p:cNvSpPr txBox="1"/>
          <p:nvPr/>
        </p:nvSpPr>
        <p:spPr>
          <a:xfrm>
            <a:off x="624535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24" name="from slide 8"/>
          <p:cNvSpPr/>
          <p:nvPr/>
        </p:nvSpPr>
        <p:spPr>
          <a:xfrm>
            <a:off x="6245352" y="4901184"/>
            <a:ext cx="777240" cy="292608"/>
          </a:xfrm>
          <a:prstGeom prst="roundRect">
            <a:avLst>
              <a:gd name="adj" fmla="val 18750"/>
            </a:avLst>
          </a:prstGeom>
          <a:solidFill>
            <a:srgbClr val="D9D9D9"/>
          </a:solidFill>
          <a:ln w="12700">
            <a:solidFill>
              <a:srgbClr val="D9D9D9"/>
            </a:solidFill>
            <a:prstDash val="solid"/>
          </a:ln>
        </p:spPr>
      </p:sp>
      <p:sp>
        <p:nvSpPr>
          <p:cNvPr id="125" name="Text 123"/>
          <p:cNvSpPr txBox="1"/>
          <p:nvPr/>
        </p:nvSpPr>
        <p:spPr>
          <a:xfrm>
            <a:off x="624535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26" name="Text 124"/>
          <p:cNvSpPr txBox="1"/>
          <p:nvPr/>
        </p:nvSpPr>
        <p:spPr>
          <a:xfrm>
            <a:off x="713232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Does it hold for smaller models?</a:t>
            </a:r>
            <a:endParaRPr lang="en-US" sz="1400" dirty="0"/>
          </a:p>
        </p:txBody>
      </p:sp>
      <p:sp>
        <p:nvSpPr>
          <p:cNvPr id="127" name="page small"/>
          <p:cNvSpPr/>
          <p:nvPr/>
        </p:nvSpPr>
        <p:spPr>
          <a:xfrm>
            <a:off x="11073384" y="4892040"/>
            <a:ext cx="438912" cy="310896"/>
          </a:xfrm>
          <a:prstGeom prst="roundRect">
            <a:avLst>
              <a:gd name="adj" fmla="val 23529"/>
            </a:avLst>
          </a:prstGeom>
          <a:solidFill>
            <a:srgbClr val="4472C4"/>
          </a:solidFill>
          <a:ln w="12700">
            <a:solidFill>
              <a:srgbClr val="4472C4"/>
            </a:solidFill>
            <a:prstDash val="solid"/>
          </a:ln>
        </p:spPr>
      </p:sp>
      <p:sp>
        <p:nvSpPr>
          <p:cNvPr id="128" name="Text 126"/>
          <p:cNvSpPr txBox="1"/>
          <p:nvPr/>
        </p:nvSpPr>
        <p:spPr>
          <a:xfrm>
            <a:off x="1107338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26</a:t>
            </a:r>
            <a:endParaRPr lang="en-US" sz="1400" dirty="0"/>
          </a:p>
        </p:txBody>
      </p:sp>
      <p:sp>
        <p:nvSpPr>
          <p:cNvPr id="129" name="Text 12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Also: 27 all policies, cost vs accuracy</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check and think only (no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whole recipe is shown on geometry, routing and word problems; contest problems use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2026-10-19T14:41:11Z</dcterms:created>
  <dcterms:modified xsi:type="dcterms:W3CDTF">2026-10-19T14:41:11Z</dcterms:modified>
</cp:coreProperties>
</file>