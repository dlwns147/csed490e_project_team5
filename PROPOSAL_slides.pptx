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4.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c52e557a-031b-b634-1906-d56a308b9f11}">
          <p14:sldIdLst>
            <p14:sldId id="256"/>
            <p14:sldId id="257"/>
            <p14:sldId id="258"/>
            <p14:sldId id="259"/>
            <p14:sldId id="260"/>
            <p14:sldId id="261"/>
            <p14:sldId id="262"/>
            <p14:sldId id="263"/>
          </p14:sldIdLst>
        </p14:section>
        <p14:section name="Extra pages" id="{90bfc3ca-3763-af4f-2037-5b63ae2b8020}">
          <p14:sldIdLst>
            <p14:sldId id="264"/>
            <p14:sldId id="265"/>
            <p14:sldId id="266"/>
            <p14:sldId id="267"/>
            <p14:sldId id="268"/>
            <p14:sldId id="269"/>
            <p14:sldId id="270"/>
            <p14:sldId id="271"/>
            <p14:sldId id="272"/>
            <p14:sldId id="273"/>
            <p14:sldId id="274"/>
            <p14:sldId id="275"/>
            <p14:sldId id="276"/>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 Hello, we are Team 5. Our project: how to solve computational math with LLMs accurately and cheaply. The question is where the extra effort should go: a fact, a check, or more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An LLM can answer a math problem in words, write a program, call a solver library, or think longer first. For computation, programs win: asked for the area of the same shape moved and turned, Qwen3-8B answers 436, 2944, 392, 728 in words, but its program says 436 every time. Two things go wrong. Programs fail silently: the same model's hull program prints 6, or 0 when extra helper functions are in the prompt, with no error; and a quarter to a third of wrong programs pass the problem's own examples. And thinking is expensive: high effort uses 4.4 times the tokens for 9 more points. So: where should the extra effort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We test five kinds of computational math: exact geometry, real Codeforces contest problems, routing and scheduling benchmarks that need a solver library, optimization word problems, and competition math and proofs. Next to coding tests: the geometry tasks are like LeetCode easy to hard, but must be exact on moved copies; our contest problems have a median Codeforces rating of 2200, LeetCode Hard, and almost half are harder than any LeetCode problem; routing has no LeetCode equivalent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Finding one. Qwen3-32B writes route-planning code with OR-Tools. Given the whole manual, it calls a function that sounds right but does not exist, and the program crashes. Given five lines with the exact call, it finds the best route. Out of 100 routing problems: 23 with nothing extra, only 3 when it thinks longer, 7 with the whole manual, and 77 to 90 with five exact lines. Thinking cannot supply a fact the model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Finding two: thinking should be paid only when a free check fails. Check A uses the examples printed in every contest problem: 'Make a triangle!' passes them and is submitted; 'Arrow' fails one, so only it gets high effort. Same 66% as always thinking hard, 18% fewer tokens. Check B writes the program twice, with and without extra tools: if the answers differ, think. 99% vs 98%, with 27% fewer tokens. Neither check needs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Together this gives our method, shown on one real word problem. Without a fact, the program calls a method that does not exist. The fact is found automatically: the model's own earlier program for another problem that passed the check, showing the right call. With it, two versions both print 20000, they agree, so we skip thinking and accept: 0.6 thousand tokens instead of 5.3 thousand. A problem of the same kind with new data reuses the checked program. Over 624 problems and 3 models: 87% at 2.5 thousand tokens, versus 74% at 4.1 thousand for the usual idea of thinking more on the hardest-looking problems. And the automatic fact matches a hand-written one on a benchmark we never used before: 79 versus 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What is new, compared with the usual way. Usually more compute goes to hard-looking problems, or a model is trained to decide when to think; we think only when a free check fails, with no training: 87 versus 74%. Usually models get the manual, or a teacher's programs checked against answers; we give one fact, the model's own checked program, with no answers. And instead of fine-tuning a specialist, an untrained 8B model on one GPU gets the same 69.5%. Next: replicate on held-out data and run the closest baselines, find facts for every problem type, and release the report, code and recipe. Takeaway: give the missing fact first, and think only where a free check fails.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5-minute talk; 5 minutes of questions follow. Extra pages (slides 9-24): 9 Setup and fairness; 10 Contest problems on the LeetCode scale; 11 Two versions, in detail; 12 The examples check, in detail; 13 Facts without a human, in detail; 14 One fact helps small models most; 15 Reuse a checked program; 16 All policies, cost vs accuracy; 17 It pays off: small GPU, 30 labels; 18 Compared with published methods; 19 Related research map; 20 Numbers reported in papers; 21 Proofs need a specialized model; 22 Where the recipe stops; 23 All findings at a glance; 24 Words we use. Likely questions: why not GPT or Claude (open models only, cost and reproducibility); is the hand-written fact cheating (the automatic fact matches it); is the difference real (3 seeds, pre-registered); bigger model vs this recipe (small GPU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problems are: exact geometry from coordinates; real contest problems (CodeContests, Codeforces geometry, official hidden tests); routing and scheduling benchmarks (Solomon, OR-Library) that need a solver library and have no LeetCode equivalent; optimization word problems (NL4OPT, IndustryOR, MAMO); and competition math (MATH-500, AIME) and Lean proofs (miniF2F). LeetCode comparison is a rough community rule of thumb (Easy about Codeforces 800-1200, Medium 1200-1800, Hard 1800-2300). Our contest set: median rating 2200, 142 of 311 at 2400 or more (4 unrated not shown). gpt-oss-120b at high effort solves 89% of the easiest band and 48% of the 2400+ band; the generated geometry tasks resemble LeetCode 812 (Easy, triangle area) and 587 (Hard, convex hull) but must be exactly right on moved, turned and mirrored copies.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four ways to spend compute on the same 624 problems (Qwen3-8B, Qwen3-32B, Qwen3.6; same order on 3 seeds). Thinking on the hardest-looking problems, the compute-optimal scaling idea, gets 74% at 4.1k tokens; fact first and thinking only when the check fails gets 87% at 2.5k. Right: the fact needs no human (the model's own checked program for a similar problem: gpt-oss-20b 78.8% vs 78.9% hand-written on held-out MAMO); models that fit one 24 GB GPU match Qwen3-32B with the fact; 30 labelled problems choose the best policy for a new task (0.6 points from the best on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(624 problems);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whole manual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6.png"/><Relationship Id="rId8" Type="http://schemas.openxmlformats.org/officeDocument/2006/relationships/image" Target="../media/image-2-6.png"/><Relationship Id="rId9" Type="http://schemas.openxmlformats.org/officeDocument/2006/relationships/image" Target="../media/image-2-6.png"/><Relationship Id="rId10" Type="http://schemas.openxmlformats.org/officeDocument/2006/relationships/image" Target="../media/image-2-6.png"/><Relationship Id="rId11" Type="http://schemas.openxmlformats.org/officeDocument/2006/relationships/image" Target="../media/image-2-6.png"/><Relationship Id="rId12" Type="http://schemas.openxmlformats.org/officeDocument/2006/relationships/image" Target="../media/image-2-6.png"/><Relationship Id="rId13" Type="http://schemas.openxmlformats.org/officeDocument/2006/relationships/image" Target="../media/image-2-6.png"/><Relationship Id="rId14" Type="http://schemas.openxmlformats.org/officeDocument/2006/relationships/image" Target="../media/image-2-6.png"/><Relationship Id="rId15" Type="http://schemas.openxmlformats.org/officeDocument/2006/relationships/image" Target="../media/image-2-6.png"/><Relationship Id="rId16" Type="http://schemas.openxmlformats.org/officeDocument/2006/relationships/image" Target="../media/image-2-16.png"/><Relationship Id="rId17" Type="http://schemas.openxmlformats.org/officeDocument/2006/relationships/image" Target="../media/image-2-16.png"/><Relationship Id="rId18" Type="http://schemas.openxmlformats.org/officeDocument/2006/relationships/image" Target="../media/image-2-16.png"/><Relationship Id="rId19" Type="http://schemas.openxmlformats.org/officeDocument/2006/relationships/image" Target="../media/image-2-16.png"/><Relationship Id="rId20" Type="http://schemas.openxmlformats.org/officeDocument/2006/relationships/image" Target="../media/image-2-16.png"/><Relationship Id="rId21" Type="http://schemas.openxmlformats.org/officeDocument/2006/relationships/image" Target="../media/image-2-16.png"/><Relationship Id="rId22" Type="http://schemas.openxmlformats.org/officeDocument/2006/relationships/image" Target="../media/image-2-16.png"/><Relationship Id="rId23" Type="http://schemas.openxmlformats.org/officeDocument/2006/relationships/image" Target="../media/image-2-16.png"/><Relationship Id="rId24" Type="http://schemas.openxmlformats.org/officeDocument/2006/relationships/image" Target="../media/image-2-16.png"/><Relationship Id="rId25" Type="http://schemas.openxmlformats.org/officeDocument/2006/relationships/image" Target="../media/image-2-16.png"/><Relationship Id="rId26" Type="http://schemas.openxmlformats.org/officeDocument/2006/relationships/image" Target="../media/image-2-16.png"/><Relationship Id="rId27" Type="http://schemas.openxmlformats.org/officeDocument/2006/relationships/image" Target="../media/image-2-16.png"/><Relationship Id="rId28" Type="http://schemas.openxmlformats.org/officeDocument/2006/relationships/image" Target="../media/image-2-16.png"/><Relationship Id="rId29" Type="http://schemas.openxmlformats.org/officeDocument/2006/relationships/image" Target="../media/image-2-16.png"/><Relationship Id="rId30" Type="http://schemas.openxmlformats.org/officeDocument/2006/relationships/image" Target="../media/image-2-16.png"/><Relationship Id="rId31" Type="http://schemas.openxmlformats.org/officeDocument/2006/relationships/image" Target="../media/image-2-16.png"/><Relationship Id="rId32" Type="http://schemas.openxmlformats.org/officeDocument/2006/relationships/image" Target="../media/image-2-16.png"/><Relationship Id="rId33" Type="http://schemas.openxmlformats.org/officeDocument/2006/relationships/image" Target="../media/image-2-16.png"/><Relationship Id="rId34" Type="http://schemas.openxmlformats.org/officeDocument/2006/relationships/image" Target="../media/image-2-16.png"/><Relationship Id="rId35" Type="http://schemas.openxmlformats.org/officeDocument/2006/relationships/image" Target="../media/image-2-16.png"/><Relationship Id="rId36" Type="http://schemas.openxmlformats.org/officeDocument/2006/relationships/image" Target="../media/image-2-16.png"/><Relationship Id="rId37" Type="http://schemas.openxmlformats.org/officeDocument/2006/relationships/image" Target="../media/image-2-16.png"/><Relationship Id="rId38" Type="http://schemas.openxmlformats.org/officeDocument/2006/relationships/image" Target="../media/image-2-16.png"/><Relationship Id="rId39" Type="http://schemas.openxmlformats.org/officeDocument/2006/relationships/image" Target="../media/image-2-16.png"/><Relationship Id="rId40" Type="http://schemas.openxmlformats.org/officeDocument/2006/relationships/image" Target="../media/image-2-16.png"/><Relationship Id="rId41" Type="http://schemas.openxmlformats.org/officeDocument/2006/relationships/image" Target="../media/image-2-16.png"/><Relationship Id="rId42" Type="http://schemas.openxmlformats.org/officeDocument/2006/relationships/image" Target="../media/image-2-16.png"/><Relationship Id="rId43" Type="http://schemas.openxmlformats.org/officeDocument/2006/relationships/image" Target="../media/image-2-16.png"/><Relationship Id="rId44" Type="http://schemas.openxmlformats.org/officeDocument/2006/relationships/image" Target="../media/image-2-16.png"/><Relationship Id="rId45" Type="http://schemas.openxmlformats.org/officeDocument/2006/relationships/image" Target="../media/image-2-16.png"/><Relationship Id="rId46" Type="http://schemas.openxmlformats.org/officeDocument/2006/relationships/image" Target="../media/image-2-16.png"/><Relationship Id="rId47" Type="http://schemas.openxmlformats.org/officeDocument/2006/relationships/image" Target="../media/image-2-16.png"/><Relationship Id="rId48" Type="http://schemas.openxmlformats.org/officeDocument/2006/relationships/image" Target="../media/image-2-16.png"/><Relationship Id="rId49" Type="http://schemas.openxmlformats.org/officeDocument/2006/relationships/image" Target="../media/image-2-16.png"/><Relationship Id="rId50" Type="http://schemas.openxmlformats.org/officeDocument/2006/relationships/image" Target="../media/image-2-16.png"/><Relationship Id="rId51" Type="http://schemas.openxmlformats.org/officeDocument/2006/relationships/image" Target="../media/image-2-16.png"/><Relationship Id="rId52" Type="http://schemas.openxmlformats.org/officeDocument/2006/relationships/image" Target="../media/image-2-16.png"/><Relationship Id="rId53" Type="http://schemas.openxmlformats.org/officeDocument/2006/relationships/image" Target="../media/image-2-16.png"/><Relationship Id="rId54" Type="http://schemas.openxmlformats.org/officeDocument/2006/relationships/image" Target="../media/image-2-16.png"/><Relationship Id="rId55" Type="http://schemas.openxmlformats.org/officeDocument/2006/relationships/image" Target="../media/image-2-16.png"/><Relationship Id="rId56" Type="http://schemas.openxmlformats.org/officeDocument/2006/relationships/image" Target="../media/image-2-16.png"/><Relationship Id="rId57" Type="http://schemas.openxmlformats.org/officeDocument/2006/relationships/image" Target="../media/image-2-16.png"/><Relationship Id="rId58" Type="http://schemas.openxmlformats.org/officeDocument/2006/relationships/image" Target="../media/image-2-16.png"/><Relationship Id="rId59" Type="http://schemas.openxmlformats.org/officeDocument/2006/relationships/image" Target="../media/image-2-59.png"/><Relationship Id="rId60" Type="http://schemas.openxmlformats.org/officeDocument/2006/relationships/image" Target="../media/image-2-60.png"/><Relationship Id="rId61" Type="http://schemas.openxmlformats.org/officeDocument/2006/relationships/image" Target="../media/image-2-4.png"/><Relationship Id="rId62" Type="http://schemas.openxmlformats.org/officeDocument/2006/relationships/slideLayout" Target="../slideLayouts/slideLayout3.xml"/><Relationship Id="rId6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2.png"/><Relationship Id="rId8" Type="http://schemas.openxmlformats.org/officeDocument/2006/relationships/image" Target="../media/image-7-4.png"/><Relationship Id="rId9" Type="http://schemas.openxmlformats.org/officeDocument/2006/relationships/image" Target="../media/image-7-9.png"/><Relationship Id="rId10" Type="http://schemas.openxmlformats.org/officeDocument/2006/relationships/slideLayout" Target="../slideLayouts/slideLayout3.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3.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POSTECH CSED490E (Graduate NLP) · Team 5 · 5-minute proposal talk</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Programs help, but two things go wrong</a:t>
            </a:r>
            <a:endParaRPr lang="en-US" sz="3600" dirty="0"/>
          </a:p>
        </p:txBody>
      </p:sp>
      <p:sp>
        <p:nvSpPr>
          <p:cNvPr id="3" name="box "/>
          <p:cNvSpPr/>
          <p:nvPr/>
        </p:nvSpPr>
        <p:spPr>
          <a:xfrm>
            <a:off x="548640" y="1188720"/>
            <a:ext cx="2651760" cy="548640"/>
          </a:xfrm>
          <a:prstGeom prst="roundRect">
            <a:avLst>
              <a:gd name="adj" fmla="val 10000"/>
            </a:avLst>
          </a:prstGeom>
          <a:solidFill>
            <a:srgbClr val="F2F2F2"/>
          </a:solidFill>
          <a:ln w="9525">
            <a:solidFill>
              <a:srgbClr val="BFBFBF"/>
            </a:solidFill>
            <a:prstDash val="solid"/>
          </a:ln>
        </p:spPr>
      </p:sp>
      <p:sp>
        <p:nvSpPr>
          <p:cNvPr id="4" name="Text 2"/>
          <p:cNvSpPr txBox="1"/>
          <p:nvPr/>
        </p:nvSpPr>
        <p:spPr>
          <a:xfrm>
            <a:off x="62179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5" name="icon pen" descr="/NAS/SJ/POSTECH/nlp/figs/icons/pen.png">    </p:cNvPr>
          <p:cNvPicPr>
            <a:picLocks noChangeAspect="1"/>
          </p:cNvPicPr>
          <p:nvPr/>
        </p:nvPicPr>
        <p:blipFill>
          <a:blip r:embed="rId1"/>
          <a:stretch>
            <a:fillRect/>
          </a:stretch>
        </p:blipFill>
        <p:spPr>
          <a:xfrm>
            <a:off x="685800" y="1252728"/>
            <a:ext cx="420624" cy="420624"/>
          </a:xfrm>
          <a:prstGeom prst="rect">
            <a:avLst/>
          </a:prstGeom>
        </p:spPr>
      </p:pic>
      <p:sp>
        <p:nvSpPr>
          <p:cNvPr id="6" name="Text 3"/>
          <p:cNvSpPr txBox="1"/>
          <p:nvPr/>
        </p:nvSpPr>
        <p:spPr>
          <a:xfrm>
            <a:off x="123444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p:txBody>
      </p:sp>
      <p:sp>
        <p:nvSpPr>
          <p:cNvPr id="7" name="box "/>
          <p:cNvSpPr/>
          <p:nvPr/>
        </p:nvSpPr>
        <p:spPr>
          <a:xfrm>
            <a:off x="3337560" y="1188720"/>
            <a:ext cx="2651760" cy="548640"/>
          </a:xfrm>
          <a:prstGeom prst="roundRect">
            <a:avLst>
              <a:gd name="adj" fmla="val 10000"/>
            </a:avLst>
          </a:prstGeom>
          <a:solidFill>
            <a:srgbClr val="F2F2F2"/>
          </a:solidFill>
          <a:ln w="9525">
            <a:solidFill>
              <a:srgbClr val="BFBFBF"/>
            </a:solidFill>
            <a:prstDash val="solid"/>
          </a:ln>
        </p:spPr>
      </p:sp>
      <p:sp>
        <p:nvSpPr>
          <p:cNvPr id="8" name="Text 5"/>
          <p:cNvSpPr txBox="1"/>
          <p:nvPr/>
        </p:nvSpPr>
        <p:spPr>
          <a:xfrm>
            <a:off x="341071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9" name="icon code" descr="/NAS/SJ/POSTECH/nlp/figs/icons/code.png">    </p:cNvPr>
          <p:cNvPicPr>
            <a:picLocks noChangeAspect="1"/>
          </p:cNvPicPr>
          <p:nvPr/>
        </p:nvPicPr>
        <p:blipFill>
          <a:blip r:embed="rId2"/>
          <a:stretch>
            <a:fillRect/>
          </a:stretch>
        </p:blipFill>
        <p:spPr>
          <a:xfrm>
            <a:off x="3474720" y="1252728"/>
            <a:ext cx="420624" cy="420624"/>
          </a:xfrm>
          <a:prstGeom prst="rect">
            <a:avLst/>
          </a:prstGeom>
        </p:spPr>
      </p:pic>
      <p:sp>
        <p:nvSpPr>
          <p:cNvPr id="10" name="Text 6"/>
          <p:cNvSpPr txBox="1"/>
          <p:nvPr/>
        </p:nvSpPr>
        <p:spPr>
          <a:xfrm>
            <a:off x="402336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p:txBody>
      </p:sp>
      <p:sp>
        <p:nvSpPr>
          <p:cNvPr id="11" name="box "/>
          <p:cNvSpPr/>
          <p:nvPr/>
        </p:nvSpPr>
        <p:spPr>
          <a:xfrm>
            <a:off x="6126480" y="1188720"/>
            <a:ext cx="2651760" cy="548640"/>
          </a:xfrm>
          <a:prstGeom prst="roundRect">
            <a:avLst>
              <a:gd name="adj" fmla="val 10000"/>
            </a:avLst>
          </a:prstGeom>
          <a:solidFill>
            <a:srgbClr val="F2F2F2"/>
          </a:solidFill>
          <a:ln w="9525">
            <a:solidFill>
              <a:srgbClr val="BFBFBF"/>
            </a:solidFill>
            <a:prstDash val="solid"/>
          </a:ln>
        </p:spPr>
      </p:sp>
      <p:sp>
        <p:nvSpPr>
          <p:cNvPr id="12" name="Text 8"/>
          <p:cNvSpPr txBox="1"/>
          <p:nvPr/>
        </p:nvSpPr>
        <p:spPr>
          <a:xfrm>
            <a:off x="619963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13" name="icon gears" descr="/NAS/SJ/POSTECH/nlp/figs/icons/gears.png">    </p:cNvPr>
          <p:cNvPicPr>
            <a:picLocks noChangeAspect="1"/>
          </p:cNvPicPr>
          <p:nvPr/>
        </p:nvPicPr>
        <p:blipFill>
          <a:blip r:embed="rId3"/>
          <a:stretch>
            <a:fillRect/>
          </a:stretch>
        </p:blipFill>
        <p:spPr>
          <a:xfrm>
            <a:off x="6263640" y="1252728"/>
            <a:ext cx="420624" cy="420624"/>
          </a:xfrm>
          <a:prstGeom prst="rect">
            <a:avLst/>
          </a:prstGeom>
        </p:spPr>
      </p:pic>
      <p:sp>
        <p:nvSpPr>
          <p:cNvPr id="14" name="Text 9"/>
          <p:cNvSpPr txBox="1"/>
          <p:nvPr/>
        </p:nvSpPr>
        <p:spPr>
          <a:xfrm>
            <a:off x="681228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p:txBody>
      </p:sp>
      <p:sp>
        <p:nvSpPr>
          <p:cNvPr id="15" name="box "/>
          <p:cNvSpPr/>
          <p:nvPr/>
        </p:nvSpPr>
        <p:spPr>
          <a:xfrm>
            <a:off x="8915400" y="1188720"/>
            <a:ext cx="2651760" cy="548640"/>
          </a:xfrm>
          <a:prstGeom prst="roundRect">
            <a:avLst>
              <a:gd name="adj" fmla="val 10000"/>
            </a:avLst>
          </a:prstGeom>
          <a:solidFill>
            <a:srgbClr val="F2F2F2"/>
          </a:solidFill>
          <a:ln w="9525">
            <a:solidFill>
              <a:srgbClr val="BFBFBF"/>
            </a:solidFill>
            <a:prstDash val="solid"/>
          </a:ln>
        </p:spPr>
      </p:sp>
      <p:sp>
        <p:nvSpPr>
          <p:cNvPr id="16" name="Text 11"/>
          <p:cNvSpPr txBox="1"/>
          <p:nvPr/>
        </p:nvSpPr>
        <p:spPr>
          <a:xfrm>
            <a:off x="8988552" y="1188720"/>
            <a:ext cx="2505456" cy="548640"/>
          </a:xfrm>
          <a:prstGeom prst="rect">
            <a:avLst/>
          </a:prstGeom>
          <a:noFill/>
          <a:ln/>
        </p:spPr>
        <p:txBody>
          <a:bodyPr wrap="square" lIns="0" tIns="0" rIns="0" bIns="0" rtlCol="0" anchor="ctr"/>
          <a:lstStyle/>
          <a:p>
            <a:pPr algn="ctr" indent="0" marL="0">
              <a:buNone/>
            </a:pPr>
            <a:endParaRPr lang="en-US" sz="1500" dirty="0"/>
          </a:p>
        </p:txBody>
      </p:sp>
      <p:pic>
        <p:nvPicPr>
          <p:cNvPr id="17" name="icon brain" descr="/NAS/SJ/POSTECH/nlp/figs/icons/brain.png">    </p:cNvPr>
          <p:cNvPicPr>
            <a:picLocks noChangeAspect="1"/>
          </p:cNvPicPr>
          <p:nvPr/>
        </p:nvPicPr>
        <p:blipFill>
          <a:blip r:embed="rId4"/>
          <a:stretch>
            <a:fillRect/>
          </a:stretch>
        </p:blipFill>
        <p:spPr>
          <a:xfrm>
            <a:off x="9052560" y="1252728"/>
            <a:ext cx="420624" cy="420624"/>
          </a:xfrm>
          <a:prstGeom prst="rect">
            <a:avLst/>
          </a:prstGeom>
        </p:spPr>
      </p:pic>
      <p:sp>
        <p:nvSpPr>
          <p:cNvPr id="18" name="Text 12"/>
          <p:cNvSpPr txBox="1"/>
          <p:nvPr/>
        </p:nvSpPr>
        <p:spPr>
          <a:xfrm>
            <a:off x="9601200" y="1188720"/>
            <a:ext cx="1920240" cy="5486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p:txBody>
      </p:sp>
      <p:sp>
        <p:nvSpPr>
          <p:cNvPr id="19" name="pane Programs beat words"/>
          <p:cNvSpPr/>
          <p:nvPr/>
        </p:nvSpPr>
        <p:spPr>
          <a:xfrm>
            <a:off x="548640" y="1920240"/>
            <a:ext cx="3611880" cy="2788920"/>
          </a:xfrm>
          <a:prstGeom prst="roundRect">
            <a:avLst>
              <a:gd name="adj" fmla="val 2623"/>
            </a:avLst>
          </a:prstGeom>
          <a:solidFill>
            <a:srgbClr val="EEF3FB"/>
          </a:solidFill>
          <a:ln w="12700">
            <a:solidFill>
              <a:srgbClr val="4472C4"/>
            </a:solidFill>
            <a:prstDash val="solid"/>
          </a:ln>
        </p:spPr>
      </p:sp>
      <p:sp>
        <p:nvSpPr>
          <p:cNvPr id="20" name="Text 14"/>
          <p:cNvSpPr txBox="1"/>
          <p:nvPr/>
        </p:nvSpPr>
        <p:spPr>
          <a:xfrm>
            <a:off x="731520" y="1984248"/>
            <a:ext cx="3291840" cy="411480"/>
          </a:xfrm>
          <a:prstGeom prst="rect">
            <a:avLst/>
          </a:prstGeom>
          <a:noFill/>
          <a:ln/>
        </p:spPr>
        <p:txBody>
          <a:bodyPr wrap="square" lIns="0" tIns="0" rIns="0" bIns="0" rtlCol="0" anchor="ctr"/>
          <a:lstStyle/>
          <a:p>
            <a:pPr indent="0" marL="0">
              <a:buNone/>
            </a:pPr>
            <a:r>
              <a:rPr lang="en-US" sz="1800" b="1" dirty="0">
                <a:solidFill>
                  <a:srgbClr val="4472C4"/>
                </a:solidFill>
              </a:rPr>
              <a:t>Programs beat words</a:t>
            </a:r>
            <a:endParaRPr lang="en-US" sz="1800" dirty="0"/>
          </a:p>
        </p:txBody>
      </p:sp>
      <p:pic>
        <p:nvPicPr>
          <p:cNvPr id="21" name="four copies of one polygon" descr="one polygon: original, moved, turned, flipped">    </p:cNvPr>
          <p:cNvPicPr>
            <a:picLocks noChangeAspect="1"/>
          </p:cNvPicPr>
          <p:nvPr/>
        </p:nvPicPr>
        <p:blipFill>
          <a:blip r:embed="rId5"/>
          <a:stretch>
            <a:fillRect/>
          </a:stretch>
        </p:blipFill>
        <p:spPr>
          <a:xfrm>
            <a:off x="731520" y="2450592"/>
            <a:ext cx="3246120" cy="704088"/>
          </a:xfrm>
          <a:prstGeom prst="rect">
            <a:avLst/>
          </a:prstGeom>
        </p:spPr>
      </p:pic>
      <p:sp>
        <p:nvSpPr>
          <p:cNvPr id="22" name="Text 15"/>
          <p:cNvSpPr txBox="1"/>
          <p:nvPr/>
        </p:nvSpPr>
        <p:spPr>
          <a:xfrm>
            <a:off x="685800" y="3291840"/>
            <a:ext cx="777240" cy="384048"/>
          </a:xfrm>
          <a:prstGeom prst="rect">
            <a:avLst/>
          </a:prstGeom>
          <a:noFill/>
          <a:ln/>
        </p:spPr>
        <p:txBody>
          <a:bodyPr wrap="square" lIns="0" tIns="0" rIns="0" bIns="0" rtlCol="0" anchor="ctr"/>
          <a:lstStyle/>
          <a:p>
            <a:pPr indent="0" marL="0">
              <a:buNone/>
            </a:pPr>
            <a:r>
              <a:rPr lang="en-US" sz="1400" b="1" dirty="0">
                <a:solidFill>
                  <a:schemeClr val="tx1"/>
                </a:solidFill>
              </a:rPr>
              <a:t>words</a:t>
            </a:r>
            <a:endParaRPr lang="en-US" sz="1400" dirty="0"/>
          </a:p>
        </p:txBody>
      </p:sp>
      <p:sp>
        <p:nvSpPr>
          <p:cNvPr id="23" name="words 0"/>
          <p:cNvSpPr/>
          <p:nvPr/>
        </p:nvSpPr>
        <p:spPr>
          <a:xfrm>
            <a:off x="1463040" y="3291840"/>
            <a:ext cx="603504" cy="384048"/>
          </a:xfrm>
          <a:prstGeom prst="roundRect">
            <a:avLst>
              <a:gd name="adj" fmla="val 19048"/>
            </a:avLst>
          </a:prstGeom>
          <a:solidFill>
            <a:srgbClr val="E2F0D9"/>
          </a:solidFill>
          <a:ln w="9525">
            <a:solidFill>
              <a:srgbClr val="70AD47"/>
            </a:solidFill>
            <a:prstDash val="solid"/>
          </a:ln>
        </p:spPr>
      </p:sp>
      <p:sp>
        <p:nvSpPr>
          <p:cNvPr id="24" name="Text 17"/>
          <p:cNvSpPr txBox="1"/>
          <p:nvPr/>
        </p:nvSpPr>
        <p:spPr>
          <a:xfrm>
            <a:off x="1463040" y="329184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25" name="words 1"/>
          <p:cNvSpPr/>
          <p:nvPr/>
        </p:nvSpPr>
        <p:spPr>
          <a:xfrm>
            <a:off x="2121408" y="3291840"/>
            <a:ext cx="603504" cy="384048"/>
          </a:xfrm>
          <a:prstGeom prst="roundRect">
            <a:avLst>
              <a:gd name="adj" fmla="val 19048"/>
            </a:avLst>
          </a:prstGeom>
          <a:solidFill>
            <a:srgbClr val="FADBD8"/>
          </a:solidFill>
          <a:ln w="9525">
            <a:solidFill>
              <a:srgbClr val="C00000"/>
            </a:solidFill>
            <a:prstDash val="solid"/>
          </a:ln>
        </p:spPr>
      </p:sp>
      <p:sp>
        <p:nvSpPr>
          <p:cNvPr id="26" name="Text 19"/>
          <p:cNvSpPr txBox="1"/>
          <p:nvPr/>
        </p:nvSpPr>
        <p:spPr>
          <a:xfrm>
            <a:off x="2121408" y="3291840"/>
            <a:ext cx="603504" cy="384048"/>
          </a:xfrm>
          <a:prstGeom prst="rect">
            <a:avLst/>
          </a:prstGeom>
          <a:noFill/>
          <a:ln/>
        </p:spPr>
        <p:txBody>
          <a:bodyPr wrap="square" lIns="0" tIns="0" rIns="0" bIns="0" rtlCol="0" anchor="ctr"/>
          <a:lstStyle/>
          <a:p>
            <a:pPr algn="ctr" indent="0" marL="0">
              <a:buNone/>
            </a:pPr>
            <a:r>
              <a:rPr lang="en-US" sz="1400" b="1" dirty="0">
                <a:solidFill>
                  <a:srgbClr val="C00000"/>
                </a:solidFill>
              </a:rPr>
              <a:t>2944</a:t>
            </a:r>
            <a:endParaRPr lang="en-US" sz="1400" dirty="0"/>
          </a:p>
        </p:txBody>
      </p:sp>
      <p:sp>
        <p:nvSpPr>
          <p:cNvPr id="27" name="words 2"/>
          <p:cNvSpPr/>
          <p:nvPr/>
        </p:nvSpPr>
        <p:spPr>
          <a:xfrm>
            <a:off x="2779776" y="3291840"/>
            <a:ext cx="603504" cy="384048"/>
          </a:xfrm>
          <a:prstGeom prst="roundRect">
            <a:avLst>
              <a:gd name="adj" fmla="val 19048"/>
            </a:avLst>
          </a:prstGeom>
          <a:solidFill>
            <a:srgbClr val="FADBD8"/>
          </a:solidFill>
          <a:ln w="9525">
            <a:solidFill>
              <a:srgbClr val="C00000"/>
            </a:solidFill>
            <a:prstDash val="solid"/>
          </a:ln>
        </p:spPr>
      </p:sp>
      <p:sp>
        <p:nvSpPr>
          <p:cNvPr id="28" name="Text 21"/>
          <p:cNvSpPr txBox="1"/>
          <p:nvPr/>
        </p:nvSpPr>
        <p:spPr>
          <a:xfrm>
            <a:off x="2779776" y="3291840"/>
            <a:ext cx="603504" cy="384048"/>
          </a:xfrm>
          <a:prstGeom prst="rect">
            <a:avLst/>
          </a:prstGeom>
          <a:noFill/>
          <a:ln/>
        </p:spPr>
        <p:txBody>
          <a:bodyPr wrap="square" lIns="0" tIns="0" rIns="0" bIns="0" rtlCol="0" anchor="ctr"/>
          <a:lstStyle/>
          <a:p>
            <a:pPr algn="ctr" indent="0" marL="0">
              <a:buNone/>
            </a:pPr>
            <a:r>
              <a:rPr lang="en-US" sz="1400" b="1" dirty="0">
                <a:solidFill>
                  <a:srgbClr val="C00000"/>
                </a:solidFill>
              </a:rPr>
              <a:t>392</a:t>
            </a:r>
            <a:endParaRPr lang="en-US" sz="1400" dirty="0"/>
          </a:p>
        </p:txBody>
      </p:sp>
      <p:sp>
        <p:nvSpPr>
          <p:cNvPr id="29" name="words 3"/>
          <p:cNvSpPr/>
          <p:nvPr/>
        </p:nvSpPr>
        <p:spPr>
          <a:xfrm>
            <a:off x="3438144" y="3291840"/>
            <a:ext cx="603504" cy="384048"/>
          </a:xfrm>
          <a:prstGeom prst="roundRect">
            <a:avLst>
              <a:gd name="adj" fmla="val 19048"/>
            </a:avLst>
          </a:prstGeom>
          <a:solidFill>
            <a:srgbClr val="FADBD8"/>
          </a:solidFill>
          <a:ln w="9525">
            <a:solidFill>
              <a:srgbClr val="C00000"/>
            </a:solidFill>
            <a:prstDash val="solid"/>
          </a:ln>
        </p:spPr>
      </p:sp>
      <p:sp>
        <p:nvSpPr>
          <p:cNvPr id="30" name="Text 23"/>
          <p:cNvSpPr txBox="1"/>
          <p:nvPr/>
        </p:nvSpPr>
        <p:spPr>
          <a:xfrm>
            <a:off x="3438144" y="3291840"/>
            <a:ext cx="603504" cy="384048"/>
          </a:xfrm>
          <a:prstGeom prst="rect">
            <a:avLst/>
          </a:prstGeom>
          <a:noFill/>
          <a:ln/>
        </p:spPr>
        <p:txBody>
          <a:bodyPr wrap="square" lIns="0" tIns="0" rIns="0" bIns="0" rtlCol="0" anchor="ctr"/>
          <a:lstStyle/>
          <a:p>
            <a:pPr algn="ctr" indent="0" marL="0">
              <a:buNone/>
            </a:pPr>
            <a:r>
              <a:rPr lang="en-US" sz="1400" b="1" dirty="0">
                <a:solidFill>
                  <a:srgbClr val="C00000"/>
                </a:solidFill>
              </a:rPr>
              <a:t>728</a:t>
            </a:r>
            <a:endParaRPr lang="en-US" sz="1400" dirty="0"/>
          </a:p>
        </p:txBody>
      </p:sp>
      <p:sp>
        <p:nvSpPr>
          <p:cNvPr id="31" name="Text 24"/>
          <p:cNvSpPr txBox="1"/>
          <p:nvPr/>
        </p:nvSpPr>
        <p:spPr>
          <a:xfrm>
            <a:off x="685800" y="3794760"/>
            <a:ext cx="777240" cy="384048"/>
          </a:xfrm>
          <a:prstGeom prst="rect">
            <a:avLst/>
          </a:prstGeom>
          <a:noFill/>
          <a:ln/>
        </p:spPr>
        <p:txBody>
          <a:bodyPr wrap="square" lIns="0" tIns="0" rIns="0" bIns="0" rtlCol="0" anchor="ctr"/>
          <a:lstStyle/>
          <a:p>
            <a:pPr indent="0" marL="0">
              <a:buNone/>
            </a:pPr>
            <a:r>
              <a:rPr lang="en-US" sz="1400" b="1" dirty="0">
                <a:solidFill>
                  <a:schemeClr val="tx1"/>
                </a:solidFill>
              </a:rPr>
              <a:t>program</a:t>
            </a:r>
            <a:endParaRPr lang="en-US" sz="1400" dirty="0"/>
          </a:p>
        </p:txBody>
      </p:sp>
      <p:sp>
        <p:nvSpPr>
          <p:cNvPr id="32" name="program 0"/>
          <p:cNvSpPr/>
          <p:nvPr/>
        </p:nvSpPr>
        <p:spPr>
          <a:xfrm>
            <a:off x="1463040" y="3794760"/>
            <a:ext cx="603504" cy="384048"/>
          </a:xfrm>
          <a:prstGeom prst="roundRect">
            <a:avLst>
              <a:gd name="adj" fmla="val 19048"/>
            </a:avLst>
          </a:prstGeom>
          <a:solidFill>
            <a:srgbClr val="E2F0D9"/>
          </a:solidFill>
          <a:ln w="9525">
            <a:solidFill>
              <a:srgbClr val="70AD47"/>
            </a:solidFill>
            <a:prstDash val="solid"/>
          </a:ln>
        </p:spPr>
      </p:sp>
      <p:sp>
        <p:nvSpPr>
          <p:cNvPr id="33" name="Text 26"/>
          <p:cNvSpPr txBox="1"/>
          <p:nvPr/>
        </p:nvSpPr>
        <p:spPr>
          <a:xfrm>
            <a:off x="1463040"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34" name="program 1"/>
          <p:cNvSpPr/>
          <p:nvPr/>
        </p:nvSpPr>
        <p:spPr>
          <a:xfrm>
            <a:off x="2121408" y="3794760"/>
            <a:ext cx="603504" cy="384048"/>
          </a:xfrm>
          <a:prstGeom prst="roundRect">
            <a:avLst>
              <a:gd name="adj" fmla="val 19048"/>
            </a:avLst>
          </a:prstGeom>
          <a:solidFill>
            <a:srgbClr val="E2F0D9"/>
          </a:solidFill>
          <a:ln w="9525">
            <a:solidFill>
              <a:srgbClr val="70AD47"/>
            </a:solidFill>
            <a:prstDash val="solid"/>
          </a:ln>
        </p:spPr>
      </p:sp>
      <p:sp>
        <p:nvSpPr>
          <p:cNvPr id="35" name="Text 28"/>
          <p:cNvSpPr txBox="1"/>
          <p:nvPr/>
        </p:nvSpPr>
        <p:spPr>
          <a:xfrm>
            <a:off x="2121408"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36" name="program 2"/>
          <p:cNvSpPr/>
          <p:nvPr/>
        </p:nvSpPr>
        <p:spPr>
          <a:xfrm>
            <a:off x="2779776" y="3794760"/>
            <a:ext cx="603504" cy="384048"/>
          </a:xfrm>
          <a:prstGeom prst="roundRect">
            <a:avLst>
              <a:gd name="adj" fmla="val 19048"/>
            </a:avLst>
          </a:prstGeom>
          <a:solidFill>
            <a:srgbClr val="E2F0D9"/>
          </a:solidFill>
          <a:ln w="9525">
            <a:solidFill>
              <a:srgbClr val="70AD47"/>
            </a:solidFill>
            <a:prstDash val="solid"/>
          </a:ln>
        </p:spPr>
      </p:sp>
      <p:sp>
        <p:nvSpPr>
          <p:cNvPr id="37" name="Text 30"/>
          <p:cNvSpPr txBox="1"/>
          <p:nvPr/>
        </p:nvSpPr>
        <p:spPr>
          <a:xfrm>
            <a:off x="2779776"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38" name="program 3"/>
          <p:cNvSpPr/>
          <p:nvPr/>
        </p:nvSpPr>
        <p:spPr>
          <a:xfrm>
            <a:off x="3438144" y="3794760"/>
            <a:ext cx="603504" cy="384048"/>
          </a:xfrm>
          <a:prstGeom prst="roundRect">
            <a:avLst>
              <a:gd name="adj" fmla="val 19048"/>
            </a:avLst>
          </a:prstGeom>
          <a:solidFill>
            <a:srgbClr val="E2F0D9"/>
          </a:solidFill>
          <a:ln w="9525">
            <a:solidFill>
              <a:srgbClr val="70AD47"/>
            </a:solidFill>
            <a:prstDash val="solid"/>
          </a:ln>
        </p:spPr>
      </p:sp>
      <p:sp>
        <p:nvSpPr>
          <p:cNvPr id="39" name="Text 32"/>
          <p:cNvSpPr txBox="1"/>
          <p:nvPr/>
        </p:nvSpPr>
        <p:spPr>
          <a:xfrm>
            <a:off x="3438144" y="3794760"/>
            <a:ext cx="603504" cy="384048"/>
          </a:xfrm>
          <a:prstGeom prst="rect">
            <a:avLst/>
          </a:prstGeom>
          <a:noFill/>
          <a:ln/>
        </p:spPr>
        <p:txBody>
          <a:bodyPr wrap="square" lIns="0" tIns="0" rIns="0" bIns="0" rtlCol="0" anchor="ctr"/>
          <a:lstStyle/>
          <a:p>
            <a:pPr algn="ctr" indent="0" marL="0">
              <a:buNone/>
            </a:pPr>
            <a:r>
              <a:rPr lang="en-US" sz="1400" b="1" dirty="0">
                <a:solidFill>
                  <a:srgbClr val="38761D"/>
                </a:solidFill>
              </a:rPr>
              <a:t>436</a:t>
            </a:r>
            <a:endParaRPr lang="en-US" sz="1400" dirty="0"/>
          </a:p>
        </p:txBody>
      </p:sp>
      <p:sp>
        <p:nvSpPr>
          <p:cNvPr id="40" name="Text 33"/>
          <p:cNvSpPr txBox="1"/>
          <p:nvPr/>
        </p:nvSpPr>
        <p:spPr>
          <a:xfrm>
            <a:off x="685800" y="4224528"/>
            <a:ext cx="3383280" cy="365760"/>
          </a:xfrm>
          <a:prstGeom prst="rect">
            <a:avLst/>
          </a:prstGeom>
          <a:noFill/>
          <a:ln/>
        </p:spPr>
        <p:txBody>
          <a:bodyPr wrap="square" lIns="0" tIns="0" rIns="0" bIns="0" rtlCol="0" anchor="ctr"/>
          <a:lstStyle/>
          <a:p>
            <a:pPr indent="0" marL="0">
              <a:buNone/>
            </a:pPr>
            <a:r>
              <a:rPr lang="en-US" sz="1400" dirty="0">
                <a:solidFill>
                  <a:schemeClr val="tx2"/>
                </a:solidFill>
              </a:rPr>
              <a:t>the same shape, moved and turned (Qwen3-8B)</a:t>
            </a:r>
            <a:endParaRPr lang="en-US" sz="1400" dirty="0"/>
          </a:p>
        </p:txBody>
      </p:sp>
      <p:sp>
        <p:nvSpPr>
          <p:cNvPr id="41" name="pane 1. They fail silently"/>
          <p:cNvSpPr/>
          <p:nvPr/>
        </p:nvSpPr>
        <p:spPr>
          <a:xfrm>
            <a:off x="4297680" y="1920240"/>
            <a:ext cx="3611880" cy="2788920"/>
          </a:xfrm>
          <a:prstGeom prst="roundRect">
            <a:avLst>
              <a:gd name="adj" fmla="val 2623"/>
            </a:avLst>
          </a:prstGeom>
          <a:solidFill>
            <a:srgbClr val="FDF2F1"/>
          </a:solidFill>
          <a:ln w="12700">
            <a:solidFill>
              <a:srgbClr val="C00000"/>
            </a:solidFill>
            <a:prstDash val="solid"/>
          </a:ln>
        </p:spPr>
      </p:sp>
      <p:sp>
        <p:nvSpPr>
          <p:cNvPr id="42" name="Text 35"/>
          <p:cNvSpPr txBox="1"/>
          <p:nvPr/>
        </p:nvSpPr>
        <p:spPr>
          <a:xfrm>
            <a:off x="4480560" y="1984248"/>
            <a:ext cx="3291840" cy="411480"/>
          </a:xfrm>
          <a:prstGeom prst="rect">
            <a:avLst/>
          </a:prstGeom>
          <a:noFill/>
          <a:ln/>
        </p:spPr>
        <p:txBody>
          <a:bodyPr wrap="square" lIns="0" tIns="0" rIns="0" bIns="0" rtlCol="0" anchor="ctr"/>
          <a:lstStyle/>
          <a:p>
            <a:pPr indent="0" marL="0">
              <a:buNone/>
            </a:pPr>
            <a:r>
              <a:rPr lang="en-US" sz="1800" b="1" dirty="0">
                <a:solidFill>
                  <a:srgbClr val="C00000"/>
                </a:solidFill>
              </a:rPr>
              <a:t>1. They fail silently</a:t>
            </a:r>
            <a:endParaRPr lang="en-US" sz="1800" dirty="0"/>
          </a:p>
        </p:txBody>
      </p:sp>
      <p:sp>
        <p:nvSpPr>
          <p:cNvPr id="43" name="terminal"/>
          <p:cNvSpPr/>
          <p:nvPr/>
        </p:nvSpPr>
        <p:spPr>
          <a:xfrm>
            <a:off x="4434840" y="2468880"/>
            <a:ext cx="3337560" cy="1097280"/>
          </a:xfrm>
          <a:prstGeom prst="roundRect">
            <a:avLst>
              <a:gd name="adj" fmla="val 4167"/>
            </a:avLst>
          </a:prstGeom>
          <a:solidFill>
            <a:srgbClr val="262626"/>
          </a:solidFill>
          <a:ln w="12700">
            <a:solidFill>
              <a:srgbClr val="262626"/>
            </a:solidFill>
            <a:prstDash val="solid"/>
          </a:ln>
        </p:spPr>
      </p:sp>
      <p:sp>
        <p:nvSpPr>
          <p:cNvPr id="44" name="Text 37"/>
          <p:cNvSpPr txBox="1"/>
          <p:nvPr/>
        </p:nvSpPr>
        <p:spPr>
          <a:xfrm>
            <a:off x="4572000" y="2487168"/>
            <a:ext cx="3108960" cy="1060704"/>
          </a:xfrm>
          <a:prstGeom prst="rect">
            <a:avLst/>
          </a:prstGeom>
          <a:noFill/>
          <a:ln/>
        </p:spPr>
        <p:txBody>
          <a:bodyPr wrap="square" lIns="0" tIns="0" rIns="0" bIns="0" rtlCol="0" anchor="ctr"/>
          <a:lstStyle/>
          <a:p>
            <a:pPr indent="0" marL="0">
              <a:buNone/>
            </a:pPr>
            <a:r>
              <a:rPr lang="en-US" sz="1500" b="1" dirty="0">
                <a:solidFill>
                  <a:srgbClr val="8FD16A"/>
                </a:solidFill>
                <a:latin typeface="Courier New" pitchFamily="34" charset="0"/>
                <a:ea typeface="Courier New" pitchFamily="34" charset="-122"/>
                <a:cs typeface="Courier New" pitchFamily="34" charset="-120"/>
              </a:rPr>
              <a:t>task only     → 6</a:t>
            </a:r>
            <a:endParaRPr lang="en-US" sz="1500" dirty="0"/>
          </a:p>
          <a:p>
            <a:pPr indent="0" marL="0">
              <a:buNone/>
            </a:pPr>
            <a:r>
              <a:rPr lang="en-US" sz="1500" b="1" dirty="0">
                <a:solidFill>
                  <a:srgbClr val="FF7B7B"/>
                </a:solidFill>
                <a:latin typeface="Courier New" pitchFamily="34" charset="0"/>
                <a:ea typeface="Courier New" pitchFamily="34" charset="-122"/>
                <a:cs typeface="Courier New" pitchFamily="34" charset="-120"/>
              </a:rPr>
              <a:t>+ 8 helpers   → 0</a:t>
            </a:r>
            <a:endParaRPr lang="en-US" sz="1500" dirty="0"/>
          </a:p>
          <a:p>
            <a:pPr indent="0" marL="0">
              <a:buNone/>
            </a:pPr>
            <a:r>
              <a:rPr lang="en-US" sz="1500" dirty="0">
                <a:solidFill>
                  <a:srgbClr val="BFBFBF"/>
                </a:solidFill>
                <a:latin typeface="Courier New" pitchFamily="34" charset="0"/>
                <a:ea typeface="Courier New" pitchFamily="34" charset="-122"/>
                <a:cs typeface="Courier New" pitchFamily="34" charset="-120"/>
              </a:rPr>
              <a:t>(no error message)</a:t>
            </a:r>
            <a:endParaRPr lang="en-US" sz="1500" dirty="0"/>
          </a:p>
        </p:txBody>
      </p:sp>
      <p:sp>
        <p:nvSpPr>
          <p:cNvPr id="45" name="Text 38"/>
          <p:cNvSpPr txBox="1"/>
          <p:nvPr/>
        </p:nvSpPr>
        <p:spPr>
          <a:xfrm>
            <a:off x="4480560" y="3657600"/>
            <a:ext cx="3291840" cy="960120"/>
          </a:xfrm>
          <a:prstGeom prst="rect">
            <a:avLst/>
          </a:prstGeom>
          <a:noFill/>
          <a:ln/>
        </p:spPr>
        <p:txBody>
          <a:bodyPr wrap="square" lIns="0" tIns="0" rIns="0" bIns="0" rtlCol="0" anchor="t"/>
          <a:lstStyle/>
          <a:p>
            <a:pPr indent="0" marL="0">
              <a:buNone/>
            </a:pPr>
            <a:r>
              <a:rPr lang="en-US" sz="2200" b="1" dirty="0">
                <a:solidFill>
                  <a:srgbClr val="C00000"/>
                </a:solidFill>
              </a:rPr>
              <a:t>24–37%</a:t>
            </a:r>
            <a:pPr indent="0" marL="0">
              <a:buNone/>
            </a:pPr>
            <a:r>
              <a:rPr lang="en-US" sz="1400" dirty="0">
                <a:solidFill>
                  <a:schemeClr val="tx1"/>
                </a:solidFill>
              </a:rPr>
              <a:t> of wrong programs pass the problem's own examples</a:t>
            </a:r>
            <a:endParaRPr lang="en-US" sz="1400" dirty="0"/>
          </a:p>
        </p:txBody>
      </p:sp>
      <p:sp>
        <p:nvSpPr>
          <p:cNvPr id="46" name="pane 2. Thinking is expensive"/>
          <p:cNvSpPr/>
          <p:nvPr/>
        </p:nvSpPr>
        <p:spPr>
          <a:xfrm>
            <a:off x="8046720" y="1920240"/>
            <a:ext cx="3611880" cy="2788920"/>
          </a:xfrm>
          <a:prstGeom prst="roundRect">
            <a:avLst>
              <a:gd name="adj" fmla="val 2623"/>
            </a:avLst>
          </a:prstGeom>
          <a:solidFill>
            <a:srgbClr val="FDF0E6"/>
          </a:solidFill>
          <a:ln w="12700">
            <a:solidFill>
              <a:srgbClr val="ED7D31"/>
            </a:solidFill>
            <a:prstDash val="solid"/>
          </a:ln>
        </p:spPr>
      </p:sp>
      <p:sp>
        <p:nvSpPr>
          <p:cNvPr id="47" name="Text 40"/>
          <p:cNvSpPr txBox="1"/>
          <p:nvPr/>
        </p:nvSpPr>
        <p:spPr>
          <a:xfrm>
            <a:off x="8229600" y="1984248"/>
            <a:ext cx="3291840" cy="411480"/>
          </a:xfrm>
          <a:prstGeom prst="rect">
            <a:avLst/>
          </a:prstGeom>
          <a:noFill/>
          <a:ln/>
        </p:spPr>
        <p:txBody>
          <a:bodyPr wrap="square" lIns="0" tIns="0" rIns="0" bIns="0" rtlCol="0" anchor="ctr"/>
          <a:lstStyle/>
          <a:p>
            <a:pPr indent="0" marL="0">
              <a:buNone/>
            </a:pPr>
            <a:r>
              <a:rPr lang="en-US" sz="1800" b="1" dirty="0">
                <a:solidFill>
                  <a:srgbClr val="ED7D31"/>
                </a:solidFill>
              </a:rPr>
              <a:t>2. Thinking is expensive</a:t>
            </a:r>
            <a:endParaRPr lang="en-US" sz="1800" dirty="0"/>
          </a:p>
        </p:txBody>
      </p:sp>
      <p:sp>
        <p:nvSpPr>
          <p:cNvPr id="48" name="Text 41"/>
          <p:cNvSpPr txBox="1"/>
          <p:nvPr/>
        </p:nvSpPr>
        <p:spPr>
          <a:xfrm>
            <a:off x="8183880" y="2514600"/>
            <a:ext cx="1051560" cy="365760"/>
          </a:xfrm>
          <a:prstGeom prst="rect">
            <a:avLst/>
          </a:prstGeom>
          <a:noFill/>
          <a:ln/>
        </p:spPr>
        <p:txBody>
          <a:bodyPr wrap="square" lIns="0" tIns="0" rIns="0" bIns="0" rtlCol="0" anchor="ctr"/>
          <a:lstStyle/>
          <a:p>
            <a:pPr indent="0" marL="0">
              <a:buNone/>
            </a:pPr>
            <a:r>
              <a:rPr lang="en-US" sz="1400" b="1" dirty="0">
                <a:solidFill>
                  <a:schemeClr val="tx1"/>
                </a:solidFill>
              </a:rPr>
              <a:t>medium </a:t>
            </a:r>
            <a:pPr indent="0" marL="0">
              <a:buNone/>
            </a:pPr>
            <a:r>
              <a:rPr lang="en-US" sz="1400" dirty="0">
                <a:solidFill>
                  <a:schemeClr val="tx1"/>
                </a:solidFill>
              </a:rPr>
              <a:t>57%</a:t>
            </a:r>
            <a:endParaRPr lang="en-US" sz="1400" dirty="0"/>
          </a:p>
        </p:txBody>
      </p:sp>
      <p:pic>
        <p:nvPicPr>
          <p:cNvPr id="49" name="medium page 0" descr="/NAS/SJ/POSTECH/nlp/figs/icons/page.png">    </p:cNvPr>
          <p:cNvPicPr>
            <a:picLocks noChangeAspect="1"/>
          </p:cNvPicPr>
          <p:nvPr/>
        </p:nvPicPr>
        <p:blipFill>
          <a:blip r:embed="rId6"/>
          <a:stretch>
            <a:fillRect/>
          </a:stretch>
        </p:blipFill>
        <p:spPr>
          <a:xfrm>
            <a:off x="9235440" y="2542032"/>
            <a:ext cx="146304" cy="164592"/>
          </a:xfrm>
          <a:prstGeom prst="rect">
            <a:avLst/>
          </a:prstGeom>
        </p:spPr>
      </p:pic>
      <p:pic>
        <p:nvPicPr>
          <p:cNvPr id="50" name="medium page 1" descr="/NAS/SJ/POSTECH/nlp/figs/icons/page.png">    </p:cNvPr>
          <p:cNvPicPr>
            <a:picLocks noChangeAspect="1"/>
          </p:cNvPicPr>
          <p:nvPr/>
        </p:nvPicPr>
        <p:blipFill>
          <a:blip r:embed="rId7"/>
          <a:stretch>
            <a:fillRect/>
          </a:stretch>
        </p:blipFill>
        <p:spPr>
          <a:xfrm>
            <a:off x="9390888" y="2542032"/>
            <a:ext cx="146304" cy="164592"/>
          </a:xfrm>
          <a:prstGeom prst="rect">
            <a:avLst/>
          </a:prstGeom>
        </p:spPr>
      </p:pic>
      <p:pic>
        <p:nvPicPr>
          <p:cNvPr id="51" name="medium page 2" descr="/NAS/SJ/POSTECH/nlp/figs/icons/page.png">    </p:cNvPr>
          <p:cNvPicPr>
            <a:picLocks noChangeAspect="1"/>
          </p:cNvPicPr>
          <p:nvPr/>
        </p:nvPicPr>
        <p:blipFill>
          <a:blip r:embed="rId8"/>
          <a:stretch>
            <a:fillRect/>
          </a:stretch>
        </p:blipFill>
        <p:spPr>
          <a:xfrm>
            <a:off x="9546336" y="2542032"/>
            <a:ext cx="146304" cy="164592"/>
          </a:xfrm>
          <a:prstGeom prst="rect">
            <a:avLst/>
          </a:prstGeom>
        </p:spPr>
      </p:pic>
      <p:pic>
        <p:nvPicPr>
          <p:cNvPr id="52" name="medium page 3" descr="/NAS/SJ/POSTECH/nlp/figs/icons/page.png">    </p:cNvPr>
          <p:cNvPicPr>
            <a:picLocks noChangeAspect="1"/>
          </p:cNvPicPr>
          <p:nvPr/>
        </p:nvPicPr>
        <p:blipFill>
          <a:blip r:embed="rId9"/>
          <a:stretch>
            <a:fillRect/>
          </a:stretch>
        </p:blipFill>
        <p:spPr>
          <a:xfrm>
            <a:off x="9701784" y="2542032"/>
            <a:ext cx="146304" cy="164592"/>
          </a:xfrm>
          <a:prstGeom prst="rect">
            <a:avLst/>
          </a:prstGeom>
        </p:spPr>
      </p:pic>
      <p:pic>
        <p:nvPicPr>
          <p:cNvPr id="53" name="medium page 4" descr="/NAS/SJ/POSTECH/nlp/figs/icons/page.png">    </p:cNvPr>
          <p:cNvPicPr>
            <a:picLocks noChangeAspect="1"/>
          </p:cNvPicPr>
          <p:nvPr/>
        </p:nvPicPr>
        <p:blipFill>
          <a:blip r:embed="rId10"/>
          <a:stretch>
            <a:fillRect/>
          </a:stretch>
        </p:blipFill>
        <p:spPr>
          <a:xfrm>
            <a:off x="9857232" y="2542032"/>
            <a:ext cx="146304" cy="164592"/>
          </a:xfrm>
          <a:prstGeom prst="rect">
            <a:avLst/>
          </a:prstGeom>
        </p:spPr>
      </p:pic>
      <p:pic>
        <p:nvPicPr>
          <p:cNvPr id="54" name="medium page 5" descr="/NAS/SJ/POSTECH/nlp/figs/icons/page.png">    </p:cNvPr>
          <p:cNvPicPr>
            <a:picLocks noChangeAspect="1"/>
          </p:cNvPicPr>
          <p:nvPr/>
        </p:nvPicPr>
        <p:blipFill>
          <a:blip r:embed="rId11"/>
          <a:stretch>
            <a:fillRect/>
          </a:stretch>
        </p:blipFill>
        <p:spPr>
          <a:xfrm>
            <a:off x="10012680" y="2542032"/>
            <a:ext cx="146304" cy="164592"/>
          </a:xfrm>
          <a:prstGeom prst="rect">
            <a:avLst/>
          </a:prstGeom>
        </p:spPr>
      </p:pic>
      <p:pic>
        <p:nvPicPr>
          <p:cNvPr id="55" name="medium page 6" descr="/NAS/SJ/POSTECH/nlp/figs/icons/page.png">    </p:cNvPr>
          <p:cNvPicPr>
            <a:picLocks noChangeAspect="1"/>
          </p:cNvPicPr>
          <p:nvPr/>
        </p:nvPicPr>
        <p:blipFill>
          <a:blip r:embed="rId12"/>
          <a:stretch>
            <a:fillRect/>
          </a:stretch>
        </p:blipFill>
        <p:spPr>
          <a:xfrm>
            <a:off x="10168128" y="2542032"/>
            <a:ext cx="146304" cy="164592"/>
          </a:xfrm>
          <a:prstGeom prst="rect">
            <a:avLst/>
          </a:prstGeom>
        </p:spPr>
      </p:pic>
      <p:pic>
        <p:nvPicPr>
          <p:cNvPr id="56" name="medium page 7" descr="/NAS/SJ/POSTECH/nlp/figs/icons/page.png">    </p:cNvPr>
          <p:cNvPicPr>
            <a:picLocks noChangeAspect="1"/>
          </p:cNvPicPr>
          <p:nvPr/>
        </p:nvPicPr>
        <p:blipFill>
          <a:blip r:embed="rId13"/>
          <a:stretch>
            <a:fillRect/>
          </a:stretch>
        </p:blipFill>
        <p:spPr>
          <a:xfrm>
            <a:off x="10323576" y="2542032"/>
            <a:ext cx="146304" cy="164592"/>
          </a:xfrm>
          <a:prstGeom prst="rect">
            <a:avLst/>
          </a:prstGeom>
        </p:spPr>
      </p:pic>
      <p:pic>
        <p:nvPicPr>
          <p:cNvPr id="57" name="medium page 8" descr="/NAS/SJ/POSTECH/nlp/figs/icons/page.png">    </p:cNvPr>
          <p:cNvPicPr>
            <a:picLocks noChangeAspect="1"/>
          </p:cNvPicPr>
          <p:nvPr/>
        </p:nvPicPr>
        <p:blipFill>
          <a:blip r:embed="rId14"/>
          <a:stretch>
            <a:fillRect/>
          </a:stretch>
        </p:blipFill>
        <p:spPr>
          <a:xfrm>
            <a:off x="10479024" y="2542032"/>
            <a:ext cx="146304" cy="164592"/>
          </a:xfrm>
          <a:prstGeom prst="rect">
            <a:avLst/>
          </a:prstGeom>
        </p:spPr>
      </p:pic>
      <p:pic>
        <p:nvPicPr>
          <p:cNvPr id="58" name="medium page 9" descr="/NAS/SJ/POSTECH/nlp/figs/icons/page.png">    </p:cNvPr>
          <p:cNvPicPr>
            <a:picLocks noChangeAspect="1"/>
          </p:cNvPicPr>
          <p:nvPr/>
        </p:nvPicPr>
        <p:blipFill>
          <a:blip r:embed="rId15"/>
          <a:stretch>
            <a:fillRect/>
          </a:stretch>
        </p:blipFill>
        <p:spPr>
          <a:xfrm>
            <a:off x="10634472" y="2542032"/>
            <a:ext cx="146304" cy="164592"/>
          </a:xfrm>
          <a:prstGeom prst="rect">
            <a:avLst/>
          </a:prstGeom>
        </p:spPr>
      </p:pic>
      <p:sp>
        <p:nvSpPr>
          <p:cNvPr id="59" name="Text 42"/>
          <p:cNvSpPr txBox="1"/>
          <p:nvPr/>
        </p:nvSpPr>
        <p:spPr>
          <a:xfrm>
            <a:off x="8183880" y="2971800"/>
            <a:ext cx="1051560" cy="365760"/>
          </a:xfrm>
          <a:prstGeom prst="rect">
            <a:avLst/>
          </a:prstGeom>
          <a:noFill/>
          <a:ln/>
        </p:spPr>
        <p:txBody>
          <a:bodyPr wrap="square" lIns="0" tIns="0" rIns="0" bIns="0" rtlCol="0" anchor="ctr"/>
          <a:lstStyle/>
          <a:p>
            <a:pPr indent="0" marL="0">
              <a:buNone/>
            </a:pPr>
            <a:r>
              <a:rPr lang="en-US" sz="1400" b="1" dirty="0">
                <a:solidFill>
                  <a:schemeClr val="tx1"/>
                </a:solidFill>
              </a:rPr>
              <a:t>high </a:t>
            </a:r>
            <a:pPr indent="0" marL="0">
              <a:buNone/>
            </a:pPr>
            <a:r>
              <a:rPr lang="en-US" sz="1400" dirty="0">
                <a:solidFill>
                  <a:schemeClr val="tx1"/>
                </a:solidFill>
              </a:rPr>
              <a:t>66%</a:t>
            </a:r>
            <a:endParaRPr lang="en-US" sz="1400" dirty="0"/>
          </a:p>
        </p:txBody>
      </p:sp>
      <p:pic>
        <p:nvPicPr>
          <p:cNvPr id="60" name="high page 0" descr="/NAS/SJ/POSTECH/nlp/figs/icons/pagehot.png">    </p:cNvPr>
          <p:cNvPicPr>
            <a:picLocks noChangeAspect="1"/>
          </p:cNvPicPr>
          <p:nvPr/>
        </p:nvPicPr>
        <p:blipFill>
          <a:blip r:embed="rId16"/>
          <a:stretch>
            <a:fillRect/>
          </a:stretch>
        </p:blipFill>
        <p:spPr>
          <a:xfrm>
            <a:off x="9235440" y="2999232"/>
            <a:ext cx="146304" cy="164592"/>
          </a:xfrm>
          <a:prstGeom prst="rect">
            <a:avLst/>
          </a:prstGeom>
        </p:spPr>
      </p:pic>
      <p:pic>
        <p:nvPicPr>
          <p:cNvPr id="61" name="high page 1" descr="/NAS/SJ/POSTECH/nlp/figs/icons/pagehot.png">    </p:cNvPr>
          <p:cNvPicPr>
            <a:picLocks noChangeAspect="1"/>
          </p:cNvPicPr>
          <p:nvPr/>
        </p:nvPicPr>
        <p:blipFill>
          <a:blip r:embed="rId17"/>
          <a:stretch>
            <a:fillRect/>
          </a:stretch>
        </p:blipFill>
        <p:spPr>
          <a:xfrm>
            <a:off x="9390888" y="2999232"/>
            <a:ext cx="146304" cy="164592"/>
          </a:xfrm>
          <a:prstGeom prst="rect">
            <a:avLst/>
          </a:prstGeom>
        </p:spPr>
      </p:pic>
      <p:pic>
        <p:nvPicPr>
          <p:cNvPr id="62" name="high page 2" descr="/NAS/SJ/POSTECH/nlp/figs/icons/pagehot.png">    </p:cNvPr>
          <p:cNvPicPr>
            <a:picLocks noChangeAspect="1"/>
          </p:cNvPicPr>
          <p:nvPr/>
        </p:nvPicPr>
        <p:blipFill>
          <a:blip r:embed="rId18"/>
          <a:stretch>
            <a:fillRect/>
          </a:stretch>
        </p:blipFill>
        <p:spPr>
          <a:xfrm>
            <a:off x="9546336" y="2999232"/>
            <a:ext cx="146304" cy="164592"/>
          </a:xfrm>
          <a:prstGeom prst="rect">
            <a:avLst/>
          </a:prstGeom>
        </p:spPr>
      </p:pic>
      <p:pic>
        <p:nvPicPr>
          <p:cNvPr id="63" name="high page 3" descr="/NAS/SJ/POSTECH/nlp/figs/icons/pagehot.png">    </p:cNvPr>
          <p:cNvPicPr>
            <a:picLocks noChangeAspect="1"/>
          </p:cNvPicPr>
          <p:nvPr/>
        </p:nvPicPr>
        <p:blipFill>
          <a:blip r:embed="rId19"/>
          <a:stretch>
            <a:fillRect/>
          </a:stretch>
        </p:blipFill>
        <p:spPr>
          <a:xfrm>
            <a:off x="9701784" y="2999232"/>
            <a:ext cx="146304" cy="164592"/>
          </a:xfrm>
          <a:prstGeom prst="rect">
            <a:avLst/>
          </a:prstGeom>
        </p:spPr>
      </p:pic>
      <p:pic>
        <p:nvPicPr>
          <p:cNvPr id="64" name="high page 4" descr="/NAS/SJ/POSTECH/nlp/figs/icons/pagehot.png">    </p:cNvPr>
          <p:cNvPicPr>
            <a:picLocks noChangeAspect="1"/>
          </p:cNvPicPr>
          <p:nvPr/>
        </p:nvPicPr>
        <p:blipFill>
          <a:blip r:embed="rId20"/>
          <a:stretch>
            <a:fillRect/>
          </a:stretch>
        </p:blipFill>
        <p:spPr>
          <a:xfrm>
            <a:off x="9857232" y="2999232"/>
            <a:ext cx="146304" cy="164592"/>
          </a:xfrm>
          <a:prstGeom prst="rect">
            <a:avLst/>
          </a:prstGeom>
        </p:spPr>
      </p:pic>
      <p:pic>
        <p:nvPicPr>
          <p:cNvPr id="65" name="high page 5" descr="/NAS/SJ/POSTECH/nlp/figs/icons/pagehot.png">    </p:cNvPr>
          <p:cNvPicPr>
            <a:picLocks noChangeAspect="1"/>
          </p:cNvPicPr>
          <p:nvPr/>
        </p:nvPicPr>
        <p:blipFill>
          <a:blip r:embed="rId21"/>
          <a:stretch>
            <a:fillRect/>
          </a:stretch>
        </p:blipFill>
        <p:spPr>
          <a:xfrm>
            <a:off x="10012680" y="2999232"/>
            <a:ext cx="146304" cy="164592"/>
          </a:xfrm>
          <a:prstGeom prst="rect">
            <a:avLst/>
          </a:prstGeom>
        </p:spPr>
      </p:pic>
      <p:pic>
        <p:nvPicPr>
          <p:cNvPr id="66" name="high page 6" descr="/NAS/SJ/POSTECH/nlp/figs/icons/pagehot.png">    </p:cNvPr>
          <p:cNvPicPr>
            <a:picLocks noChangeAspect="1"/>
          </p:cNvPicPr>
          <p:nvPr/>
        </p:nvPicPr>
        <p:blipFill>
          <a:blip r:embed="rId22"/>
          <a:stretch>
            <a:fillRect/>
          </a:stretch>
        </p:blipFill>
        <p:spPr>
          <a:xfrm>
            <a:off x="10168128" y="2999232"/>
            <a:ext cx="146304" cy="164592"/>
          </a:xfrm>
          <a:prstGeom prst="rect">
            <a:avLst/>
          </a:prstGeom>
        </p:spPr>
      </p:pic>
      <p:pic>
        <p:nvPicPr>
          <p:cNvPr id="67" name="high page 7" descr="/NAS/SJ/POSTECH/nlp/figs/icons/pagehot.png">    </p:cNvPr>
          <p:cNvPicPr>
            <a:picLocks noChangeAspect="1"/>
          </p:cNvPicPr>
          <p:nvPr/>
        </p:nvPicPr>
        <p:blipFill>
          <a:blip r:embed="rId23"/>
          <a:stretch>
            <a:fillRect/>
          </a:stretch>
        </p:blipFill>
        <p:spPr>
          <a:xfrm>
            <a:off x="10323576" y="2999232"/>
            <a:ext cx="146304" cy="164592"/>
          </a:xfrm>
          <a:prstGeom prst="rect">
            <a:avLst/>
          </a:prstGeom>
        </p:spPr>
      </p:pic>
      <p:pic>
        <p:nvPicPr>
          <p:cNvPr id="68" name="high page 8" descr="/NAS/SJ/POSTECH/nlp/figs/icons/pagehot.png">    </p:cNvPr>
          <p:cNvPicPr>
            <a:picLocks noChangeAspect="1"/>
          </p:cNvPicPr>
          <p:nvPr/>
        </p:nvPicPr>
        <p:blipFill>
          <a:blip r:embed="rId24"/>
          <a:stretch>
            <a:fillRect/>
          </a:stretch>
        </p:blipFill>
        <p:spPr>
          <a:xfrm>
            <a:off x="10479024" y="2999232"/>
            <a:ext cx="146304" cy="164592"/>
          </a:xfrm>
          <a:prstGeom prst="rect">
            <a:avLst/>
          </a:prstGeom>
        </p:spPr>
      </p:pic>
      <p:pic>
        <p:nvPicPr>
          <p:cNvPr id="69" name="high page 9" descr="/NAS/SJ/POSTECH/nlp/figs/icons/pagehot.png">    </p:cNvPr>
          <p:cNvPicPr>
            <a:picLocks noChangeAspect="1"/>
          </p:cNvPicPr>
          <p:nvPr/>
        </p:nvPicPr>
        <p:blipFill>
          <a:blip r:embed="rId25"/>
          <a:stretch>
            <a:fillRect/>
          </a:stretch>
        </p:blipFill>
        <p:spPr>
          <a:xfrm>
            <a:off x="10634472" y="2999232"/>
            <a:ext cx="146304" cy="164592"/>
          </a:xfrm>
          <a:prstGeom prst="rect">
            <a:avLst/>
          </a:prstGeom>
        </p:spPr>
      </p:pic>
      <p:pic>
        <p:nvPicPr>
          <p:cNvPr id="70" name="high page 10" descr="/NAS/SJ/POSTECH/nlp/figs/icons/pagehot.png">    </p:cNvPr>
          <p:cNvPicPr>
            <a:picLocks noChangeAspect="1"/>
          </p:cNvPicPr>
          <p:nvPr/>
        </p:nvPicPr>
        <p:blipFill>
          <a:blip r:embed="rId26"/>
          <a:stretch>
            <a:fillRect/>
          </a:stretch>
        </p:blipFill>
        <p:spPr>
          <a:xfrm>
            <a:off x="10789920" y="2999232"/>
            <a:ext cx="146304" cy="164592"/>
          </a:xfrm>
          <a:prstGeom prst="rect">
            <a:avLst/>
          </a:prstGeom>
        </p:spPr>
      </p:pic>
      <p:pic>
        <p:nvPicPr>
          <p:cNvPr id="71" name="high page 11" descr="/NAS/SJ/POSTECH/nlp/figs/icons/pagehot.png">    </p:cNvPr>
          <p:cNvPicPr>
            <a:picLocks noChangeAspect="1"/>
          </p:cNvPicPr>
          <p:nvPr/>
        </p:nvPicPr>
        <p:blipFill>
          <a:blip r:embed="rId27"/>
          <a:stretch>
            <a:fillRect/>
          </a:stretch>
        </p:blipFill>
        <p:spPr>
          <a:xfrm>
            <a:off x="10945368" y="2999232"/>
            <a:ext cx="146304" cy="164592"/>
          </a:xfrm>
          <a:prstGeom prst="rect">
            <a:avLst/>
          </a:prstGeom>
        </p:spPr>
      </p:pic>
      <p:pic>
        <p:nvPicPr>
          <p:cNvPr id="72" name="high page 12" descr="/NAS/SJ/POSTECH/nlp/figs/icons/pagehot.png">    </p:cNvPr>
          <p:cNvPicPr>
            <a:picLocks noChangeAspect="1"/>
          </p:cNvPicPr>
          <p:nvPr/>
        </p:nvPicPr>
        <p:blipFill>
          <a:blip r:embed="rId28"/>
          <a:stretch>
            <a:fillRect/>
          </a:stretch>
        </p:blipFill>
        <p:spPr>
          <a:xfrm>
            <a:off x="11100816" y="2999232"/>
            <a:ext cx="146304" cy="164592"/>
          </a:xfrm>
          <a:prstGeom prst="rect">
            <a:avLst/>
          </a:prstGeom>
        </p:spPr>
      </p:pic>
      <p:pic>
        <p:nvPicPr>
          <p:cNvPr id="73" name="high page 13" descr="/NAS/SJ/POSTECH/nlp/figs/icons/pagehot.png">    </p:cNvPr>
          <p:cNvPicPr>
            <a:picLocks noChangeAspect="1"/>
          </p:cNvPicPr>
          <p:nvPr/>
        </p:nvPicPr>
        <p:blipFill>
          <a:blip r:embed="rId29"/>
          <a:stretch>
            <a:fillRect/>
          </a:stretch>
        </p:blipFill>
        <p:spPr>
          <a:xfrm>
            <a:off x="11256264" y="2999232"/>
            <a:ext cx="146304" cy="164592"/>
          </a:xfrm>
          <a:prstGeom prst="rect">
            <a:avLst/>
          </a:prstGeom>
        </p:spPr>
      </p:pic>
      <p:pic>
        <p:nvPicPr>
          <p:cNvPr id="74" name="high page 14" descr="/NAS/SJ/POSTECH/nlp/figs/icons/pagehot.png">    </p:cNvPr>
          <p:cNvPicPr>
            <a:picLocks noChangeAspect="1"/>
          </p:cNvPicPr>
          <p:nvPr/>
        </p:nvPicPr>
        <p:blipFill>
          <a:blip r:embed="rId30"/>
          <a:stretch>
            <a:fillRect/>
          </a:stretch>
        </p:blipFill>
        <p:spPr>
          <a:xfrm>
            <a:off x="11411712" y="2999232"/>
            <a:ext cx="146304" cy="164592"/>
          </a:xfrm>
          <a:prstGeom prst="rect">
            <a:avLst/>
          </a:prstGeom>
        </p:spPr>
      </p:pic>
      <p:pic>
        <p:nvPicPr>
          <p:cNvPr id="75" name="high page 15" descr="/NAS/SJ/POSTECH/nlp/figs/icons/pagehot.png">    </p:cNvPr>
          <p:cNvPicPr>
            <a:picLocks noChangeAspect="1"/>
          </p:cNvPicPr>
          <p:nvPr/>
        </p:nvPicPr>
        <p:blipFill>
          <a:blip r:embed="rId31"/>
          <a:stretch>
            <a:fillRect/>
          </a:stretch>
        </p:blipFill>
        <p:spPr>
          <a:xfrm>
            <a:off x="9235440" y="3182112"/>
            <a:ext cx="146304" cy="164592"/>
          </a:xfrm>
          <a:prstGeom prst="rect">
            <a:avLst/>
          </a:prstGeom>
        </p:spPr>
      </p:pic>
      <p:pic>
        <p:nvPicPr>
          <p:cNvPr id="76" name="high page 16" descr="/NAS/SJ/POSTECH/nlp/figs/icons/pagehot.png">    </p:cNvPr>
          <p:cNvPicPr>
            <a:picLocks noChangeAspect="1"/>
          </p:cNvPicPr>
          <p:nvPr/>
        </p:nvPicPr>
        <p:blipFill>
          <a:blip r:embed="rId32"/>
          <a:stretch>
            <a:fillRect/>
          </a:stretch>
        </p:blipFill>
        <p:spPr>
          <a:xfrm>
            <a:off x="9390888" y="3182112"/>
            <a:ext cx="146304" cy="164592"/>
          </a:xfrm>
          <a:prstGeom prst="rect">
            <a:avLst/>
          </a:prstGeom>
        </p:spPr>
      </p:pic>
      <p:pic>
        <p:nvPicPr>
          <p:cNvPr id="77" name="high page 17" descr="/NAS/SJ/POSTECH/nlp/figs/icons/pagehot.png">    </p:cNvPr>
          <p:cNvPicPr>
            <a:picLocks noChangeAspect="1"/>
          </p:cNvPicPr>
          <p:nvPr/>
        </p:nvPicPr>
        <p:blipFill>
          <a:blip r:embed="rId33"/>
          <a:stretch>
            <a:fillRect/>
          </a:stretch>
        </p:blipFill>
        <p:spPr>
          <a:xfrm>
            <a:off x="9546336" y="3182112"/>
            <a:ext cx="146304" cy="164592"/>
          </a:xfrm>
          <a:prstGeom prst="rect">
            <a:avLst/>
          </a:prstGeom>
        </p:spPr>
      </p:pic>
      <p:pic>
        <p:nvPicPr>
          <p:cNvPr id="78" name="high page 18" descr="/NAS/SJ/POSTECH/nlp/figs/icons/pagehot.png">    </p:cNvPr>
          <p:cNvPicPr>
            <a:picLocks noChangeAspect="1"/>
          </p:cNvPicPr>
          <p:nvPr/>
        </p:nvPicPr>
        <p:blipFill>
          <a:blip r:embed="rId34"/>
          <a:stretch>
            <a:fillRect/>
          </a:stretch>
        </p:blipFill>
        <p:spPr>
          <a:xfrm>
            <a:off x="9701784" y="3182112"/>
            <a:ext cx="146304" cy="164592"/>
          </a:xfrm>
          <a:prstGeom prst="rect">
            <a:avLst/>
          </a:prstGeom>
        </p:spPr>
      </p:pic>
      <p:pic>
        <p:nvPicPr>
          <p:cNvPr id="79" name="high page 19" descr="/NAS/SJ/POSTECH/nlp/figs/icons/pagehot.png">    </p:cNvPr>
          <p:cNvPicPr>
            <a:picLocks noChangeAspect="1"/>
          </p:cNvPicPr>
          <p:nvPr/>
        </p:nvPicPr>
        <p:blipFill>
          <a:blip r:embed="rId35"/>
          <a:stretch>
            <a:fillRect/>
          </a:stretch>
        </p:blipFill>
        <p:spPr>
          <a:xfrm>
            <a:off x="9857232" y="3182112"/>
            <a:ext cx="146304" cy="164592"/>
          </a:xfrm>
          <a:prstGeom prst="rect">
            <a:avLst/>
          </a:prstGeom>
        </p:spPr>
      </p:pic>
      <p:pic>
        <p:nvPicPr>
          <p:cNvPr id="80" name="high page 20" descr="/NAS/SJ/POSTECH/nlp/figs/icons/pagehot.png">    </p:cNvPr>
          <p:cNvPicPr>
            <a:picLocks noChangeAspect="1"/>
          </p:cNvPicPr>
          <p:nvPr/>
        </p:nvPicPr>
        <p:blipFill>
          <a:blip r:embed="rId36"/>
          <a:stretch>
            <a:fillRect/>
          </a:stretch>
        </p:blipFill>
        <p:spPr>
          <a:xfrm>
            <a:off x="10012680" y="3182112"/>
            <a:ext cx="146304" cy="164592"/>
          </a:xfrm>
          <a:prstGeom prst="rect">
            <a:avLst/>
          </a:prstGeom>
        </p:spPr>
      </p:pic>
      <p:pic>
        <p:nvPicPr>
          <p:cNvPr id="81" name="high page 21" descr="/NAS/SJ/POSTECH/nlp/figs/icons/pagehot.png">    </p:cNvPr>
          <p:cNvPicPr>
            <a:picLocks noChangeAspect="1"/>
          </p:cNvPicPr>
          <p:nvPr/>
        </p:nvPicPr>
        <p:blipFill>
          <a:blip r:embed="rId37"/>
          <a:stretch>
            <a:fillRect/>
          </a:stretch>
        </p:blipFill>
        <p:spPr>
          <a:xfrm>
            <a:off x="10168128" y="3182112"/>
            <a:ext cx="146304" cy="164592"/>
          </a:xfrm>
          <a:prstGeom prst="rect">
            <a:avLst/>
          </a:prstGeom>
        </p:spPr>
      </p:pic>
      <p:pic>
        <p:nvPicPr>
          <p:cNvPr id="82" name="high page 22" descr="/NAS/SJ/POSTECH/nlp/figs/icons/pagehot.png">    </p:cNvPr>
          <p:cNvPicPr>
            <a:picLocks noChangeAspect="1"/>
          </p:cNvPicPr>
          <p:nvPr/>
        </p:nvPicPr>
        <p:blipFill>
          <a:blip r:embed="rId38"/>
          <a:stretch>
            <a:fillRect/>
          </a:stretch>
        </p:blipFill>
        <p:spPr>
          <a:xfrm>
            <a:off x="10323576" y="3182112"/>
            <a:ext cx="146304" cy="164592"/>
          </a:xfrm>
          <a:prstGeom prst="rect">
            <a:avLst/>
          </a:prstGeom>
        </p:spPr>
      </p:pic>
      <p:pic>
        <p:nvPicPr>
          <p:cNvPr id="83" name="high page 23" descr="/NAS/SJ/POSTECH/nlp/figs/icons/pagehot.png">    </p:cNvPr>
          <p:cNvPicPr>
            <a:picLocks noChangeAspect="1"/>
          </p:cNvPicPr>
          <p:nvPr/>
        </p:nvPicPr>
        <p:blipFill>
          <a:blip r:embed="rId39"/>
          <a:stretch>
            <a:fillRect/>
          </a:stretch>
        </p:blipFill>
        <p:spPr>
          <a:xfrm>
            <a:off x="10479024" y="3182112"/>
            <a:ext cx="146304" cy="164592"/>
          </a:xfrm>
          <a:prstGeom prst="rect">
            <a:avLst/>
          </a:prstGeom>
        </p:spPr>
      </p:pic>
      <p:pic>
        <p:nvPicPr>
          <p:cNvPr id="84" name="high page 24" descr="/NAS/SJ/POSTECH/nlp/figs/icons/pagehot.png">    </p:cNvPr>
          <p:cNvPicPr>
            <a:picLocks noChangeAspect="1"/>
          </p:cNvPicPr>
          <p:nvPr/>
        </p:nvPicPr>
        <p:blipFill>
          <a:blip r:embed="rId40"/>
          <a:stretch>
            <a:fillRect/>
          </a:stretch>
        </p:blipFill>
        <p:spPr>
          <a:xfrm>
            <a:off x="10634472" y="3182112"/>
            <a:ext cx="146304" cy="164592"/>
          </a:xfrm>
          <a:prstGeom prst="rect">
            <a:avLst/>
          </a:prstGeom>
        </p:spPr>
      </p:pic>
      <p:pic>
        <p:nvPicPr>
          <p:cNvPr id="85" name="high page 25" descr="/NAS/SJ/POSTECH/nlp/figs/icons/pagehot.png">    </p:cNvPr>
          <p:cNvPicPr>
            <a:picLocks noChangeAspect="1"/>
          </p:cNvPicPr>
          <p:nvPr/>
        </p:nvPicPr>
        <p:blipFill>
          <a:blip r:embed="rId41"/>
          <a:stretch>
            <a:fillRect/>
          </a:stretch>
        </p:blipFill>
        <p:spPr>
          <a:xfrm>
            <a:off x="10789920" y="3182112"/>
            <a:ext cx="146304" cy="164592"/>
          </a:xfrm>
          <a:prstGeom prst="rect">
            <a:avLst/>
          </a:prstGeom>
        </p:spPr>
      </p:pic>
      <p:pic>
        <p:nvPicPr>
          <p:cNvPr id="86" name="high page 26" descr="/NAS/SJ/POSTECH/nlp/figs/icons/pagehot.png">    </p:cNvPr>
          <p:cNvPicPr>
            <a:picLocks noChangeAspect="1"/>
          </p:cNvPicPr>
          <p:nvPr/>
        </p:nvPicPr>
        <p:blipFill>
          <a:blip r:embed="rId42"/>
          <a:stretch>
            <a:fillRect/>
          </a:stretch>
        </p:blipFill>
        <p:spPr>
          <a:xfrm>
            <a:off x="10945368" y="3182112"/>
            <a:ext cx="146304" cy="164592"/>
          </a:xfrm>
          <a:prstGeom prst="rect">
            <a:avLst/>
          </a:prstGeom>
        </p:spPr>
      </p:pic>
      <p:pic>
        <p:nvPicPr>
          <p:cNvPr id="87" name="high page 27" descr="/NAS/SJ/POSTECH/nlp/figs/icons/pagehot.png">    </p:cNvPr>
          <p:cNvPicPr>
            <a:picLocks noChangeAspect="1"/>
          </p:cNvPicPr>
          <p:nvPr/>
        </p:nvPicPr>
        <p:blipFill>
          <a:blip r:embed="rId43"/>
          <a:stretch>
            <a:fillRect/>
          </a:stretch>
        </p:blipFill>
        <p:spPr>
          <a:xfrm>
            <a:off x="11100816" y="3182112"/>
            <a:ext cx="146304" cy="164592"/>
          </a:xfrm>
          <a:prstGeom prst="rect">
            <a:avLst/>
          </a:prstGeom>
        </p:spPr>
      </p:pic>
      <p:pic>
        <p:nvPicPr>
          <p:cNvPr id="88" name="high page 28" descr="/NAS/SJ/POSTECH/nlp/figs/icons/pagehot.png">    </p:cNvPr>
          <p:cNvPicPr>
            <a:picLocks noChangeAspect="1"/>
          </p:cNvPicPr>
          <p:nvPr/>
        </p:nvPicPr>
        <p:blipFill>
          <a:blip r:embed="rId44"/>
          <a:stretch>
            <a:fillRect/>
          </a:stretch>
        </p:blipFill>
        <p:spPr>
          <a:xfrm>
            <a:off x="11256264" y="3182112"/>
            <a:ext cx="146304" cy="164592"/>
          </a:xfrm>
          <a:prstGeom prst="rect">
            <a:avLst/>
          </a:prstGeom>
        </p:spPr>
      </p:pic>
      <p:pic>
        <p:nvPicPr>
          <p:cNvPr id="89" name="high page 29" descr="/NAS/SJ/POSTECH/nlp/figs/icons/pagehot.png">    </p:cNvPr>
          <p:cNvPicPr>
            <a:picLocks noChangeAspect="1"/>
          </p:cNvPicPr>
          <p:nvPr/>
        </p:nvPicPr>
        <p:blipFill>
          <a:blip r:embed="rId45"/>
          <a:stretch>
            <a:fillRect/>
          </a:stretch>
        </p:blipFill>
        <p:spPr>
          <a:xfrm>
            <a:off x="11411712" y="3182112"/>
            <a:ext cx="146304" cy="164592"/>
          </a:xfrm>
          <a:prstGeom prst="rect">
            <a:avLst/>
          </a:prstGeom>
        </p:spPr>
      </p:pic>
      <p:pic>
        <p:nvPicPr>
          <p:cNvPr id="90" name="high page 30" descr="/NAS/SJ/POSTECH/nlp/figs/icons/pagehot.png">    </p:cNvPr>
          <p:cNvPicPr>
            <a:picLocks noChangeAspect="1"/>
          </p:cNvPicPr>
          <p:nvPr/>
        </p:nvPicPr>
        <p:blipFill>
          <a:blip r:embed="rId46"/>
          <a:stretch>
            <a:fillRect/>
          </a:stretch>
        </p:blipFill>
        <p:spPr>
          <a:xfrm>
            <a:off x="9235440" y="3364992"/>
            <a:ext cx="146304" cy="164592"/>
          </a:xfrm>
          <a:prstGeom prst="rect">
            <a:avLst/>
          </a:prstGeom>
        </p:spPr>
      </p:pic>
      <p:pic>
        <p:nvPicPr>
          <p:cNvPr id="91" name="high page 31" descr="/NAS/SJ/POSTECH/nlp/figs/icons/pagehot.png">    </p:cNvPr>
          <p:cNvPicPr>
            <a:picLocks noChangeAspect="1"/>
          </p:cNvPicPr>
          <p:nvPr/>
        </p:nvPicPr>
        <p:blipFill>
          <a:blip r:embed="rId47"/>
          <a:stretch>
            <a:fillRect/>
          </a:stretch>
        </p:blipFill>
        <p:spPr>
          <a:xfrm>
            <a:off x="9390888" y="3364992"/>
            <a:ext cx="146304" cy="164592"/>
          </a:xfrm>
          <a:prstGeom prst="rect">
            <a:avLst/>
          </a:prstGeom>
        </p:spPr>
      </p:pic>
      <p:pic>
        <p:nvPicPr>
          <p:cNvPr id="92" name="high page 32" descr="/NAS/SJ/POSTECH/nlp/figs/icons/pagehot.png">    </p:cNvPr>
          <p:cNvPicPr>
            <a:picLocks noChangeAspect="1"/>
          </p:cNvPicPr>
          <p:nvPr/>
        </p:nvPicPr>
        <p:blipFill>
          <a:blip r:embed="rId48"/>
          <a:stretch>
            <a:fillRect/>
          </a:stretch>
        </p:blipFill>
        <p:spPr>
          <a:xfrm>
            <a:off x="9546336" y="3364992"/>
            <a:ext cx="146304" cy="164592"/>
          </a:xfrm>
          <a:prstGeom prst="rect">
            <a:avLst/>
          </a:prstGeom>
        </p:spPr>
      </p:pic>
      <p:pic>
        <p:nvPicPr>
          <p:cNvPr id="93" name="high page 33" descr="/NAS/SJ/POSTECH/nlp/figs/icons/pagehot.png">    </p:cNvPr>
          <p:cNvPicPr>
            <a:picLocks noChangeAspect="1"/>
          </p:cNvPicPr>
          <p:nvPr/>
        </p:nvPicPr>
        <p:blipFill>
          <a:blip r:embed="rId49"/>
          <a:stretch>
            <a:fillRect/>
          </a:stretch>
        </p:blipFill>
        <p:spPr>
          <a:xfrm>
            <a:off x="9701784" y="3364992"/>
            <a:ext cx="146304" cy="164592"/>
          </a:xfrm>
          <a:prstGeom prst="rect">
            <a:avLst/>
          </a:prstGeom>
        </p:spPr>
      </p:pic>
      <p:pic>
        <p:nvPicPr>
          <p:cNvPr id="94" name="high page 34" descr="/NAS/SJ/POSTECH/nlp/figs/icons/pagehot.png">    </p:cNvPr>
          <p:cNvPicPr>
            <a:picLocks noChangeAspect="1"/>
          </p:cNvPicPr>
          <p:nvPr/>
        </p:nvPicPr>
        <p:blipFill>
          <a:blip r:embed="rId50"/>
          <a:stretch>
            <a:fillRect/>
          </a:stretch>
        </p:blipFill>
        <p:spPr>
          <a:xfrm>
            <a:off x="9857232" y="3364992"/>
            <a:ext cx="146304" cy="164592"/>
          </a:xfrm>
          <a:prstGeom prst="rect">
            <a:avLst/>
          </a:prstGeom>
        </p:spPr>
      </p:pic>
      <p:pic>
        <p:nvPicPr>
          <p:cNvPr id="95" name="high page 35" descr="/NAS/SJ/POSTECH/nlp/figs/icons/pagehot.png">    </p:cNvPr>
          <p:cNvPicPr>
            <a:picLocks noChangeAspect="1"/>
          </p:cNvPicPr>
          <p:nvPr/>
        </p:nvPicPr>
        <p:blipFill>
          <a:blip r:embed="rId51"/>
          <a:stretch>
            <a:fillRect/>
          </a:stretch>
        </p:blipFill>
        <p:spPr>
          <a:xfrm>
            <a:off x="10012680" y="3364992"/>
            <a:ext cx="146304" cy="164592"/>
          </a:xfrm>
          <a:prstGeom prst="rect">
            <a:avLst/>
          </a:prstGeom>
        </p:spPr>
      </p:pic>
      <p:pic>
        <p:nvPicPr>
          <p:cNvPr id="96" name="high page 36" descr="/NAS/SJ/POSTECH/nlp/figs/icons/pagehot.png">    </p:cNvPr>
          <p:cNvPicPr>
            <a:picLocks noChangeAspect="1"/>
          </p:cNvPicPr>
          <p:nvPr/>
        </p:nvPicPr>
        <p:blipFill>
          <a:blip r:embed="rId52"/>
          <a:stretch>
            <a:fillRect/>
          </a:stretch>
        </p:blipFill>
        <p:spPr>
          <a:xfrm>
            <a:off x="10168128" y="3364992"/>
            <a:ext cx="146304" cy="164592"/>
          </a:xfrm>
          <a:prstGeom prst="rect">
            <a:avLst/>
          </a:prstGeom>
        </p:spPr>
      </p:pic>
      <p:pic>
        <p:nvPicPr>
          <p:cNvPr id="97" name="high page 37" descr="/NAS/SJ/POSTECH/nlp/figs/icons/pagehot.png">    </p:cNvPr>
          <p:cNvPicPr>
            <a:picLocks noChangeAspect="1"/>
          </p:cNvPicPr>
          <p:nvPr/>
        </p:nvPicPr>
        <p:blipFill>
          <a:blip r:embed="rId53"/>
          <a:stretch>
            <a:fillRect/>
          </a:stretch>
        </p:blipFill>
        <p:spPr>
          <a:xfrm>
            <a:off x="10323576" y="3364992"/>
            <a:ext cx="146304" cy="164592"/>
          </a:xfrm>
          <a:prstGeom prst="rect">
            <a:avLst/>
          </a:prstGeom>
        </p:spPr>
      </p:pic>
      <p:pic>
        <p:nvPicPr>
          <p:cNvPr id="98" name="high page 38" descr="/NAS/SJ/POSTECH/nlp/figs/icons/pagehot.png">    </p:cNvPr>
          <p:cNvPicPr>
            <a:picLocks noChangeAspect="1"/>
          </p:cNvPicPr>
          <p:nvPr/>
        </p:nvPicPr>
        <p:blipFill>
          <a:blip r:embed="rId54"/>
          <a:stretch>
            <a:fillRect/>
          </a:stretch>
        </p:blipFill>
        <p:spPr>
          <a:xfrm>
            <a:off x="10479024" y="3364992"/>
            <a:ext cx="146304" cy="164592"/>
          </a:xfrm>
          <a:prstGeom prst="rect">
            <a:avLst/>
          </a:prstGeom>
        </p:spPr>
      </p:pic>
      <p:pic>
        <p:nvPicPr>
          <p:cNvPr id="99" name="high page 39" descr="/NAS/SJ/POSTECH/nlp/figs/icons/pagehot.png">    </p:cNvPr>
          <p:cNvPicPr>
            <a:picLocks noChangeAspect="1"/>
          </p:cNvPicPr>
          <p:nvPr/>
        </p:nvPicPr>
        <p:blipFill>
          <a:blip r:embed="rId55"/>
          <a:stretch>
            <a:fillRect/>
          </a:stretch>
        </p:blipFill>
        <p:spPr>
          <a:xfrm>
            <a:off x="10634472" y="3364992"/>
            <a:ext cx="146304" cy="164592"/>
          </a:xfrm>
          <a:prstGeom prst="rect">
            <a:avLst/>
          </a:prstGeom>
        </p:spPr>
      </p:pic>
      <p:pic>
        <p:nvPicPr>
          <p:cNvPr id="100" name="high page 40" descr="/NAS/SJ/POSTECH/nlp/figs/icons/pagehot.png">    </p:cNvPr>
          <p:cNvPicPr>
            <a:picLocks noChangeAspect="1"/>
          </p:cNvPicPr>
          <p:nvPr/>
        </p:nvPicPr>
        <p:blipFill>
          <a:blip r:embed="rId56"/>
          <a:stretch>
            <a:fillRect/>
          </a:stretch>
        </p:blipFill>
        <p:spPr>
          <a:xfrm>
            <a:off x="10789920" y="3364992"/>
            <a:ext cx="146304" cy="164592"/>
          </a:xfrm>
          <a:prstGeom prst="rect">
            <a:avLst/>
          </a:prstGeom>
        </p:spPr>
      </p:pic>
      <p:pic>
        <p:nvPicPr>
          <p:cNvPr id="101" name="high page 41" descr="/NAS/SJ/POSTECH/nlp/figs/icons/pagehot.png">    </p:cNvPr>
          <p:cNvPicPr>
            <a:picLocks noChangeAspect="1"/>
          </p:cNvPicPr>
          <p:nvPr/>
        </p:nvPicPr>
        <p:blipFill>
          <a:blip r:embed="rId57"/>
          <a:stretch>
            <a:fillRect/>
          </a:stretch>
        </p:blipFill>
        <p:spPr>
          <a:xfrm>
            <a:off x="10945368" y="3364992"/>
            <a:ext cx="146304" cy="164592"/>
          </a:xfrm>
          <a:prstGeom prst="rect">
            <a:avLst/>
          </a:prstGeom>
        </p:spPr>
      </p:pic>
      <p:pic>
        <p:nvPicPr>
          <p:cNvPr id="102" name="high page 42" descr="/NAS/SJ/POSTECH/nlp/figs/icons/pagehot.png">    </p:cNvPr>
          <p:cNvPicPr>
            <a:picLocks noChangeAspect="1"/>
          </p:cNvPicPr>
          <p:nvPr/>
        </p:nvPicPr>
        <p:blipFill>
          <a:blip r:embed="rId58"/>
          <a:stretch>
            <a:fillRect/>
          </a:stretch>
        </p:blipFill>
        <p:spPr>
          <a:xfrm>
            <a:off x="11100816" y="3364992"/>
            <a:ext cx="146304" cy="164592"/>
          </a:xfrm>
          <a:prstGeom prst="rect">
            <a:avLst/>
          </a:prstGeom>
        </p:spPr>
      </p:pic>
      <p:sp>
        <p:nvSpPr>
          <p:cNvPr id="103" name="Text 43"/>
          <p:cNvSpPr txBox="1"/>
          <p:nvPr/>
        </p:nvSpPr>
        <p:spPr>
          <a:xfrm>
            <a:off x="8183880" y="3611880"/>
            <a:ext cx="3291840" cy="274320"/>
          </a:xfrm>
          <a:prstGeom prst="rect">
            <a:avLst/>
          </a:prstGeom>
          <a:noFill/>
          <a:ln/>
        </p:spPr>
        <p:txBody>
          <a:bodyPr wrap="square" lIns="0" tIns="0" rIns="0" bIns="0" rtlCol="0" anchor="ctr"/>
          <a:lstStyle/>
          <a:p>
            <a:pPr indent="0" marL="0">
              <a:buNone/>
            </a:pPr>
            <a:r>
              <a:rPr lang="en-US" sz="1400" dirty="0">
                <a:solidFill>
                  <a:schemeClr val="tx2"/>
                </a:solidFill>
              </a:rPr>
              <a:t>one page ≈ 700 tokens</a:t>
            </a:r>
            <a:endParaRPr lang="en-US" sz="1400" dirty="0"/>
          </a:p>
        </p:txBody>
      </p:sp>
      <p:sp>
        <p:nvSpPr>
          <p:cNvPr id="104" name="Text 44"/>
          <p:cNvSpPr txBox="1"/>
          <p:nvPr/>
        </p:nvSpPr>
        <p:spPr>
          <a:xfrm>
            <a:off x="8183880" y="3931920"/>
            <a:ext cx="3337560" cy="777240"/>
          </a:xfrm>
          <a:prstGeom prst="rect">
            <a:avLst/>
          </a:prstGeom>
          <a:noFill/>
          <a:ln/>
        </p:spPr>
        <p:txBody>
          <a:bodyPr wrap="square" lIns="0" tIns="0" rIns="0" bIns="0" rtlCol="0" anchor="t"/>
          <a:lstStyle/>
          <a:p>
            <a:pPr indent="0" marL="0">
              <a:buNone/>
            </a:pPr>
            <a:r>
              <a:rPr lang="en-US" sz="2200" b="1" dirty="0">
                <a:solidFill>
                  <a:srgbClr val="ED7D31"/>
                </a:solidFill>
              </a:rPr>
              <a:t>4.4× tokens</a:t>
            </a:r>
            <a:pPr indent="0" marL="0">
              <a:buNone/>
            </a:pPr>
            <a:r>
              <a:rPr lang="en-US" sz="1400" dirty="0">
                <a:solidFill>
                  <a:schemeClr val="tx1"/>
                </a:solidFill>
              </a:rPr>
              <a:t> for 9 more points (311 contest problems)</a:t>
            </a:r>
            <a:endParaRPr lang="en-US" sz="1400" dirty="0"/>
          </a:p>
        </p:txBody>
      </p:sp>
      <p:sp>
        <p:nvSpPr>
          <p:cNvPr id="105" name="our question"/>
          <p:cNvSpPr/>
          <p:nvPr/>
        </p:nvSpPr>
        <p:spPr>
          <a:xfrm>
            <a:off x="548640" y="4892040"/>
            <a:ext cx="11064240" cy="731520"/>
          </a:xfrm>
          <a:prstGeom prst="roundRect">
            <a:avLst>
              <a:gd name="adj" fmla="val 10000"/>
            </a:avLst>
          </a:prstGeom>
          <a:solidFill>
            <a:srgbClr val="DEEBF7"/>
          </a:solidFill>
          <a:ln w="9525">
            <a:solidFill>
              <a:srgbClr val="BDD7EE"/>
            </a:solidFill>
            <a:prstDash val="solid"/>
          </a:ln>
        </p:spPr>
      </p:sp>
      <p:sp>
        <p:nvSpPr>
          <p:cNvPr id="106" name="Text 46"/>
          <p:cNvSpPr txBox="1"/>
          <p:nvPr/>
        </p:nvSpPr>
        <p:spPr>
          <a:xfrm>
            <a:off x="777240" y="4892040"/>
            <a:ext cx="4023360" cy="731520"/>
          </a:xfrm>
          <a:prstGeom prst="rect">
            <a:avLst/>
          </a:prstGeom>
          <a:noFill/>
          <a:ln/>
        </p:spPr>
        <p:txBody>
          <a:bodyPr wrap="square" lIns="0" tIns="0" rIns="0" bIns="0" rtlCol="0" anchor="ctr"/>
          <a:lstStyle/>
          <a:p>
            <a:pPr indent="0" marL="0">
              <a:buNone/>
            </a:pPr>
            <a:r>
              <a:rPr lang="en-US" sz="1900" b="1" dirty="0">
                <a:solidFill>
                  <a:srgbClr val="4472C4"/>
                </a:solidFill>
              </a:rPr>
              <a:t>Where should the extra effort go?</a:t>
            </a:r>
            <a:endParaRPr lang="en-US" sz="1900" dirty="0"/>
          </a:p>
        </p:txBody>
      </p:sp>
      <p:sp>
        <p:nvSpPr>
          <p:cNvPr id="107" name="option a missing fact"/>
          <p:cNvSpPr/>
          <p:nvPr/>
        </p:nvSpPr>
        <p:spPr>
          <a:xfrm>
            <a:off x="4846320" y="5010912"/>
            <a:ext cx="2103120" cy="502920"/>
          </a:xfrm>
          <a:prstGeom prst="roundRect">
            <a:avLst>
              <a:gd name="adj" fmla="val 36364"/>
            </a:avLst>
          </a:prstGeom>
          <a:solidFill>
            <a:srgbClr val="E2F0D9"/>
          </a:solidFill>
          <a:ln w="12700">
            <a:solidFill>
              <a:srgbClr val="38761D"/>
            </a:solidFill>
            <a:prstDash val="solid"/>
          </a:ln>
        </p:spPr>
      </p:sp>
      <p:pic>
        <p:nvPicPr>
          <p:cNvPr id="108" name="icon fact" descr="/NAS/SJ/POSTECH/nlp/figs/icons/fact.png">    </p:cNvPr>
          <p:cNvPicPr>
            <a:picLocks noChangeAspect="1"/>
          </p:cNvPicPr>
          <p:nvPr/>
        </p:nvPicPr>
        <p:blipFill>
          <a:blip r:embed="rId59"/>
          <a:stretch>
            <a:fillRect/>
          </a:stretch>
        </p:blipFill>
        <p:spPr>
          <a:xfrm>
            <a:off x="4974336" y="5093208"/>
            <a:ext cx="329184" cy="329184"/>
          </a:xfrm>
          <a:prstGeom prst="rect">
            <a:avLst/>
          </a:prstGeom>
        </p:spPr>
      </p:pic>
      <p:sp>
        <p:nvSpPr>
          <p:cNvPr id="109" name="Text 48"/>
          <p:cNvSpPr txBox="1"/>
          <p:nvPr/>
        </p:nvSpPr>
        <p:spPr>
          <a:xfrm>
            <a:off x="5413248" y="5010912"/>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110" name="option a free check"/>
          <p:cNvSpPr/>
          <p:nvPr/>
        </p:nvSpPr>
        <p:spPr>
          <a:xfrm>
            <a:off x="7086600" y="5010912"/>
            <a:ext cx="2103120" cy="502920"/>
          </a:xfrm>
          <a:prstGeom prst="roundRect">
            <a:avLst>
              <a:gd name="adj" fmla="val 36364"/>
            </a:avLst>
          </a:prstGeom>
          <a:solidFill>
            <a:srgbClr val="E2F0D9"/>
          </a:solidFill>
          <a:ln w="12700">
            <a:solidFill>
              <a:srgbClr val="38761D"/>
            </a:solidFill>
            <a:prstDash val="solid"/>
          </a:ln>
        </p:spPr>
      </p:sp>
      <p:pic>
        <p:nvPicPr>
          <p:cNvPr id="111" name="icon check" descr="/NAS/SJ/POSTECH/nlp/figs/icons/check.png">    </p:cNvPr>
          <p:cNvPicPr>
            <a:picLocks noChangeAspect="1"/>
          </p:cNvPicPr>
          <p:nvPr/>
        </p:nvPicPr>
        <p:blipFill>
          <a:blip r:embed="rId60"/>
          <a:stretch>
            <a:fillRect/>
          </a:stretch>
        </p:blipFill>
        <p:spPr>
          <a:xfrm>
            <a:off x="7214616" y="5093208"/>
            <a:ext cx="329184" cy="329184"/>
          </a:xfrm>
          <a:prstGeom prst="rect">
            <a:avLst/>
          </a:prstGeom>
        </p:spPr>
      </p:pic>
      <p:sp>
        <p:nvSpPr>
          <p:cNvPr id="112" name="Text 50"/>
          <p:cNvSpPr txBox="1"/>
          <p:nvPr/>
        </p:nvSpPr>
        <p:spPr>
          <a:xfrm>
            <a:off x="7653528" y="5010912"/>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113" name="option more thinking"/>
          <p:cNvSpPr/>
          <p:nvPr/>
        </p:nvSpPr>
        <p:spPr>
          <a:xfrm>
            <a:off x="9326880" y="5010912"/>
            <a:ext cx="2103120" cy="502920"/>
          </a:xfrm>
          <a:prstGeom prst="roundRect">
            <a:avLst>
              <a:gd name="adj" fmla="val 36364"/>
            </a:avLst>
          </a:prstGeom>
          <a:solidFill>
            <a:srgbClr val="FADBD8"/>
          </a:solidFill>
          <a:ln w="12700">
            <a:solidFill>
              <a:srgbClr val="C00000"/>
            </a:solidFill>
            <a:prstDash val="solid"/>
          </a:ln>
        </p:spPr>
      </p:sp>
      <p:pic>
        <p:nvPicPr>
          <p:cNvPr id="114" name="icon brain" descr="/NAS/SJ/POSTECH/nlp/figs/icons/brain.png">    </p:cNvPr>
          <p:cNvPicPr>
            <a:picLocks noChangeAspect="1"/>
          </p:cNvPicPr>
          <p:nvPr/>
        </p:nvPicPr>
        <p:blipFill>
          <a:blip r:embed="rId61"/>
          <a:stretch>
            <a:fillRect/>
          </a:stretch>
        </p:blipFill>
        <p:spPr>
          <a:xfrm>
            <a:off x="9454896" y="5093208"/>
            <a:ext cx="329184" cy="329184"/>
          </a:xfrm>
          <a:prstGeom prst="rect">
            <a:avLst/>
          </a:prstGeom>
        </p:spPr>
      </p:pic>
      <p:sp>
        <p:nvSpPr>
          <p:cNvPr id="115" name="Text 52"/>
          <p:cNvSpPr txBox="1"/>
          <p:nvPr/>
        </p:nvSpPr>
        <p:spPr>
          <a:xfrm>
            <a:off x="9893808" y="5010912"/>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116" name="Text 5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It matters: agents already write such code, tokens cost money, and most teams have one small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kind Geometry"/>
          <p:cNvSpPr/>
          <p:nvPr/>
        </p:nvSpPr>
        <p:spPr>
          <a:xfrm>
            <a:off x="548640" y="1280160"/>
            <a:ext cx="2103120" cy="406908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1234440" y="1463040"/>
            <a:ext cx="731520" cy="731520"/>
          </a:xfrm>
          <a:prstGeom prst="rect">
            <a:avLst/>
          </a:prstGeom>
        </p:spPr>
      </p:pic>
      <p:sp>
        <p:nvSpPr>
          <p:cNvPr id="5" name="Text 2"/>
          <p:cNvSpPr txBox="1"/>
          <p:nvPr/>
        </p:nvSpPr>
        <p:spPr>
          <a:xfrm>
            <a:off x="64008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Geometry</a:t>
            </a:r>
            <a:endParaRPr lang="en-US" sz="1800" dirty="0"/>
          </a:p>
        </p:txBody>
      </p:sp>
      <p:sp>
        <p:nvSpPr>
          <p:cNvPr id="6" name="Text 3"/>
          <p:cNvSpPr txBox="1"/>
          <p:nvPr/>
        </p:nvSpPr>
        <p:spPr>
          <a:xfrm>
            <a:off x="68580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7" name="tag Geometry"/>
          <p:cNvSpPr/>
          <p:nvPr/>
        </p:nvSpPr>
        <p:spPr>
          <a:xfrm>
            <a:off x="640080" y="4297680"/>
            <a:ext cx="1920240" cy="868680"/>
          </a:xfrm>
          <a:prstGeom prst="roundRect">
            <a:avLst>
              <a:gd name="adj" fmla="val 10526"/>
            </a:avLst>
          </a:prstGeom>
          <a:solidFill>
            <a:srgbClr val="FFFFFF"/>
          </a:solidFill>
          <a:ln w="15875">
            <a:solidFill>
              <a:srgbClr val="4472C4"/>
            </a:solidFill>
            <a:prstDash val="solid"/>
          </a:ln>
        </p:spPr>
      </p:sp>
      <p:sp>
        <p:nvSpPr>
          <p:cNvPr id="8" name="Text 5"/>
          <p:cNvSpPr txBox="1"/>
          <p:nvPr/>
        </p:nvSpPr>
        <p:spPr>
          <a:xfrm>
            <a:off x="685800" y="4297680"/>
            <a:ext cx="1828800" cy="868680"/>
          </a:xfrm>
          <a:prstGeom prst="rect">
            <a:avLst/>
          </a:prstGeom>
          <a:noFill/>
          <a:ln/>
        </p:spPr>
        <p:txBody>
          <a:bodyPr wrap="square" lIns="0" tIns="0" rIns="0" bIns="0" rtlCol="0" anchor="ctr"/>
          <a:lstStyle/>
          <a:p>
            <a:pPr algn="ctr" indent="0" marL="0">
              <a:buNone/>
            </a:pPr>
            <a:r>
              <a:rPr lang="en-US" sz="1500" b="1" dirty="0">
                <a:solidFill>
                  <a:srgbClr val="4472C4"/>
                </a:solidFill>
              </a:rPr>
              <a:t>≈ LeetCode Easy–Hard</a:t>
            </a:r>
            <a:endParaRPr lang="en-US" sz="1500" dirty="0"/>
          </a:p>
        </p:txBody>
      </p:sp>
      <p:sp>
        <p:nvSpPr>
          <p:cNvPr id="9" name="kind Contest problems"/>
          <p:cNvSpPr/>
          <p:nvPr/>
        </p:nvSpPr>
        <p:spPr>
          <a:xfrm>
            <a:off x="2788920" y="1280160"/>
            <a:ext cx="2103120" cy="406908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74720" y="1463040"/>
            <a:ext cx="731520" cy="731520"/>
          </a:xfrm>
          <a:prstGeom prst="rect">
            <a:avLst/>
          </a:prstGeom>
        </p:spPr>
      </p:pic>
      <p:sp>
        <p:nvSpPr>
          <p:cNvPr id="11" name="Text 7"/>
          <p:cNvSpPr txBox="1"/>
          <p:nvPr/>
        </p:nvSpPr>
        <p:spPr>
          <a:xfrm>
            <a:off x="288036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Contest problems</a:t>
            </a:r>
            <a:endParaRPr lang="en-US" sz="1800" dirty="0"/>
          </a:p>
        </p:txBody>
      </p:sp>
      <p:sp>
        <p:nvSpPr>
          <p:cNvPr id="12" name="Text 8"/>
          <p:cNvSpPr txBox="1"/>
          <p:nvPr/>
        </p:nvSpPr>
        <p:spPr>
          <a:xfrm>
            <a:off x="292608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3" name="tag Contest problems"/>
          <p:cNvSpPr/>
          <p:nvPr/>
        </p:nvSpPr>
        <p:spPr>
          <a:xfrm>
            <a:off x="2880360" y="4297680"/>
            <a:ext cx="1920240" cy="868680"/>
          </a:xfrm>
          <a:prstGeom prst="roundRect">
            <a:avLst>
              <a:gd name="adj" fmla="val 10526"/>
            </a:avLst>
          </a:prstGeom>
          <a:solidFill>
            <a:srgbClr val="FFFFFF"/>
          </a:solidFill>
          <a:ln w="15875">
            <a:solidFill>
              <a:srgbClr val="C00000"/>
            </a:solidFill>
            <a:prstDash val="solid"/>
          </a:ln>
        </p:spPr>
      </p:sp>
      <p:sp>
        <p:nvSpPr>
          <p:cNvPr id="14" name="Text 10"/>
          <p:cNvSpPr txBox="1"/>
          <p:nvPr/>
        </p:nvSpPr>
        <p:spPr>
          <a:xfrm>
            <a:off x="2926080" y="4297680"/>
            <a:ext cx="1828800" cy="868680"/>
          </a:xfrm>
          <a:prstGeom prst="rect">
            <a:avLst/>
          </a:prstGeom>
          <a:noFill/>
          <a:ln/>
        </p:spPr>
        <p:txBody>
          <a:bodyPr wrap="square" lIns="0" tIns="0" rIns="0" bIns="0" rtlCol="0" anchor="ctr"/>
          <a:lstStyle/>
          <a:p>
            <a:pPr algn="ctr" indent="0" marL="0">
              <a:buNone/>
            </a:pPr>
            <a:r>
              <a:rPr lang="en-US" sz="1500" b="1" dirty="0">
                <a:solidFill>
                  <a:srgbClr val="C00000"/>
                </a:solidFill>
              </a:rPr>
              <a:t>mostly LeetCode Hard or harder</a:t>
            </a:r>
            <a:endParaRPr lang="en-US" sz="1500" dirty="0"/>
          </a:p>
        </p:txBody>
      </p:sp>
      <p:sp>
        <p:nvSpPr>
          <p:cNvPr id="15" name="kind Routing, scheduling"/>
          <p:cNvSpPr/>
          <p:nvPr/>
        </p:nvSpPr>
        <p:spPr>
          <a:xfrm>
            <a:off x="5029200" y="1280160"/>
            <a:ext cx="2103120" cy="406908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715000" y="1463040"/>
            <a:ext cx="731520" cy="731520"/>
          </a:xfrm>
          <a:prstGeom prst="rect">
            <a:avLst/>
          </a:prstGeom>
        </p:spPr>
      </p:pic>
      <p:sp>
        <p:nvSpPr>
          <p:cNvPr id="17" name="Text 12"/>
          <p:cNvSpPr txBox="1"/>
          <p:nvPr/>
        </p:nvSpPr>
        <p:spPr>
          <a:xfrm>
            <a:off x="512064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Routing, scheduling</a:t>
            </a:r>
            <a:endParaRPr lang="en-US" sz="1800" dirty="0"/>
          </a:p>
        </p:txBody>
      </p:sp>
      <p:sp>
        <p:nvSpPr>
          <p:cNvPr id="18" name="Text 13"/>
          <p:cNvSpPr txBox="1"/>
          <p:nvPr/>
        </p:nvSpPr>
        <p:spPr>
          <a:xfrm>
            <a:off x="516636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19" name="tag Routing, scheduling"/>
          <p:cNvSpPr/>
          <p:nvPr/>
        </p:nvSpPr>
        <p:spPr>
          <a:xfrm>
            <a:off x="5120640" y="4297680"/>
            <a:ext cx="1920240" cy="868680"/>
          </a:xfrm>
          <a:prstGeom prst="roundRect">
            <a:avLst>
              <a:gd name="adj" fmla="val 10526"/>
            </a:avLst>
          </a:prstGeom>
          <a:solidFill>
            <a:srgbClr val="FFFFFF"/>
          </a:solidFill>
          <a:ln w="15875">
            <a:solidFill>
              <a:srgbClr val="ED7D31"/>
            </a:solidFill>
            <a:prstDash val="solid"/>
          </a:ln>
        </p:spPr>
      </p:sp>
      <p:sp>
        <p:nvSpPr>
          <p:cNvPr id="20" name="Text 15"/>
          <p:cNvSpPr txBox="1"/>
          <p:nvPr/>
        </p:nvSpPr>
        <p:spPr>
          <a:xfrm>
            <a:off x="5166360" y="4297680"/>
            <a:ext cx="1828800" cy="868680"/>
          </a:xfrm>
          <a:prstGeom prst="rect">
            <a:avLst/>
          </a:prstGeom>
          <a:noFill/>
          <a:ln/>
        </p:spPr>
        <p:txBody>
          <a:bodyPr wrap="square" lIns="0" tIns="0" rIns="0" bIns="0" rtlCol="0" anchor="ctr"/>
          <a:lstStyle/>
          <a:p>
            <a:pPr algn="ctr" indent="0" marL="0">
              <a:buNone/>
            </a:pPr>
            <a:r>
              <a:rPr lang="en-US" sz="1500" b="1" dirty="0">
                <a:solidFill>
                  <a:srgbClr val="ED7D31"/>
                </a:solidFill>
              </a:rPr>
              <a:t>no LeetCode match: needs a solver</a:t>
            </a:r>
            <a:endParaRPr lang="en-US" sz="1500" dirty="0"/>
          </a:p>
        </p:txBody>
      </p:sp>
      <p:sp>
        <p:nvSpPr>
          <p:cNvPr id="21" name="kind Word problems"/>
          <p:cNvSpPr/>
          <p:nvPr/>
        </p:nvSpPr>
        <p:spPr>
          <a:xfrm>
            <a:off x="7269480" y="1280160"/>
            <a:ext cx="2103120" cy="406908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955280" y="1463040"/>
            <a:ext cx="731520" cy="731520"/>
          </a:xfrm>
          <a:prstGeom prst="rect">
            <a:avLst/>
          </a:prstGeom>
        </p:spPr>
      </p:pic>
      <p:sp>
        <p:nvSpPr>
          <p:cNvPr id="23" name="Text 17"/>
          <p:cNvSpPr txBox="1"/>
          <p:nvPr/>
        </p:nvSpPr>
        <p:spPr>
          <a:xfrm>
            <a:off x="736092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Word problems</a:t>
            </a:r>
            <a:endParaRPr lang="en-US" sz="1800" dirty="0"/>
          </a:p>
        </p:txBody>
      </p:sp>
      <p:sp>
        <p:nvSpPr>
          <p:cNvPr id="24" name="Text 18"/>
          <p:cNvSpPr txBox="1"/>
          <p:nvPr/>
        </p:nvSpPr>
        <p:spPr>
          <a:xfrm>
            <a:off x="740664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5" name="tag Word problems"/>
          <p:cNvSpPr/>
          <p:nvPr/>
        </p:nvSpPr>
        <p:spPr>
          <a:xfrm>
            <a:off x="7360920" y="4297680"/>
            <a:ext cx="1920240" cy="868680"/>
          </a:xfrm>
          <a:prstGeom prst="roundRect">
            <a:avLst>
              <a:gd name="adj" fmla="val 10526"/>
            </a:avLst>
          </a:prstGeom>
          <a:solidFill>
            <a:srgbClr val="FFFFFF"/>
          </a:solidFill>
          <a:ln w="15875">
            <a:solidFill>
              <a:srgbClr val="38761D"/>
            </a:solidFill>
            <a:prstDash val="solid"/>
          </a:ln>
        </p:spPr>
      </p:sp>
      <p:sp>
        <p:nvSpPr>
          <p:cNvPr id="26" name="Text 20"/>
          <p:cNvSpPr txBox="1"/>
          <p:nvPr/>
        </p:nvSpPr>
        <p:spPr>
          <a:xfrm>
            <a:off x="7406640" y="4297680"/>
            <a:ext cx="1828800" cy="868680"/>
          </a:xfrm>
          <a:prstGeom prst="rect">
            <a:avLst/>
          </a:prstGeom>
          <a:noFill/>
          <a:ln/>
        </p:spPr>
        <p:txBody>
          <a:bodyPr wrap="square" lIns="0" tIns="0" rIns="0" bIns="0" rtlCol="0" anchor="ctr"/>
          <a:lstStyle/>
          <a:p>
            <a:pPr algn="ctr" indent="0" marL="0">
              <a:buNone/>
            </a:pPr>
            <a:r>
              <a:rPr lang="en-US" sz="1500" b="1" dirty="0">
                <a:solidFill>
                  <a:srgbClr val="38761D"/>
                </a:solidFill>
              </a:rPr>
              <a:t>school level; the solver API is hard</a:t>
            </a:r>
            <a:endParaRPr lang="en-US" sz="1500" dirty="0"/>
          </a:p>
        </p:txBody>
      </p:sp>
      <p:sp>
        <p:nvSpPr>
          <p:cNvPr id="27" name="kind Math and proofs"/>
          <p:cNvSpPr/>
          <p:nvPr/>
        </p:nvSpPr>
        <p:spPr>
          <a:xfrm>
            <a:off x="9509760" y="1280160"/>
            <a:ext cx="2103120" cy="406908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10195560" y="1463040"/>
            <a:ext cx="731520" cy="731520"/>
          </a:xfrm>
          <a:prstGeom prst="rect">
            <a:avLst/>
          </a:prstGeom>
        </p:spPr>
      </p:pic>
      <p:sp>
        <p:nvSpPr>
          <p:cNvPr id="29" name="Text 22"/>
          <p:cNvSpPr txBox="1"/>
          <p:nvPr/>
        </p:nvSpPr>
        <p:spPr>
          <a:xfrm>
            <a:off x="9601200" y="2331720"/>
            <a:ext cx="1920240" cy="685800"/>
          </a:xfrm>
          <a:prstGeom prst="rect">
            <a:avLst/>
          </a:prstGeom>
          <a:noFill/>
          <a:ln/>
        </p:spPr>
        <p:txBody>
          <a:bodyPr wrap="square" lIns="0" tIns="0" rIns="0" bIns="0" rtlCol="0" anchor="ctr"/>
          <a:lstStyle/>
          <a:p>
            <a:pPr algn="ctr" indent="0" marL="0">
              <a:buNone/>
            </a:pPr>
            <a:r>
              <a:rPr lang="en-US" sz="1800" b="1" dirty="0">
                <a:solidFill>
                  <a:schemeClr val="tx1"/>
                </a:solidFill>
              </a:rPr>
              <a:t>Math and proofs</a:t>
            </a:r>
            <a:endParaRPr lang="en-US" sz="1800" dirty="0"/>
          </a:p>
        </p:txBody>
      </p:sp>
      <p:sp>
        <p:nvSpPr>
          <p:cNvPr id="30" name="Text 23"/>
          <p:cNvSpPr txBox="1"/>
          <p:nvPr/>
        </p:nvSpPr>
        <p:spPr>
          <a:xfrm>
            <a:off x="9646920" y="3063240"/>
            <a:ext cx="1828800" cy="1097280"/>
          </a:xfrm>
          <a:prstGeom prst="rect">
            <a:avLst/>
          </a:prstGeom>
          <a:noFill/>
          <a:ln/>
        </p:spPr>
        <p:txBody>
          <a:bodyPr wrap="square" lIns="0" tIns="0" rIns="0" bIns="0" rtlCol="0" anchor="t"/>
          <a:lstStyle/>
          <a:p>
            <a:pPr algn="ctr" indent="0" marL="0">
              <a:buNone/>
            </a:pPr>
            <a:r>
              <a:rPr lang="en-US" sz="1500" dirty="0">
                <a:solidFill>
                  <a:schemeClr val="tx1"/>
                </a:solidFill>
              </a:rPr>
              <a:t>AIME answers; Lean proofs</a:t>
            </a:r>
            <a:endParaRPr lang="en-US" sz="1500" dirty="0"/>
          </a:p>
        </p:txBody>
      </p:sp>
      <p:sp>
        <p:nvSpPr>
          <p:cNvPr id="31" name="tag Math and proofs"/>
          <p:cNvSpPr/>
          <p:nvPr/>
        </p:nvSpPr>
        <p:spPr>
          <a:xfrm>
            <a:off x="9601200" y="4297680"/>
            <a:ext cx="1920240" cy="868680"/>
          </a:xfrm>
          <a:prstGeom prst="roundRect">
            <a:avLst>
              <a:gd name="adj" fmla="val 10526"/>
            </a:avLst>
          </a:prstGeom>
          <a:solidFill>
            <a:srgbClr val="FFFFFF"/>
          </a:solidFill>
          <a:ln w="15875">
            <a:solidFill>
              <a:srgbClr val="595959"/>
            </a:solidFill>
            <a:prstDash val="solid"/>
          </a:ln>
        </p:spPr>
      </p:sp>
      <p:sp>
        <p:nvSpPr>
          <p:cNvPr id="32" name="Text 25"/>
          <p:cNvSpPr txBox="1"/>
          <p:nvPr/>
        </p:nvSpPr>
        <p:spPr>
          <a:xfrm>
            <a:off x="9646920" y="4297680"/>
            <a:ext cx="1828800" cy="868680"/>
          </a:xfrm>
          <a:prstGeom prst="rect">
            <a:avLst/>
          </a:prstGeom>
          <a:noFill/>
          <a:ln/>
        </p:spPr>
        <p:txBody>
          <a:bodyPr wrap="square" lIns="0" tIns="0" rIns="0" bIns="0" rtlCol="0" anchor="ctr"/>
          <a:lstStyle/>
          <a:p>
            <a:pPr algn="ctr" indent="0" marL="0">
              <a:buNone/>
            </a:pPr>
            <a:r>
              <a:rPr lang="en-US" sz="1500" b="1" dirty="0">
                <a:solidFill>
                  <a:srgbClr val="595959"/>
                </a:solidFill>
              </a:rPr>
              <a:t>not a coding test</a:t>
            </a:r>
            <a:endParaRPr lang="en-US" sz="1500" dirty="0"/>
          </a:p>
        </p:txBody>
      </p:sp>
      <p:sp>
        <p:nvSpPr>
          <p:cNvPr id="33" name="Text 2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Our contest problems: median rating 2200 (LeetCode Hard); 46% are harder than any LeetCode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plans delivery routes with Google's OR-Tools library</a:t>
            </a:r>
            <a:endParaRPr lang="en-US" sz="1700" dirty="0"/>
          </a:p>
        </p:txBody>
      </p:sp>
      <p:sp>
        <p:nvSpPr>
          <p:cNvPr id="4" name="box with the whole manua"/>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with the whole manual</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RegisterUnaryLongLiv"/>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RegisterUnaryLongLivingCallback()</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does not exist: crash</a:t>
            </a:r>
            <a:endParaRPr lang="en-US" sz="1700" dirty="0"/>
          </a:p>
        </p:txBody>
      </p:sp>
      <p:sp>
        <p:nvSpPr>
          <p:cNvPr id="10" name="box with 5 exact lines"/>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with 5 exact lines</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RegisterUnaryTransit"/>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RegisterUnaryTransitCallback()</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runs: best route</a:t>
            </a:r>
            <a:endParaRPr lang="en-US" sz="1700" dirty="0"/>
          </a:p>
        </p:txBody>
      </p:sp>
      <p:sp>
        <p:nvSpPr>
          <p:cNvPr id="16" name="Text 14"/>
          <p:cNvSpPr txBox="1"/>
          <p:nvPr/>
        </p:nvSpPr>
        <p:spPr>
          <a:xfrm>
            <a:off x="548640" y="33375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Routing problems solved optimally (out of 100):</a:t>
            </a:r>
            <a:endParaRPr lang="en-US" sz="1700" dirty="0"/>
          </a:p>
        </p:txBody>
      </p:sp>
      <p:sp>
        <p:nvSpPr>
          <p:cNvPr id="17" name="Text 15"/>
          <p:cNvSpPr txBox="1"/>
          <p:nvPr/>
        </p:nvSpPr>
        <p:spPr>
          <a:xfrm>
            <a:off x="548640" y="37490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063240" y="3817620"/>
            <a:ext cx="1640434" cy="228600"/>
          </a:xfrm>
          <a:prstGeom prst="rect">
            <a:avLst/>
          </a:prstGeom>
          <a:solidFill>
            <a:srgbClr val="7F7F7F"/>
          </a:solidFill>
          <a:ln w="6350">
            <a:solidFill>
              <a:srgbClr val="7F7F7F"/>
            </a:solidFill>
            <a:prstDash val="solid"/>
          </a:ln>
        </p:spPr>
      </p:sp>
      <p:sp>
        <p:nvSpPr>
          <p:cNvPr id="19" name="Text 17"/>
          <p:cNvSpPr txBox="1"/>
          <p:nvPr/>
        </p:nvSpPr>
        <p:spPr>
          <a:xfrm>
            <a:off x="4795114" y="3749040"/>
            <a:ext cx="1371600" cy="36576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2062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063240" y="4274820"/>
            <a:ext cx="213970" cy="228600"/>
          </a:xfrm>
          <a:prstGeom prst="rect">
            <a:avLst/>
          </a:prstGeom>
          <a:solidFill>
            <a:srgbClr val="C00000"/>
          </a:solidFill>
          <a:ln w="6350">
            <a:solidFill>
              <a:srgbClr val="C00000"/>
            </a:solidFill>
            <a:prstDash val="solid"/>
          </a:ln>
        </p:spPr>
      </p:sp>
      <p:sp>
        <p:nvSpPr>
          <p:cNvPr id="22" name="Text 20"/>
          <p:cNvSpPr txBox="1"/>
          <p:nvPr/>
        </p:nvSpPr>
        <p:spPr>
          <a:xfrm>
            <a:off x="3368650" y="4206240"/>
            <a:ext cx="1371600" cy="36576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46634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whole manual</a:t>
            </a:r>
            <a:endParaRPr lang="en-US" sz="1600" dirty="0"/>
          </a:p>
        </p:txBody>
      </p:sp>
      <p:sp>
        <p:nvSpPr>
          <p:cNvPr id="24" name="bar whole manual"/>
          <p:cNvSpPr/>
          <p:nvPr/>
        </p:nvSpPr>
        <p:spPr>
          <a:xfrm>
            <a:off x="3063240" y="4732020"/>
            <a:ext cx="499262" cy="228600"/>
          </a:xfrm>
          <a:prstGeom prst="rect">
            <a:avLst/>
          </a:prstGeom>
          <a:solidFill>
            <a:srgbClr val="C00000"/>
          </a:solidFill>
          <a:ln w="6350">
            <a:solidFill>
              <a:srgbClr val="C00000"/>
            </a:solidFill>
            <a:prstDash val="solid"/>
          </a:ln>
        </p:spPr>
      </p:sp>
      <p:sp>
        <p:nvSpPr>
          <p:cNvPr id="25" name="Text 23"/>
          <p:cNvSpPr txBox="1"/>
          <p:nvPr/>
        </p:nvSpPr>
        <p:spPr>
          <a:xfrm>
            <a:off x="3653942" y="4663440"/>
            <a:ext cx="1371600" cy="36576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120640"/>
            <a:ext cx="2377440" cy="365760"/>
          </a:xfrm>
          <a:prstGeom prst="rect">
            <a:avLst/>
          </a:prstGeom>
          <a:noFill/>
          <a:ln/>
        </p:spPr>
        <p:txBody>
          <a:bodyPr wrap="square" lIns="0" tIns="0" rIns="0" bIns="0" rtlCol="0" anchor="ctr"/>
          <a:lstStyle/>
          <a:p>
            <a:pPr algn="r" indent="0" marL="0">
              <a:buNone/>
            </a:pPr>
            <a:r>
              <a:rPr lang="en-US" sz="1600" dirty="0">
                <a:solidFill>
                  <a:schemeClr val="tx1"/>
                </a:solidFill>
              </a:rPr>
              <a:t>5 exact lines</a:t>
            </a:r>
            <a:endParaRPr lang="en-US" sz="1600" dirty="0"/>
          </a:p>
        </p:txBody>
      </p:sp>
      <p:sp>
        <p:nvSpPr>
          <p:cNvPr id="27" name="bar 5 exact lines"/>
          <p:cNvSpPr/>
          <p:nvPr/>
        </p:nvSpPr>
        <p:spPr>
          <a:xfrm>
            <a:off x="3063240" y="5189220"/>
            <a:ext cx="5919826" cy="228600"/>
          </a:xfrm>
          <a:prstGeom prst="rect">
            <a:avLst/>
          </a:prstGeom>
          <a:solidFill>
            <a:srgbClr val="4472C4"/>
          </a:solidFill>
          <a:ln w="6350">
            <a:solidFill>
              <a:srgbClr val="4472C4"/>
            </a:solidFill>
            <a:prstDash val="solid"/>
          </a:ln>
        </p:spPr>
      </p:sp>
      <p:sp>
        <p:nvSpPr>
          <p:cNvPr id="28" name="Text 26"/>
          <p:cNvSpPr txBox="1"/>
          <p:nvPr/>
        </p:nvSpPr>
        <p:spPr>
          <a:xfrm>
            <a:off x="9074506" y="5120640"/>
            <a:ext cx="1371600" cy="365760"/>
          </a:xfrm>
          <a:prstGeom prst="rect">
            <a:avLst/>
          </a:prstGeom>
          <a:noFill/>
          <a:ln/>
        </p:spPr>
        <p:txBody>
          <a:bodyPr wrap="square" lIns="0" tIns="0" rIns="0" bIns="0" rtlCol="0" anchor="ctr"/>
          <a:lstStyle/>
          <a:p>
            <a:pPr indent="0" marL="0">
              <a:buNone/>
            </a:pPr>
            <a:r>
              <a:rPr lang="en-US" sz="1800" b="1" dirty="0">
                <a:solidFill>
                  <a:srgbClr val="4472C4"/>
                </a:solidFill>
              </a:rPr>
              <a:t>77–90</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a fact the model does not have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harder only when a free check fails</a:t>
            </a:r>
            <a:endParaRPr lang="en-US" sz="3600" dirty="0"/>
          </a:p>
        </p:txBody>
      </p:sp>
      <p:sp>
        <p:nvSpPr>
          <p:cNvPr id="3" name="Check A: the problem's own examples"/>
          <p:cNvSpPr/>
          <p:nvPr/>
        </p:nvSpPr>
        <p:spPr>
          <a:xfrm>
            <a:off x="548640" y="1234440"/>
            <a:ext cx="5440680" cy="4206240"/>
          </a:xfrm>
          <a:prstGeom prst="roundRect">
            <a:avLst>
              <a:gd name="adj" fmla="val 1739"/>
            </a:avLst>
          </a:prstGeom>
          <a:solidFill>
            <a:srgbClr val="F2F2F2"/>
          </a:solidFill>
          <a:ln w="9525">
            <a:solidFill>
              <a:srgbClr val="D9D9D9"/>
            </a:solidFill>
            <a:prstDash val="solid"/>
          </a:ln>
        </p:spPr>
      </p:sp>
      <p:sp>
        <p:nvSpPr>
          <p:cNvPr id="4" name="Text 2"/>
          <p:cNvSpPr txBox="1"/>
          <p:nvPr/>
        </p:nvSpPr>
        <p:spPr>
          <a:xfrm>
            <a:off x="77724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A: the problem's own examples</a:t>
            </a:r>
            <a:endParaRPr lang="en-US" sz="1800" dirty="0"/>
          </a:p>
        </p:txBody>
      </p:sp>
      <p:sp>
        <p:nvSpPr>
          <p:cNvPr id="5" name="box &quot;Make a triangle!&quot;: "/>
          <p:cNvSpPr/>
          <p:nvPr/>
        </p:nvSpPr>
        <p:spPr>
          <a:xfrm>
            <a:off x="777240" y="1874520"/>
            <a:ext cx="4983480" cy="548640"/>
          </a:xfrm>
          <a:prstGeom prst="roundRect">
            <a:avLst>
              <a:gd name="adj" fmla="val 10000"/>
            </a:avLst>
          </a:prstGeom>
          <a:solidFill>
            <a:srgbClr val="E2F0D9"/>
          </a:solidFill>
          <a:ln w="9525">
            <a:solidFill>
              <a:srgbClr val="BFBFBF"/>
            </a:solidFill>
            <a:prstDash val="solid"/>
          </a:ln>
        </p:spPr>
      </p:sp>
      <p:sp>
        <p:nvSpPr>
          <p:cNvPr id="6" name="Text 4"/>
          <p:cNvSpPr txBox="1"/>
          <p:nvPr/>
        </p:nvSpPr>
        <p:spPr>
          <a:xfrm>
            <a:off x="850392" y="187452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"Make a triangle!": examples pass → submit</a:t>
            </a:r>
            <a:endParaRPr lang="en-US" sz="1500" dirty="0"/>
          </a:p>
        </p:txBody>
      </p:sp>
      <p:sp>
        <p:nvSpPr>
          <p:cNvPr id="7" name="box &quot;Arrow&quot;: an example "/>
          <p:cNvSpPr/>
          <p:nvPr/>
        </p:nvSpPr>
        <p:spPr>
          <a:xfrm>
            <a:off x="777240" y="2532888"/>
            <a:ext cx="4983480" cy="548640"/>
          </a:xfrm>
          <a:prstGeom prst="roundRect">
            <a:avLst>
              <a:gd name="adj" fmla="val 10000"/>
            </a:avLst>
          </a:prstGeom>
          <a:solidFill>
            <a:srgbClr val="FADBD8"/>
          </a:solidFill>
          <a:ln w="9525">
            <a:solidFill>
              <a:srgbClr val="BFBFBF"/>
            </a:solidFill>
            <a:prstDash val="solid"/>
          </a:ln>
        </p:spPr>
      </p:sp>
      <p:sp>
        <p:nvSpPr>
          <p:cNvPr id="8" name="Text 6"/>
          <p:cNvSpPr txBox="1"/>
          <p:nvPr/>
        </p:nvSpPr>
        <p:spPr>
          <a:xfrm>
            <a:off x="850392" y="2532888"/>
            <a:ext cx="4837176" cy="548640"/>
          </a:xfrm>
          <a:prstGeom prst="rect">
            <a:avLst/>
          </a:prstGeom>
          <a:noFill/>
          <a:ln/>
        </p:spPr>
        <p:txBody>
          <a:bodyPr wrap="square" lIns="0" tIns="0" rIns="0" bIns="0" rtlCol="0" anchor="ctr"/>
          <a:lstStyle/>
          <a:p>
            <a:pPr algn="ctr" indent="0" marL="0">
              <a:buNone/>
            </a:pPr>
            <a:r>
              <a:rPr lang="en-US" sz="1500" dirty="0">
                <a:solidFill>
                  <a:srgbClr val="C00000"/>
                </a:solidFill>
              </a:rPr>
              <a:t>"Arrow": an example fails → think harder → right</a:t>
            </a:r>
            <a:endParaRPr lang="en-US" sz="1500" dirty="0"/>
          </a:p>
        </p:txBody>
      </p:sp>
      <p:sp>
        <p:nvSpPr>
          <p:cNvPr id="9" name="Text 7"/>
          <p:cNvSpPr txBox="1"/>
          <p:nvPr/>
        </p:nvSpPr>
        <p:spPr>
          <a:xfrm>
            <a:off x="777240" y="3291840"/>
            <a:ext cx="4983480" cy="365760"/>
          </a:xfrm>
          <a:prstGeom prst="rect">
            <a:avLst/>
          </a:prstGeom>
          <a:noFill/>
          <a:ln/>
        </p:spPr>
        <p:txBody>
          <a:bodyPr wrap="square" lIns="0" tIns="0" rIns="0" bIns="0" rtlCol="0" anchor="ctr"/>
          <a:lstStyle/>
          <a:p>
            <a:pPr indent="0" marL="0">
              <a:buNone/>
            </a:pPr>
            <a:r>
              <a:rPr lang="en-US" sz="1400" dirty="0">
                <a:solidFill>
                  <a:schemeClr val="tx2"/>
                </a:solidFill>
              </a:rPr>
              <a:t>311 contest problems (gpt-oss-120b), tokens per problem:</a:t>
            </a:r>
            <a:endParaRPr lang="en-US" sz="1400" dirty="0"/>
          </a:p>
        </p:txBody>
      </p:sp>
      <p:sp>
        <p:nvSpPr>
          <p:cNvPr id="10" name="Text 8"/>
          <p:cNvSpPr txBox="1"/>
          <p:nvPr/>
        </p:nvSpPr>
        <p:spPr>
          <a:xfrm>
            <a:off x="777240" y="370332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always think hard</a:t>
            </a:r>
            <a:endParaRPr lang="en-US" sz="1400" dirty="0"/>
          </a:p>
        </p:txBody>
      </p:sp>
      <p:sp>
        <p:nvSpPr>
          <p:cNvPr id="11" name="Check A: the problem's own examples always think hard"/>
          <p:cNvSpPr/>
          <p:nvPr/>
        </p:nvSpPr>
        <p:spPr>
          <a:xfrm>
            <a:off x="2880360" y="3813048"/>
            <a:ext cx="1463040" cy="256032"/>
          </a:xfrm>
          <a:prstGeom prst="rect">
            <a:avLst/>
          </a:prstGeom>
          <a:solidFill>
            <a:srgbClr val="7F7F7F"/>
          </a:solidFill>
          <a:ln w="6350">
            <a:solidFill>
              <a:srgbClr val="7F7F7F"/>
            </a:solidFill>
            <a:prstDash val="solid"/>
          </a:ln>
        </p:spPr>
      </p:sp>
      <p:sp>
        <p:nvSpPr>
          <p:cNvPr id="12" name="Text 10"/>
          <p:cNvSpPr txBox="1"/>
          <p:nvPr/>
        </p:nvSpPr>
        <p:spPr>
          <a:xfrm>
            <a:off x="4434840" y="3703320"/>
            <a:ext cx="1463040" cy="457200"/>
          </a:xfrm>
          <a:prstGeom prst="rect">
            <a:avLst/>
          </a:prstGeom>
          <a:noFill/>
          <a:ln/>
        </p:spPr>
        <p:txBody>
          <a:bodyPr wrap="square" lIns="0" tIns="0" rIns="0" bIns="0" rtlCol="0" anchor="ctr"/>
          <a:lstStyle/>
          <a:p>
            <a:pPr indent="0" marL="0">
              <a:buNone/>
            </a:pPr>
            <a:r>
              <a:rPr lang="en-US" sz="1500" b="1" dirty="0">
                <a:solidFill>
                  <a:srgbClr val="7F7F7F"/>
                </a:solidFill>
              </a:rPr>
              <a:t>66.2% · 30k</a:t>
            </a:r>
            <a:endParaRPr lang="en-US" sz="1500" dirty="0"/>
          </a:p>
        </p:txBody>
      </p:sp>
      <p:sp>
        <p:nvSpPr>
          <p:cNvPr id="13" name="Text 11"/>
          <p:cNvSpPr txBox="1"/>
          <p:nvPr/>
        </p:nvSpPr>
        <p:spPr>
          <a:xfrm>
            <a:off x="777240" y="425196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only on failure</a:t>
            </a:r>
            <a:endParaRPr lang="en-US" sz="1400" dirty="0"/>
          </a:p>
        </p:txBody>
      </p:sp>
      <p:sp>
        <p:nvSpPr>
          <p:cNvPr id="14" name="Check A: the problem's own examples only on failure"/>
          <p:cNvSpPr/>
          <p:nvPr/>
        </p:nvSpPr>
        <p:spPr>
          <a:xfrm>
            <a:off x="2880360" y="4361688"/>
            <a:ext cx="1199693" cy="256032"/>
          </a:xfrm>
          <a:prstGeom prst="rect">
            <a:avLst/>
          </a:prstGeom>
          <a:solidFill>
            <a:srgbClr val="4472C4"/>
          </a:solidFill>
          <a:ln w="6350">
            <a:solidFill>
              <a:srgbClr val="4472C4"/>
            </a:solidFill>
            <a:prstDash val="solid"/>
          </a:ln>
        </p:spPr>
      </p:sp>
      <p:sp>
        <p:nvSpPr>
          <p:cNvPr id="15" name="Text 13"/>
          <p:cNvSpPr txBox="1"/>
          <p:nvPr/>
        </p:nvSpPr>
        <p:spPr>
          <a:xfrm>
            <a:off x="4171493" y="4251960"/>
            <a:ext cx="1463040" cy="457200"/>
          </a:xfrm>
          <a:prstGeom prst="rect">
            <a:avLst/>
          </a:prstGeom>
          <a:noFill/>
          <a:ln/>
        </p:spPr>
        <p:txBody>
          <a:bodyPr wrap="square" lIns="0" tIns="0" rIns="0" bIns="0" rtlCol="0" anchor="ctr"/>
          <a:lstStyle/>
          <a:p>
            <a:pPr indent="0" marL="0">
              <a:buNone/>
            </a:pPr>
            <a:r>
              <a:rPr lang="en-US" sz="1500" b="1" dirty="0">
                <a:solidFill>
                  <a:srgbClr val="4472C4"/>
                </a:solidFill>
              </a:rPr>
              <a:t>66.3% · 25k</a:t>
            </a:r>
            <a:endParaRPr lang="en-US" sz="1500" dirty="0"/>
          </a:p>
        </p:txBody>
      </p:sp>
      <p:sp>
        <p:nvSpPr>
          <p:cNvPr id="16" name="Check B: two versions must agree"/>
          <p:cNvSpPr/>
          <p:nvPr/>
        </p:nvSpPr>
        <p:spPr>
          <a:xfrm>
            <a:off x="6172200" y="1234440"/>
            <a:ext cx="5440680" cy="4206240"/>
          </a:xfrm>
          <a:prstGeom prst="roundRect">
            <a:avLst>
              <a:gd name="adj" fmla="val 1739"/>
            </a:avLst>
          </a:prstGeom>
          <a:solidFill>
            <a:srgbClr val="F2F2F2"/>
          </a:solidFill>
          <a:ln w="9525">
            <a:solidFill>
              <a:srgbClr val="D9D9D9"/>
            </a:solidFill>
            <a:prstDash val="solid"/>
          </a:ln>
        </p:spPr>
      </p:sp>
      <p:sp>
        <p:nvSpPr>
          <p:cNvPr id="17" name="Text 15"/>
          <p:cNvSpPr txBox="1"/>
          <p:nvPr/>
        </p:nvSpPr>
        <p:spPr>
          <a:xfrm>
            <a:off x="6400800" y="1325880"/>
            <a:ext cx="4983480" cy="457200"/>
          </a:xfrm>
          <a:prstGeom prst="rect">
            <a:avLst/>
          </a:prstGeom>
          <a:noFill/>
          <a:ln/>
        </p:spPr>
        <p:txBody>
          <a:bodyPr wrap="square" lIns="0" tIns="0" rIns="0" bIns="0" rtlCol="0" anchor="ctr"/>
          <a:lstStyle/>
          <a:p>
            <a:pPr indent="0" marL="0">
              <a:buNone/>
            </a:pPr>
            <a:r>
              <a:rPr lang="en-US" sz="1800" b="1" dirty="0">
                <a:solidFill>
                  <a:srgbClr val="4472C4"/>
                </a:solidFill>
              </a:rPr>
              <a:t>Check B: two versions must agree</a:t>
            </a:r>
            <a:endParaRPr lang="en-US" sz="1800" dirty="0"/>
          </a:p>
        </p:txBody>
      </p:sp>
      <p:sp>
        <p:nvSpPr>
          <p:cNvPr id="18" name="box task only → program "/>
          <p:cNvSpPr/>
          <p:nvPr/>
        </p:nvSpPr>
        <p:spPr>
          <a:xfrm>
            <a:off x="6400800" y="1874520"/>
            <a:ext cx="4983480" cy="548640"/>
          </a:xfrm>
          <a:prstGeom prst="roundRect">
            <a:avLst>
              <a:gd name="adj" fmla="val 10000"/>
            </a:avLst>
          </a:prstGeom>
          <a:solidFill>
            <a:srgbClr val="E2F0D9"/>
          </a:solidFill>
          <a:ln w="9525">
            <a:solidFill>
              <a:srgbClr val="BFBFBF"/>
            </a:solidFill>
            <a:prstDash val="solid"/>
          </a:ln>
        </p:spPr>
      </p:sp>
      <p:sp>
        <p:nvSpPr>
          <p:cNvPr id="19" name="Text 17"/>
          <p:cNvSpPr txBox="1"/>
          <p:nvPr/>
        </p:nvSpPr>
        <p:spPr>
          <a:xfrm>
            <a:off x="6473952" y="1874520"/>
            <a:ext cx="4837176" cy="548640"/>
          </a:xfrm>
          <a:prstGeom prst="rect">
            <a:avLst/>
          </a:prstGeom>
          <a:noFill/>
          <a:ln/>
        </p:spPr>
        <p:txBody>
          <a:bodyPr wrap="square" lIns="0" tIns="0" rIns="0" bIns="0" rtlCol="0" anchor="ctr"/>
          <a:lstStyle/>
          <a:p>
            <a:pPr algn="ctr" indent="0" marL="0">
              <a:buNone/>
            </a:pPr>
            <a:r>
              <a:rPr lang="en-US" sz="1500" dirty="0">
                <a:solidFill>
                  <a:srgbClr val="38761D"/>
                </a:solidFill>
              </a:rPr>
              <a:t>task only → program prints 6</a:t>
            </a:r>
            <a:endParaRPr lang="en-US" sz="1500" dirty="0"/>
          </a:p>
        </p:txBody>
      </p:sp>
      <p:sp>
        <p:nvSpPr>
          <p:cNvPr id="20" name="box + 8 unneeded helpers"/>
          <p:cNvSpPr/>
          <p:nvPr/>
        </p:nvSpPr>
        <p:spPr>
          <a:xfrm>
            <a:off x="6400800" y="2532888"/>
            <a:ext cx="4983480" cy="548640"/>
          </a:xfrm>
          <a:prstGeom prst="roundRect">
            <a:avLst>
              <a:gd name="adj" fmla="val 10000"/>
            </a:avLst>
          </a:prstGeom>
          <a:solidFill>
            <a:srgbClr val="FADBD8"/>
          </a:solidFill>
          <a:ln w="9525">
            <a:solidFill>
              <a:srgbClr val="BFBFBF"/>
            </a:solidFill>
            <a:prstDash val="solid"/>
          </a:ln>
        </p:spPr>
      </p:sp>
      <p:sp>
        <p:nvSpPr>
          <p:cNvPr id="21" name="Text 19"/>
          <p:cNvSpPr txBox="1"/>
          <p:nvPr/>
        </p:nvSpPr>
        <p:spPr>
          <a:xfrm>
            <a:off x="6473952" y="2532888"/>
            <a:ext cx="4837176" cy="548640"/>
          </a:xfrm>
          <a:prstGeom prst="rect">
            <a:avLst/>
          </a:prstGeom>
          <a:noFill/>
          <a:ln/>
        </p:spPr>
        <p:txBody>
          <a:bodyPr wrap="square" lIns="0" tIns="0" rIns="0" bIns="0" rtlCol="0" anchor="ctr"/>
          <a:lstStyle/>
          <a:p>
            <a:pPr algn="ctr" indent="0" marL="0">
              <a:buNone/>
            </a:pPr>
            <a:r>
              <a:rPr lang="en-US" sz="1500" dirty="0">
                <a:solidFill>
                  <a:srgbClr val="C00000"/>
                </a:solidFill>
              </a:rPr>
              <a:t>+ 8 unneeded helpers → prints 0 → differ → think</a:t>
            </a:r>
            <a:endParaRPr lang="en-US" sz="1500" dirty="0"/>
          </a:p>
        </p:txBody>
      </p:sp>
      <p:sp>
        <p:nvSpPr>
          <p:cNvPr id="22" name="Text 20"/>
          <p:cNvSpPr txBox="1"/>
          <p:nvPr/>
        </p:nvSpPr>
        <p:spPr>
          <a:xfrm>
            <a:off x="6400800" y="3291840"/>
            <a:ext cx="4983480" cy="365760"/>
          </a:xfrm>
          <a:prstGeom prst="rect">
            <a:avLst/>
          </a:prstGeom>
          <a:noFill/>
          <a:ln/>
        </p:spPr>
        <p:txBody>
          <a:bodyPr wrap="square" lIns="0" tIns="0" rIns="0" bIns="0" rtlCol="0" anchor="ctr"/>
          <a:lstStyle/>
          <a:p>
            <a:pPr indent="0" marL="0">
              <a:buNone/>
            </a:pPr>
            <a:r>
              <a:rPr lang="en-US" sz="1400" dirty="0">
                <a:solidFill>
                  <a:schemeClr val="tx2"/>
                </a:solidFill>
              </a:rPr>
              <a:t>108 geometry problems (Qwen3-32B, 3 runs):</a:t>
            </a:r>
            <a:endParaRPr lang="en-US" sz="1400" dirty="0"/>
          </a:p>
        </p:txBody>
      </p:sp>
      <p:sp>
        <p:nvSpPr>
          <p:cNvPr id="23" name="Text 21"/>
          <p:cNvSpPr txBox="1"/>
          <p:nvPr/>
        </p:nvSpPr>
        <p:spPr>
          <a:xfrm>
            <a:off x="6400800" y="370332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24" name="Check B: two versions must agree always think"/>
          <p:cNvSpPr/>
          <p:nvPr/>
        </p:nvSpPr>
        <p:spPr>
          <a:xfrm>
            <a:off x="8503920" y="3813048"/>
            <a:ext cx="1463040" cy="256032"/>
          </a:xfrm>
          <a:prstGeom prst="rect">
            <a:avLst/>
          </a:prstGeom>
          <a:solidFill>
            <a:srgbClr val="7F7F7F"/>
          </a:solidFill>
          <a:ln w="6350">
            <a:solidFill>
              <a:srgbClr val="7F7F7F"/>
            </a:solidFill>
            <a:prstDash val="solid"/>
          </a:ln>
        </p:spPr>
      </p:sp>
      <p:sp>
        <p:nvSpPr>
          <p:cNvPr id="25" name="Text 23"/>
          <p:cNvSpPr txBox="1"/>
          <p:nvPr/>
        </p:nvSpPr>
        <p:spPr>
          <a:xfrm>
            <a:off x="10058400" y="3703320"/>
            <a:ext cx="1463040" cy="457200"/>
          </a:xfrm>
          <a:prstGeom prst="rect">
            <a:avLst/>
          </a:prstGeom>
          <a:noFill/>
          <a:ln/>
        </p:spPr>
        <p:txBody>
          <a:bodyPr wrap="square" lIns="0" tIns="0" rIns="0" bIns="0" rtlCol="0" anchor="ctr"/>
          <a:lstStyle/>
          <a:p>
            <a:pPr indent="0" marL="0">
              <a:buNone/>
            </a:pPr>
            <a:r>
              <a:rPr lang="en-US" sz="1500" b="1" dirty="0">
                <a:solidFill>
                  <a:srgbClr val="7F7F7F"/>
                </a:solidFill>
              </a:rPr>
              <a:t>98% · 5.9k</a:t>
            </a:r>
            <a:endParaRPr lang="en-US" sz="1500" dirty="0"/>
          </a:p>
        </p:txBody>
      </p:sp>
      <p:sp>
        <p:nvSpPr>
          <p:cNvPr id="26" name="Text 24"/>
          <p:cNvSpPr txBox="1"/>
          <p:nvPr/>
        </p:nvSpPr>
        <p:spPr>
          <a:xfrm>
            <a:off x="6400800" y="4251960"/>
            <a:ext cx="2011680" cy="457200"/>
          </a:xfrm>
          <a:prstGeom prst="rect">
            <a:avLst/>
          </a:prstGeom>
          <a:noFill/>
          <a:ln/>
        </p:spPr>
        <p:txBody>
          <a:bodyPr wrap="square" lIns="0" tIns="0" rIns="0" bIns="0" rtlCol="0" anchor="ctr"/>
          <a:lstStyle/>
          <a:p>
            <a:pPr algn="r" indent="0" marL="0">
              <a:buNone/>
            </a:pPr>
            <a:r>
              <a:rPr lang="en-US" sz="1400" dirty="0">
                <a:solidFill>
                  <a:schemeClr val="tx1"/>
                </a:solidFill>
              </a:rPr>
              <a:t>only if they differ</a:t>
            </a:r>
            <a:endParaRPr lang="en-US" sz="1400" dirty="0"/>
          </a:p>
        </p:txBody>
      </p:sp>
      <p:sp>
        <p:nvSpPr>
          <p:cNvPr id="27" name="Check B: two versions must agree only if they differ"/>
          <p:cNvSpPr/>
          <p:nvPr/>
        </p:nvSpPr>
        <p:spPr>
          <a:xfrm>
            <a:off x="8503920" y="4361688"/>
            <a:ext cx="1068019" cy="256032"/>
          </a:xfrm>
          <a:prstGeom prst="rect">
            <a:avLst/>
          </a:prstGeom>
          <a:solidFill>
            <a:srgbClr val="4472C4"/>
          </a:solidFill>
          <a:ln w="6350">
            <a:solidFill>
              <a:srgbClr val="4472C4"/>
            </a:solidFill>
            <a:prstDash val="solid"/>
          </a:ln>
        </p:spPr>
      </p:sp>
      <p:sp>
        <p:nvSpPr>
          <p:cNvPr id="28" name="Text 26"/>
          <p:cNvSpPr txBox="1"/>
          <p:nvPr/>
        </p:nvSpPr>
        <p:spPr>
          <a:xfrm>
            <a:off x="9663379" y="4251960"/>
            <a:ext cx="1463040" cy="457200"/>
          </a:xfrm>
          <a:prstGeom prst="rect">
            <a:avLst/>
          </a:prstGeom>
          <a:noFill/>
          <a:ln/>
        </p:spPr>
        <p:txBody>
          <a:bodyPr wrap="square" lIns="0" tIns="0" rIns="0" bIns="0" rtlCol="0" anchor="ctr"/>
          <a:lstStyle/>
          <a:p>
            <a:pPr indent="0" marL="0">
              <a:buNone/>
            </a:pPr>
            <a:r>
              <a:rPr lang="en-US" sz="1500" b="1" dirty="0">
                <a:solidFill>
                  <a:srgbClr val="4472C4"/>
                </a:solidFill>
              </a:rPr>
              <a:t>99% · 4.3k</a:t>
            </a:r>
            <a:endParaRPr lang="en-US" sz="15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with 18–27% fewer tokens; no answers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at $10, $15, $20 under three limits; minimum cost? → 20000</a:t>
            </a:r>
            <a:endParaRPr lang="en-US" sz="1600" dirty="0"/>
          </a:p>
        </p:txBody>
      </p:sp>
      <p:sp>
        <p:nvSpPr>
          <p:cNvPr id="4" name="Text 2"/>
          <p:cNvSpPr txBox="1"/>
          <p:nvPr/>
        </p:nvSpPr>
        <p:spPr>
          <a:xfrm>
            <a:off x="54864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1 Program</a:t>
            </a:r>
            <a:endParaRPr lang="en-US" sz="1700" dirty="0"/>
          </a:p>
        </p:txBody>
      </p:sp>
      <p:sp>
        <p:nvSpPr>
          <p:cNvPr id="5" name="step 1 Program"/>
          <p:cNvSpPr/>
          <p:nvPr/>
        </p:nvSpPr>
        <p:spPr>
          <a:xfrm>
            <a:off x="548640" y="2011680"/>
            <a:ext cx="2103120" cy="1325880"/>
          </a:xfrm>
          <a:prstGeom prst="roundRect">
            <a:avLst>
              <a:gd name="adj" fmla="val 5517"/>
            </a:avLst>
          </a:prstGeom>
          <a:solidFill>
            <a:srgbClr val="FADBD8"/>
          </a:solidFill>
          <a:ln w="12700">
            <a:solidFill>
              <a:srgbClr val="C00000"/>
            </a:solidFill>
            <a:prstDash val="solid"/>
          </a:ln>
        </p:spPr>
      </p:sp>
      <p:sp>
        <p:nvSpPr>
          <p:cNvPr id="6" name="Text 4"/>
          <p:cNvSpPr txBox="1"/>
          <p:nvPr/>
        </p:nvSpPr>
        <p:spPr>
          <a:xfrm>
            <a:off x="621792" y="2057400"/>
            <a:ext cx="1956816" cy="566928"/>
          </a:xfrm>
          <a:prstGeom prst="rect">
            <a:avLst/>
          </a:prstGeom>
          <a:noFill/>
          <a:ln/>
        </p:spPr>
        <p:txBody>
          <a:bodyPr wrap="square" lIns="0" tIns="0" rIns="0" bIns="0" rtlCol="0" anchor="ctr"/>
          <a:lstStyle/>
          <a:p>
            <a:pPr algn="ctr" indent="0" marL="0">
              <a:buNone/>
            </a:pPr>
            <a:r>
              <a:rPr lang="en-US" sz="1400" b="1" dirty="0">
                <a:solidFill>
                  <a:srgbClr val="C00000"/>
                </a:solidFill>
                <a:latin typeface="Courier New" pitchFamily="34" charset="0"/>
                <a:ea typeface="Courier New" pitchFamily="34" charset="-122"/>
                <a:cs typeface="Courier New" pitchFamily="34" charset="-120"/>
              </a:rPr>
              <a:t>Objective()</a:t>
            </a:r>
            <a:endParaRPr lang="en-US" sz="1400" dirty="0"/>
          </a:p>
          <a:p>
            <a:pPr algn="ctr" indent="0" marL="0">
              <a:buNone/>
            </a:pPr>
            <a:r>
              <a:rPr lang="en-US" sz="1400" b="1" dirty="0">
                <a:solidFill>
                  <a:srgbClr val="C00000"/>
                </a:solidFill>
                <a:latin typeface="Courier New" pitchFamily="34" charset="0"/>
                <a:ea typeface="Courier New" pitchFamily="34" charset="-122"/>
                <a:cs typeface="Courier New" pitchFamily="34" charset="-120"/>
              </a:rPr>
              <a:t>.Minimize()</a:t>
            </a:r>
            <a:endParaRPr lang="en-US" sz="1400" dirty="0"/>
          </a:p>
        </p:txBody>
      </p:sp>
      <p:sp>
        <p:nvSpPr>
          <p:cNvPr id="7" name="Text 5"/>
          <p:cNvSpPr txBox="1"/>
          <p:nvPr/>
        </p:nvSpPr>
        <p:spPr>
          <a:xfrm>
            <a:off x="64008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 crash, no fact</a:t>
            </a:r>
            <a:endParaRPr lang="en-US" sz="1400" dirty="0"/>
          </a:p>
        </p:txBody>
      </p:sp>
      <p:sp>
        <p:nvSpPr>
          <p:cNvPr id="8" name="Shape 6"/>
          <p:cNvSpPr/>
          <p:nvPr/>
        </p:nvSpPr>
        <p:spPr>
          <a:xfrm>
            <a:off x="2651760" y="2670048"/>
            <a:ext cx="137160" cy="0"/>
          </a:xfrm>
          <a:prstGeom prst="line">
            <a:avLst/>
          </a:prstGeom>
          <a:noFill/>
          <a:ln w="25400">
            <a:solidFill>
              <a:srgbClr val="7F7F7F"/>
            </a:solidFill>
            <a:prstDash val="solid"/>
            <a:tailEnd type="triangle"/>
          </a:ln>
        </p:spPr>
      </p:sp>
      <p:sp>
        <p:nvSpPr>
          <p:cNvPr id="9" name="Text 7"/>
          <p:cNvSpPr txBox="1"/>
          <p:nvPr/>
        </p:nvSpPr>
        <p:spPr>
          <a:xfrm>
            <a:off x="278892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2 + Fact</a:t>
            </a:r>
            <a:endParaRPr lang="en-US" sz="1700" dirty="0"/>
          </a:p>
        </p:txBody>
      </p:sp>
      <p:sp>
        <p:nvSpPr>
          <p:cNvPr id="10" name="step 2 + Fact"/>
          <p:cNvSpPr/>
          <p:nvPr/>
        </p:nvSpPr>
        <p:spPr>
          <a:xfrm>
            <a:off x="2788920" y="2011680"/>
            <a:ext cx="2103120" cy="1325880"/>
          </a:xfrm>
          <a:prstGeom prst="roundRect">
            <a:avLst>
              <a:gd name="adj" fmla="val 5517"/>
            </a:avLst>
          </a:prstGeom>
          <a:solidFill>
            <a:srgbClr val="E2F0D9"/>
          </a:solidFill>
          <a:ln w="12700">
            <a:solidFill>
              <a:srgbClr val="38761D"/>
            </a:solidFill>
            <a:prstDash val="solid"/>
          </a:ln>
        </p:spPr>
      </p:sp>
      <p:sp>
        <p:nvSpPr>
          <p:cNvPr id="11" name="Text 9"/>
          <p:cNvSpPr txBox="1"/>
          <p:nvPr/>
        </p:nvSpPr>
        <p:spPr>
          <a:xfrm>
            <a:off x="2862072" y="2057400"/>
            <a:ext cx="1956816" cy="566928"/>
          </a:xfrm>
          <a:prstGeom prst="rect">
            <a:avLst/>
          </a:prstGeom>
          <a:noFill/>
          <a:ln/>
        </p:spPr>
        <p:txBody>
          <a:bodyPr wrap="square" lIns="0" tIns="0" rIns="0" bIns="0" rtlCol="0" anchor="ctr"/>
          <a:lstStyle/>
          <a:p>
            <a:pPr algn="ctr" indent="0" marL="0">
              <a:buNone/>
            </a:pPr>
            <a:r>
              <a:rPr lang="en-US" sz="1400" b="1" dirty="0">
                <a:solidFill>
                  <a:srgbClr val="38761D"/>
                </a:solidFill>
                <a:latin typeface="Courier New" pitchFamily="34" charset="0"/>
                <a:ea typeface="Courier New" pitchFamily="34" charset="-122"/>
                <a:cs typeface="Courier New" pitchFamily="34" charset="-120"/>
              </a:rPr>
              <a:t>solver</a:t>
            </a:r>
            <a:endParaRPr lang="en-US" sz="1400" dirty="0"/>
          </a:p>
          <a:p>
            <a:pPr algn="ctr" indent="0" marL="0">
              <a:buNone/>
            </a:pPr>
            <a:r>
              <a:rPr lang="en-US" sz="1400" b="1" dirty="0">
                <a:solidFill>
                  <a:srgbClr val="38761D"/>
                </a:solidFill>
                <a:latin typeface="Courier New" pitchFamily="34" charset="0"/>
                <a:ea typeface="Courier New" pitchFamily="34" charset="-122"/>
                <a:cs typeface="Courier New" pitchFamily="34" charset="-120"/>
              </a:rPr>
              <a:t>.Minimize(...)</a:t>
            </a:r>
            <a:endParaRPr lang="en-US" sz="1400" dirty="0"/>
          </a:p>
        </p:txBody>
      </p:sp>
      <p:sp>
        <p:nvSpPr>
          <p:cNvPr id="12" name="Text 10"/>
          <p:cNvSpPr txBox="1"/>
          <p:nvPr/>
        </p:nvSpPr>
        <p:spPr>
          <a:xfrm>
            <a:off x="288036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found automatically: its own checked program</a:t>
            </a:r>
            <a:endParaRPr lang="en-US" sz="1400" dirty="0"/>
          </a:p>
        </p:txBody>
      </p:sp>
      <p:sp>
        <p:nvSpPr>
          <p:cNvPr id="13" name="Shape 11"/>
          <p:cNvSpPr/>
          <p:nvPr/>
        </p:nvSpPr>
        <p:spPr>
          <a:xfrm>
            <a:off x="4892040" y="2670048"/>
            <a:ext cx="137160" cy="0"/>
          </a:xfrm>
          <a:prstGeom prst="line">
            <a:avLst/>
          </a:prstGeom>
          <a:noFill/>
          <a:ln w="25400">
            <a:solidFill>
              <a:srgbClr val="7F7F7F"/>
            </a:solidFill>
            <a:prstDash val="solid"/>
            <a:tailEnd type="triangle"/>
          </a:ln>
        </p:spPr>
      </p:sp>
      <p:sp>
        <p:nvSpPr>
          <p:cNvPr id="14" name="Text 12"/>
          <p:cNvSpPr txBox="1"/>
          <p:nvPr/>
        </p:nvSpPr>
        <p:spPr>
          <a:xfrm>
            <a:off x="502920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3 Free check</a:t>
            </a:r>
            <a:endParaRPr lang="en-US" sz="1700" dirty="0"/>
          </a:p>
        </p:txBody>
      </p:sp>
      <p:sp>
        <p:nvSpPr>
          <p:cNvPr id="15" name="step 3 Free check"/>
          <p:cNvSpPr/>
          <p:nvPr/>
        </p:nvSpPr>
        <p:spPr>
          <a:xfrm>
            <a:off x="5029200" y="2011680"/>
            <a:ext cx="2103120" cy="1325880"/>
          </a:xfrm>
          <a:prstGeom prst="roundRect">
            <a:avLst>
              <a:gd name="adj" fmla="val 5517"/>
            </a:avLst>
          </a:prstGeom>
          <a:solidFill>
            <a:srgbClr val="E2F0D9"/>
          </a:solidFill>
          <a:ln w="12700">
            <a:solidFill>
              <a:srgbClr val="38761D"/>
            </a:solidFill>
            <a:prstDash val="solid"/>
          </a:ln>
        </p:spPr>
      </p:sp>
      <p:sp>
        <p:nvSpPr>
          <p:cNvPr id="16" name="Text 14"/>
          <p:cNvSpPr txBox="1"/>
          <p:nvPr/>
        </p:nvSpPr>
        <p:spPr>
          <a:xfrm>
            <a:off x="5102352" y="2057400"/>
            <a:ext cx="1956816" cy="566928"/>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17" name="Text 15"/>
          <p:cNvSpPr txBox="1"/>
          <p:nvPr/>
        </p:nvSpPr>
        <p:spPr>
          <a:xfrm>
            <a:off x="512064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a second version agrees</a:t>
            </a:r>
            <a:endParaRPr lang="en-US" sz="1400" dirty="0"/>
          </a:p>
        </p:txBody>
      </p:sp>
      <p:sp>
        <p:nvSpPr>
          <p:cNvPr id="18" name="Shape 16"/>
          <p:cNvSpPr/>
          <p:nvPr/>
        </p:nvSpPr>
        <p:spPr>
          <a:xfrm>
            <a:off x="7132320" y="2670048"/>
            <a:ext cx="137160" cy="0"/>
          </a:xfrm>
          <a:prstGeom prst="line">
            <a:avLst/>
          </a:prstGeom>
          <a:noFill/>
          <a:ln w="25400">
            <a:solidFill>
              <a:srgbClr val="7F7F7F"/>
            </a:solidFill>
            <a:prstDash val="solid"/>
            <a:tailEnd type="triangle"/>
          </a:ln>
        </p:spPr>
      </p:sp>
      <p:sp>
        <p:nvSpPr>
          <p:cNvPr id="19" name="Text 17"/>
          <p:cNvSpPr txBox="1"/>
          <p:nvPr/>
        </p:nvSpPr>
        <p:spPr>
          <a:xfrm>
            <a:off x="726948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4 Think?</a:t>
            </a:r>
            <a:endParaRPr lang="en-US" sz="1700" dirty="0"/>
          </a:p>
        </p:txBody>
      </p:sp>
      <p:sp>
        <p:nvSpPr>
          <p:cNvPr id="20" name="step 4 Think?"/>
          <p:cNvSpPr/>
          <p:nvPr/>
        </p:nvSpPr>
        <p:spPr>
          <a:xfrm>
            <a:off x="7269480" y="2011680"/>
            <a:ext cx="2103120" cy="1325880"/>
          </a:xfrm>
          <a:prstGeom prst="roundRect">
            <a:avLst>
              <a:gd name="adj" fmla="val 5517"/>
            </a:avLst>
          </a:prstGeom>
          <a:solidFill>
            <a:srgbClr val="F2F2F2"/>
          </a:solidFill>
          <a:ln w="12700">
            <a:solidFill>
              <a:srgbClr val="7F7F7F"/>
            </a:solidFill>
            <a:prstDash val="solid"/>
          </a:ln>
        </p:spPr>
      </p:sp>
      <p:sp>
        <p:nvSpPr>
          <p:cNvPr id="21" name="Text 19"/>
          <p:cNvSpPr txBox="1"/>
          <p:nvPr/>
        </p:nvSpPr>
        <p:spPr>
          <a:xfrm>
            <a:off x="7342632" y="2057400"/>
            <a:ext cx="1956816" cy="566928"/>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22" name="Text 20"/>
          <p:cNvSpPr txBox="1"/>
          <p:nvPr/>
        </p:nvSpPr>
        <p:spPr>
          <a:xfrm>
            <a:off x="736092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only if they differ</a:t>
            </a:r>
            <a:endParaRPr lang="en-US" sz="1400" dirty="0"/>
          </a:p>
        </p:txBody>
      </p:sp>
      <p:sp>
        <p:nvSpPr>
          <p:cNvPr id="23" name="Shape 21"/>
          <p:cNvSpPr/>
          <p:nvPr/>
        </p:nvSpPr>
        <p:spPr>
          <a:xfrm>
            <a:off x="9372600" y="2670048"/>
            <a:ext cx="137160" cy="0"/>
          </a:xfrm>
          <a:prstGeom prst="line">
            <a:avLst/>
          </a:prstGeom>
          <a:noFill/>
          <a:ln w="25400">
            <a:solidFill>
              <a:srgbClr val="7F7F7F"/>
            </a:solidFill>
            <a:prstDash val="solid"/>
            <a:tailEnd type="triangle"/>
          </a:ln>
        </p:spPr>
      </p:sp>
      <p:sp>
        <p:nvSpPr>
          <p:cNvPr id="24" name="Text 22"/>
          <p:cNvSpPr txBox="1"/>
          <p:nvPr/>
        </p:nvSpPr>
        <p:spPr>
          <a:xfrm>
            <a:off x="9509760" y="1627632"/>
            <a:ext cx="2103120" cy="365760"/>
          </a:xfrm>
          <a:prstGeom prst="rect">
            <a:avLst/>
          </a:prstGeom>
          <a:noFill/>
          <a:ln/>
        </p:spPr>
        <p:txBody>
          <a:bodyPr wrap="square" lIns="0" tIns="0" rIns="0" bIns="0" rtlCol="0" anchor="ctr"/>
          <a:lstStyle/>
          <a:p>
            <a:pPr indent="0" marL="0">
              <a:buNone/>
            </a:pPr>
            <a:r>
              <a:rPr lang="en-US" sz="1700" b="1" dirty="0">
                <a:solidFill>
                  <a:srgbClr val="4472C4"/>
                </a:solidFill>
              </a:rPr>
              <a:t>5 Reuse</a:t>
            </a:r>
            <a:endParaRPr lang="en-US" sz="1700" dirty="0"/>
          </a:p>
        </p:txBody>
      </p:sp>
      <p:sp>
        <p:nvSpPr>
          <p:cNvPr id="25" name="step 5 Reuse"/>
          <p:cNvSpPr/>
          <p:nvPr/>
        </p:nvSpPr>
        <p:spPr>
          <a:xfrm>
            <a:off x="9509760" y="2011680"/>
            <a:ext cx="2103120" cy="1325880"/>
          </a:xfrm>
          <a:prstGeom prst="roundRect">
            <a:avLst>
              <a:gd name="adj" fmla="val 5517"/>
            </a:avLst>
          </a:prstGeom>
          <a:solidFill>
            <a:srgbClr val="DEEBF7"/>
          </a:solidFill>
          <a:ln w="12700">
            <a:solidFill>
              <a:srgbClr val="4472C4"/>
            </a:solidFill>
            <a:prstDash val="solid"/>
          </a:ln>
        </p:spPr>
      </p:sp>
      <p:sp>
        <p:nvSpPr>
          <p:cNvPr id="26" name="Text 24"/>
          <p:cNvSpPr txBox="1"/>
          <p:nvPr/>
        </p:nvSpPr>
        <p:spPr>
          <a:xfrm>
            <a:off x="9582912" y="2057400"/>
            <a:ext cx="1956816" cy="566928"/>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27" name="Text 25"/>
          <p:cNvSpPr txBox="1"/>
          <p:nvPr/>
        </p:nvSpPr>
        <p:spPr>
          <a:xfrm>
            <a:off x="9601200" y="2651760"/>
            <a:ext cx="1920240" cy="658368"/>
          </a:xfrm>
          <a:prstGeom prst="rect">
            <a:avLst/>
          </a:prstGeom>
          <a:noFill/>
          <a:ln/>
        </p:spPr>
        <p:txBody>
          <a:bodyPr wrap="square" lIns="0" tIns="0" rIns="0" bIns="0" rtlCol="0" anchor="t"/>
          <a:lstStyle/>
          <a:p>
            <a:pPr algn="ctr" indent="0" marL="0">
              <a:buNone/>
            </a:pPr>
            <a:r>
              <a:rPr lang="en-US" sz="1400" dirty="0">
                <a:solidFill>
                  <a:schemeClr val="tx1"/>
                </a:solidFill>
              </a:rPr>
              <a:t>same kind, new data</a:t>
            </a:r>
            <a:endParaRPr lang="en-US" sz="1400" dirty="0"/>
          </a:p>
        </p:txBody>
      </p:sp>
      <p:sp>
        <p:nvSpPr>
          <p:cNvPr id="28" name="Text 26"/>
          <p:cNvSpPr txBox="1"/>
          <p:nvPr/>
        </p:nvSpPr>
        <p:spPr>
          <a:xfrm>
            <a:off x="548640" y="3611880"/>
            <a:ext cx="6400800" cy="365760"/>
          </a:xfrm>
          <a:prstGeom prst="rect">
            <a:avLst/>
          </a:prstGeom>
          <a:noFill/>
          <a:ln/>
        </p:spPr>
        <p:txBody>
          <a:bodyPr wrap="square" lIns="0" tIns="0" rIns="0" bIns="0" rtlCol="0" anchor="ctr"/>
          <a:lstStyle/>
          <a:p>
            <a:pPr indent="0" marL="0">
              <a:buNone/>
            </a:pPr>
            <a:r>
              <a:rPr lang="en-US" sz="1600" b="1" dirty="0">
                <a:solidFill>
                  <a:schemeClr val="tx1"/>
                </a:solidFill>
              </a:rPr>
              <a:t>All 624 geometry and optimization problems, 3 models:</a:t>
            </a:r>
            <a:endParaRPr lang="en-US" sz="1600" dirty="0"/>
          </a:p>
        </p:txBody>
      </p:sp>
      <p:sp>
        <p:nvSpPr>
          <p:cNvPr id="29" name="Text 27"/>
          <p:cNvSpPr txBox="1"/>
          <p:nvPr/>
        </p:nvSpPr>
        <p:spPr>
          <a:xfrm>
            <a:off x="548640" y="4023360"/>
            <a:ext cx="2011680" cy="438912"/>
          </a:xfrm>
          <a:prstGeom prst="rect">
            <a:avLst/>
          </a:prstGeom>
          <a:noFill/>
          <a:ln/>
        </p:spPr>
        <p:txBody>
          <a:bodyPr wrap="square" lIns="0" tIns="0" rIns="0" bIns="0" rtlCol="0" anchor="ctr"/>
          <a:lstStyle/>
          <a:p>
            <a:pPr algn="r" indent="0" marL="0">
              <a:buNone/>
            </a:pPr>
            <a:r>
              <a:rPr lang="en-US" sz="1600" dirty="0">
                <a:solidFill>
                  <a:schemeClr val="tx1"/>
                </a:solidFill>
              </a:rPr>
              <a:t>think on hardest</a:t>
            </a:r>
            <a:endParaRPr lang="en-US" sz="1600" dirty="0"/>
          </a:p>
        </p:txBody>
      </p:sp>
      <p:sp>
        <p:nvSpPr>
          <p:cNvPr id="30" name="bar think on hardest"/>
          <p:cNvSpPr/>
          <p:nvPr/>
        </p:nvSpPr>
        <p:spPr>
          <a:xfrm>
            <a:off x="2697480" y="4105656"/>
            <a:ext cx="2165299" cy="274320"/>
          </a:xfrm>
          <a:prstGeom prst="rect">
            <a:avLst/>
          </a:prstGeom>
          <a:solidFill>
            <a:srgbClr val="7F7F7F"/>
          </a:solidFill>
          <a:ln w="6350">
            <a:solidFill>
              <a:srgbClr val="7F7F7F"/>
            </a:solidFill>
            <a:prstDash val="solid"/>
          </a:ln>
        </p:spPr>
      </p:sp>
      <p:sp>
        <p:nvSpPr>
          <p:cNvPr id="31" name="Text 29"/>
          <p:cNvSpPr txBox="1"/>
          <p:nvPr/>
        </p:nvSpPr>
        <p:spPr>
          <a:xfrm>
            <a:off x="4954219" y="4023360"/>
            <a:ext cx="1463040" cy="43891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32" name="Text 30"/>
          <p:cNvSpPr txBox="1"/>
          <p:nvPr/>
        </p:nvSpPr>
        <p:spPr>
          <a:xfrm>
            <a:off x="548640" y="4572000"/>
            <a:ext cx="2011680" cy="438912"/>
          </a:xfrm>
          <a:prstGeom prst="rect">
            <a:avLst/>
          </a:prstGeom>
          <a:noFill/>
          <a:ln/>
        </p:spPr>
        <p:txBody>
          <a:bodyPr wrap="square" lIns="0" tIns="0" rIns="0" bIns="0" rtlCol="0" anchor="ctr"/>
          <a:lstStyle/>
          <a:p>
            <a:pPr algn="r" indent="0" marL="0">
              <a:buNone/>
            </a:pPr>
            <a:r>
              <a:rPr lang="en-US" sz="1600" dirty="0">
                <a:solidFill>
                  <a:schemeClr val="tx1"/>
                </a:solidFill>
              </a:rPr>
              <a:t>our method</a:t>
            </a:r>
            <a:endParaRPr lang="en-US" sz="1600" dirty="0"/>
          </a:p>
        </p:txBody>
      </p:sp>
      <p:sp>
        <p:nvSpPr>
          <p:cNvPr id="33" name="bar our method"/>
          <p:cNvSpPr/>
          <p:nvPr/>
        </p:nvSpPr>
        <p:spPr>
          <a:xfrm>
            <a:off x="2697480" y="4654296"/>
            <a:ext cx="2545690" cy="274320"/>
          </a:xfrm>
          <a:prstGeom prst="rect">
            <a:avLst/>
          </a:prstGeom>
          <a:solidFill>
            <a:srgbClr val="4472C4"/>
          </a:solidFill>
          <a:ln w="6350">
            <a:solidFill>
              <a:srgbClr val="4472C4"/>
            </a:solidFill>
            <a:prstDash val="solid"/>
          </a:ln>
        </p:spPr>
      </p:sp>
      <p:sp>
        <p:nvSpPr>
          <p:cNvPr id="34" name="Text 32"/>
          <p:cNvSpPr txBox="1"/>
          <p:nvPr/>
        </p:nvSpPr>
        <p:spPr>
          <a:xfrm>
            <a:off x="5334610" y="4572000"/>
            <a:ext cx="1463040" cy="43891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35" name="Text 33"/>
          <p:cNvSpPr txBox="1"/>
          <p:nvPr/>
        </p:nvSpPr>
        <p:spPr>
          <a:xfrm>
            <a:off x="7498080" y="361188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79% = 79%</a:t>
            </a:r>
            <a:endParaRPr lang="en-US" sz="2400" dirty="0"/>
          </a:p>
        </p:txBody>
      </p:sp>
      <p:sp>
        <p:nvSpPr>
          <p:cNvPr id="36" name="Text 34"/>
          <p:cNvSpPr txBox="1"/>
          <p:nvPr/>
        </p:nvSpPr>
        <p:spPr>
          <a:xfrm>
            <a:off x="7498080" y="4050792"/>
            <a:ext cx="4114800" cy="457200"/>
          </a:xfrm>
          <a:prstGeom prst="rect">
            <a:avLst/>
          </a:prstGeom>
          <a:noFill/>
          <a:ln/>
        </p:spPr>
        <p:txBody>
          <a:bodyPr wrap="square" lIns="0" tIns="0" rIns="0" bIns="0" rtlCol="0" anchor="t"/>
          <a:lstStyle/>
          <a:p>
            <a:pPr indent="0" marL="0">
              <a:buNone/>
            </a:pPr>
            <a:r>
              <a:rPr lang="en-US" sz="1400" dirty="0">
                <a:solidFill>
                  <a:schemeClr val="tx1"/>
                </a:solidFill>
              </a:rPr>
              <a:t>automatic fact vs hand-written, on a benchmark never used before</a:t>
            </a:r>
            <a:endParaRPr lang="en-US" sz="1400" dirty="0"/>
          </a:p>
        </p:txBody>
      </p:sp>
      <p:sp>
        <p:nvSpPr>
          <p:cNvPr id="37" name="Text 35"/>
          <p:cNvSpPr txBox="1"/>
          <p:nvPr/>
        </p:nvSpPr>
        <p:spPr>
          <a:xfrm>
            <a:off x="7498080" y="4572000"/>
            <a:ext cx="4114800" cy="457200"/>
          </a:xfrm>
          <a:prstGeom prst="rect">
            <a:avLst/>
          </a:prstGeom>
          <a:noFill/>
          <a:ln/>
        </p:spPr>
        <p:txBody>
          <a:bodyPr wrap="square" lIns="0" tIns="0" rIns="0" bIns="0" rtlCol="0" anchor="ctr"/>
          <a:lstStyle/>
          <a:p>
            <a:pPr indent="0" marL="0">
              <a:buNone/>
            </a:pPr>
            <a:r>
              <a:rPr lang="en-US" sz="2400" b="1" dirty="0">
                <a:solidFill>
                  <a:srgbClr val="4472C4"/>
                </a:solidFill>
              </a:rPr>
              <a:t>0.6k vs 5.3k</a:t>
            </a:r>
            <a:endParaRPr lang="en-US" sz="2400" dirty="0"/>
          </a:p>
        </p:txBody>
      </p:sp>
      <p:sp>
        <p:nvSpPr>
          <p:cNvPr id="38" name="Text 36"/>
          <p:cNvSpPr txBox="1"/>
          <p:nvPr/>
        </p:nvSpPr>
        <p:spPr>
          <a:xfrm>
            <a:off x="7498080" y="5010912"/>
            <a:ext cx="4114800" cy="457200"/>
          </a:xfrm>
          <a:prstGeom prst="rect">
            <a:avLst/>
          </a:prstGeom>
          <a:noFill/>
          <a:ln/>
        </p:spPr>
        <p:txBody>
          <a:bodyPr wrap="square" lIns="0" tIns="0" rIns="0" bIns="0" rtlCol="0" anchor="t"/>
          <a:lstStyle/>
          <a:p>
            <a:pPr indent="0" marL="0">
              <a:buNone/>
            </a:pPr>
            <a:r>
              <a:rPr lang="en-US" sz="1400" dirty="0">
                <a:solidFill>
                  <a:schemeClr val="tx1"/>
                </a:solidFill>
              </a:rPr>
              <a:t>tokens on this problem vs thinking alone</a:t>
            </a:r>
            <a:endParaRPr lang="en-US" sz="14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548640" y="1188720"/>
            <a:ext cx="484632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766560" y="1188720"/>
            <a:ext cx="484632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box "/>
          <p:cNvSpPr/>
          <p:nvPr/>
        </p:nvSpPr>
        <p:spPr>
          <a:xfrm>
            <a:off x="548640" y="1600200"/>
            <a:ext cx="4846320" cy="685800"/>
          </a:xfrm>
          <a:prstGeom prst="roundRect">
            <a:avLst>
              <a:gd name="adj" fmla="val 8000"/>
            </a:avLst>
          </a:prstGeom>
          <a:solidFill>
            <a:srgbClr val="F2F2F2"/>
          </a:solidFill>
          <a:ln w="9525">
            <a:solidFill>
              <a:srgbClr val="BFBFBF"/>
            </a:solidFill>
            <a:prstDash val="solid"/>
          </a:ln>
        </p:spPr>
      </p:sp>
      <p:sp>
        <p:nvSpPr>
          <p:cNvPr id="6" name="Text 4"/>
          <p:cNvSpPr txBox="1"/>
          <p:nvPr/>
        </p:nvSpPr>
        <p:spPr>
          <a:xfrm>
            <a:off x="62179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7" name="usual icon 0" descr="/NAS/SJ/POSTECH/nlp/figs/icons/brain.png">    </p:cNvPr>
          <p:cNvPicPr>
            <a:picLocks noChangeAspect="1"/>
          </p:cNvPicPr>
          <p:nvPr/>
        </p:nvPicPr>
        <p:blipFill>
          <a:blip r:embed="rId1"/>
          <a:stretch>
            <a:fillRect/>
          </a:stretch>
        </p:blipFill>
        <p:spPr>
          <a:xfrm>
            <a:off x="685800" y="1737360"/>
            <a:ext cx="411480" cy="411480"/>
          </a:xfrm>
          <a:prstGeom prst="rect">
            <a:avLst/>
          </a:prstGeom>
        </p:spPr>
      </p:pic>
      <p:sp>
        <p:nvSpPr>
          <p:cNvPr id="8" name="Text 5"/>
          <p:cNvSpPr txBox="1"/>
          <p:nvPr/>
        </p:nvSpPr>
        <p:spPr>
          <a:xfrm>
            <a:off x="1234440" y="1600200"/>
            <a:ext cx="406908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when to think</a:t>
            </a:r>
            <a:endParaRPr lang="en-US" sz="1500" dirty="0"/>
          </a:p>
        </p:txBody>
      </p:sp>
      <p:sp>
        <p:nvSpPr>
          <p:cNvPr id="9" name="arrow 0"/>
          <p:cNvSpPr/>
          <p:nvPr/>
        </p:nvSpPr>
        <p:spPr>
          <a:xfrm>
            <a:off x="5577840" y="1755648"/>
            <a:ext cx="1005840" cy="384048"/>
          </a:xfrm>
          <a:prstGeom prst="rightArrow">
            <a:avLst/>
          </a:prstGeom>
          <a:solidFill>
            <a:srgbClr val="4472C4"/>
          </a:solidFill>
          <a:ln w="12700">
            <a:solidFill>
              <a:srgbClr val="4472C4"/>
            </a:solidFill>
            <a:prstDash val="solid"/>
          </a:ln>
        </p:spPr>
      </p:sp>
      <p:sp>
        <p:nvSpPr>
          <p:cNvPr id="10" name="box "/>
          <p:cNvSpPr/>
          <p:nvPr/>
        </p:nvSpPr>
        <p:spPr>
          <a:xfrm>
            <a:off x="6766560" y="1600200"/>
            <a:ext cx="4846320" cy="685800"/>
          </a:xfrm>
          <a:prstGeom prst="roundRect">
            <a:avLst>
              <a:gd name="adj" fmla="val 8000"/>
            </a:avLst>
          </a:prstGeom>
          <a:solidFill>
            <a:srgbClr val="DEEBF7"/>
          </a:solidFill>
          <a:ln w="9525">
            <a:solidFill>
              <a:srgbClr val="BFBFBF"/>
            </a:solidFill>
            <a:prstDash val="solid"/>
          </a:ln>
        </p:spPr>
      </p:sp>
      <p:sp>
        <p:nvSpPr>
          <p:cNvPr id="11" name="Text 8"/>
          <p:cNvSpPr txBox="1"/>
          <p:nvPr/>
        </p:nvSpPr>
        <p:spPr>
          <a:xfrm>
            <a:off x="6839712" y="160020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2" name="ours icon 0" descr="/NAS/SJ/POSTECH/nlp/figs/icons/check.png">    </p:cNvPr>
          <p:cNvPicPr>
            <a:picLocks noChangeAspect="1"/>
          </p:cNvPicPr>
          <p:nvPr/>
        </p:nvPicPr>
        <p:blipFill>
          <a:blip r:embed="rId2"/>
          <a:stretch>
            <a:fillRect/>
          </a:stretch>
        </p:blipFill>
        <p:spPr>
          <a:xfrm>
            <a:off x="6903720" y="1737360"/>
            <a:ext cx="411480" cy="411480"/>
          </a:xfrm>
          <a:prstGeom prst="rect">
            <a:avLst/>
          </a:prstGeom>
        </p:spPr>
      </p:pic>
      <p:sp>
        <p:nvSpPr>
          <p:cNvPr id="13" name="Text 9"/>
          <p:cNvSpPr txBox="1"/>
          <p:nvPr/>
        </p:nvSpPr>
        <p:spPr>
          <a:xfrm>
            <a:off x="7452360" y="160020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a:t>
            </a:r>
            <a:endParaRPr lang="en-US" sz="1500" dirty="0"/>
          </a:p>
        </p:txBody>
      </p:sp>
      <p:sp>
        <p:nvSpPr>
          <p:cNvPr id="14" name="box "/>
          <p:cNvSpPr/>
          <p:nvPr/>
        </p:nvSpPr>
        <p:spPr>
          <a:xfrm>
            <a:off x="548640" y="2423160"/>
            <a:ext cx="4846320" cy="685800"/>
          </a:xfrm>
          <a:prstGeom prst="roundRect">
            <a:avLst>
              <a:gd name="adj" fmla="val 8000"/>
            </a:avLst>
          </a:prstGeom>
          <a:solidFill>
            <a:srgbClr val="F2F2F2"/>
          </a:solidFill>
          <a:ln w="9525">
            <a:solidFill>
              <a:srgbClr val="BFBFBF"/>
            </a:solidFill>
            <a:prstDash val="solid"/>
          </a:ln>
        </p:spPr>
      </p:sp>
      <p:sp>
        <p:nvSpPr>
          <p:cNvPr id="15" name="Text 11"/>
          <p:cNvSpPr txBox="1"/>
          <p:nvPr/>
        </p:nvSpPr>
        <p:spPr>
          <a:xfrm>
            <a:off x="62179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16" name="usual icon 1" descr="/NAS/SJ/POSTECH/nlp/figs/icons/page.png">    </p:cNvPr>
          <p:cNvPicPr>
            <a:picLocks noChangeAspect="1"/>
          </p:cNvPicPr>
          <p:nvPr/>
        </p:nvPicPr>
        <p:blipFill>
          <a:blip r:embed="rId3"/>
          <a:stretch>
            <a:fillRect/>
          </a:stretch>
        </p:blipFill>
        <p:spPr>
          <a:xfrm>
            <a:off x="685800" y="2560320"/>
            <a:ext cx="411480" cy="411480"/>
          </a:xfrm>
          <a:prstGeom prst="rect">
            <a:avLst/>
          </a:prstGeom>
        </p:spPr>
      </p:pic>
      <p:sp>
        <p:nvSpPr>
          <p:cNvPr id="17" name="Text 12"/>
          <p:cNvSpPr txBox="1"/>
          <p:nvPr/>
        </p:nvSpPr>
        <p:spPr>
          <a:xfrm>
            <a:off x="1234440" y="2423160"/>
            <a:ext cx="4069080" cy="685800"/>
          </a:xfrm>
          <a:prstGeom prst="rect">
            <a:avLst/>
          </a:prstGeom>
          <a:noFill/>
          <a:ln/>
        </p:spPr>
        <p:txBody>
          <a:bodyPr wrap="square" lIns="0" tIns="0" rIns="0" bIns="0" rtlCol="0" anchor="ctr"/>
          <a:lstStyle/>
          <a:p>
            <a:pPr indent="0" marL="0">
              <a:buNone/>
            </a:pPr>
            <a:r>
              <a:rPr lang="en-US" sz="1500" dirty="0">
                <a:solidFill>
                  <a:srgbClr val="404040"/>
                </a:solidFill>
              </a:rPr>
              <a:t>give the manual, or a teacher's programs checked against answers</a:t>
            </a:r>
            <a:endParaRPr lang="en-US" sz="1500" dirty="0"/>
          </a:p>
        </p:txBody>
      </p:sp>
      <p:sp>
        <p:nvSpPr>
          <p:cNvPr id="18" name="arrow 1"/>
          <p:cNvSpPr/>
          <p:nvPr/>
        </p:nvSpPr>
        <p:spPr>
          <a:xfrm>
            <a:off x="5577840" y="2578608"/>
            <a:ext cx="1005840" cy="384048"/>
          </a:xfrm>
          <a:prstGeom prst="rightArrow">
            <a:avLst/>
          </a:prstGeom>
          <a:solidFill>
            <a:srgbClr val="4472C4"/>
          </a:solidFill>
          <a:ln w="12700">
            <a:solidFill>
              <a:srgbClr val="4472C4"/>
            </a:solidFill>
            <a:prstDash val="solid"/>
          </a:ln>
        </p:spPr>
      </p:sp>
      <p:sp>
        <p:nvSpPr>
          <p:cNvPr id="19" name="box "/>
          <p:cNvSpPr/>
          <p:nvPr/>
        </p:nvSpPr>
        <p:spPr>
          <a:xfrm>
            <a:off x="6766560" y="2423160"/>
            <a:ext cx="4846320" cy="685800"/>
          </a:xfrm>
          <a:prstGeom prst="roundRect">
            <a:avLst>
              <a:gd name="adj" fmla="val 8000"/>
            </a:avLst>
          </a:prstGeom>
          <a:solidFill>
            <a:srgbClr val="DEEBF7"/>
          </a:solidFill>
          <a:ln w="9525">
            <a:solidFill>
              <a:srgbClr val="BFBFBF"/>
            </a:solidFill>
            <a:prstDash val="solid"/>
          </a:ln>
        </p:spPr>
      </p:sp>
      <p:sp>
        <p:nvSpPr>
          <p:cNvPr id="20" name="Text 15"/>
          <p:cNvSpPr txBox="1"/>
          <p:nvPr/>
        </p:nvSpPr>
        <p:spPr>
          <a:xfrm>
            <a:off x="6839712" y="242316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1" name="ours icon 1" descr="/NAS/SJ/POSTECH/nlp/figs/icons/fact.png">    </p:cNvPr>
          <p:cNvPicPr>
            <a:picLocks noChangeAspect="1"/>
          </p:cNvPicPr>
          <p:nvPr/>
        </p:nvPicPr>
        <p:blipFill>
          <a:blip r:embed="rId4"/>
          <a:stretch>
            <a:fillRect/>
          </a:stretch>
        </p:blipFill>
        <p:spPr>
          <a:xfrm>
            <a:off x="6903720" y="2560320"/>
            <a:ext cx="411480" cy="411480"/>
          </a:xfrm>
          <a:prstGeom prst="rect">
            <a:avLst/>
          </a:prstGeom>
        </p:spPr>
      </p:pic>
      <p:sp>
        <p:nvSpPr>
          <p:cNvPr id="22" name="Text 16"/>
          <p:cNvSpPr txBox="1"/>
          <p:nvPr/>
        </p:nvSpPr>
        <p:spPr>
          <a:xfrm>
            <a:off x="7452360" y="242316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give one fact: the model's own checked program; no answers</a:t>
            </a:r>
            <a:endParaRPr lang="en-US" sz="1500" dirty="0"/>
          </a:p>
        </p:txBody>
      </p:sp>
      <p:sp>
        <p:nvSpPr>
          <p:cNvPr id="23" name="box "/>
          <p:cNvSpPr/>
          <p:nvPr/>
        </p:nvSpPr>
        <p:spPr>
          <a:xfrm>
            <a:off x="548640" y="3246120"/>
            <a:ext cx="4846320" cy="685800"/>
          </a:xfrm>
          <a:prstGeom prst="roundRect">
            <a:avLst>
              <a:gd name="adj" fmla="val 8000"/>
            </a:avLst>
          </a:prstGeom>
          <a:solidFill>
            <a:srgbClr val="F2F2F2"/>
          </a:solidFill>
          <a:ln w="9525">
            <a:solidFill>
              <a:srgbClr val="BFBFBF"/>
            </a:solidFill>
            <a:prstDash val="solid"/>
          </a:ln>
        </p:spPr>
      </p:sp>
      <p:sp>
        <p:nvSpPr>
          <p:cNvPr id="24" name="Text 18"/>
          <p:cNvSpPr txBox="1"/>
          <p:nvPr/>
        </p:nvSpPr>
        <p:spPr>
          <a:xfrm>
            <a:off x="62179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25" name="usual icon 2" descr="/NAS/SJ/POSTECH/nlp/figs/icons/robot.png">    </p:cNvPr>
          <p:cNvPicPr>
            <a:picLocks noChangeAspect="1"/>
          </p:cNvPicPr>
          <p:nvPr/>
        </p:nvPicPr>
        <p:blipFill>
          <a:blip r:embed="rId5"/>
          <a:stretch>
            <a:fillRect/>
          </a:stretch>
        </p:blipFill>
        <p:spPr>
          <a:xfrm>
            <a:off x="685800" y="3383280"/>
            <a:ext cx="411480" cy="411480"/>
          </a:xfrm>
          <a:prstGeom prst="rect">
            <a:avLst/>
          </a:prstGeom>
        </p:spPr>
      </p:pic>
      <p:sp>
        <p:nvSpPr>
          <p:cNvPr id="26" name="Text 19"/>
          <p:cNvSpPr txBox="1"/>
          <p:nvPr/>
        </p:nvSpPr>
        <p:spPr>
          <a:xfrm>
            <a:off x="1234440" y="3246120"/>
            <a:ext cx="406908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model (ORLM-8B)</a:t>
            </a:r>
            <a:endParaRPr lang="en-US" sz="1500" dirty="0"/>
          </a:p>
        </p:txBody>
      </p:sp>
      <p:sp>
        <p:nvSpPr>
          <p:cNvPr id="27" name="arrow 2"/>
          <p:cNvSpPr/>
          <p:nvPr/>
        </p:nvSpPr>
        <p:spPr>
          <a:xfrm>
            <a:off x="5577840" y="3401568"/>
            <a:ext cx="1005840" cy="384048"/>
          </a:xfrm>
          <a:prstGeom prst="rightArrow">
            <a:avLst/>
          </a:prstGeom>
          <a:solidFill>
            <a:srgbClr val="4472C4"/>
          </a:solidFill>
          <a:ln w="12700">
            <a:solidFill>
              <a:srgbClr val="4472C4"/>
            </a:solidFill>
            <a:prstDash val="solid"/>
          </a:ln>
        </p:spPr>
      </p:sp>
      <p:sp>
        <p:nvSpPr>
          <p:cNvPr id="28" name="box "/>
          <p:cNvSpPr/>
          <p:nvPr/>
        </p:nvSpPr>
        <p:spPr>
          <a:xfrm>
            <a:off x="6766560" y="3246120"/>
            <a:ext cx="4846320" cy="685800"/>
          </a:xfrm>
          <a:prstGeom prst="roundRect">
            <a:avLst>
              <a:gd name="adj" fmla="val 8000"/>
            </a:avLst>
          </a:prstGeom>
          <a:solidFill>
            <a:srgbClr val="DEEBF7"/>
          </a:solidFill>
          <a:ln w="9525">
            <a:solidFill>
              <a:srgbClr val="BFBFBF"/>
            </a:solidFill>
            <a:prstDash val="solid"/>
          </a:ln>
        </p:spPr>
      </p:sp>
      <p:sp>
        <p:nvSpPr>
          <p:cNvPr id="29" name="Text 22"/>
          <p:cNvSpPr txBox="1"/>
          <p:nvPr/>
        </p:nvSpPr>
        <p:spPr>
          <a:xfrm>
            <a:off x="6839712" y="3246120"/>
            <a:ext cx="4700016" cy="685800"/>
          </a:xfrm>
          <a:prstGeom prst="rect">
            <a:avLst/>
          </a:prstGeom>
          <a:noFill/>
          <a:ln/>
        </p:spPr>
        <p:txBody>
          <a:bodyPr wrap="square" lIns="0" tIns="0" rIns="0" bIns="0" rtlCol="0" anchor="ctr"/>
          <a:lstStyle/>
          <a:p>
            <a:pPr algn="ctr" indent="0" marL="0">
              <a:buNone/>
            </a:pPr>
            <a:endParaRPr lang="en-US" sz="1500" dirty="0"/>
          </a:p>
        </p:txBody>
      </p:sp>
      <p:pic>
        <p:nvPicPr>
          <p:cNvPr id="30" name="ours icon 2" descr="/NAS/SJ/POSTECH/nlp/figs/icons/gpu.png">    </p:cNvPr>
          <p:cNvPicPr>
            <a:picLocks noChangeAspect="1"/>
          </p:cNvPicPr>
          <p:nvPr/>
        </p:nvPicPr>
        <p:blipFill>
          <a:blip r:embed="rId6"/>
          <a:stretch>
            <a:fillRect/>
          </a:stretch>
        </p:blipFill>
        <p:spPr>
          <a:xfrm>
            <a:off x="6903720" y="3383280"/>
            <a:ext cx="411480" cy="411480"/>
          </a:xfrm>
          <a:prstGeom prst="rect">
            <a:avLst/>
          </a:prstGeom>
        </p:spPr>
      </p:pic>
      <p:sp>
        <p:nvSpPr>
          <p:cNvPr id="31" name="Text 23"/>
          <p:cNvSpPr txBox="1"/>
          <p:nvPr/>
        </p:nvSpPr>
        <p:spPr>
          <a:xfrm>
            <a:off x="7452360" y="3246120"/>
            <a:ext cx="4069080" cy="685800"/>
          </a:xfrm>
          <a:prstGeom prst="rect">
            <a:avLst/>
          </a:prstGeom>
          <a:noFill/>
          <a:ln/>
        </p:spPr>
        <p:txBody>
          <a:bodyPr wrap="square" lIns="0" tIns="0" rIns="0" bIns="0" rtlCol="0" anchor="ctr"/>
          <a:lstStyle/>
          <a:p>
            <a:pPr indent="0" marL="0">
              <a:buNone/>
            </a:pPr>
            <a:r>
              <a:rPr lang="en-US" sz="1500" b="1" dirty="0">
                <a:solidFill>
                  <a:srgbClr val="1F3864"/>
                </a:solidFill>
              </a:rPr>
              <a:t>no training, one 24 GB GPU: the same 69.5%</a:t>
            </a:r>
            <a:endParaRPr lang="en-US" sz="1500" dirty="0"/>
          </a:p>
        </p:txBody>
      </p:sp>
      <p:sp>
        <p:nvSpPr>
          <p:cNvPr id="32" name="Text 24"/>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until the final report</a:t>
            </a:r>
            <a:endParaRPr lang="en-US" sz="1600" dirty="0"/>
          </a:p>
        </p:txBody>
      </p:sp>
      <p:sp>
        <p:nvSpPr>
          <p:cNvPr id="33" name="Shape 25"/>
          <p:cNvSpPr/>
          <p:nvPr/>
        </p:nvSpPr>
        <p:spPr>
          <a:xfrm>
            <a:off x="2194560" y="4800600"/>
            <a:ext cx="7772400" cy="0"/>
          </a:xfrm>
          <a:prstGeom prst="line">
            <a:avLst/>
          </a:prstGeom>
          <a:noFill/>
          <a:ln w="38100">
            <a:solidFill>
              <a:srgbClr val="BFBFBF"/>
            </a:solidFill>
            <a:prstDash val="solid"/>
          </a:ln>
        </p:spPr>
      </p:sp>
      <p:sp>
        <p:nvSpPr>
          <p:cNvPr id="34"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5" name="milestone icon 0" descr="/NAS/SJ/POSTECH/nlp/figs/icons/check.png">    </p:cNvPr>
          <p:cNvPicPr>
            <a:picLocks noChangeAspect="1"/>
          </p:cNvPicPr>
          <p:nvPr/>
        </p:nvPicPr>
        <p:blipFill>
          <a:blip r:embed="rId7"/>
          <a:stretch>
            <a:fillRect/>
          </a:stretch>
        </p:blipFill>
        <p:spPr>
          <a:xfrm>
            <a:off x="2020824" y="4626864"/>
            <a:ext cx="347472" cy="347472"/>
          </a:xfrm>
          <a:prstGeom prst="rect">
            <a:avLst/>
          </a:prstGeom>
        </p:spPr>
      </p:pic>
      <p:sp>
        <p:nvSpPr>
          <p:cNvPr id="36" name="Text 27"/>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replicate on held-out data; run the closest baselines</a:t>
            </a:r>
            <a:endParaRPr lang="en-US" sz="1500" dirty="0"/>
          </a:p>
        </p:txBody>
      </p:sp>
      <p:sp>
        <p:nvSpPr>
          <p:cNvPr id="37"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38" name="milestone icon 1" descr="/NAS/SJ/POSTECH/nlp/figs/icons/fact.png">    </p:cNvPr>
          <p:cNvPicPr>
            <a:picLocks noChangeAspect="1"/>
          </p:cNvPicPr>
          <p:nvPr/>
        </p:nvPicPr>
        <p:blipFill>
          <a:blip r:embed="rId8"/>
          <a:stretch>
            <a:fillRect/>
          </a:stretch>
        </p:blipFill>
        <p:spPr>
          <a:xfrm>
            <a:off x="5907024" y="4626864"/>
            <a:ext cx="347472" cy="347472"/>
          </a:xfrm>
          <a:prstGeom prst="rect">
            <a:avLst/>
          </a:prstGeom>
        </p:spPr>
      </p:pic>
      <p:sp>
        <p:nvSpPr>
          <p:cNvPr id="39" name="Text 29"/>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find facts for every problem type</a:t>
            </a:r>
            <a:endParaRPr lang="en-US" sz="1500" dirty="0"/>
          </a:p>
        </p:txBody>
      </p:sp>
      <p:sp>
        <p:nvSpPr>
          <p:cNvPr id="40"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1"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2" name="Text 31"/>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final report, code, and the recipe as a tool</a:t>
            </a:r>
            <a:endParaRPr lang="en-US" sz="1500" dirty="0"/>
          </a:p>
        </p:txBody>
      </p:sp>
      <p:sp>
        <p:nvSpPr>
          <p:cNvPr id="43"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the missing fact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Thank you: questions?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700" b="1" dirty="0">
                <a:solidFill>
                  <a:srgbClr val="4472C4"/>
                </a:solidFill>
              </a:rPr>
              <a:t>Extra pages for questions (type the number and press Enter in the slide show)</a:t>
            </a:r>
            <a:endParaRPr lang="en-US" sz="1700" dirty="0"/>
          </a:p>
        </p:txBody>
      </p:sp>
      <p:sp>
        <p:nvSpPr>
          <p:cNvPr id="4" name="box "/>
          <p:cNvSpPr/>
          <p:nvPr/>
        </p:nvSpPr>
        <p:spPr>
          <a:xfrm>
            <a:off x="548640" y="1828800"/>
            <a:ext cx="2651760" cy="777240"/>
          </a:xfrm>
          <a:prstGeom prst="roundRect">
            <a:avLst>
              <a:gd name="adj" fmla="val 7059"/>
            </a:avLst>
          </a:prstGeom>
          <a:solidFill>
            <a:srgbClr val="F2F2F2"/>
          </a:solidFill>
          <a:ln w="9525">
            <a:solidFill>
              <a:srgbClr val="BFBFBF"/>
            </a:solidFill>
            <a:prstDash val="solid"/>
          </a:ln>
        </p:spPr>
      </p:sp>
      <p:sp>
        <p:nvSpPr>
          <p:cNvPr id="5" name="Text 3"/>
          <p:cNvSpPr txBox="1"/>
          <p:nvPr/>
        </p:nvSpPr>
        <p:spPr>
          <a:xfrm>
            <a:off x="62179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6" name="Text 4"/>
          <p:cNvSpPr txBox="1"/>
          <p:nvPr/>
        </p:nvSpPr>
        <p:spPr>
          <a:xfrm>
            <a:off x="68580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9</a:t>
            </a:r>
            <a:endParaRPr lang="en-US" sz="1600" dirty="0"/>
          </a:p>
          <a:p>
            <a:pPr indent="0" marL="0">
              <a:buNone/>
            </a:pPr>
            <a:r>
              <a:rPr lang="en-US" sz="1400" dirty="0">
                <a:solidFill>
                  <a:schemeClr val="tx1"/>
                </a:solidFill>
              </a:rPr>
              <a:t>Setup and fairness</a:t>
            </a:r>
            <a:endParaRPr lang="en-US" sz="1600" dirty="0"/>
          </a:p>
        </p:txBody>
      </p:sp>
      <p:sp>
        <p:nvSpPr>
          <p:cNvPr id="7" name="box "/>
          <p:cNvSpPr/>
          <p:nvPr/>
        </p:nvSpPr>
        <p:spPr>
          <a:xfrm>
            <a:off x="3337560" y="1828800"/>
            <a:ext cx="2651760" cy="777240"/>
          </a:xfrm>
          <a:prstGeom prst="roundRect">
            <a:avLst>
              <a:gd name="adj" fmla="val 7059"/>
            </a:avLst>
          </a:prstGeom>
          <a:solidFill>
            <a:srgbClr val="F2F2F2"/>
          </a:solidFill>
          <a:ln w="9525">
            <a:solidFill>
              <a:srgbClr val="BFBFBF"/>
            </a:solidFill>
            <a:prstDash val="solid"/>
          </a:ln>
        </p:spPr>
      </p:sp>
      <p:sp>
        <p:nvSpPr>
          <p:cNvPr id="8" name="Text 6"/>
          <p:cNvSpPr txBox="1"/>
          <p:nvPr/>
        </p:nvSpPr>
        <p:spPr>
          <a:xfrm>
            <a:off x="341071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9" name="Text 7"/>
          <p:cNvSpPr txBox="1"/>
          <p:nvPr/>
        </p:nvSpPr>
        <p:spPr>
          <a:xfrm>
            <a:off x="347472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10</a:t>
            </a:r>
            <a:endParaRPr lang="en-US" sz="1600" dirty="0"/>
          </a:p>
          <a:p>
            <a:pPr indent="0" marL="0">
              <a:buNone/>
            </a:pPr>
            <a:r>
              <a:rPr lang="en-US" sz="1400" dirty="0">
                <a:solidFill>
                  <a:schemeClr val="tx1"/>
                </a:solidFill>
              </a:rPr>
              <a:t>Contest problems on the LeetCode scale</a:t>
            </a:r>
            <a:endParaRPr lang="en-US" sz="1600" dirty="0"/>
          </a:p>
        </p:txBody>
      </p:sp>
      <p:sp>
        <p:nvSpPr>
          <p:cNvPr id="10" name="box "/>
          <p:cNvSpPr/>
          <p:nvPr/>
        </p:nvSpPr>
        <p:spPr>
          <a:xfrm>
            <a:off x="6126480" y="1828800"/>
            <a:ext cx="2651760" cy="777240"/>
          </a:xfrm>
          <a:prstGeom prst="roundRect">
            <a:avLst>
              <a:gd name="adj" fmla="val 7059"/>
            </a:avLst>
          </a:prstGeom>
          <a:solidFill>
            <a:srgbClr val="F2F2F2"/>
          </a:solidFill>
          <a:ln w="9525">
            <a:solidFill>
              <a:srgbClr val="BFBFBF"/>
            </a:solidFill>
            <a:prstDash val="solid"/>
          </a:ln>
        </p:spPr>
      </p:sp>
      <p:sp>
        <p:nvSpPr>
          <p:cNvPr id="11" name="Text 9"/>
          <p:cNvSpPr txBox="1"/>
          <p:nvPr/>
        </p:nvSpPr>
        <p:spPr>
          <a:xfrm>
            <a:off x="619963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2" name="Text 10"/>
          <p:cNvSpPr txBox="1"/>
          <p:nvPr/>
        </p:nvSpPr>
        <p:spPr>
          <a:xfrm>
            <a:off x="626364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11</a:t>
            </a:r>
            <a:endParaRPr lang="en-US" sz="1600" dirty="0"/>
          </a:p>
          <a:p>
            <a:pPr indent="0" marL="0">
              <a:buNone/>
            </a:pPr>
            <a:r>
              <a:rPr lang="en-US" sz="1400" dirty="0">
                <a:solidFill>
                  <a:schemeClr val="tx1"/>
                </a:solidFill>
              </a:rPr>
              <a:t>Two versions, in detail</a:t>
            </a:r>
            <a:endParaRPr lang="en-US" sz="1600" dirty="0"/>
          </a:p>
        </p:txBody>
      </p:sp>
      <p:sp>
        <p:nvSpPr>
          <p:cNvPr id="13" name="box "/>
          <p:cNvSpPr/>
          <p:nvPr/>
        </p:nvSpPr>
        <p:spPr>
          <a:xfrm>
            <a:off x="8915400" y="1828800"/>
            <a:ext cx="2651760" cy="777240"/>
          </a:xfrm>
          <a:prstGeom prst="roundRect">
            <a:avLst>
              <a:gd name="adj" fmla="val 7059"/>
            </a:avLst>
          </a:prstGeom>
          <a:solidFill>
            <a:srgbClr val="F2F2F2"/>
          </a:solidFill>
          <a:ln w="9525">
            <a:solidFill>
              <a:srgbClr val="BFBFBF"/>
            </a:solidFill>
            <a:prstDash val="solid"/>
          </a:ln>
        </p:spPr>
      </p:sp>
      <p:sp>
        <p:nvSpPr>
          <p:cNvPr id="14" name="Text 12"/>
          <p:cNvSpPr txBox="1"/>
          <p:nvPr/>
        </p:nvSpPr>
        <p:spPr>
          <a:xfrm>
            <a:off x="8988552" y="18288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5" name="Text 13"/>
          <p:cNvSpPr txBox="1"/>
          <p:nvPr/>
        </p:nvSpPr>
        <p:spPr>
          <a:xfrm>
            <a:off x="9052560" y="18288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12</a:t>
            </a:r>
            <a:endParaRPr lang="en-US" sz="1600" dirty="0"/>
          </a:p>
          <a:p>
            <a:pPr indent="0" marL="0">
              <a:buNone/>
            </a:pPr>
            <a:r>
              <a:rPr lang="en-US" sz="1400" dirty="0">
                <a:solidFill>
                  <a:schemeClr val="tx1"/>
                </a:solidFill>
              </a:rPr>
              <a:t>The examples check, in detail</a:t>
            </a:r>
            <a:endParaRPr lang="en-US" sz="1600" dirty="0"/>
          </a:p>
        </p:txBody>
      </p:sp>
      <p:sp>
        <p:nvSpPr>
          <p:cNvPr id="16" name="box "/>
          <p:cNvSpPr/>
          <p:nvPr/>
        </p:nvSpPr>
        <p:spPr>
          <a:xfrm>
            <a:off x="548640" y="2743200"/>
            <a:ext cx="2651760" cy="777240"/>
          </a:xfrm>
          <a:prstGeom prst="roundRect">
            <a:avLst>
              <a:gd name="adj" fmla="val 7059"/>
            </a:avLst>
          </a:prstGeom>
          <a:solidFill>
            <a:srgbClr val="F2F2F2"/>
          </a:solidFill>
          <a:ln w="9525">
            <a:solidFill>
              <a:srgbClr val="BFBFBF"/>
            </a:solidFill>
            <a:prstDash val="solid"/>
          </a:ln>
        </p:spPr>
      </p:sp>
      <p:sp>
        <p:nvSpPr>
          <p:cNvPr id="17" name="Text 15"/>
          <p:cNvSpPr txBox="1"/>
          <p:nvPr/>
        </p:nvSpPr>
        <p:spPr>
          <a:xfrm>
            <a:off x="62179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18" name="Text 16"/>
          <p:cNvSpPr txBox="1"/>
          <p:nvPr/>
        </p:nvSpPr>
        <p:spPr>
          <a:xfrm>
            <a:off x="68580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13</a:t>
            </a:r>
            <a:endParaRPr lang="en-US" sz="1600" dirty="0"/>
          </a:p>
          <a:p>
            <a:pPr indent="0" marL="0">
              <a:buNone/>
            </a:pPr>
            <a:r>
              <a:rPr lang="en-US" sz="1400" dirty="0">
                <a:solidFill>
                  <a:schemeClr val="tx1"/>
                </a:solidFill>
              </a:rPr>
              <a:t>Facts without a human, in detail</a:t>
            </a:r>
            <a:endParaRPr lang="en-US" sz="1600" dirty="0"/>
          </a:p>
        </p:txBody>
      </p:sp>
      <p:sp>
        <p:nvSpPr>
          <p:cNvPr id="19" name="box "/>
          <p:cNvSpPr/>
          <p:nvPr/>
        </p:nvSpPr>
        <p:spPr>
          <a:xfrm>
            <a:off x="3337560" y="2743200"/>
            <a:ext cx="2651760" cy="777240"/>
          </a:xfrm>
          <a:prstGeom prst="roundRect">
            <a:avLst>
              <a:gd name="adj" fmla="val 7059"/>
            </a:avLst>
          </a:prstGeom>
          <a:solidFill>
            <a:srgbClr val="F2F2F2"/>
          </a:solidFill>
          <a:ln w="9525">
            <a:solidFill>
              <a:srgbClr val="BFBFBF"/>
            </a:solidFill>
            <a:prstDash val="solid"/>
          </a:ln>
        </p:spPr>
      </p:sp>
      <p:sp>
        <p:nvSpPr>
          <p:cNvPr id="20" name="Text 18"/>
          <p:cNvSpPr txBox="1"/>
          <p:nvPr/>
        </p:nvSpPr>
        <p:spPr>
          <a:xfrm>
            <a:off x="341071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1" name="Text 19"/>
          <p:cNvSpPr txBox="1"/>
          <p:nvPr/>
        </p:nvSpPr>
        <p:spPr>
          <a:xfrm>
            <a:off x="347472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14</a:t>
            </a:r>
            <a:endParaRPr lang="en-US" sz="1600" dirty="0"/>
          </a:p>
          <a:p>
            <a:pPr indent="0" marL="0">
              <a:buNone/>
            </a:pPr>
            <a:r>
              <a:rPr lang="en-US" sz="1400" dirty="0">
                <a:solidFill>
                  <a:schemeClr val="tx1"/>
                </a:solidFill>
              </a:rPr>
              <a:t>One fact helps small models most</a:t>
            </a:r>
            <a:endParaRPr lang="en-US" sz="1600" dirty="0"/>
          </a:p>
        </p:txBody>
      </p:sp>
      <p:sp>
        <p:nvSpPr>
          <p:cNvPr id="22" name="box "/>
          <p:cNvSpPr/>
          <p:nvPr/>
        </p:nvSpPr>
        <p:spPr>
          <a:xfrm>
            <a:off x="6126480" y="2743200"/>
            <a:ext cx="2651760" cy="777240"/>
          </a:xfrm>
          <a:prstGeom prst="roundRect">
            <a:avLst>
              <a:gd name="adj" fmla="val 7059"/>
            </a:avLst>
          </a:prstGeom>
          <a:solidFill>
            <a:srgbClr val="F2F2F2"/>
          </a:solidFill>
          <a:ln w="9525">
            <a:solidFill>
              <a:srgbClr val="BFBFBF"/>
            </a:solidFill>
            <a:prstDash val="solid"/>
          </a:ln>
        </p:spPr>
      </p:sp>
      <p:sp>
        <p:nvSpPr>
          <p:cNvPr id="23" name="Text 21"/>
          <p:cNvSpPr txBox="1"/>
          <p:nvPr/>
        </p:nvSpPr>
        <p:spPr>
          <a:xfrm>
            <a:off x="619963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4" name="Text 22"/>
          <p:cNvSpPr txBox="1"/>
          <p:nvPr/>
        </p:nvSpPr>
        <p:spPr>
          <a:xfrm>
            <a:off x="626364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15</a:t>
            </a:r>
            <a:endParaRPr lang="en-US" sz="1600" dirty="0"/>
          </a:p>
          <a:p>
            <a:pPr indent="0" marL="0">
              <a:buNone/>
            </a:pPr>
            <a:r>
              <a:rPr lang="en-US" sz="1400" dirty="0">
                <a:solidFill>
                  <a:schemeClr val="tx1"/>
                </a:solidFill>
              </a:rPr>
              <a:t>Reuse a checked program</a:t>
            </a:r>
            <a:endParaRPr lang="en-US" sz="1600" dirty="0"/>
          </a:p>
        </p:txBody>
      </p:sp>
      <p:sp>
        <p:nvSpPr>
          <p:cNvPr id="25" name="box "/>
          <p:cNvSpPr/>
          <p:nvPr/>
        </p:nvSpPr>
        <p:spPr>
          <a:xfrm>
            <a:off x="8915400" y="2743200"/>
            <a:ext cx="2651760" cy="777240"/>
          </a:xfrm>
          <a:prstGeom prst="roundRect">
            <a:avLst>
              <a:gd name="adj" fmla="val 7059"/>
            </a:avLst>
          </a:prstGeom>
          <a:solidFill>
            <a:srgbClr val="F2F2F2"/>
          </a:solidFill>
          <a:ln w="9525">
            <a:solidFill>
              <a:srgbClr val="BFBFBF"/>
            </a:solidFill>
            <a:prstDash val="solid"/>
          </a:ln>
        </p:spPr>
      </p:sp>
      <p:sp>
        <p:nvSpPr>
          <p:cNvPr id="26" name="Text 24"/>
          <p:cNvSpPr txBox="1"/>
          <p:nvPr/>
        </p:nvSpPr>
        <p:spPr>
          <a:xfrm>
            <a:off x="8988552" y="27432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27" name="Text 25"/>
          <p:cNvSpPr txBox="1"/>
          <p:nvPr/>
        </p:nvSpPr>
        <p:spPr>
          <a:xfrm>
            <a:off x="9052560" y="27432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16</a:t>
            </a:r>
            <a:endParaRPr lang="en-US" sz="1600" dirty="0"/>
          </a:p>
          <a:p>
            <a:pPr indent="0" marL="0">
              <a:buNone/>
            </a:pPr>
            <a:r>
              <a:rPr lang="en-US" sz="1400" dirty="0">
                <a:solidFill>
                  <a:schemeClr val="tx1"/>
                </a:solidFill>
              </a:rPr>
              <a:t>All policies, cost vs accuracy</a:t>
            </a:r>
            <a:endParaRPr lang="en-US" sz="1600" dirty="0"/>
          </a:p>
        </p:txBody>
      </p:sp>
      <p:sp>
        <p:nvSpPr>
          <p:cNvPr id="28" name="box "/>
          <p:cNvSpPr/>
          <p:nvPr/>
        </p:nvSpPr>
        <p:spPr>
          <a:xfrm>
            <a:off x="548640" y="3657600"/>
            <a:ext cx="2651760" cy="777240"/>
          </a:xfrm>
          <a:prstGeom prst="roundRect">
            <a:avLst>
              <a:gd name="adj" fmla="val 7059"/>
            </a:avLst>
          </a:prstGeom>
          <a:solidFill>
            <a:srgbClr val="F2F2F2"/>
          </a:solidFill>
          <a:ln w="9525">
            <a:solidFill>
              <a:srgbClr val="BFBFBF"/>
            </a:solidFill>
            <a:prstDash val="solid"/>
          </a:ln>
        </p:spPr>
      </p:sp>
      <p:sp>
        <p:nvSpPr>
          <p:cNvPr id="29" name="Text 27"/>
          <p:cNvSpPr txBox="1"/>
          <p:nvPr/>
        </p:nvSpPr>
        <p:spPr>
          <a:xfrm>
            <a:off x="62179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0" name="Text 28"/>
          <p:cNvSpPr txBox="1"/>
          <p:nvPr/>
        </p:nvSpPr>
        <p:spPr>
          <a:xfrm>
            <a:off x="68580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17</a:t>
            </a:r>
            <a:endParaRPr lang="en-US" sz="1600" dirty="0"/>
          </a:p>
          <a:p>
            <a:pPr indent="0" marL="0">
              <a:buNone/>
            </a:pPr>
            <a:r>
              <a:rPr lang="en-US" sz="1400" dirty="0">
                <a:solidFill>
                  <a:schemeClr val="tx1"/>
                </a:solidFill>
              </a:rPr>
              <a:t>It pays off: small GPU, 30 labels</a:t>
            </a:r>
            <a:endParaRPr lang="en-US" sz="1600" dirty="0"/>
          </a:p>
        </p:txBody>
      </p:sp>
      <p:sp>
        <p:nvSpPr>
          <p:cNvPr id="31" name="box "/>
          <p:cNvSpPr/>
          <p:nvPr/>
        </p:nvSpPr>
        <p:spPr>
          <a:xfrm>
            <a:off x="3337560" y="3657600"/>
            <a:ext cx="2651760" cy="777240"/>
          </a:xfrm>
          <a:prstGeom prst="roundRect">
            <a:avLst>
              <a:gd name="adj" fmla="val 7059"/>
            </a:avLst>
          </a:prstGeom>
          <a:solidFill>
            <a:srgbClr val="F2F2F2"/>
          </a:solidFill>
          <a:ln w="9525">
            <a:solidFill>
              <a:srgbClr val="BFBFBF"/>
            </a:solidFill>
            <a:prstDash val="solid"/>
          </a:ln>
        </p:spPr>
      </p:sp>
      <p:sp>
        <p:nvSpPr>
          <p:cNvPr id="32" name="Text 30"/>
          <p:cNvSpPr txBox="1"/>
          <p:nvPr/>
        </p:nvSpPr>
        <p:spPr>
          <a:xfrm>
            <a:off x="341071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3" name="Text 31"/>
          <p:cNvSpPr txBox="1"/>
          <p:nvPr/>
        </p:nvSpPr>
        <p:spPr>
          <a:xfrm>
            <a:off x="347472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18</a:t>
            </a:r>
            <a:endParaRPr lang="en-US" sz="1600" dirty="0"/>
          </a:p>
          <a:p>
            <a:pPr indent="0" marL="0">
              <a:buNone/>
            </a:pPr>
            <a:r>
              <a:rPr lang="en-US" sz="1400" dirty="0">
                <a:solidFill>
                  <a:schemeClr val="tx1"/>
                </a:solidFill>
              </a:rPr>
              <a:t>Compared with published methods</a:t>
            </a:r>
            <a:endParaRPr lang="en-US" sz="1600" dirty="0"/>
          </a:p>
        </p:txBody>
      </p:sp>
      <p:sp>
        <p:nvSpPr>
          <p:cNvPr id="34" name="box "/>
          <p:cNvSpPr/>
          <p:nvPr/>
        </p:nvSpPr>
        <p:spPr>
          <a:xfrm>
            <a:off x="6126480" y="3657600"/>
            <a:ext cx="2651760" cy="777240"/>
          </a:xfrm>
          <a:prstGeom prst="roundRect">
            <a:avLst>
              <a:gd name="adj" fmla="val 7059"/>
            </a:avLst>
          </a:prstGeom>
          <a:solidFill>
            <a:srgbClr val="F2F2F2"/>
          </a:solidFill>
          <a:ln w="9525">
            <a:solidFill>
              <a:srgbClr val="BFBFBF"/>
            </a:solidFill>
            <a:prstDash val="solid"/>
          </a:ln>
        </p:spPr>
      </p:sp>
      <p:sp>
        <p:nvSpPr>
          <p:cNvPr id="35" name="Text 33"/>
          <p:cNvSpPr txBox="1"/>
          <p:nvPr/>
        </p:nvSpPr>
        <p:spPr>
          <a:xfrm>
            <a:off x="619963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6" name="Text 34"/>
          <p:cNvSpPr txBox="1"/>
          <p:nvPr/>
        </p:nvSpPr>
        <p:spPr>
          <a:xfrm>
            <a:off x="626364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19</a:t>
            </a:r>
            <a:endParaRPr lang="en-US" sz="1600" dirty="0"/>
          </a:p>
          <a:p>
            <a:pPr indent="0" marL="0">
              <a:buNone/>
            </a:pPr>
            <a:r>
              <a:rPr lang="en-US" sz="1400" dirty="0">
                <a:solidFill>
                  <a:schemeClr val="tx1"/>
                </a:solidFill>
              </a:rPr>
              <a:t>Related research map</a:t>
            </a:r>
            <a:endParaRPr lang="en-US" sz="1600" dirty="0"/>
          </a:p>
        </p:txBody>
      </p:sp>
      <p:sp>
        <p:nvSpPr>
          <p:cNvPr id="37" name="box "/>
          <p:cNvSpPr/>
          <p:nvPr/>
        </p:nvSpPr>
        <p:spPr>
          <a:xfrm>
            <a:off x="8915400" y="3657600"/>
            <a:ext cx="2651760" cy="777240"/>
          </a:xfrm>
          <a:prstGeom prst="roundRect">
            <a:avLst>
              <a:gd name="adj" fmla="val 7059"/>
            </a:avLst>
          </a:prstGeom>
          <a:solidFill>
            <a:srgbClr val="F2F2F2"/>
          </a:solidFill>
          <a:ln w="9525">
            <a:solidFill>
              <a:srgbClr val="BFBFBF"/>
            </a:solidFill>
            <a:prstDash val="solid"/>
          </a:ln>
        </p:spPr>
      </p:sp>
      <p:sp>
        <p:nvSpPr>
          <p:cNvPr id="38" name="Text 36"/>
          <p:cNvSpPr txBox="1"/>
          <p:nvPr/>
        </p:nvSpPr>
        <p:spPr>
          <a:xfrm>
            <a:off x="8988552" y="36576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39" name="Text 37"/>
          <p:cNvSpPr txBox="1"/>
          <p:nvPr/>
        </p:nvSpPr>
        <p:spPr>
          <a:xfrm>
            <a:off x="9052560" y="36576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20</a:t>
            </a:r>
            <a:endParaRPr lang="en-US" sz="1600" dirty="0"/>
          </a:p>
          <a:p>
            <a:pPr indent="0" marL="0">
              <a:buNone/>
            </a:pPr>
            <a:r>
              <a:rPr lang="en-US" sz="1400" dirty="0">
                <a:solidFill>
                  <a:schemeClr val="tx1"/>
                </a:solidFill>
              </a:rPr>
              <a:t>Numbers reported in papers</a:t>
            </a:r>
            <a:endParaRPr lang="en-US" sz="1600" dirty="0"/>
          </a:p>
        </p:txBody>
      </p:sp>
      <p:sp>
        <p:nvSpPr>
          <p:cNvPr id="40" name="box "/>
          <p:cNvSpPr/>
          <p:nvPr/>
        </p:nvSpPr>
        <p:spPr>
          <a:xfrm>
            <a:off x="548640" y="4572000"/>
            <a:ext cx="2651760" cy="777240"/>
          </a:xfrm>
          <a:prstGeom prst="roundRect">
            <a:avLst>
              <a:gd name="adj" fmla="val 7059"/>
            </a:avLst>
          </a:prstGeom>
          <a:solidFill>
            <a:srgbClr val="F2F2F2"/>
          </a:solidFill>
          <a:ln w="9525">
            <a:solidFill>
              <a:srgbClr val="BFBFBF"/>
            </a:solidFill>
            <a:prstDash val="solid"/>
          </a:ln>
        </p:spPr>
      </p:sp>
      <p:sp>
        <p:nvSpPr>
          <p:cNvPr id="41" name="Text 39"/>
          <p:cNvSpPr txBox="1"/>
          <p:nvPr/>
        </p:nvSpPr>
        <p:spPr>
          <a:xfrm>
            <a:off x="62179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2" name="Text 40"/>
          <p:cNvSpPr txBox="1"/>
          <p:nvPr/>
        </p:nvSpPr>
        <p:spPr>
          <a:xfrm>
            <a:off x="68580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21</a:t>
            </a:r>
            <a:endParaRPr lang="en-US" sz="1600" dirty="0"/>
          </a:p>
          <a:p>
            <a:pPr indent="0" marL="0">
              <a:buNone/>
            </a:pPr>
            <a:r>
              <a:rPr lang="en-US" sz="1400" dirty="0">
                <a:solidFill>
                  <a:schemeClr val="tx1"/>
                </a:solidFill>
              </a:rPr>
              <a:t>Proofs need a specialized model</a:t>
            </a:r>
            <a:endParaRPr lang="en-US" sz="1600" dirty="0"/>
          </a:p>
        </p:txBody>
      </p:sp>
      <p:sp>
        <p:nvSpPr>
          <p:cNvPr id="43" name="box "/>
          <p:cNvSpPr/>
          <p:nvPr/>
        </p:nvSpPr>
        <p:spPr>
          <a:xfrm>
            <a:off x="3337560" y="4572000"/>
            <a:ext cx="2651760" cy="777240"/>
          </a:xfrm>
          <a:prstGeom prst="roundRect">
            <a:avLst>
              <a:gd name="adj" fmla="val 7059"/>
            </a:avLst>
          </a:prstGeom>
          <a:solidFill>
            <a:srgbClr val="F2F2F2"/>
          </a:solidFill>
          <a:ln w="9525">
            <a:solidFill>
              <a:srgbClr val="BFBFBF"/>
            </a:solidFill>
            <a:prstDash val="solid"/>
          </a:ln>
        </p:spPr>
      </p:sp>
      <p:sp>
        <p:nvSpPr>
          <p:cNvPr id="44" name="Text 42"/>
          <p:cNvSpPr txBox="1"/>
          <p:nvPr/>
        </p:nvSpPr>
        <p:spPr>
          <a:xfrm>
            <a:off x="341071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5" name="Text 43"/>
          <p:cNvSpPr txBox="1"/>
          <p:nvPr/>
        </p:nvSpPr>
        <p:spPr>
          <a:xfrm>
            <a:off x="347472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22</a:t>
            </a:r>
            <a:endParaRPr lang="en-US" sz="1600" dirty="0"/>
          </a:p>
          <a:p>
            <a:pPr indent="0" marL="0">
              <a:buNone/>
            </a:pPr>
            <a:r>
              <a:rPr lang="en-US" sz="1400" dirty="0">
                <a:solidFill>
                  <a:schemeClr val="tx1"/>
                </a:solidFill>
              </a:rPr>
              <a:t>Where the recipe stops</a:t>
            </a:r>
            <a:endParaRPr lang="en-US" sz="1600" dirty="0"/>
          </a:p>
        </p:txBody>
      </p:sp>
      <p:sp>
        <p:nvSpPr>
          <p:cNvPr id="46" name="box "/>
          <p:cNvSpPr/>
          <p:nvPr/>
        </p:nvSpPr>
        <p:spPr>
          <a:xfrm>
            <a:off x="6126480" y="4572000"/>
            <a:ext cx="2651760" cy="777240"/>
          </a:xfrm>
          <a:prstGeom prst="roundRect">
            <a:avLst>
              <a:gd name="adj" fmla="val 7059"/>
            </a:avLst>
          </a:prstGeom>
          <a:solidFill>
            <a:srgbClr val="F2F2F2"/>
          </a:solidFill>
          <a:ln w="9525">
            <a:solidFill>
              <a:srgbClr val="BFBFBF"/>
            </a:solidFill>
            <a:prstDash val="solid"/>
          </a:ln>
        </p:spPr>
      </p:sp>
      <p:sp>
        <p:nvSpPr>
          <p:cNvPr id="47" name="Text 45"/>
          <p:cNvSpPr txBox="1"/>
          <p:nvPr/>
        </p:nvSpPr>
        <p:spPr>
          <a:xfrm>
            <a:off x="619963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48" name="Text 46"/>
          <p:cNvSpPr txBox="1"/>
          <p:nvPr/>
        </p:nvSpPr>
        <p:spPr>
          <a:xfrm>
            <a:off x="626364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23</a:t>
            </a:r>
            <a:endParaRPr lang="en-US" sz="1600" dirty="0"/>
          </a:p>
          <a:p>
            <a:pPr indent="0" marL="0">
              <a:buNone/>
            </a:pPr>
            <a:r>
              <a:rPr lang="en-US" sz="1400" dirty="0">
                <a:solidFill>
                  <a:schemeClr val="tx1"/>
                </a:solidFill>
              </a:rPr>
              <a:t>All findings at a glance</a:t>
            </a:r>
            <a:endParaRPr lang="en-US" sz="1600" dirty="0"/>
          </a:p>
        </p:txBody>
      </p:sp>
      <p:sp>
        <p:nvSpPr>
          <p:cNvPr id="49" name="box "/>
          <p:cNvSpPr/>
          <p:nvPr/>
        </p:nvSpPr>
        <p:spPr>
          <a:xfrm>
            <a:off x="8915400" y="4572000"/>
            <a:ext cx="2651760" cy="777240"/>
          </a:xfrm>
          <a:prstGeom prst="roundRect">
            <a:avLst>
              <a:gd name="adj" fmla="val 7059"/>
            </a:avLst>
          </a:prstGeom>
          <a:solidFill>
            <a:srgbClr val="F2F2F2"/>
          </a:solidFill>
          <a:ln w="9525">
            <a:solidFill>
              <a:srgbClr val="BFBFBF"/>
            </a:solidFill>
            <a:prstDash val="solid"/>
          </a:ln>
        </p:spPr>
      </p:sp>
      <p:sp>
        <p:nvSpPr>
          <p:cNvPr id="50" name="Text 48"/>
          <p:cNvSpPr txBox="1"/>
          <p:nvPr/>
        </p:nvSpPr>
        <p:spPr>
          <a:xfrm>
            <a:off x="8988552" y="4572000"/>
            <a:ext cx="2505456" cy="777240"/>
          </a:xfrm>
          <a:prstGeom prst="rect">
            <a:avLst/>
          </a:prstGeom>
          <a:noFill/>
          <a:ln/>
        </p:spPr>
        <p:txBody>
          <a:bodyPr wrap="square" lIns="0" tIns="0" rIns="0" bIns="0" rtlCol="0" anchor="ctr"/>
          <a:lstStyle/>
          <a:p>
            <a:pPr algn="ctr" indent="0" marL="0">
              <a:buNone/>
            </a:pPr>
            <a:endParaRPr lang="en-US" sz="1500" dirty="0"/>
          </a:p>
        </p:txBody>
      </p:sp>
      <p:sp>
        <p:nvSpPr>
          <p:cNvPr id="51" name="Text 49"/>
          <p:cNvSpPr txBox="1"/>
          <p:nvPr/>
        </p:nvSpPr>
        <p:spPr>
          <a:xfrm>
            <a:off x="9052560" y="4572000"/>
            <a:ext cx="2423160" cy="777240"/>
          </a:xfrm>
          <a:prstGeom prst="rect">
            <a:avLst/>
          </a:prstGeom>
          <a:noFill/>
          <a:ln/>
        </p:spPr>
        <p:txBody>
          <a:bodyPr wrap="square" lIns="0" tIns="0" rIns="0" bIns="0" rtlCol="0" anchor="ctr"/>
          <a:lstStyle/>
          <a:p>
            <a:pPr indent="0" marL="0">
              <a:buNone/>
            </a:pPr>
            <a:r>
              <a:rPr lang="en-US" sz="2000" b="1" dirty="0">
                <a:solidFill>
                  <a:srgbClr val="4472C4"/>
                </a:solidFill>
              </a:rPr>
              <a:t>24</a:t>
            </a:r>
            <a:endParaRPr lang="en-US" sz="1600" dirty="0"/>
          </a:p>
          <a:p>
            <a:pPr indent="0" marL="0">
              <a:buNone/>
            </a:pPr>
            <a:r>
              <a:rPr lang="en-US" sz="1400" dirty="0">
                <a:solidFill>
                  <a:schemeClr val="tx1"/>
                </a:solidFill>
              </a:rPr>
              <a:t>Words we use</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our problems, and how hard they are next to LeetCode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00" b="1" dirty="0">
                <a:solidFill>
                  <a:srgbClr val="4472C4"/>
                </a:solidFill>
              </a:rPr>
              <a:t>≈ LeetCode Easy–Hard (#812, #587)</a:t>
            </a:r>
            <a:endParaRPr lang="en-US" sz="120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00" b="1" dirty="0">
                <a:solidFill>
                  <a:srgbClr val="C00000"/>
                </a:solidFill>
              </a:rPr>
              <a:t>mostly LeetCode Hard or harder</a:t>
            </a:r>
            <a:endParaRPr lang="en-US" sz="120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00" b="1" dirty="0">
                <a:solidFill>
                  <a:srgbClr val="ED7D31"/>
                </a:solidFill>
              </a:rPr>
              <a:t>no LeetCode match: needs a solver</a:t>
            </a:r>
            <a:endParaRPr lang="en-US" sz="120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00" b="1" dirty="0">
                <a:solidFill>
                  <a:srgbClr val="38761D"/>
                </a:solidFill>
              </a:rPr>
              <a:t>school level, but the solver API is hard</a:t>
            </a:r>
            <a:endParaRPr lang="en-US" sz="120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00" b="1" dirty="0">
                <a:solidFill>
                  <a:srgbClr val="595959"/>
                </a:solidFill>
              </a:rPr>
              <a:t>not a coding test</a:t>
            </a:r>
            <a:endParaRPr lang="en-US" sz="120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on the LeetCode scale (Codeforces rating; rough rule of thumb)</a:t>
            </a:r>
            <a:endParaRPr lang="en-US" sz="1500" dirty="0"/>
          </a:p>
        </p:txBody>
      </p:sp>
      <p:sp>
        <p:nvSpPr>
          <p:cNvPr id="34" name="zone LeetCode Easy"/>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LeetCode Easy</a:t>
            </a:r>
            <a:endParaRPr lang="en-US" sz="1300" dirty="0"/>
          </a:p>
        </p:txBody>
      </p:sp>
      <p:sp>
        <p:nvSpPr>
          <p:cNvPr id="36" name="zone Medium"/>
          <p:cNvSpPr/>
          <p:nvPr/>
        </p:nvSpPr>
        <p:spPr>
          <a:xfrm>
            <a:off x="2403566" y="4983480"/>
            <a:ext cx="2233749"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2233749" cy="347472"/>
          </a:xfrm>
          <a:prstGeom prst="rect">
            <a:avLst/>
          </a:prstGeom>
          <a:noFill/>
          <a:ln/>
        </p:spPr>
        <p:txBody>
          <a:bodyPr wrap="square" lIns="0" tIns="0" rIns="0" bIns="0" rtlCol="0" anchor="ctr"/>
          <a:lstStyle/>
          <a:p>
            <a:pPr algn="ctr" indent="0" marL="0">
              <a:buNone/>
            </a:pPr>
            <a:r>
              <a:rPr lang="en-US" sz="1300" b="1" dirty="0">
                <a:solidFill>
                  <a:schemeClr val="tx1"/>
                </a:solidFill>
              </a:rPr>
              <a:t>Medium</a:t>
            </a:r>
            <a:endParaRPr lang="en-US" sz="1300" dirty="0"/>
          </a:p>
        </p:txBody>
      </p:sp>
      <p:sp>
        <p:nvSpPr>
          <p:cNvPr id="38" name="zone Hard"/>
          <p:cNvSpPr/>
          <p:nvPr/>
        </p:nvSpPr>
        <p:spPr>
          <a:xfrm>
            <a:off x="4637314"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4637314"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Hard</a:t>
            </a:r>
            <a:endParaRPr lang="en-US" sz="1300" dirty="0"/>
          </a:p>
        </p:txBody>
      </p:sp>
      <p:sp>
        <p:nvSpPr>
          <p:cNvPr id="40" name="zone harder than LeetCode"/>
          <p:cNvSpPr/>
          <p:nvPr/>
        </p:nvSpPr>
        <p:spPr>
          <a:xfrm>
            <a:off x="6498771" y="4983480"/>
            <a:ext cx="4839789" cy="347472"/>
          </a:xfrm>
          <a:prstGeom prst="rect">
            <a:avLst/>
          </a:prstGeom>
          <a:solidFill>
            <a:srgbClr val="FADBD8"/>
          </a:solidFill>
          <a:ln w="12700">
            <a:solidFill>
              <a:srgbClr val="FFFFFF"/>
            </a:solidFill>
            <a:prstDash val="solid"/>
          </a:ln>
        </p:spPr>
      </p:sp>
      <p:sp>
        <p:nvSpPr>
          <p:cNvPr id="41" name="Text 34"/>
          <p:cNvSpPr txBox="1"/>
          <p:nvPr/>
        </p:nvSpPr>
        <p:spPr>
          <a:xfrm>
            <a:off x="6498771" y="4983480"/>
            <a:ext cx="4839789" cy="347472"/>
          </a:xfrm>
          <a:prstGeom prst="rect">
            <a:avLst/>
          </a:prstGeom>
          <a:noFill/>
          <a:ln/>
        </p:spPr>
        <p:txBody>
          <a:bodyPr wrap="square" lIns="0" tIns="0" rIns="0" bIns="0" rtlCol="0" anchor="ctr"/>
          <a:lstStyle/>
          <a:p>
            <a:pPr algn="ctr" indent="0" marL="0">
              <a:buNone/>
            </a:pPr>
            <a:r>
              <a:rPr lang="en-US" sz="1300" b="1" dirty="0">
                <a:solidFill>
                  <a:schemeClr val="tx1"/>
                </a:solidFill>
              </a:rPr>
              <a:t>harder than LeetCode</a:t>
            </a:r>
            <a:endParaRPr lang="en-US" sz="1300" dirty="0"/>
          </a:p>
        </p:txBody>
      </p:sp>
      <p:sp>
        <p:nvSpPr>
          <p:cNvPr id="42"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3" name="Text 36"/>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4" name="Text 37"/>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5"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6" name="Text 39"/>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7" name="Text 40"/>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8"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9" name="Text 42"/>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0" name="Text 43"/>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1"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2" name="Text 45"/>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3" name="Text 46"/>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4"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5" name="Text 48"/>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6" name="Text 49"/>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7"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8" name="Text 51"/>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9" name="Text 52"/>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0"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1" name="Text 54"/>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2" name="Text 55"/>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3" name="Text 56"/>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4" name="Text 5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(LeetCode Hard); 46% are 2400+,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think harder only when the examples fail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same 66% solved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on a failed check</a:t>
            </a:r>
            <a:endParaRPr lang="en-US" sz="1600" dirty="0"/>
          </a:p>
        </p:txBody>
      </p:sp>
      <p:sp>
        <p:nvSpPr>
          <p:cNvPr id="26" name="bar Think hard only on a failed check"/>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624 geometry and optimization problems,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it pays off, even without a human or a big GPU</a:t>
            </a:r>
            <a:endParaRPr lang="en-US" sz="3600" dirty="0"/>
          </a:p>
        </p:txBody>
      </p:sp>
      <p:sp>
        <p:nvSpPr>
          <p:cNvPr id="3" name="Text 1"/>
          <p:cNvSpPr txBox="1"/>
          <p:nvPr/>
        </p:nvSpPr>
        <p:spPr>
          <a:xfrm>
            <a:off x="548640" y="1234440"/>
            <a:ext cx="6949440" cy="411480"/>
          </a:xfrm>
          <a:prstGeom prst="rect">
            <a:avLst/>
          </a:prstGeom>
          <a:noFill/>
          <a:ln/>
        </p:spPr>
        <p:txBody>
          <a:bodyPr wrap="square" lIns="0" tIns="0" rIns="0" bIns="0" rtlCol="0" anchor="ctr"/>
          <a:lstStyle/>
          <a:p>
            <a:pPr indent="0" marL="0">
              <a:buNone/>
            </a:pPr>
            <a:r>
              <a:rPr lang="en-US" sz="1600" dirty="0">
                <a:solidFill>
                  <a:schemeClr val="tx1"/>
                </a:solidFill>
              </a:rPr>
              <a:t>624 geometry and optimization problems, 3 models: % solved · tokens per problem</a:t>
            </a:r>
            <a:endParaRPr lang="en-US" sz="1600" dirty="0"/>
          </a:p>
        </p:txBody>
      </p:sp>
      <p:sp>
        <p:nvSpPr>
          <p:cNvPr id="4" name="Text 2"/>
          <p:cNvSpPr txBox="1"/>
          <p:nvPr/>
        </p:nvSpPr>
        <p:spPr>
          <a:xfrm>
            <a:off x="548640" y="178308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on hardest (Snell et al.)</a:t>
            </a:r>
            <a:endParaRPr lang="en-US" sz="1600" dirty="0"/>
          </a:p>
        </p:txBody>
      </p:sp>
      <p:sp>
        <p:nvSpPr>
          <p:cNvPr id="5" name="bar Think on hardest (Snell et al.)"/>
          <p:cNvSpPr/>
          <p:nvPr/>
        </p:nvSpPr>
        <p:spPr>
          <a:xfrm>
            <a:off x="3703320" y="1879092"/>
            <a:ext cx="1759306" cy="320040"/>
          </a:xfrm>
          <a:prstGeom prst="rect">
            <a:avLst/>
          </a:prstGeom>
          <a:solidFill>
            <a:srgbClr val="7F7F7F"/>
          </a:solidFill>
          <a:ln w="6350">
            <a:solidFill>
              <a:srgbClr val="7F7F7F"/>
            </a:solidFill>
            <a:prstDash val="solid"/>
          </a:ln>
        </p:spPr>
      </p:sp>
      <p:sp>
        <p:nvSpPr>
          <p:cNvPr id="6" name="Text 4"/>
          <p:cNvSpPr txBox="1"/>
          <p:nvPr/>
        </p:nvSpPr>
        <p:spPr>
          <a:xfrm>
            <a:off x="5554066" y="178308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7" name="Text 5"/>
          <p:cNvSpPr txBox="1"/>
          <p:nvPr/>
        </p:nvSpPr>
        <p:spPr>
          <a:xfrm>
            <a:off x="548640" y="242316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Think when the check fails</a:t>
            </a:r>
            <a:endParaRPr lang="en-US" sz="1600" dirty="0"/>
          </a:p>
        </p:txBody>
      </p:sp>
      <p:sp>
        <p:nvSpPr>
          <p:cNvPr id="8" name="bar Think when the check fails"/>
          <p:cNvSpPr/>
          <p:nvPr/>
        </p:nvSpPr>
        <p:spPr>
          <a:xfrm>
            <a:off x="3703320" y="2519172"/>
            <a:ext cx="1830629" cy="320040"/>
          </a:xfrm>
          <a:prstGeom prst="rect">
            <a:avLst/>
          </a:prstGeom>
          <a:solidFill>
            <a:srgbClr val="7F7F7F"/>
          </a:solidFill>
          <a:ln w="6350">
            <a:solidFill>
              <a:srgbClr val="7F7F7F"/>
            </a:solidFill>
            <a:prstDash val="solid"/>
          </a:ln>
        </p:spPr>
      </p:sp>
      <p:sp>
        <p:nvSpPr>
          <p:cNvPr id="9" name="Text 7"/>
          <p:cNvSpPr txBox="1"/>
          <p:nvPr/>
        </p:nvSpPr>
        <p:spPr>
          <a:xfrm>
            <a:off x="5625389" y="242316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0" name="Text 8"/>
          <p:cNvSpPr txBox="1"/>
          <p:nvPr/>
        </p:nvSpPr>
        <p:spPr>
          <a:xfrm>
            <a:off x="548640" y="306324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1" name="bar Fix by failure type"/>
          <p:cNvSpPr/>
          <p:nvPr/>
        </p:nvSpPr>
        <p:spPr>
          <a:xfrm>
            <a:off x="3703320" y="3159252"/>
            <a:ext cx="1973275" cy="320040"/>
          </a:xfrm>
          <a:prstGeom prst="rect">
            <a:avLst/>
          </a:prstGeom>
          <a:solidFill>
            <a:srgbClr val="7F7F7F"/>
          </a:solidFill>
          <a:ln w="6350">
            <a:solidFill>
              <a:srgbClr val="7F7F7F"/>
            </a:solidFill>
            <a:prstDash val="solid"/>
          </a:ln>
        </p:spPr>
      </p:sp>
      <p:sp>
        <p:nvSpPr>
          <p:cNvPr id="12" name="Text 10"/>
          <p:cNvSpPr txBox="1"/>
          <p:nvPr/>
        </p:nvSpPr>
        <p:spPr>
          <a:xfrm>
            <a:off x="5768035" y="3063240"/>
            <a:ext cx="1371600" cy="512064"/>
          </a:xfrm>
          <a:prstGeom prst="rect">
            <a:avLst/>
          </a:prstGeom>
          <a:noFill/>
          <a:ln/>
        </p:spPr>
        <p:txBody>
          <a:bodyPr wrap="square" lIns="0" tIns="0" rIns="0" bIns="0" rtlCol="0" anchor="ctr"/>
          <a:lstStyle/>
          <a:p>
            <a:pPr indent="0" marL="0">
              <a:buNone/>
            </a:pPr>
            <a:r>
              <a:rPr lang="en-US" sz="1800" b="1" dirty="0">
                <a:solidFill>
                  <a:srgbClr val="7F7F7F"/>
                </a:solidFill>
              </a:rPr>
              <a:t>83% · 4.2k</a:t>
            </a:r>
            <a:endParaRPr lang="en-US" sz="1800" dirty="0"/>
          </a:p>
        </p:txBody>
      </p:sp>
      <p:sp>
        <p:nvSpPr>
          <p:cNvPr id="13" name="Text 11"/>
          <p:cNvSpPr txBox="1"/>
          <p:nvPr/>
        </p:nvSpPr>
        <p:spPr>
          <a:xfrm>
            <a:off x="548640" y="3703320"/>
            <a:ext cx="3017520" cy="512064"/>
          </a:xfrm>
          <a:prstGeom prst="rect">
            <a:avLst/>
          </a:prstGeom>
          <a:noFill/>
          <a:ln/>
        </p:spPr>
        <p:txBody>
          <a:bodyPr wrap="square" lIns="0" tIns="0" rIns="0" bIns="0" rtlCol="0" anchor="ctr"/>
          <a:lstStyle/>
          <a:p>
            <a:pPr algn="r" indent="0" marL="0">
              <a:buNone/>
            </a:pPr>
            <a:r>
              <a:rPr lang="en-US" sz="1600" dirty="0">
                <a:solidFill>
                  <a:schemeClr val="tx1"/>
                </a:solidFill>
              </a:rPr>
              <a:t>Fact first, think on failure</a:t>
            </a:r>
            <a:endParaRPr lang="en-US" sz="1600" dirty="0"/>
          </a:p>
        </p:txBody>
      </p:sp>
      <p:sp>
        <p:nvSpPr>
          <p:cNvPr id="14" name="bar Fact first, think on failure"/>
          <p:cNvSpPr/>
          <p:nvPr/>
        </p:nvSpPr>
        <p:spPr>
          <a:xfrm>
            <a:off x="3703320" y="3799332"/>
            <a:ext cx="2068373" cy="320040"/>
          </a:xfrm>
          <a:prstGeom prst="rect">
            <a:avLst/>
          </a:prstGeom>
          <a:solidFill>
            <a:srgbClr val="4472C4"/>
          </a:solidFill>
          <a:ln w="6350">
            <a:solidFill>
              <a:srgbClr val="4472C4"/>
            </a:solidFill>
            <a:prstDash val="solid"/>
          </a:ln>
        </p:spPr>
      </p:sp>
      <p:sp>
        <p:nvSpPr>
          <p:cNvPr id="15" name="Text 13"/>
          <p:cNvSpPr txBox="1"/>
          <p:nvPr/>
        </p:nvSpPr>
        <p:spPr>
          <a:xfrm>
            <a:off x="5863133" y="3703320"/>
            <a:ext cx="1371600" cy="512064"/>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16" name="Text 14"/>
          <p:cNvSpPr txBox="1"/>
          <p:nvPr/>
        </p:nvSpPr>
        <p:spPr>
          <a:xfrm>
            <a:off x="7863840" y="132588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79% = 79%</a:t>
            </a:r>
            <a:endParaRPr lang="en-US" sz="3000" dirty="0"/>
          </a:p>
        </p:txBody>
      </p:sp>
      <p:sp>
        <p:nvSpPr>
          <p:cNvPr id="17" name="Text 15"/>
          <p:cNvSpPr txBox="1"/>
          <p:nvPr/>
        </p:nvSpPr>
        <p:spPr>
          <a:xfrm>
            <a:off x="7863840" y="1874520"/>
            <a:ext cx="3749040" cy="685800"/>
          </a:xfrm>
          <a:prstGeom prst="rect">
            <a:avLst/>
          </a:prstGeom>
          <a:noFill/>
          <a:ln/>
        </p:spPr>
        <p:txBody>
          <a:bodyPr wrap="square" lIns="0" tIns="0" rIns="0" bIns="0" rtlCol="0" anchor="t"/>
          <a:lstStyle/>
          <a:p>
            <a:pPr indent="0" marL="0">
              <a:buNone/>
            </a:pPr>
            <a:r>
              <a:rPr lang="en-US" sz="1400" dirty="0">
                <a:solidFill>
                  <a:schemeClr val="tx1"/>
                </a:solidFill>
              </a:rPr>
              <a:t>fact found automatically = hand-written, on a benchmark never used before (MAMO)</a:t>
            </a:r>
            <a:endParaRPr lang="en-US" sz="1400" dirty="0"/>
          </a:p>
        </p:txBody>
      </p:sp>
      <p:sp>
        <p:nvSpPr>
          <p:cNvPr id="18" name="Text 16"/>
          <p:cNvSpPr txBox="1"/>
          <p:nvPr/>
        </p:nvSpPr>
        <p:spPr>
          <a:xfrm>
            <a:off x="7863840" y="274320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24 GB</a:t>
            </a:r>
            <a:endParaRPr lang="en-US" sz="3000" dirty="0"/>
          </a:p>
        </p:txBody>
      </p:sp>
      <p:sp>
        <p:nvSpPr>
          <p:cNvPr id="19" name="Text 17"/>
          <p:cNvSpPr txBox="1"/>
          <p:nvPr/>
        </p:nvSpPr>
        <p:spPr>
          <a:xfrm>
            <a:off x="7863840" y="3291840"/>
            <a:ext cx="3749040" cy="685800"/>
          </a:xfrm>
          <a:prstGeom prst="rect">
            <a:avLst/>
          </a:prstGeom>
          <a:noFill/>
          <a:ln/>
        </p:spPr>
        <p:txBody>
          <a:bodyPr wrap="square" lIns="0" tIns="0" rIns="0" bIns="0" rtlCol="0" anchor="t"/>
          <a:lstStyle/>
          <a:p>
            <a:pPr indent="0" marL="0">
              <a:buNone/>
            </a:pPr>
            <a:r>
              <a:rPr lang="en-US" sz="1400" dirty="0">
                <a:solidFill>
                  <a:schemeClr val="tx1"/>
                </a:solidFill>
              </a:rPr>
              <a:t>one RTX 3090-class GPU: gpt-oss-20b and Qwen3-14B match Qwen3-32B</a:t>
            </a:r>
            <a:endParaRPr lang="en-US" sz="1400" dirty="0"/>
          </a:p>
        </p:txBody>
      </p:sp>
      <p:sp>
        <p:nvSpPr>
          <p:cNvPr id="20" name="Text 18"/>
          <p:cNvSpPr txBox="1"/>
          <p:nvPr/>
        </p:nvSpPr>
        <p:spPr>
          <a:xfrm>
            <a:off x="7863840" y="4160520"/>
            <a:ext cx="3749040" cy="548640"/>
          </a:xfrm>
          <a:prstGeom prst="rect">
            <a:avLst/>
          </a:prstGeom>
          <a:noFill/>
          <a:ln/>
        </p:spPr>
        <p:txBody>
          <a:bodyPr wrap="square" lIns="0" tIns="0" rIns="0" bIns="0" rtlCol="0" anchor="ctr"/>
          <a:lstStyle/>
          <a:p>
            <a:pPr indent="0" marL="0">
              <a:buNone/>
            </a:pPr>
            <a:r>
              <a:rPr lang="en-US" sz="3000" b="1" dirty="0">
                <a:solidFill>
                  <a:srgbClr val="4472C4"/>
                </a:solidFill>
              </a:rPr>
              <a:t>30</a:t>
            </a:r>
            <a:endParaRPr lang="en-US" sz="3000" dirty="0"/>
          </a:p>
        </p:txBody>
      </p:sp>
      <p:sp>
        <p:nvSpPr>
          <p:cNvPr id="21" name="Text 19"/>
          <p:cNvSpPr txBox="1"/>
          <p:nvPr/>
        </p:nvSpPr>
        <p:spPr>
          <a:xfrm>
            <a:off x="7863840" y="4709160"/>
            <a:ext cx="3749040" cy="685800"/>
          </a:xfrm>
          <a:prstGeom prst="rect">
            <a:avLst/>
          </a:prstGeom>
          <a:noFill/>
          <a:ln/>
        </p:spPr>
        <p:txBody>
          <a:bodyPr wrap="square" lIns="0" tIns="0" rIns="0" bIns="0" rtlCol="0" anchor="t"/>
          <a:lstStyle/>
          <a:p>
            <a:pPr indent="0" marL="0">
              <a:buNone/>
            </a:pPr>
            <a:r>
              <a:rPr lang="en-US" sz="1400" dirty="0">
                <a:solidFill>
                  <a:schemeClr val="tx1"/>
                </a:solidFill>
              </a:rPr>
              <a:t>labelled problems pick the best policy for a new task</a:t>
            </a:r>
            <a:endParaRPr lang="en-US" sz="1400" dirty="0"/>
          </a:p>
        </p:txBody>
      </p:sp>
      <p:sp>
        <p:nvSpPr>
          <p:cNvPr id="22"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"Spend more on hard problems" loses to "facts first, think where the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only on a failed check: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5-line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5 exact lines beat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Repeat the held-out MAMO test for 3 more models (3 seeds)</a:t>
            </a:r>
            <a:endParaRPr lang="en-US" sz="1700" dirty="0"/>
          </a:p>
          <a:p>
            <a:pPr marL="342900" indent="-342900">
              <a:spcAft>
                <a:spcPts val="800"/>
              </a:spcAft>
              <a:buSzPct val="100000"/>
              <a:buChar char="•"/>
            </a:pPr>
            <a:r>
              <a:rPr lang="en-US" sz="1700" dirty="0">
                <a:solidFill>
                  <a:schemeClr val="tx1"/>
                </a:solidFill>
              </a:rPr>
              <a:t>Automatic facts for each problem type</a:t>
            </a:r>
            <a:endParaRPr lang="en-US" sz="1700" dirty="0"/>
          </a:p>
          <a:p>
            <a:pPr marL="342900" indent="-342900">
              <a:spcAft>
                <a:spcPts val="800"/>
              </a:spcAft>
              <a:buSzPct val="100000"/>
              <a:buChar char="•"/>
            </a:pPr>
            <a:r>
              <a:rPr lang="en-US" sz="1700" dirty="0">
                <a:solidFill>
                  <a:schemeClr val="tx1"/>
                </a:solidFill>
              </a:rPr>
              <a:t>Final report; a commercial model if available</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findings at a glance</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whole manual</a:t>
            </a:r>
            <a:endParaRPr lang="en-US" sz="1300" dirty="0"/>
          </a:p>
        </p:txBody>
      </p:sp>
      <p:sp>
        <p:nvSpPr>
          <p:cNvPr id="13" name="Add the missing fact whole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5 exact lines</a:t>
            </a:r>
            <a:endParaRPr lang="en-US" sz="1300" dirty="0"/>
          </a:p>
        </p:txBody>
      </p:sp>
      <p:sp>
        <p:nvSpPr>
          <p:cNvPr id="16" name="Add the missing fact 5 exact lines"/>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high on failure</a:t>
            </a:r>
            <a:endParaRPr lang="en-US" sz="1300" dirty="0"/>
          </a:p>
        </p:txBody>
      </p:sp>
      <p:sp>
        <p:nvSpPr>
          <p:cNvPr id="49" name="Think only on failure high on failure"/>
          <p:cNvSpPr/>
          <p:nvPr/>
        </p:nvSpPr>
        <p:spPr>
          <a:xfrm>
            <a:off x="2029968" y="5212080"/>
            <a:ext cx="757809" cy="237744"/>
          </a:xfrm>
          <a:prstGeom prst="rect">
            <a:avLst/>
          </a:prstGeom>
          <a:solidFill>
            <a:srgbClr val="4472C4"/>
          </a:solidFill>
          <a:ln w="6350">
            <a:solidFill>
              <a:srgbClr val="4472C4"/>
            </a:solidFill>
            <a:prstDash val="solid"/>
          </a:ln>
        </p:spPr>
      </p:sp>
      <p:sp>
        <p:nvSpPr>
          <p:cNvPr id="50" name="Text 48"/>
          <p:cNvSpPr txBox="1"/>
          <p:nvPr/>
        </p:nvSpPr>
        <p:spPr>
          <a:xfrm>
            <a:off x="2842641" y="516636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1" name="Text 49"/>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2" name="Text 50"/>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3" name="Text 51"/>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4"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5" name="Text 53"/>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6" name="Text 54"/>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 (DC)</a:t>
            </a:r>
            <a:endParaRPr lang="en-US" sz="1300" dirty="0"/>
          </a:p>
        </p:txBody>
      </p:sp>
      <p:sp>
        <p:nvSpPr>
          <p:cNvPr id="57" name="Reuse a checked program own notes (DC)"/>
          <p:cNvSpPr/>
          <p:nvPr/>
        </p:nvSpPr>
        <p:spPr>
          <a:xfrm>
            <a:off x="5824728" y="5212080"/>
            <a:ext cx="411480" cy="237744"/>
          </a:xfrm>
          <a:prstGeom prst="rect">
            <a:avLst/>
          </a:prstGeom>
          <a:solidFill>
            <a:srgbClr val="A5A5A5"/>
          </a:solidFill>
          <a:ln w="6350">
            <a:solidFill>
              <a:srgbClr val="A5A5A5"/>
            </a:solidFill>
            <a:prstDash val="solid"/>
          </a:ln>
        </p:spPr>
      </p:sp>
      <p:sp>
        <p:nvSpPr>
          <p:cNvPr id="58" name="Text 56"/>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59" name="Text 57"/>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0"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1" name="Text 59"/>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2" name="Text 60"/>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3" name="Text 61"/>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624 problems, 3 models: % · tokens</a:t>
            </a:r>
            <a:endParaRPr lang="en-US" sz="1200" dirty="0"/>
          </a:p>
        </p:txBody>
      </p:sp>
      <p:sp>
        <p:nvSpPr>
          <p:cNvPr id="64" name="Text 62"/>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5"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6" name="Text 64"/>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67" name="Text 65"/>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68"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69" name="Text 67"/>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0" name="Text 68"/>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1"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2" name="Text 70"/>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2026-10-19T12:49:32Z</dcterms:created>
  <dcterms:modified xsi:type="dcterms:W3CDTF">2026-10-19T12:49:32Z</dcterms:modified>
</cp:coreProperties>
</file>