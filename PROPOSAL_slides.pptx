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4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alk" id="{1c69f6fc-63cc-54bb-6016-53bc338a47fa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Extra pages" id="{e662a808-a414-dd57-4c07-464951eed7cd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0404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04040"/>
                </a:solidFill>
                <a:latin typeface="+mn-lt"/>
              </a:rPr>
              <a:t>MAMO, 863 problems never used before: % solved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fact</c:v>
                </c:pt>
              </c:strCache>
            </c:strRef>
          </c:tx>
          <c:spPr>
            <a:solidFill>
              <a:srgbClr val="A5A5A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gpt-oss-20b</c:v>
                  </c:pt>
                  <c:pt idx="1">
                    <c:v>Qwen3-14B</c:v>
                  </c:pt>
                  <c:pt idx="2">
                    <c:v>Qwen3-8B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73.2</c:v>
                </c:pt>
                <c:pt idx="1">
                  <c:v>59.7</c:v>
                </c:pt>
                <c:pt idx="2">
                  <c:v>45.5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hand-written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gpt-oss-20b</c:v>
                  </c:pt>
                  <c:pt idx="1">
                    <c:v>Qwen3-14B</c:v>
                  </c:pt>
                  <c:pt idx="2">
                    <c:v>Qwen3-8B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78.9</c:v>
                </c:pt>
                <c:pt idx="1">
                  <c:v>71.4</c:v>
                </c:pt>
                <c:pt idx="2">
                  <c:v>72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automatic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gpt-oss-20b</c:v>
                  </c:pt>
                  <c:pt idx="1">
                    <c:v>Qwen3-14B</c:v>
                  </c:pt>
                  <c:pt idx="2">
                    <c:v>Qwen3-8B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78.8</c:v>
                </c:pt>
                <c:pt idx="1">
                  <c:v>71.7</c:v>
                </c:pt>
                <c:pt idx="2">
                  <c:v>71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7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program only</c:v>
                </c:pt>
              </c:strCache>
            </c:strRef>
          </c:tx>
          <c:spPr>
            <a:solidFill>
              <a:srgbClr val="A5A5A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Qwen3-1.7B</c:v>
                  </c:pt>
                  <c:pt idx="1">
                    <c:v>Qwen3-4B</c:v>
                  </c:pt>
                  <c:pt idx="2">
                    <c:v>Qwen3-8B</c:v>
                  </c:pt>
                  <c:pt idx="3">
                    <c:v>Qwen3-14B (4-bit)</c:v>
                  </c:pt>
                  <c:pt idx="4">
                    <c:v>Qwen3-32B (4-bit)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</c:v>
                </c:pt>
                <c:pt idx="1">
                  <c:v>14.7</c:v>
                </c:pt>
                <c:pt idx="2">
                  <c:v>34.3</c:v>
                </c:pt>
                <c:pt idx="3">
                  <c:v>58.1</c:v>
                </c:pt>
                <c:pt idx="4">
                  <c:v>65.4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+ 6 lines of exact solver usage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Qwen3-1.7B</c:v>
                  </c:pt>
                  <c:pt idx="1">
                    <c:v>Qwen3-4B</c:v>
                  </c:pt>
                  <c:pt idx="2">
                    <c:v>Qwen3-8B</c:v>
                  </c:pt>
                  <c:pt idx="3">
                    <c:v>Qwen3-14B (4-bit)</c:v>
                  </c:pt>
                  <c:pt idx="4">
                    <c:v>Qwen3-32B (4-bit)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44.5</c:v>
                </c:pt>
                <c:pt idx="1">
                  <c:v>46</c:v>
                </c:pt>
                <c:pt idx="2">
                  <c:v>51.7</c:v>
                </c:pt>
                <c:pt idx="3">
                  <c:v>66</c:v>
                </c:pt>
                <c:pt idx="4">
                  <c:v>66.2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9525" cap="flat">
              <a:solidFill>
                <a:srgbClr val="E7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(10초) 안녕하세요, 5조입니다. LLM으로 계산 수학 문제를 정확하고 싸게 푸는 방법을 제안합니다. 질문은 하나입니다. 추가 노력을 사실, 검사, 생각 중 어디에 써야 할까요?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(25초) 저희가 푸는 문제는 다섯 종류입니다. 기하 계산, Codeforces 기하 문제, 배송 경로, 최적화 문장제, 그리고 경시 수학과 증명입니다. 쉽지 않습니다. 경시 문제의 중앙값은 Codeforces Master 수준이고, AIME는 고등학생 상위 5% 정도가 치는 시험입니다. 공개 모델인 Qwen3와 gpt-oss를 직접 돌리고, 맞힌 문제 수와 쓴 토큰 수를 함께 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(20초) LLM은 말로 답할 수도 있고, 프로그램을 짤 수도 있습니다. Qwen3-8B에게 같은 도형의 넓이의 두 배를 물었습니다. 옮기고 돌리고 뒤집어도 답은 436입니다. 말로 답하면 매번 다른 답이 나오지만, 프로그램은 네 번 모두 436입니다. 계산에는 프로그램이 맞는 도구입니다.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(35초) 하지만 두 가지 문제가 있습니다. 첫째, 프로그램은 조용히 틀립니다. 같은 문제인데 프롬프트에 보조 코드만 더하면 6 대신 0을 출력하고, 에러 메시지도 없습니다. 없는 라이브러리 함수를 불러서 죽기도 합니다. 둘째, 오래 생각하면 비쌉니다. gpt-oss-120b는 오래 생각하면 57%에서 66%로 오르지만, 토큰은 4.4배를 씁니다. 그래서 질문입니다. 추가 노력을 빠진 사실, 공짜 검사, 더 많은 생각 중 어디에 써야 할까요?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(35초) 첫 번째 발견입니다. 매뉴얼이 아니라 사실을 주세요. Qwen3-32B가 OR-Tools로 배송 경로 프로그램을 짭니다. 긴 참조 문서를 주면 존재하지 않는 함수를 불러서 죽고, 정확한 사용법 열한 줄을 주면 최적 경로를 찾습니다. 경로 문제 30개에서 최적해를 찾는 비율은 아무것도 안 주면 23%, 오래 생각하면 오히려 3%, 긴 참조 문서는 7%, 정확한 사용법은 77에서 90%입니다. 모르는 사실은 생각한다고 생기지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(30초) 두 번째 발견입니다. 공짜 검사가 실패할 때만 생각하게 하세요. 검사 A는 문제에 적힌 예제입니다. 예제를 통과하면 바로 제출하고, 틀리면 그 문제만 더 생각합니다. 검사 B는 프로그램을 두 버전으로 짜서, 답이 다를 때만 생각합니다. 두 경우 모두 항상 생각할 때와 정확도는 같고, 토큰은 18에서 27% 적습니다. 그리고 두 검사 모두 정답이 필요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(50초) 두 발견을 합친 것이 저희 방법입니다. 실제 최적화 문제로 보겠습니다. 1단계, 모델이 없는 메서드를 불러서 죽습니다. 2단계, 사실을 줍니다. 이 사실은 사람이 쓴 것이 아니라, 모델이 다른 문제에서 짜서 검사를 통과한 자기 프로그램에서 자동으로 가져옵니다. 3단계, 두 버전의 답이 20000으로 같으니, 4단계 생각은 건너뜁니다. 생각만 했다면 5.3k 토큰이 들었을 문제를 0.6k로 풉니다. 5단계, 같은 종류의 새 데이터에는 검사된 프로그램을 재사용합니다. 624문제 전체에서, 어려워 보이는 문제에 생각을 몰아주면 74%, 저희 방법은 87%이고 토큰도 더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(35초) 새로운 점은 세 가지입니다. 학습 없이, 공짜 검사가 실패할 때만 생각합니다. 정답 없이, 모델 자신의 검사된 프로그램을 사실로 줍니다. 그리고 특화 모델을 파인튜닝하지 않고도, 24GB GPU 한 장으로 같은 정확도를 냅니다. 다음으로는 더 많은 모델로 검증을 마치고, 검사로 못 잡는 오류, 즉 실행은 되지만 문제를 잘못 모델링한 프로그램을 다루겠습니다. 정리하면, 빠진 사실을 먼저 주고, 공짜 검사가 실패한 곳에서만 생각하게 하자는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(5초) 감사합니다. 질문 받겠습니다. 예상 질문마다 보충 슬라이드를 준비했습니다.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1280160"/>
            <a:ext cx="91440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3657600"/>
            <a:ext cx="91440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2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image" Target="../media/image-4-2.png"/><Relationship Id="rId7" Type="http://schemas.openxmlformats.org/officeDocument/2006/relationships/image" Target="../media/image-4-2.png"/><Relationship Id="rId8" Type="http://schemas.openxmlformats.org/officeDocument/2006/relationships/image" Target="../media/image-4-2.png"/><Relationship Id="rId9" Type="http://schemas.openxmlformats.org/officeDocument/2006/relationships/image" Target="../media/image-4-2.png"/><Relationship Id="rId10" Type="http://schemas.openxmlformats.org/officeDocument/2006/relationships/image" Target="../media/image-4-2.png"/><Relationship Id="rId11" Type="http://schemas.openxmlformats.org/officeDocument/2006/relationships/image" Target="../media/image-4-2.png"/><Relationship Id="rId12" Type="http://schemas.openxmlformats.org/officeDocument/2006/relationships/image" Target="../media/image-4-12.png"/><Relationship Id="rId13" Type="http://schemas.openxmlformats.org/officeDocument/2006/relationships/image" Target="../media/image-4-12.png"/><Relationship Id="rId14" Type="http://schemas.openxmlformats.org/officeDocument/2006/relationships/image" Target="../media/image-4-12.png"/><Relationship Id="rId15" Type="http://schemas.openxmlformats.org/officeDocument/2006/relationships/image" Target="../media/image-4-12.png"/><Relationship Id="rId16" Type="http://schemas.openxmlformats.org/officeDocument/2006/relationships/image" Target="../media/image-4-12.png"/><Relationship Id="rId17" Type="http://schemas.openxmlformats.org/officeDocument/2006/relationships/image" Target="../media/image-4-12.png"/><Relationship Id="rId18" Type="http://schemas.openxmlformats.org/officeDocument/2006/relationships/image" Target="../media/image-4-12.png"/><Relationship Id="rId19" Type="http://schemas.openxmlformats.org/officeDocument/2006/relationships/image" Target="../media/image-4-12.png"/><Relationship Id="rId20" Type="http://schemas.openxmlformats.org/officeDocument/2006/relationships/image" Target="../media/image-4-12.png"/><Relationship Id="rId21" Type="http://schemas.openxmlformats.org/officeDocument/2006/relationships/image" Target="../media/image-4-12.png"/><Relationship Id="rId22" Type="http://schemas.openxmlformats.org/officeDocument/2006/relationships/image" Target="../media/image-4-12.png"/><Relationship Id="rId23" Type="http://schemas.openxmlformats.org/officeDocument/2006/relationships/image" Target="../media/image-4-12.png"/><Relationship Id="rId24" Type="http://schemas.openxmlformats.org/officeDocument/2006/relationships/image" Target="../media/image-4-12.png"/><Relationship Id="rId25" Type="http://schemas.openxmlformats.org/officeDocument/2006/relationships/image" Target="../media/image-4-12.png"/><Relationship Id="rId26" Type="http://schemas.openxmlformats.org/officeDocument/2006/relationships/image" Target="../media/image-4-12.png"/><Relationship Id="rId27" Type="http://schemas.openxmlformats.org/officeDocument/2006/relationships/image" Target="../media/image-4-12.png"/><Relationship Id="rId28" Type="http://schemas.openxmlformats.org/officeDocument/2006/relationships/image" Target="../media/image-4-12.png"/><Relationship Id="rId29" Type="http://schemas.openxmlformats.org/officeDocument/2006/relationships/image" Target="../media/image-4-12.png"/><Relationship Id="rId30" Type="http://schemas.openxmlformats.org/officeDocument/2006/relationships/image" Target="../media/image-4-12.png"/><Relationship Id="rId31" Type="http://schemas.openxmlformats.org/officeDocument/2006/relationships/image" Target="../media/image-4-12.png"/><Relationship Id="rId32" Type="http://schemas.openxmlformats.org/officeDocument/2006/relationships/image" Target="../media/image-4-12.png"/><Relationship Id="rId33" Type="http://schemas.openxmlformats.org/officeDocument/2006/relationships/image" Target="../media/image-4-12.png"/><Relationship Id="rId34" Type="http://schemas.openxmlformats.org/officeDocument/2006/relationships/image" Target="../media/image-4-12.png"/><Relationship Id="rId35" Type="http://schemas.openxmlformats.org/officeDocument/2006/relationships/image" Target="../media/image-4-12.png"/><Relationship Id="rId36" Type="http://schemas.openxmlformats.org/officeDocument/2006/relationships/image" Target="../media/image-4-12.png"/><Relationship Id="rId37" Type="http://schemas.openxmlformats.org/officeDocument/2006/relationships/image" Target="../media/image-4-12.png"/><Relationship Id="rId38" Type="http://schemas.openxmlformats.org/officeDocument/2006/relationships/image" Target="../media/image-4-12.png"/><Relationship Id="rId39" Type="http://schemas.openxmlformats.org/officeDocument/2006/relationships/image" Target="../media/image-4-12.png"/><Relationship Id="rId40" Type="http://schemas.openxmlformats.org/officeDocument/2006/relationships/image" Target="../media/image-4-12.png"/><Relationship Id="rId41" Type="http://schemas.openxmlformats.org/officeDocument/2006/relationships/image" Target="../media/image-4-12.png"/><Relationship Id="rId42" Type="http://schemas.openxmlformats.org/officeDocument/2006/relationships/image" Target="../media/image-4-12.png"/><Relationship Id="rId43" Type="http://schemas.openxmlformats.org/officeDocument/2006/relationships/image" Target="../media/image-4-12.png"/><Relationship Id="rId44" Type="http://schemas.openxmlformats.org/officeDocument/2006/relationships/image" Target="../media/image-4-12.png"/><Relationship Id="rId45" Type="http://schemas.openxmlformats.org/officeDocument/2006/relationships/image" Target="../media/image-4-12.png"/><Relationship Id="rId46" Type="http://schemas.openxmlformats.org/officeDocument/2006/relationships/image" Target="../media/image-4-12.png"/><Relationship Id="rId47" Type="http://schemas.openxmlformats.org/officeDocument/2006/relationships/image" Target="../media/image-4-12.png"/><Relationship Id="rId48" Type="http://schemas.openxmlformats.org/officeDocument/2006/relationships/image" Target="../media/image-4-12.png"/><Relationship Id="rId49" Type="http://schemas.openxmlformats.org/officeDocument/2006/relationships/image" Target="../media/image-4-12.png"/><Relationship Id="rId50" Type="http://schemas.openxmlformats.org/officeDocument/2006/relationships/image" Target="../media/image-4-12.png"/><Relationship Id="rId51" Type="http://schemas.openxmlformats.org/officeDocument/2006/relationships/image" Target="../media/image-4-12.png"/><Relationship Id="rId52" Type="http://schemas.openxmlformats.org/officeDocument/2006/relationships/image" Target="../media/image-4-12.png"/><Relationship Id="rId53" Type="http://schemas.openxmlformats.org/officeDocument/2006/relationships/image" Target="../media/image-4-12.png"/><Relationship Id="rId54" Type="http://schemas.openxmlformats.org/officeDocument/2006/relationships/image" Target="../media/image-4-12.png"/><Relationship Id="rId55" Type="http://schemas.openxmlformats.org/officeDocument/2006/relationships/image" Target="../media/image-4-55.png"/><Relationship Id="rId56" Type="http://schemas.openxmlformats.org/officeDocument/2006/relationships/image" Target="../media/image-4-56.png"/><Relationship Id="rId57" Type="http://schemas.openxmlformats.org/officeDocument/2006/relationships/image" Target="../media/image-4-57.png"/><Relationship Id="rId58" Type="http://schemas.openxmlformats.org/officeDocument/2006/relationships/slideLayout" Target="../slideLayouts/slideLayout3.xml"/><Relationship Id="rId5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2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1280160"/>
            <a:ext cx="9144000" cy="2194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dirty="0">
                <a:solidFill>
                  <a:schemeClr val="tx1"/>
                </a:solidFill>
              </a:rPr>
              <a:t>Solving Computational Math</a:t>
            </a:r>
            <a:endParaRPr lang="en-US" sz="5400" dirty="0"/>
          </a:p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with LLMs, Accurately and Cheaply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3657600"/>
            <a:ext cx="91440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 fact, a check, or more thinking: where should the extra effort go?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4546A"/>
                </a:solidFill>
              </a:rPr>
              <a:t>POSTECH CSED490E (Graduate NLP) · Team 5</a:t>
            </a:r>
            <a:endParaRPr lang="en-US" sz="2200" dirty="0"/>
          </a:p>
        </p:txBody>
      </p:sp>
      <p:sp>
        <p:nvSpPr>
          <p:cNvPr id="4" name="choice a missing fact"/>
          <p:cNvSpPr/>
          <p:nvPr/>
        </p:nvSpPr>
        <p:spPr>
          <a:xfrm>
            <a:off x="3145536" y="4892040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5" name="choice icon fact" descr="/NAS/SJ/POSTECH/nlp/figs/icons/f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55264" y="497890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648456" y="4892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missing fact</a:t>
            </a:r>
            <a:endParaRPr lang="en-US" sz="1500" dirty="0"/>
          </a:p>
        </p:txBody>
      </p:sp>
      <p:sp>
        <p:nvSpPr>
          <p:cNvPr id="7" name="choice a free check"/>
          <p:cNvSpPr/>
          <p:nvPr/>
        </p:nvSpPr>
        <p:spPr>
          <a:xfrm>
            <a:off x="5157216" y="4892040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8" name="choice icon check" descr="/NAS/SJ/POSTECH/nlp/fig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944" y="4978908"/>
            <a:ext cx="329184" cy="32918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660136" y="4892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free check</a:t>
            </a:r>
            <a:endParaRPr lang="en-US" sz="1500" dirty="0"/>
          </a:p>
        </p:txBody>
      </p:sp>
      <p:sp>
        <p:nvSpPr>
          <p:cNvPr id="10" name="choice more thinking"/>
          <p:cNvSpPr/>
          <p:nvPr/>
        </p:nvSpPr>
        <p:spPr>
          <a:xfrm>
            <a:off x="7168896" y="4892040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1" name="choice icon brain" descr="/NAS/SJ/POSTECH/nlp/figs/icons/br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624" y="4978908"/>
            <a:ext cx="329184" cy="32918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671816" y="4892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more thinking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What we solve, and how hard it is</a:t>
            </a:r>
            <a:endParaRPr lang="en-US" sz="3600" dirty="0"/>
          </a:p>
        </p:txBody>
      </p:sp>
      <p:sp>
        <p:nvSpPr>
          <p:cNvPr id="3" name="kind Geometry"/>
          <p:cNvSpPr/>
          <p:nvPr/>
        </p:nvSpPr>
        <p:spPr>
          <a:xfrm>
            <a:off x="54864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shapes" descr="/NAS/SJ/POSTECH/nlp/figs/icons/sha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46304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2331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Geometry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corners of the rubber band around 10 points</a:t>
            </a:r>
            <a:endParaRPr lang="en-US" sz="1500" dirty="0"/>
          </a:p>
        </p:txBody>
      </p:sp>
      <p:sp>
        <p:nvSpPr>
          <p:cNvPr id="7" name="tag Geometry"/>
          <p:cNvSpPr/>
          <p:nvPr/>
        </p:nvSpPr>
        <p:spPr>
          <a:xfrm>
            <a:off x="64008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4472C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textbook algorithms, exact on every copy</a:t>
            </a:r>
            <a:endParaRPr lang="en-US" sz="1500" dirty="0"/>
          </a:p>
        </p:txBody>
      </p:sp>
      <p:sp>
        <p:nvSpPr>
          <p:cNvPr id="9" name="kind Contest problems"/>
          <p:cNvSpPr/>
          <p:nvPr/>
        </p:nvSpPr>
        <p:spPr>
          <a:xfrm>
            <a:off x="278892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0" name="icon trophy" descr="/NAS/SJ/POSTECH/nlp/figs/icons/troph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463040"/>
            <a:ext cx="731520" cy="7315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80360" y="2331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Contest problems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92608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311 Codeforces geometry problems</a:t>
            </a:r>
            <a:endParaRPr lang="en-US" sz="1500" dirty="0"/>
          </a:p>
        </p:txBody>
      </p:sp>
      <p:sp>
        <p:nvSpPr>
          <p:cNvPr id="13" name="tag Contest problems"/>
          <p:cNvSpPr/>
          <p:nvPr/>
        </p:nvSpPr>
        <p:spPr>
          <a:xfrm>
            <a:off x="288036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92608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Codeforces Master to Grandmaster level</a:t>
            </a:r>
            <a:endParaRPr lang="en-US" sz="1500" dirty="0"/>
          </a:p>
        </p:txBody>
      </p:sp>
      <p:sp>
        <p:nvSpPr>
          <p:cNvPr id="15" name="kind Routing, scheduling"/>
          <p:cNvSpPr/>
          <p:nvPr/>
        </p:nvSpPr>
        <p:spPr>
          <a:xfrm>
            <a:off x="502920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icon truck" descr="/NAS/SJ/POSTECH/nlp/figs/icons/tru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463040"/>
            <a:ext cx="731520" cy="7315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120640" y="2331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Routing, scheduling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516636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routes for 100 customers with time windows</a:t>
            </a:r>
            <a:endParaRPr lang="en-US" sz="1500" dirty="0"/>
          </a:p>
        </p:txBody>
      </p:sp>
      <p:sp>
        <p:nvSpPr>
          <p:cNvPr id="19" name="tag Routing, scheduling"/>
          <p:cNvSpPr/>
          <p:nvPr/>
        </p:nvSpPr>
        <p:spPr>
          <a:xfrm>
            <a:off x="512064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ED7D3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16636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7D31"/>
                </a:solidFill>
              </a:rPr>
              <a:t>a simple plan drives 48% farther</a:t>
            </a:r>
            <a:endParaRPr lang="en-US" sz="1500" dirty="0"/>
          </a:p>
        </p:txBody>
      </p:sp>
      <p:sp>
        <p:nvSpPr>
          <p:cNvPr id="21" name="kind Word problems"/>
          <p:cNvSpPr/>
          <p:nvPr/>
        </p:nvSpPr>
        <p:spPr>
          <a:xfrm>
            <a:off x="726948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2" name="icon calc" descr="/NAS/SJ/POSTECH/nlp/figs/icons/cal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1463040"/>
            <a:ext cx="731520" cy="7315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360920" y="2331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Word problems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740664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most coins from 500 gold and 300 wires?</a:t>
            </a:r>
            <a:endParaRPr lang="en-US" sz="1500" dirty="0"/>
          </a:p>
        </p:txBody>
      </p:sp>
      <p:sp>
        <p:nvSpPr>
          <p:cNvPr id="25" name="tag Word problems"/>
          <p:cNvSpPr/>
          <p:nvPr/>
        </p:nvSpPr>
        <p:spPr>
          <a:xfrm>
            <a:off x="736092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38761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40664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university operations-research exercises</a:t>
            </a:r>
            <a:endParaRPr lang="en-US" sz="1500" dirty="0"/>
          </a:p>
        </p:txBody>
      </p:sp>
      <p:sp>
        <p:nvSpPr>
          <p:cNvPr id="27" name="kind Math and proofs"/>
          <p:cNvSpPr/>
          <p:nvPr/>
        </p:nvSpPr>
        <p:spPr>
          <a:xfrm>
            <a:off x="950976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8" name="icon sqrt" descr="/NAS/SJ/POSTECH/nlp/figs/icons/sq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95560" y="1463040"/>
            <a:ext cx="731520" cy="73152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601200" y="2331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Math and proofs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964692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contest answers; machine-checked proofs</a:t>
            </a:r>
            <a:endParaRPr lang="en-US" sz="1500" dirty="0"/>
          </a:p>
        </p:txBody>
      </p:sp>
      <p:sp>
        <p:nvSpPr>
          <p:cNvPr id="31" name="tag Math and proofs"/>
          <p:cNvSpPr/>
          <p:nvPr/>
        </p:nvSpPr>
        <p:spPr>
          <a:xfrm>
            <a:off x="960120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4692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95959"/>
                </a:solidFill>
              </a:rPr>
              <a:t>AIME: top ~5% of high-school contestants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Open models (Qwen3, gpt-oss) on our own GPUs: we count exact answers and the tokens spent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Let the computer do the math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Qwen3-8B, asked for twice the area of one shape: moved, turned or flipped, it is always 436</a:t>
            </a:r>
            <a:endParaRPr lang="en-US" sz="1800" dirty="0"/>
          </a:p>
        </p:txBody>
      </p:sp>
      <p:pic>
        <p:nvPicPr>
          <p:cNvPr id="4" name="four copies of one polygon" descr="one polygon: original, moved, turned, flipp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783080"/>
            <a:ext cx="8046720" cy="1737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Answer in words</a:t>
            </a:r>
            <a:endParaRPr lang="en-US" sz="2200" dirty="0"/>
          </a:p>
        </p:txBody>
      </p:sp>
      <p:sp>
        <p:nvSpPr>
          <p:cNvPr id="6" name="answer 436 ✓"/>
          <p:cNvSpPr/>
          <p:nvPr/>
        </p:nvSpPr>
        <p:spPr>
          <a:xfrm>
            <a:off x="379476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79476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8" name="answer 2944 ✗"/>
          <p:cNvSpPr/>
          <p:nvPr/>
        </p:nvSpPr>
        <p:spPr>
          <a:xfrm>
            <a:off x="580644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0644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2944 ✗</a:t>
            </a:r>
            <a:endParaRPr lang="en-US" sz="2200" dirty="0"/>
          </a:p>
        </p:txBody>
      </p:sp>
      <p:sp>
        <p:nvSpPr>
          <p:cNvPr id="10" name="answer 392 ✗"/>
          <p:cNvSpPr/>
          <p:nvPr/>
        </p:nvSpPr>
        <p:spPr>
          <a:xfrm>
            <a:off x="781812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1812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392 ✗</a:t>
            </a:r>
            <a:endParaRPr lang="en-US" sz="2200" dirty="0"/>
          </a:p>
        </p:txBody>
      </p:sp>
      <p:sp>
        <p:nvSpPr>
          <p:cNvPr id="12" name="answer 728 ✗"/>
          <p:cNvSpPr/>
          <p:nvPr/>
        </p:nvSpPr>
        <p:spPr>
          <a:xfrm>
            <a:off x="982980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82980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728 ✗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663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Write a program</a:t>
            </a:r>
            <a:endParaRPr lang="en-US" sz="2200" dirty="0"/>
          </a:p>
        </p:txBody>
      </p:sp>
      <p:sp>
        <p:nvSpPr>
          <p:cNvPr id="15" name="answer 436 ✓"/>
          <p:cNvSpPr/>
          <p:nvPr/>
        </p:nvSpPr>
        <p:spPr>
          <a:xfrm>
            <a:off x="379476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9476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17" name="answer 436 ✓"/>
          <p:cNvSpPr/>
          <p:nvPr/>
        </p:nvSpPr>
        <p:spPr>
          <a:xfrm>
            <a:off x="580644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80644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19" name="answer 436 ✓"/>
          <p:cNvSpPr/>
          <p:nvPr/>
        </p:nvSpPr>
        <p:spPr>
          <a:xfrm>
            <a:off x="781812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1812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21" name="answer 436 ✓"/>
          <p:cNvSpPr/>
          <p:nvPr/>
        </p:nvSpPr>
        <p:spPr>
          <a:xfrm>
            <a:off x="982980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82980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 computation, a program is the right tool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But two things go wrong</a:t>
            </a:r>
            <a:endParaRPr lang="en-US" sz="3600" dirty="0"/>
          </a:p>
        </p:txBody>
      </p:sp>
      <p:sp>
        <p:nvSpPr>
          <p:cNvPr id="3" name="pane 1. Programs fail, often silently"/>
          <p:cNvSpPr/>
          <p:nvPr/>
        </p:nvSpPr>
        <p:spPr>
          <a:xfrm>
            <a:off x="548640" y="1234440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FDF2F1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2588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1. Programs fail, often silently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How many corners does the rubber band have?</a:t>
            </a:r>
            <a:endParaRPr lang="en-US" sz="1500" dirty="0"/>
          </a:p>
        </p:txBody>
      </p:sp>
      <p:pic>
        <p:nvPicPr>
          <p:cNvPr id="6" name="ten points and their hull" descr="10 points; the rubber band touches 6 of th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4114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0AD47"/>
                </a:solidFill>
              </a:rPr>
              <a:t>answer: 6 corners</a:t>
            </a:r>
            <a:endParaRPr lang="en-US" sz="1500" dirty="0"/>
          </a:p>
        </p:txBody>
      </p:sp>
      <p:sp>
        <p:nvSpPr>
          <p:cNvPr id="8" name="terminal"/>
          <p:cNvSpPr/>
          <p:nvPr/>
        </p:nvSpPr>
        <p:spPr>
          <a:xfrm>
            <a:off x="2971800" y="2331720"/>
            <a:ext cx="2834640" cy="1417320"/>
          </a:xfrm>
          <a:prstGeom prst="roundRect">
            <a:avLst>
              <a:gd name="adj" fmla="val 3226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154680" y="233172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D1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 A  → 6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 B  →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BFB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error message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2971800" y="37947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B's prompt only added helper code (Qwen3-14B)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526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✗ or it crashes on a library function that does not exist</a:t>
            </a:r>
            <a:endParaRPr lang="en-US" sz="1500" dirty="0"/>
          </a:p>
        </p:txBody>
      </p:sp>
      <p:sp>
        <p:nvSpPr>
          <p:cNvPr id="12" name="pane 2. Thinking longer is expensive"/>
          <p:cNvSpPr/>
          <p:nvPr/>
        </p:nvSpPr>
        <p:spPr>
          <a:xfrm>
            <a:off x="6172200" y="1234440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FDF0E6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0" y="132588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7D31"/>
                </a:solidFill>
              </a:rPr>
              <a:t>2. Thinking longer is expensive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311 contest problems, gpt-oss-120b · 1 page ≈ 700 tokens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23774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normal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57% solved</a:t>
            </a:r>
            <a:endParaRPr lang="en-US" sz="1500" dirty="0"/>
          </a:p>
        </p:txBody>
      </p:sp>
      <p:pic>
        <p:nvPicPr>
          <p:cNvPr id="16" name="normal page 0" descr="/NAS/SJ/POSTECH/nlp/figs/icons/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2395728"/>
            <a:ext cx="182880" cy="201168"/>
          </a:xfrm>
          <a:prstGeom prst="rect">
            <a:avLst/>
          </a:prstGeom>
        </p:spPr>
      </p:pic>
      <p:pic>
        <p:nvPicPr>
          <p:cNvPr id="17" name="normal page 1" descr="/NAS/SJ/POSTECH/nlp/figs/icons/p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1584" y="2395728"/>
            <a:ext cx="182880" cy="201168"/>
          </a:xfrm>
          <a:prstGeom prst="rect">
            <a:avLst/>
          </a:prstGeom>
        </p:spPr>
      </p:pic>
      <p:pic>
        <p:nvPicPr>
          <p:cNvPr id="18" name="normal page 2" descr="/NAS/SJ/POSTECH/nlp/figs/icons/pa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395728"/>
            <a:ext cx="182880" cy="201168"/>
          </a:xfrm>
          <a:prstGeom prst="rect">
            <a:avLst/>
          </a:prstGeom>
        </p:spPr>
      </p:pic>
      <p:pic>
        <p:nvPicPr>
          <p:cNvPr id="19" name="normal page 3" descr="/NAS/SJ/POSTECH/nlp/figs/icons/pa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2395728"/>
            <a:ext cx="182880" cy="201168"/>
          </a:xfrm>
          <a:prstGeom prst="rect">
            <a:avLst/>
          </a:prstGeom>
        </p:spPr>
      </p:pic>
      <p:pic>
        <p:nvPicPr>
          <p:cNvPr id="20" name="normal page 4" descr="/NAS/SJ/POSTECH/nlp/figs/icons/pa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7656" y="2395728"/>
            <a:ext cx="182880" cy="201168"/>
          </a:xfrm>
          <a:prstGeom prst="rect">
            <a:avLst/>
          </a:prstGeom>
        </p:spPr>
      </p:pic>
      <p:pic>
        <p:nvPicPr>
          <p:cNvPr id="21" name="normal page 5" descr="/NAS/SJ/POSTECH/nlp/figs/icons/pag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0" y="2395728"/>
            <a:ext cx="182880" cy="201168"/>
          </a:xfrm>
          <a:prstGeom prst="rect">
            <a:avLst/>
          </a:prstGeom>
        </p:spPr>
      </p:pic>
      <p:pic>
        <p:nvPicPr>
          <p:cNvPr id="22" name="normal page 6" descr="/NAS/SJ/POSTECH/nlp/figs/icons/pag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61704" y="2395728"/>
            <a:ext cx="182880" cy="201168"/>
          </a:xfrm>
          <a:prstGeom prst="rect">
            <a:avLst/>
          </a:prstGeom>
        </p:spPr>
      </p:pic>
      <p:pic>
        <p:nvPicPr>
          <p:cNvPr id="23" name="normal page 7" descr="/NAS/SJ/POSTECH/nlp/figs/icons/p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53728" y="2395728"/>
            <a:ext cx="182880" cy="201168"/>
          </a:xfrm>
          <a:prstGeom prst="rect">
            <a:avLst/>
          </a:prstGeom>
        </p:spPr>
      </p:pic>
      <p:pic>
        <p:nvPicPr>
          <p:cNvPr id="24" name="normal page 8" descr="/NAS/SJ/POSTECH/nlp/figs/icons/p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45752" y="2395728"/>
            <a:ext cx="182880" cy="201168"/>
          </a:xfrm>
          <a:prstGeom prst="rect">
            <a:avLst/>
          </a:prstGeom>
        </p:spPr>
      </p:pic>
      <p:pic>
        <p:nvPicPr>
          <p:cNvPr id="25" name="normal page 9" descr="/NAS/SJ/POSTECH/nlp/figs/icons/pag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37776" y="2395728"/>
            <a:ext cx="182880" cy="201168"/>
          </a:xfrm>
          <a:prstGeom prst="rect">
            <a:avLst/>
          </a:prstGeom>
        </p:spPr>
      </p:pic>
      <p:sp>
        <p:nvSpPr>
          <p:cNvPr id="26" name="Text 13"/>
          <p:cNvSpPr txBox="1"/>
          <p:nvPr/>
        </p:nvSpPr>
        <p:spPr>
          <a:xfrm>
            <a:off x="6400800" y="30632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think hard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66% solved</a:t>
            </a:r>
            <a:endParaRPr lang="en-US" sz="1500" dirty="0"/>
          </a:p>
        </p:txBody>
      </p:sp>
      <p:pic>
        <p:nvPicPr>
          <p:cNvPr id="27" name="think hard page 0" descr="/NAS/SJ/POSTECH/nlp/figs/icons/pageho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09560" y="3081528"/>
            <a:ext cx="182880" cy="201168"/>
          </a:xfrm>
          <a:prstGeom prst="rect">
            <a:avLst/>
          </a:prstGeom>
        </p:spPr>
      </p:pic>
      <p:pic>
        <p:nvPicPr>
          <p:cNvPr id="28" name="think hard page 1" descr="/NAS/SJ/POSTECH/nlp/figs/icons/pagehot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01584" y="3081528"/>
            <a:ext cx="182880" cy="201168"/>
          </a:xfrm>
          <a:prstGeom prst="rect">
            <a:avLst/>
          </a:prstGeom>
        </p:spPr>
      </p:pic>
      <p:pic>
        <p:nvPicPr>
          <p:cNvPr id="29" name="think hard page 2" descr="/NAS/SJ/POSTECH/nlp/figs/icons/pagehot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93608" y="3081528"/>
            <a:ext cx="182880" cy="201168"/>
          </a:xfrm>
          <a:prstGeom prst="rect">
            <a:avLst/>
          </a:prstGeom>
        </p:spPr>
      </p:pic>
      <p:pic>
        <p:nvPicPr>
          <p:cNvPr id="30" name="think hard page 3" descr="/NAS/SJ/POSTECH/nlp/figs/icons/pageho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85632" y="3081528"/>
            <a:ext cx="182880" cy="201168"/>
          </a:xfrm>
          <a:prstGeom prst="rect">
            <a:avLst/>
          </a:prstGeom>
        </p:spPr>
      </p:pic>
      <p:pic>
        <p:nvPicPr>
          <p:cNvPr id="31" name="think hard page 4" descr="/NAS/SJ/POSTECH/nlp/figs/icons/pagehot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77656" y="3081528"/>
            <a:ext cx="182880" cy="201168"/>
          </a:xfrm>
          <a:prstGeom prst="rect">
            <a:avLst/>
          </a:prstGeom>
        </p:spPr>
      </p:pic>
      <p:pic>
        <p:nvPicPr>
          <p:cNvPr id="32" name="think hard page 5" descr="/NAS/SJ/POSTECH/nlp/figs/icons/page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69680" y="3081528"/>
            <a:ext cx="182880" cy="201168"/>
          </a:xfrm>
          <a:prstGeom prst="rect">
            <a:avLst/>
          </a:prstGeom>
        </p:spPr>
      </p:pic>
      <p:pic>
        <p:nvPicPr>
          <p:cNvPr id="33" name="think hard page 6" descr="/NAS/SJ/POSTECH/nlp/figs/icons/pageh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061704" y="3081528"/>
            <a:ext cx="182880" cy="201168"/>
          </a:xfrm>
          <a:prstGeom prst="rect">
            <a:avLst/>
          </a:prstGeom>
        </p:spPr>
      </p:pic>
      <p:pic>
        <p:nvPicPr>
          <p:cNvPr id="34" name="think hard page 7" descr="/NAS/SJ/POSTECH/nlp/figs/icons/pageho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253728" y="3081528"/>
            <a:ext cx="182880" cy="201168"/>
          </a:xfrm>
          <a:prstGeom prst="rect">
            <a:avLst/>
          </a:prstGeom>
        </p:spPr>
      </p:pic>
      <p:pic>
        <p:nvPicPr>
          <p:cNvPr id="35" name="think hard page 8" descr="/NAS/SJ/POSTECH/nlp/figs/icons/pagehot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445752" y="3081528"/>
            <a:ext cx="182880" cy="201168"/>
          </a:xfrm>
          <a:prstGeom prst="rect">
            <a:avLst/>
          </a:prstGeom>
        </p:spPr>
      </p:pic>
      <p:pic>
        <p:nvPicPr>
          <p:cNvPr id="36" name="think hard page 9" descr="/NAS/SJ/POSTECH/nlp/figs/icons/pagehot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637776" y="3081528"/>
            <a:ext cx="182880" cy="201168"/>
          </a:xfrm>
          <a:prstGeom prst="rect">
            <a:avLst/>
          </a:prstGeom>
        </p:spPr>
      </p:pic>
      <p:pic>
        <p:nvPicPr>
          <p:cNvPr id="37" name="think hard page 10" descr="/NAS/SJ/POSTECH/nlp/figs/icons/pagehot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829800" y="3081528"/>
            <a:ext cx="182880" cy="201168"/>
          </a:xfrm>
          <a:prstGeom prst="rect">
            <a:avLst/>
          </a:prstGeom>
        </p:spPr>
      </p:pic>
      <p:pic>
        <p:nvPicPr>
          <p:cNvPr id="38" name="think hard page 11" descr="/NAS/SJ/POSTECH/nlp/figs/icons/pagehot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021824" y="3081528"/>
            <a:ext cx="182880" cy="201168"/>
          </a:xfrm>
          <a:prstGeom prst="rect">
            <a:avLst/>
          </a:prstGeom>
        </p:spPr>
      </p:pic>
      <p:pic>
        <p:nvPicPr>
          <p:cNvPr id="39" name="think hard page 12" descr="/NAS/SJ/POSTECH/nlp/figs/icons/pagehot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213848" y="3081528"/>
            <a:ext cx="182880" cy="201168"/>
          </a:xfrm>
          <a:prstGeom prst="rect">
            <a:avLst/>
          </a:prstGeom>
        </p:spPr>
      </p:pic>
      <p:pic>
        <p:nvPicPr>
          <p:cNvPr id="40" name="think hard page 13" descr="/NAS/SJ/POSTECH/nlp/figs/icons/pageho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405872" y="3081528"/>
            <a:ext cx="182880" cy="201168"/>
          </a:xfrm>
          <a:prstGeom prst="rect">
            <a:avLst/>
          </a:prstGeom>
        </p:spPr>
      </p:pic>
      <p:pic>
        <p:nvPicPr>
          <p:cNvPr id="41" name="think hard page 14" descr="/NAS/SJ/POSTECH/nlp/figs/icons/pagehot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597896" y="3081528"/>
            <a:ext cx="182880" cy="201168"/>
          </a:xfrm>
          <a:prstGeom prst="rect">
            <a:avLst/>
          </a:prstGeom>
        </p:spPr>
      </p:pic>
      <p:pic>
        <p:nvPicPr>
          <p:cNvPr id="42" name="think hard page 15" descr="/NAS/SJ/POSTECH/nlp/figs/icons/pagehot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789920" y="3081528"/>
            <a:ext cx="182880" cy="201168"/>
          </a:xfrm>
          <a:prstGeom prst="rect">
            <a:avLst/>
          </a:prstGeom>
        </p:spPr>
      </p:pic>
      <p:pic>
        <p:nvPicPr>
          <p:cNvPr id="43" name="think hard page 16" descr="/NAS/SJ/POSTECH/nlp/figs/icons/pagehot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981944" y="3081528"/>
            <a:ext cx="182880" cy="201168"/>
          </a:xfrm>
          <a:prstGeom prst="rect">
            <a:avLst/>
          </a:prstGeom>
        </p:spPr>
      </p:pic>
      <p:pic>
        <p:nvPicPr>
          <p:cNvPr id="44" name="think hard page 17" descr="/NAS/SJ/POSTECH/nlp/figs/icons/pagehot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173968" y="3081528"/>
            <a:ext cx="182880" cy="201168"/>
          </a:xfrm>
          <a:prstGeom prst="rect">
            <a:avLst/>
          </a:prstGeom>
        </p:spPr>
      </p:pic>
      <p:pic>
        <p:nvPicPr>
          <p:cNvPr id="45" name="think hard page 18" descr="/NAS/SJ/POSTECH/nlp/figs/icons/pagehot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909560" y="3300984"/>
            <a:ext cx="182880" cy="201168"/>
          </a:xfrm>
          <a:prstGeom prst="rect">
            <a:avLst/>
          </a:prstGeom>
        </p:spPr>
      </p:pic>
      <p:pic>
        <p:nvPicPr>
          <p:cNvPr id="46" name="think hard page 19" descr="/NAS/SJ/POSTECH/nlp/figs/icons/pageho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101584" y="3300984"/>
            <a:ext cx="182880" cy="201168"/>
          </a:xfrm>
          <a:prstGeom prst="rect">
            <a:avLst/>
          </a:prstGeom>
        </p:spPr>
      </p:pic>
      <p:pic>
        <p:nvPicPr>
          <p:cNvPr id="47" name="think hard page 20" descr="/NAS/SJ/POSTECH/nlp/figs/icons/pagehot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293608" y="3300984"/>
            <a:ext cx="182880" cy="201168"/>
          </a:xfrm>
          <a:prstGeom prst="rect">
            <a:avLst/>
          </a:prstGeom>
        </p:spPr>
      </p:pic>
      <p:pic>
        <p:nvPicPr>
          <p:cNvPr id="48" name="think hard page 21" descr="/NAS/SJ/POSTECH/nlp/figs/icons/pagehot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8485632" y="3300984"/>
            <a:ext cx="182880" cy="201168"/>
          </a:xfrm>
          <a:prstGeom prst="rect">
            <a:avLst/>
          </a:prstGeom>
        </p:spPr>
      </p:pic>
      <p:pic>
        <p:nvPicPr>
          <p:cNvPr id="49" name="think hard page 22" descr="/NAS/SJ/POSTECH/nlp/figs/icons/pageho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677656" y="3300984"/>
            <a:ext cx="182880" cy="201168"/>
          </a:xfrm>
          <a:prstGeom prst="rect">
            <a:avLst/>
          </a:prstGeom>
        </p:spPr>
      </p:pic>
      <p:pic>
        <p:nvPicPr>
          <p:cNvPr id="50" name="think hard page 23" descr="/NAS/SJ/POSTECH/nlp/figs/icons/pagehot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869680" y="3300984"/>
            <a:ext cx="182880" cy="201168"/>
          </a:xfrm>
          <a:prstGeom prst="rect">
            <a:avLst/>
          </a:prstGeom>
        </p:spPr>
      </p:pic>
      <p:pic>
        <p:nvPicPr>
          <p:cNvPr id="51" name="think hard page 24" descr="/NAS/SJ/POSTECH/nlp/figs/icons/pageho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061704" y="3300984"/>
            <a:ext cx="182880" cy="201168"/>
          </a:xfrm>
          <a:prstGeom prst="rect">
            <a:avLst/>
          </a:prstGeom>
        </p:spPr>
      </p:pic>
      <p:pic>
        <p:nvPicPr>
          <p:cNvPr id="52" name="think hard page 25" descr="/NAS/SJ/POSTECH/nlp/figs/icons/pagehot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253728" y="3300984"/>
            <a:ext cx="182880" cy="201168"/>
          </a:xfrm>
          <a:prstGeom prst="rect">
            <a:avLst/>
          </a:prstGeom>
        </p:spPr>
      </p:pic>
      <p:pic>
        <p:nvPicPr>
          <p:cNvPr id="53" name="think hard page 26" descr="/NAS/SJ/POSTECH/nlp/figs/icons/pagehot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445752" y="3300984"/>
            <a:ext cx="182880" cy="201168"/>
          </a:xfrm>
          <a:prstGeom prst="rect">
            <a:avLst/>
          </a:prstGeom>
        </p:spPr>
      </p:pic>
      <p:pic>
        <p:nvPicPr>
          <p:cNvPr id="54" name="think hard page 27" descr="/NAS/SJ/POSTECH/nlp/figs/icons/pagehot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9637776" y="3300984"/>
            <a:ext cx="182880" cy="201168"/>
          </a:xfrm>
          <a:prstGeom prst="rect">
            <a:avLst/>
          </a:prstGeom>
        </p:spPr>
      </p:pic>
      <p:pic>
        <p:nvPicPr>
          <p:cNvPr id="55" name="think hard page 28" descr="/NAS/SJ/POSTECH/nlp/figs/icons/pagehot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829800" y="3300984"/>
            <a:ext cx="182880" cy="201168"/>
          </a:xfrm>
          <a:prstGeom prst="rect">
            <a:avLst/>
          </a:prstGeom>
        </p:spPr>
      </p:pic>
      <p:pic>
        <p:nvPicPr>
          <p:cNvPr id="56" name="think hard page 29" descr="/NAS/SJ/POSTECH/nlp/figs/icons/pagehot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021824" y="3300984"/>
            <a:ext cx="182880" cy="201168"/>
          </a:xfrm>
          <a:prstGeom prst="rect">
            <a:avLst/>
          </a:prstGeom>
        </p:spPr>
      </p:pic>
      <p:pic>
        <p:nvPicPr>
          <p:cNvPr id="57" name="think hard page 30" descr="/NAS/SJ/POSTECH/nlp/figs/icons/pagehot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0213848" y="3300984"/>
            <a:ext cx="182880" cy="201168"/>
          </a:xfrm>
          <a:prstGeom prst="rect">
            <a:avLst/>
          </a:prstGeom>
        </p:spPr>
      </p:pic>
      <p:pic>
        <p:nvPicPr>
          <p:cNvPr id="58" name="think hard page 31" descr="/NAS/SJ/POSTECH/nlp/figs/icons/pagehot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0405872" y="3300984"/>
            <a:ext cx="182880" cy="201168"/>
          </a:xfrm>
          <a:prstGeom prst="rect">
            <a:avLst/>
          </a:prstGeom>
        </p:spPr>
      </p:pic>
      <p:pic>
        <p:nvPicPr>
          <p:cNvPr id="59" name="think hard page 32" descr="/NAS/SJ/POSTECH/nlp/figs/icons/pagehot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0597896" y="3300984"/>
            <a:ext cx="182880" cy="201168"/>
          </a:xfrm>
          <a:prstGeom prst="rect">
            <a:avLst/>
          </a:prstGeom>
        </p:spPr>
      </p:pic>
      <p:pic>
        <p:nvPicPr>
          <p:cNvPr id="60" name="think hard page 33" descr="/NAS/SJ/POSTECH/nlp/figs/icons/pagehot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0789920" y="3300984"/>
            <a:ext cx="182880" cy="201168"/>
          </a:xfrm>
          <a:prstGeom prst="rect">
            <a:avLst/>
          </a:prstGeom>
        </p:spPr>
      </p:pic>
      <p:pic>
        <p:nvPicPr>
          <p:cNvPr id="61" name="think hard page 34" descr="/NAS/SJ/POSTECH/nlp/figs/icons/pagehot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0981944" y="3300984"/>
            <a:ext cx="182880" cy="201168"/>
          </a:xfrm>
          <a:prstGeom prst="rect">
            <a:avLst/>
          </a:prstGeom>
        </p:spPr>
      </p:pic>
      <p:pic>
        <p:nvPicPr>
          <p:cNvPr id="62" name="think hard page 35" descr="/NAS/SJ/POSTECH/nlp/figs/icons/pagehot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1173968" y="3300984"/>
            <a:ext cx="182880" cy="201168"/>
          </a:xfrm>
          <a:prstGeom prst="rect">
            <a:avLst/>
          </a:prstGeom>
        </p:spPr>
      </p:pic>
      <p:pic>
        <p:nvPicPr>
          <p:cNvPr id="63" name="think hard page 36" descr="/NAS/SJ/POSTECH/nlp/figs/icons/pagehot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7909560" y="3520440"/>
            <a:ext cx="182880" cy="201168"/>
          </a:xfrm>
          <a:prstGeom prst="rect">
            <a:avLst/>
          </a:prstGeom>
        </p:spPr>
      </p:pic>
      <p:pic>
        <p:nvPicPr>
          <p:cNvPr id="64" name="think hard page 37" descr="/NAS/SJ/POSTECH/nlp/figs/icons/pagehot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8101584" y="3520440"/>
            <a:ext cx="182880" cy="201168"/>
          </a:xfrm>
          <a:prstGeom prst="rect">
            <a:avLst/>
          </a:prstGeom>
        </p:spPr>
      </p:pic>
      <p:pic>
        <p:nvPicPr>
          <p:cNvPr id="65" name="think hard page 38" descr="/NAS/SJ/POSTECH/nlp/figs/icons/pagehot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293608" y="3520440"/>
            <a:ext cx="182880" cy="201168"/>
          </a:xfrm>
          <a:prstGeom prst="rect">
            <a:avLst/>
          </a:prstGeom>
        </p:spPr>
      </p:pic>
      <p:pic>
        <p:nvPicPr>
          <p:cNvPr id="66" name="think hard page 39" descr="/NAS/SJ/POSTECH/nlp/figs/icons/pagehot.png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8485632" y="3520440"/>
            <a:ext cx="182880" cy="201168"/>
          </a:xfrm>
          <a:prstGeom prst="rect">
            <a:avLst/>
          </a:prstGeom>
        </p:spPr>
      </p:pic>
      <p:pic>
        <p:nvPicPr>
          <p:cNvPr id="67" name="think hard page 40" descr="/NAS/SJ/POSTECH/nlp/figs/icons/pagehot.p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8677656" y="3520440"/>
            <a:ext cx="182880" cy="201168"/>
          </a:xfrm>
          <a:prstGeom prst="rect">
            <a:avLst/>
          </a:prstGeom>
        </p:spPr>
      </p:pic>
      <p:pic>
        <p:nvPicPr>
          <p:cNvPr id="68" name="think hard page 41" descr="/NAS/SJ/POSTECH/nlp/figs/icons/pagehot.png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8869680" y="3520440"/>
            <a:ext cx="182880" cy="201168"/>
          </a:xfrm>
          <a:prstGeom prst="rect">
            <a:avLst/>
          </a:prstGeom>
        </p:spPr>
      </p:pic>
      <p:pic>
        <p:nvPicPr>
          <p:cNvPr id="69" name="think hard page 42" descr="/NAS/SJ/POSTECH/nlp/figs/icons/pagehot.png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9061704" y="3520440"/>
            <a:ext cx="182880" cy="201168"/>
          </a:xfrm>
          <a:prstGeom prst="rect">
            <a:avLst/>
          </a:prstGeom>
        </p:spPr>
      </p:pic>
      <p:sp>
        <p:nvSpPr>
          <p:cNvPr id="70" name="Text 14"/>
          <p:cNvSpPr txBox="1"/>
          <p:nvPr/>
        </p:nvSpPr>
        <p:spPr>
          <a:xfrm>
            <a:off x="6400800" y="42519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7D31"/>
                </a:solidFill>
              </a:rPr>
              <a:t>4.4× the pages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  for 9 more points</a:t>
            </a:r>
            <a:endParaRPr lang="en-US" sz="1600" dirty="0"/>
          </a:p>
        </p:txBody>
      </p:sp>
      <p:sp>
        <p:nvSpPr>
          <p:cNvPr id="71" name="our question"/>
          <p:cNvSpPr/>
          <p:nvPr/>
        </p:nvSpPr>
        <p:spPr>
          <a:xfrm>
            <a:off x="548640" y="5257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DEEBF7"/>
          </a:solidFill>
          <a:ln w="9525">
            <a:solidFill>
              <a:srgbClr val="BDD7EE"/>
            </a:solidFill>
            <a:prstDash val="solid"/>
          </a:ln>
        </p:spPr>
      </p:sp>
      <p:sp>
        <p:nvSpPr>
          <p:cNvPr id="72" name="Text 16"/>
          <p:cNvSpPr txBox="1"/>
          <p:nvPr/>
        </p:nvSpPr>
        <p:spPr>
          <a:xfrm>
            <a:off x="777240" y="52578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Our question: where should the extra effort go?</a:t>
            </a:r>
            <a:endParaRPr lang="en-US" sz="1900" dirty="0"/>
          </a:p>
        </p:txBody>
      </p:sp>
      <p:sp>
        <p:nvSpPr>
          <p:cNvPr id="73" name="choice a missing fact"/>
          <p:cNvSpPr/>
          <p:nvPr/>
        </p:nvSpPr>
        <p:spPr>
          <a:xfrm>
            <a:off x="5715000" y="541324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74" name="choice icon fact" descr="/NAS/SJ/POSTECH/nlp/figs/icons/fact.png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5824728" y="5500116"/>
            <a:ext cx="329184" cy="329184"/>
          </a:xfrm>
          <a:prstGeom prst="rect">
            <a:avLst/>
          </a:prstGeom>
        </p:spPr>
      </p:pic>
      <p:sp>
        <p:nvSpPr>
          <p:cNvPr id="75" name="Text 18"/>
          <p:cNvSpPr txBox="1"/>
          <p:nvPr/>
        </p:nvSpPr>
        <p:spPr>
          <a:xfrm>
            <a:off x="6217920" y="541324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missing fact</a:t>
            </a:r>
            <a:endParaRPr lang="en-US" sz="1500" dirty="0"/>
          </a:p>
        </p:txBody>
      </p:sp>
      <p:sp>
        <p:nvSpPr>
          <p:cNvPr id="76" name="choice a free check"/>
          <p:cNvSpPr/>
          <p:nvPr/>
        </p:nvSpPr>
        <p:spPr>
          <a:xfrm>
            <a:off x="7680960" y="541324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77" name="choice icon check" descr="/NAS/SJ/POSTECH/nlp/figs/icons/check.png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7790688" y="5500116"/>
            <a:ext cx="329184" cy="329184"/>
          </a:xfrm>
          <a:prstGeom prst="rect">
            <a:avLst/>
          </a:prstGeom>
        </p:spPr>
      </p:pic>
      <p:sp>
        <p:nvSpPr>
          <p:cNvPr id="78" name="Text 20"/>
          <p:cNvSpPr txBox="1"/>
          <p:nvPr/>
        </p:nvSpPr>
        <p:spPr>
          <a:xfrm>
            <a:off x="8183880" y="541324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free check</a:t>
            </a:r>
            <a:endParaRPr lang="en-US" sz="1500" dirty="0"/>
          </a:p>
        </p:txBody>
      </p:sp>
      <p:sp>
        <p:nvSpPr>
          <p:cNvPr id="79" name="choice more thinking"/>
          <p:cNvSpPr/>
          <p:nvPr/>
        </p:nvSpPr>
        <p:spPr>
          <a:xfrm>
            <a:off x="9646920" y="541324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80" name="choice icon brain" descr="/NAS/SJ/POSTECH/nlp/figs/icons/brain.png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9756648" y="5500116"/>
            <a:ext cx="329184" cy="329184"/>
          </a:xfrm>
          <a:prstGeom prst="rect">
            <a:avLst/>
          </a:prstGeom>
        </p:spPr>
      </p:pic>
      <p:sp>
        <p:nvSpPr>
          <p:cNvPr id="81" name="Text 22"/>
          <p:cNvSpPr txBox="1"/>
          <p:nvPr/>
        </p:nvSpPr>
        <p:spPr>
          <a:xfrm>
            <a:off x="10149840" y="541324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more thinking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Finding 1: give the fact, not the manual</a:t>
            </a:r>
            <a:endParaRPr lang="en-US" sz="3600" dirty="0"/>
          </a:p>
        </p:txBody>
      </p:sp>
      <p:sp>
        <p:nvSpPr>
          <p:cNvPr id="3" name="choice a missing fact"/>
          <p:cNvSpPr/>
          <p:nvPr/>
        </p:nvSpPr>
        <p:spPr>
          <a:xfrm>
            <a:off x="964692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4" name="choice icon fact" descr="/NAS/SJ/POSTECH/nlp/figs/icons/f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56648" y="562356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4984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missing fact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Qwen3-32B plans delivery routes with Google's OR-Tools library</a:t>
            </a:r>
            <a:endParaRPr lang="en-US" sz="1700" dirty="0"/>
          </a:p>
        </p:txBody>
      </p:sp>
      <p:sp>
        <p:nvSpPr>
          <p:cNvPr id="7" name="box a long reference she"/>
          <p:cNvSpPr/>
          <p:nvPr/>
        </p:nvSpPr>
        <p:spPr>
          <a:xfrm>
            <a:off x="548640" y="178308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FCE4D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178308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long reference sheet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017520" y="205740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0" name="code RegisterUnaryLongLiv"/>
          <p:cNvSpPr/>
          <p:nvPr/>
        </p:nvSpPr>
        <p:spPr>
          <a:xfrm>
            <a:off x="3337560" y="178308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47288" y="178308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RegisterUnaryLongLivingCallback()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17830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✗ does not exist: crash</a:t>
            </a:r>
            <a:endParaRPr lang="en-US" sz="1700" dirty="0"/>
          </a:p>
        </p:txBody>
      </p:sp>
      <p:sp>
        <p:nvSpPr>
          <p:cNvPr id="13" name="box the exact usage (11 "/>
          <p:cNvSpPr/>
          <p:nvPr/>
        </p:nvSpPr>
        <p:spPr>
          <a:xfrm>
            <a:off x="548640" y="251460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251460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exact usage (11 lines)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017520" y="278892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6" name="code RegisterUnaryTransit"/>
          <p:cNvSpPr/>
          <p:nvPr/>
        </p:nvSpPr>
        <p:spPr>
          <a:xfrm>
            <a:off x="3337560" y="251460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447288" y="251460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RegisterUnaryTransitCallback()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2514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✓ runs: best route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337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% of 30 routing problems solved optimally: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749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nothing extra</a:t>
            </a:r>
            <a:endParaRPr lang="en-US" sz="1600" dirty="0"/>
          </a:p>
        </p:txBody>
      </p:sp>
      <p:sp>
        <p:nvSpPr>
          <p:cNvPr id="21" name="bar nothing extra"/>
          <p:cNvSpPr/>
          <p:nvPr/>
        </p:nvSpPr>
        <p:spPr>
          <a:xfrm>
            <a:off x="3063240" y="3817620"/>
            <a:ext cx="1409090" cy="22860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63770" y="3749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23%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4206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longer</a:t>
            </a:r>
            <a:endParaRPr lang="en-US" sz="1600" dirty="0"/>
          </a:p>
        </p:txBody>
      </p:sp>
      <p:sp>
        <p:nvSpPr>
          <p:cNvPr id="24" name="bar think longer"/>
          <p:cNvSpPr/>
          <p:nvPr/>
        </p:nvSpPr>
        <p:spPr>
          <a:xfrm>
            <a:off x="3063240" y="4274820"/>
            <a:ext cx="183794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338474" y="4206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3%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4663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long reference sheet</a:t>
            </a:r>
            <a:endParaRPr lang="en-US" sz="1600" dirty="0"/>
          </a:p>
        </p:txBody>
      </p:sp>
      <p:sp>
        <p:nvSpPr>
          <p:cNvPr id="27" name="bar long reference sheet"/>
          <p:cNvSpPr/>
          <p:nvPr/>
        </p:nvSpPr>
        <p:spPr>
          <a:xfrm>
            <a:off x="3063240" y="4732020"/>
            <a:ext cx="428854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583534" y="4663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7%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120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exact usage</a:t>
            </a:r>
            <a:endParaRPr lang="en-US" sz="1600" dirty="0"/>
          </a:p>
        </p:txBody>
      </p:sp>
      <p:sp>
        <p:nvSpPr>
          <p:cNvPr id="30" name="bar exact usage"/>
          <p:cNvSpPr/>
          <p:nvPr/>
        </p:nvSpPr>
        <p:spPr>
          <a:xfrm>
            <a:off x="3063240" y="5189220"/>
            <a:ext cx="5084978" cy="22860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39658" y="5120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77–90% (3 seeds)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Thinking cannot supply a fact the model does not have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Finding 2: think only when a free check fails</a:t>
            </a:r>
            <a:endParaRPr lang="en-US" sz="3600" dirty="0"/>
          </a:p>
        </p:txBody>
      </p:sp>
      <p:sp>
        <p:nvSpPr>
          <p:cNvPr id="3" name="choice a free check"/>
          <p:cNvSpPr/>
          <p:nvPr/>
        </p:nvSpPr>
        <p:spPr>
          <a:xfrm>
            <a:off x="964692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4" name="choice icon check" descr="/NAS/SJ/POSTECH/nlp/figs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56648" y="562356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4984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free check</a:t>
            </a:r>
            <a:endParaRPr lang="en-US" sz="1400" dirty="0"/>
          </a:p>
        </p:txBody>
      </p:sp>
      <p:sp>
        <p:nvSpPr>
          <p:cNvPr id="6" name="Check A: the problem's own examples"/>
          <p:cNvSpPr/>
          <p:nvPr/>
        </p:nvSpPr>
        <p:spPr>
          <a:xfrm>
            <a:off x="548640" y="123444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3258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Check A: the problem's own examples</a:t>
            </a:r>
            <a:endParaRPr lang="en-US" sz="1800" dirty="0"/>
          </a:p>
        </p:txBody>
      </p:sp>
      <p:sp>
        <p:nvSpPr>
          <p:cNvPr id="8" name="box &quot;Make a triangle!&quot;: "/>
          <p:cNvSpPr/>
          <p:nvPr/>
        </p:nvSpPr>
        <p:spPr>
          <a:xfrm>
            <a:off x="777240" y="1874520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50392" y="1874520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8761D"/>
                </a:solidFill>
              </a:rPr>
              <a:t>"Make a triangle!": examples pass → submit</a:t>
            </a:r>
            <a:endParaRPr lang="en-US" sz="1500" dirty="0"/>
          </a:p>
        </p:txBody>
      </p:sp>
      <p:sp>
        <p:nvSpPr>
          <p:cNvPr id="10" name="box &quot;Arrow&quot;: an example "/>
          <p:cNvSpPr/>
          <p:nvPr/>
        </p:nvSpPr>
        <p:spPr>
          <a:xfrm>
            <a:off x="777240" y="2532888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FADBD8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50392" y="2532888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00000"/>
                </a:solidFill>
              </a:rPr>
              <a:t>"Arrow": an example fails → think harder → right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2461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311 contest problems (gpt-oss-120b)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651760" y="36576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023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always think hard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2651760" y="40233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66.2%</a:t>
            </a:r>
            <a:endParaRPr lang="en-US" sz="1700" dirty="0"/>
          </a:p>
        </p:txBody>
      </p:sp>
      <p:sp>
        <p:nvSpPr>
          <p:cNvPr id="17" name="tokens always think hard"/>
          <p:cNvSpPr/>
          <p:nvPr/>
        </p:nvSpPr>
        <p:spPr>
          <a:xfrm>
            <a:off x="3566160" y="4123944"/>
            <a:ext cx="146304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120640" y="4023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30k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5537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only on failure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2651760" y="455371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66.3%</a:t>
            </a:r>
            <a:endParaRPr lang="en-US" sz="1700" dirty="0"/>
          </a:p>
        </p:txBody>
      </p:sp>
      <p:sp>
        <p:nvSpPr>
          <p:cNvPr id="21" name="tokens only on failure"/>
          <p:cNvSpPr/>
          <p:nvPr/>
        </p:nvSpPr>
        <p:spPr>
          <a:xfrm>
            <a:off x="3566160" y="4654296"/>
            <a:ext cx="1200568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858168" y="455371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25k</a:t>
            </a:r>
            <a:endParaRPr lang="en-US" sz="1500" dirty="0"/>
          </a:p>
        </p:txBody>
      </p:sp>
      <p:sp>
        <p:nvSpPr>
          <p:cNvPr id="23" name="Check B: two versions must agree"/>
          <p:cNvSpPr/>
          <p:nvPr/>
        </p:nvSpPr>
        <p:spPr>
          <a:xfrm>
            <a:off x="6172200" y="123444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13258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Check B: two versions must agree</a:t>
            </a:r>
            <a:endParaRPr lang="en-US" sz="1800" dirty="0"/>
          </a:p>
        </p:txBody>
      </p:sp>
      <p:sp>
        <p:nvSpPr>
          <p:cNvPr id="25" name="box program A (task only"/>
          <p:cNvSpPr/>
          <p:nvPr/>
        </p:nvSpPr>
        <p:spPr>
          <a:xfrm>
            <a:off x="6400800" y="1874520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73952" y="1874520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8761D"/>
                </a:solidFill>
              </a:rPr>
              <a:t>program A (task only) → 6</a:t>
            </a:r>
            <a:endParaRPr lang="en-US" sz="1500" dirty="0"/>
          </a:p>
        </p:txBody>
      </p:sp>
      <p:sp>
        <p:nvSpPr>
          <p:cNvPr id="27" name="box program B (+ helper "/>
          <p:cNvSpPr/>
          <p:nvPr/>
        </p:nvSpPr>
        <p:spPr>
          <a:xfrm>
            <a:off x="6400800" y="2532888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FADBD8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73952" y="2532888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00000"/>
                </a:solidFill>
              </a:rPr>
              <a:t>program B (+ helper code) → 0: differ → think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461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108 geometry problems (Qwen3-32B, 3 runs)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8275320" y="36576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918972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400800" y="4023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always think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40233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98%</a:t>
            </a:r>
            <a:endParaRPr lang="en-US" sz="1700" dirty="0"/>
          </a:p>
        </p:txBody>
      </p:sp>
      <p:sp>
        <p:nvSpPr>
          <p:cNvPr id="34" name="tokens always think"/>
          <p:cNvSpPr/>
          <p:nvPr/>
        </p:nvSpPr>
        <p:spPr>
          <a:xfrm>
            <a:off x="9189720" y="4123944"/>
            <a:ext cx="146304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0744200" y="4023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5.9k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6400800" y="45537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only if they differ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8275320" y="455371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99%</a:t>
            </a:r>
            <a:endParaRPr lang="en-US" sz="1700" dirty="0"/>
          </a:p>
        </p:txBody>
      </p:sp>
      <p:sp>
        <p:nvSpPr>
          <p:cNvPr id="38" name="tokens only if they differ"/>
          <p:cNvSpPr/>
          <p:nvPr/>
        </p:nvSpPr>
        <p:spPr>
          <a:xfrm>
            <a:off x="9189720" y="4654296"/>
            <a:ext cx="1066283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347443" y="455371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4.3k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Same accuracy as always thinking, 18–27% fewer tokens, and no answer key needed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Our method: cheap steps first</a:t>
            </a:r>
            <a:endParaRPr lang="en-US" sz="3600" dirty="0"/>
          </a:p>
        </p:txBody>
      </p:sp>
      <p:sp>
        <p:nvSpPr>
          <p:cNvPr id="3" name="choice a missing fact"/>
          <p:cNvSpPr/>
          <p:nvPr/>
        </p:nvSpPr>
        <p:spPr>
          <a:xfrm>
            <a:off x="768096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4" name="choice icon fact" descr="/NAS/SJ/POSTECH/nlp/figs/icons/f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90688" y="562356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8388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missing fact</a:t>
            </a:r>
            <a:endParaRPr lang="en-US" sz="1400" dirty="0"/>
          </a:p>
        </p:txBody>
      </p:sp>
      <p:sp>
        <p:nvSpPr>
          <p:cNvPr id="6" name="choice a free check"/>
          <p:cNvSpPr/>
          <p:nvPr/>
        </p:nvSpPr>
        <p:spPr>
          <a:xfrm>
            <a:off x="964692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7" name="choice icon check" descr="/NAS/SJ/POSTECH/nlp/fig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6648" y="562356"/>
            <a:ext cx="329184" cy="3291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14984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free check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One real problem (Qwen3-8B): products X, Y, Z at $10, $15, $20 under three limits; minimum cost? → 20000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1 Program</a:t>
            </a:r>
            <a:endParaRPr lang="en-US" sz="1700" dirty="0"/>
          </a:p>
        </p:txBody>
      </p:sp>
      <p:sp>
        <p:nvSpPr>
          <p:cNvPr id="11" name="step 1 Program"/>
          <p:cNvSpPr/>
          <p:nvPr/>
        </p:nvSpPr>
        <p:spPr>
          <a:xfrm>
            <a:off x="54864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2179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Objective()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.Minimize()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✗ crash, no fact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265176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5" name="Text 11"/>
          <p:cNvSpPr txBox="1"/>
          <p:nvPr/>
        </p:nvSpPr>
        <p:spPr>
          <a:xfrm>
            <a:off x="278892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2 + Fact</a:t>
            </a:r>
            <a:endParaRPr lang="en-US" sz="1700" dirty="0"/>
          </a:p>
        </p:txBody>
      </p:sp>
      <p:sp>
        <p:nvSpPr>
          <p:cNvPr id="16" name="step 2 + Fact"/>
          <p:cNvSpPr/>
          <p:nvPr/>
        </p:nvSpPr>
        <p:spPr>
          <a:xfrm>
            <a:off x="278892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86207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.Minimize(...)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288036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found automatically: its own checked program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489204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02920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3 Free check</a:t>
            </a:r>
            <a:endParaRPr lang="en-US" sz="1700" dirty="0"/>
          </a:p>
        </p:txBody>
      </p:sp>
      <p:sp>
        <p:nvSpPr>
          <p:cNvPr id="21" name="step 3 Free check"/>
          <p:cNvSpPr/>
          <p:nvPr/>
        </p:nvSpPr>
        <p:spPr>
          <a:xfrm>
            <a:off x="502920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10235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7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20000 = 20000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512064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second version agrees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713232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726948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4 Think?</a:t>
            </a:r>
            <a:endParaRPr lang="en-US" sz="1700" dirty="0"/>
          </a:p>
        </p:txBody>
      </p:sp>
      <p:sp>
        <p:nvSpPr>
          <p:cNvPr id="26" name="step 4 Think?"/>
          <p:cNvSpPr/>
          <p:nvPr/>
        </p:nvSpPr>
        <p:spPr>
          <a:xfrm>
            <a:off x="726948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F2F2F2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4263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1800" dirty="0"/>
          </a:p>
        </p:txBody>
      </p:sp>
      <p:sp>
        <p:nvSpPr>
          <p:cNvPr id="28" name="Text 24"/>
          <p:cNvSpPr txBox="1"/>
          <p:nvPr/>
        </p:nvSpPr>
        <p:spPr>
          <a:xfrm>
            <a:off x="736092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think only if the two differ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937260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950976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5 Reuse</a:t>
            </a:r>
            <a:endParaRPr lang="en-US" sz="1700" dirty="0"/>
          </a:p>
        </p:txBody>
      </p:sp>
      <p:sp>
        <p:nvSpPr>
          <p:cNvPr id="31" name="step 5 Reuse"/>
          <p:cNvSpPr/>
          <p:nvPr/>
        </p:nvSpPr>
        <p:spPr>
          <a:xfrm>
            <a:off x="950976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DEEBF7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58291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program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60120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same kind, new data: no new tokens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548640" y="3611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All 624 geometry and optimization problems, 3 models:</a:t>
            </a:r>
            <a:endParaRPr lang="en-US" sz="1600" dirty="0"/>
          </a:p>
        </p:txBody>
      </p:sp>
      <p:sp>
        <p:nvSpPr>
          <p:cNvPr id="35" name="Text 31"/>
          <p:cNvSpPr txBox="1"/>
          <p:nvPr/>
        </p:nvSpPr>
        <p:spPr>
          <a:xfrm>
            <a:off x="2560320" y="39776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3474720" y="3977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548640" y="4343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think on hardest-looking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2560320" y="43434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74%</a:t>
            </a:r>
            <a:endParaRPr lang="en-US" sz="1700" dirty="0"/>
          </a:p>
        </p:txBody>
      </p:sp>
      <p:sp>
        <p:nvSpPr>
          <p:cNvPr id="39" name="tokens think on hardest-looking"/>
          <p:cNvSpPr/>
          <p:nvPr/>
        </p:nvSpPr>
        <p:spPr>
          <a:xfrm>
            <a:off x="3474720" y="4443984"/>
            <a:ext cx="274320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309360" y="4343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4.1k</a:t>
            </a:r>
            <a:endParaRPr lang="en-US" sz="1500" dirty="0"/>
          </a:p>
        </p:txBody>
      </p:sp>
      <p:sp>
        <p:nvSpPr>
          <p:cNvPr id="41" name="Text 37"/>
          <p:cNvSpPr txBox="1"/>
          <p:nvPr/>
        </p:nvSpPr>
        <p:spPr>
          <a:xfrm>
            <a:off x="548640" y="48737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our method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2560320" y="48737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87%</a:t>
            </a:r>
            <a:endParaRPr lang="en-US" sz="1700" dirty="0"/>
          </a:p>
        </p:txBody>
      </p:sp>
      <p:sp>
        <p:nvSpPr>
          <p:cNvPr id="43" name="tokens our method"/>
          <p:cNvSpPr/>
          <p:nvPr/>
        </p:nvSpPr>
        <p:spPr>
          <a:xfrm>
            <a:off x="3474720" y="4974336"/>
            <a:ext cx="1672683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238843" y="48737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2.5k</a:t>
            </a:r>
            <a:endParaRPr lang="en-US" sz="1500" dirty="0"/>
          </a:p>
        </p:txBody>
      </p:sp>
      <p:sp>
        <p:nvSpPr>
          <p:cNvPr id="45" name="Text 41"/>
          <p:cNvSpPr txBox="1"/>
          <p:nvPr/>
        </p:nvSpPr>
        <p:spPr>
          <a:xfrm>
            <a:off x="7498080" y="3611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472C4"/>
                </a:solidFill>
              </a:rPr>
              <a:t>79% = 79%</a:t>
            </a:r>
            <a:endParaRPr lang="en-US" sz="2400" dirty="0"/>
          </a:p>
        </p:txBody>
      </p:sp>
      <p:sp>
        <p:nvSpPr>
          <p:cNvPr id="46" name="Text 42"/>
          <p:cNvSpPr txBox="1"/>
          <p:nvPr/>
        </p:nvSpPr>
        <p:spPr>
          <a:xfrm>
            <a:off x="7498080" y="40507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fact found automatically (its own earlier checked program) = a hand-written fact, on new problems</a:t>
            </a:r>
            <a:endParaRPr lang="en-US" sz="1400" dirty="0"/>
          </a:p>
        </p:txBody>
      </p:sp>
      <p:sp>
        <p:nvSpPr>
          <p:cNvPr id="47" name="Text 43"/>
          <p:cNvSpPr txBox="1"/>
          <p:nvPr/>
        </p:nvSpPr>
        <p:spPr>
          <a:xfrm>
            <a:off x="7498080" y="4572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472C4"/>
                </a:solidFill>
              </a:rPr>
              <a:t>0.6k vs 5.3k</a:t>
            </a:r>
            <a:endParaRPr lang="en-US" sz="2400" dirty="0"/>
          </a:p>
        </p:txBody>
      </p:sp>
      <p:sp>
        <p:nvSpPr>
          <p:cNvPr id="48" name="Text 44"/>
          <p:cNvSpPr txBox="1"/>
          <p:nvPr/>
        </p:nvSpPr>
        <p:spPr>
          <a:xfrm>
            <a:off x="7498080" y="50109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tokens on this problem vs thinking alone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More accurate and cheaper than spending thinking on the hardest-looking problems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What is new, and what is next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F7F7F"/>
                </a:solidFill>
              </a:rPr>
              <a:t>The usual way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766560" y="1188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Ours</a:t>
            </a:r>
            <a:endParaRPr lang="en-US" sz="1600" dirty="0"/>
          </a:p>
        </p:txBody>
      </p:sp>
      <p:sp>
        <p:nvSpPr>
          <p:cNvPr id="5" name="box "/>
          <p:cNvSpPr/>
          <p:nvPr/>
        </p:nvSpPr>
        <p:spPr>
          <a:xfrm>
            <a:off x="548640" y="160020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0020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7" name="usual icon 0" descr="/NAS/SJ/POSTECH/nlp/figs/icons/b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411480" cy="411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34440" y="160020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think more on hard-looking problems, or train when to think</a:t>
            </a:r>
            <a:endParaRPr lang="en-US" sz="1500" dirty="0"/>
          </a:p>
        </p:txBody>
      </p:sp>
      <p:sp>
        <p:nvSpPr>
          <p:cNvPr id="9" name="arrow 0"/>
          <p:cNvSpPr/>
          <p:nvPr/>
        </p:nvSpPr>
        <p:spPr>
          <a:xfrm>
            <a:off x="5577840" y="1755648"/>
            <a:ext cx="1005840" cy="384048"/>
          </a:xfrm>
          <a:prstGeom prst="rightArrow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" name="box "/>
          <p:cNvSpPr/>
          <p:nvPr/>
        </p:nvSpPr>
        <p:spPr>
          <a:xfrm>
            <a:off x="6766560" y="160020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39712" y="160020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12" name="ours icon 0" descr="/NAS/SJ/POSTECH/nlp/fig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3736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52360" y="160020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think only when a free check fails; no training (87% vs 74%)</a:t>
            </a:r>
            <a:endParaRPr lang="en-US" sz="1500" dirty="0"/>
          </a:p>
        </p:txBody>
      </p:sp>
      <p:sp>
        <p:nvSpPr>
          <p:cNvPr id="14" name="box "/>
          <p:cNvSpPr/>
          <p:nvPr/>
        </p:nvSpPr>
        <p:spPr>
          <a:xfrm>
            <a:off x="548640" y="242316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21792" y="242316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16" name="usual icon 1" descr="/NAS/SJ/POSTECH/nlp/figs/icons/p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34440" y="24231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give the manual, or a teacher's programs checked against answers</a:t>
            </a:r>
            <a:endParaRPr lang="en-US" sz="1500" dirty="0"/>
          </a:p>
        </p:txBody>
      </p:sp>
      <p:sp>
        <p:nvSpPr>
          <p:cNvPr id="18" name="arrow 1"/>
          <p:cNvSpPr/>
          <p:nvPr/>
        </p:nvSpPr>
        <p:spPr>
          <a:xfrm>
            <a:off x="5577840" y="2578608"/>
            <a:ext cx="1005840" cy="384048"/>
          </a:xfrm>
          <a:prstGeom prst="rightArrow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9" name="box "/>
          <p:cNvSpPr/>
          <p:nvPr/>
        </p:nvSpPr>
        <p:spPr>
          <a:xfrm>
            <a:off x="6766560" y="242316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39712" y="242316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21" name="ours icon 1" descr="/NAS/SJ/POSTECH/nlp/figs/icons/fac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256032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52360" y="24231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give one fact: the model's own checked program; no answer key</a:t>
            </a:r>
            <a:endParaRPr lang="en-US" sz="1500" dirty="0"/>
          </a:p>
        </p:txBody>
      </p:sp>
      <p:sp>
        <p:nvSpPr>
          <p:cNvPr id="23" name="box "/>
          <p:cNvSpPr/>
          <p:nvPr/>
        </p:nvSpPr>
        <p:spPr>
          <a:xfrm>
            <a:off x="548640" y="324612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21792" y="324612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25" name="usual icon 2" descr="/NAS/SJ/POSTECH/nlp/figs/icons/rob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383280"/>
            <a:ext cx="411480" cy="4114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34440" y="324612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fine-tune a specialist model (ORLM-8B)</a:t>
            </a:r>
            <a:endParaRPr lang="en-US" sz="1500" dirty="0"/>
          </a:p>
        </p:txBody>
      </p:sp>
      <p:sp>
        <p:nvSpPr>
          <p:cNvPr id="27" name="arrow 2"/>
          <p:cNvSpPr/>
          <p:nvPr/>
        </p:nvSpPr>
        <p:spPr>
          <a:xfrm>
            <a:off x="5577840" y="3401568"/>
            <a:ext cx="1005840" cy="384048"/>
          </a:xfrm>
          <a:prstGeom prst="rightArrow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8" name="box "/>
          <p:cNvSpPr/>
          <p:nvPr/>
        </p:nvSpPr>
        <p:spPr>
          <a:xfrm>
            <a:off x="6766560" y="324612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839712" y="324612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30" name="ours icon 2" descr="/NAS/SJ/POSTECH/nlp/figs/icons/gpu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0" y="3383280"/>
            <a:ext cx="411480" cy="4114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452360" y="324612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no training, one 24 GB GPU: the same 69.5% on MAMO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Next, until the final report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2194560" y="4800600"/>
            <a:ext cx="7772400" cy="0"/>
          </a:xfrm>
          <a:prstGeom prst="line">
            <a:avLst/>
          </a:prstGeom>
          <a:noFill/>
          <a:ln w="38100">
            <a:solidFill>
              <a:srgbClr val="BFBFBF"/>
            </a:solidFill>
            <a:prstDash val="solid"/>
          </a:ln>
        </p:spPr>
      </p:sp>
      <p:sp>
        <p:nvSpPr>
          <p:cNvPr id="34" name="milestone 0"/>
          <p:cNvSpPr/>
          <p:nvPr/>
        </p:nvSpPr>
        <p:spPr>
          <a:xfrm>
            <a:off x="1920240" y="4526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  <a:prstDash val="solid"/>
          </a:ln>
        </p:spPr>
      </p:sp>
      <p:pic>
        <p:nvPicPr>
          <p:cNvPr id="35" name="milestone icon 0" descr="/NAS/SJ/POSTECH/nlp/figs/icons/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20824" y="4626864"/>
            <a:ext cx="347472" cy="34747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8640" y="51023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finish the held-out test on more models</a:t>
            </a:r>
            <a:endParaRPr lang="en-US" sz="1500" dirty="0"/>
          </a:p>
        </p:txBody>
      </p:sp>
      <p:sp>
        <p:nvSpPr>
          <p:cNvPr id="37" name="milestone 1"/>
          <p:cNvSpPr/>
          <p:nvPr/>
        </p:nvSpPr>
        <p:spPr>
          <a:xfrm>
            <a:off x="5806440" y="4526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  <a:prstDash val="solid"/>
          </a:ln>
        </p:spPr>
      </p:sp>
      <p:pic>
        <p:nvPicPr>
          <p:cNvPr id="38" name="milestone icon 1" descr="/NAS/SJ/POSTECH/nlp/figs/icons/war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07024" y="4626864"/>
            <a:ext cx="347472" cy="347472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4434840" y="51023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errors no check catches: programs that run but model the problem wrong</a:t>
            </a:r>
            <a:endParaRPr lang="en-US" sz="1500" dirty="0"/>
          </a:p>
        </p:txBody>
      </p:sp>
      <p:sp>
        <p:nvSpPr>
          <p:cNvPr id="40" name="milestone 2"/>
          <p:cNvSpPr/>
          <p:nvPr/>
        </p:nvSpPr>
        <p:spPr>
          <a:xfrm>
            <a:off x="9692640" y="4526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  <a:prstDash val="solid"/>
          </a:ln>
        </p:spPr>
      </p:sp>
      <p:pic>
        <p:nvPicPr>
          <p:cNvPr id="41" name="milestone icon 2" descr="/NAS/SJ/POSTECH/nlp/figs/icons/cod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93224" y="4626864"/>
            <a:ext cx="347472" cy="347472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8321040" y="51023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facts for every problem type; report and code</a:t>
            </a:r>
            <a:endParaRPr lang="en-US" sz="1500" dirty="0"/>
          </a:p>
        </p:txBody>
      </p:sp>
      <p:sp>
        <p:nvSpPr>
          <p:cNvPr id="43" name="Text 3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Takeaway: give the missing fact first, and think only where a free check fails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Thank you: questions?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Expected questions, by the talk slide that raises them → extra page (type the number and press Enter)</a:t>
            </a:r>
            <a:endParaRPr lang="en-US" sz="1600" dirty="0"/>
          </a:p>
        </p:txBody>
      </p:sp>
      <p:sp>
        <p:nvSpPr>
          <p:cNvPr id="4" name="box "/>
          <p:cNvSpPr/>
          <p:nvPr/>
        </p:nvSpPr>
        <p:spPr>
          <a:xfrm>
            <a:off x="548640" y="1691640"/>
            <a:ext cx="5440680" cy="4572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691640"/>
            <a:ext cx="5294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6" name="from slide 2"/>
          <p:cNvSpPr/>
          <p:nvPr/>
        </p:nvSpPr>
        <p:spPr>
          <a:xfrm>
            <a:off x="621792" y="1764792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76479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69164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How hard are the problems?</a:t>
            </a:r>
            <a:endParaRPr lang="en-US" sz="1400" dirty="0"/>
          </a:p>
        </p:txBody>
      </p:sp>
      <p:sp>
        <p:nvSpPr>
          <p:cNvPr id="9" name="page kinds"/>
          <p:cNvSpPr/>
          <p:nvPr/>
        </p:nvSpPr>
        <p:spPr>
          <a:xfrm>
            <a:off x="5449824" y="1755648"/>
            <a:ext cx="438912" cy="329184"/>
          </a:xfrm>
          <a:prstGeom prst="roundRect">
            <a:avLst>
              <a:gd name="adj" fmla="val 22222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49824" y="175564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11" name="box "/>
          <p:cNvSpPr/>
          <p:nvPr/>
        </p:nvSpPr>
        <p:spPr>
          <a:xfrm>
            <a:off x="548640" y="2203704"/>
            <a:ext cx="5440680" cy="4572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2203704"/>
            <a:ext cx="5294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3" name="from slide 2"/>
          <p:cNvSpPr/>
          <p:nvPr/>
        </p:nvSpPr>
        <p:spPr>
          <a:xfrm>
            <a:off x="621792" y="2276856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2276856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220370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Proofs? Where does it stop?</a:t>
            </a:r>
            <a:endParaRPr lang="en-US" sz="1400" dirty="0"/>
          </a:p>
        </p:txBody>
      </p:sp>
      <p:sp>
        <p:nvSpPr>
          <p:cNvPr id="16" name="page proof"/>
          <p:cNvSpPr/>
          <p:nvPr/>
        </p:nvSpPr>
        <p:spPr>
          <a:xfrm>
            <a:off x="4946904" y="2267712"/>
            <a:ext cx="438912" cy="329184"/>
          </a:xfrm>
          <a:prstGeom prst="roundRect">
            <a:avLst>
              <a:gd name="adj" fmla="val 22222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46904" y="2267712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27</a:t>
            </a:r>
            <a:endParaRPr lang="en-US" sz="1400" dirty="0"/>
          </a:p>
        </p:txBody>
      </p:sp>
      <p:sp>
        <p:nvSpPr>
          <p:cNvPr id="18" name="page limits"/>
          <p:cNvSpPr/>
          <p:nvPr/>
        </p:nvSpPr>
        <p:spPr>
          <a:xfrm>
            <a:off x="5449824" y="2267712"/>
            <a:ext cx="438912" cy="329184"/>
          </a:xfrm>
          <a:prstGeom prst="roundRect">
            <a:avLst>
              <a:gd name="adj" fmla="val 22222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49824" y="2267712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28</a:t>
            </a:r>
            <a:endParaRPr lang="en-US" sz="1400" dirty="0"/>
          </a:p>
        </p:txBody>
      </p:sp>
      <p:sp>
        <p:nvSpPr>
          <p:cNvPr id="20" name="box "/>
          <p:cNvSpPr/>
          <p:nvPr/>
        </p:nvSpPr>
        <p:spPr>
          <a:xfrm>
            <a:off x="548640" y="2715768"/>
            <a:ext cx="5440680" cy="4572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2715768"/>
            <a:ext cx="5294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2" name="from slide 3"/>
          <p:cNvSpPr/>
          <p:nvPr/>
        </p:nvSpPr>
        <p:spPr>
          <a:xfrm>
            <a:off x="621792" y="278892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" y="27889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3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271576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a program always better than words?</a:t>
            </a:r>
            <a:endParaRPr lang="en-US" sz="1400" dirty="0"/>
          </a:p>
        </p:txBody>
      </p:sp>
      <p:sp>
        <p:nvSpPr>
          <p:cNvPr id="25" name="page progwords"/>
          <p:cNvSpPr/>
          <p:nvPr/>
        </p:nvSpPr>
        <p:spPr>
          <a:xfrm>
            <a:off x="5449824" y="2779776"/>
            <a:ext cx="438912" cy="329184"/>
          </a:xfrm>
          <a:prstGeom prst="roundRect">
            <a:avLst>
              <a:gd name="adj" fmla="val 22222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49824" y="2779776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400" dirty="0"/>
          </a:p>
        </p:txBody>
      </p:sp>
      <p:sp>
        <p:nvSpPr>
          <p:cNvPr id="27" name="box "/>
          <p:cNvSpPr/>
          <p:nvPr/>
        </p:nvSpPr>
        <p:spPr>
          <a:xfrm>
            <a:off x="548640" y="3227832"/>
            <a:ext cx="5440680" cy="4572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1792" y="3227832"/>
            <a:ext cx="5294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9" name="from slide 4"/>
          <p:cNvSpPr/>
          <p:nvPr/>
        </p:nvSpPr>
        <p:spPr>
          <a:xfrm>
            <a:off x="621792" y="3300984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1792" y="330098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508760" y="322783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Why does helper code change the answer?</a:t>
            </a:r>
            <a:endParaRPr lang="en-US" sz="1400" dirty="0"/>
          </a:p>
        </p:txBody>
      </p:sp>
      <p:sp>
        <p:nvSpPr>
          <p:cNvPr id="32" name="page two"/>
          <p:cNvSpPr/>
          <p:nvPr/>
        </p:nvSpPr>
        <p:spPr>
          <a:xfrm>
            <a:off x="5449824" y="3291840"/>
            <a:ext cx="438912" cy="329184"/>
          </a:xfrm>
          <a:prstGeom prst="roundRect">
            <a:avLst>
              <a:gd name="adj" fmla="val 22222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49824" y="3291840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12</a:t>
            </a:r>
            <a:endParaRPr lang="en-US" sz="1400" dirty="0"/>
          </a:p>
        </p:txBody>
      </p:sp>
      <p:sp>
        <p:nvSpPr>
          <p:cNvPr id="34" name="box "/>
          <p:cNvSpPr/>
          <p:nvPr/>
        </p:nvSpPr>
        <p:spPr>
          <a:xfrm>
            <a:off x="548640" y="3739896"/>
            <a:ext cx="5440680" cy="4572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1792" y="3739896"/>
            <a:ext cx="5294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6" name="from slide 5"/>
          <p:cNvSpPr/>
          <p:nvPr/>
        </p:nvSpPr>
        <p:spPr>
          <a:xfrm>
            <a:off x="621792" y="3813048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1792" y="3813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508760" y="3739896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exactly is the fact? Isn't it the answer?</a:t>
            </a:r>
            <a:endParaRPr lang="en-US" sz="1400" dirty="0"/>
          </a:p>
        </p:txBody>
      </p:sp>
      <p:sp>
        <p:nvSpPr>
          <p:cNvPr id="39" name="page fact"/>
          <p:cNvSpPr/>
          <p:nvPr/>
        </p:nvSpPr>
        <p:spPr>
          <a:xfrm>
            <a:off x="5449824" y="3803904"/>
            <a:ext cx="438912" cy="329184"/>
          </a:xfrm>
          <a:prstGeom prst="roundRect">
            <a:avLst>
              <a:gd name="adj" fmla="val 22222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49824" y="3803904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13</a:t>
            </a:r>
            <a:endParaRPr lang="en-US" sz="1400" dirty="0"/>
          </a:p>
        </p:txBody>
      </p:sp>
      <p:sp>
        <p:nvSpPr>
          <p:cNvPr id="41" name="box "/>
          <p:cNvSpPr/>
          <p:nvPr/>
        </p:nvSpPr>
        <p:spPr>
          <a:xfrm>
            <a:off x="548640" y="4251960"/>
            <a:ext cx="5440680" cy="4572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1792" y="4251960"/>
            <a:ext cx="5294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3" name="from slide 5"/>
          <p:cNvSpPr/>
          <p:nvPr/>
        </p:nvSpPr>
        <p:spPr>
          <a:xfrm>
            <a:off x="621792" y="4325112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21792" y="432511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5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508760" y="425196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Can retrieval (RAG) find the fact?</a:t>
            </a:r>
            <a:endParaRPr lang="en-US" sz="1400" dirty="0"/>
          </a:p>
        </p:txBody>
      </p:sp>
      <p:sp>
        <p:nvSpPr>
          <p:cNvPr id="46" name="page rag"/>
          <p:cNvSpPr/>
          <p:nvPr/>
        </p:nvSpPr>
        <p:spPr>
          <a:xfrm>
            <a:off x="5449824" y="4315968"/>
            <a:ext cx="438912" cy="329184"/>
          </a:xfrm>
          <a:prstGeom prst="roundRect">
            <a:avLst>
              <a:gd name="adj" fmla="val 22222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449824" y="43159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14</a:t>
            </a:r>
            <a:endParaRPr lang="en-US" sz="1400" dirty="0"/>
          </a:p>
        </p:txBody>
      </p:sp>
      <p:sp>
        <p:nvSpPr>
          <p:cNvPr id="48" name="box "/>
          <p:cNvSpPr/>
          <p:nvPr/>
        </p:nvSpPr>
        <p:spPr>
          <a:xfrm>
            <a:off x="548640" y="4764024"/>
            <a:ext cx="5440680" cy="4572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21792" y="4764024"/>
            <a:ext cx="5294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50" name="from slide 5"/>
          <p:cNvSpPr/>
          <p:nvPr/>
        </p:nvSpPr>
        <p:spPr>
          <a:xfrm>
            <a:off x="621792" y="4837176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1792" y="4837176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5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1508760" y="4764024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Why can thinking make it worse?</a:t>
            </a:r>
            <a:endParaRPr lang="en-US" sz="1400" dirty="0"/>
          </a:p>
        </p:txBody>
      </p:sp>
      <p:sp>
        <p:nvSpPr>
          <p:cNvPr id="53" name="page think"/>
          <p:cNvSpPr/>
          <p:nvPr/>
        </p:nvSpPr>
        <p:spPr>
          <a:xfrm>
            <a:off x="5449824" y="4828032"/>
            <a:ext cx="438912" cy="329184"/>
          </a:xfrm>
          <a:prstGeom prst="roundRect">
            <a:avLst>
              <a:gd name="adj" fmla="val 22222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49824" y="4828032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15</a:t>
            </a:r>
            <a:endParaRPr lang="en-US" sz="1400" dirty="0"/>
          </a:p>
        </p:txBody>
      </p:sp>
      <p:sp>
        <p:nvSpPr>
          <p:cNvPr id="55" name="box "/>
          <p:cNvSpPr/>
          <p:nvPr/>
        </p:nvSpPr>
        <p:spPr>
          <a:xfrm>
            <a:off x="548640" y="5276088"/>
            <a:ext cx="5440680" cy="4572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21792" y="5276088"/>
            <a:ext cx="5294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57" name="from slide 6"/>
          <p:cNvSpPr/>
          <p:nvPr/>
        </p:nvSpPr>
        <p:spPr>
          <a:xfrm>
            <a:off x="621792" y="534924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21792" y="534924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6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1508760" y="527608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if a wrong program passes the check?</a:t>
            </a:r>
            <a:endParaRPr lang="en-US" sz="1400" dirty="0"/>
          </a:p>
        </p:txBody>
      </p:sp>
      <p:sp>
        <p:nvSpPr>
          <p:cNvPr id="60" name="page leak"/>
          <p:cNvSpPr/>
          <p:nvPr/>
        </p:nvSpPr>
        <p:spPr>
          <a:xfrm>
            <a:off x="5449824" y="5340096"/>
            <a:ext cx="438912" cy="329184"/>
          </a:xfrm>
          <a:prstGeom prst="roundRect">
            <a:avLst>
              <a:gd name="adj" fmla="val 22222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49824" y="5340096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16</a:t>
            </a:r>
            <a:endParaRPr lang="en-US" sz="1400" dirty="0"/>
          </a:p>
        </p:txBody>
      </p:sp>
      <p:sp>
        <p:nvSpPr>
          <p:cNvPr id="62" name="box "/>
          <p:cNvSpPr/>
          <p:nvPr/>
        </p:nvSpPr>
        <p:spPr>
          <a:xfrm>
            <a:off x="6172200" y="1691640"/>
            <a:ext cx="5440680" cy="4572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245352" y="1691640"/>
            <a:ext cx="5294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64" name="from slide 6"/>
          <p:cNvSpPr/>
          <p:nvPr/>
        </p:nvSpPr>
        <p:spPr>
          <a:xfrm>
            <a:off x="6245352" y="1764792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245352" y="176479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6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7132320" y="169164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there always a free check?</a:t>
            </a:r>
            <a:endParaRPr lang="en-US" sz="1400" dirty="0"/>
          </a:p>
        </p:txBody>
      </p:sp>
      <p:sp>
        <p:nvSpPr>
          <p:cNvPr id="67" name="page checks"/>
          <p:cNvSpPr/>
          <p:nvPr/>
        </p:nvSpPr>
        <p:spPr>
          <a:xfrm>
            <a:off x="11073384" y="1755648"/>
            <a:ext cx="438912" cy="329184"/>
          </a:xfrm>
          <a:prstGeom prst="roundRect">
            <a:avLst>
              <a:gd name="adj" fmla="val 22222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1073384" y="175564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17</a:t>
            </a:r>
            <a:endParaRPr lang="en-US" sz="1400" dirty="0"/>
          </a:p>
        </p:txBody>
      </p:sp>
      <p:sp>
        <p:nvSpPr>
          <p:cNvPr id="69" name="box "/>
          <p:cNvSpPr/>
          <p:nvPr/>
        </p:nvSpPr>
        <p:spPr>
          <a:xfrm>
            <a:off x="6172200" y="2203704"/>
            <a:ext cx="5440680" cy="4572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245352" y="2203704"/>
            <a:ext cx="5294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71" name="from slide 7"/>
          <p:cNvSpPr/>
          <p:nvPr/>
        </p:nvSpPr>
        <p:spPr>
          <a:xfrm>
            <a:off x="6245352" y="2276856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245352" y="2276856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7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132320" y="2203704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Who writes the fact?</a:t>
            </a:r>
            <a:endParaRPr lang="en-US" sz="1400" dirty="0"/>
          </a:p>
        </p:txBody>
      </p:sp>
      <p:sp>
        <p:nvSpPr>
          <p:cNvPr id="74" name="page auto"/>
          <p:cNvSpPr/>
          <p:nvPr/>
        </p:nvSpPr>
        <p:spPr>
          <a:xfrm>
            <a:off x="11073384" y="2267712"/>
            <a:ext cx="438912" cy="329184"/>
          </a:xfrm>
          <a:prstGeom prst="roundRect">
            <a:avLst>
              <a:gd name="adj" fmla="val 22222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11073384" y="2267712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18</a:t>
            </a:r>
            <a:endParaRPr lang="en-US" sz="1400" dirty="0"/>
          </a:p>
        </p:txBody>
      </p:sp>
      <p:sp>
        <p:nvSpPr>
          <p:cNvPr id="76" name="box "/>
          <p:cNvSpPr/>
          <p:nvPr/>
        </p:nvSpPr>
        <p:spPr>
          <a:xfrm>
            <a:off x="6172200" y="2715768"/>
            <a:ext cx="5440680" cy="4572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6245352" y="2715768"/>
            <a:ext cx="5294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78" name="from slide 7"/>
          <p:cNvSpPr/>
          <p:nvPr/>
        </p:nvSpPr>
        <p:spPr>
          <a:xfrm>
            <a:off x="6245352" y="278892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6245352" y="27889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7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132320" y="271576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'think on the hardest' a weak baseline?</a:t>
            </a:r>
            <a:endParaRPr lang="en-US" sz="1400" dirty="0"/>
          </a:p>
        </p:txBody>
      </p:sp>
      <p:sp>
        <p:nvSpPr>
          <p:cNvPr id="81" name="page hard"/>
          <p:cNvSpPr/>
          <p:nvPr/>
        </p:nvSpPr>
        <p:spPr>
          <a:xfrm>
            <a:off x="11073384" y="2779776"/>
            <a:ext cx="438912" cy="329184"/>
          </a:xfrm>
          <a:prstGeom prst="roundRect">
            <a:avLst>
              <a:gd name="adj" fmla="val 22222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11073384" y="2779776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19</a:t>
            </a:r>
            <a:endParaRPr lang="en-US" sz="1400" dirty="0"/>
          </a:p>
        </p:txBody>
      </p:sp>
      <p:sp>
        <p:nvSpPr>
          <p:cNvPr id="83" name="box "/>
          <p:cNvSpPr/>
          <p:nvPr/>
        </p:nvSpPr>
        <p:spPr>
          <a:xfrm>
            <a:off x="6172200" y="3227832"/>
            <a:ext cx="5440680" cy="4572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245352" y="3227832"/>
            <a:ext cx="5294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85" name="from slide 7"/>
          <p:cNvSpPr/>
          <p:nvPr/>
        </p:nvSpPr>
        <p:spPr>
          <a:xfrm>
            <a:off x="6245352" y="3300984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6245352" y="330098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7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132320" y="322783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if the same problem repeats?</a:t>
            </a:r>
            <a:endParaRPr lang="en-US" sz="1400" dirty="0"/>
          </a:p>
        </p:txBody>
      </p:sp>
      <p:sp>
        <p:nvSpPr>
          <p:cNvPr id="88" name="page reuse"/>
          <p:cNvSpPr/>
          <p:nvPr/>
        </p:nvSpPr>
        <p:spPr>
          <a:xfrm>
            <a:off x="11073384" y="3291840"/>
            <a:ext cx="438912" cy="329184"/>
          </a:xfrm>
          <a:prstGeom prst="roundRect">
            <a:avLst>
              <a:gd name="adj" fmla="val 22222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11073384" y="3291840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29</a:t>
            </a:r>
            <a:endParaRPr lang="en-US" sz="1400" dirty="0"/>
          </a:p>
        </p:txBody>
      </p:sp>
      <p:sp>
        <p:nvSpPr>
          <p:cNvPr id="90" name="box "/>
          <p:cNvSpPr/>
          <p:nvPr/>
        </p:nvSpPr>
        <p:spPr>
          <a:xfrm>
            <a:off x="6172200" y="3739896"/>
            <a:ext cx="5440680" cy="4572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6245352" y="3739896"/>
            <a:ext cx="5294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92" name="from slide 8"/>
          <p:cNvSpPr/>
          <p:nvPr/>
        </p:nvSpPr>
        <p:spPr>
          <a:xfrm>
            <a:off x="6245352" y="3813048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6245352" y="3813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8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132320" y="373989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is new vs PAL and cascades?</a:t>
            </a:r>
            <a:endParaRPr lang="en-US" sz="1400" dirty="0"/>
          </a:p>
        </p:txBody>
      </p:sp>
      <p:sp>
        <p:nvSpPr>
          <p:cNvPr id="95" name="page published"/>
          <p:cNvSpPr/>
          <p:nvPr/>
        </p:nvSpPr>
        <p:spPr>
          <a:xfrm>
            <a:off x="10067544" y="3803904"/>
            <a:ext cx="438912" cy="329184"/>
          </a:xfrm>
          <a:prstGeom prst="roundRect">
            <a:avLst>
              <a:gd name="adj" fmla="val 22222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10067544" y="3803904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20</a:t>
            </a:r>
            <a:endParaRPr lang="en-US" sz="1400" dirty="0"/>
          </a:p>
        </p:txBody>
      </p:sp>
      <p:sp>
        <p:nvSpPr>
          <p:cNvPr id="97" name="page related"/>
          <p:cNvSpPr/>
          <p:nvPr/>
        </p:nvSpPr>
        <p:spPr>
          <a:xfrm>
            <a:off x="10570464" y="3803904"/>
            <a:ext cx="438912" cy="329184"/>
          </a:xfrm>
          <a:prstGeom prst="roundRect">
            <a:avLst>
              <a:gd name="adj" fmla="val 22222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10570464" y="3803904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21</a:t>
            </a:r>
            <a:endParaRPr lang="en-US" sz="1400" dirty="0"/>
          </a:p>
        </p:txBody>
      </p:sp>
      <p:sp>
        <p:nvSpPr>
          <p:cNvPr id="99" name="page reported"/>
          <p:cNvSpPr/>
          <p:nvPr/>
        </p:nvSpPr>
        <p:spPr>
          <a:xfrm>
            <a:off x="11073384" y="3803904"/>
            <a:ext cx="438912" cy="329184"/>
          </a:xfrm>
          <a:prstGeom prst="roundRect">
            <a:avLst>
              <a:gd name="adj" fmla="val 22222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11073384" y="3803904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22</a:t>
            </a:r>
            <a:endParaRPr lang="en-US" sz="1400" dirty="0"/>
          </a:p>
        </p:txBody>
      </p:sp>
      <p:sp>
        <p:nvSpPr>
          <p:cNvPr id="101" name="box "/>
          <p:cNvSpPr/>
          <p:nvPr/>
        </p:nvSpPr>
        <p:spPr>
          <a:xfrm>
            <a:off x="6172200" y="4251960"/>
            <a:ext cx="5440680" cy="4572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6245352" y="4251960"/>
            <a:ext cx="5294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03" name="from slide 8"/>
          <p:cNvSpPr/>
          <p:nvPr/>
        </p:nvSpPr>
        <p:spPr>
          <a:xfrm>
            <a:off x="6245352" y="4325112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6245352" y="432511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8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7132320" y="425196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Why not majority voting?</a:t>
            </a:r>
            <a:endParaRPr lang="en-US" sz="1400" dirty="0"/>
          </a:p>
        </p:txBody>
      </p:sp>
      <p:sp>
        <p:nvSpPr>
          <p:cNvPr id="106" name="page vote"/>
          <p:cNvSpPr/>
          <p:nvPr/>
        </p:nvSpPr>
        <p:spPr>
          <a:xfrm>
            <a:off x="11073384" y="4315968"/>
            <a:ext cx="438912" cy="329184"/>
          </a:xfrm>
          <a:prstGeom prst="roundRect">
            <a:avLst>
              <a:gd name="adj" fmla="val 22222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1073384" y="43159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23</a:t>
            </a:r>
            <a:endParaRPr lang="en-US" sz="1400" dirty="0"/>
          </a:p>
        </p:txBody>
      </p:sp>
      <p:sp>
        <p:nvSpPr>
          <p:cNvPr id="108" name="box "/>
          <p:cNvSpPr/>
          <p:nvPr/>
        </p:nvSpPr>
        <p:spPr>
          <a:xfrm>
            <a:off x="6172200" y="4764024"/>
            <a:ext cx="5440680" cy="4572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6245352" y="4764024"/>
            <a:ext cx="5294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10" name="from slide 8"/>
          <p:cNvSpPr/>
          <p:nvPr/>
        </p:nvSpPr>
        <p:spPr>
          <a:xfrm>
            <a:off x="6245352" y="4837176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6245352" y="4837176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8</a:t>
            </a:r>
            <a:endParaRPr lang="en-US" sz="1400" dirty="0"/>
          </a:p>
        </p:txBody>
      </p:sp>
      <p:sp>
        <p:nvSpPr>
          <p:cNvPr id="112" name="Text 110"/>
          <p:cNvSpPr txBox="1"/>
          <p:nvPr/>
        </p:nvSpPr>
        <p:spPr>
          <a:xfrm>
            <a:off x="7132320" y="47640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the comparison fair?</a:t>
            </a:r>
            <a:endParaRPr lang="en-US" sz="1400" dirty="0"/>
          </a:p>
        </p:txBody>
      </p:sp>
      <p:sp>
        <p:nvSpPr>
          <p:cNvPr id="113" name="page fair"/>
          <p:cNvSpPr/>
          <p:nvPr/>
        </p:nvSpPr>
        <p:spPr>
          <a:xfrm>
            <a:off x="10570464" y="4828032"/>
            <a:ext cx="438912" cy="329184"/>
          </a:xfrm>
          <a:prstGeom prst="roundRect">
            <a:avLst>
              <a:gd name="adj" fmla="val 22222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0570464" y="4828032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24</a:t>
            </a:r>
            <a:endParaRPr lang="en-US" sz="1400" dirty="0"/>
          </a:p>
        </p:txBody>
      </p:sp>
      <p:sp>
        <p:nvSpPr>
          <p:cNvPr id="115" name="page setup"/>
          <p:cNvSpPr/>
          <p:nvPr/>
        </p:nvSpPr>
        <p:spPr>
          <a:xfrm>
            <a:off x="11073384" y="4828032"/>
            <a:ext cx="438912" cy="329184"/>
          </a:xfrm>
          <a:prstGeom prst="roundRect">
            <a:avLst>
              <a:gd name="adj" fmla="val 22222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1073384" y="4828032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30</a:t>
            </a:r>
            <a:endParaRPr lang="en-US" sz="1400" dirty="0"/>
          </a:p>
        </p:txBody>
      </p:sp>
      <p:sp>
        <p:nvSpPr>
          <p:cNvPr id="117" name="box "/>
          <p:cNvSpPr/>
          <p:nvPr/>
        </p:nvSpPr>
        <p:spPr>
          <a:xfrm>
            <a:off x="6172200" y="5276088"/>
            <a:ext cx="5440680" cy="4572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6245352" y="5276088"/>
            <a:ext cx="5294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19" name="from slide 8"/>
          <p:cNvSpPr/>
          <p:nvPr/>
        </p:nvSpPr>
        <p:spPr>
          <a:xfrm>
            <a:off x="6245352" y="534924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45352" y="534924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8</a:t>
            </a:r>
            <a:endParaRPr lang="en-US" sz="1400" dirty="0"/>
          </a:p>
        </p:txBody>
      </p:sp>
      <p:sp>
        <p:nvSpPr>
          <p:cNvPr id="121" name="Text 119"/>
          <p:cNvSpPr txBox="1"/>
          <p:nvPr/>
        </p:nvSpPr>
        <p:spPr>
          <a:xfrm>
            <a:off x="7132320" y="527608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Does it hold for smaller models?</a:t>
            </a:r>
            <a:endParaRPr lang="en-US" sz="1400" dirty="0"/>
          </a:p>
        </p:txBody>
      </p:sp>
      <p:sp>
        <p:nvSpPr>
          <p:cNvPr id="122" name="page small"/>
          <p:cNvSpPr/>
          <p:nvPr/>
        </p:nvSpPr>
        <p:spPr>
          <a:xfrm>
            <a:off x="11073384" y="5340096"/>
            <a:ext cx="438912" cy="329184"/>
          </a:xfrm>
          <a:prstGeom prst="roundRect">
            <a:avLst>
              <a:gd name="adj" fmla="val 22222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11073384" y="5340096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25</a:t>
            </a:r>
            <a:endParaRPr lang="en-US" sz="1400" dirty="0"/>
          </a:p>
        </p:txBody>
      </p:sp>
      <p:sp>
        <p:nvSpPr>
          <p:cNvPr id="124" name="Text 122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Also: 26 all policies, cost vs accuracy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how hard, by contest ranks and exams</a:t>
            </a:r>
            <a:endParaRPr lang="en-US" sz="3600" dirty="0"/>
          </a:p>
        </p:txBody>
      </p:sp>
      <p:sp>
        <p:nvSpPr>
          <p:cNvPr id="3" name="kind Geometry"/>
          <p:cNvSpPr/>
          <p:nvPr/>
        </p:nvSpPr>
        <p:spPr>
          <a:xfrm>
            <a:off x="54864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shapes" descr="/NAS/SJ/POSTECH/nlp/figs/icons/sha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298448"/>
            <a:ext cx="438912" cy="4389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Geometry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How many corners does the rubber band around 10 points have?</a:t>
            </a:r>
            <a:endParaRPr lang="en-US" sz="1300" dirty="0"/>
          </a:p>
        </p:txBody>
      </p:sp>
      <p:sp>
        <p:nvSpPr>
          <p:cNvPr id="7" name="tag Geometry"/>
          <p:cNvSpPr/>
          <p:nvPr/>
        </p:nvSpPr>
        <p:spPr>
          <a:xfrm>
            <a:off x="64008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472C4"/>
                </a:solidFill>
              </a:rPr>
              <a:t>textbook algorithms, exact on every copy</a:t>
            </a:r>
            <a:endParaRPr lang="en-US" sz="1250" dirty="0"/>
          </a:p>
        </p:txBody>
      </p:sp>
      <p:sp>
        <p:nvSpPr>
          <p:cNvPr id="9" name="kind Contest problems"/>
          <p:cNvSpPr/>
          <p:nvPr/>
        </p:nvSpPr>
        <p:spPr>
          <a:xfrm>
            <a:off x="278892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0" name="icon trophy" descr="/NAS/SJ/POSTECH/nlp/figs/icons/troph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29844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2900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Contest problems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92608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311 Codeforces geometry problems, hidden tests</a:t>
            </a:r>
            <a:endParaRPr lang="en-US" sz="1300" dirty="0"/>
          </a:p>
        </p:txBody>
      </p:sp>
      <p:sp>
        <p:nvSpPr>
          <p:cNvPr id="13" name="tag Contest problems"/>
          <p:cNvSpPr/>
          <p:nvPr/>
        </p:nvSpPr>
        <p:spPr>
          <a:xfrm>
            <a:off x="288036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92608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00000"/>
                </a:solidFill>
              </a:rPr>
              <a:t>Codeforces Master to Grandmaster level</a:t>
            </a:r>
            <a:endParaRPr lang="en-US" sz="1250" dirty="0"/>
          </a:p>
        </p:txBody>
      </p:sp>
      <p:sp>
        <p:nvSpPr>
          <p:cNvPr id="15" name="kind Routing, scheduling"/>
          <p:cNvSpPr/>
          <p:nvPr/>
        </p:nvSpPr>
        <p:spPr>
          <a:xfrm>
            <a:off x="502920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icon truck" descr="/NAS/SJ/POSTECH/nlp/figs/icons/tru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1298448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66928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Routing, scheduling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16636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routes for 100 customers with time windows</a:t>
            </a:r>
            <a:endParaRPr lang="en-US" sz="1300" dirty="0"/>
          </a:p>
        </p:txBody>
      </p:sp>
      <p:sp>
        <p:nvSpPr>
          <p:cNvPr id="19" name="tag Routing, scheduling"/>
          <p:cNvSpPr/>
          <p:nvPr/>
        </p:nvSpPr>
        <p:spPr>
          <a:xfrm>
            <a:off x="512064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16636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D7D31"/>
                </a:solidFill>
              </a:rPr>
              <a:t>classic OR benchmark: a greedy plan is 48% worse</a:t>
            </a:r>
            <a:endParaRPr lang="en-US" sz="1250" dirty="0"/>
          </a:p>
        </p:txBody>
      </p:sp>
      <p:sp>
        <p:nvSpPr>
          <p:cNvPr id="21" name="kind Word problems"/>
          <p:cNvSpPr/>
          <p:nvPr/>
        </p:nvSpPr>
        <p:spPr>
          <a:xfrm>
            <a:off x="726948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2" name="icon calc" descr="/NAS/SJ/POSTECH/nlp/figs/icons/cal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1298448"/>
            <a:ext cx="438912" cy="43891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90956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Word problems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740664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most coins from 500 gold and 300 wires?</a:t>
            </a:r>
            <a:endParaRPr lang="en-US" sz="1300" dirty="0"/>
          </a:p>
        </p:txBody>
      </p:sp>
      <p:sp>
        <p:nvSpPr>
          <p:cNvPr id="25" name="tag Word problems"/>
          <p:cNvSpPr/>
          <p:nvPr/>
        </p:nvSpPr>
        <p:spPr>
          <a:xfrm>
            <a:off x="736092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38761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40664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761D"/>
                </a:solidFill>
              </a:rPr>
              <a:t>OR-course exercises (NL4OPT, NeurIPS 2022)</a:t>
            </a:r>
            <a:endParaRPr lang="en-US" sz="1250" dirty="0"/>
          </a:p>
        </p:txBody>
      </p:sp>
      <p:sp>
        <p:nvSpPr>
          <p:cNvPr id="27" name="kind Math and proofs"/>
          <p:cNvSpPr/>
          <p:nvPr/>
        </p:nvSpPr>
        <p:spPr>
          <a:xfrm>
            <a:off x="950976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8" name="icon sqrt" descr="/NAS/SJ/POSTECH/nlp/figs/icons/sq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1298448"/>
            <a:ext cx="438912" cy="43891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14984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Math and proofs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964692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AIME answers; Lean proofs of olympiad statements</a:t>
            </a:r>
            <a:endParaRPr lang="en-US" sz="1300" dirty="0"/>
          </a:p>
        </p:txBody>
      </p:sp>
      <p:sp>
        <p:nvSpPr>
          <p:cNvPr id="31" name="tag Math and proofs"/>
          <p:cNvSpPr/>
          <p:nvPr/>
        </p:nvSpPr>
        <p:spPr>
          <a:xfrm>
            <a:off x="960120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4692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</a:rPr>
              <a:t>AIME: top ~5% of AMC; IMO gold: 25.9/30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3474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Our 311 contest problems by Codeforces rating, with the human rank at that level</a:t>
            </a:r>
            <a:endParaRPr lang="en-US" sz="1500" dirty="0"/>
          </a:p>
        </p:txBody>
      </p:sp>
      <p:sp>
        <p:nvSpPr>
          <p:cNvPr id="34" name="zone Newbie"/>
          <p:cNvSpPr/>
          <p:nvPr/>
        </p:nvSpPr>
        <p:spPr>
          <a:xfrm>
            <a:off x="914400" y="4983480"/>
            <a:ext cx="1489166" cy="347472"/>
          </a:xfrm>
          <a:prstGeom prst="rect">
            <a:avLst/>
          </a:prstGeom>
          <a:solidFill>
            <a:srgbClr val="E2F0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914400" y="4983480"/>
            <a:ext cx="14891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Newbie</a:t>
            </a:r>
            <a:endParaRPr lang="en-US" sz="1300" dirty="0"/>
          </a:p>
        </p:txBody>
      </p:sp>
      <p:sp>
        <p:nvSpPr>
          <p:cNvPr id="36" name="zone Pupil, Specialist"/>
          <p:cNvSpPr/>
          <p:nvPr/>
        </p:nvSpPr>
        <p:spPr>
          <a:xfrm>
            <a:off x="2403566" y="4983480"/>
            <a:ext cx="1489166" cy="347472"/>
          </a:xfrm>
          <a:prstGeom prst="rect">
            <a:avLst/>
          </a:prstGeom>
          <a:solidFill>
            <a:srgbClr val="FFF2C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2403566" y="4983480"/>
            <a:ext cx="14891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Pupil, Specialist</a:t>
            </a:r>
            <a:endParaRPr lang="en-US" sz="1300" dirty="0"/>
          </a:p>
        </p:txBody>
      </p:sp>
      <p:sp>
        <p:nvSpPr>
          <p:cNvPr id="38" name="zone Expert, Cand. Master"/>
          <p:cNvSpPr/>
          <p:nvPr/>
        </p:nvSpPr>
        <p:spPr>
          <a:xfrm>
            <a:off x="3892731" y="4983480"/>
            <a:ext cx="1861457" cy="347472"/>
          </a:xfrm>
          <a:prstGeom prst="rect">
            <a:avLst/>
          </a:prstGeom>
          <a:solidFill>
            <a:srgbClr val="FCE4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3892731" y="4983480"/>
            <a:ext cx="18614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Expert, Cand. Master</a:t>
            </a:r>
            <a:endParaRPr lang="en-US" sz="1300" dirty="0"/>
          </a:p>
        </p:txBody>
      </p:sp>
      <p:sp>
        <p:nvSpPr>
          <p:cNvPr id="40" name="zone Master, Int. Master"/>
          <p:cNvSpPr/>
          <p:nvPr/>
        </p:nvSpPr>
        <p:spPr>
          <a:xfrm>
            <a:off x="5754189" y="4983480"/>
            <a:ext cx="1116874" cy="347472"/>
          </a:xfrm>
          <a:prstGeom prst="rect">
            <a:avLst/>
          </a:prstGeom>
          <a:solidFill>
            <a:srgbClr val="F8CB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5754189" y="4983480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Master, Int. Master</a:t>
            </a:r>
            <a:endParaRPr lang="en-US" sz="1300" dirty="0"/>
          </a:p>
        </p:txBody>
      </p:sp>
      <p:sp>
        <p:nvSpPr>
          <p:cNvPr id="42" name="zone Grandmaster and above"/>
          <p:cNvSpPr/>
          <p:nvPr/>
        </p:nvSpPr>
        <p:spPr>
          <a:xfrm>
            <a:off x="6871063" y="4983480"/>
            <a:ext cx="4467497" cy="347472"/>
          </a:xfrm>
          <a:prstGeom prst="rect">
            <a:avLst/>
          </a:prstGeom>
          <a:solidFill>
            <a:srgbClr val="FADBD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6871063" y="4983480"/>
            <a:ext cx="44674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Grandmaster and above</a:t>
            </a:r>
            <a:endParaRPr lang="en-US" sz="1300" dirty="0"/>
          </a:p>
        </p:txBody>
      </p:sp>
      <p:sp>
        <p:nvSpPr>
          <p:cNvPr id="44" name="rating 800"/>
          <p:cNvSpPr/>
          <p:nvPr/>
        </p:nvSpPr>
        <p:spPr>
          <a:xfrm>
            <a:off x="987552" y="4688183"/>
            <a:ext cx="1342862" cy="249577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987552" y="4413863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29</a:t>
            </a:r>
            <a:endParaRPr lang="en-US" sz="1300" dirty="0"/>
          </a:p>
        </p:txBody>
      </p:sp>
      <p:sp>
        <p:nvSpPr>
          <p:cNvPr id="46" name="Text 39"/>
          <p:cNvSpPr txBox="1"/>
          <p:nvPr/>
        </p:nvSpPr>
        <p:spPr>
          <a:xfrm>
            <a:off x="640080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800</a:t>
            </a:r>
            <a:endParaRPr lang="en-US" sz="1100" dirty="0"/>
          </a:p>
        </p:txBody>
      </p:sp>
      <p:sp>
        <p:nvSpPr>
          <p:cNvPr id="47" name="rating 1200"/>
          <p:cNvSpPr/>
          <p:nvPr/>
        </p:nvSpPr>
        <p:spPr>
          <a:xfrm>
            <a:off x="2476718" y="4731213"/>
            <a:ext cx="1342862" cy="206547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2476718" y="4456893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24</a:t>
            </a:r>
            <a:endParaRPr lang="en-US" sz="1300" dirty="0"/>
          </a:p>
        </p:txBody>
      </p:sp>
      <p:sp>
        <p:nvSpPr>
          <p:cNvPr id="49" name="Text 42"/>
          <p:cNvSpPr txBox="1"/>
          <p:nvPr/>
        </p:nvSpPr>
        <p:spPr>
          <a:xfrm>
            <a:off x="2129246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1200</a:t>
            </a:r>
            <a:endParaRPr lang="en-US" sz="1100" dirty="0"/>
          </a:p>
        </p:txBody>
      </p:sp>
      <p:sp>
        <p:nvSpPr>
          <p:cNvPr id="50" name="rating 1600"/>
          <p:cNvSpPr/>
          <p:nvPr/>
        </p:nvSpPr>
        <p:spPr>
          <a:xfrm>
            <a:off x="3965883" y="4429999"/>
            <a:ext cx="1342862" cy="507761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3965883" y="4155679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59</a:t>
            </a:r>
            <a:endParaRPr lang="en-US" sz="1300" dirty="0"/>
          </a:p>
        </p:txBody>
      </p:sp>
      <p:sp>
        <p:nvSpPr>
          <p:cNvPr id="52" name="Text 45"/>
          <p:cNvSpPr txBox="1"/>
          <p:nvPr/>
        </p:nvSpPr>
        <p:spPr>
          <a:xfrm>
            <a:off x="3618411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1600</a:t>
            </a:r>
            <a:endParaRPr lang="en-US" sz="1100" dirty="0"/>
          </a:p>
        </p:txBody>
      </p:sp>
      <p:sp>
        <p:nvSpPr>
          <p:cNvPr id="53" name="rating 2000"/>
          <p:cNvSpPr/>
          <p:nvPr/>
        </p:nvSpPr>
        <p:spPr>
          <a:xfrm>
            <a:off x="5455049" y="4481636"/>
            <a:ext cx="1342862" cy="456124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5455049" y="4207316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53</a:t>
            </a:r>
            <a:endParaRPr lang="en-US" sz="1300" dirty="0"/>
          </a:p>
        </p:txBody>
      </p:sp>
      <p:sp>
        <p:nvSpPr>
          <p:cNvPr id="55" name="Text 48"/>
          <p:cNvSpPr txBox="1"/>
          <p:nvPr/>
        </p:nvSpPr>
        <p:spPr>
          <a:xfrm>
            <a:off x="5107577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2000</a:t>
            </a:r>
            <a:endParaRPr lang="en-US" sz="1100" dirty="0"/>
          </a:p>
        </p:txBody>
      </p:sp>
      <p:sp>
        <p:nvSpPr>
          <p:cNvPr id="56" name="rating 2400"/>
          <p:cNvSpPr/>
          <p:nvPr/>
        </p:nvSpPr>
        <p:spPr>
          <a:xfrm>
            <a:off x="6944215" y="4206240"/>
            <a:ext cx="1342862" cy="731520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Text 50"/>
          <p:cNvSpPr txBox="1"/>
          <p:nvPr/>
        </p:nvSpPr>
        <p:spPr>
          <a:xfrm>
            <a:off x="6944215" y="3931920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85</a:t>
            </a:r>
            <a:endParaRPr lang="en-US" sz="1300" dirty="0"/>
          </a:p>
        </p:txBody>
      </p:sp>
      <p:sp>
        <p:nvSpPr>
          <p:cNvPr id="58" name="Text 51"/>
          <p:cNvSpPr txBox="1"/>
          <p:nvPr/>
        </p:nvSpPr>
        <p:spPr>
          <a:xfrm>
            <a:off x="6596743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2400</a:t>
            </a:r>
            <a:endParaRPr lang="en-US" sz="1100" dirty="0"/>
          </a:p>
        </p:txBody>
      </p:sp>
      <p:sp>
        <p:nvSpPr>
          <p:cNvPr id="59" name="rating 2800"/>
          <p:cNvSpPr/>
          <p:nvPr/>
        </p:nvSpPr>
        <p:spPr>
          <a:xfrm>
            <a:off x="8433381" y="4593515"/>
            <a:ext cx="1342862" cy="344245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8433381" y="4319195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40</a:t>
            </a:r>
            <a:endParaRPr lang="en-US" sz="1300" dirty="0"/>
          </a:p>
        </p:txBody>
      </p:sp>
      <p:sp>
        <p:nvSpPr>
          <p:cNvPr id="61" name="Text 54"/>
          <p:cNvSpPr txBox="1"/>
          <p:nvPr/>
        </p:nvSpPr>
        <p:spPr>
          <a:xfrm>
            <a:off x="8085909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2800</a:t>
            </a:r>
            <a:endParaRPr lang="en-US" sz="1100" dirty="0"/>
          </a:p>
        </p:txBody>
      </p:sp>
      <p:sp>
        <p:nvSpPr>
          <p:cNvPr id="62" name="rating 3200"/>
          <p:cNvSpPr/>
          <p:nvPr/>
        </p:nvSpPr>
        <p:spPr>
          <a:xfrm>
            <a:off x="9922546" y="4791456"/>
            <a:ext cx="1342862" cy="146304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9922546" y="4517136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17</a:t>
            </a:r>
            <a:endParaRPr lang="en-US" sz="1300" dirty="0"/>
          </a:p>
        </p:txBody>
      </p:sp>
      <p:sp>
        <p:nvSpPr>
          <p:cNvPr id="64" name="Text 57"/>
          <p:cNvSpPr txBox="1"/>
          <p:nvPr/>
        </p:nvSpPr>
        <p:spPr>
          <a:xfrm>
            <a:off x="9575074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3200</a:t>
            </a:r>
            <a:endParaRPr lang="en-US" sz="1100" dirty="0"/>
          </a:p>
        </p:txBody>
      </p:sp>
      <p:sp>
        <p:nvSpPr>
          <p:cNvPr id="65" name="Text 58"/>
          <p:cNvSpPr txBox="1"/>
          <p:nvPr/>
        </p:nvSpPr>
        <p:spPr>
          <a:xfrm>
            <a:off x="11064240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3600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Median 2200 = Master; 46% at Grandmaster level, where even gpt-oss-120b solves only 48%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is a program always better than words?</a:t>
            </a:r>
            <a:endParaRPr lang="en-US" sz="3600" dirty="0"/>
          </a:p>
        </p:txBody>
      </p:sp>
      <p:sp>
        <p:nvSpPr>
          <p:cNvPr id="3" name="words vs program Computing an answer"/>
          <p:cNvSpPr/>
          <p:nvPr/>
        </p:nvSpPr>
        <p:spPr>
          <a:xfrm>
            <a:off x="54864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Computing an answer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twice the area of one shape, 8 copies (Qwen3-8B)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060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 words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240280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0000"/>
                </a:solidFill>
              </a:rPr>
              <a:t>1 of 8 right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832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program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33832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8 of 8 right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4348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→ write a program</a:t>
            </a:r>
            <a:endParaRPr lang="en-US" sz="1700" dirty="0"/>
          </a:p>
        </p:txBody>
      </p:sp>
      <p:sp>
        <p:nvSpPr>
          <p:cNvPr id="11" name="words vs program Short-answer contest math"/>
          <p:cNvSpPr/>
          <p:nvPr/>
        </p:nvSpPr>
        <p:spPr>
          <a:xfrm>
            <a:off x="429768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1371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Short-answer contest math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MATH-500 (Qwen3.6)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26060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 words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98.3%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33832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program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989320" y="33832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F7F7F"/>
                </a:solidFill>
              </a:rPr>
              <a:t>86.8%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44348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→ words are fine</a:t>
            </a:r>
            <a:endParaRPr lang="en-US" sz="1700" dirty="0"/>
          </a:p>
        </p:txBody>
      </p:sp>
      <p:sp>
        <p:nvSpPr>
          <p:cNvPr id="19" name="words vs program A second opinion"/>
          <p:cNvSpPr/>
          <p:nvPr/>
        </p:nvSpPr>
        <p:spPr>
          <a:xfrm>
            <a:off x="804672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1371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A second opinion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two answers agree: how often both are wrong (gpt-oss-20b)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26060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two in words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738360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F7F7F"/>
                </a:solidFill>
              </a:rPr>
              <a:t>1.5%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8275320" y="33832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words + program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9738360" y="33832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0.3%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4348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→ the program as a check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Write a program when the answer must be computed; elsewhere, use it as a second opinion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two versions catch each other's mistakes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Extra tools can mislead the model. Write the program with and without them, and compare:</a:t>
            </a:r>
            <a:endParaRPr lang="en-US" sz="1800" dirty="0"/>
          </a:p>
        </p:txBody>
      </p:sp>
      <p:pic>
        <p:nvPicPr>
          <p:cNvPr id="4" name="ten points and their hull" descr="10 points; the rubber band touches 6 of th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83080"/>
            <a:ext cx="1874520" cy="1874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36576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0AD47"/>
                </a:solidFill>
              </a:rPr>
              <a:t>rubber band around 10 points: 6 corners</a:t>
            </a:r>
            <a:endParaRPr lang="en-US" sz="1200" dirty="0"/>
          </a:p>
        </p:txBody>
      </p:sp>
      <p:sp>
        <p:nvSpPr>
          <p:cNvPr id="6" name="prompt Prompt A: only the task"/>
          <p:cNvSpPr/>
          <p:nvPr/>
        </p:nvSpPr>
        <p:spPr>
          <a:xfrm>
            <a:off x="3246120" y="1783080"/>
            <a:ext cx="3749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55848" y="1837944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A: only the task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Points: (20,-40) (-26,-18) ...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many corners does the rubber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 have? Write a Python program.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995160" y="2240280"/>
            <a:ext cx="4114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9" name="answer 6 ✓"/>
          <p:cNvSpPr/>
          <p:nvPr/>
        </p:nvSpPr>
        <p:spPr>
          <a:xfrm>
            <a:off x="7452360" y="196596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1965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6 ✓</a:t>
            </a:r>
            <a:endParaRPr lang="en-US" sz="2200" dirty="0"/>
          </a:p>
        </p:txBody>
      </p:sp>
      <p:sp>
        <p:nvSpPr>
          <p:cNvPr id="11" name="prompt Prompt B: the task + 8 helpers"/>
          <p:cNvSpPr/>
          <p:nvPr/>
        </p:nvSpPr>
        <p:spPr>
          <a:xfrm>
            <a:off x="3246120" y="2834640"/>
            <a:ext cx="3749040" cy="1261872"/>
          </a:xfrm>
          <a:prstGeom prst="rect">
            <a:avLst/>
          </a:prstGeom>
          <a:solidFill>
            <a:srgbClr val="FCE4D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55848" y="2889504"/>
            <a:ext cx="352958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B: the task + 8 helpers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...same task...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may use these helpers: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orient(a, b, c)    # side of a line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polar_sort(pts, o) # sort by angle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and 6 more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995160" y="3401568"/>
            <a:ext cx="4114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answer 0 ✗"/>
          <p:cNvSpPr/>
          <p:nvPr/>
        </p:nvSpPr>
        <p:spPr>
          <a:xfrm>
            <a:off x="7452360" y="3127248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452360" y="31272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0 ✗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0" y="3703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used polar_sort: wrong method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052560" y="2240280"/>
            <a:ext cx="411480" cy="41148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 flipV="1">
            <a:off x="9052560" y="3017520"/>
            <a:ext cx="411480" cy="384048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9" name="box answers differ → thi"/>
          <p:cNvSpPr/>
          <p:nvPr/>
        </p:nvSpPr>
        <p:spPr>
          <a:xfrm>
            <a:off x="9464040" y="2240280"/>
            <a:ext cx="2148840" cy="1188720"/>
          </a:xfrm>
          <a:prstGeom prst="roundRect">
            <a:avLst>
              <a:gd name="adj" fmla="val 4615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537192" y="2240280"/>
            <a:ext cx="20025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answers differ → think it through → 6 ✓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206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Over 108 geometry problems (Qwen3-32B, 3 runs): how often the answer is right, and tokens per problem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720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Prompt B (+ helpers)</a:t>
            </a:r>
            <a:endParaRPr lang="en-US" sz="1600" dirty="0"/>
          </a:p>
        </p:txBody>
      </p:sp>
      <p:sp>
        <p:nvSpPr>
          <p:cNvPr id="23" name="bar Always Prompt B (+ helpers)"/>
          <p:cNvSpPr/>
          <p:nvPr/>
        </p:nvSpPr>
        <p:spPr>
          <a:xfrm>
            <a:off x="4434840" y="4626864"/>
            <a:ext cx="3183026" cy="18288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09306" y="45720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59% · 0.6k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49377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Prompt A (task only)</a:t>
            </a:r>
            <a:endParaRPr lang="en-US" sz="1600" dirty="0"/>
          </a:p>
        </p:txBody>
      </p:sp>
      <p:sp>
        <p:nvSpPr>
          <p:cNvPr id="26" name="bar Always Prompt A (task only)"/>
          <p:cNvSpPr/>
          <p:nvPr/>
        </p:nvSpPr>
        <p:spPr>
          <a:xfrm>
            <a:off x="4434840" y="4992624"/>
            <a:ext cx="4154119" cy="18288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680399" y="49377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77% · 0.4k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30352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think long</a:t>
            </a:r>
            <a:endParaRPr lang="en-US" sz="1600" dirty="0"/>
          </a:p>
        </p:txBody>
      </p:sp>
      <p:sp>
        <p:nvSpPr>
          <p:cNvPr id="29" name="bar Always think long"/>
          <p:cNvSpPr/>
          <p:nvPr/>
        </p:nvSpPr>
        <p:spPr>
          <a:xfrm>
            <a:off x="4434840" y="5358384"/>
            <a:ext cx="5287061" cy="18288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813341" y="53035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98% · 5.9k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56692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Both prompts, think only if they differ</a:t>
            </a:r>
            <a:endParaRPr lang="en-US" sz="1600" dirty="0"/>
          </a:p>
        </p:txBody>
      </p:sp>
      <p:sp>
        <p:nvSpPr>
          <p:cNvPr id="32" name="bar Both prompts, think only if they differ"/>
          <p:cNvSpPr/>
          <p:nvPr/>
        </p:nvSpPr>
        <p:spPr>
          <a:xfrm>
            <a:off x="4434840" y="5724144"/>
            <a:ext cx="5341010" cy="18288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867290" y="56692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99% · 4.3k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what exactly is the fact? Isn't it the answer?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The fact for the routing problems of Finding 1: how to call OR-Tools (excerpt of the 11-line snippet)</a:t>
            </a:r>
            <a:endParaRPr lang="en-US" sz="1700" dirty="0"/>
          </a:p>
        </p:txBody>
      </p:sp>
      <p:sp>
        <p:nvSpPr>
          <p:cNvPr id="4" name="the fact, excerpt"/>
          <p:cNvSpPr/>
          <p:nvPr/>
        </p:nvSpPr>
        <p:spPr>
          <a:xfrm>
            <a:off x="548640" y="1783080"/>
            <a:ext cx="6675120" cy="3611880"/>
          </a:xfrm>
          <a:prstGeom prst="rect">
            <a:avLst/>
          </a:prstGeom>
          <a:solidFill>
            <a:srgbClr val="F7F7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64008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mgr = pywrapcp.RoutingIndexManager(n + 1, K, 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pywrapcp.RoutingModel(mgr)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 = r.RegisterTransitCallback(cost)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r.SetArcCostEvaluatorOfAllVehicles(cb)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dcb = r.RegisterUnaryTransitCallback(demand)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r.AddDimensionWithVehicleCapacity(dcb, 0, [Q] * K,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True, "Load")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p.first_solution_strategy = ...PATH_CHEAPEST_ARC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 = r.SolveWithParameters(p)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 (11 lines in all)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1783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761D"/>
                </a:solidFill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818120" y="17830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how to call the library: names and arguments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22860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761D"/>
                </a:solidFill>
              </a:rPr>
              <a:t>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22860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same text for all 30 problems of this kind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27889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✗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818120" y="278892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 route, no numbers, no answer</a:t>
            </a:r>
            <a:endParaRPr lang="en-US" sz="1500" dirty="0"/>
          </a:p>
        </p:txBody>
      </p:sp>
      <p:sp>
        <p:nvSpPr>
          <p:cNvPr id="12" name="why the sheet hurts"/>
          <p:cNvSpPr/>
          <p:nvPr/>
        </p:nvSpPr>
        <p:spPr>
          <a:xfrm>
            <a:off x="7498080" y="34290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3520440"/>
            <a:ext cx="3749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Why is a long reference sheet worse than nothing (7% vs 23%)?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It shows routing, but not the capacity rule. The model fills the gap with a call that does not exist (10 programs: RegisterUnaryLongLivingCallback).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The fact says how to call the library, not how to solve the problem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can retrieval (RAG) find the fact?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BM25 search over a library of titled snippets, Qwen3-32B, % solved optimally (seed 1)</a:t>
            </a:r>
            <a:endParaRPr lang="en-US" sz="1700" dirty="0"/>
          </a:p>
        </p:txBody>
      </p:sp>
      <p:sp>
        <p:nvSpPr>
          <p:cNvPr id="4" name="rag 6 optimization problems"/>
          <p:cNvSpPr/>
          <p:nvPr/>
        </p:nvSpPr>
        <p:spPr>
          <a:xfrm>
            <a:off x="548640" y="1737360"/>
            <a:ext cx="5440680" cy="3383280"/>
          </a:xfrm>
          <a:prstGeom prst="roundRect">
            <a:avLst>
              <a:gd name="adj" fmla="val 2162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6 optimization problems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fact</a:t>
            </a:r>
            <a:endParaRPr lang="en-US" sz="1600" dirty="0"/>
          </a:p>
        </p:txBody>
      </p:sp>
      <p:sp>
        <p:nvSpPr>
          <p:cNvPr id="7" name="bar no fact"/>
          <p:cNvSpPr/>
          <p:nvPr/>
        </p:nvSpPr>
        <p:spPr>
          <a:xfrm>
            <a:off x="3017520" y="2411273"/>
            <a:ext cx="1378458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7418" y="2331720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67%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62072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hand-written fact</a:t>
            </a:r>
            <a:endParaRPr lang="en-US" sz="1600" dirty="0"/>
          </a:p>
        </p:txBody>
      </p:sp>
      <p:sp>
        <p:nvSpPr>
          <p:cNvPr id="10" name="bar hand-written fact"/>
          <p:cNvSpPr/>
          <p:nvPr/>
        </p:nvSpPr>
        <p:spPr>
          <a:xfrm>
            <a:off x="3017520" y="2941625"/>
            <a:ext cx="1975104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84064" y="2862072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96%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392424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retrieved, top 1</a:t>
            </a:r>
            <a:endParaRPr lang="en-US" sz="1600" dirty="0"/>
          </a:p>
        </p:txBody>
      </p:sp>
      <p:sp>
        <p:nvSpPr>
          <p:cNvPr id="13" name="bar retrieved, top 1"/>
          <p:cNvSpPr/>
          <p:nvPr/>
        </p:nvSpPr>
        <p:spPr>
          <a:xfrm>
            <a:off x="3017520" y="3471977"/>
            <a:ext cx="1995678" cy="265176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04638" y="3392424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97%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922776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retrieved, top 3</a:t>
            </a:r>
            <a:endParaRPr lang="en-US" sz="1600" dirty="0"/>
          </a:p>
        </p:txBody>
      </p:sp>
      <p:sp>
        <p:nvSpPr>
          <p:cNvPr id="16" name="bar retrieved, top 3"/>
          <p:cNvSpPr/>
          <p:nvPr/>
        </p:nvSpPr>
        <p:spPr>
          <a:xfrm>
            <a:off x="3017520" y="4002329"/>
            <a:ext cx="1913382" cy="265176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2342" y="3922776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93%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453128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untitled pages, top 3</a:t>
            </a:r>
            <a:endParaRPr lang="en-US" sz="1600" dirty="0"/>
          </a:p>
        </p:txBody>
      </p:sp>
      <p:sp>
        <p:nvSpPr>
          <p:cNvPr id="19" name="bar untitled pages, top 3"/>
          <p:cNvSpPr/>
          <p:nvPr/>
        </p:nvSpPr>
        <p:spPr>
          <a:xfrm>
            <a:off x="3017520" y="4532681"/>
            <a:ext cx="1851660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60620" y="4453128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90%</a:t>
            </a:r>
            <a:endParaRPr lang="en-US" sz="1800" dirty="0"/>
          </a:p>
        </p:txBody>
      </p:sp>
      <p:sp>
        <p:nvSpPr>
          <p:cNvPr id="21" name="rag Routing (30 CVRP problems)"/>
          <p:cNvSpPr/>
          <p:nvPr/>
        </p:nvSpPr>
        <p:spPr>
          <a:xfrm>
            <a:off x="6172200" y="1737360"/>
            <a:ext cx="5440680" cy="3383280"/>
          </a:xfrm>
          <a:prstGeom prst="roundRect">
            <a:avLst>
              <a:gd name="adj" fmla="val 2162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182880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Routing (30 CVRP problems)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2331720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fact</a:t>
            </a:r>
            <a:endParaRPr lang="en-US" sz="1600" dirty="0"/>
          </a:p>
        </p:txBody>
      </p:sp>
      <p:sp>
        <p:nvSpPr>
          <p:cNvPr id="24" name="bar no fact"/>
          <p:cNvSpPr/>
          <p:nvPr/>
        </p:nvSpPr>
        <p:spPr>
          <a:xfrm>
            <a:off x="8641080" y="2411273"/>
            <a:ext cx="473202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05722" y="2331720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23%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0" y="2862072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hand-written fact</a:t>
            </a:r>
            <a:endParaRPr lang="en-US" sz="1600" dirty="0"/>
          </a:p>
        </p:txBody>
      </p:sp>
      <p:sp>
        <p:nvSpPr>
          <p:cNvPr id="27" name="bar hand-written fact"/>
          <p:cNvSpPr/>
          <p:nvPr/>
        </p:nvSpPr>
        <p:spPr>
          <a:xfrm>
            <a:off x="8641080" y="2941625"/>
            <a:ext cx="1707642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440162" y="2862072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83%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0" y="3392424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retrieved, top 1</a:t>
            </a:r>
            <a:endParaRPr lang="en-US" sz="1600" dirty="0"/>
          </a:p>
        </p:txBody>
      </p:sp>
      <p:sp>
        <p:nvSpPr>
          <p:cNvPr id="30" name="bar retrieved, top 1"/>
          <p:cNvSpPr/>
          <p:nvPr/>
        </p:nvSpPr>
        <p:spPr>
          <a:xfrm>
            <a:off x="8641080" y="3471977"/>
            <a:ext cx="1440180" cy="265176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72700" y="3392424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70%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0" y="3922776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top 3 (+ a near miss)</a:t>
            </a:r>
            <a:endParaRPr lang="en-US" sz="1600" dirty="0"/>
          </a:p>
        </p:txBody>
      </p:sp>
      <p:sp>
        <p:nvSpPr>
          <p:cNvPr id="33" name="bar top 3 (+ a near miss)"/>
          <p:cNvSpPr/>
          <p:nvPr/>
        </p:nvSpPr>
        <p:spPr>
          <a:xfrm>
            <a:off x="8641080" y="4002329"/>
            <a:ext cx="1172718" cy="265176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905238" y="3922776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57%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0" y="4453128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untitled pages, top 3</a:t>
            </a:r>
            <a:endParaRPr lang="en-US" sz="1600" dirty="0"/>
          </a:p>
        </p:txBody>
      </p:sp>
      <p:sp>
        <p:nvSpPr>
          <p:cNvPr id="36" name="bar untitled pages, top 3"/>
          <p:cNvSpPr/>
          <p:nvPr/>
        </p:nvSpPr>
        <p:spPr>
          <a:xfrm>
            <a:off x="8641080" y="4532681"/>
            <a:ext cx="1090422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822942" y="4453128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53%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166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near miss: top 3 also brings the TSP routing page. No documentation at all? The model's own checked program is the fact (page 18).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Precise retrieval works like a hand-written fact; a near-miss page can cost 26 points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why can thinking make it worse?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Qwen3-32B writes OR-Tools programs for optimization word problems (NL4OPT + IndustryOR)</a:t>
            </a:r>
            <a:endParaRPr lang="en-US" sz="1700" dirty="0"/>
          </a:p>
        </p:txBody>
      </p:sp>
      <p:sp>
        <p:nvSpPr>
          <p:cNvPr id="4" name="box thinking, no fact"/>
          <p:cNvSpPr/>
          <p:nvPr/>
        </p:nvSpPr>
        <p:spPr>
          <a:xfrm>
            <a:off x="548640" y="178308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FCE4D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78308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thinking, no fact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017520" y="205740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7" name="code Objective().SetMaxim"/>
          <p:cNvSpPr/>
          <p:nvPr/>
        </p:nvSpPr>
        <p:spPr>
          <a:xfrm>
            <a:off x="3337560" y="178308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7288" y="178308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Objective().SetMaximize()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001000" y="17830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✗ invented method: crash</a:t>
            </a:r>
            <a:endParaRPr lang="en-US" sz="1700" dirty="0"/>
          </a:p>
        </p:txBody>
      </p:sp>
      <p:sp>
        <p:nvSpPr>
          <p:cNvPr id="10" name="box exact usage first"/>
          <p:cNvSpPr/>
          <p:nvPr/>
        </p:nvSpPr>
        <p:spPr>
          <a:xfrm>
            <a:off x="548640" y="251460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51460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exact usage first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017520" y="278892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3" name="code solver.Maximize(...)"/>
          <p:cNvSpPr/>
          <p:nvPr/>
        </p:nvSpPr>
        <p:spPr>
          <a:xfrm>
            <a:off x="3337560" y="251460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47288" y="251460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solver.Maximize(...)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0" y="2514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✓ the real call: runs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291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% solved: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657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fact, no thinking</a:t>
            </a:r>
            <a:endParaRPr lang="en-US" sz="1600" dirty="0"/>
          </a:p>
        </p:txBody>
      </p:sp>
      <p:sp>
        <p:nvSpPr>
          <p:cNvPr id="18" name="bar no fact, no thinking"/>
          <p:cNvSpPr/>
          <p:nvPr/>
        </p:nvSpPr>
        <p:spPr>
          <a:xfrm>
            <a:off x="3794760" y="3726180"/>
            <a:ext cx="3528304" cy="22860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14504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65.4%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114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fact, thinking</a:t>
            </a:r>
            <a:endParaRPr lang="en-US" sz="1600" dirty="0"/>
          </a:p>
        </p:txBody>
      </p:sp>
      <p:sp>
        <p:nvSpPr>
          <p:cNvPr id="21" name="bar no fact, thinking"/>
          <p:cNvSpPr/>
          <p:nvPr/>
        </p:nvSpPr>
        <p:spPr>
          <a:xfrm>
            <a:off x="3794760" y="4183380"/>
            <a:ext cx="2805379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91579" y="4114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52.0%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572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fact, always thinking</a:t>
            </a:r>
            <a:endParaRPr lang="en-US" sz="1600" dirty="0"/>
          </a:p>
        </p:txBody>
      </p:sp>
      <p:sp>
        <p:nvSpPr>
          <p:cNvPr id="24" name="bar fact, always thinking"/>
          <p:cNvSpPr/>
          <p:nvPr/>
        </p:nvSpPr>
        <p:spPr>
          <a:xfrm>
            <a:off x="3794760" y="4640580"/>
            <a:ext cx="3884371" cy="22860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0571" y="4572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72.0% · 5.5k tokens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 first, think on failure</a:t>
            </a:r>
            <a:endParaRPr lang="en-US" sz="1600" dirty="0"/>
          </a:p>
        </p:txBody>
      </p:sp>
      <p:sp>
        <p:nvSpPr>
          <p:cNvPr id="27" name="bar fact first, think on failure"/>
          <p:cNvSpPr/>
          <p:nvPr/>
        </p:nvSpPr>
        <p:spPr>
          <a:xfrm>
            <a:off x="3794760" y="5097780"/>
            <a:ext cx="3905951" cy="22860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92151" y="5029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72.4% · 1.3k tokens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Thinking cannot add a fact the model lacks; given the fact first, thinking helps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what if a wrong program passes the check?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It happens, but a perfect check would buy little: thinking rarely fixes those problems</a:t>
            </a:r>
            <a:endParaRPr lang="en-US" sz="1700" dirty="0"/>
          </a:p>
        </p:txBody>
      </p:sp>
      <p:sp>
        <p:nvSpPr>
          <p:cNvPr id="4" name="leak 24–37%"/>
          <p:cNvSpPr/>
          <p:nvPr/>
        </p:nvSpPr>
        <p:spPr>
          <a:xfrm>
            <a:off x="548640" y="178308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00000"/>
                </a:solidFill>
              </a:rPr>
              <a:t>24–37%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06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gpt-oss-120b's wrong contest programs pass the problem's examples</a:t>
            </a:r>
            <a:endParaRPr lang="en-US" sz="1500" dirty="0"/>
          </a:p>
        </p:txBody>
      </p:sp>
      <p:sp>
        <p:nvSpPr>
          <p:cNvPr id="7" name="leak 12–16%"/>
          <p:cNvSpPr/>
          <p:nvPr/>
        </p:nvSpPr>
        <p:spPr>
          <a:xfrm>
            <a:off x="4297680" y="178308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8745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00000"/>
                </a:solidFill>
              </a:rPr>
              <a:t>12–16%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606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word problems: both programs agree and both are wrong (14B+ models)</a:t>
            </a:r>
            <a:endParaRPr lang="en-US" sz="1500" dirty="0"/>
          </a:p>
        </p:txBody>
      </p:sp>
      <p:sp>
        <p:nvSpPr>
          <p:cNvPr id="10" name="example Find Color"/>
          <p:cNvSpPr/>
          <p:nvPr/>
        </p:nvSpPr>
        <p:spPr>
          <a:xfrm>
            <a:off x="8046720" y="178308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5320" y="19202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Example: "Find Color" (contest)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passes all 3 examples → submitted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✗ fails hidden test 11</a:t>
            </a:r>
            <a:endParaRPr lang="en-US" sz="1500" dirty="0"/>
          </a:p>
        </p:txBody>
      </p:sp>
      <p:sp>
        <p:nvSpPr>
          <p:cNvPr id="12" name="perfect check"/>
          <p:cNvSpPr/>
          <p:nvPr/>
        </p:nvSpPr>
        <p:spPr>
          <a:xfrm>
            <a:off x="548640" y="374904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7947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If the check were perfect (word problems, every seed):</a:t>
            </a:r>
            <a:endParaRPr lang="en-US" sz="1600" dirty="0"/>
          </a:p>
        </p:txBody>
      </p:sp>
      <p:sp>
        <p:nvSpPr>
          <p:cNvPr id="14" name="box the leaked problems "/>
          <p:cNvSpPr/>
          <p:nvPr/>
        </p:nvSpPr>
        <p:spPr>
          <a:xfrm>
            <a:off x="777240" y="429768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392" y="4297680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leaked problems go to thinking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154680" y="4754880"/>
            <a:ext cx="3657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box thinking fixes only "/>
          <p:cNvSpPr/>
          <p:nvPr/>
        </p:nvSpPr>
        <p:spPr>
          <a:xfrm>
            <a:off x="3520440" y="429768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93592" y="4297680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thinking fixes only 7–16% of them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97880" y="4754880"/>
            <a:ext cx="3657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0" name="box +0.8 to +2.6 points "/>
          <p:cNvSpPr/>
          <p:nvPr/>
        </p:nvSpPr>
        <p:spPr>
          <a:xfrm>
            <a:off x="6263640" y="429768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6792" y="4297680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+0.8 to +2.6 points (Qwen3-8B: +5.6)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006840" y="42976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some 'wrong' answers are wrong labels: nl4opt-174 gold 7500, true 5625 (3 of 4 we read)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Next target: programs that run and agree but model the problem wrong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is there always a free check?</a:t>
            </a:r>
            <a:endParaRPr lang="en-US" sz="3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429768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Problem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Free check (no answer key)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How well it works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Contest problems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the examples printed in the problem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never rejects a right program; 24–37% of wrong ones pass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Geometry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move or turn the input: the answer must not change; or two versions must agree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picks the right program 99.7% of the time (majority vote: 95.7%)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Routing, scheduling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code checks every rule of the plan (capacity, time windows)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exact for the rules; whether the plan is the best is not checked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Word problems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two programs must agree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12–16% agree but are both wrong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Competition math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the text answer and the program must agree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when they agree, 0.3% are wrong (gpt-oss-20b)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Proofs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Lean checks every step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 perfect check; writing the proof is the hard part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task here has a free check; how much it catches decides how much thinking it saves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the fact can be found without a human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Example (Qwen3-8B, MAMO): products X, Y, Z cost $10, $15, $20; X+Y ≤ 5000, Y+Z ≤ 4000, X+Z ≥ 2000. Minimum cost? (20000)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 fact</a:t>
            </a:r>
            <a:endParaRPr lang="en-US" sz="1500" dirty="0"/>
          </a:p>
        </p:txBody>
      </p:sp>
      <p:sp>
        <p:nvSpPr>
          <p:cNvPr id="5" name="code solver.Objective().M"/>
          <p:cNvSpPr/>
          <p:nvPr/>
        </p:nvSpPr>
        <p:spPr>
          <a:xfrm>
            <a:off x="548640" y="2011680"/>
            <a:ext cx="4023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2011680"/>
            <a:ext cx="3803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solver.Objective().Minimize()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2011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✗ crash: no such method</a:t>
            </a:r>
            <a:endParaRPr lang="en-US" sz="1400" dirty="0"/>
          </a:p>
        </p:txBody>
      </p:sp>
      <p:sp>
        <p:nvSpPr>
          <p:cNvPr id="8" name="prompt The fact: its own program for another problem (vans and trucks) that passed the free check"/>
          <p:cNvSpPr/>
          <p:nvPr/>
        </p:nvSpPr>
        <p:spPr>
          <a:xfrm>
            <a:off x="548640" y="2651760"/>
            <a:ext cx="6126480" cy="1325880"/>
          </a:xfrm>
          <a:prstGeom prst="rect">
            <a:avLst/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706624"/>
            <a:ext cx="5907024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fact: its own program for another problem (vans and trucks) that passed the free check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 = pywraplp.Solver.CreateSolver('SCIP')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solver.IntVar(0, solver.infinity(), 'v')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solver.Minimize(v)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 = solver.Solve()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148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With the fact (written twice; both agree, so no thinking)</a:t>
            </a:r>
            <a:endParaRPr lang="en-US" sz="1500" dirty="0"/>
          </a:p>
        </p:txBody>
      </p:sp>
      <p:sp>
        <p:nvSpPr>
          <p:cNvPr id="11" name="code solver.Minimize(10*x"/>
          <p:cNvSpPr/>
          <p:nvPr/>
        </p:nvSpPr>
        <p:spPr>
          <a:xfrm>
            <a:off x="548640" y="4434840"/>
            <a:ext cx="4023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434840"/>
            <a:ext cx="3803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0A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solver.Minimize(10*x + 15*y + 20*z)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4434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0AD47"/>
                </a:solidFill>
              </a:rPr>
              <a:t>✓ 20000 · 0.6k tokens (thinking: 5.3k)</a:t>
            </a:r>
            <a:endParaRPr lang="en-US" sz="1300" dirty="0"/>
          </a:p>
        </p:txBody>
      </p:sp>
      <p:graphicFrame>
        <p:nvGraphicFramePr>
          <p:cNvPr id="14" name="automatic fact on held-out MAMO" descr=""/>
          <p:cNvGraphicFramePr/>
          <p:nvPr/>
        </p:nvGraphicFramePr>
        <p:xfrm>
          <a:off x="7040880" y="1691640"/>
          <a:ext cx="45720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7040880" y="50292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</a:rPr>
              <a:t>Does not work: a program of a different problem type (−14 to −21 points); a list of the library's names (66% → 56%)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No human writes the fact: the model's own checked program shows the right call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is 'think on the hardest' a weak baseline?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We gave the router each problem's true Codeforces rating (exploratory; 311 contest problems, gpt-oss-120b, 3 seeds)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Send a problem to high effort when ...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210312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2103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true rating ≥ 2600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4688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61.4%</a:t>
            </a:r>
            <a:endParaRPr lang="en-US" sz="1700" dirty="0"/>
          </a:p>
        </p:txBody>
      </p:sp>
      <p:sp>
        <p:nvSpPr>
          <p:cNvPr id="9" name="tokens true rating ≥ 2600"/>
          <p:cNvSpPr/>
          <p:nvPr/>
        </p:nvSpPr>
        <p:spPr>
          <a:xfrm>
            <a:off x="4480560" y="2569464"/>
            <a:ext cx="1591238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63238" y="24688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19.4k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9992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true rating ≥ 2400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99923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63.3%</a:t>
            </a:r>
            <a:endParaRPr lang="en-US" sz="1700" dirty="0"/>
          </a:p>
        </p:txBody>
      </p:sp>
      <p:sp>
        <p:nvSpPr>
          <p:cNvPr id="13" name="tokens true rating ≥ 2400"/>
          <p:cNvSpPr/>
          <p:nvPr/>
        </p:nvSpPr>
        <p:spPr>
          <a:xfrm>
            <a:off x="4480560" y="3099816"/>
            <a:ext cx="1861913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3913" y="29992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22.7k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52958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true rating ≥ 1800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52958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65.3%</a:t>
            </a:r>
            <a:endParaRPr lang="en-US" sz="1700" dirty="0"/>
          </a:p>
        </p:txBody>
      </p:sp>
      <p:sp>
        <p:nvSpPr>
          <p:cNvPr id="17" name="tokens true rating ≥ 1800"/>
          <p:cNvSpPr/>
          <p:nvPr/>
        </p:nvSpPr>
        <p:spPr>
          <a:xfrm>
            <a:off x="4480560" y="3630168"/>
            <a:ext cx="2280228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2228" y="35295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27.8k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05993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its first answer is long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40599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62.1%</a:t>
            </a:r>
            <a:endParaRPr lang="en-US" sz="1700" dirty="0"/>
          </a:p>
        </p:txBody>
      </p:sp>
      <p:sp>
        <p:nvSpPr>
          <p:cNvPr id="21" name="tokens its first answer is long"/>
          <p:cNvSpPr/>
          <p:nvPr/>
        </p:nvSpPr>
        <p:spPr>
          <a:xfrm>
            <a:off x="4480560" y="4160520"/>
            <a:ext cx="188652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8520" y="40599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23.0k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5902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always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45902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66.2%</a:t>
            </a:r>
            <a:endParaRPr lang="en-US" sz="1700" dirty="0"/>
          </a:p>
        </p:txBody>
      </p:sp>
      <p:sp>
        <p:nvSpPr>
          <p:cNvPr id="25" name="tokens always"/>
          <p:cNvSpPr/>
          <p:nvPr/>
        </p:nvSpPr>
        <p:spPr>
          <a:xfrm>
            <a:off x="4480560" y="4690872"/>
            <a:ext cx="246888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40880" y="45902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30.1k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120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example fails (free check)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566160" y="51206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65.0%</a:t>
            </a:r>
            <a:endParaRPr lang="en-US" sz="1700" dirty="0"/>
          </a:p>
        </p:txBody>
      </p:sp>
      <p:sp>
        <p:nvSpPr>
          <p:cNvPr id="29" name="tokens an example fails (free check)"/>
          <p:cNvSpPr/>
          <p:nvPr/>
        </p:nvSpPr>
        <p:spPr>
          <a:xfrm>
            <a:off x="4480560" y="5221224"/>
            <a:ext cx="1656856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28856" y="5120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20.2k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0" y="178308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74% → 87%</a:t>
            </a:r>
            <a:endParaRPr lang="en-US" sz="3200" dirty="0"/>
          </a:p>
        </p:txBody>
      </p:sp>
      <p:sp>
        <p:nvSpPr>
          <p:cNvPr id="32" name="Text 30"/>
          <p:cNvSpPr txBox="1"/>
          <p:nvPr/>
        </p:nvSpPr>
        <p:spPr>
          <a:xfrm>
            <a:off x="8046720" y="24231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624 problems, 3 models: think on the hardest-looking (Snell et al.) → fact first, think on failure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046720" y="34290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79%</a:t>
            </a:r>
            <a:endParaRPr lang="en-US" sz="3200" dirty="0"/>
          </a:p>
        </p:txBody>
      </p:sp>
      <p:sp>
        <p:nvSpPr>
          <p:cNvPr id="34" name="Text 32"/>
          <p:cNvSpPr txBox="1"/>
          <p:nvPr/>
        </p:nvSpPr>
        <p:spPr>
          <a:xfrm>
            <a:off x="8046720" y="4069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even with the best fix chosen per difficulty level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Even the true difficulty does not say which program is wrong; a free check does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compared with published methods</a:t>
            </a:r>
            <a:endParaRPr lang="en-US" sz="3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566160"/>
                <a:gridCol w="2011680"/>
                <a:gridCol w="3383280"/>
              </a:tblGrid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Published method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Its result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Ours (same problems)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Where to spend thinking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think on the hardest-looking problems (Snell et al. 2025)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74% · 4.1k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fact first, think on failure: 87% · 2.5k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Contest geometry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always high effort (reasoning-model default)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66.2% · 30.1k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think only on a failed check: 66.3% · 24.7k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Pick 1 of 3 programs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CodeT: the model writes tests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96.0% (+340 tokens)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symmetry check: 99.7% (0 tokens)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Library documentation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DRoC: decompose, retrieve per constraint (ICLR 2025)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72% · 2.1k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exact snippet: 77% · 1.7k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Unneeded tools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System 2 Attention / a "use only if needed" sentence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64% / 76%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only the needed tools: 92%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Daily routing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Dynamic Cheatsheet: the model's own notes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31–40%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reuse a checked program: 94%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Word problems (held-out MAMO)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ORLM-8B: a fine-tuned modeling specialist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69.5% · 1.1k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Qwen3-8B, no training: 69.5% · 1.0k; gpt-oss-20b 78.8%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Measured here with the same problems and models: the recipe is more accurate, cheaper, or both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where this work sits in related research</a:t>
            </a:r>
            <a:endParaRPr lang="en-US" sz="3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06240"/>
              </a:tblGrid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Theme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Closest work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What we add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Programs instead of text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PAL, Program-of-Thoughts, Mixture-of-Thought (ICLR 2024)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when a program helps; text vs program as a free check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Library facts for code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DRoC (ICLR 2025), CP-Bench, CloudAPIBench, DRAFT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an exact snippet beats the manual and thinking; facts mined without a human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Misleading context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Invisible Lottery (2606.04057), unneeded tools (2609.14157), CodeCrash, S2A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the harm on exact geometry, turned into a check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Choosing a program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CodeT, MBR-exec, AlphaCode's example filter, DeepConf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symmetry check of one program: 99.7% vs CodeT 96.0%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Spending test-time compute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Snell et al. 2025, FrugalGPT, DART, Thinkless, AdaptThink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fact + execution check, no training: 87% vs 74%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Optimization modeling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ORLM, STORM, EVOM, OR-R1 (trained); OptiMUS, OptiSkill (agents)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training-free, no answers; matches fine-tuned ORLM-8B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One program, many instances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FunSearch, HeuriGym, ARS, 2605.14141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measured 7% → 94%; edit a verified program for new rules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Proofs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Goedel-Prover-V2, DeepSeek-Prover-V2, AlphaGeometry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facts and checks do not carry over: use a specialized prover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numbers reported in papers, next to ours</a:t>
            </a:r>
            <a:endParaRPr lang="en-US" sz="3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4297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Benchmark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Reported in the paper or model card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Ours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MAMO Easy / Complex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ORLM-LLaMA-3-8B 82.3 / 37.4% (fine-tuned)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STORM-Qwen3-4B 86.3 / 70.3% (SFT + RL)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OptiSkill with frontier models 90.8–94.3 / 56.8–64.0%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no training: Qwen3-14B 82.8 / 37.4%, gpt-oss-20b 85.6 / 57.8%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ORLM-8B in our harness: 80.5 / 35.5%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miniF2F, 32 tries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Goedel-Prover-V2-8B 84.6%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the same model in our harness: 76.6%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IMO-AG-30 geometry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AlphaGeometry 25 of 30; its symbolic engine alone 14; average IMO gold medallist 25.9, average participant 15.2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engine alone 12 in our setup; with our models' points 13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Different harnesses and graders: for orientation only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why not majority voting?</a:t>
            </a:r>
            <a:endParaRPr lang="en-US" sz="3600" dirty="0"/>
          </a:p>
        </p:txBody>
      </p:sp>
      <p:sp>
        <p:nvSpPr>
          <p:cNvPr id="3" name="pick one of three"/>
          <p:cNvSpPr/>
          <p:nvPr/>
        </p:nvSpPr>
        <p:spPr>
          <a:xfrm>
            <a:off x="548640" y="1234440"/>
            <a:ext cx="5440680" cy="4251960"/>
          </a:xfrm>
          <a:prstGeom prst="roundRect">
            <a:avLst>
              <a:gd name="adj" fmla="val 172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258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Pick 1 of 3 programs (Qwen3-8B, 300 geometry problems): % picked wrong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majority vote</a:t>
            </a:r>
            <a:endParaRPr lang="en-US" sz="1600" dirty="0"/>
          </a:p>
        </p:txBody>
      </p:sp>
      <p:sp>
        <p:nvSpPr>
          <p:cNvPr id="6" name="bar majority vote"/>
          <p:cNvSpPr/>
          <p:nvPr/>
        </p:nvSpPr>
        <p:spPr>
          <a:xfrm>
            <a:off x="2926080" y="2132838"/>
            <a:ext cx="865022" cy="25146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882542" y="205740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4.3%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6032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CodeT (+340 tokens)</a:t>
            </a:r>
            <a:endParaRPr lang="en-US" sz="1600" dirty="0"/>
          </a:p>
        </p:txBody>
      </p:sp>
      <p:sp>
        <p:nvSpPr>
          <p:cNvPr id="9" name="bar CodeT (+340 tokens)"/>
          <p:cNvSpPr/>
          <p:nvPr/>
        </p:nvSpPr>
        <p:spPr>
          <a:xfrm>
            <a:off x="2926080" y="2635758"/>
            <a:ext cx="804672" cy="25146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22192" y="256032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4.0%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06324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DeepConf</a:t>
            </a:r>
            <a:endParaRPr lang="en-US" sz="1600" dirty="0"/>
          </a:p>
        </p:txBody>
      </p:sp>
      <p:sp>
        <p:nvSpPr>
          <p:cNvPr id="12" name="bar DeepConf"/>
          <p:cNvSpPr/>
          <p:nvPr/>
        </p:nvSpPr>
        <p:spPr>
          <a:xfrm>
            <a:off x="2926080" y="3138678"/>
            <a:ext cx="1066190" cy="25146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083710" y="306324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5.3%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5661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MBR-exec</a:t>
            </a:r>
            <a:endParaRPr lang="en-US" sz="1600" dirty="0"/>
          </a:p>
        </p:txBody>
      </p:sp>
      <p:sp>
        <p:nvSpPr>
          <p:cNvPr id="15" name="bar MBR-exec"/>
          <p:cNvSpPr/>
          <p:nvPr/>
        </p:nvSpPr>
        <p:spPr>
          <a:xfrm>
            <a:off x="2926080" y="3641598"/>
            <a:ext cx="1267358" cy="25146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84878" y="356616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6.3%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06908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symmetry check</a:t>
            </a:r>
            <a:endParaRPr lang="en-US" sz="1600" dirty="0"/>
          </a:p>
        </p:txBody>
      </p:sp>
      <p:sp>
        <p:nvSpPr>
          <p:cNvPr id="18" name="bar symmetry check"/>
          <p:cNvSpPr/>
          <p:nvPr/>
        </p:nvSpPr>
        <p:spPr>
          <a:xfrm>
            <a:off x="2926080" y="4144518"/>
            <a:ext cx="60350" cy="25146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077870" y="40690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0.3%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6634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symmetry check: run the program on a moved copy; a right program gives the same answer (no extra tokens)</a:t>
            </a:r>
            <a:endParaRPr lang="en-US" sz="1400" dirty="0"/>
          </a:p>
        </p:txBody>
      </p:sp>
      <p:sp>
        <p:nvSpPr>
          <p:cNvPr id="21" name="votes vs checks"/>
          <p:cNvSpPr/>
          <p:nvPr/>
        </p:nvSpPr>
        <p:spPr>
          <a:xfrm>
            <a:off x="6172200" y="1234440"/>
            <a:ext cx="5440680" cy="4251960"/>
          </a:xfrm>
          <a:prstGeom prst="roundRect">
            <a:avLst>
              <a:gd name="adj" fmla="val 172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13258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Qwen3-32B, word problems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0" y="16916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0" y="1691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2057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vote of 3 programs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0" y="20574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68.4%</a:t>
            </a:r>
            <a:endParaRPr lang="en-US" sz="1700" dirty="0"/>
          </a:p>
        </p:txBody>
      </p:sp>
      <p:sp>
        <p:nvSpPr>
          <p:cNvPr id="27" name="tokens vote of 3 programs"/>
          <p:cNvSpPr/>
          <p:nvPr/>
        </p:nvSpPr>
        <p:spPr>
          <a:xfrm>
            <a:off x="9601200" y="2157984"/>
            <a:ext cx="70531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763171" y="2057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1.1k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0" y="25877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vote of 3 thinking runs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686800" y="25877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79.4%</a:t>
            </a:r>
            <a:endParaRPr lang="en-US" sz="1700" dirty="0"/>
          </a:p>
        </p:txBody>
      </p:sp>
      <p:sp>
        <p:nvSpPr>
          <p:cNvPr id="31" name="tokens vote of 3 thinking runs"/>
          <p:cNvSpPr/>
          <p:nvPr/>
        </p:nvSpPr>
        <p:spPr>
          <a:xfrm>
            <a:off x="9601200" y="2688336"/>
            <a:ext cx="105156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744200" y="25877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16.4k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0" y="311810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fact first, think on failure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686800" y="31181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72.4%</a:t>
            </a:r>
            <a:endParaRPr lang="en-US" sz="1700" dirty="0"/>
          </a:p>
        </p:txBody>
      </p:sp>
      <p:sp>
        <p:nvSpPr>
          <p:cNvPr id="35" name="tokens fact first, think on failure"/>
          <p:cNvSpPr/>
          <p:nvPr/>
        </p:nvSpPr>
        <p:spPr>
          <a:xfrm>
            <a:off x="9601200" y="3218688"/>
            <a:ext cx="83355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775995" y="31181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1.3k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0" y="365760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Qwen3-32B, competition math (MATH-500)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8686800" y="40233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601200" y="4023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0" y="4389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vote of 3 text answers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8686800" y="4389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89.2%</a:t>
            </a:r>
            <a:endParaRPr lang="en-US" sz="1700" dirty="0"/>
          </a:p>
        </p:txBody>
      </p:sp>
      <p:sp>
        <p:nvSpPr>
          <p:cNvPr id="42" name="tokens vote of 3 text answers"/>
          <p:cNvSpPr/>
          <p:nvPr/>
        </p:nvSpPr>
        <p:spPr>
          <a:xfrm>
            <a:off x="9601200" y="4489704"/>
            <a:ext cx="147475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840115" y="43891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2.3k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400800" y="491947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text = program, else think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0" y="49194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97.2%</a:t>
            </a:r>
            <a:endParaRPr lang="en-US" sz="1700" dirty="0"/>
          </a:p>
        </p:txBody>
      </p:sp>
      <p:sp>
        <p:nvSpPr>
          <p:cNvPr id="46" name="tokens text = program, else think"/>
          <p:cNvSpPr/>
          <p:nvPr/>
        </p:nvSpPr>
        <p:spPr>
          <a:xfrm>
            <a:off x="9601200" y="5020056"/>
            <a:ext cx="218006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910646" y="49194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3.4k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 check picks the right answer, a vote the popular one; 3 thinking runs win only at 12× tokens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is the comparison fair?</a:t>
            </a:r>
            <a:endParaRPr lang="en-US" sz="3600" dirty="0"/>
          </a:p>
        </p:txBody>
      </p:sp>
      <p:sp>
        <p:nvSpPr>
          <p:cNvPr id="3" name="fair Input tokens count too"/>
          <p:cNvSpPr/>
          <p:nvPr/>
        </p:nvSpPr>
        <p:spPr>
          <a:xfrm>
            <a:off x="54864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coins" descr="/NAS/SJ/POSTECH/nlp/figs/icons/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6304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463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Input tokens count too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+213 tokens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9260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input tokens for the exact snippet (701 vs 488); a long reference sheet adds 413, extra tools 912. Input is cheaper and cacheable: no conclusion flips. Running programs uses CPU, which we do not count.</a:t>
            </a:r>
            <a:endParaRPr lang="en-US" sz="1500" dirty="0"/>
          </a:p>
        </p:txBody>
      </p:sp>
      <p:sp>
        <p:nvSpPr>
          <p:cNvPr id="8" name="fair Memorized problems?"/>
          <p:cNvSpPr/>
          <p:nvPr/>
        </p:nvSpPr>
        <p:spPr>
          <a:xfrm>
            <a:off x="429768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9" name="icon trophy" descr="/NAS/SJ/POSTECH/nlp/figs/icons/troph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46304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166360" y="1463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Memorized problems?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452628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81% vs 83%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29260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older vs newer contests at the same difficulty (rating below 2000): no sign of memory, though all are before 2022. MAMO was held out until the end, and every method runs on the same model.</a:t>
            </a:r>
            <a:endParaRPr lang="en-US" sz="1500" dirty="0"/>
          </a:p>
        </p:txBody>
      </p:sp>
      <p:sp>
        <p:nvSpPr>
          <p:cNvPr id="13" name="fair Small differences"/>
          <p:cNvSpPr/>
          <p:nvPr/>
        </p:nvSpPr>
        <p:spPr>
          <a:xfrm>
            <a:off x="804672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4" name="icon check" descr="/NAS/SJ/POSTECH/nlp/figs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146304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915400" y="1463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Small differences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827532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3 seeds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29260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claim pre-registered; when the gap is 1–4 problems we say 'same accuracy, fewer tokens', not 'better' (3 vs 1 problems: p = 0.62).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Same models, problems and grader for every method; every accuracy comes with its cost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one fact helps small models most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Word problems → optimization programs (NL4OPT + IndustryOR, 345 problems, 3 runs): % solved</a:t>
            </a:r>
            <a:endParaRPr lang="en-US" sz="1800" dirty="0"/>
          </a:p>
        </p:txBody>
      </p:sp>
      <p:graphicFrame>
        <p:nvGraphicFramePr>
          <p:cNvPr id="4" name="fact gain by model size" descr=""/>
          <p:cNvGraphicFramePr/>
          <p:nvPr/>
        </p:nvGraphicFramePr>
        <p:xfrm>
          <a:off x="548640" y="1691640"/>
          <a:ext cx="74980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412480" y="1783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+44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46404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Qwen3-1.7B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23500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+31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9464040" y="23500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Qwen3-4B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+17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9464040" y="29169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Qwen3-8B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48386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+8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464040" y="34838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Qwen3-14B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405079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+1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9464040" y="40507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Qwen3-32B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fact gain (points)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With the fact, a model on one 24 GB GPU matches Qwen3-32B (73% vs 72%) at 1/8 of the tokens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all policies, cost vs accuracy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Same 624 geometry and optimization problems, 3 models: % solved · tokens per problem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First program, no help</a:t>
            </a:r>
            <a:endParaRPr lang="en-US" sz="1600" dirty="0"/>
          </a:p>
        </p:txBody>
      </p:sp>
      <p:sp>
        <p:nvSpPr>
          <p:cNvPr id="5" name="bar First program, no help"/>
          <p:cNvSpPr/>
          <p:nvPr/>
        </p:nvSpPr>
        <p:spPr>
          <a:xfrm>
            <a:off x="3337560" y="1868119"/>
            <a:ext cx="1958645" cy="28346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87645" y="1783080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63% · 0.7k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50008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on hardest-looking</a:t>
            </a:r>
            <a:endParaRPr lang="en-US" sz="1600" dirty="0"/>
          </a:p>
        </p:txBody>
      </p:sp>
      <p:sp>
        <p:nvSpPr>
          <p:cNvPr id="8" name="bar Think on hardest-looking"/>
          <p:cNvSpPr/>
          <p:nvPr/>
        </p:nvSpPr>
        <p:spPr>
          <a:xfrm>
            <a:off x="3337560" y="2435047"/>
            <a:ext cx="2300630" cy="283464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729630" y="2350008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74% · 4.1k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916936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when check fails</a:t>
            </a:r>
            <a:endParaRPr lang="en-US" sz="1600" dirty="0"/>
          </a:p>
        </p:txBody>
      </p:sp>
      <p:sp>
        <p:nvSpPr>
          <p:cNvPr id="11" name="bar Think when check fails"/>
          <p:cNvSpPr/>
          <p:nvPr/>
        </p:nvSpPr>
        <p:spPr>
          <a:xfrm>
            <a:off x="3337560" y="3001975"/>
            <a:ext cx="2393899" cy="283464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22899" y="2916936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77% · 4.2k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83864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Fix by failure type</a:t>
            </a:r>
            <a:endParaRPr lang="en-US" sz="1600" dirty="0"/>
          </a:p>
        </p:txBody>
      </p:sp>
      <p:sp>
        <p:nvSpPr>
          <p:cNvPr id="14" name="bar Fix by failure type"/>
          <p:cNvSpPr/>
          <p:nvPr/>
        </p:nvSpPr>
        <p:spPr>
          <a:xfrm>
            <a:off x="3337560" y="3568903"/>
            <a:ext cx="2580437" cy="283464"/>
          </a:xfrm>
          <a:prstGeom prst="rect">
            <a:avLst/>
          </a:prstGeom>
          <a:solidFill>
            <a:srgbClr val="ED7D31"/>
          </a:solidFill>
          <a:ln w="6350">
            <a:solidFill>
              <a:srgbClr val="ED7D3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09437" y="3483864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7D31"/>
                </a:solidFill>
              </a:rPr>
              <a:t>83% · 4.2k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050792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Retrieved fact, then think</a:t>
            </a:r>
            <a:endParaRPr lang="en-US" sz="1600" dirty="0"/>
          </a:p>
        </p:txBody>
      </p:sp>
      <p:sp>
        <p:nvSpPr>
          <p:cNvPr id="17" name="bar Retrieved fact, then think"/>
          <p:cNvSpPr/>
          <p:nvPr/>
        </p:nvSpPr>
        <p:spPr>
          <a:xfrm>
            <a:off x="3337560" y="4135831"/>
            <a:ext cx="2611526" cy="283464"/>
          </a:xfrm>
          <a:prstGeom prst="rect">
            <a:avLst/>
          </a:prstGeom>
          <a:solidFill>
            <a:srgbClr val="5B9BD5"/>
          </a:solidFill>
          <a:ln w="6350">
            <a:solidFill>
              <a:srgbClr val="5B9BD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40526" y="4050792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9BD5"/>
                </a:solidFill>
              </a:rPr>
              <a:t>84% · 3.3k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617720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 first, then think</a:t>
            </a:r>
            <a:endParaRPr lang="en-US" sz="1600" dirty="0"/>
          </a:p>
        </p:txBody>
      </p:sp>
      <p:sp>
        <p:nvSpPr>
          <p:cNvPr id="20" name="bar Fact first, then think"/>
          <p:cNvSpPr/>
          <p:nvPr/>
        </p:nvSpPr>
        <p:spPr>
          <a:xfrm>
            <a:off x="3337560" y="4702759"/>
            <a:ext cx="2704795" cy="28346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33795" y="4617720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87% · 2.5k</a:t>
            </a:r>
            <a:endParaRPr lang="en-US" sz="1800" dirty="0"/>
          </a:p>
        </p:txBody>
      </p:sp>
      <p:sp>
        <p:nvSpPr>
          <p:cNvPr id="22" name="new task"/>
          <p:cNvSpPr/>
          <p:nvPr/>
        </p:nvSpPr>
        <p:spPr>
          <a:xfrm>
            <a:off x="8229600" y="173736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0" y="18288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new task? Label 30 problems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25146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points lost vs the best policy, over 63 settings (lower is better)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always think</a:t>
            </a:r>
            <a:endParaRPr lang="en-US" sz="1400" dirty="0"/>
          </a:p>
        </p:txBody>
      </p:sp>
      <p:sp>
        <p:nvSpPr>
          <p:cNvPr id="26" name="loss always think"/>
          <p:cNvSpPr/>
          <p:nvPr/>
        </p:nvSpPr>
        <p:spPr>
          <a:xfrm>
            <a:off x="8412480" y="3493008"/>
            <a:ext cx="2304288" cy="201168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808208" y="34290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</a:rPr>
              <a:t>8.4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412480" y="3840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 first (default)</a:t>
            </a:r>
            <a:endParaRPr lang="en-US" sz="1400" dirty="0"/>
          </a:p>
        </p:txBody>
      </p:sp>
      <p:sp>
        <p:nvSpPr>
          <p:cNvPr id="29" name="loss fact first (default)"/>
          <p:cNvSpPr/>
          <p:nvPr/>
        </p:nvSpPr>
        <p:spPr>
          <a:xfrm>
            <a:off x="8412480" y="4133088"/>
            <a:ext cx="384048" cy="201168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87968" y="4069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1.4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480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pick on 30 labels</a:t>
            </a:r>
            <a:endParaRPr lang="en-US" sz="1400" dirty="0"/>
          </a:p>
        </p:txBody>
      </p:sp>
      <p:sp>
        <p:nvSpPr>
          <p:cNvPr id="32" name="loss pick on 30 labels"/>
          <p:cNvSpPr/>
          <p:nvPr/>
        </p:nvSpPr>
        <p:spPr>
          <a:xfrm>
            <a:off x="8412480" y="4773168"/>
            <a:ext cx="164592" cy="201168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68512" y="47091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0.6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Most accurate and among the cheapest on all 3 seeds: spend thinking where a check fails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proofs need a specialized model, not a fact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Example (miniF2F): show that if x &lt; 100 and 9x mod 100 = 1, then x = 89</a:t>
            </a:r>
            <a:endParaRPr lang="en-US" sz="1600" dirty="0"/>
          </a:p>
        </p:txBody>
      </p:sp>
      <p:sp>
        <p:nvSpPr>
          <p:cNvPr id="4" name="code theorem (x : ℕ) (h₀ "/>
          <p:cNvSpPr/>
          <p:nvPr/>
        </p:nvSpPr>
        <p:spPr>
          <a:xfrm>
            <a:off x="548640" y="1645920"/>
            <a:ext cx="60350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645920"/>
            <a:ext cx="5815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theorem (x : ℕ) (h₀ : x &lt; 100) (h₁ : x * 9 % 100 = 1) : x = 89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General model (Qwen3-32B)</a:t>
            </a:r>
            <a:endParaRPr lang="en-US" sz="1500" dirty="0"/>
          </a:p>
        </p:txBody>
      </p:sp>
      <p:sp>
        <p:nvSpPr>
          <p:cNvPr id="7" name="code ... Nat.ModEq_iff_mo"/>
          <p:cNvSpPr/>
          <p:nvPr/>
        </p:nvSpPr>
        <p:spPr>
          <a:xfrm>
            <a:off x="548640" y="2560320"/>
            <a:ext cx="32918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56032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Nat.ModEq_iff_modEq ...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97764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✗ no such lemma in the library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1546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Specialized prover (Goedel-Prover-V2-8B)</a:t>
            </a:r>
            <a:endParaRPr lang="en-US" sz="1500" dirty="0"/>
          </a:p>
        </p:txBody>
      </p:sp>
      <p:sp>
        <p:nvSpPr>
          <p:cNvPr id="11" name="code interval_cases x &lt;;&gt;"/>
          <p:cNvSpPr/>
          <p:nvPr/>
        </p:nvSpPr>
        <p:spPr>
          <a:xfrm>
            <a:off x="548640" y="3474720"/>
            <a:ext cx="4754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474720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A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interval_cases x &lt;;&gt; norm_num at h₁ ⊢ &lt;;&gt; omega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AD47"/>
                </a:solidFill>
              </a:rPr>
              <a:t>✓ tries all 100 x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11887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244 statements, 8 tries each: % proved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1645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Qwen3-32B</a:t>
            </a:r>
            <a:endParaRPr lang="en-US" sz="1600" dirty="0"/>
          </a:p>
        </p:txBody>
      </p:sp>
      <p:sp>
        <p:nvSpPr>
          <p:cNvPr id="16" name="bar Qwen3-32B"/>
          <p:cNvSpPr/>
          <p:nvPr/>
        </p:nvSpPr>
        <p:spPr>
          <a:xfrm>
            <a:off x="8915400" y="1714500"/>
            <a:ext cx="249677" cy="228600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56517" y="16459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13%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gpt-oss-20b</a:t>
            </a:r>
            <a:endParaRPr lang="en-US" sz="1600" dirty="0"/>
          </a:p>
        </p:txBody>
      </p:sp>
      <p:sp>
        <p:nvSpPr>
          <p:cNvPr id="19" name="bar gpt-oss-20b"/>
          <p:cNvSpPr/>
          <p:nvPr/>
        </p:nvSpPr>
        <p:spPr>
          <a:xfrm>
            <a:off x="8915400" y="2171700"/>
            <a:ext cx="530809" cy="228600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37649" y="21031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27%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2560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Qwen3.6-35B</a:t>
            </a:r>
            <a:endParaRPr lang="en-US" sz="1600" dirty="0"/>
          </a:p>
        </p:txBody>
      </p:sp>
      <p:sp>
        <p:nvSpPr>
          <p:cNvPr id="22" name="bar Qwen3.6-35B"/>
          <p:cNvSpPr/>
          <p:nvPr/>
        </p:nvSpPr>
        <p:spPr>
          <a:xfrm>
            <a:off x="8915400" y="2628900"/>
            <a:ext cx="1071448" cy="228600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78288" y="25603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55%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3017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DeepSeek-Prover-7B</a:t>
            </a:r>
            <a:endParaRPr lang="en-US" sz="1600" dirty="0"/>
          </a:p>
        </p:txBody>
      </p:sp>
      <p:sp>
        <p:nvSpPr>
          <p:cNvPr id="25" name="bar DeepSeek-Prover-7B"/>
          <p:cNvSpPr/>
          <p:nvPr/>
        </p:nvSpPr>
        <p:spPr>
          <a:xfrm>
            <a:off x="8915400" y="3086100"/>
            <a:ext cx="1328989" cy="228600"/>
          </a:xfrm>
          <a:prstGeom prst="rect">
            <a:avLst/>
          </a:prstGeom>
          <a:solidFill>
            <a:srgbClr val="5B9BD5"/>
          </a:solidFill>
          <a:ln w="6350">
            <a:solidFill>
              <a:srgbClr val="5B9BD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335829" y="30175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9BD5"/>
                </a:solidFill>
              </a:rPr>
              <a:t>68%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Goedel-Prover-8B</a:t>
            </a:r>
            <a:endParaRPr lang="en-US" sz="1600" dirty="0"/>
          </a:p>
        </p:txBody>
      </p:sp>
      <p:sp>
        <p:nvSpPr>
          <p:cNvPr id="28" name="bar Goedel-Prover-8B"/>
          <p:cNvSpPr/>
          <p:nvPr/>
        </p:nvSpPr>
        <p:spPr>
          <a:xfrm>
            <a:off x="8915400" y="3543300"/>
            <a:ext cx="1450878" cy="22860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457718" y="34747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74%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206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 general models no step helps: a similar verified proof 133 → 133 · thinking 133 → 129 · an inequality fact sheet 24 → 21; fixing a proof from Lean's errors works half as well as a fresh try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892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Geometry proofs (AlphaGeometry's solver + LLM-proposed points): IMO 12 → 13 of 30 (only 2014 P4: "take the midpoint of BC"); easier JGEX 187 → 200 of 231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The missing piece is a skill, not a fact: use a specialized 8B prover (fits one 24 GB GPU)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where the recipe stops, and what is next</a:t>
            </a:r>
            <a:endParaRPr lang="en-US" sz="3600" dirty="0"/>
          </a:p>
        </p:txBody>
      </p:sp>
      <p:sp>
        <p:nvSpPr>
          <p:cNvPr id="3" name="Where it stops"/>
          <p:cNvSpPr/>
          <p:nvPr/>
        </p:nvSpPr>
        <p:spPr>
          <a:xfrm>
            <a:off x="548640" y="1417320"/>
            <a:ext cx="5440680" cy="3749040"/>
          </a:xfrm>
          <a:prstGeom prst="roundRect">
            <a:avLst>
              <a:gd name="adj" fmla="val 19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0000"/>
                </a:solidFill>
              </a:rPr>
              <a:t>Where it stops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48920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Proofs: a skill, not a fact (use a specialized prover)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Automatic facts only within one kind of problem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Checks leak: 24–37% of wrong contest programs pass the examples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Missing world knowledge: thinking adds 2–5 points at 70–200× tokens</a:t>
            </a:r>
            <a:endParaRPr lang="en-US" sz="1700" dirty="0"/>
          </a:p>
        </p:txBody>
      </p:sp>
      <p:sp>
        <p:nvSpPr>
          <p:cNvPr id="6" name="Next"/>
          <p:cNvSpPr/>
          <p:nvPr/>
        </p:nvSpPr>
        <p:spPr>
          <a:xfrm>
            <a:off x="6172200" y="1417320"/>
            <a:ext cx="5440680" cy="3749040"/>
          </a:xfrm>
          <a:prstGeom prst="roundRect">
            <a:avLst>
              <a:gd name="adj" fmla="val 19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5544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Next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94560"/>
            <a:ext cx="48920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Finish the held-out MAMO test (more models, 3 seeds)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Errors no check catches: a perfect check adds only 1–3 points on word problems; the rest run but model the problem wrong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Automatic facts for each problem type; final report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claim pre-registered and checked on 3 seeds; accuracy always reported with its token cost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repeated problems need one checked program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delivery company plans routes every day: the same kind of problem, new customers each day (gpt-oss-120b)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A: ask for a new program every day</a:t>
            </a:r>
            <a:endParaRPr lang="en-US" sz="1700" dirty="0"/>
          </a:p>
        </p:txBody>
      </p:sp>
      <p:sp>
        <p:nvSpPr>
          <p:cNvPr id="5" name="A: ask for a new program every day day 0"/>
          <p:cNvSpPr/>
          <p:nvPr/>
        </p:nvSpPr>
        <p:spPr>
          <a:xfrm>
            <a:off x="3749040" y="196596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" name="A: ask for a new program every day day 1"/>
          <p:cNvSpPr/>
          <p:nvPr/>
        </p:nvSpPr>
        <p:spPr>
          <a:xfrm>
            <a:off x="4050792" y="196596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" name="A: ask for a new program every day day 2"/>
          <p:cNvSpPr/>
          <p:nvPr/>
        </p:nvSpPr>
        <p:spPr>
          <a:xfrm>
            <a:off x="4352544" y="196596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" name="A: ask for a new program every day day 3"/>
          <p:cNvSpPr/>
          <p:nvPr/>
        </p:nvSpPr>
        <p:spPr>
          <a:xfrm>
            <a:off x="4654296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9" name="A: ask for a new program every day day 4"/>
          <p:cNvSpPr/>
          <p:nvPr/>
        </p:nvSpPr>
        <p:spPr>
          <a:xfrm>
            <a:off x="4956048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" name="A: ask for a new program every day day 5"/>
          <p:cNvSpPr/>
          <p:nvPr/>
        </p:nvSpPr>
        <p:spPr>
          <a:xfrm>
            <a:off x="5257800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1" name="A: ask for a new program every day day 6"/>
          <p:cNvSpPr/>
          <p:nvPr/>
        </p:nvSpPr>
        <p:spPr>
          <a:xfrm>
            <a:off x="5559552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2" name="A: ask for a new program every day day 7"/>
          <p:cNvSpPr/>
          <p:nvPr/>
        </p:nvSpPr>
        <p:spPr>
          <a:xfrm>
            <a:off x="5861304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3" name="A: ask for a new program every day day 8"/>
          <p:cNvSpPr/>
          <p:nvPr/>
        </p:nvSpPr>
        <p:spPr>
          <a:xfrm>
            <a:off x="6163056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4" name="A: ask for a new program every day day 9"/>
          <p:cNvSpPr/>
          <p:nvPr/>
        </p:nvSpPr>
        <p:spPr>
          <a:xfrm>
            <a:off x="6464808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5" name="A: ask for a new program every day day 10"/>
          <p:cNvSpPr/>
          <p:nvPr/>
        </p:nvSpPr>
        <p:spPr>
          <a:xfrm>
            <a:off x="6766560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6" name="A: ask for a new program every day day 11"/>
          <p:cNvSpPr/>
          <p:nvPr/>
        </p:nvSpPr>
        <p:spPr>
          <a:xfrm>
            <a:off x="7068312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7" name="A: ask for a new program every day day 12"/>
          <p:cNvSpPr/>
          <p:nvPr/>
        </p:nvSpPr>
        <p:spPr>
          <a:xfrm>
            <a:off x="7370064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8" name="A: ask for a new program every day day 13"/>
          <p:cNvSpPr/>
          <p:nvPr/>
        </p:nvSpPr>
        <p:spPr>
          <a:xfrm>
            <a:off x="7671816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9" name="A: ask for a new program every day day 14"/>
          <p:cNvSpPr/>
          <p:nvPr/>
        </p:nvSpPr>
        <p:spPr>
          <a:xfrm>
            <a:off x="7973568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0" name="A: ask for a new program every day day 15"/>
          <p:cNvSpPr/>
          <p:nvPr/>
        </p:nvSpPr>
        <p:spPr>
          <a:xfrm>
            <a:off x="8275320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1" name="A: ask for a new program every day day 16"/>
          <p:cNvSpPr/>
          <p:nvPr/>
        </p:nvSpPr>
        <p:spPr>
          <a:xfrm>
            <a:off x="374904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2" name="A: ask for a new program every day day 17"/>
          <p:cNvSpPr/>
          <p:nvPr/>
        </p:nvSpPr>
        <p:spPr>
          <a:xfrm>
            <a:off x="4050792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3" name="A: ask for a new program every day day 18"/>
          <p:cNvSpPr/>
          <p:nvPr/>
        </p:nvSpPr>
        <p:spPr>
          <a:xfrm>
            <a:off x="4352544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4" name="A: ask for a new program every day day 19"/>
          <p:cNvSpPr/>
          <p:nvPr/>
        </p:nvSpPr>
        <p:spPr>
          <a:xfrm>
            <a:off x="4654296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5" name="A: ask for a new program every day day 20"/>
          <p:cNvSpPr/>
          <p:nvPr/>
        </p:nvSpPr>
        <p:spPr>
          <a:xfrm>
            <a:off x="4956048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6" name="A: ask for a new program every day day 21"/>
          <p:cNvSpPr/>
          <p:nvPr/>
        </p:nvSpPr>
        <p:spPr>
          <a:xfrm>
            <a:off x="525780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7" name="A: ask for a new program every day day 22"/>
          <p:cNvSpPr/>
          <p:nvPr/>
        </p:nvSpPr>
        <p:spPr>
          <a:xfrm>
            <a:off x="5559552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8" name="A: ask for a new program every day day 23"/>
          <p:cNvSpPr/>
          <p:nvPr/>
        </p:nvSpPr>
        <p:spPr>
          <a:xfrm>
            <a:off x="5861304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9" name="A: ask for a new program every day day 24"/>
          <p:cNvSpPr/>
          <p:nvPr/>
        </p:nvSpPr>
        <p:spPr>
          <a:xfrm>
            <a:off x="6163056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0" name="A: ask for a new program every day day 25"/>
          <p:cNvSpPr/>
          <p:nvPr/>
        </p:nvSpPr>
        <p:spPr>
          <a:xfrm>
            <a:off x="6464808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1" name="A: ask for a new program every day day 26"/>
          <p:cNvSpPr/>
          <p:nvPr/>
        </p:nvSpPr>
        <p:spPr>
          <a:xfrm>
            <a:off x="676656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2" name="A: ask for a new program every day day 27"/>
          <p:cNvSpPr/>
          <p:nvPr/>
        </p:nvSpPr>
        <p:spPr>
          <a:xfrm>
            <a:off x="7068312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3" name="A: ask for a new program every day day 28"/>
          <p:cNvSpPr/>
          <p:nvPr/>
        </p:nvSpPr>
        <p:spPr>
          <a:xfrm>
            <a:off x="7370064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4" name="A: ask for a new program every day day 29"/>
          <p:cNvSpPr/>
          <p:nvPr/>
        </p:nvSpPr>
        <p:spPr>
          <a:xfrm>
            <a:off x="7671816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5" name="A: ask for a new program every day day 30"/>
          <p:cNvSpPr/>
          <p:nvPr/>
        </p:nvSpPr>
        <p:spPr>
          <a:xfrm>
            <a:off x="7973568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6" name="A: ask for a new program every day day 31"/>
          <p:cNvSpPr/>
          <p:nvPr/>
        </p:nvSpPr>
        <p:spPr>
          <a:xfrm>
            <a:off x="827532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7" name="A: ask for a new program every day day 32"/>
          <p:cNvSpPr/>
          <p:nvPr/>
        </p:nvSpPr>
        <p:spPr>
          <a:xfrm>
            <a:off x="374904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8" name="A: ask for a new program every day day 33"/>
          <p:cNvSpPr/>
          <p:nvPr/>
        </p:nvSpPr>
        <p:spPr>
          <a:xfrm>
            <a:off x="4050792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9" name="A: ask for a new program every day day 34"/>
          <p:cNvSpPr/>
          <p:nvPr/>
        </p:nvSpPr>
        <p:spPr>
          <a:xfrm>
            <a:off x="4352544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0" name="A: ask for a new program every day day 35"/>
          <p:cNvSpPr/>
          <p:nvPr/>
        </p:nvSpPr>
        <p:spPr>
          <a:xfrm>
            <a:off x="4654296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1" name="A: ask for a new program every day day 36"/>
          <p:cNvSpPr/>
          <p:nvPr/>
        </p:nvSpPr>
        <p:spPr>
          <a:xfrm>
            <a:off x="4956048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2" name="A: ask for a new program every day day 37"/>
          <p:cNvSpPr/>
          <p:nvPr/>
        </p:nvSpPr>
        <p:spPr>
          <a:xfrm>
            <a:off x="525780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3" name="A: ask for a new program every day day 38"/>
          <p:cNvSpPr/>
          <p:nvPr/>
        </p:nvSpPr>
        <p:spPr>
          <a:xfrm>
            <a:off x="5559552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4" name="A: ask for a new program every day day 39"/>
          <p:cNvSpPr/>
          <p:nvPr/>
        </p:nvSpPr>
        <p:spPr>
          <a:xfrm>
            <a:off x="5861304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5" name="A: ask for a new program every day day 40"/>
          <p:cNvSpPr/>
          <p:nvPr/>
        </p:nvSpPr>
        <p:spPr>
          <a:xfrm>
            <a:off x="6163056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6" name="A: ask for a new program every day day 41"/>
          <p:cNvSpPr/>
          <p:nvPr/>
        </p:nvSpPr>
        <p:spPr>
          <a:xfrm>
            <a:off x="6464808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7" name="A: ask for a new program every day day 42"/>
          <p:cNvSpPr/>
          <p:nvPr/>
        </p:nvSpPr>
        <p:spPr>
          <a:xfrm>
            <a:off x="676656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8" name="A: ask for a new program every day day 43"/>
          <p:cNvSpPr/>
          <p:nvPr/>
        </p:nvSpPr>
        <p:spPr>
          <a:xfrm>
            <a:off x="7068312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9" name="A: ask for a new program every day day 44"/>
          <p:cNvSpPr/>
          <p:nvPr/>
        </p:nvSpPr>
        <p:spPr>
          <a:xfrm>
            <a:off x="7370064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0" name="A: ask for a new program every day day 45"/>
          <p:cNvSpPr/>
          <p:nvPr/>
        </p:nvSpPr>
        <p:spPr>
          <a:xfrm>
            <a:off x="7671816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1" name="A: ask for a new program every day day 46"/>
          <p:cNvSpPr/>
          <p:nvPr/>
        </p:nvSpPr>
        <p:spPr>
          <a:xfrm>
            <a:off x="7973568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2" name="A: ask for a new program every day day 47"/>
          <p:cNvSpPr/>
          <p:nvPr/>
        </p:nvSpPr>
        <p:spPr>
          <a:xfrm>
            <a:off x="827532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778240" y="196596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valid on 7% of days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≈ 86k tokens</a:t>
            </a:r>
            <a:endParaRPr lang="en-US" sz="17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B: the model writes 16 programs; keep the one valid on 8 past days; reuse it</a:t>
            </a:r>
            <a:endParaRPr lang="en-US" sz="1700" dirty="0"/>
          </a:p>
        </p:txBody>
      </p:sp>
      <p:sp>
        <p:nvSpPr>
          <p:cNvPr id="55" name="B: the model writes 16 programs; keep the one valid on 8 past days; reuse it day 0"/>
          <p:cNvSpPr/>
          <p:nvPr/>
        </p:nvSpPr>
        <p:spPr>
          <a:xfrm>
            <a:off x="374904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6" name="B: the model writes 16 programs; keep the one valid on 8 past days; reuse it day 1"/>
          <p:cNvSpPr/>
          <p:nvPr/>
        </p:nvSpPr>
        <p:spPr>
          <a:xfrm>
            <a:off x="4050792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7" name="B: the model writes 16 programs; keep the one valid on 8 past days; reuse it day 2"/>
          <p:cNvSpPr/>
          <p:nvPr/>
        </p:nvSpPr>
        <p:spPr>
          <a:xfrm>
            <a:off x="4352544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8" name="B: the model writes 16 programs; keep the one valid on 8 past days; reuse it day 3"/>
          <p:cNvSpPr/>
          <p:nvPr/>
        </p:nvSpPr>
        <p:spPr>
          <a:xfrm>
            <a:off x="4654296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9" name="B: the model writes 16 programs; keep the one valid on 8 past days; reuse it day 4"/>
          <p:cNvSpPr/>
          <p:nvPr/>
        </p:nvSpPr>
        <p:spPr>
          <a:xfrm>
            <a:off x="4956048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0" name="B: the model writes 16 programs; keep the one valid on 8 past days; reuse it day 5"/>
          <p:cNvSpPr/>
          <p:nvPr/>
        </p:nvSpPr>
        <p:spPr>
          <a:xfrm>
            <a:off x="525780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1" name="B: the model writes 16 programs; keep the one valid on 8 past days; reuse it day 6"/>
          <p:cNvSpPr/>
          <p:nvPr/>
        </p:nvSpPr>
        <p:spPr>
          <a:xfrm>
            <a:off x="5559552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2" name="B: the model writes 16 programs; keep the one valid on 8 past days; reuse it day 7"/>
          <p:cNvSpPr/>
          <p:nvPr/>
        </p:nvSpPr>
        <p:spPr>
          <a:xfrm>
            <a:off x="5861304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3" name="B: the model writes 16 programs; keep the one valid on 8 past days; reuse it day 8"/>
          <p:cNvSpPr/>
          <p:nvPr/>
        </p:nvSpPr>
        <p:spPr>
          <a:xfrm>
            <a:off x="6163056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4" name="B: the model writes 16 programs; keep the one valid on 8 past days; reuse it day 9"/>
          <p:cNvSpPr/>
          <p:nvPr/>
        </p:nvSpPr>
        <p:spPr>
          <a:xfrm>
            <a:off x="6464808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5" name="B: the model writes 16 programs; keep the one valid on 8 past days; reuse it day 10"/>
          <p:cNvSpPr/>
          <p:nvPr/>
        </p:nvSpPr>
        <p:spPr>
          <a:xfrm>
            <a:off x="676656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6" name="B: the model writes 16 programs; keep the one valid on 8 past days; reuse it day 11"/>
          <p:cNvSpPr/>
          <p:nvPr/>
        </p:nvSpPr>
        <p:spPr>
          <a:xfrm>
            <a:off x="7068312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7" name="B: the model writes 16 programs; keep the one valid on 8 past days; reuse it day 12"/>
          <p:cNvSpPr/>
          <p:nvPr/>
        </p:nvSpPr>
        <p:spPr>
          <a:xfrm>
            <a:off x="7370064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8" name="B: the model writes 16 programs; keep the one valid on 8 past days; reuse it day 13"/>
          <p:cNvSpPr/>
          <p:nvPr/>
        </p:nvSpPr>
        <p:spPr>
          <a:xfrm>
            <a:off x="7671816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9" name="B: the model writes 16 programs; keep the one valid on 8 past days; reuse it day 14"/>
          <p:cNvSpPr/>
          <p:nvPr/>
        </p:nvSpPr>
        <p:spPr>
          <a:xfrm>
            <a:off x="7973568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0" name="B: the model writes 16 programs; keep the one valid on 8 past days; reuse it day 15"/>
          <p:cNvSpPr/>
          <p:nvPr/>
        </p:nvSpPr>
        <p:spPr>
          <a:xfrm>
            <a:off x="827532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1" name="B: the model writes 16 programs; keep the one valid on 8 past days; reuse it day 16"/>
          <p:cNvSpPr/>
          <p:nvPr/>
        </p:nvSpPr>
        <p:spPr>
          <a:xfrm>
            <a:off x="374904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2" name="B: the model writes 16 programs; keep the one valid on 8 past days; reuse it day 17"/>
          <p:cNvSpPr/>
          <p:nvPr/>
        </p:nvSpPr>
        <p:spPr>
          <a:xfrm>
            <a:off x="4050792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3" name="B: the model writes 16 programs; keep the one valid on 8 past days; reuse it day 18"/>
          <p:cNvSpPr/>
          <p:nvPr/>
        </p:nvSpPr>
        <p:spPr>
          <a:xfrm>
            <a:off x="4352544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4" name="B: the model writes 16 programs; keep the one valid on 8 past days; reuse it day 19"/>
          <p:cNvSpPr/>
          <p:nvPr/>
        </p:nvSpPr>
        <p:spPr>
          <a:xfrm>
            <a:off x="4654296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5" name="B: the model writes 16 programs; keep the one valid on 8 past days; reuse it day 20"/>
          <p:cNvSpPr/>
          <p:nvPr/>
        </p:nvSpPr>
        <p:spPr>
          <a:xfrm>
            <a:off x="4956048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6" name="B: the model writes 16 programs; keep the one valid on 8 past days; reuse it day 21"/>
          <p:cNvSpPr/>
          <p:nvPr/>
        </p:nvSpPr>
        <p:spPr>
          <a:xfrm>
            <a:off x="525780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7" name="B: the model writes 16 programs; keep the one valid on 8 past days; reuse it day 22"/>
          <p:cNvSpPr/>
          <p:nvPr/>
        </p:nvSpPr>
        <p:spPr>
          <a:xfrm>
            <a:off x="5559552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8" name="B: the model writes 16 programs; keep the one valid on 8 past days; reuse it day 23"/>
          <p:cNvSpPr/>
          <p:nvPr/>
        </p:nvSpPr>
        <p:spPr>
          <a:xfrm>
            <a:off x="5861304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9" name="B: the model writes 16 programs; keep the one valid on 8 past days; reuse it day 24"/>
          <p:cNvSpPr/>
          <p:nvPr/>
        </p:nvSpPr>
        <p:spPr>
          <a:xfrm>
            <a:off x="6163056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0" name="B: the model writes 16 programs; keep the one valid on 8 past days; reuse it day 25"/>
          <p:cNvSpPr/>
          <p:nvPr/>
        </p:nvSpPr>
        <p:spPr>
          <a:xfrm>
            <a:off x="6464808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1" name="B: the model writes 16 programs; keep the one valid on 8 past days; reuse it day 26"/>
          <p:cNvSpPr/>
          <p:nvPr/>
        </p:nvSpPr>
        <p:spPr>
          <a:xfrm>
            <a:off x="676656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2" name="B: the model writes 16 programs; keep the one valid on 8 past days; reuse it day 27"/>
          <p:cNvSpPr/>
          <p:nvPr/>
        </p:nvSpPr>
        <p:spPr>
          <a:xfrm>
            <a:off x="7068312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3" name="B: the model writes 16 programs; keep the one valid on 8 past days; reuse it day 28"/>
          <p:cNvSpPr/>
          <p:nvPr/>
        </p:nvSpPr>
        <p:spPr>
          <a:xfrm>
            <a:off x="7370064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4" name="B: the model writes 16 programs; keep the one valid on 8 past days; reuse it day 29"/>
          <p:cNvSpPr/>
          <p:nvPr/>
        </p:nvSpPr>
        <p:spPr>
          <a:xfrm>
            <a:off x="7671816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5" name="B: the model writes 16 programs; keep the one valid on 8 past days; reuse it day 30"/>
          <p:cNvSpPr/>
          <p:nvPr/>
        </p:nvSpPr>
        <p:spPr>
          <a:xfrm>
            <a:off x="7973568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6" name="B: the model writes 16 programs; keep the one valid on 8 past days; reuse it day 31"/>
          <p:cNvSpPr/>
          <p:nvPr/>
        </p:nvSpPr>
        <p:spPr>
          <a:xfrm>
            <a:off x="827532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7" name="B: the model writes 16 programs; keep the one valid on 8 past days; reuse it day 32"/>
          <p:cNvSpPr/>
          <p:nvPr/>
        </p:nvSpPr>
        <p:spPr>
          <a:xfrm>
            <a:off x="3749040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8" name="B: the model writes 16 programs; keep the one valid on 8 past days; reuse it day 33"/>
          <p:cNvSpPr/>
          <p:nvPr/>
        </p:nvSpPr>
        <p:spPr>
          <a:xfrm>
            <a:off x="4050792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9" name="B: the model writes 16 programs; keep the one valid on 8 past days; reuse it day 34"/>
          <p:cNvSpPr/>
          <p:nvPr/>
        </p:nvSpPr>
        <p:spPr>
          <a:xfrm>
            <a:off x="4352544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0" name="B: the model writes 16 programs; keep the one valid on 8 past days; reuse it day 35"/>
          <p:cNvSpPr/>
          <p:nvPr/>
        </p:nvSpPr>
        <p:spPr>
          <a:xfrm>
            <a:off x="4654296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1" name="B: the model writes 16 programs; keep the one valid on 8 past days; reuse it day 36"/>
          <p:cNvSpPr/>
          <p:nvPr/>
        </p:nvSpPr>
        <p:spPr>
          <a:xfrm>
            <a:off x="4956048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2" name="B: the model writes 16 programs; keep the one valid on 8 past days; reuse it day 37"/>
          <p:cNvSpPr/>
          <p:nvPr/>
        </p:nvSpPr>
        <p:spPr>
          <a:xfrm>
            <a:off x="5257800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3" name="B: the model writes 16 programs; keep the one valid on 8 past days; reuse it day 38"/>
          <p:cNvSpPr/>
          <p:nvPr/>
        </p:nvSpPr>
        <p:spPr>
          <a:xfrm>
            <a:off x="5559552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4" name="B: the model writes 16 programs; keep the one valid on 8 past days; reuse it day 39"/>
          <p:cNvSpPr/>
          <p:nvPr/>
        </p:nvSpPr>
        <p:spPr>
          <a:xfrm>
            <a:off x="5861304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5" name="B: the model writes 16 programs; keep the one valid on 8 past days; reuse it day 40"/>
          <p:cNvSpPr/>
          <p:nvPr/>
        </p:nvSpPr>
        <p:spPr>
          <a:xfrm>
            <a:off x="6163056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6" name="B: the model writes 16 programs; keep the one valid on 8 past days; reuse it day 41"/>
          <p:cNvSpPr/>
          <p:nvPr/>
        </p:nvSpPr>
        <p:spPr>
          <a:xfrm>
            <a:off x="6464808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7" name="B: the model writes 16 programs; keep the one valid on 8 past days; reuse it day 42"/>
          <p:cNvSpPr/>
          <p:nvPr/>
        </p:nvSpPr>
        <p:spPr>
          <a:xfrm>
            <a:off x="6766560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8" name="B: the model writes 16 programs; keep the one valid on 8 past days; reuse it day 43"/>
          <p:cNvSpPr/>
          <p:nvPr/>
        </p:nvSpPr>
        <p:spPr>
          <a:xfrm>
            <a:off x="7068312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9" name="B: the model writes 16 programs; keep the one valid on 8 past days; reuse it day 44"/>
          <p:cNvSpPr/>
          <p:nvPr/>
        </p:nvSpPr>
        <p:spPr>
          <a:xfrm>
            <a:off x="7370064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100" name="B: the model writes 16 programs; keep the one valid on 8 past days; reuse it day 45"/>
          <p:cNvSpPr/>
          <p:nvPr/>
        </p:nvSpPr>
        <p:spPr>
          <a:xfrm>
            <a:off x="7671816" y="428853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1" name="B: the model writes 16 programs; keep the one valid on 8 past days; reuse it day 46"/>
          <p:cNvSpPr/>
          <p:nvPr/>
        </p:nvSpPr>
        <p:spPr>
          <a:xfrm>
            <a:off x="7973568" y="428853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2" name="B: the model writes 16 programs; keep the one valid on 8 past days; reuse it day 47"/>
          <p:cNvSpPr/>
          <p:nvPr/>
        </p:nvSpPr>
        <p:spPr>
          <a:xfrm>
            <a:off x="8275320" y="428853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778240" y="352044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valid on 94% of days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28k tokens in total</a:t>
            </a:r>
            <a:endParaRPr lang="en-US" sz="1700" dirty="0"/>
          </a:p>
        </p:txBody>
      </p:sp>
      <p:sp>
        <p:nvSpPr>
          <p:cNvPr id="104" name="Text 102"/>
          <p:cNvSpPr txBox="1"/>
          <p:nvPr/>
        </p:nvSpPr>
        <p:spPr>
          <a:xfrm>
            <a:off x="3749040" y="48006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each square = one of 48 new days · green = a valid route plan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Only the data change, so one checked program keeps working (also on 4× bigger days). New rule? Ask the model to edit it.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setup, scoring and hardware</a:t>
            </a:r>
            <a:endParaRPr lang="en-US" sz="3600" dirty="0"/>
          </a:p>
        </p:txBody>
      </p:sp>
      <p:sp>
        <p:nvSpPr>
          <p:cNvPr id="3" name="Models"/>
          <p:cNvSpPr/>
          <p:nvPr/>
        </p:nvSpPr>
        <p:spPr>
          <a:xfrm>
            <a:off x="548640" y="12801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robot" descr="/NAS/SJ/POSTECH/nlp/figs/icons/ro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417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8745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models run locally: Qwen3 1.7B–32B, Qwen3.6-35B, gpt-oss-20b and 120b; Goedel- and DeepSeek-Prover for proofs</a:t>
            </a:r>
            <a:endParaRPr lang="en-US" sz="1400" dirty="0"/>
          </a:p>
        </p:txBody>
      </p:sp>
      <p:sp>
        <p:nvSpPr>
          <p:cNvPr id="7" name="Benchmarks"/>
          <p:cNvSpPr/>
          <p:nvPr/>
        </p:nvSpPr>
        <p:spPr>
          <a:xfrm>
            <a:off x="6172200" y="12801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8" name="icon shapes" descr="/NAS/SJ/POSTECH/nlp/figs/icons/shap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46304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49440" y="1417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Benchmarks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949440" y="18745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13 geometry and 8 optimization tasks (generated); 311 Codeforces geometry; 56 Solomon routing; 82 job-shop; 1,208 word problems (NL4OPT, IndustryOR, MAMO); MATH-500 + AIME; miniF2F</a:t>
            </a:r>
            <a:endParaRPr lang="en-US" sz="1400" dirty="0"/>
          </a:p>
        </p:txBody>
      </p:sp>
      <p:sp>
        <p:nvSpPr>
          <p:cNvPr id="11" name="Exact scoring"/>
          <p:cNvSpPr/>
          <p:nvPr/>
        </p:nvSpPr>
        <p:spPr>
          <a:xfrm>
            <a:off x="548640" y="28803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2" name="icon check" descr="/NAS/SJ/POSTECH/nlp/figs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Exact scoring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4747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geometry right on all 8 moved copies; plans obey every rule; contest programs pass all official tests; math and word problems by exact answer</a:t>
            </a:r>
            <a:endParaRPr lang="en-US" sz="1400" dirty="0"/>
          </a:p>
        </p:txBody>
      </p:sp>
      <p:sp>
        <p:nvSpPr>
          <p:cNvPr id="15" name="Fair comparisons"/>
          <p:cNvSpPr/>
          <p:nvPr/>
        </p:nvSpPr>
        <p:spPr>
          <a:xfrm>
            <a:off x="6172200" y="28803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icon fact" descr="/NAS/SJ/POSTECH/nlp/figs/icons/fac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06324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94944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Fair comparisons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6949440" y="34747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change at a time; predictions written before each run; every claim on 3 seeds; baselines run in our own harness</a:t>
            </a:r>
            <a:endParaRPr lang="en-US" sz="1400" dirty="0"/>
          </a:p>
        </p:txBody>
      </p:sp>
      <p:sp>
        <p:nvSpPr>
          <p:cNvPr id="19" name="Cost"/>
          <p:cNvSpPr/>
          <p:nvPr/>
        </p:nvSpPr>
        <p:spPr>
          <a:xfrm>
            <a:off x="548640" y="44805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0" name="icon coins" descr="/NAS/SJ/POSTECH/nlp/figs/icons/coin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663440"/>
            <a:ext cx="457200" cy="4572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46177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Cost</a:t>
            </a:r>
            <a:endParaRPr lang="en-US" sz="180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0749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result reported with its output tokens per problem</a:t>
            </a:r>
            <a:endParaRPr lang="en-US" sz="1400" dirty="0"/>
          </a:p>
        </p:txBody>
      </p:sp>
      <p:sp>
        <p:nvSpPr>
          <p:cNvPr id="23" name="Hardware"/>
          <p:cNvSpPr/>
          <p:nvPr/>
        </p:nvSpPr>
        <p:spPr>
          <a:xfrm>
            <a:off x="6172200" y="44805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4" name="icon gpu" descr="/NAS/SJ/POSTECH/nlp/figs/icons/gpu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4663440"/>
            <a:ext cx="457200" cy="4572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949440" y="46177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Hardware</a:t>
            </a:r>
            <a:endParaRPr lang="en-US" sz="1800" dirty="0"/>
          </a:p>
        </p:txBody>
      </p:sp>
      <p:sp>
        <p:nvSpPr>
          <p:cNvPr id="26" name="Text 18"/>
          <p:cNvSpPr txBox="1"/>
          <p:nvPr/>
        </p:nvSpPr>
        <p:spPr>
          <a:xfrm>
            <a:off x="6949440" y="50749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model per GPU (RTX PRO 6000, 96 GB); the small models fit one 24 GB GPU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Solving Computational Math with LLMs, Accurately and Cheaply</dc:title>
  <dc:subject>PptxGenJS Presentation</dc:subject>
  <dc:creator>POSTECH graduate NLP course project</dc:creator>
  <cp:lastModifiedBy>POSTECH graduate NLP course project</cp:lastModifiedBy>
  <cp:revision>1</cp:revision>
  <dcterms:created xsi:type="dcterms:W3CDTF">2026-10-19T14:02:57Z</dcterms:created>
  <dcterms:modified xsi:type="dcterms:W3CDTF">2026-10-19T14:02:57Z</dcterms:modified>
</cp:coreProperties>
</file>