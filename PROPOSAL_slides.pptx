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alk" id="{08773a7d-5793-30e4-9f29-fb073f5413a4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xtra pages" id="{558d307f-5103-4261-9172-397e35e6d885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404040"/>
                </a:solidFill>
                <a:latin typeface="+mn-lt"/>
              </a:rPr>
              <a:t>MAMO, 863 problems never used before: % solved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 fact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73.2</c:v>
                </c:pt>
                <c:pt idx="1">
                  <c:v>59.7</c:v>
                </c:pt>
                <c:pt idx="2">
                  <c:v>45.5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hand-written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78.9</c:v>
                </c:pt>
                <c:pt idx="1">
                  <c:v>71.4</c:v>
                </c:pt>
                <c:pt idx="2">
                  <c:v>72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automatic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gpt-oss-20b</c:v>
                  </c:pt>
                  <c:pt idx="1">
                    <c:v>Qwen3-14B</c:v>
                  </c:pt>
                  <c:pt idx="2">
                    <c:v>Qwen3-8B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78.8</c:v>
                </c:pt>
                <c:pt idx="1">
                  <c:v>71.7</c:v>
                </c:pt>
                <c:pt idx="2">
                  <c:v>71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program only</c:v>
                </c:pt>
              </c:strCache>
            </c:strRef>
          </c:tx>
          <c:spPr>
            <a:solidFill>
              <a:srgbClr val="A5A5A5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14.7</c:v>
                </c:pt>
                <c:pt idx="2">
                  <c:v>34.3</c:v>
                </c:pt>
                <c:pt idx="3">
                  <c:v>58.1</c:v>
                </c:pt>
                <c:pt idx="4">
                  <c:v>65.4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+ 6 lines of exact solver usage</c:v>
                </c:pt>
              </c:strCache>
            </c:strRef>
          </c:tx>
          <c:spPr>
            <a:solidFill>
              <a:srgbClr val="4472C4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Qwen3-1.7B</c:v>
                  </c:pt>
                  <c:pt idx="1">
                    <c:v>Qwen3-4B</c:v>
                  </c:pt>
                  <c:pt idx="2">
                    <c:v>Qwen3-8B</c:v>
                  </c:pt>
                  <c:pt idx="3">
                    <c:v>Qwen3-14B (4-bit)</c:v>
                  </c:pt>
                  <c:pt idx="4">
                    <c:v>Qwen3-32B (4-bit)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44.5</c:v>
                </c:pt>
                <c:pt idx="1">
                  <c:v>46</c:v>
                </c:pt>
                <c:pt idx="2">
                  <c:v>51.7</c:v>
                </c:pt>
                <c:pt idx="3">
                  <c:v>66</c:v>
                </c:pt>
                <c:pt idx="4">
                  <c:v>66.2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40404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7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2.png"/><Relationship Id="rId4" Type="http://schemas.openxmlformats.org/officeDocument/2006/relationships/image" Target="../media/image-4-2.png"/><Relationship Id="rId5" Type="http://schemas.openxmlformats.org/officeDocument/2006/relationships/image" Target="../media/image-4-2.png"/><Relationship Id="rId6" Type="http://schemas.openxmlformats.org/officeDocument/2006/relationships/image" Target="../media/image-4-2.png"/><Relationship Id="rId7" Type="http://schemas.openxmlformats.org/officeDocument/2006/relationships/image" Target="../media/image-4-2.png"/><Relationship Id="rId8" Type="http://schemas.openxmlformats.org/officeDocument/2006/relationships/image" Target="../media/image-4-2.png"/><Relationship Id="rId9" Type="http://schemas.openxmlformats.org/officeDocument/2006/relationships/image" Target="../media/image-4-2.png"/><Relationship Id="rId10" Type="http://schemas.openxmlformats.org/officeDocument/2006/relationships/image" Target="../media/image-4-2.png"/><Relationship Id="rId11" Type="http://schemas.openxmlformats.org/officeDocument/2006/relationships/image" Target="../media/image-4-2.png"/><Relationship Id="rId12" Type="http://schemas.openxmlformats.org/officeDocument/2006/relationships/image" Target="../media/image-4-12.png"/><Relationship Id="rId13" Type="http://schemas.openxmlformats.org/officeDocument/2006/relationships/image" Target="../media/image-4-12.png"/><Relationship Id="rId14" Type="http://schemas.openxmlformats.org/officeDocument/2006/relationships/image" Target="../media/image-4-12.png"/><Relationship Id="rId15" Type="http://schemas.openxmlformats.org/officeDocument/2006/relationships/image" Target="../media/image-4-12.png"/><Relationship Id="rId16" Type="http://schemas.openxmlformats.org/officeDocument/2006/relationships/image" Target="../media/image-4-12.png"/><Relationship Id="rId17" Type="http://schemas.openxmlformats.org/officeDocument/2006/relationships/image" Target="../media/image-4-12.png"/><Relationship Id="rId18" Type="http://schemas.openxmlformats.org/officeDocument/2006/relationships/image" Target="../media/image-4-12.png"/><Relationship Id="rId19" Type="http://schemas.openxmlformats.org/officeDocument/2006/relationships/image" Target="../media/image-4-12.png"/><Relationship Id="rId20" Type="http://schemas.openxmlformats.org/officeDocument/2006/relationships/image" Target="../media/image-4-12.png"/><Relationship Id="rId21" Type="http://schemas.openxmlformats.org/officeDocument/2006/relationships/image" Target="../media/image-4-12.png"/><Relationship Id="rId22" Type="http://schemas.openxmlformats.org/officeDocument/2006/relationships/image" Target="../media/image-4-12.png"/><Relationship Id="rId23" Type="http://schemas.openxmlformats.org/officeDocument/2006/relationships/image" Target="../media/image-4-12.png"/><Relationship Id="rId24" Type="http://schemas.openxmlformats.org/officeDocument/2006/relationships/image" Target="../media/image-4-12.png"/><Relationship Id="rId25" Type="http://schemas.openxmlformats.org/officeDocument/2006/relationships/image" Target="../media/image-4-12.png"/><Relationship Id="rId26" Type="http://schemas.openxmlformats.org/officeDocument/2006/relationships/image" Target="../media/image-4-12.png"/><Relationship Id="rId27" Type="http://schemas.openxmlformats.org/officeDocument/2006/relationships/image" Target="../media/image-4-12.png"/><Relationship Id="rId28" Type="http://schemas.openxmlformats.org/officeDocument/2006/relationships/image" Target="../media/image-4-12.png"/><Relationship Id="rId29" Type="http://schemas.openxmlformats.org/officeDocument/2006/relationships/image" Target="../media/image-4-12.png"/><Relationship Id="rId30" Type="http://schemas.openxmlformats.org/officeDocument/2006/relationships/image" Target="../media/image-4-12.png"/><Relationship Id="rId31" Type="http://schemas.openxmlformats.org/officeDocument/2006/relationships/image" Target="../media/image-4-12.png"/><Relationship Id="rId32" Type="http://schemas.openxmlformats.org/officeDocument/2006/relationships/image" Target="../media/image-4-12.png"/><Relationship Id="rId33" Type="http://schemas.openxmlformats.org/officeDocument/2006/relationships/image" Target="../media/image-4-12.png"/><Relationship Id="rId34" Type="http://schemas.openxmlformats.org/officeDocument/2006/relationships/image" Target="../media/image-4-12.png"/><Relationship Id="rId35" Type="http://schemas.openxmlformats.org/officeDocument/2006/relationships/image" Target="../media/image-4-12.png"/><Relationship Id="rId36" Type="http://schemas.openxmlformats.org/officeDocument/2006/relationships/image" Target="../media/image-4-12.png"/><Relationship Id="rId37" Type="http://schemas.openxmlformats.org/officeDocument/2006/relationships/image" Target="../media/image-4-12.png"/><Relationship Id="rId38" Type="http://schemas.openxmlformats.org/officeDocument/2006/relationships/image" Target="../media/image-4-12.png"/><Relationship Id="rId39" Type="http://schemas.openxmlformats.org/officeDocument/2006/relationships/image" Target="../media/image-4-12.png"/><Relationship Id="rId40" Type="http://schemas.openxmlformats.org/officeDocument/2006/relationships/image" Target="../media/image-4-12.png"/><Relationship Id="rId41" Type="http://schemas.openxmlformats.org/officeDocument/2006/relationships/image" Target="../media/image-4-12.png"/><Relationship Id="rId42" Type="http://schemas.openxmlformats.org/officeDocument/2006/relationships/image" Target="../media/image-4-12.png"/><Relationship Id="rId43" Type="http://schemas.openxmlformats.org/officeDocument/2006/relationships/image" Target="../media/image-4-12.png"/><Relationship Id="rId44" Type="http://schemas.openxmlformats.org/officeDocument/2006/relationships/image" Target="../media/image-4-12.png"/><Relationship Id="rId45" Type="http://schemas.openxmlformats.org/officeDocument/2006/relationships/image" Target="../media/image-4-12.png"/><Relationship Id="rId46" Type="http://schemas.openxmlformats.org/officeDocument/2006/relationships/image" Target="../media/image-4-12.png"/><Relationship Id="rId47" Type="http://schemas.openxmlformats.org/officeDocument/2006/relationships/image" Target="../media/image-4-12.png"/><Relationship Id="rId48" Type="http://schemas.openxmlformats.org/officeDocument/2006/relationships/image" Target="../media/image-4-12.png"/><Relationship Id="rId49" Type="http://schemas.openxmlformats.org/officeDocument/2006/relationships/image" Target="../media/image-4-12.png"/><Relationship Id="rId50" Type="http://schemas.openxmlformats.org/officeDocument/2006/relationships/image" Target="../media/image-4-12.png"/><Relationship Id="rId51" Type="http://schemas.openxmlformats.org/officeDocument/2006/relationships/image" Target="../media/image-4-12.png"/><Relationship Id="rId52" Type="http://schemas.openxmlformats.org/officeDocument/2006/relationships/image" Target="../media/image-4-12.png"/><Relationship Id="rId53" Type="http://schemas.openxmlformats.org/officeDocument/2006/relationships/image" Target="../media/image-4-12.png"/><Relationship Id="rId54" Type="http://schemas.openxmlformats.org/officeDocument/2006/relationships/image" Target="../media/image-4-12.png"/><Relationship Id="rId55" Type="http://schemas.openxmlformats.org/officeDocument/2006/relationships/image" Target="../media/image-4-55.png"/><Relationship Id="rId56" Type="http://schemas.openxmlformats.org/officeDocument/2006/relationships/image" Target="../media/image-4-56.png"/><Relationship Id="rId57" Type="http://schemas.openxmlformats.org/officeDocument/2006/relationships/image" Target="../media/image-4-57.png"/><Relationship Id="rId58" Type="http://schemas.openxmlformats.org/officeDocument/2006/relationships/slideLayout" Target="../slideLayouts/slideLayout3.xml"/><Relationship Id="rId5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2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527048" y="1280160"/>
            <a:ext cx="9144000" cy="21945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4400" dirty="0">
                <a:solidFill>
                  <a:schemeClr val="tx1"/>
                </a:solidFill>
              </a:rPr>
              <a:t>Solving Computational Math</a:t>
            </a:r>
            <a:endParaRPr lang="en-US" sz="5400" dirty="0"/>
          </a:p>
          <a:p>
            <a:pPr algn="ctr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with LLMs, Accurately and Cheaply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527048" y="3657600"/>
            <a:ext cx="91440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A fact, a check, or more thinking: where should the extra effort go?</a:t>
            </a:r>
            <a:endParaRPr lang="en-US" sz="22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44546A"/>
                </a:solidFill>
              </a:rPr>
              <a:t>POSTECH CSED490E (Graduate NLP) · Team 5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we solve, and how hard it is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463040"/>
            <a:ext cx="731520" cy="731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Geometry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corners of the rubber band around 10 points</a:t>
            </a:r>
            <a:endParaRPr lang="en-US" sz="1500" dirty="0"/>
          </a:p>
        </p:txBody>
      </p:sp>
      <p:sp>
        <p:nvSpPr>
          <p:cNvPr id="7" name="tag Geometry"/>
          <p:cNvSpPr/>
          <p:nvPr/>
        </p:nvSpPr>
        <p:spPr>
          <a:xfrm>
            <a:off x="64008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textbook algorithms, exact on every copy</a:t>
            </a:r>
            <a:endParaRPr lang="en-US" sz="150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731520" cy="7315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88036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Contest problems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Codeforces geometry problems</a:t>
            </a:r>
            <a:endParaRPr lang="en-US" sz="15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Codeforces Master to Grandmaster level</a:t>
            </a:r>
            <a:endParaRPr lang="en-US" sz="150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1463040"/>
            <a:ext cx="731520" cy="7315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12064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Routing, scheduling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routes for 100 customers with time windows</a:t>
            </a:r>
            <a:endParaRPr lang="en-US" sz="15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D7D31"/>
                </a:solidFill>
              </a:rPr>
              <a:t>a simple plan drives 48% farther</a:t>
            </a:r>
            <a:endParaRPr lang="en-US" sz="150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1463040"/>
            <a:ext cx="731520" cy="7315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36092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Word problems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most coins from 500 gold and 300 wires?</a:t>
            </a:r>
            <a:endParaRPr lang="en-US" sz="15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university operations-research exercises</a:t>
            </a:r>
            <a:endParaRPr lang="en-US" sz="150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280160"/>
            <a:ext cx="2103120" cy="406908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1463040"/>
            <a:ext cx="731520" cy="7315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601200" y="2331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Math and proofs</a:t>
            </a:r>
            <a:endParaRPr lang="en-US" sz="18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30632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contest answers; machine-checked proofs</a:t>
            </a:r>
            <a:endParaRPr lang="en-US" sz="15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4297680"/>
            <a:ext cx="1920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4297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95959"/>
                </a:solidFill>
              </a:rPr>
              <a:t>AIME: top ~5% of high-school contestants</a:t>
            </a:r>
            <a:endParaRPr lang="en-US" sz="150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Open models (Qwen3, gpt-oss) on our own GPUs: we count exact answers and the tokens spent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Let the computer do the math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Qwen3-8B, asked for twice the area of one shape: moved, turned or flipped, it is always 436</a:t>
            </a:r>
            <a:endParaRPr lang="en-US" sz="1800" dirty="0"/>
          </a:p>
        </p:txBody>
      </p:sp>
      <p:pic>
        <p:nvPicPr>
          <p:cNvPr id="4" name="four copies of one polygon" descr="one polygon: original, moved, turned, flipp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1783080"/>
            <a:ext cx="804672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Answer in words</a:t>
            </a:r>
            <a:endParaRPr lang="en-US" sz="2200" dirty="0"/>
          </a:p>
        </p:txBody>
      </p:sp>
      <p:sp>
        <p:nvSpPr>
          <p:cNvPr id="6" name="answer 436 ✓"/>
          <p:cNvSpPr/>
          <p:nvPr/>
        </p:nvSpPr>
        <p:spPr>
          <a:xfrm>
            <a:off x="379476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79476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8" name="answer 2944 ✗"/>
          <p:cNvSpPr/>
          <p:nvPr/>
        </p:nvSpPr>
        <p:spPr>
          <a:xfrm>
            <a:off x="580644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0644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2944 ✗</a:t>
            </a:r>
            <a:endParaRPr lang="en-US" sz="2200" dirty="0"/>
          </a:p>
        </p:txBody>
      </p:sp>
      <p:sp>
        <p:nvSpPr>
          <p:cNvPr id="10" name="answer 392 ✗"/>
          <p:cNvSpPr/>
          <p:nvPr/>
        </p:nvSpPr>
        <p:spPr>
          <a:xfrm>
            <a:off x="781812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392 ✗</a:t>
            </a:r>
            <a:endParaRPr lang="en-US" sz="2200" dirty="0"/>
          </a:p>
        </p:txBody>
      </p:sp>
      <p:sp>
        <p:nvSpPr>
          <p:cNvPr id="12" name="answer 728 ✗"/>
          <p:cNvSpPr/>
          <p:nvPr/>
        </p:nvSpPr>
        <p:spPr>
          <a:xfrm>
            <a:off x="9829800" y="388620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829800" y="38862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728 ✗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Write a program</a:t>
            </a:r>
            <a:endParaRPr lang="en-US" sz="2200" dirty="0"/>
          </a:p>
        </p:txBody>
      </p:sp>
      <p:sp>
        <p:nvSpPr>
          <p:cNvPr id="15" name="answer 436 ✓"/>
          <p:cNvSpPr/>
          <p:nvPr/>
        </p:nvSpPr>
        <p:spPr>
          <a:xfrm>
            <a:off x="379476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9476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7" name="answer 436 ✓"/>
          <p:cNvSpPr/>
          <p:nvPr/>
        </p:nvSpPr>
        <p:spPr>
          <a:xfrm>
            <a:off x="580644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80644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19" name="answer 436 ✓"/>
          <p:cNvSpPr/>
          <p:nvPr/>
        </p:nvSpPr>
        <p:spPr>
          <a:xfrm>
            <a:off x="781812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1" name="answer 436 ✓"/>
          <p:cNvSpPr/>
          <p:nvPr/>
        </p:nvSpPr>
        <p:spPr>
          <a:xfrm>
            <a:off x="9829800" y="466344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829800" y="4663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436 ✓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 computation, a program is the right tool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But two things go wrong</a:t>
            </a:r>
            <a:endParaRPr lang="en-US" sz="3600" dirty="0"/>
          </a:p>
        </p:txBody>
      </p:sp>
      <p:sp>
        <p:nvSpPr>
          <p:cNvPr id="3" name="pane 1. Programs can be silently wrong"/>
          <p:cNvSpPr/>
          <p:nvPr/>
        </p:nvSpPr>
        <p:spPr>
          <a:xfrm>
            <a:off x="54864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1. Programs can be silently wrong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How many corners does the rubber band have?</a:t>
            </a:r>
            <a:endParaRPr lang="en-US" sz="1500" dirty="0"/>
          </a:p>
        </p:txBody>
      </p:sp>
      <p:pic>
        <p:nvPicPr>
          <p:cNvPr id="6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31720"/>
            <a:ext cx="2011680" cy="2011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" y="4389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0AD47"/>
                </a:solidFill>
              </a:rPr>
              <a:t>answer: 6 corners</a:t>
            </a:r>
            <a:endParaRPr lang="en-US" sz="1500" dirty="0"/>
          </a:p>
        </p:txBody>
      </p:sp>
      <p:sp>
        <p:nvSpPr>
          <p:cNvPr id="8" name="terminal"/>
          <p:cNvSpPr/>
          <p:nvPr/>
        </p:nvSpPr>
        <p:spPr>
          <a:xfrm>
            <a:off x="2971800" y="2423160"/>
            <a:ext cx="2834640" cy="1554480"/>
          </a:xfrm>
          <a:prstGeom prst="roundRect">
            <a:avLst>
              <a:gd name="adj" fmla="val 2941"/>
            </a:avLst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154680" y="2468880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FD1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A  → 6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B  →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BFB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error message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971800" y="406908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B's prompt only added helper code (Qwen3-14B)</a:t>
            </a:r>
            <a:endParaRPr lang="en-US" sz="1400" dirty="0"/>
          </a:p>
        </p:txBody>
      </p:sp>
      <p:sp>
        <p:nvSpPr>
          <p:cNvPr id="11" name="pane 2. Thinking longer is expensive"/>
          <p:cNvSpPr/>
          <p:nvPr/>
        </p:nvSpPr>
        <p:spPr>
          <a:xfrm>
            <a:off x="6172200" y="1234440"/>
            <a:ext cx="5440680" cy="3794760"/>
          </a:xfrm>
          <a:prstGeom prst="roundRect">
            <a:avLst>
              <a:gd name="adj" fmla="val 1928"/>
            </a:avLst>
          </a:prstGeom>
          <a:solidFill>
            <a:srgbClr val="FDF0E6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2588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7D31"/>
                </a:solidFill>
              </a:rPr>
              <a:t>2. Thinking longer is expensive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311 contest problems, gpt-oss-120b · 1 page ≈ 700 tokens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23774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normal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57% solved</a:t>
            </a:r>
            <a:endParaRPr lang="en-US" sz="1500" dirty="0"/>
          </a:p>
        </p:txBody>
      </p:sp>
      <p:pic>
        <p:nvPicPr>
          <p:cNvPr id="15" name="normal page 0" descr="/NAS/SJ/POSTECH/nlp/figs/icons/p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2395728"/>
            <a:ext cx="182880" cy="201168"/>
          </a:xfrm>
          <a:prstGeom prst="rect">
            <a:avLst/>
          </a:prstGeom>
        </p:spPr>
      </p:pic>
      <p:pic>
        <p:nvPicPr>
          <p:cNvPr id="16" name="normal page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1584" y="2395728"/>
            <a:ext cx="182880" cy="201168"/>
          </a:xfrm>
          <a:prstGeom prst="rect">
            <a:avLst/>
          </a:prstGeom>
        </p:spPr>
      </p:pic>
      <p:pic>
        <p:nvPicPr>
          <p:cNvPr id="17" name="normal page 2" descr="/NAS/SJ/POSTECH/nlp/figs/icons/pa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395728"/>
            <a:ext cx="182880" cy="201168"/>
          </a:xfrm>
          <a:prstGeom prst="rect">
            <a:avLst/>
          </a:prstGeom>
        </p:spPr>
      </p:pic>
      <p:pic>
        <p:nvPicPr>
          <p:cNvPr id="18" name="normal page 3" descr="/NAS/SJ/POSTECH/nlp/figs/icons/pa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2395728"/>
            <a:ext cx="182880" cy="201168"/>
          </a:xfrm>
          <a:prstGeom prst="rect">
            <a:avLst/>
          </a:prstGeom>
        </p:spPr>
      </p:pic>
      <p:pic>
        <p:nvPicPr>
          <p:cNvPr id="19" name="normal page 4" descr="/NAS/SJ/POSTECH/nlp/figs/icons/pa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7656" y="2395728"/>
            <a:ext cx="182880" cy="201168"/>
          </a:xfrm>
          <a:prstGeom prst="rect">
            <a:avLst/>
          </a:prstGeom>
        </p:spPr>
      </p:pic>
      <p:pic>
        <p:nvPicPr>
          <p:cNvPr id="20" name="normal page 5" descr="/NAS/SJ/POSTECH/nlp/figs/icons/pa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0" y="2395728"/>
            <a:ext cx="182880" cy="201168"/>
          </a:xfrm>
          <a:prstGeom prst="rect">
            <a:avLst/>
          </a:prstGeom>
        </p:spPr>
      </p:pic>
      <p:pic>
        <p:nvPicPr>
          <p:cNvPr id="21" name="normal page 6" descr="/NAS/SJ/POSTECH/nlp/figs/icons/page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61704" y="2395728"/>
            <a:ext cx="182880" cy="201168"/>
          </a:xfrm>
          <a:prstGeom prst="rect">
            <a:avLst/>
          </a:prstGeom>
        </p:spPr>
      </p:pic>
      <p:pic>
        <p:nvPicPr>
          <p:cNvPr id="22" name="normal page 7" descr="/NAS/SJ/POSTECH/nlp/figs/icons/pag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53728" y="2395728"/>
            <a:ext cx="182880" cy="201168"/>
          </a:xfrm>
          <a:prstGeom prst="rect">
            <a:avLst/>
          </a:prstGeom>
        </p:spPr>
      </p:pic>
      <p:pic>
        <p:nvPicPr>
          <p:cNvPr id="23" name="normal page 8" descr="/NAS/SJ/POSTECH/nlp/figs/icons/pag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45752" y="2395728"/>
            <a:ext cx="182880" cy="201168"/>
          </a:xfrm>
          <a:prstGeom prst="rect">
            <a:avLst/>
          </a:prstGeom>
        </p:spPr>
      </p:pic>
      <p:pic>
        <p:nvPicPr>
          <p:cNvPr id="24" name="normal page 9" descr="/NAS/SJ/POSTECH/nlp/figs/icons/page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37776" y="2395728"/>
            <a:ext cx="182880" cy="201168"/>
          </a:xfrm>
          <a:prstGeom prst="rect">
            <a:avLst/>
          </a:prstGeom>
        </p:spPr>
      </p:pic>
      <p:sp>
        <p:nvSpPr>
          <p:cNvPr id="25" name="Text 12"/>
          <p:cNvSpPr txBox="1"/>
          <p:nvPr/>
        </p:nvSpPr>
        <p:spPr>
          <a:xfrm>
            <a:off x="6400800" y="30632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think hard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66% solved</a:t>
            </a:r>
            <a:endParaRPr lang="en-US" sz="1500" dirty="0"/>
          </a:p>
        </p:txBody>
      </p:sp>
      <p:pic>
        <p:nvPicPr>
          <p:cNvPr id="26" name="think hard page 0" descr="/NAS/SJ/POSTECH/nlp/figs/icons/pagehot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09560" y="3081528"/>
            <a:ext cx="182880" cy="201168"/>
          </a:xfrm>
          <a:prstGeom prst="rect">
            <a:avLst/>
          </a:prstGeom>
        </p:spPr>
      </p:pic>
      <p:pic>
        <p:nvPicPr>
          <p:cNvPr id="27" name="think hard page 1" descr="/NAS/SJ/POSTECH/nlp/figs/icons/pagehot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101584" y="3081528"/>
            <a:ext cx="182880" cy="201168"/>
          </a:xfrm>
          <a:prstGeom prst="rect">
            <a:avLst/>
          </a:prstGeom>
        </p:spPr>
      </p:pic>
      <p:pic>
        <p:nvPicPr>
          <p:cNvPr id="28" name="think hard page 2" descr="/NAS/SJ/POSTECH/nlp/figs/icons/pagehot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93608" y="3081528"/>
            <a:ext cx="182880" cy="201168"/>
          </a:xfrm>
          <a:prstGeom prst="rect">
            <a:avLst/>
          </a:prstGeom>
        </p:spPr>
      </p:pic>
      <p:pic>
        <p:nvPicPr>
          <p:cNvPr id="29" name="think hard page 3" descr="/NAS/SJ/POSTECH/nlp/figs/icons/pagehot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5632" y="3081528"/>
            <a:ext cx="182880" cy="201168"/>
          </a:xfrm>
          <a:prstGeom prst="rect">
            <a:avLst/>
          </a:prstGeom>
        </p:spPr>
      </p:pic>
      <p:pic>
        <p:nvPicPr>
          <p:cNvPr id="30" name="think hard page 4" descr="/NAS/SJ/POSTECH/nlp/figs/icons/pagehot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677656" y="3081528"/>
            <a:ext cx="182880" cy="201168"/>
          </a:xfrm>
          <a:prstGeom prst="rect">
            <a:avLst/>
          </a:prstGeom>
        </p:spPr>
      </p:pic>
      <p:pic>
        <p:nvPicPr>
          <p:cNvPr id="31" name="think hard page 5" descr="/NAS/SJ/POSTECH/nlp/figs/icons/pagehot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869680" y="3081528"/>
            <a:ext cx="182880" cy="201168"/>
          </a:xfrm>
          <a:prstGeom prst="rect">
            <a:avLst/>
          </a:prstGeom>
        </p:spPr>
      </p:pic>
      <p:pic>
        <p:nvPicPr>
          <p:cNvPr id="32" name="think hard page 6" descr="/NAS/SJ/POSTECH/nlp/figs/icons/pagehot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061704" y="3081528"/>
            <a:ext cx="182880" cy="201168"/>
          </a:xfrm>
          <a:prstGeom prst="rect">
            <a:avLst/>
          </a:prstGeom>
        </p:spPr>
      </p:pic>
      <p:pic>
        <p:nvPicPr>
          <p:cNvPr id="33" name="think hard page 7" descr="/NAS/SJ/POSTECH/nlp/figs/icons/pagehot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253728" y="3081528"/>
            <a:ext cx="182880" cy="201168"/>
          </a:xfrm>
          <a:prstGeom prst="rect">
            <a:avLst/>
          </a:prstGeom>
        </p:spPr>
      </p:pic>
      <p:pic>
        <p:nvPicPr>
          <p:cNvPr id="34" name="think hard page 8" descr="/NAS/SJ/POSTECH/nlp/figs/icons/pagehot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45752" y="3081528"/>
            <a:ext cx="182880" cy="201168"/>
          </a:xfrm>
          <a:prstGeom prst="rect">
            <a:avLst/>
          </a:prstGeom>
        </p:spPr>
      </p:pic>
      <p:pic>
        <p:nvPicPr>
          <p:cNvPr id="35" name="think hard page 9" descr="/NAS/SJ/POSTECH/nlp/figs/icons/pagehot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637776" y="3081528"/>
            <a:ext cx="182880" cy="201168"/>
          </a:xfrm>
          <a:prstGeom prst="rect">
            <a:avLst/>
          </a:prstGeom>
        </p:spPr>
      </p:pic>
      <p:pic>
        <p:nvPicPr>
          <p:cNvPr id="36" name="think hard page 10" descr="/NAS/SJ/POSTECH/nlp/figs/icons/pagehot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829800" y="3081528"/>
            <a:ext cx="182880" cy="201168"/>
          </a:xfrm>
          <a:prstGeom prst="rect">
            <a:avLst/>
          </a:prstGeom>
        </p:spPr>
      </p:pic>
      <p:pic>
        <p:nvPicPr>
          <p:cNvPr id="37" name="think hard page 11" descr="/NAS/SJ/POSTECH/nlp/figs/icons/pagehot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021824" y="3081528"/>
            <a:ext cx="182880" cy="201168"/>
          </a:xfrm>
          <a:prstGeom prst="rect">
            <a:avLst/>
          </a:prstGeom>
        </p:spPr>
      </p:pic>
      <p:pic>
        <p:nvPicPr>
          <p:cNvPr id="38" name="think hard page 12" descr="/NAS/SJ/POSTECH/nlp/figs/icons/pagehot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13848" y="3081528"/>
            <a:ext cx="182880" cy="201168"/>
          </a:xfrm>
          <a:prstGeom prst="rect">
            <a:avLst/>
          </a:prstGeom>
        </p:spPr>
      </p:pic>
      <p:pic>
        <p:nvPicPr>
          <p:cNvPr id="39" name="think hard page 13" descr="/NAS/SJ/POSTECH/nlp/figs/icons/pagehot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05872" y="3081528"/>
            <a:ext cx="182880" cy="201168"/>
          </a:xfrm>
          <a:prstGeom prst="rect">
            <a:avLst/>
          </a:prstGeom>
        </p:spPr>
      </p:pic>
      <p:pic>
        <p:nvPicPr>
          <p:cNvPr id="40" name="think hard page 14" descr="/NAS/SJ/POSTECH/nlp/figs/icons/pagehot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597896" y="3081528"/>
            <a:ext cx="182880" cy="201168"/>
          </a:xfrm>
          <a:prstGeom prst="rect">
            <a:avLst/>
          </a:prstGeom>
        </p:spPr>
      </p:pic>
      <p:pic>
        <p:nvPicPr>
          <p:cNvPr id="41" name="think hard page 15" descr="/NAS/SJ/POSTECH/nlp/figs/icons/pagehot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89920" y="3081528"/>
            <a:ext cx="182880" cy="201168"/>
          </a:xfrm>
          <a:prstGeom prst="rect">
            <a:avLst/>
          </a:prstGeom>
        </p:spPr>
      </p:pic>
      <p:pic>
        <p:nvPicPr>
          <p:cNvPr id="42" name="think hard page 16" descr="/NAS/SJ/POSTECH/nlp/figs/icons/pagehot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981944" y="3081528"/>
            <a:ext cx="182880" cy="201168"/>
          </a:xfrm>
          <a:prstGeom prst="rect">
            <a:avLst/>
          </a:prstGeom>
        </p:spPr>
      </p:pic>
      <p:pic>
        <p:nvPicPr>
          <p:cNvPr id="43" name="think hard page 17" descr="/NAS/SJ/POSTECH/nlp/figs/icons/pagehot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1173968" y="3081528"/>
            <a:ext cx="182880" cy="201168"/>
          </a:xfrm>
          <a:prstGeom prst="rect">
            <a:avLst/>
          </a:prstGeom>
        </p:spPr>
      </p:pic>
      <p:pic>
        <p:nvPicPr>
          <p:cNvPr id="44" name="think hard page 18" descr="/NAS/SJ/POSTECH/nlp/figs/icons/pagehot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09560" y="3300984"/>
            <a:ext cx="182880" cy="201168"/>
          </a:xfrm>
          <a:prstGeom prst="rect">
            <a:avLst/>
          </a:prstGeom>
        </p:spPr>
      </p:pic>
      <p:pic>
        <p:nvPicPr>
          <p:cNvPr id="45" name="think hard page 19" descr="/NAS/SJ/POSTECH/nlp/figs/icons/pagehot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101584" y="3300984"/>
            <a:ext cx="182880" cy="201168"/>
          </a:xfrm>
          <a:prstGeom prst="rect">
            <a:avLst/>
          </a:prstGeom>
        </p:spPr>
      </p:pic>
      <p:pic>
        <p:nvPicPr>
          <p:cNvPr id="46" name="think hard page 20" descr="/NAS/SJ/POSTECH/nlp/figs/icons/pagehot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8293608" y="3300984"/>
            <a:ext cx="182880" cy="201168"/>
          </a:xfrm>
          <a:prstGeom prst="rect">
            <a:avLst/>
          </a:prstGeom>
        </p:spPr>
      </p:pic>
      <p:pic>
        <p:nvPicPr>
          <p:cNvPr id="47" name="think hard page 21" descr="/NAS/SJ/POSTECH/nlp/figs/icons/pagehot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8485632" y="3300984"/>
            <a:ext cx="182880" cy="201168"/>
          </a:xfrm>
          <a:prstGeom prst="rect">
            <a:avLst/>
          </a:prstGeom>
        </p:spPr>
      </p:pic>
      <p:pic>
        <p:nvPicPr>
          <p:cNvPr id="48" name="think hard page 22" descr="/NAS/SJ/POSTECH/nlp/figs/icons/pagehot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8677656" y="3300984"/>
            <a:ext cx="182880" cy="201168"/>
          </a:xfrm>
          <a:prstGeom prst="rect">
            <a:avLst/>
          </a:prstGeom>
        </p:spPr>
      </p:pic>
      <p:pic>
        <p:nvPicPr>
          <p:cNvPr id="49" name="think hard page 23" descr="/NAS/SJ/POSTECH/nlp/figs/icons/pagehot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69680" y="3300984"/>
            <a:ext cx="182880" cy="201168"/>
          </a:xfrm>
          <a:prstGeom prst="rect">
            <a:avLst/>
          </a:prstGeom>
        </p:spPr>
      </p:pic>
      <p:pic>
        <p:nvPicPr>
          <p:cNvPr id="50" name="think hard page 24" descr="/NAS/SJ/POSTECH/nlp/figs/icons/pagehot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061704" y="3300984"/>
            <a:ext cx="182880" cy="201168"/>
          </a:xfrm>
          <a:prstGeom prst="rect">
            <a:avLst/>
          </a:prstGeom>
        </p:spPr>
      </p:pic>
      <p:pic>
        <p:nvPicPr>
          <p:cNvPr id="51" name="think hard page 25" descr="/NAS/SJ/POSTECH/nlp/figs/icons/pagehot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9253728" y="3300984"/>
            <a:ext cx="182880" cy="201168"/>
          </a:xfrm>
          <a:prstGeom prst="rect">
            <a:avLst/>
          </a:prstGeom>
        </p:spPr>
      </p:pic>
      <p:pic>
        <p:nvPicPr>
          <p:cNvPr id="52" name="think hard page 26" descr="/NAS/SJ/POSTECH/nlp/figs/icons/pagehot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9445752" y="3300984"/>
            <a:ext cx="182880" cy="201168"/>
          </a:xfrm>
          <a:prstGeom prst="rect">
            <a:avLst/>
          </a:prstGeom>
        </p:spPr>
      </p:pic>
      <p:pic>
        <p:nvPicPr>
          <p:cNvPr id="53" name="think hard page 27" descr="/NAS/SJ/POSTECH/nlp/figs/icons/pagehot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9637776" y="3300984"/>
            <a:ext cx="182880" cy="201168"/>
          </a:xfrm>
          <a:prstGeom prst="rect">
            <a:avLst/>
          </a:prstGeom>
        </p:spPr>
      </p:pic>
      <p:pic>
        <p:nvPicPr>
          <p:cNvPr id="54" name="think hard page 28" descr="/NAS/SJ/POSTECH/nlp/figs/icons/pagehot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9829800" y="3300984"/>
            <a:ext cx="182880" cy="201168"/>
          </a:xfrm>
          <a:prstGeom prst="rect">
            <a:avLst/>
          </a:prstGeom>
        </p:spPr>
      </p:pic>
      <p:pic>
        <p:nvPicPr>
          <p:cNvPr id="55" name="think hard page 29" descr="/NAS/SJ/POSTECH/nlp/figs/icons/pagehot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021824" y="3300984"/>
            <a:ext cx="182880" cy="201168"/>
          </a:xfrm>
          <a:prstGeom prst="rect">
            <a:avLst/>
          </a:prstGeom>
        </p:spPr>
      </p:pic>
      <p:pic>
        <p:nvPicPr>
          <p:cNvPr id="56" name="think hard page 30" descr="/NAS/SJ/POSTECH/nlp/figs/icons/pagehot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10213848" y="3300984"/>
            <a:ext cx="182880" cy="201168"/>
          </a:xfrm>
          <a:prstGeom prst="rect">
            <a:avLst/>
          </a:prstGeom>
        </p:spPr>
      </p:pic>
      <p:pic>
        <p:nvPicPr>
          <p:cNvPr id="57" name="think hard page 31" descr="/NAS/SJ/POSTECH/nlp/figs/icons/pagehot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10405872" y="3300984"/>
            <a:ext cx="182880" cy="201168"/>
          </a:xfrm>
          <a:prstGeom prst="rect">
            <a:avLst/>
          </a:prstGeom>
        </p:spPr>
      </p:pic>
      <p:pic>
        <p:nvPicPr>
          <p:cNvPr id="58" name="think hard page 32" descr="/NAS/SJ/POSTECH/nlp/figs/icons/pagehot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10597896" y="3300984"/>
            <a:ext cx="182880" cy="201168"/>
          </a:xfrm>
          <a:prstGeom prst="rect">
            <a:avLst/>
          </a:prstGeom>
        </p:spPr>
      </p:pic>
      <p:pic>
        <p:nvPicPr>
          <p:cNvPr id="59" name="think hard page 33" descr="/NAS/SJ/POSTECH/nlp/figs/icons/pagehot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10789920" y="3300984"/>
            <a:ext cx="182880" cy="201168"/>
          </a:xfrm>
          <a:prstGeom prst="rect">
            <a:avLst/>
          </a:prstGeom>
        </p:spPr>
      </p:pic>
      <p:pic>
        <p:nvPicPr>
          <p:cNvPr id="60" name="think hard page 34" descr="/NAS/SJ/POSTECH/nlp/figs/icons/pagehot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10981944" y="3300984"/>
            <a:ext cx="182880" cy="201168"/>
          </a:xfrm>
          <a:prstGeom prst="rect">
            <a:avLst/>
          </a:prstGeom>
        </p:spPr>
      </p:pic>
      <p:pic>
        <p:nvPicPr>
          <p:cNvPr id="61" name="think hard page 35" descr="/NAS/SJ/POSTECH/nlp/figs/icons/pagehot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11173968" y="3300984"/>
            <a:ext cx="182880" cy="201168"/>
          </a:xfrm>
          <a:prstGeom prst="rect">
            <a:avLst/>
          </a:prstGeom>
        </p:spPr>
      </p:pic>
      <p:pic>
        <p:nvPicPr>
          <p:cNvPr id="62" name="think hard page 36" descr="/NAS/SJ/POSTECH/nlp/figs/icons/pagehot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7909560" y="3520440"/>
            <a:ext cx="182880" cy="201168"/>
          </a:xfrm>
          <a:prstGeom prst="rect">
            <a:avLst/>
          </a:prstGeom>
        </p:spPr>
      </p:pic>
      <p:pic>
        <p:nvPicPr>
          <p:cNvPr id="63" name="think hard page 37" descr="/NAS/SJ/POSTECH/nlp/figs/icons/pagehot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8101584" y="3520440"/>
            <a:ext cx="182880" cy="201168"/>
          </a:xfrm>
          <a:prstGeom prst="rect">
            <a:avLst/>
          </a:prstGeom>
        </p:spPr>
      </p:pic>
      <p:pic>
        <p:nvPicPr>
          <p:cNvPr id="64" name="think hard page 38" descr="/NAS/SJ/POSTECH/nlp/figs/icons/pagehot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8293608" y="3520440"/>
            <a:ext cx="182880" cy="201168"/>
          </a:xfrm>
          <a:prstGeom prst="rect">
            <a:avLst/>
          </a:prstGeom>
        </p:spPr>
      </p:pic>
      <p:pic>
        <p:nvPicPr>
          <p:cNvPr id="65" name="think hard page 39" descr="/NAS/SJ/POSTECH/nlp/figs/icons/pagehot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8485632" y="3520440"/>
            <a:ext cx="182880" cy="201168"/>
          </a:xfrm>
          <a:prstGeom prst="rect">
            <a:avLst/>
          </a:prstGeom>
        </p:spPr>
      </p:pic>
      <p:pic>
        <p:nvPicPr>
          <p:cNvPr id="66" name="think hard page 40" descr="/NAS/SJ/POSTECH/nlp/figs/icons/pagehot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8677656" y="3520440"/>
            <a:ext cx="182880" cy="201168"/>
          </a:xfrm>
          <a:prstGeom prst="rect">
            <a:avLst/>
          </a:prstGeom>
        </p:spPr>
      </p:pic>
      <p:pic>
        <p:nvPicPr>
          <p:cNvPr id="67" name="think hard page 41" descr="/NAS/SJ/POSTECH/nlp/figs/icons/pagehot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8869680" y="3520440"/>
            <a:ext cx="182880" cy="201168"/>
          </a:xfrm>
          <a:prstGeom prst="rect">
            <a:avLst/>
          </a:prstGeom>
        </p:spPr>
      </p:pic>
      <p:pic>
        <p:nvPicPr>
          <p:cNvPr id="68" name="think hard page 42" descr="/NAS/SJ/POSTECH/nlp/figs/icons/pagehot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9061704" y="3520440"/>
            <a:ext cx="182880" cy="201168"/>
          </a:xfrm>
          <a:prstGeom prst="rect">
            <a:avLst/>
          </a:prstGeom>
        </p:spPr>
      </p:pic>
      <p:sp>
        <p:nvSpPr>
          <p:cNvPr id="69" name="Text 13"/>
          <p:cNvSpPr txBox="1"/>
          <p:nvPr/>
        </p:nvSpPr>
        <p:spPr>
          <a:xfrm>
            <a:off x="6400800" y="425196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7D31"/>
                </a:solidFill>
              </a:rPr>
              <a:t>4.4× the pages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  for 9 more points</a:t>
            </a:r>
            <a:endParaRPr lang="en-US" sz="1600" dirty="0"/>
          </a:p>
        </p:txBody>
      </p:sp>
      <p:sp>
        <p:nvSpPr>
          <p:cNvPr id="70" name="our question"/>
          <p:cNvSpPr/>
          <p:nvPr/>
        </p:nvSpPr>
        <p:spPr>
          <a:xfrm>
            <a:off x="548640" y="5257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DEEBF7"/>
          </a:solidFill>
          <a:ln w="9525">
            <a:solidFill>
              <a:srgbClr val="BDD7EE"/>
            </a:solidFill>
            <a:prstDash val="solid"/>
          </a:ln>
        </p:spPr>
      </p:sp>
      <p:sp>
        <p:nvSpPr>
          <p:cNvPr id="71" name="Text 15"/>
          <p:cNvSpPr txBox="1"/>
          <p:nvPr/>
        </p:nvSpPr>
        <p:spPr>
          <a:xfrm>
            <a:off x="777240" y="52578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472C4"/>
                </a:solidFill>
              </a:rPr>
              <a:t>Our question: where should the extra effort go?</a:t>
            </a:r>
            <a:endParaRPr lang="en-US" sz="1900" dirty="0"/>
          </a:p>
        </p:txBody>
      </p:sp>
      <p:sp>
        <p:nvSpPr>
          <p:cNvPr id="72" name="option a missing fact"/>
          <p:cNvSpPr/>
          <p:nvPr/>
        </p:nvSpPr>
        <p:spPr>
          <a:xfrm>
            <a:off x="5715000" y="5413248"/>
            <a:ext cx="182880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3" name="icon fact" descr="/NAS/SJ/POSTECH/nlp/figs/icons/fact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5824728" y="5495544"/>
            <a:ext cx="329184" cy="329184"/>
          </a:xfrm>
          <a:prstGeom prst="rect">
            <a:avLst/>
          </a:prstGeom>
        </p:spPr>
      </p:pic>
      <p:sp>
        <p:nvSpPr>
          <p:cNvPr id="74" name="Text 17"/>
          <p:cNvSpPr txBox="1"/>
          <p:nvPr/>
        </p:nvSpPr>
        <p:spPr>
          <a:xfrm>
            <a:off x="621792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missing fact</a:t>
            </a:r>
            <a:endParaRPr lang="en-US" sz="1500" dirty="0"/>
          </a:p>
        </p:txBody>
      </p:sp>
      <p:sp>
        <p:nvSpPr>
          <p:cNvPr id="75" name="option a free check"/>
          <p:cNvSpPr/>
          <p:nvPr/>
        </p:nvSpPr>
        <p:spPr>
          <a:xfrm>
            <a:off x="7680960" y="5413248"/>
            <a:ext cx="1828800" cy="502920"/>
          </a:xfrm>
          <a:prstGeom prst="roundRect">
            <a:avLst>
              <a:gd name="adj" fmla="val 36364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6" name="icon check" descr="/NAS/SJ/POSTECH/nlp/figs/icons/check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790688" y="5495544"/>
            <a:ext cx="329184" cy="329184"/>
          </a:xfrm>
          <a:prstGeom prst="rect">
            <a:avLst/>
          </a:prstGeom>
        </p:spPr>
      </p:pic>
      <p:sp>
        <p:nvSpPr>
          <p:cNvPr id="77" name="Text 19"/>
          <p:cNvSpPr txBox="1"/>
          <p:nvPr/>
        </p:nvSpPr>
        <p:spPr>
          <a:xfrm>
            <a:off x="818388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761D"/>
                </a:solidFill>
              </a:rPr>
              <a:t>a free check</a:t>
            </a:r>
            <a:endParaRPr lang="en-US" sz="1500" dirty="0"/>
          </a:p>
        </p:txBody>
      </p:sp>
      <p:sp>
        <p:nvSpPr>
          <p:cNvPr id="78" name="option more thinking"/>
          <p:cNvSpPr/>
          <p:nvPr/>
        </p:nvSpPr>
        <p:spPr>
          <a:xfrm>
            <a:off x="9646920" y="5413248"/>
            <a:ext cx="1828800" cy="502920"/>
          </a:xfrm>
          <a:prstGeom prst="roundRect">
            <a:avLst>
              <a:gd name="adj" fmla="val 36364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79" name="icon brain" descr="/NAS/SJ/POSTECH/nlp/figs/icons/brain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9756648" y="5495544"/>
            <a:ext cx="329184" cy="329184"/>
          </a:xfrm>
          <a:prstGeom prst="rect">
            <a:avLst/>
          </a:prstGeom>
        </p:spPr>
      </p:pic>
      <p:sp>
        <p:nvSpPr>
          <p:cNvPr id="80" name="Text 21"/>
          <p:cNvSpPr txBox="1"/>
          <p:nvPr/>
        </p:nvSpPr>
        <p:spPr>
          <a:xfrm>
            <a:off x="10149840" y="5413248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</a:rPr>
              <a:t>more thinking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1: give the fact, not the manual</a:t>
            </a:r>
            <a:endParaRPr lang="en-US" sz="3600" dirty="0"/>
          </a:p>
        </p:txBody>
      </p:sp>
      <p:sp>
        <p:nvSpPr>
          <p:cNvPr id="3" name="answer a missing fact"/>
          <p:cNvSpPr/>
          <p:nvPr/>
        </p:nvSpPr>
        <p:spPr>
          <a:xfrm>
            <a:off x="9646920" y="502920"/>
            <a:ext cx="1874520" cy="457200"/>
          </a:xfrm>
          <a:prstGeom prst="roundRect">
            <a:avLst>
              <a:gd name="adj" fmla="val 40000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answer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56692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04120" y="502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Qwen3-32B plans delivery routes with Google's OR-Tools library</a:t>
            </a:r>
            <a:endParaRPr lang="en-US" sz="1700" dirty="0"/>
          </a:p>
        </p:txBody>
      </p:sp>
      <p:sp>
        <p:nvSpPr>
          <p:cNvPr id="7" name="box with the whole manua"/>
          <p:cNvSpPr/>
          <p:nvPr/>
        </p:nvSpPr>
        <p:spPr>
          <a:xfrm>
            <a:off x="548640" y="178308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178308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 the whole manual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017520" y="205740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0" name="code RegisterUnaryLongLiv"/>
          <p:cNvSpPr/>
          <p:nvPr/>
        </p:nvSpPr>
        <p:spPr>
          <a:xfrm>
            <a:off x="3337560" y="178308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447288" y="178308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RegisterUnaryLongLivingCallback()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17830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✗ does not exist: crash</a:t>
            </a:r>
            <a:endParaRPr lang="en-US" sz="1700" dirty="0"/>
          </a:p>
        </p:txBody>
      </p:sp>
      <p:sp>
        <p:nvSpPr>
          <p:cNvPr id="13" name="box with 5 exact lines"/>
          <p:cNvSpPr/>
          <p:nvPr/>
        </p:nvSpPr>
        <p:spPr>
          <a:xfrm>
            <a:off x="548640" y="2514600"/>
            <a:ext cx="24688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25146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with 5 exact lines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017520" y="2788920"/>
            <a:ext cx="32004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6" name="code RegisterUnaryTransit"/>
          <p:cNvSpPr/>
          <p:nvPr/>
        </p:nvSpPr>
        <p:spPr>
          <a:xfrm>
            <a:off x="3337560" y="2514600"/>
            <a:ext cx="448056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447288" y="2514600"/>
            <a:ext cx="4261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RegisterUnaryTransitCallback()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00100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✓ runs: best route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337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Routing problems solved optimally (out of 100):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nothing extra</a:t>
            </a:r>
            <a:endParaRPr lang="en-US" sz="1600" dirty="0"/>
          </a:p>
        </p:txBody>
      </p:sp>
      <p:sp>
        <p:nvSpPr>
          <p:cNvPr id="21" name="bar nothing extra"/>
          <p:cNvSpPr/>
          <p:nvPr/>
        </p:nvSpPr>
        <p:spPr>
          <a:xfrm>
            <a:off x="3063240" y="3817620"/>
            <a:ext cx="1640434" cy="22860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95114" y="37490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23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longer</a:t>
            </a:r>
            <a:endParaRPr lang="en-US" sz="1600" dirty="0"/>
          </a:p>
        </p:txBody>
      </p:sp>
      <p:sp>
        <p:nvSpPr>
          <p:cNvPr id="24" name="bar think longer"/>
          <p:cNvSpPr/>
          <p:nvPr/>
        </p:nvSpPr>
        <p:spPr>
          <a:xfrm>
            <a:off x="3063240" y="4274820"/>
            <a:ext cx="213970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368650" y="4206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3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663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whole manual</a:t>
            </a:r>
            <a:endParaRPr lang="en-US" sz="1600" dirty="0"/>
          </a:p>
        </p:txBody>
      </p:sp>
      <p:sp>
        <p:nvSpPr>
          <p:cNvPr id="27" name="bar whole manual"/>
          <p:cNvSpPr/>
          <p:nvPr/>
        </p:nvSpPr>
        <p:spPr>
          <a:xfrm>
            <a:off x="3063240" y="4732020"/>
            <a:ext cx="499262" cy="22860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53942" y="4663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7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 exact lines</a:t>
            </a:r>
            <a:endParaRPr lang="en-US" sz="1600" dirty="0"/>
          </a:p>
        </p:txBody>
      </p:sp>
      <p:sp>
        <p:nvSpPr>
          <p:cNvPr id="30" name="bar 5 exact lines"/>
          <p:cNvSpPr/>
          <p:nvPr/>
        </p:nvSpPr>
        <p:spPr>
          <a:xfrm>
            <a:off x="3063240" y="5189220"/>
            <a:ext cx="5919826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74506" y="5120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77–90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Thinking cannot supply a fact the model does not have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Finding 2: think only when a free check fails</a:t>
            </a:r>
            <a:endParaRPr lang="en-US" sz="3600" dirty="0"/>
          </a:p>
        </p:txBody>
      </p:sp>
      <p:sp>
        <p:nvSpPr>
          <p:cNvPr id="3" name="answer a free check"/>
          <p:cNvSpPr/>
          <p:nvPr/>
        </p:nvSpPr>
        <p:spPr>
          <a:xfrm>
            <a:off x="9646920" y="502920"/>
            <a:ext cx="1874520" cy="457200"/>
          </a:xfrm>
          <a:prstGeom prst="roundRect">
            <a:avLst>
              <a:gd name="adj" fmla="val 40000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answer icon check" descr="/NAS/SJ/POSTECH/nlp/figs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0" y="56692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104120" y="502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6" name="Check A: the problem's own examples"/>
          <p:cNvSpPr/>
          <p:nvPr/>
        </p:nvSpPr>
        <p:spPr>
          <a:xfrm>
            <a:off x="548640" y="12344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3258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A: the problem's own examples</a:t>
            </a:r>
            <a:endParaRPr lang="en-US" sz="1800" dirty="0"/>
          </a:p>
        </p:txBody>
      </p:sp>
      <p:sp>
        <p:nvSpPr>
          <p:cNvPr id="8" name="box &quot;Make a triangle!&quot;: "/>
          <p:cNvSpPr/>
          <p:nvPr/>
        </p:nvSpPr>
        <p:spPr>
          <a:xfrm>
            <a:off x="777240" y="187452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50392" y="187452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"Make a triangle!": examples pass → submit</a:t>
            </a:r>
            <a:endParaRPr lang="en-US" sz="1500" dirty="0"/>
          </a:p>
        </p:txBody>
      </p:sp>
      <p:sp>
        <p:nvSpPr>
          <p:cNvPr id="10" name="box &quot;Arrow&quot;: an example "/>
          <p:cNvSpPr/>
          <p:nvPr/>
        </p:nvSpPr>
        <p:spPr>
          <a:xfrm>
            <a:off x="777240" y="253288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50392" y="253288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"Arrow": an example fails → think harder → right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311 contest problems (gpt-oss-120b)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2651760" y="3657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56616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023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 hard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651760" y="4023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66.2%</a:t>
            </a:r>
            <a:endParaRPr lang="en-US" sz="1700" dirty="0"/>
          </a:p>
        </p:txBody>
      </p:sp>
      <p:sp>
        <p:nvSpPr>
          <p:cNvPr id="17" name="tokens always think hard"/>
          <p:cNvSpPr/>
          <p:nvPr/>
        </p:nvSpPr>
        <p:spPr>
          <a:xfrm>
            <a:off x="3566160" y="412394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12064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30k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5537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on failure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51760" y="45537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66.3%</a:t>
            </a:r>
            <a:endParaRPr lang="en-US" sz="1700" dirty="0"/>
          </a:p>
        </p:txBody>
      </p:sp>
      <p:sp>
        <p:nvSpPr>
          <p:cNvPr id="21" name="tokens only on failure"/>
          <p:cNvSpPr/>
          <p:nvPr/>
        </p:nvSpPr>
        <p:spPr>
          <a:xfrm>
            <a:off x="3566160" y="4654296"/>
            <a:ext cx="1200568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858168" y="45537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25k</a:t>
            </a:r>
            <a:endParaRPr lang="en-US" sz="1500" dirty="0"/>
          </a:p>
        </p:txBody>
      </p:sp>
      <p:sp>
        <p:nvSpPr>
          <p:cNvPr id="23" name="Check B: two versions must agree"/>
          <p:cNvSpPr/>
          <p:nvPr/>
        </p:nvSpPr>
        <p:spPr>
          <a:xfrm>
            <a:off x="6172200" y="123444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1325880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Check B: two versions must agree</a:t>
            </a:r>
            <a:endParaRPr lang="en-US" sz="1800" dirty="0"/>
          </a:p>
        </p:txBody>
      </p:sp>
      <p:sp>
        <p:nvSpPr>
          <p:cNvPr id="25" name="box program A (task only"/>
          <p:cNvSpPr/>
          <p:nvPr/>
        </p:nvSpPr>
        <p:spPr>
          <a:xfrm>
            <a:off x="6400800" y="1874520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73952" y="1874520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8761D"/>
                </a:solidFill>
              </a:rPr>
              <a:t>program A (task only) → 6</a:t>
            </a:r>
            <a:endParaRPr lang="en-US" sz="1500" dirty="0"/>
          </a:p>
        </p:txBody>
      </p:sp>
      <p:sp>
        <p:nvSpPr>
          <p:cNvPr id="27" name="box program B (+ helper "/>
          <p:cNvSpPr/>
          <p:nvPr/>
        </p:nvSpPr>
        <p:spPr>
          <a:xfrm>
            <a:off x="6400800" y="2532888"/>
            <a:ext cx="4983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473952" y="2532888"/>
            <a:ext cx="4837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00000"/>
                </a:solidFill>
              </a:rPr>
              <a:t>program B (+ helper code) → 0: differ → think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0" y="3246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108 geometry problems (Qwen3-32B, 3 runs)</a:t>
            </a:r>
            <a:endParaRPr lang="en-US" sz="1500" dirty="0"/>
          </a:p>
        </p:txBody>
      </p:sp>
      <p:sp>
        <p:nvSpPr>
          <p:cNvPr id="30" name="Text 27"/>
          <p:cNvSpPr txBox="1"/>
          <p:nvPr/>
        </p:nvSpPr>
        <p:spPr>
          <a:xfrm>
            <a:off x="8275320" y="365760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9189720" y="36576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0" y="4023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always think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8275320" y="4023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98%</a:t>
            </a:r>
            <a:endParaRPr lang="en-US" sz="1700" dirty="0"/>
          </a:p>
        </p:txBody>
      </p:sp>
      <p:sp>
        <p:nvSpPr>
          <p:cNvPr id="34" name="tokens always think"/>
          <p:cNvSpPr/>
          <p:nvPr/>
        </p:nvSpPr>
        <p:spPr>
          <a:xfrm>
            <a:off x="9189720" y="4123944"/>
            <a:ext cx="146304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074420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5.9k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6400800" y="45537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if they differ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275320" y="45537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99%</a:t>
            </a:r>
            <a:endParaRPr lang="en-US" sz="1700" dirty="0"/>
          </a:p>
        </p:txBody>
      </p:sp>
      <p:sp>
        <p:nvSpPr>
          <p:cNvPr id="38" name="tokens only if they differ"/>
          <p:cNvSpPr/>
          <p:nvPr/>
        </p:nvSpPr>
        <p:spPr>
          <a:xfrm>
            <a:off x="9189720" y="4654296"/>
            <a:ext cx="10662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347443" y="455371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4.3k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Same accuracy as always thinking, with 18–27% fewer tokens; no answers needed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Our method: cheap steps first</a:t>
            </a:r>
            <a:endParaRPr lang="en-US" sz="3600" dirty="0"/>
          </a:p>
        </p:txBody>
      </p:sp>
      <p:sp>
        <p:nvSpPr>
          <p:cNvPr id="3" name="answer a missing fact"/>
          <p:cNvSpPr/>
          <p:nvPr/>
        </p:nvSpPr>
        <p:spPr>
          <a:xfrm>
            <a:off x="7680960" y="502920"/>
            <a:ext cx="1874520" cy="457200"/>
          </a:xfrm>
          <a:prstGeom prst="roundRect">
            <a:avLst>
              <a:gd name="adj" fmla="val 40000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4" name="answer icon fact" descr="/NAS/SJ/POSTECH/nlp/figs/icons/f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0" y="56692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38160" y="502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missing fact</a:t>
            </a:r>
            <a:endParaRPr lang="en-US" sz="1400" dirty="0"/>
          </a:p>
        </p:txBody>
      </p:sp>
      <p:sp>
        <p:nvSpPr>
          <p:cNvPr id="6" name="answer a free check"/>
          <p:cNvSpPr/>
          <p:nvPr/>
        </p:nvSpPr>
        <p:spPr>
          <a:xfrm>
            <a:off x="9646920" y="502920"/>
            <a:ext cx="1874520" cy="457200"/>
          </a:xfrm>
          <a:prstGeom prst="roundRect">
            <a:avLst>
              <a:gd name="adj" fmla="val 40000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pic>
        <p:nvPicPr>
          <p:cNvPr id="7" name="answer icon check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566928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104120" y="5029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761D"/>
                </a:solidFill>
              </a:rPr>
              <a:t>a free check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One real problem (Qwen3-8B): products X, Y, Z at $10, $15, $20 under three limits; minimum cost? → 20000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1 Program</a:t>
            </a:r>
            <a:endParaRPr lang="en-US" sz="1700" dirty="0"/>
          </a:p>
        </p:txBody>
      </p:sp>
      <p:sp>
        <p:nvSpPr>
          <p:cNvPr id="11" name="step 1 Program"/>
          <p:cNvSpPr/>
          <p:nvPr/>
        </p:nvSpPr>
        <p:spPr>
          <a:xfrm>
            <a:off x="54864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179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Objective()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.Minimize()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64008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✗ crash, no fact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265176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5" name="Text 11"/>
          <p:cNvSpPr txBox="1"/>
          <p:nvPr/>
        </p:nvSpPr>
        <p:spPr>
          <a:xfrm>
            <a:off x="278892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2 + Fact</a:t>
            </a:r>
            <a:endParaRPr lang="en-US" sz="1700" dirty="0"/>
          </a:p>
        </p:txBody>
      </p:sp>
      <p:sp>
        <p:nvSpPr>
          <p:cNvPr id="16" name="step 2 + Fact"/>
          <p:cNvSpPr/>
          <p:nvPr/>
        </p:nvSpPr>
        <p:spPr>
          <a:xfrm>
            <a:off x="278892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286207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876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.Minimize(...)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288036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found automatically: its own checked program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489204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2920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3 Free check</a:t>
            </a:r>
            <a:endParaRPr lang="en-US" sz="1700" dirty="0"/>
          </a:p>
        </p:txBody>
      </p:sp>
      <p:sp>
        <p:nvSpPr>
          <p:cNvPr id="21" name="step 3 Free check"/>
          <p:cNvSpPr/>
          <p:nvPr/>
        </p:nvSpPr>
        <p:spPr>
          <a:xfrm>
            <a:off x="502920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E2F0D9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10235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876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20000 = 20000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512064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second version agrees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713232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726948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4 Think?</a:t>
            </a:r>
            <a:endParaRPr lang="en-US" sz="1700" dirty="0"/>
          </a:p>
        </p:txBody>
      </p:sp>
      <p:sp>
        <p:nvSpPr>
          <p:cNvPr id="26" name="step 4 Think?"/>
          <p:cNvSpPr/>
          <p:nvPr/>
        </p:nvSpPr>
        <p:spPr>
          <a:xfrm>
            <a:off x="726948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F2F2F2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34263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1800" dirty="0"/>
          </a:p>
        </p:txBody>
      </p:sp>
      <p:sp>
        <p:nvSpPr>
          <p:cNvPr id="28" name="Text 24"/>
          <p:cNvSpPr txBox="1"/>
          <p:nvPr/>
        </p:nvSpPr>
        <p:spPr>
          <a:xfrm>
            <a:off x="736092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only if they differ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9372600" y="2670048"/>
            <a:ext cx="13716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9509760" y="16276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5 Reuse</a:t>
            </a:r>
            <a:endParaRPr lang="en-US" sz="1700" dirty="0"/>
          </a:p>
        </p:txBody>
      </p:sp>
      <p:sp>
        <p:nvSpPr>
          <p:cNvPr id="31" name="step 5 Reuse"/>
          <p:cNvSpPr/>
          <p:nvPr/>
        </p:nvSpPr>
        <p:spPr>
          <a:xfrm>
            <a:off x="9509760" y="2011680"/>
            <a:ext cx="2103120" cy="1325880"/>
          </a:xfrm>
          <a:prstGeom prst="roundRect">
            <a:avLst>
              <a:gd name="adj" fmla="val 5517"/>
            </a:avLst>
          </a:prstGeom>
          <a:solidFill>
            <a:srgbClr val="DEEBF7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582912" y="2057400"/>
            <a:ext cx="19568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47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program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601200" y="265176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same kind, new data</a:t>
            </a:r>
            <a:endParaRPr lang="en-US" sz="1400" dirty="0"/>
          </a:p>
        </p:txBody>
      </p:sp>
      <p:sp>
        <p:nvSpPr>
          <p:cNvPr id="34" name="Text 30"/>
          <p:cNvSpPr txBox="1"/>
          <p:nvPr/>
        </p:nvSpPr>
        <p:spPr>
          <a:xfrm>
            <a:off x="548640" y="36118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All 624 geometry and optimization problems, 3 models:</a:t>
            </a:r>
            <a:endParaRPr lang="en-US" sz="1600" dirty="0"/>
          </a:p>
        </p:txBody>
      </p:sp>
      <p:sp>
        <p:nvSpPr>
          <p:cNvPr id="35" name="Text 31"/>
          <p:cNvSpPr txBox="1"/>
          <p:nvPr/>
        </p:nvSpPr>
        <p:spPr>
          <a:xfrm>
            <a:off x="2560320" y="39776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solved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3474720" y="3977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7F7F"/>
                </a:solidFill>
              </a:rPr>
              <a:t>tokens per problem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548640" y="4343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think on hardest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2560320" y="43434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F7F7F"/>
                </a:solidFill>
              </a:rPr>
              <a:t>74%</a:t>
            </a:r>
            <a:endParaRPr lang="en-US" sz="1700" dirty="0"/>
          </a:p>
        </p:txBody>
      </p:sp>
      <p:sp>
        <p:nvSpPr>
          <p:cNvPr id="39" name="tokens think on hardest"/>
          <p:cNvSpPr/>
          <p:nvPr/>
        </p:nvSpPr>
        <p:spPr>
          <a:xfrm>
            <a:off x="3474720" y="4443984"/>
            <a:ext cx="2743200" cy="256032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309360" y="4343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</a:rPr>
              <a:t>4.1k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548640" y="487375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our method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2560320" y="48737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87%</a:t>
            </a:r>
            <a:endParaRPr lang="en-US" sz="1700" dirty="0"/>
          </a:p>
        </p:txBody>
      </p:sp>
      <p:sp>
        <p:nvSpPr>
          <p:cNvPr id="43" name="tokens our method"/>
          <p:cNvSpPr/>
          <p:nvPr/>
        </p:nvSpPr>
        <p:spPr>
          <a:xfrm>
            <a:off x="3474720" y="4974336"/>
            <a:ext cx="1672683" cy="256032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238843" y="487375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472C4"/>
                </a:solidFill>
              </a:rPr>
              <a:t>2.5k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7498080" y="361188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79% = 79%</a:t>
            </a:r>
            <a:endParaRPr lang="en-US" sz="2400" dirty="0"/>
          </a:p>
        </p:txBody>
      </p:sp>
      <p:sp>
        <p:nvSpPr>
          <p:cNvPr id="46" name="Text 42"/>
          <p:cNvSpPr txBox="1"/>
          <p:nvPr/>
        </p:nvSpPr>
        <p:spPr>
          <a:xfrm>
            <a:off x="7498080" y="405079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fact found automatically (its own earlier checked program) = a hand-written fact, on new problems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7498080" y="4572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472C4"/>
                </a:solidFill>
              </a:rPr>
              <a:t>0.6k vs 5.3k</a:t>
            </a:r>
            <a:endParaRPr lang="en-US" sz="2400" dirty="0"/>
          </a:p>
        </p:txBody>
      </p:sp>
      <p:sp>
        <p:nvSpPr>
          <p:cNvPr id="48" name="Text 44"/>
          <p:cNvSpPr txBox="1"/>
          <p:nvPr/>
        </p:nvSpPr>
        <p:spPr>
          <a:xfrm>
            <a:off x="7498080" y="501091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tokens on this problem vs thinking alone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More accurate and cheaper than spending thinking on the hardest-looking problems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What is new, and what is next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F7F7F"/>
                </a:solidFill>
              </a:rPr>
              <a:t>The usual way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766560" y="1188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Ours</a:t>
            </a:r>
            <a:endParaRPr lang="en-US" sz="1600" dirty="0"/>
          </a:p>
        </p:txBody>
      </p:sp>
      <p:sp>
        <p:nvSpPr>
          <p:cNvPr id="5" name="box "/>
          <p:cNvSpPr/>
          <p:nvPr/>
        </p:nvSpPr>
        <p:spPr>
          <a:xfrm>
            <a:off x="54864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7" name="usual icon 0" descr="/NAS/SJ/POSTECH/nlp/figs/icons/b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3444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think more on hard-looking problems, or train when to think</a:t>
            </a:r>
            <a:endParaRPr lang="en-US" sz="1500" dirty="0"/>
          </a:p>
        </p:txBody>
      </p:sp>
      <p:sp>
        <p:nvSpPr>
          <p:cNvPr id="9" name="arrow 0"/>
          <p:cNvSpPr/>
          <p:nvPr/>
        </p:nvSpPr>
        <p:spPr>
          <a:xfrm>
            <a:off x="5577840" y="175564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0" name="box "/>
          <p:cNvSpPr/>
          <p:nvPr/>
        </p:nvSpPr>
        <p:spPr>
          <a:xfrm>
            <a:off x="6766560" y="160020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39712" y="160020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2" name="ours icon 0" descr="/NAS/SJ/POSTECH/nlp/figs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73736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60020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think only when a free check fails; no training (87% vs 74%)</a:t>
            </a:r>
            <a:endParaRPr lang="en-US" sz="1500" dirty="0"/>
          </a:p>
        </p:txBody>
      </p:sp>
      <p:sp>
        <p:nvSpPr>
          <p:cNvPr id="14" name="box "/>
          <p:cNvSpPr/>
          <p:nvPr/>
        </p:nvSpPr>
        <p:spPr>
          <a:xfrm>
            <a:off x="54864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2179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16" name="usual icon 1" descr="/NAS/SJ/POSTECH/nlp/figs/icons/p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3444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give the manual, or a teacher's programs checked against answers</a:t>
            </a:r>
            <a:endParaRPr lang="en-US" sz="1500" dirty="0"/>
          </a:p>
        </p:txBody>
      </p:sp>
      <p:sp>
        <p:nvSpPr>
          <p:cNvPr id="18" name="arrow 1"/>
          <p:cNvSpPr/>
          <p:nvPr/>
        </p:nvSpPr>
        <p:spPr>
          <a:xfrm>
            <a:off x="5577840" y="257860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9" name="box "/>
          <p:cNvSpPr/>
          <p:nvPr/>
        </p:nvSpPr>
        <p:spPr>
          <a:xfrm>
            <a:off x="6766560" y="242316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839712" y="242316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1" name="ours icon 1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56032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24231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give one fact: the model's own checked program; no answers</a:t>
            </a:r>
            <a:endParaRPr lang="en-US" sz="1500" dirty="0"/>
          </a:p>
        </p:txBody>
      </p:sp>
      <p:sp>
        <p:nvSpPr>
          <p:cNvPr id="23" name="box "/>
          <p:cNvSpPr/>
          <p:nvPr/>
        </p:nvSpPr>
        <p:spPr>
          <a:xfrm>
            <a:off x="54864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62179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25" name="usual icon 2" descr="/NAS/SJ/POSTECH/nlp/figs/icons/robo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83280"/>
            <a:ext cx="411480" cy="41148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3444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</a:rPr>
              <a:t>fine-tune a specialist model (ORLM-8B)</a:t>
            </a:r>
            <a:endParaRPr lang="en-US" sz="1500" dirty="0"/>
          </a:p>
        </p:txBody>
      </p:sp>
      <p:sp>
        <p:nvSpPr>
          <p:cNvPr id="27" name="arrow 2"/>
          <p:cNvSpPr/>
          <p:nvPr/>
        </p:nvSpPr>
        <p:spPr>
          <a:xfrm>
            <a:off x="5577840" y="3401568"/>
            <a:ext cx="1005840" cy="384048"/>
          </a:xfrm>
          <a:prstGeom prst="rightArrow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8" name="box "/>
          <p:cNvSpPr/>
          <p:nvPr/>
        </p:nvSpPr>
        <p:spPr>
          <a:xfrm>
            <a:off x="6766560" y="3246120"/>
            <a:ext cx="4846320" cy="6858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839712" y="3246120"/>
            <a:ext cx="47000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pic>
        <p:nvPicPr>
          <p:cNvPr id="30" name="ours icon 2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3720" y="3383280"/>
            <a:ext cx="411480" cy="4114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7452360" y="324612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no training, one 24 GB GPU: the same 69.5% on MAMO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48640" y="4114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Next, until the final report</a:t>
            </a:r>
            <a:endParaRPr lang="en-US" sz="1600" dirty="0"/>
          </a:p>
        </p:txBody>
      </p:sp>
      <p:sp>
        <p:nvSpPr>
          <p:cNvPr id="33" name="Shape 25"/>
          <p:cNvSpPr/>
          <p:nvPr/>
        </p:nvSpPr>
        <p:spPr>
          <a:xfrm>
            <a:off x="2194560" y="4800600"/>
            <a:ext cx="7772400" cy="0"/>
          </a:xfrm>
          <a:prstGeom prst="line">
            <a:avLst/>
          </a:prstGeom>
          <a:noFill/>
          <a:ln w="38100">
            <a:solidFill>
              <a:srgbClr val="BFBFBF"/>
            </a:solidFill>
            <a:prstDash val="solid"/>
          </a:ln>
        </p:spPr>
      </p:sp>
      <p:sp>
        <p:nvSpPr>
          <p:cNvPr id="34" name="milestone 0"/>
          <p:cNvSpPr/>
          <p:nvPr/>
        </p:nvSpPr>
        <p:spPr>
          <a:xfrm>
            <a:off x="19202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5" name="milestone icon 0" descr="/NAS/SJ/POSTECH/nlp/figs/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20824" y="4626864"/>
            <a:ext cx="347472" cy="34747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86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finish the held-out test on more models</a:t>
            </a:r>
            <a:endParaRPr lang="en-US" sz="1500" dirty="0"/>
          </a:p>
        </p:txBody>
      </p:sp>
      <p:sp>
        <p:nvSpPr>
          <p:cNvPr id="37" name="milestone 1"/>
          <p:cNvSpPr/>
          <p:nvPr/>
        </p:nvSpPr>
        <p:spPr>
          <a:xfrm>
            <a:off x="58064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38" name="milestone icon 1" descr="/NAS/SJ/POSTECH/nlp/figs/icons/war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07024" y="4626864"/>
            <a:ext cx="347472" cy="34747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44348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errors no check catches: programs that run but model the problem wrong</a:t>
            </a:r>
            <a:endParaRPr lang="en-US" sz="1500" dirty="0"/>
          </a:p>
        </p:txBody>
      </p:sp>
      <p:sp>
        <p:nvSpPr>
          <p:cNvPr id="40" name="milestone 2"/>
          <p:cNvSpPr/>
          <p:nvPr/>
        </p:nvSpPr>
        <p:spPr>
          <a:xfrm>
            <a:off x="9692640" y="4526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4472C4"/>
            </a:solidFill>
            <a:prstDash val="solid"/>
          </a:ln>
        </p:spPr>
      </p:sp>
      <p:pic>
        <p:nvPicPr>
          <p:cNvPr id="41" name="milestone icon 2" descr="/NAS/SJ/POSTECH/nlp/figs/icons/cod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793224" y="4626864"/>
            <a:ext cx="347472" cy="347472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21040" y="51023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facts for every problem type; report and code</a:t>
            </a:r>
            <a:endParaRPr lang="en-US" sz="150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Takeaway: give the missing fact first, and think only where a free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Thank you: questions?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472C4"/>
                </a:solidFill>
              </a:rPr>
              <a:t>Extra pages for questions (type the number and press Enter in the slide show)</a:t>
            </a:r>
            <a:endParaRPr lang="en-US" sz="1700" dirty="0"/>
          </a:p>
        </p:txBody>
      </p:sp>
      <p:sp>
        <p:nvSpPr>
          <p:cNvPr id="4" name="box "/>
          <p:cNvSpPr/>
          <p:nvPr/>
        </p:nvSpPr>
        <p:spPr>
          <a:xfrm>
            <a:off x="548640" y="18288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8288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Setup and fairness</a:t>
            </a:r>
            <a:endParaRPr lang="en-US" sz="1600" dirty="0"/>
          </a:p>
        </p:txBody>
      </p:sp>
      <p:sp>
        <p:nvSpPr>
          <p:cNvPr id="7" name="box "/>
          <p:cNvSpPr/>
          <p:nvPr/>
        </p:nvSpPr>
        <p:spPr>
          <a:xfrm>
            <a:off x="3337560" y="18288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10712" y="18288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How hard: contest ranks, exams</a:t>
            </a:r>
            <a:endParaRPr lang="en-US" sz="1600" dirty="0"/>
          </a:p>
        </p:txBody>
      </p:sp>
      <p:sp>
        <p:nvSpPr>
          <p:cNvPr id="10" name="box "/>
          <p:cNvSpPr/>
          <p:nvPr/>
        </p:nvSpPr>
        <p:spPr>
          <a:xfrm>
            <a:off x="6126480" y="18288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18288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Two versions, in detail</a:t>
            </a:r>
            <a:endParaRPr lang="en-US" sz="1600" dirty="0"/>
          </a:p>
        </p:txBody>
      </p:sp>
      <p:sp>
        <p:nvSpPr>
          <p:cNvPr id="13" name="box "/>
          <p:cNvSpPr/>
          <p:nvPr/>
        </p:nvSpPr>
        <p:spPr>
          <a:xfrm>
            <a:off x="8915400" y="18288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88552" y="18288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18288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examples check, in detail</a:t>
            </a:r>
            <a:endParaRPr lang="en-US" sz="1600" dirty="0"/>
          </a:p>
        </p:txBody>
      </p:sp>
      <p:sp>
        <p:nvSpPr>
          <p:cNvPr id="16" name="box "/>
          <p:cNvSpPr/>
          <p:nvPr/>
        </p:nvSpPr>
        <p:spPr>
          <a:xfrm>
            <a:off x="548640" y="27432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27432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27432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Facts without a human, in detail</a:t>
            </a:r>
            <a:endParaRPr lang="en-US" sz="1600" dirty="0"/>
          </a:p>
        </p:txBody>
      </p:sp>
      <p:sp>
        <p:nvSpPr>
          <p:cNvPr id="19" name="box "/>
          <p:cNvSpPr/>
          <p:nvPr/>
        </p:nvSpPr>
        <p:spPr>
          <a:xfrm>
            <a:off x="3337560" y="27432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10712" y="27432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27432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15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fact helps small models most</a:t>
            </a:r>
            <a:endParaRPr lang="en-US" sz="1600" dirty="0"/>
          </a:p>
        </p:txBody>
      </p:sp>
      <p:sp>
        <p:nvSpPr>
          <p:cNvPr id="22" name="box "/>
          <p:cNvSpPr/>
          <p:nvPr/>
        </p:nvSpPr>
        <p:spPr>
          <a:xfrm>
            <a:off x="6126480" y="27432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99632" y="27432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27432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16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Reuse a checked program</a:t>
            </a:r>
            <a:endParaRPr lang="en-US" sz="1600" dirty="0"/>
          </a:p>
        </p:txBody>
      </p:sp>
      <p:sp>
        <p:nvSpPr>
          <p:cNvPr id="25" name="box "/>
          <p:cNvSpPr/>
          <p:nvPr/>
        </p:nvSpPr>
        <p:spPr>
          <a:xfrm>
            <a:off x="8915400" y="27432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988552" y="27432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052560" y="27432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17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policies, cost vs accuracy</a:t>
            </a:r>
            <a:endParaRPr lang="en-US" sz="1600" dirty="0"/>
          </a:p>
        </p:txBody>
      </p:sp>
      <p:sp>
        <p:nvSpPr>
          <p:cNvPr id="28" name="box "/>
          <p:cNvSpPr/>
          <p:nvPr/>
        </p:nvSpPr>
        <p:spPr>
          <a:xfrm>
            <a:off x="548640" y="36576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6576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18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It pays off: small GPU, 30 labels</a:t>
            </a:r>
            <a:endParaRPr lang="en-US" sz="1600" dirty="0"/>
          </a:p>
        </p:txBody>
      </p:sp>
      <p:sp>
        <p:nvSpPr>
          <p:cNvPr id="31" name="box "/>
          <p:cNvSpPr/>
          <p:nvPr/>
        </p:nvSpPr>
        <p:spPr>
          <a:xfrm>
            <a:off x="3337560" y="36576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10712" y="36576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347472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19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Compared with published methods</a:t>
            </a:r>
            <a:endParaRPr lang="en-US" sz="1600" dirty="0"/>
          </a:p>
        </p:txBody>
      </p:sp>
      <p:sp>
        <p:nvSpPr>
          <p:cNvPr id="34" name="box "/>
          <p:cNvSpPr/>
          <p:nvPr/>
        </p:nvSpPr>
        <p:spPr>
          <a:xfrm>
            <a:off x="6126480" y="36576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199632" y="36576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626364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20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Related research map</a:t>
            </a:r>
            <a:endParaRPr lang="en-US" sz="1600" dirty="0"/>
          </a:p>
        </p:txBody>
      </p:sp>
      <p:sp>
        <p:nvSpPr>
          <p:cNvPr id="37" name="box "/>
          <p:cNvSpPr/>
          <p:nvPr/>
        </p:nvSpPr>
        <p:spPr>
          <a:xfrm>
            <a:off x="8915400" y="36576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988552" y="36576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9052560" y="36576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Numbers reported in papers</a:t>
            </a:r>
            <a:endParaRPr lang="en-US" sz="1600" dirty="0"/>
          </a:p>
        </p:txBody>
      </p:sp>
      <p:sp>
        <p:nvSpPr>
          <p:cNvPr id="40" name="box "/>
          <p:cNvSpPr/>
          <p:nvPr/>
        </p:nvSpPr>
        <p:spPr>
          <a:xfrm>
            <a:off x="548640" y="45720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45720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45720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Proofs need a specialized model</a:t>
            </a:r>
            <a:endParaRPr lang="en-US" sz="1600" dirty="0"/>
          </a:p>
        </p:txBody>
      </p:sp>
      <p:sp>
        <p:nvSpPr>
          <p:cNvPr id="43" name="box "/>
          <p:cNvSpPr/>
          <p:nvPr/>
        </p:nvSpPr>
        <p:spPr>
          <a:xfrm>
            <a:off x="3337560" y="45720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410712" y="45720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3474720" y="45720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Where the recipe stops</a:t>
            </a:r>
            <a:endParaRPr lang="en-US" sz="1600" dirty="0"/>
          </a:p>
        </p:txBody>
      </p:sp>
      <p:sp>
        <p:nvSpPr>
          <p:cNvPr id="46" name="box "/>
          <p:cNvSpPr/>
          <p:nvPr/>
        </p:nvSpPr>
        <p:spPr>
          <a:xfrm>
            <a:off x="6126480" y="45720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199632" y="45720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48" name="Text 46"/>
          <p:cNvSpPr txBox="1"/>
          <p:nvPr/>
        </p:nvSpPr>
        <p:spPr>
          <a:xfrm>
            <a:off x="6263640" y="45720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findings at a glance</a:t>
            </a:r>
            <a:endParaRPr lang="en-US" sz="1600" dirty="0"/>
          </a:p>
        </p:txBody>
      </p:sp>
      <p:sp>
        <p:nvSpPr>
          <p:cNvPr id="49" name="box "/>
          <p:cNvSpPr/>
          <p:nvPr/>
        </p:nvSpPr>
        <p:spPr>
          <a:xfrm>
            <a:off x="8915400" y="457200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988552" y="457200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9052560" y="4572000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472C4"/>
                </a:solidFill>
              </a:rPr>
              <a:t>25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Words we use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setup and fairness</a:t>
            </a:r>
            <a:endParaRPr lang="en-US" sz="3600" dirty="0"/>
          </a:p>
        </p:txBody>
      </p:sp>
      <p:sp>
        <p:nvSpPr>
          <p:cNvPr id="3" name="Models"/>
          <p:cNvSpPr/>
          <p:nvPr/>
        </p:nvSpPr>
        <p:spPr>
          <a:xfrm>
            <a:off x="54864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robot" descr="/NAS/SJ/POSTECH/nlp/figs/icons/ro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63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open models run locally: Qwen3 1.7B–32B, Qwen3.6-35B, gpt-oss-20b and 120b; Goedel- and DeepSeek-Prover for proofs</a:t>
            </a:r>
            <a:endParaRPr lang="en-US" sz="1400" dirty="0"/>
          </a:p>
        </p:txBody>
      </p:sp>
      <p:sp>
        <p:nvSpPr>
          <p:cNvPr id="7" name="Benchmarks"/>
          <p:cNvSpPr/>
          <p:nvPr/>
        </p:nvSpPr>
        <p:spPr>
          <a:xfrm>
            <a:off x="6172200" y="12801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8" name="icon shapes" descr="/NAS/SJ/POSTECH/nlp/figs/icons/shap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46304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Benchmarks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949440" y="18745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13 geometry and 8 optimization tasks (generated); 311 Codeforces geometry; 56 Solomon routing; 82 job-shop; 1,208 word problems (NL4OPT, IndustryOR, MAMO); MATH-500 + AIME; miniF2F</a:t>
            </a:r>
            <a:endParaRPr lang="en-US" sz="1400" dirty="0"/>
          </a:p>
        </p:txBody>
      </p:sp>
      <p:sp>
        <p:nvSpPr>
          <p:cNvPr id="11" name="Exact scoring"/>
          <p:cNvSpPr/>
          <p:nvPr/>
        </p:nvSpPr>
        <p:spPr>
          <a:xfrm>
            <a:off x="54864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2" name="icon check" descr="/NAS/SJ/POSTECH/nlp/figs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063240"/>
            <a:ext cx="457200" cy="4572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Exact scoring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geometry right on all 8 moved copies; plans obey every rule; contest programs pass all official tests; math and word problems by exact answer</a:t>
            </a:r>
            <a:endParaRPr lang="en-US" sz="1400" dirty="0"/>
          </a:p>
        </p:txBody>
      </p:sp>
      <p:sp>
        <p:nvSpPr>
          <p:cNvPr id="15" name="Fair comparisons"/>
          <p:cNvSpPr/>
          <p:nvPr/>
        </p:nvSpPr>
        <p:spPr>
          <a:xfrm>
            <a:off x="6172200" y="28803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fact" descr="/NAS/SJ/POSTECH/nlp/figs/icons/f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06324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94944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Fair comparisons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6949440" y="34747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change at a time; predictions written before each run; every claim on 3 seeds; baselines run in our own harness</a:t>
            </a:r>
            <a:endParaRPr lang="en-US" sz="1400" dirty="0"/>
          </a:p>
        </p:txBody>
      </p:sp>
      <p:sp>
        <p:nvSpPr>
          <p:cNvPr id="19" name="Cost"/>
          <p:cNvSpPr/>
          <p:nvPr/>
        </p:nvSpPr>
        <p:spPr>
          <a:xfrm>
            <a:off x="54864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0" name="icon coins" descr="/NAS/SJ/POSTECH/nlp/figs/icons/coi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663440"/>
            <a:ext cx="457200" cy="45720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Cost</a:t>
            </a:r>
            <a:endParaRPr lang="en-US" sz="180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every result reported with its output tokens per problem</a:t>
            </a:r>
            <a:endParaRPr lang="en-US" sz="1400" dirty="0"/>
          </a:p>
        </p:txBody>
      </p:sp>
      <p:sp>
        <p:nvSpPr>
          <p:cNvPr id="23" name="Hardware"/>
          <p:cNvSpPr/>
          <p:nvPr/>
        </p:nvSpPr>
        <p:spPr>
          <a:xfrm>
            <a:off x="6172200" y="448056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4" name="icon gpu" descr="/NAS/SJ/POSTECH/nlp/figs/icons/gpu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663440"/>
            <a:ext cx="457200" cy="4572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949440" y="46177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Hardware</a:t>
            </a:r>
            <a:endParaRPr lang="en-US" sz="1800" dirty="0"/>
          </a:p>
        </p:txBody>
      </p:sp>
      <p:sp>
        <p:nvSpPr>
          <p:cNvPr id="26" name="Text 18"/>
          <p:cNvSpPr txBox="1"/>
          <p:nvPr/>
        </p:nvSpPr>
        <p:spPr>
          <a:xfrm>
            <a:off x="6949440" y="507492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model per GPU (RTX PRO 6000, 96 GB); the small models fit one 24 GB GPU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how hard, by contest ranks and exams</a:t>
            </a:r>
            <a:endParaRPr lang="en-US" sz="3600" dirty="0"/>
          </a:p>
        </p:txBody>
      </p:sp>
      <p:sp>
        <p:nvSpPr>
          <p:cNvPr id="3" name="kind Geometry"/>
          <p:cNvSpPr/>
          <p:nvPr/>
        </p:nvSpPr>
        <p:spPr>
          <a:xfrm>
            <a:off x="54864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4" name="icon shapes" descr="/NAS/SJ/POSTECH/nlp/figs/icons/sha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98448"/>
            <a:ext cx="438912" cy="43891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Geometry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How many corners does the rubber band around 10 points have?</a:t>
            </a:r>
            <a:endParaRPr lang="en-US" sz="1300" dirty="0"/>
          </a:p>
        </p:txBody>
      </p:sp>
      <p:sp>
        <p:nvSpPr>
          <p:cNvPr id="7" name="tag Geometry"/>
          <p:cNvSpPr/>
          <p:nvPr/>
        </p:nvSpPr>
        <p:spPr>
          <a:xfrm>
            <a:off x="64008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472C4"/>
                </a:solidFill>
              </a:rPr>
              <a:t>textbook algorithms, exact on every copy</a:t>
            </a:r>
            <a:endParaRPr lang="en-US" sz="1250" dirty="0"/>
          </a:p>
        </p:txBody>
      </p:sp>
      <p:sp>
        <p:nvSpPr>
          <p:cNvPr id="9" name="kind Contest problems"/>
          <p:cNvSpPr/>
          <p:nvPr/>
        </p:nvSpPr>
        <p:spPr>
          <a:xfrm>
            <a:off x="278892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0" name="icon trophy" descr="/NAS/SJ/POSTECH/nlp/figs/icons/troph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129844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2900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Contest problems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292608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311 Codeforces geometry problems, hidden tests</a:t>
            </a:r>
            <a:endParaRPr lang="en-US" sz="1300" dirty="0"/>
          </a:p>
        </p:txBody>
      </p:sp>
      <p:sp>
        <p:nvSpPr>
          <p:cNvPr id="13" name="tag Contest problems"/>
          <p:cNvSpPr/>
          <p:nvPr/>
        </p:nvSpPr>
        <p:spPr>
          <a:xfrm>
            <a:off x="288036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92608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00000"/>
                </a:solidFill>
              </a:rPr>
              <a:t>Codeforces Master to Grandmaster level</a:t>
            </a:r>
            <a:endParaRPr lang="en-US" sz="1250" dirty="0"/>
          </a:p>
        </p:txBody>
      </p:sp>
      <p:sp>
        <p:nvSpPr>
          <p:cNvPr id="15" name="kind Routing, scheduling"/>
          <p:cNvSpPr/>
          <p:nvPr/>
        </p:nvSpPr>
        <p:spPr>
          <a:xfrm>
            <a:off x="502920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16" name="icon truck" descr="/NAS/SJ/POSTECH/nlp/figs/icons/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6360" y="1298448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66928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Routing, scheduling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516636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routes for 100 customers with time windows</a:t>
            </a:r>
            <a:endParaRPr lang="en-US" sz="1300" dirty="0"/>
          </a:p>
        </p:txBody>
      </p:sp>
      <p:sp>
        <p:nvSpPr>
          <p:cNvPr id="19" name="tag Routing, scheduling"/>
          <p:cNvSpPr/>
          <p:nvPr/>
        </p:nvSpPr>
        <p:spPr>
          <a:xfrm>
            <a:off x="512064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D7D3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16636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D7D31"/>
                </a:solidFill>
              </a:rPr>
              <a:t>classic OR benchmark: a greedy plan is 48% worse</a:t>
            </a:r>
            <a:endParaRPr lang="en-US" sz="1250" dirty="0"/>
          </a:p>
        </p:txBody>
      </p:sp>
      <p:sp>
        <p:nvSpPr>
          <p:cNvPr id="21" name="kind Word problems"/>
          <p:cNvSpPr/>
          <p:nvPr/>
        </p:nvSpPr>
        <p:spPr>
          <a:xfrm>
            <a:off x="726948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2" name="icon calc" descr="/NAS/SJ/POSTECH/nlp/figs/icons/cal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1298448"/>
            <a:ext cx="438912" cy="43891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90956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Word problems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740664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most coins from 500 gold and 300 wires?</a:t>
            </a:r>
            <a:endParaRPr lang="en-US" sz="1300" dirty="0"/>
          </a:p>
        </p:txBody>
      </p:sp>
      <p:sp>
        <p:nvSpPr>
          <p:cNvPr id="25" name="tag Word problems"/>
          <p:cNvSpPr/>
          <p:nvPr/>
        </p:nvSpPr>
        <p:spPr>
          <a:xfrm>
            <a:off x="736092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38761D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40664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761D"/>
                </a:solidFill>
              </a:rPr>
              <a:t>OR-course exercises (NL4OPT, NeurIPS 2022)</a:t>
            </a:r>
            <a:endParaRPr lang="en-US" sz="1250" dirty="0"/>
          </a:p>
        </p:txBody>
      </p:sp>
      <p:sp>
        <p:nvSpPr>
          <p:cNvPr id="27" name="kind Math and proofs"/>
          <p:cNvSpPr/>
          <p:nvPr/>
        </p:nvSpPr>
        <p:spPr>
          <a:xfrm>
            <a:off x="9509760" y="1188720"/>
            <a:ext cx="2103120" cy="2148840"/>
          </a:xfrm>
          <a:prstGeom prst="roundRect">
            <a:avLst>
              <a:gd name="adj" fmla="val 3478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pic>
        <p:nvPicPr>
          <p:cNvPr id="28" name="icon sqrt" descr="/NAS/SJ/POSTECH/nlp/figs/icons/sq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46920" y="1298448"/>
            <a:ext cx="438912" cy="438912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0149840" y="128016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Math and proofs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9646920" y="182880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AIME answers; Lean proofs of olympiad statements</a:t>
            </a:r>
            <a:endParaRPr lang="en-US" sz="1300" dirty="0"/>
          </a:p>
        </p:txBody>
      </p:sp>
      <p:sp>
        <p:nvSpPr>
          <p:cNvPr id="31" name="tag Math and proofs"/>
          <p:cNvSpPr/>
          <p:nvPr/>
        </p:nvSpPr>
        <p:spPr>
          <a:xfrm>
            <a:off x="9601200" y="2697480"/>
            <a:ext cx="192024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964692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95959"/>
                </a:solidFill>
              </a:rPr>
              <a:t>AIME: top ~5% of AMC; IMO gold: 25.9/30</a:t>
            </a:r>
            <a:endParaRPr lang="en-US" sz="1250" dirty="0"/>
          </a:p>
        </p:txBody>
      </p:sp>
      <p:sp>
        <p:nvSpPr>
          <p:cNvPr id="33" name="Text 26"/>
          <p:cNvSpPr txBox="1"/>
          <p:nvPr/>
        </p:nvSpPr>
        <p:spPr>
          <a:xfrm>
            <a:off x="548640" y="3474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Our 311 contest problems by Codeforces rating, with the human rank at that level</a:t>
            </a:r>
            <a:endParaRPr lang="en-US" sz="1500" dirty="0"/>
          </a:p>
        </p:txBody>
      </p:sp>
      <p:sp>
        <p:nvSpPr>
          <p:cNvPr id="34" name="zone Newbie"/>
          <p:cNvSpPr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solidFill>
            <a:srgbClr val="E2F0D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914400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Newbie</a:t>
            </a:r>
            <a:endParaRPr lang="en-US" sz="1300" dirty="0"/>
          </a:p>
        </p:txBody>
      </p:sp>
      <p:sp>
        <p:nvSpPr>
          <p:cNvPr id="36" name="zone Pupil, Specialist"/>
          <p:cNvSpPr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solidFill>
            <a:srgbClr val="FFF2C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2403566" y="4983480"/>
            <a:ext cx="14891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Pupil, Specialist</a:t>
            </a:r>
            <a:endParaRPr lang="en-US" sz="1300" dirty="0"/>
          </a:p>
        </p:txBody>
      </p:sp>
      <p:sp>
        <p:nvSpPr>
          <p:cNvPr id="38" name="zone Expert, Cand. Master"/>
          <p:cNvSpPr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solidFill>
            <a:srgbClr val="FCE4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3892731" y="4983480"/>
            <a:ext cx="18614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Expert, Cand. Master</a:t>
            </a:r>
            <a:endParaRPr lang="en-US" sz="1300" dirty="0"/>
          </a:p>
        </p:txBody>
      </p:sp>
      <p:sp>
        <p:nvSpPr>
          <p:cNvPr id="40" name="zone Master, Int. Master"/>
          <p:cNvSpPr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solidFill>
            <a:srgbClr val="F8CB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5754189" y="4983480"/>
            <a:ext cx="11168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Master, Int. Master</a:t>
            </a:r>
            <a:endParaRPr lang="en-US" sz="1300" dirty="0"/>
          </a:p>
        </p:txBody>
      </p:sp>
      <p:sp>
        <p:nvSpPr>
          <p:cNvPr id="42" name="zone Grandmaster and above"/>
          <p:cNvSpPr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solidFill>
            <a:srgbClr val="FADBD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871063" y="4983480"/>
            <a:ext cx="446749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Grandmaster and above</a:t>
            </a:r>
            <a:endParaRPr lang="en-US" sz="1300" dirty="0"/>
          </a:p>
        </p:txBody>
      </p:sp>
      <p:sp>
        <p:nvSpPr>
          <p:cNvPr id="44" name="rating 800"/>
          <p:cNvSpPr/>
          <p:nvPr/>
        </p:nvSpPr>
        <p:spPr>
          <a:xfrm>
            <a:off x="987552" y="4688183"/>
            <a:ext cx="1342862" cy="24957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38"/>
          <p:cNvSpPr txBox="1"/>
          <p:nvPr/>
        </p:nvSpPr>
        <p:spPr>
          <a:xfrm>
            <a:off x="987552" y="441386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29</a:t>
            </a:r>
            <a:endParaRPr lang="en-US" sz="1300" dirty="0"/>
          </a:p>
        </p:txBody>
      </p:sp>
      <p:sp>
        <p:nvSpPr>
          <p:cNvPr id="46" name="Text 39"/>
          <p:cNvSpPr txBox="1"/>
          <p:nvPr/>
        </p:nvSpPr>
        <p:spPr>
          <a:xfrm>
            <a:off x="64008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800</a:t>
            </a:r>
            <a:endParaRPr lang="en-US" sz="1100" dirty="0"/>
          </a:p>
        </p:txBody>
      </p:sp>
      <p:sp>
        <p:nvSpPr>
          <p:cNvPr id="47" name="rating 1200"/>
          <p:cNvSpPr/>
          <p:nvPr/>
        </p:nvSpPr>
        <p:spPr>
          <a:xfrm>
            <a:off x="2476718" y="4731213"/>
            <a:ext cx="1342862" cy="206547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2476718" y="4456893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24</a:t>
            </a:r>
            <a:endParaRPr lang="en-US" sz="1300" dirty="0"/>
          </a:p>
        </p:txBody>
      </p:sp>
      <p:sp>
        <p:nvSpPr>
          <p:cNvPr id="49" name="Text 42"/>
          <p:cNvSpPr txBox="1"/>
          <p:nvPr/>
        </p:nvSpPr>
        <p:spPr>
          <a:xfrm>
            <a:off x="2129246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1200</a:t>
            </a:r>
            <a:endParaRPr lang="en-US" sz="1100" dirty="0"/>
          </a:p>
        </p:txBody>
      </p:sp>
      <p:sp>
        <p:nvSpPr>
          <p:cNvPr id="50" name="rating 1600"/>
          <p:cNvSpPr/>
          <p:nvPr/>
        </p:nvSpPr>
        <p:spPr>
          <a:xfrm>
            <a:off x="3965883" y="4429999"/>
            <a:ext cx="1342862" cy="507761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1" name="Text 44"/>
          <p:cNvSpPr txBox="1"/>
          <p:nvPr/>
        </p:nvSpPr>
        <p:spPr>
          <a:xfrm>
            <a:off x="3965883" y="4155679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59</a:t>
            </a:r>
            <a:endParaRPr lang="en-US" sz="1300" dirty="0"/>
          </a:p>
        </p:txBody>
      </p:sp>
      <p:sp>
        <p:nvSpPr>
          <p:cNvPr id="52" name="Text 45"/>
          <p:cNvSpPr txBox="1"/>
          <p:nvPr/>
        </p:nvSpPr>
        <p:spPr>
          <a:xfrm>
            <a:off x="3618411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1600</a:t>
            </a:r>
            <a:endParaRPr lang="en-US" sz="1100" dirty="0"/>
          </a:p>
        </p:txBody>
      </p:sp>
      <p:sp>
        <p:nvSpPr>
          <p:cNvPr id="53" name="rating 2000"/>
          <p:cNvSpPr/>
          <p:nvPr/>
        </p:nvSpPr>
        <p:spPr>
          <a:xfrm>
            <a:off x="5455049" y="4481636"/>
            <a:ext cx="1342862" cy="456124"/>
          </a:xfrm>
          <a:prstGeom prst="rect">
            <a:avLst/>
          </a:prstGeom>
          <a:solidFill>
            <a:srgbClr val="7F7F7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47"/>
          <p:cNvSpPr txBox="1"/>
          <p:nvPr/>
        </p:nvSpPr>
        <p:spPr>
          <a:xfrm>
            <a:off x="5455049" y="420731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04040"/>
                </a:solidFill>
              </a:rPr>
              <a:t>53</a:t>
            </a:r>
            <a:endParaRPr lang="en-US" sz="1300" dirty="0"/>
          </a:p>
        </p:txBody>
      </p:sp>
      <p:sp>
        <p:nvSpPr>
          <p:cNvPr id="55" name="Text 48"/>
          <p:cNvSpPr txBox="1"/>
          <p:nvPr/>
        </p:nvSpPr>
        <p:spPr>
          <a:xfrm>
            <a:off x="5107577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2000</a:t>
            </a:r>
            <a:endParaRPr lang="en-US" sz="1100" dirty="0"/>
          </a:p>
        </p:txBody>
      </p:sp>
      <p:sp>
        <p:nvSpPr>
          <p:cNvPr id="56" name="rating 2400"/>
          <p:cNvSpPr/>
          <p:nvPr/>
        </p:nvSpPr>
        <p:spPr>
          <a:xfrm>
            <a:off x="6944215" y="4206240"/>
            <a:ext cx="1342862" cy="731520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Text 50"/>
          <p:cNvSpPr txBox="1"/>
          <p:nvPr/>
        </p:nvSpPr>
        <p:spPr>
          <a:xfrm>
            <a:off x="6944215" y="3931920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85</a:t>
            </a:r>
            <a:endParaRPr lang="en-US" sz="1300" dirty="0"/>
          </a:p>
        </p:txBody>
      </p:sp>
      <p:sp>
        <p:nvSpPr>
          <p:cNvPr id="58" name="Text 51"/>
          <p:cNvSpPr txBox="1"/>
          <p:nvPr/>
        </p:nvSpPr>
        <p:spPr>
          <a:xfrm>
            <a:off x="6596743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2400</a:t>
            </a:r>
            <a:endParaRPr lang="en-US" sz="1100" dirty="0"/>
          </a:p>
        </p:txBody>
      </p:sp>
      <p:sp>
        <p:nvSpPr>
          <p:cNvPr id="59" name="rating 2800"/>
          <p:cNvSpPr/>
          <p:nvPr/>
        </p:nvSpPr>
        <p:spPr>
          <a:xfrm>
            <a:off x="8433381" y="4593515"/>
            <a:ext cx="1342862" cy="344245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3"/>
          <p:cNvSpPr txBox="1"/>
          <p:nvPr/>
        </p:nvSpPr>
        <p:spPr>
          <a:xfrm>
            <a:off x="8433381" y="4319195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40</a:t>
            </a:r>
            <a:endParaRPr lang="en-US" sz="1300" dirty="0"/>
          </a:p>
        </p:txBody>
      </p:sp>
      <p:sp>
        <p:nvSpPr>
          <p:cNvPr id="61" name="Text 54"/>
          <p:cNvSpPr txBox="1"/>
          <p:nvPr/>
        </p:nvSpPr>
        <p:spPr>
          <a:xfrm>
            <a:off x="8085909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2800</a:t>
            </a:r>
            <a:endParaRPr lang="en-US" sz="1100" dirty="0"/>
          </a:p>
        </p:txBody>
      </p:sp>
      <p:sp>
        <p:nvSpPr>
          <p:cNvPr id="62" name="rating 3200"/>
          <p:cNvSpPr/>
          <p:nvPr/>
        </p:nvSpPr>
        <p:spPr>
          <a:xfrm>
            <a:off x="9922546" y="4791456"/>
            <a:ext cx="1342862" cy="146304"/>
          </a:xfrm>
          <a:prstGeom prst="rect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Text 56"/>
          <p:cNvSpPr txBox="1"/>
          <p:nvPr/>
        </p:nvSpPr>
        <p:spPr>
          <a:xfrm>
            <a:off x="9922546" y="4517136"/>
            <a:ext cx="13428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17</a:t>
            </a:r>
            <a:endParaRPr lang="en-US" sz="1300" dirty="0"/>
          </a:p>
        </p:txBody>
      </p:sp>
      <p:sp>
        <p:nvSpPr>
          <p:cNvPr id="64" name="Text 57"/>
          <p:cNvSpPr txBox="1"/>
          <p:nvPr/>
        </p:nvSpPr>
        <p:spPr>
          <a:xfrm>
            <a:off x="9575074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3200</a:t>
            </a:r>
            <a:endParaRPr lang="en-US" sz="1100" dirty="0"/>
          </a:p>
        </p:txBody>
      </p:sp>
      <p:sp>
        <p:nvSpPr>
          <p:cNvPr id="65" name="Text 58"/>
          <p:cNvSpPr txBox="1"/>
          <p:nvPr/>
        </p:nvSpPr>
        <p:spPr>
          <a:xfrm>
            <a:off x="11064240" y="534924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3600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Median 2200 = Master; 46% at Grandmaster level, where even gpt-oss-120b solves only 48%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two versions catch each other's mistakes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Extra tools can mislead the model. Write the program with and without them, and compare:</a:t>
            </a:r>
            <a:endParaRPr lang="en-US" sz="1800" dirty="0"/>
          </a:p>
        </p:txBody>
      </p:sp>
      <p:pic>
        <p:nvPicPr>
          <p:cNvPr id="4" name="ten points and their hull" descr="10 points; the rubber band touches 6 of th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1874520" cy="18745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5760" y="3657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0AD47"/>
                </a:solidFill>
              </a:rPr>
              <a:t>rubber band around 10 points: 6 corners</a:t>
            </a:r>
            <a:endParaRPr lang="en-US" sz="1200" dirty="0"/>
          </a:p>
        </p:txBody>
      </p:sp>
      <p:sp>
        <p:nvSpPr>
          <p:cNvPr id="6" name="prompt Prompt A: only the task"/>
          <p:cNvSpPr/>
          <p:nvPr/>
        </p:nvSpPr>
        <p:spPr>
          <a:xfrm>
            <a:off x="3246120" y="1783080"/>
            <a:ext cx="3749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355848" y="1837944"/>
            <a:ext cx="352958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A: only the task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Points: (20,-40) (-26,-18) 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many corners does the rubber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 have? Write a Python program.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995160" y="2240280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9" name="answer 6 ✓"/>
          <p:cNvSpPr/>
          <p:nvPr/>
        </p:nvSpPr>
        <p:spPr>
          <a:xfrm>
            <a:off x="7452360" y="1965960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1965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761D"/>
                </a:solidFill>
              </a:rPr>
              <a:t>6 ✓</a:t>
            </a:r>
            <a:endParaRPr lang="en-US" sz="2200" dirty="0"/>
          </a:p>
        </p:txBody>
      </p:sp>
      <p:sp>
        <p:nvSpPr>
          <p:cNvPr id="11" name="prompt Prompt B: the task + 8 helpers"/>
          <p:cNvSpPr/>
          <p:nvPr/>
        </p:nvSpPr>
        <p:spPr>
          <a:xfrm>
            <a:off x="3246120" y="2834640"/>
            <a:ext cx="3749040" cy="1261872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55848" y="2889504"/>
            <a:ext cx="352958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B: the task + 8 helpers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...same task...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may use these helpers: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orient(a, b, c)    # side of a line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polar_sort(pts, o) # sort by angle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and 6 more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995160" y="340156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answer 0 ✗"/>
          <p:cNvSpPr/>
          <p:nvPr/>
        </p:nvSpPr>
        <p:spPr>
          <a:xfrm>
            <a:off x="7452360" y="3127248"/>
            <a:ext cx="1554480" cy="548640"/>
          </a:xfrm>
          <a:prstGeom prst="roundRect">
            <a:avLst>
              <a:gd name="adj" fmla="val 16667"/>
            </a:avLst>
          </a:prstGeom>
          <a:solidFill>
            <a:srgbClr val="FADBD8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31272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0000"/>
                </a:solidFill>
              </a:rPr>
              <a:t>0 ✗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0" y="3703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used polar_sort: wrong method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052560" y="2240280"/>
            <a:ext cx="411480" cy="4114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V="1">
            <a:off x="9052560" y="3017520"/>
            <a:ext cx="411480" cy="38404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9" name="box answers differ → thi"/>
          <p:cNvSpPr/>
          <p:nvPr/>
        </p:nvSpPr>
        <p:spPr>
          <a:xfrm>
            <a:off x="9464040" y="2240280"/>
            <a:ext cx="2148840" cy="1188720"/>
          </a:xfrm>
          <a:prstGeom prst="roundRect">
            <a:avLst>
              <a:gd name="adj" fmla="val 4615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537192" y="2240280"/>
            <a:ext cx="20025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answers differ → think it through → 6 ✓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108 geometry problems (Qwen3-32B, 3 runs): how often the answer is right, and tokens per problem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720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B (+ helpers)</a:t>
            </a:r>
            <a:endParaRPr lang="en-US" sz="1600" dirty="0"/>
          </a:p>
        </p:txBody>
      </p:sp>
      <p:sp>
        <p:nvSpPr>
          <p:cNvPr id="23" name="bar Always Prompt B (+ helpers)"/>
          <p:cNvSpPr/>
          <p:nvPr/>
        </p:nvSpPr>
        <p:spPr>
          <a:xfrm>
            <a:off x="4434840" y="4626864"/>
            <a:ext cx="3183026" cy="182880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09306" y="457200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59% · 0.6k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9377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Prompt A (task only)</a:t>
            </a:r>
            <a:endParaRPr lang="en-US" sz="1600" dirty="0"/>
          </a:p>
        </p:txBody>
      </p:sp>
      <p:sp>
        <p:nvSpPr>
          <p:cNvPr id="26" name="bar Always Prompt A (task only)"/>
          <p:cNvSpPr/>
          <p:nvPr/>
        </p:nvSpPr>
        <p:spPr>
          <a:xfrm>
            <a:off x="4434840" y="4992624"/>
            <a:ext cx="4154119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680399" y="493776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0.4k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30352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long</a:t>
            </a:r>
            <a:endParaRPr lang="en-US" sz="1600" dirty="0"/>
          </a:p>
        </p:txBody>
      </p:sp>
      <p:sp>
        <p:nvSpPr>
          <p:cNvPr id="29" name="bar Always think long"/>
          <p:cNvSpPr/>
          <p:nvPr/>
        </p:nvSpPr>
        <p:spPr>
          <a:xfrm>
            <a:off x="4434840" y="5358384"/>
            <a:ext cx="5287061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813341" y="53035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98% · 5.9k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566928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Both prompts, think only if they differ</a:t>
            </a:r>
            <a:endParaRPr lang="en-US" sz="1600" dirty="0"/>
          </a:p>
        </p:txBody>
      </p:sp>
      <p:sp>
        <p:nvSpPr>
          <p:cNvPr id="32" name="bar Both prompts, think only if they differ"/>
          <p:cNvSpPr/>
          <p:nvPr/>
        </p:nvSpPr>
        <p:spPr>
          <a:xfrm>
            <a:off x="4434840" y="5724144"/>
            <a:ext cx="5341010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867290" y="566928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99% · 4.3k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think harder only when the examples fail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Every contest problem lists a few sample inputs with the correct outputs. Running the program on them costs nothing:</a:t>
            </a:r>
            <a:endParaRPr lang="en-US" sz="1800" dirty="0"/>
          </a:p>
        </p:txBody>
      </p:sp>
      <p:sp>
        <p:nvSpPr>
          <p:cNvPr id="4" name="box write a program quic"/>
          <p:cNvSpPr/>
          <p:nvPr/>
        </p:nvSpPr>
        <p:spPr>
          <a:xfrm>
            <a:off x="548640" y="201168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2011680"/>
            <a:ext cx="2505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write a program quickly (medium effort)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00400" y="2395728"/>
            <a:ext cx="4114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7" name="box run it on the exampl"/>
          <p:cNvSpPr/>
          <p:nvPr/>
        </p:nvSpPr>
        <p:spPr>
          <a:xfrm>
            <a:off x="3611880" y="2011680"/>
            <a:ext cx="2194560" cy="777240"/>
          </a:xfrm>
          <a:prstGeom prst="roundRect">
            <a:avLst>
              <a:gd name="adj" fmla="val 7059"/>
            </a:avLst>
          </a:prstGeom>
          <a:solidFill>
            <a:srgbClr val="DEEBF7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5032" y="2011680"/>
            <a:ext cx="20482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run it on the examples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 flipV="1">
            <a:off x="5806440" y="2057400"/>
            <a:ext cx="457200" cy="18288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806440" y="2560320"/>
            <a:ext cx="457200" cy="246888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1" name="box all right → submit"/>
          <p:cNvSpPr/>
          <p:nvPr/>
        </p:nvSpPr>
        <p:spPr>
          <a:xfrm>
            <a:off x="6263640" y="1801368"/>
            <a:ext cx="2468880" cy="512064"/>
          </a:xfrm>
          <a:prstGeom prst="roundRect">
            <a:avLst>
              <a:gd name="adj" fmla="val 10714"/>
            </a:avLst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6792" y="1801368"/>
            <a:ext cx="23225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all right → submit</a:t>
            </a:r>
            <a:endParaRPr lang="en-US" sz="1500" dirty="0"/>
          </a:p>
        </p:txBody>
      </p:sp>
      <p:sp>
        <p:nvSpPr>
          <p:cNvPr id="13" name="box one wrong → think ha"/>
          <p:cNvSpPr/>
          <p:nvPr/>
        </p:nvSpPr>
        <p:spPr>
          <a:xfrm>
            <a:off x="6263640" y="2532888"/>
            <a:ext cx="3840480" cy="548640"/>
          </a:xfrm>
          <a:prstGeom prst="roundRect">
            <a:avLst>
              <a:gd name="adj" fmla="val 10000"/>
            </a:avLst>
          </a:prstGeom>
          <a:solidFill>
            <a:srgbClr val="FADBD8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36792" y="2532888"/>
            <a:ext cx="3694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wrong → think harder (high effort), then submit</a:t>
            </a:r>
            <a:endParaRPr lang="en-US" sz="1500" dirty="0"/>
          </a:p>
        </p:txBody>
      </p:sp>
      <p:sp>
        <p:nvSpPr>
          <p:cNvPr id="15" name="case &quot;Make a triangle!&quot; (easy)"/>
          <p:cNvSpPr/>
          <p:nvPr/>
        </p:nvSpPr>
        <p:spPr>
          <a:xfrm>
            <a:off x="548640" y="33375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3F9EF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"Make a triangle!" (easy)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221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Q: how many cm to add so 3 sticks make a triangle?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samples (3,4,5) → 0 and (2,5,3) → 1: program agrees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→ submit; correct, no extra tokens</a:t>
            </a:r>
            <a:endParaRPr lang="en-US" sz="1500" dirty="0"/>
          </a:p>
        </p:txBody>
      </p:sp>
      <p:sp>
        <p:nvSpPr>
          <p:cNvPr id="18" name="case &quot;Arrow&quot; (hard)"/>
          <p:cNvSpPr/>
          <p:nvPr/>
        </p:nvSpPr>
        <p:spPr>
          <a:xfrm>
            <a:off x="6217920" y="3337560"/>
            <a:ext cx="5394960" cy="1371600"/>
          </a:xfrm>
          <a:prstGeom prst="roundRect">
            <a:avLst>
              <a:gd name="adj" fmla="val 5333"/>
            </a:avLst>
          </a:prstGeom>
          <a:solidFill>
            <a:srgbClr val="FDF2F1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"Arrow" (hard)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3822192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Q: print the 7 corners of an arrow shape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program's corners ≠ the sample ✗ → think harder → correct ✓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4k + 13k tokens, paid only because the check failed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8920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Over 311 problems (gpt-oss-120b): same 66% solved as always thinking hard, 18% fewer tokens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30352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Always think hard</a:t>
            </a:r>
            <a:endParaRPr lang="en-US" sz="1600" dirty="0"/>
          </a:p>
        </p:txBody>
      </p:sp>
      <p:sp>
        <p:nvSpPr>
          <p:cNvPr id="23" name="bar Always think hard"/>
          <p:cNvSpPr/>
          <p:nvPr/>
        </p:nvSpPr>
        <p:spPr>
          <a:xfrm>
            <a:off x="3977640" y="5358384"/>
            <a:ext cx="3840480" cy="18288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909560" y="53035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30k tokens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6692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hard only on a failed check</a:t>
            </a:r>
            <a:endParaRPr lang="en-US" sz="1600" dirty="0"/>
          </a:p>
        </p:txBody>
      </p:sp>
      <p:sp>
        <p:nvSpPr>
          <p:cNvPr id="26" name="bar Think hard only on a failed check"/>
          <p:cNvSpPr/>
          <p:nvPr/>
        </p:nvSpPr>
        <p:spPr>
          <a:xfrm>
            <a:off x="3977640" y="5724144"/>
            <a:ext cx="3149194" cy="18288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18274" y="56692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25k tokens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the fact can be found without a human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(Qwen3-8B, MAMO): products X, Y, Z cost $10, $15, $20; X+Y ≤ 5000, Y+Z ≤ 4000, X+Z ≥ 2000. Minimum cost? (20000)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No fact</a:t>
            </a:r>
            <a:endParaRPr lang="en-US" sz="1500" dirty="0"/>
          </a:p>
        </p:txBody>
      </p:sp>
      <p:sp>
        <p:nvSpPr>
          <p:cNvPr id="5" name="code solver.Objective().M"/>
          <p:cNvSpPr/>
          <p:nvPr/>
        </p:nvSpPr>
        <p:spPr>
          <a:xfrm>
            <a:off x="548640" y="201168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01168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solver.Objective().Minimize()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091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crash: no such method</a:t>
            </a:r>
            <a:endParaRPr lang="en-US" sz="1400" dirty="0"/>
          </a:p>
        </p:txBody>
      </p:sp>
      <p:sp>
        <p:nvSpPr>
          <p:cNvPr id="8" name="prompt The fact: its own program for another problem (vans and trucks) that passed the free check"/>
          <p:cNvSpPr/>
          <p:nvPr/>
        </p:nvSpPr>
        <p:spPr>
          <a:xfrm>
            <a:off x="548640" y="2651760"/>
            <a:ext cx="6126480" cy="1325880"/>
          </a:xfrm>
          <a:prstGeom prst="rect">
            <a:avLst/>
          </a:prstGeom>
          <a:solidFill>
            <a:srgbClr val="E2F0D9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" y="2706624"/>
            <a:ext cx="5907024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fact: its own program for another problem (vans and trucks) that passed the free check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 = pywraplp.Solver.CreateSolver('SCIP')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solver.IntVar(0, solver.infinity(), 'v')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solver.Minimize(v)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= solver.Solve()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14800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With the fact (written twice; both agree, so no thinking)</a:t>
            </a:r>
            <a:endParaRPr lang="en-US" sz="1500" dirty="0"/>
          </a:p>
        </p:txBody>
      </p:sp>
      <p:sp>
        <p:nvSpPr>
          <p:cNvPr id="11" name="code solver.Minimize(10*x"/>
          <p:cNvSpPr/>
          <p:nvPr/>
        </p:nvSpPr>
        <p:spPr>
          <a:xfrm>
            <a:off x="548640" y="4434840"/>
            <a:ext cx="40233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4434840"/>
            <a:ext cx="3803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solver.Minimize(10*x + 15*y + 20*z)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70916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0AD47"/>
                </a:solidFill>
              </a:rPr>
              <a:t>✓ 20000 · 0.6k tokens (thinking: 5.3k)</a:t>
            </a:r>
            <a:endParaRPr lang="en-US" sz="1300" dirty="0"/>
          </a:p>
        </p:txBody>
      </p:sp>
      <p:graphicFrame>
        <p:nvGraphicFramePr>
          <p:cNvPr id="14" name="automatic fact on held-out MAMO" descr=""/>
          <p:cNvGraphicFramePr/>
          <p:nvPr/>
        </p:nvGraphicFramePr>
        <p:xfrm>
          <a:off x="7040880" y="1691640"/>
          <a:ext cx="457200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7040880" y="50292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</a:rPr>
              <a:t>Does not work: a program of a different problem type (−14 to −21 points); a list of the library's names (66% → 56%)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No human writes the fact: the model's own checked program shows the right call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one fact helps small models most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Word problems → optimization programs (NL4OPT + IndustryOR, 345 problems, 3 runs): % solved</a:t>
            </a:r>
            <a:endParaRPr lang="en-US" sz="1800" dirty="0"/>
          </a:p>
        </p:txBody>
      </p:sp>
      <p:graphicFrame>
        <p:nvGraphicFramePr>
          <p:cNvPr id="4" name="fact gain by model size" descr=""/>
          <p:cNvGraphicFramePr/>
          <p:nvPr/>
        </p:nvGraphicFramePr>
        <p:xfrm>
          <a:off x="548640" y="1691640"/>
          <a:ext cx="749808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412480" y="1783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+44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464040" y="17830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Qwen3-1.7B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235000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+31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9464040" y="23500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Qwen3-4B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+17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9464040" y="29169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Qwen3-8B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483864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+8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464040" y="34838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Qwen3-14B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4050792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4472C4"/>
                </a:solidFill>
              </a:rPr>
              <a:t>+1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9464040" y="40507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Qwen3-32B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fact gain (points)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With the fact, a model on one 24 GB GPU matches Qwen3-32B (73% vs 72%) at 1/8 of the tokens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repeated problems need one checked program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 delivery company plans routes every day: the same kind of problem, new customers each day (gpt-oss-120b)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A: ask for a new program every day</a:t>
            </a:r>
            <a:endParaRPr lang="en-US" sz="1700" dirty="0"/>
          </a:p>
        </p:txBody>
      </p:sp>
      <p:sp>
        <p:nvSpPr>
          <p:cNvPr id="5" name="A: ask for a new program every day day 0"/>
          <p:cNvSpPr/>
          <p:nvPr/>
        </p:nvSpPr>
        <p:spPr>
          <a:xfrm>
            <a:off x="3749040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" name="A: ask for a new program every day day 1"/>
          <p:cNvSpPr/>
          <p:nvPr/>
        </p:nvSpPr>
        <p:spPr>
          <a:xfrm>
            <a:off x="4050792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" name="A: ask for a new program every day day 2"/>
          <p:cNvSpPr/>
          <p:nvPr/>
        </p:nvSpPr>
        <p:spPr>
          <a:xfrm>
            <a:off x="4352544" y="196596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" name="A: ask for a new program every day day 3"/>
          <p:cNvSpPr/>
          <p:nvPr/>
        </p:nvSpPr>
        <p:spPr>
          <a:xfrm>
            <a:off x="465429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9" name="A: ask for a new program every day day 4"/>
          <p:cNvSpPr/>
          <p:nvPr/>
        </p:nvSpPr>
        <p:spPr>
          <a:xfrm>
            <a:off x="495604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" name="A: ask for a new program every day day 5"/>
          <p:cNvSpPr/>
          <p:nvPr/>
        </p:nvSpPr>
        <p:spPr>
          <a:xfrm>
            <a:off x="525780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1" name="A: ask for a new program every day day 6"/>
          <p:cNvSpPr/>
          <p:nvPr/>
        </p:nvSpPr>
        <p:spPr>
          <a:xfrm>
            <a:off x="555955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2" name="A: ask for a new program every day day 7"/>
          <p:cNvSpPr/>
          <p:nvPr/>
        </p:nvSpPr>
        <p:spPr>
          <a:xfrm>
            <a:off x="586130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3" name="A: ask for a new program every day day 8"/>
          <p:cNvSpPr/>
          <p:nvPr/>
        </p:nvSpPr>
        <p:spPr>
          <a:xfrm>
            <a:off x="616305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4" name="A: ask for a new program every day day 9"/>
          <p:cNvSpPr/>
          <p:nvPr/>
        </p:nvSpPr>
        <p:spPr>
          <a:xfrm>
            <a:off x="646480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5" name="A: ask for a new program every day day 10"/>
          <p:cNvSpPr/>
          <p:nvPr/>
        </p:nvSpPr>
        <p:spPr>
          <a:xfrm>
            <a:off x="676656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6" name="A: ask for a new program every day day 11"/>
          <p:cNvSpPr/>
          <p:nvPr/>
        </p:nvSpPr>
        <p:spPr>
          <a:xfrm>
            <a:off x="7068312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7" name="A: ask for a new program every day day 12"/>
          <p:cNvSpPr/>
          <p:nvPr/>
        </p:nvSpPr>
        <p:spPr>
          <a:xfrm>
            <a:off x="7370064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8" name="A: ask for a new program every day day 13"/>
          <p:cNvSpPr/>
          <p:nvPr/>
        </p:nvSpPr>
        <p:spPr>
          <a:xfrm>
            <a:off x="7671816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9" name="A: ask for a new program every day day 14"/>
          <p:cNvSpPr/>
          <p:nvPr/>
        </p:nvSpPr>
        <p:spPr>
          <a:xfrm>
            <a:off x="7973568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0" name="A: ask for a new program every day day 15"/>
          <p:cNvSpPr/>
          <p:nvPr/>
        </p:nvSpPr>
        <p:spPr>
          <a:xfrm>
            <a:off x="8275320" y="1965960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1" name="A: ask for a new program every day day 16"/>
          <p:cNvSpPr/>
          <p:nvPr/>
        </p:nvSpPr>
        <p:spPr>
          <a:xfrm>
            <a:off x="374904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2" name="A: ask for a new program every day day 17"/>
          <p:cNvSpPr/>
          <p:nvPr/>
        </p:nvSpPr>
        <p:spPr>
          <a:xfrm>
            <a:off x="405079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3" name="A: ask for a new program every day day 18"/>
          <p:cNvSpPr/>
          <p:nvPr/>
        </p:nvSpPr>
        <p:spPr>
          <a:xfrm>
            <a:off x="435254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4" name="A: ask for a new program every day day 19"/>
          <p:cNvSpPr/>
          <p:nvPr/>
        </p:nvSpPr>
        <p:spPr>
          <a:xfrm>
            <a:off x="465429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5" name="A: ask for a new program every day day 20"/>
          <p:cNvSpPr/>
          <p:nvPr/>
        </p:nvSpPr>
        <p:spPr>
          <a:xfrm>
            <a:off x="495604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6" name="A: ask for a new program every day day 21"/>
          <p:cNvSpPr/>
          <p:nvPr/>
        </p:nvSpPr>
        <p:spPr>
          <a:xfrm>
            <a:off x="525780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7" name="A: ask for a new program every day day 22"/>
          <p:cNvSpPr/>
          <p:nvPr/>
        </p:nvSpPr>
        <p:spPr>
          <a:xfrm>
            <a:off x="555955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8" name="A: ask for a new program every day day 23"/>
          <p:cNvSpPr/>
          <p:nvPr/>
        </p:nvSpPr>
        <p:spPr>
          <a:xfrm>
            <a:off x="586130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29" name="A: ask for a new program every day day 24"/>
          <p:cNvSpPr/>
          <p:nvPr/>
        </p:nvSpPr>
        <p:spPr>
          <a:xfrm>
            <a:off x="616305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0" name="A: ask for a new program every day day 25"/>
          <p:cNvSpPr/>
          <p:nvPr/>
        </p:nvSpPr>
        <p:spPr>
          <a:xfrm>
            <a:off x="646480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1" name="A: ask for a new program every day day 26"/>
          <p:cNvSpPr/>
          <p:nvPr/>
        </p:nvSpPr>
        <p:spPr>
          <a:xfrm>
            <a:off x="676656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2" name="A: ask for a new program every day day 27"/>
          <p:cNvSpPr/>
          <p:nvPr/>
        </p:nvSpPr>
        <p:spPr>
          <a:xfrm>
            <a:off x="7068312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3" name="A: ask for a new program every day day 28"/>
          <p:cNvSpPr/>
          <p:nvPr/>
        </p:nvSpPr>
        <p:spPr>
          <a:xfrm>
            <a:off x="7370064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4" name="A: ask for a new program every day day 29"/>
          <p:cNvSpPr/>
          <p:nvPr/>
        </p:nvSpPr>
        <p:spPr>
          <a:xfrm>
            <a:off x="7671816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5" name="A: ask for a new program every day day 30"/>
          <p:cNvSpPr/>
          <p:nvPr/>
        </p:nvSpPr>
        <p:spPr>
          <a:xfrm>
            <a:off x="7973568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6" name="A: ask for a new program every day day 31"/>
          <p:cNvSpPr/>
          <p:nvPr/>
        </p:nvSpPr>
        <p:spPr>
          <a:xfrm>
            <a:off x="8275320" y="2350008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7" name="A: ask for a new program every day day 32"/>
          <p:cNvSpPr/>
          <p:nvPr/>
        </p:nvSpPr>
        <p:spPr>
          <a:xfrm>
            <a:off x="374904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8" name="A: ask for a new program every day day 33"/>
          <p:cNvSpPr/>
          <p:nvPr/>
        </p:nvSpPr>
        <p:spPr>
          <a:xfrm>
            <a:off x="405079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39" name="A: ask for a new program every day day 34"/>
          <p:cNvSpPr/>
          <p:nvPr/>
        </p:nvSpPr>
        <p:spPr>
          <a:xfrm>
            <a:off x="435254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0" name="A: ask for a new program every day day 35"/>
          <p:cNvSpPr/>
          <p:nvPr/>
        </p:nvSpPr>
        <p:spPr>
          <a:xfrm>
            <a:off x="465429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1" name="A: ask for a new program every day day 36"/>
          <p:cNvSpPr/>
          <p:nvPr/>
        </p:nvSpPr>
        <p:spPr>
          <a:xfrm>
            <a:off x="495604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2" name="A: ask for a new program every day day 37"/>
          <p:cNvSpPr/>
          <p:nvPr/>
        </p:nvSpPr>
        <p:spPr>
          <a:xfrm>
            <a:off x="525780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3" name="A: ask for a new program every day day 38"/>
          <p:cNvSpPr/>
          <p:nvPr/>
        </p:nvSpPr>
        <p:spPr>
          <a:xfrm>
            <a:off x="555955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4" name="A: ask for a new program every day day 39"/>
          <p:cNvSpPr/>
          <p:nvPr/>
        </p:nvSpPr>
        <p:spPr>
          <a:xfrm>
            <a:off x="586130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5" name="A: ask for a new program every day day 40"/>
          <p:cNvSpPr/>
          <p:nvPr/>
        </p:nvSpPr>
        <p:spPr>
          <a:xfrm>
            <a:off x="616305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6" name="A: ask for a new program every day day 41"/>
          <p:cNvSpPr/>
          <p:nvPr/>
        </p:nvSpPr>
        <p:spPr>
          <a:xfrm>
            <a:off x="646480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7" name="A: ask for a new program every day day 42"/>
          <p:cNvSpPr/>
          <p:nvPr/>
        </p:nvSpPr>
        <p:spPr>
          <a:xfrm>
            <a:off x="676656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8" name="A: ask for a new program every day day 43"/>
          <p:cNvSpPr/>
          <p:nvPr/>
        </p:nvSpPr>
        <p:spPr>
          <a:xfrm>
            <a:off x="7068312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49" name="A: ask for a new program every day day 44"/>
          <p:cNvSpPr/>
          <p:nvPr/>
        </p:nvSpPr>
        <p:spPr>
          <a:xfrm>
            <a:off x="7370064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0" name="A: ask for a new program every day day 45"/>
          <p:cNvSpPr/>
          <p:nvPr/>
        </p:nvSpPr>
        <p:spPr>
          <a:xfrm>
            <a:off x="7671816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1" name="A: ask for a new program every day day 46"/>
          <p:cNvSpPr/>
          <p:nvPr/>
        </p:nvSpPr>
        <p:spPr>
          <a:xfrm>
            <a:off x="7973568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2" name="A: ask for a new program every day day 47"/>
          <p:cNvSpPr/>
          <p:nvPr/>
        </p:nvSpPr>
        <p:spPr>
          <a:xfrm>
            <a:off x="8275320" y="273405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778240" y="19659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valid on 7%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C00000"/>
                </a:solidFill>
              </a:rPr>
              <a:t>≈ 86k tokens</a:t>
            </a:r>
            <a:endParaRPr lang="en-US" sz="1700" dirty="0"/>
          </a:p>
        </p:txBody>
      </p:sp>
      <p:sp>
        <p:nvSpPr>
          <p:cNvPr id="54" name="Text 52"/>
          <p:cNvSpPr txBox="1"/>
          <p:nvPr/>
        </p:nvSpPr>
        <p:spPr>
          <a:xfrm>
            <a:off x="54864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B: the model writes 16 programs; keep the one valid on 8 past days; reuse it</a:t>
            </a:r>
            <a:endParaRPr lang="en-US" sz="1700" dirty="0"/>
          </a:p>
        </p:txBody>
      </p:sp>
      <p:sp>
        <p:nvSpPr>
          <p:cNvPr id="55" name="B: the model writes 16 programs; keep the one valid on 8 past days; reuse it day 0"/>
          <p:cNvSpPr/>
          <p:nvPr/>
        </p:nvSpPr>
        <p:spPr>
          <a:xfrm>
            <a:off x="374904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6" name="B: the model writes 16 programs; keep the one valid on 8 past days; reuse it day 1"/>
          <p:cNvSpPr/>
          <p:nvPr/>
        </p:nvSpPr>
        <p:spPr>
          <a:xfrm>
            <a:off x="405079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7" name="B: the model writes 16 programs; keep the one valid on 8 past days; reuse it day 2"/>
          <p:cNvSpPr/>
          <p:nvPr/>
        </p:nvSpPr>
        <p:spPr>
          <a:xfrm>
            <a:off x="435254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8" name="B: the model writes 16 programs; keep the one valid on 8 past days; reuse it day 3"/>
          <p:cNvSpPr/>
          <p:nvPr/>
        </p:nvSpPr>
        <p:spPr>
          <a:xfrm>
            <a:off x="465429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59" name="B: the model writes 16 programs; keep the one valid on 8 past days; reuse it day 4"/>
          <p:cNvSpPr/>
          <p:nvPr/>
        </p:nvSpPr>
        <p:spPr>
          <a:xfrm>
            <a:off x="495604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0" name="B: the model writes 16 programs; keep the one valid on 8 past days; reuse it day 5"/>
          <p:cNvSpPr/>
          <p:nvPr/>
        </p:nvSpPr>
        <p:spPr>
          <a:xfrm>
            <a:off x="525780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1" name="B: the model writes 16 programs; keep the one valid on 8 past days; reuse it day 6"/>
          <p:cNvSpPr/>
          <p:nvPr/>
        </p:nvSpPr>
        <p:spPr>
          <a:xfrm>
            <a:off x="555955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2" name="B: the model writes 16 programs; keep the one valid on 8 past days; reuse it day 7"/>
          <p:cNvSpPr/>
          <p:nvPr/>
        </p:nvSpPr>
        <p:spPr>
          <a:xfrm>
            <a:off x="586130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3" name="B: the model writes 16 programs; keep the one valid on 8 past days; reuse it day 8"/>
          <p:cNvSpPr/>
          <p:nvPr/>
        </p:nvSpPr>
        <p:spPr>
          <a:xfrm>
            <a:off x="616305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4" name="B: the model writes 16 programs; keep the one valid on 8 past days; reuse it day 9"/>
          <p:cNvSpPr/>
          <p:nvPr/>
        </p:nvSpPr>
        <p:spPr>
          <a:xfrm>
            <a:off x="646480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5" name="B: the model writes 16 programs; keep the one valid on 8 past days; reuse it day 10"/>
          <p:cNvSpPr/>
          <p:nvPr/>
        </p:nvSpPr>
        <p:spPr>
          <a:xfrm>
            <a:off x="676656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6" name="B: the model writes 16 programs; keep the one valid on 8 past days; reuse it day 11"/>
          <p:cNvSpPr/>
          <p:nvPr/>
        </p:nvSpPr>
        <p:spPr>
          <a:xfrm>
            <a:off x="7068312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7" name="B: the model writes 16 programs; keep the one valid on 8 past days; reuse it day 12"/>
          <p:cNvSpPr/>
          <p:nvPr/>
        </p:nvSpPr>
        <p:spPr>
          <a:xfrm>
            <a:off x="7370064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8" name="B: the model writes 16 programs; keep the one valid on 8 past days; reuse it day 13"/>
          <p:cNvSpPr/>
          <p:nvPr/>
        </p:nvSpPr>
        <p:spPr>
          <a:xfrm>
            <a:off x="7671816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69" name="B: the model writes 16 programs; keep the one valid on 8 past days; reuse it day 14"/>
          <p:cNvSpPr/>
          <p:nvPr/>
        </p:nvSpPr>
        <p:spPr>
          <a:xfrm>
            <a:off x="7973568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0" name="B: the model writes 16 programs; keep the one valid on 8 past days; reuse it day 15"/>
          <p:cNvSpPr/>
          <p:nvPr/>
        </p:nvSpPr>
        <p:spPr>
          <a:xfrm>
            <a:off x="8275320" y="3520440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1" name="B: the model writes 16 programs; keep the one valid on 8 past days; reuse it day 16"/>
          <p:cNvSpPr/>
          <p:nvPr/>
        </p:nvSpPr>
        <p:spPr>
          <a:xfrm>
            <a:off x="374904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2" name="B: the model writes 16 programs; keep the one valid on 8 past days; reuse it day 17"/>
          <p:cNvSpPr/>
          <p:nvPr/>
        </p:nvSpPr>
        <p:spPr>
          <a:xfrm>
            <a:off x="405079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3" name="B: the model writes 16 programs; keep the one valid on 8 past days; reuse it day 18"/>
          <p:cNvSpPr/>
          <p:nvPr/>
        </p:nvSpPr>
        <p:spPr>
          <a:xfrm>
            <a:off x="435254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4" name="B: the model writes 16 programs; keep the one valid on 8 past days; reuse it day 19"/>
          <p:cNvSpPr/>
          <p:nvPr/>
        </p:nvSpPr>
        <p:spPr>
          <a:xfrm>
            <a:off x="465429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5" name="B: the model writes 16 programs; keep the one valid on 8 past days; reuse it day 20"/>
          <p:cNvSpPr/>
          <p:nvPr/>
        </p:nvSpPr>
        <p:spPr>
          <a:xfrm>
            <a:off x="495604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6" name="B: the model writes 16 programs; keep the one valid on 8 past days; reuse it day 21"/>
          <p:cNvSpPr/>
          <p:nvPr/>
        </p:nvSpPr>
        <p:spPr>
          <a:xfrm>
            <a:off x="525780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7" name="B: the model writes 16 programs; keep the one valid on 8 past days; reuse it day 22"/>
          <p:cNvSpPr/>
          <p:nvPr/>
        </p:nvSpPr>
        <p:spPr>
          <a:xfrm>
            <a:off x="555955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8" name="B: the model writes 16 programs; keep the one valid on 8 past days; reuse it day 23"/>
          <p:cNvSpPr/>
          <p:nvPr/>
        </p:nvSpPr>
        <p:spPr>
          <a:xfrm>
            <a:off x="586130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79" name="B: the model writes 16 programs; keep the one valid on 8 past days; reuse it day 24"/>
          <p:cNvSpPr/>
          <p:nvPr/>
        </p:nvSpPr>
        <p:spPr>
          <a:xfrm>
            <a:off x="616305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0" name="B: the model writes 16 programs; keep the one valid on 8 past days; reuse it day 25"/>
          <p:cNvSpPr/>
          <p:nvPr/>
        </p:nvSpPr>
        <p:spPr>
          <a:xfrm>
            <a:off x="646480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1" name="B: the model writes 16 programs; keep the one valid on 8 past days; reuse it day 26"/>
          <p:cNvSpPr/>
          <p:nvPr/>
        </p:nvSpPr>
        <p:spPr>
          <a:xfrm>
            <a:off x="676656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2" name="B: the model writes 16 programs; keep the one valid on 8 past days; reuse it day 27"/>
          <p:cNvSpPr/>
          <p:nvPr/>
        </p:nvSpPr>
        <p:spPr>
          <a:xfrm>
            <a:off x="7068312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3" name="B: the model writes 16 programs; keep the one valid on 8 past days; reuse it day 28"/>
          <p:cNvSpPr/>
          <p:nvPr/>
        </p:nvSpPr>
        <p:spPr>
          <a:xfrm>
            <a:off x="7370064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4" name="B: the model writes 16 programs; keep the one valid on 8 past days; reuse it day 29"/>
          <p:cNvSpPr/>
          <p:nvPr/>
        </p:nvSpPr>
        <p:spPr>
          <a:xfrm>
            <a:off x="7671816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5" name="B: the model writes 16 programs; keep the one valid on 8 past days; reuse it day 30"/>
          <p:cNvSpPr/>
          <p:nvPr/>
        </p:nvSpPr>
        <p:spPr>
          <a:xfrm>
            <a:off x="7973568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6" name="B: the model writes 16 programs; keep the one valid on 8 past days; reuse it day 31"/>
          <p:cNvSpPr/>
          <p:nvPr/>
        </p:nvSpPr>
        <p:spPr>
          <a:xfrm>
            <a:off x="8275320" y="3904488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7" name="B: the model writes 16 programs; keep the one valid on 8 past days; reuse it day 32"/>
          <p:cNvSpPr/>
          <p:nvPr/>
        </p:nvSpPr>
        <p:spPr>
          <a:xfrm>
            <a:off x="374904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8" name="B: the model writes 16 programs; keep the one valid on 8 past days; reuse it day 33"/>
          <p:cNvSpPr/>
          <p:nvPr/>
        </p:nvSpPr>
        <p:spPr>
          <a:xfrm>
            <a:off x="405079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89" name="B: the model writes 16 programs; keep the one valid on 8 past days; reuse it day 34"/>
          <p:cNvSpPr/>
          <p:nvPr/>
        </p:nvSpPr>
        <p:spPr>
          <a:xfrm>
            <a:off x="435254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0" name="B: the model writes 16 programs; keep the one valid on 8 past days; reuse it day 35"/>
          <p:cNvSpPr/>
          <p:nvPr/>
        </p:nvSpPr>
        <p:spPr>
          <a:xfrm>
            <a:off x="465429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1" name="B: the model writes 16 programs; keep the one valid on 8 past days; reuse it day 36"/>
          <p:cNvSpPr/>
          <p:nvPr/>
        </p:nvSpPr>
        <p:spPr>
          <a:xfrm>
            <a:off x="495604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2" name="B: the model writes 16 programs; keep the one valid on 8 past days; reuse it day 37"/>
          <p:cNvSpPr/>
          <p:nvPr/>
        </p:nvSpPr>
        <p:spPr>
          <a:xfrm>
            <a:off x="525780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3" name="B: the model writes 16 programs; keep the one valid on 8 past days; reuse it day 38"/>
          <p:cNvSpPr/>
          <p:nvPr/>
        </p:nvSpPr>
        <p:spPr>
          <a:xfrm>
            <a:off x="555955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4" name="B: the model writes 16 programs; keep the one valid on 8 past days; reuse it day 39"/>
          <p:cNvSpPr/>
          <p:nvPr/>
        </p:nvSpPr>
        <p:spPr>
          <a:xfrm>
            <a:off x="586130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5" name="B: the model writes 16 programs; keep the one valid on 8 past days; reuse it day 40"/>
          <p:cNvSpPr/>
          <p:nvPr/>
        </p:nvSpPr>
        <p:spPr>
          <a:xfrm>
            <a:off x="6163056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6" name="B: the model writes 16 programs; keep the one valid on 8 past days; reuse it day 41"/>
          <p:cNvSpPr/>
          <p:nvPr/>
        </p:nvSpPr>
        <p:spPr>
          <a:xfrm>
            <a:off x="6464808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7" name="B: the model writes 16 programs; keep the one valid on 8 past days; reuse it day 42"/>
          <p:cNvSpPr/>
          <p:nvPr/>
        </p:nvSpPr>
        <p:spPr>
          <a:xfrm>
            <a:off x="6766560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8" name="B: the model writes 16 programs; keep the one valid on 8 past days; reuse it day 43"/>
          <p:cNvSpPr/>
          <p:nvPr/>
        </p:nvSpPr>
        <p:spPr>
          <a:xfrm>
            <a:off x="7068312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99" name="B: the model writes 16 programs; keep the one valid on 8 past days; reuse it day 44"/>
          <p:cNvSpPr/>
          <p:nvPr/>
        </p:nvSpPr>
        <p:spPr>
          <a:xfrm>
            <a:off x="7370064" y="4288536"/>
            <a:ext cx="246888" cy="310896"/>
          </a:xfrm>
          <a:prstGeom prst="rect">
            <a:avLst/>
          </a:prstGeom>
          <a:solidFill>
            <a:srgbClr val="70AD47"/>
          </a:solidFill>
          <a:ln w="6350">
            <a:solidFill>
              <a:srgbClr val="70AD47"/>
            </a:solidFill>
            <a:prstDash val="solid"/>
          </a:ln>
        </p:spPr>
      </p:sp>
      <p:sp>
        <p:nvSpPr>
          <p:cNvPr id="100" name="B: the model writes 16 programs; keep the one valid on 8 past days; reuse it day 45"/>
          <p:cNvSpPr/>
          <p:nvPr/>
        </p:nvSpPr>
        <p:spPr>
          <a:xfrm>
            <a:off x="7671816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1" name="B: the model writes 16 programs; keep the one valid on 8 past days; reuse it day 46"/>
          <p:cNvSpPr/>
          <p:nvPr/>
        </p:nvSpPr>
        <p:spPr>
          <a:xfrm>
            <a:off x="7973568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2" name="B: the model writes 16 programs; keep the one valid on 8 past days; reuse it day 47"/>
          <p:cNvSpPr/>
          <p:nvPr/>
        </p:nvSpPr>
        <p:spPr>
          <a:xfrm>
            <a:off x="8275320" y="4288536"/>
            <a:ext cx="246888" cy="310896"/>
          </a:xfrm>
          <a:prstGeom prst="rect">
            <a:avLst/>
          </a:prstGeom>
          <a:solidFill>
            <a:srgbClr val="FADBD8"/>
          </a:solidFill>
          <a:ln w="6350">
            <a:solidFill>
              <a:srgbClr val="E6B8B7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778240" y="352044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valid on 94% of days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38761D"/>
                </a:solidFill>
              </a:rPr>
              <a:t>28k tokens in total</a:t>
            </a:r>
            <a:endParaRPr lang="en-US" sz="1700" dirty="0"/>
          </a:p>
        </p:txBody>
      </p:sp>
      <p:sp>
        <p:nvSpPr>
          <p:cNvPr id="104" name="Text 102"/>
          <p:cNvSpPr txBox="1"/>
          <p:nvPr/>
        </p:nvSpPr>
        <p:spPr>
          <a:xfrm>
            <a:off x="3749040" y="48006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square = one of 48 new days · green = a valid route plan</a:t>
            </a:r>
            <a:endParaRPr lang="en-US" sz="1400" dirty="0"/>
          </a:p>
        </p:txBody>
      </p:sp>
      <p:sp>
        <p:nvSpPr>
          <p:cNvPr id="105" name="Text 103"/>
          <p:cNvSpPr txBox="1"/>
          <p:nvPr/>
        </p:nvSpPr>
        <p:spPr>
          <a:xfrm>
            <a:off x="548640" y="5349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Only the data change, so one checked program keeps working (also on 4× bigger days). New rule? Ask the model to edit 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policies, cost vs accuracy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Same 624 geometry and optimization problems, 3 models: % solved · tokens per problem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First program, no help</a:t>
            </a:r>
            <a:endParaRPr lang="en-US" sz="1600" dirty="0"/>
          </a:p>
        </p:txBody>
      </p:sp>
      <p:sp>
        <p:nvSpPr>
          <p:cNvPr id="5" name="bar First program, no help"/>
          <p:cNvSpPr/>
          <p:nvPr/>
        </p:nvSpPr>
        <p:spPr>
          <a:xfrm>
            <a:off x="3337560" y="1868119"/>
            <a:ext cx="1958645" cy="28346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87645" y="178308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63% · 0.7k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0008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hardest-looking</a:t>
            </a:r>
            <a:endParaRPr lang="en-US" sz="1600" dirty="0"/>
          </a:p>
        </p:txBody>
      </p:sp>
      <p:sp>
        <p:nvSpPr>
          <p:cNvPr id="8" name="bar Think on hardest-looking"/>
          <p:cNvSpPr/>
          <p:nvPr/>
        </p:nvSpPr>
        <p:spPr>
          <a:xfrm>
            <a:off x="3337560" y="2435047"/>
            <a:ext cx="2300630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29630" y="2350008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916936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check fails</a:t>
            </a:r>
            <a:endParaRPr lang="en-US" sz="1600" dirty="0"/>
          </a:p>
        </p:txBody>
      </p:sp>
      <p:sp>
        <p:nvSpPr>
          <p:cNvPr id="11" name="bar Think when check fails"/>
          <p:cNvSpPr/>
          <p:nvPr/>
        </p:nvSpPr>
        <p:spPr>
          <a:xfrm>
            <a:off x="3337560" y="3001975"/>
            <a:ext cx="2393899" cy="283464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22899" y="2916936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83864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4" name="bar Fix by failure type"/>
          <p:cNvSpPr/>
          <p:nvPr/>
        </p:nvSpPr>
        <p:spPr>
          <a:xfrm>
            <a:off x="3337560" y="3568903"/>
            <a:ext cx="2580437" cy="283464"/>
          </a:xfrm>
          <a:prstGeom prst="rect">
            <a:avLst/>
          </a:prstGeom>
          <a:solidFill>
            <a:srgbClr val="ED7D31"/>
          </a:solidFill>
          <a:ln w="6350">
            <a:solidFill>
              <a:srgbClr val="ED7D3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09437" y="3483864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7D31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Retrieved fact, then think</a:t>
            </a:r>
            <a:endParaRPr lang="en-US" sz="1600" dirty="0"/>
          </a:p>
        </p:txBody>
      </p:sp>
      <p:sp>
        <p:nvSpPr>
          <p:cNvPr id="17" name="bar Retrieved fact, then think"/>
          <p:cNvSpPr/>
          <p:nvPr/>
        </p:nvSpPr>
        <p:spPr>
          <a:xfrm>
            <a:off x="3337560" y="4135831"/>
            <a:ext cx="2611526" cy="283464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40526" y="4050792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84% · 3.3k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17720"/>
            <a:ext cx="265176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then think</a:t>
            </a:r>
            <a:endParaRPr lang="en-US" sz="1600" dirty="0"/>
          </a:p>
        </p:txBody>
      </p:sp>
      <p:sp>
        <p:nvSpPr>
          <p:cNvPr id="20" name="bar Fact first, then think"/>
          <p:cNvSpPr/>
          <p:nvPr/>
        </p:nvSpPr>
        <p:spPr>
          <a:xfrm>
            <a:off x="3337560" y="4702759"/>
            <a:ext cx="2704795" cy="28346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33795" y="4617720"/>
            <a:ext cx="1554480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22" name="new task"/>
          <p:cNvSpPr/>
          <p:nvPr/>
        </p:nvSpPr>
        <p:spPr>
          <a:xfrm>
            <a:off x="8229600" y="173736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12480" y="182880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new task? Label 30 problems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25146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points lost vs the best policy, over 63 settings (lower is better)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3200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think</a:t>
            </a:r>
            <a:endParaRPr lang="en-US" sz="1400" dirty="0"/>
          </a:p>
        </p:txBody>
      </p:sp>
      <p:sp>
        <p:nvSpPr>
          <p:cNvPr id="26" name="loss always think"/>
          <p:cNvSpPr/>
          <p:nvPr/>
        </p:nvSpPr>
        <p:spPr>
          <a:xfrm>
            <a:off x="8412480" y="3493008"/>
            <a:ext cx="2304288" cy="201168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808208" y="34290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</a:rPr>
              <a:t>8.4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0" y="38404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first (default)</a:t>
            </a:r>
            <a:endParaRPr lang="en-US" sz="1400" dirty="0"/>
          </a:p>
        </p:txBody>
      </p:sp>
      <p:sp>
        <p:nvSpPr>
          <p:cNvPr id="29" name="loss fact first (default)"/>
          <p:cNvSpPr/>
          <p:nvPr/>
        </p:nvSpPr>
        <p:spPr>
          <a:xfrm>
            <a:off x="8412480" y="4133088"/>
            <a:ext cx="384048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87968" y="4069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1.4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480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pick on 30 labels</a:t>
            </a:r>
            <a:endParaRPr lang="en-US" sz="1400" dirty="0"/>
          </a:p>
        </p:txBody>
      </p:sp>
      <p:sp>
        <p:nvSpPr>
          <p:cNvPr id="32" name="loss pick on 30 labels"/>
          <p:cNvSpPr/>
          <p:nvPr/>
        </p:nvSpPr>
        <p:spPr>
          <a:xfrm>
            <a:off x="8412480" y="4773168"/>
            <a:ext cx="164592" cy="201168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668512" y="470916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0.6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Most accurate and among the cheapest on all 3 seeds: spend thinking where a check fails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it pays off, even without a human or a big GPU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624 geometry and optimization problems, 3 models: % solved · tokens per problem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on hardest (Snell et al.)</a:t>
            </a:r>
            <a:endParaRPr lang="en-US" sz="1600" dirty="0"/>
          </a:p>
        </p:txBody>
      </p:sp>
      <p:sp>
        <p:nvSpPr>
          <p:cNvPr id="5" name="bar Think on hardest (Snell et al.)"/>
          <p:cNvSpPr/>
          <p:nvPr/>
        </p:nvSpPr>
        <p:spPr>
          <a:xfrm>
            <a:off x="3703320" y="1879092"/>
            <a:ext cx="1759306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554066" y="178308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74% · 4.1k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Think when the check fails</a:t>
            </a:r>
            <a:endParaRPr lang="en-US" sz="1600" dirty="0"/>
          </a:p>
        </p:txBody>
      </p:sp>
      <p:sp>
        <p:nvSpPr>
          <p:cNvPr id="8" name="bar Think when the check fails"/>
          <p:cNvSpPr/>
          <p:nvPr/>
        </p:nvSpPr>
        <p:spPr>
          <a:xfrm>
            <a:off x="3703320" y="2519172"/>
            <a:ext cx="1830629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5389" y="242316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77% · 4.2k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6324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Fix by failure type</a:t>
            </a:r>
            <a:endParaRPr lang="en-US" sz="1600" dirty="0"/>
          </a:p>
        </p:txBody>
      </p:sp>
      <p:sp>
        <p:nvSpPr>
          <p:cNvPr id="11" name="bar Fix by failure type"/>
          <p:cNvSpPr/>
          <p:nvPr/>
        </p:nvSpPr>
        <p:spPr>
          <a:xfrm>
            <a:off x="3703320" y="3159252"/>
            <a:ext cx="1973275" cy="320040"/>
          </a:xfrm>
          <a:prstGeom prst="rect">
            <a:avLst/>
          </a:prstGeom>
          <a:solidFill>
            <a:srgbClr val="7F7F7F"/>
          </a:solidFill>
          <a:ln w="6350">
            <a:solidFill>
              <a:srgbClr val="7F7F7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8035" y="30632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7F7F"/>
                </a:solidFill>
              </a:rPr>
              <a:t>83% · 4.2k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70332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Fact first, think on failure</a:t>
            </a:r>
            <a:endParaRPr lang="en-US" sz="1600" dirty="0"/>
          </a:p>
        </p:txBody>
      </p:sp>
      <p:sp>
        <p:nvSpPr>
          <p:cNvPr id="14" name="bar Fact first, think on failure"/>
          <p:cNvSpPr/>
          <p:nvPr/>
        </p:nvSpPr>
        <p:spPr>
          <a:xfrm>
            <a:off x="3703320" y="3799332"/>
            <a:ext cx="2068373" cy="32004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63133" y="370332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87% · 2.5k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863840" y="13258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79% = 79%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187452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fact found automatically = hand-written, on a benchmark never used before (MAMO)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0" y="27432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24 GB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863840" y="329184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RTX 3090-class GPU: gpt-oss-20b and Qwen3-14B match Qwen3-32B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416052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472C4"/>
                </a:solidFill>
              </a:rPr>
              <a:t>30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7091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labelled problems pick the best policy for a new task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"Spend more on hard problems" loses to "facts first, think where the check fails"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compared with published methods</a:t>
            </a:r>
            <a:endParaRPr lang="en-US" sz="3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566160"/>
                <a:gridCol w="2011680"/>
                <a:gridCol w="338328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Published method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Its result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 (same problems)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Where to spend thinking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think on the hardest-looking problems (Snell et al.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74% · 4.1k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fact first, think on failure: 87% · 2.5k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Contest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always high effort (reasoning-model default)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66.2% · 30.1k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think only on a failed check: 66.3% · 24.7k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Pick 1 of 3 programs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CodeT: the model writes tests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96.0% (+340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symmetry check: 99.7% (0 tokens)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Library documentation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DRoC: decompose, retrieve per constraint (ICLR 2025)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72% · 2.1k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exact 5-line snippet: 77% · 1.7k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Unneeded tools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System 2 Attention / a "use only if needed" sentence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64% / 76%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only the needed tools: 92%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Daily routing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Dynamic Cheatsheet: the model's own notes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31–40%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reuse a checked program: 94%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Word problems (held-out MAMO)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ORLM-8B: a fine-tuned modeling specialist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69.5% · 1.1k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Qwen3-8B, no training: 69.5% · 1.0k; gpt-oss-20b 78.8%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Measured here with the same problems and models: the recipe is more accurate, cheaper, or both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this work sits in related research</a:t>
            </a:r>
            <a:endParaRPr lang="en-US" sz="3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20624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Theme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Closest work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What we add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Programs instead of 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PAL, Program-of-Thoughts, Mixture-of-Thought (ICLR 2024)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when a program helps; text vs program as a free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Library facts for code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DRoC (ICLR 2025), CP-Bench, CloudAPIBench, DRAFT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5 exact lines beat the manual and thinking; facts mined without a human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Misleading context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Invisible Lottery (2606.04057), unneeded tools (2609.14157), CodeCrash, S2A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the harm on exact geometry, turned into a check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Choosing a program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CodeT, MBR-exec, AlphaCode's example filter, DeepConf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symmetry check of one program: 99.7% vs CodeT 96.0%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Spending test-time compute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Snell et al. 2025, FrugalGPT, DART, Thinkless, AdaptThink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 + execution check, no training: 87% vs 74%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Optimization modeling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ORLM, STORM, EVOM, OR-R1 (trained); OptiMUS, OptiSkill (agents)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training-free, no answers; matches fine-tuned ORLM-8B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program, many instances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FunSearch, HeuriGym, ARS, 2605.14141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measured 7% → 94%; edit a verified program for new rules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Proofs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Goedel-Prover-V2, DeepSeek-Prover-V2, AlphaGeometry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8761D"/>
                          </a:solidFill>
                        </a:rPr>
                        <a:t>facts and checks do not carry over: use a specialized prover</a:t>
                      </a:r>
                      <a:endParaRPr lang="en-US" sz="13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numbers reported in papers, next to ours</a:t>
            </a:r>
            <a:endParaRPr lang="en-US" sz="3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Benchmark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Reported in the paper or model card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Ours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1188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MAMO Easy / Complex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ORLM-LLaMA-3-8B 82.3 / 37.4% (fine-tuned)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STORM-Qwen3-4B 86.3 / 70.3% (SFT + RL)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OptiSkill with frontier models 90.8–94.3 / 56.8–64.0%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no training: Qwen3-14B 82.8 / 37.4%, gpt-oss-20b 85.6 / 57.8%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ORLM-8B in our harness: 80.5 / 35.5%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miniF2F, 32 tries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Goedel-Prover-V2-8B 84.6%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the same model in our harness: 76.6%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IMO-AG-30 geometry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AlphaGeometry 25 of 30; its symbolic engine alone 14; average IMO gold medallist 25.9, average participant 15.2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38761D"/>
                          </a:solidFill>
                        </a:rPr>
                        <a:t>engine alone 12 in our setup; with our models' points 13</a:t>
                      </a:r>
                      <a:endParaRPr lang="en-US" sz="15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Different harnesses and graders: for orientation only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proofs need a specialized model, not a fact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 (miniF2F): show that if x &lt; 100 and 9x mod 100 = 1, then x = 89</a:t>
            </a:r>
            <a:endParaRPr lang="en-US" sz="1600" dirty="0"/>
          </a:p>
        </p:txBody>
      </p:sp>
      <p:sp>
        <p:nvSpPr>
          <p:cNvPr id="4" name="code theorem (x : ℕ) (h₀ "/>
          <p:cNvSpPr/>
          <p:nvPr/>
        </p:nvSpPr>
        <p:spPr>
          <a:xfrm>
            <a:off x="548640" y="1645920"/>
            <a:ext cx="60350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5815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theorem (x : ℕ) (h₀ : x &lt; 100) (h₁ : x * 9 % 100 = 1) : x = 89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General model (Qwen3-32B)</a:t>
            </a:r>
            <a:endParaRPr lang="en-US" sz="1500" dirty="0"/>
          </a:p>
        </p:txBody>
      </p:sp>
      <p:sp>
        <p:nvSpPr>
          <p:cNvPr id="7" name="code ... Nat.ModEq_iff_mo"/>
          <p:cNvSpPr/>
          <p:nvPr/>
        </p:nvSpPr>
        <p:spPr>
          <a:xfrm>
            <a:off x="548640" y="2560320"/>
            <a:ext cx="32918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032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Nat.ModEq_iff_modEq ...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977640" y="25603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✗ no such lemma in the library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15468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Specialized prover (Goedel-Prover-V2-8B)</a:t>
            </a:r>
            <a:endParaRPr lang="en-US" sz="1500" dirty="0"/>
          </a:p>
        </p:txBody>
      </p:sp>
      <p:sp>
        <p:nvSpPr>
          <p:cNvPr id="11" name="code interval_cases x &lt;;&gt;"/>
          <p:cNvSpPr/>
          <p:nvPr/>
        </p:nvSpPr>
        <p:spPr>
          <a:xfrm>
            <a:off x="548640" y="3474720"/>
            <a:ext cx="47548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474720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AD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interval_cases x &lt;;&gt; norm_num at h₁ ⊢ &lt;;&gt; omega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34747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0AD47"/>
                </a:solidFill>
              </a:rPr>
              <a:t>✓ tries all 100 x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1887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244 statements, 8 tries each: % proved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645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Qwen3-32B</a:t>
            </a:r>
            <a:endParaRPr lang="en-US" sz="1600" dirty="0"/>
          </a:p>
        </p:txBody>
      </p:sp>
      <p:sp>
        <p:nvSpPr>
          <p:cNvPr id="16" name="bar Qwen3-32B"/>
          <p:cNvSpPr/>
          <p:nvPr/>
        </p:nvSpPr>
        <p:spPr>
          <a:xfrm>
            <a:off x="8915400" y="1714500"/>
            <a:ext cx="249677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256517" y="16459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13%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gpt-oss-20b</a:t>
            </a:r>
            <a:endParaRPr lang="en-US" sz="1600" dirty="0"/>
          </a:p>
        </p:txBody>
      </p:sp>
      <p:sp>
        <p:nvSpPr>
          <p:cNvPr id="19" name="bar gpt-oss-20b"/>
          <p:cNvSpPr/>
          <p:nvPr/>
        </p:nvSpPr>
        <p:spPr>
          <a:xfrm>
            <a:off x="8915400" y="2171700"/>
            <a:ext cx="530809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537649" y="21031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27%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560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Qwen3.6-35B</a:t>
            </a:r>
            <a:endParaRPr lang="en-US" sz="1600" dirty="0"/>
          </a:p>
        </p:txBody>
      </p:sp>
      <p:sp>
        <p:nvSpPr>
          <p:cNvPr id="22" name="bar Qwen3.6-35B"/>
          <p:cNvSpPr/>
          <p:nvPr/>
        </p:nvSpPr>
        <p:spPr>
          <a:xfrm>
            <a:off x="8915400" y="2628900"/>
            <a:ext cx="1071448" cy="228600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078288" y="25603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5A5A5"/>
                </a:solidFill>
              </a:rPr>
              <a:t>55%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949440" y="30175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DeepSeek-Prover-7B</a:t>
            </a:r>
            <a:endParaRPr lang="en-US" sz="1600" dirty="0"/>
          </a:p>
        </p:txBody>
      </p:sp>
      <p:sp>
        <p:nvSpPr>
          <p:cNvPr id="25" name="bar DeepSeek-Prover-7B"/>
          <p:cNvSpPr/>
          <p:nvPr/>
        </p:nvSpPr>
        <p:spPr>
          <a:xfrm>
            <a:off x="8915400" y="3086100"/>
            <a:ext cx="1328989" cy="228600"/>
          </a:xfrm>
          <a:prstGeom prst="rect">
            <a:avLst/>
          </a:prstGeom>
          <a:solidFill>
            <a:srgbClr val="5B9BD5"/>
          </a:solidFill>
          <a:ln w="6350">
            <a:solidFill>
              <a:srgbClr val="5B9BD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335829" y="30175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9BD5"/>
                </a:solidFill>
              </a:rPr>
              <a:t>68%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949440" y="3474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Goedel-Prover-8B</a:t>
            </a:r>
            <a:endParaRPr lang="en-US" sz="1600" dirty="0"/>
          </a:p>
        </p:txBody>
      </p:sp>
      <p:sp>
        <p:nvSpPr>
          <p:cNvPr id="28" name="bar Goedel-Prover-8B"/>
          <p:cNvSpPr/>
          <p:nvPr/>
        </p:nvSpPr>
        <p:spPr>
          <a:xfrm>
            <a:off x="8915400" y="3543300"/>
            <a:ext cx="1450878" cy="228600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0457718" y="347472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74%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2062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 general models no step helps: a similar verified proof 133 → 133 · thinking 133 → 129 · an inequality fact sheet 24 → 21; fixing a proof from Lean's errors works half as well as a fresh try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892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Geometry proofs (AlphaGeometry's solver + LLM-proposed points): IMO 12 → 13 of 30 (only 2014 P4: "take the midpoint of BC"); easier JGEX 187 → 200 of 231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The missing piece is a skill, not a fact: use a specialized 8B prover (fits one 24 GB GPU)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where the recipe stops, and what is next</a:t>
            </a:r>
            <a:endParaRPr lang="en-US" sz="3600" dirty="0"/>
          </a:p>
        </p:txBody>
      </p:sp>
      <p:sp>
        <p:nvSpPr>
          <p:cNvPr id="3" name="Where it stops"/>
          <p:cNvSpPr/>
          <p:nvPr/>
        </p:nvSpPr>
        <p:spPr>
          <a:xfrm>
            <a:off x="54864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00000"/>
                </a:solidFill>
              </a:rPr>
              <a:t>Where it stops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Proofs: a skill, not a fact (use a specialized prover)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only within one kind of problem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Checks leak: 24–37% of wrong contest programs pass the examples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Missing world knowledge: thinking adds 2–5 points at 70–200× tokens</a:t>
            </a:r>
            <a:endParaRPr lang="en-US" sz="1700" dirty="0"/>
          </a:p>
        </p:txBody>
      </p:sp>
      <p:sp>
        <p:nvSpPr>
          <p:cNvPr id="6" name="Next"/>
          <p:cNvSpPr/>
          <p:nvPr/>
        </p:nvSpPr>
        <p:spPr>
          <a:xfrm>
            <a:off x="6172200" y="1417320"/>
            <a:ext cx="5440680" cy="3749040"/>
          </a:xfrm>
          <a:prstGeom prst="roundRect">
            <a:avLst>
              <a:gd name="adj" fmla="val 1951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544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Next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94560"/>
            <a:ext cx="489204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Finish the held-out MAMO test (more models, 3 seeds)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Errors no check catches: a perfect check adds only 1–3 points on word problems; the rest run but model the problem wrong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Automatic facts for each problem type; final report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claim pre-registered and checked on 3 seeds; accuracy always reported with its token cost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all findings at a glance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blue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= the better way   ·   </a:t>
            </a:r>
            <a:pPr indent="0" marL="0">
              <a:buNone/>
            </a:pPr>
            <a:r>
              <a:rPr lang="en-US" sz="1400" b="1" dirty="0">
                <a:solidFill>
                  <a:srgbClr val="7F7F7F"/>
                </a:solidFill>
              </a:rPr>
              <a:t>grey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= the usual way or a published method   ·   </a:t>
            </a:r>
            <a:pPr indent="0" marL="0">
              <a:buNone/>
            </a:pPr>
            <a:r>
              <a:rPr lang="en-US" sz="1400" b="1" dirty="0">
                <a:solidFill>
                  <a:srgbClr val="C00000"/>
                </a:solidFill>
              </a:rPr>
              <a:t>red</a:t>
            </a:r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= makes it worse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Add the missing fact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39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delivery routing, Qwen3-32B: % optimal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048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task only</a:t>
            </a:r>
            <a:endParaRPr lang="en-US" sz="1300" dirty="0"/>
          </a:p>
        </p:txBody>
      </p:sp>
      <p:sp>
        <p:nvSpPr>
          <p:cNvPr id="7" name="Add the missing fact task only"/>
          <p:cNvSpPr/>
          <p:nvPr/>
        </p:nvSpPr>
        <p:spPr>
          <a:xfrm>
            <a:off x="2029968" y="2450592"/>
            <a:ext cx="26289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47722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23%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think longer</a:t>
            </a:r>
            <a:endParaRPr lang="en-US" sz="1300" dirty="0"/>
          </a:p>
        </p:txBody>
      </p:sp>
      <p:sp>
        <p:nvSpPr>
          <p:cNvPr id="10" name="Add the missing fact think longer"/>
          <p:cNvSpPr/>
          <p:nvPr/>
        </p:nvSpPr>
        <p:spPr>
          <a:xfrm>
            <a:off x="2029968" y="2834640"/>
            <a:ext cx="34290" cy="237744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19122" y="27889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3%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172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whole manual</a:t>
            </a:r>
            <a:endParaRPr lang="en-US" sz="1300" dirty="0"/>
          </a:p>
        </p:txBody>
      </p:sp>
      <p:sp>
        <p:nvSpPr>
          <p:cNvPr id="13" name="Add the missing fact whole manual"/>
          <p:cNvSpPr/>
          <p:nvPr/>
        </p:nvSpPr>
        <p:spPr>
          <a:xfrm>
            <a:off x="2029968" y="3218688"/>
            <a:ext cx="80010" cy="237744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164842" y="3172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7%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55701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 exact lines</a:t>
            </a:r>
            <a:endParaRPr lang="en-US" sz="1300" dirty="0"/>
          </a:p>
        </p:txBody>
      </p:sp>
      <p:sp>
        <p:nvSpPr>
          <p:cNvPr id="16" name="Add the missing fact 5 exact lines"/>
          <p:cNvSpPr/>
          <p:nvPr/>
        </p:nvSpPr>
        <p:spPr>
          <a:xfrm>
            <a:off x="2029968" y="3602736"/>
            <a:ext cx="94869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033522" y="3557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77–90%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4340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Small models gain most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2039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word problems: % solved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343400" y="24048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Qwen3-1.7B</a:t>
            </a:r>
            <a:endParaRPr lang="en-US" sz="1300" dirty="0"/>
          </a:p>
        </p:txBody>
      </p:sp>
      <p:sp>
        <p:nvSpPr>
          <p:cNvPr id="21" name="Small models gain most Qwen3-1.7B"/>
          <p:cNvSpPr/>
          <p:nvPr/>
        </p:nvSpPr>
        <p:spPr>
          <a:xfrm>
            <a:off x="5824728" y="2450592"/>
            <a:ext cx="27432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80735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0%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1.7B + fact</a:t>
            </a:r>
            <a:endParaRPr lang="en-US" sz="1300" dirty="0"/>
          </a:p>
        </p:txBody>
      </p:sp>
      <p:sp>
        <p:nvSpPr>
          <p:cNvPr id="24" name="Small models gain most 1.7B + fact"/>
          <p:cNvSpPr/>
          <p:nvPr/>
        </p:nvSpPr>
        <p:spPr>
          <a:xfrm>
            <a:off x="5824728" y="2834640"/>
            <a:ext cx="508635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88227" y="27889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45%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4343400" y="3172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Qwen3-32B</a:t>
            </a:r>
            <a:endParaRPr lang="en-US" sz="1300" dirty="0"/>
          </a:p>
        </p:txBody>
      </p:sp>
      <p:sp>
        <p:nvSpPr>
          <p:cNvPr id="27" name="Small models gain most Qwen3-32B"/>
          <p:cNvSpPr/>
          <p:nvPr/>
        </p:nvSpPr>
        <p:spPr>
          <a:xfrm>
            <a:off x="5824728" y="3218688"/>
            <a:ext cx="747522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7114" y="3172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65%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343400" y="3557016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32B + fact</a:t>
            </a:r>
            <a:endParaRPr lang="en-US" sz="1300" dirty="0"/>
          </a:p>
        </p:txBody>
      </p:sp>
      <p:sp>
        <p:nvSpPr>
          <p:cNvPr id="30" name="Small models gain most 32B + fact"/>
          <p:cNvSpPr/>
          <p:nvPr/>
        </p:nvSpPr>
        <p:spPr>
          <a:xfrm>
            <a:off x="5824728" y="3602736"/>
            <a:ext cx="756666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636258" y="3557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66%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138160" y="169164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Compare two versions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8138160" y="203911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geometry, Qwen3-32B: % · tokens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138160" y="240487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8 extra tools</a:t>
            </a:r>
            <a:endParaRPr lang="en-US" sz="1300" dirty="0"/>
          </a:p>
        </p:txBody>
      </p:sp>
      <p:sp>
        <p:nvSpPr>
          <p:cNvPr id="35" name="Compare two versions 8 extra tools"/>
          <p:cNvSpPr/>
          <p:nvPr/>
        </p:nvSpPr>
        <p:spPr>
          <a:xfrm>
            <a:off x="9619488" y="2450592"/>
            <a:ext cx="674370" cy="237744"/>
          </a:xfrm>
          <a:prstGeom prst="rect">
            <a:avLst/>
          </a:prstGeom>
          <a:solidFill>
            <a:srgbClr val="C00000"/>
          </a:solidFill>
          <a:ln w="6350">
            <a:solidFill>
              <a:srgbClr val="C0000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10348722" y="240487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</a:rPr>
              <a:t>59% · 0.6k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8138160" y="278892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always think</a:t>
            </a:r>
            <a:endParaRPr lang="en-US" sz="1300" dirty="0"/>
          </a:p>
        </p:txBody>
      </p:sp>
      <p:sp>
        <p:nvSpPr>
          <p:cNvPr id="38" name="Compare two versions always think"/>
          <p:cNvSpPr/>
          <p:nvPr/>
        </p:nvSpPr>
        <p:spPr>
          <a:xfrm>
            <a:off x="9619488" y="2834640"/>
            <a:ext cx="112014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794492" y="27889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98% · 5.9k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8138160" y="317296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think if differ</a:t>
            </a:r>
            <a:endParaRPr lang="en-US" sz="1300" dirty="0"/>
          </a:p>
        </p:txBody>
      </p:sp>
      <p:sp>
        <p:nvSpPr>
          <p:cNvPr id="41" name="Compare two versions think if differ"/>
          <p:cNvSpPr/>
          <p:nvPr/>
        </p:nvSpPr>
        <p:spPr>
          <a:xfrm>
            <a:off x="9619488" y="3218688"/>
            <a:ext cx="113157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805922" y="317296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99% · 4.3k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40690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Think only on failure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416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311 contest problems: % · tokens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47823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always high</a:t>
            </a:r>
            <a:endParaRPr lang="en-US" sz="1300" dirty="0"/>
          </a:p>
        </p:txBody>
      </p:sp>
      <p:sp>
        <p:nvSpPr>
          <p:cNvPr id="46" name="Think only on failure always high"/>
          <p:cNvSpPr/>
          <p:nvPr/>
        </p:nvSpPr>
        <p:spPr>
          <a:xfrm>
            <a:off x="2029968" y="4828032"/>
            <a:ext cx="756666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841498" y="4782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66% · 30k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51663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high on failure</a:t>
            </a:r>
            <a:endParaRPr lang="en-US" sz="1300" dirty="0"/>
          </a:p>
        </p:txBody>
      </p:sp>
      <p:sp>
        <p:nvSpPr>
          <p:cNvPr id="49" name="Think only on failure high on failure"/>
          <p:cNvSpPr/>
          <p:nvPr/>
        </p:nvSpPr>
        <p:spPr>
          <a:xfrm>
            <a:off x="2029968" y="5212080"/>
            <a:ext cx="757809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842641" y="5166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66% · 25k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4343400" y="40690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Reuse a checked program</a:t>
            </a:r>
            <a:endParaRPr lang="en-US" sz="1700" dirty="0"/>
          </a:p>
        </p:txBody>
      </p:sp>
      <p:sp>
        <p:nvSpPr>
          <p:cNvPr id="52" name="Text 50"/>
          <p:cNvSpPr txBox="1"/>
          <p:nvPr/>
        </p:nvSpPr>
        <p:spPr>
          <a:xfrm>
            <a:off x="4343400" y="4416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48 routing days: % valid · tokens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4343400" y="47823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each day</a:t>
            </a:r>
            <a:endParaRPr lang="en-US" sz="1300" dirty="0"/>
          </a:p>
        </p:txBody>
      </p:sp>
      <p:sp>
        <p:nvSpPr>
          <p:cNvPr id="54" name="Reuse a checked program new each day"/>
          <p:cNvSpPr/>
          <p:nvPr/>
        </p:nvSpPr>
        <p:spPr>
          <a:xfrm>
            <a:off x="5824728" y="4828032"/>
            <a:ext cx="8001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59602" y="4782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7% · 86k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343400" y="51663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own notes (DC)</a:t>
            </a:r>
            <a:endParaRPr lang="en-US" sz="1300" dirty="0"/>
          </a:p>
        </p:txBody>
      </p:sp>
      <p:sp>
        <p:nvSpPr>
          <p:cNvPr id="57" name="Reuse a checked program own notes (DC)"/>
          <p:cNvSpPr/>
          <p:nvPr/>
        </p:nvSpPr>
        <p:spPr>
          <a:xfrm>
            <a:off x="5824728" y="5212080"/>
            <a:ext cx="41148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291072" y="5166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31–40%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4343400" y="55504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reuse one</a:t>
            </a:r>
            <a:endParaRPr lang="en-US" sz="1300" dirty="0"/>
          </a:p>
        </p:txBody>
      </p:sp>
      <p:sp>
        <p:nvSpPr>
          <p:cNvPr id="60" name="Reuse a checked program reuse one"/>
          <p:cNvSpPr/>
          <p:nvPr/>
        </p:nvSpPr>
        <p:spPr>
          <a:xfrm>
            <a:off x="5824728" y="5596128"/>
            <a:ext cx="107442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954012" y="55504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94% · 28k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8138160" y="406908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All together</a:t>
            </a:r>
            <a:endParaRPr lang="en-US" sz="1700" dirty="0"/>
          </a:p>
        </p:txBody>
      </p:sp>
      <p:sp>
        <p:nvSpPr>
          <p:cNvPr id="63" name="Text 61"/>
          <p:cNvSpPr txBox="1"/>
          <p:nvPr/>
        </p:nvSpPr>
        <p:spPr>
          <a:xfrm>
            <a:off x="8138160" y="4416552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624 problems, 3 models: % · tokens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8138160" y="478231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think on hardest</a:t>
            </a:r>
            <a:endParaRPr lang="en-US" sz="1300" dirty="0"/>
          </a:p>
        </p:txBody>
      </p:sp>
      <p:sp>
        <p:nvSpPr>
          <p:cNvPr id="65" name="All together think on hardest"/>
          <p:cNvSpPr/>
          <p:nvPr/>
        </p:nvSpPr>
        <p:spPr>
          <a:xfrm>
            <a:off x="9619488" y="4828032"/>
            <a:ext cx="84582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10520172" y="4782312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74% · 4.1k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8138160" y="516636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fix by type</a:t>
            </a:r>
            <a:endParaRPr lang="en-US" sz="1300" dirty="0"/>
          </a:p>
        </p:txBody>
      </p:sp>
      <p:sp>
        <p:nvSpPr>
          <p:cNvPr id="68" name="All together fix by type"/>
          <p:cNvSpPr/>
          <p:nvPr/>
        </p:nvSpPr>
        <p:spPr>
          <a:xfrm>
            <a:off x="9619488" y="5212080"/>
            <a:ext cx="948690" cy="237744"/>
          </a:xfrm>
          <a:prstGeom prst="rect">
            <a:avLst/>
          </a:prstGeom>
          <a:solidFill>
            <a:srgbClr val="A5A5A5"/>
          </a:solidFill>
          <a:ln w="6350">
            <a:solidFill>
              <a:srgbClr val="A5A5A5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10623042" y="5166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</a:rPr>
              <a:t>83% · 4.2k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8138160" y="555040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fact first</a:t>
            </a:r>
            <a:endParaRPr lang="en-US" sz="1300" dirty="0"/>
          </a:p>
        </p:txBody>
      </p:sp>
      <p:sp>
        <p:nvSpPr>
          <p:cNvPr id="71" name="All together fact first"/>
          <p:cNvSpPr/>
          <p:nvPr/>
        </p:nvSpPr>
        <p:spPr>
          <a:xfrm>
            <a:off x="9619488" y="5596128"/>
            <a:ext cx="994410" cy="237744"/>
          </a:xfrm>
          <a:prstGeom prst="rect">
            <a:avLst/>
          </a:prstGeom>
          <a:solidFill>
            <a:srgbClr val="4472C4"/>
          </a:solidFill>
          <a:ln w="6350">
            <a:solidFill>
              <a:srgbClr val="4472C4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0668762" y="5550408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472C4"/>
                </a:solidFill>
              </a:rPr>
              <a:t>87% · 2.5k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chemeClr val="tx1"/>
                </a:solidFill>
              </a:rPr>
              <a:t>Extra: words we use</a:t>
            </a:r>
            <a:endParaRPr lang="en-US" sz="3600" dirty="0"/>
          </a:p>
        </p:txBody>
      </p:sp>
      <p:sp>
        <p:nvSpPr>
          <p:cNvPr id="3" name="term Program"/>
          <p:cNvSpPr/>
          <p:nvPr/>
        </p:nvSpPr>
        <p:spPr>
          <a:xfrm>
            <a:off x="548640" y="14173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Program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3055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code the model writes; the computer runs it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7889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the shoelace formula for an area</a:t>
            </a:r>
            <a:endParaRPr lang="en-US" sz="1400" dirty="0"/>
          </a:p>
        </p:txBody>
      </p:sp>
      <p:sp>
        <p:nvSpPr>
          <p:cNvPr id="7" name="term Tool"/>
          <p:cNvSpPr/>
          <p:nvPr/>
        </p:nvSpPr>
        <p:spPr>
          <a:xfrm>
            <a:off x="4343400" y="14173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Tool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13055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ready-made code we put in the prompt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7889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orient(a, b, c); the OR-Tools route library</a:t>
            </a:r>
            <a:endParaRPr lang="en-US" sz="1400" dirty="0"/>
          </a:p>
        </p:txBody>
      </p:sp>
      <p:sp>
        <p:nvSpPr>
          <p:cNvPr id="11" name="term Fact"/>
          <p:cNvSpPr/>
          <p:nvPr/>
        </p:nvSpPr>
        <p:spPr>
          <a:xfrm>
            <a:off x="8138160" y="141732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66760" y="15544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Fact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366760" y="213055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know-how the model may lack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7889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the exact function name to call</a:t>
            </a:r>
            <a:endParaRPr lang="en-US" sz="1400" dirty="0"/>
          </a:p>
        </p:txBody>
      </p:sp>
      <p:sp>
        <p:nvSpPr>
          <p:cNvPr id="15" name="term Check"/>
          <p:cNvSpPr/>
          <p:nvPr/>
        </p:nvSpPr>
        <p:spPr>
          <a:xfrm>
            <a:off x="54864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794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Check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37083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cheap test, without knowing the answer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50292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run the examples printed in the problem</a:t>
            </a:r>
            <a:endParaRPr lang="en-US" sz="1400" dirty="0"/>
          </a:p>
        </p:txBody>
      </p:sp>
      <p:sp>
        <p:nvSpPr>
          <p:cNvPr id="19" name="term Thinking"/>
          <p:cNvSpPr/>
          <p:nvPr/>
        </p:nvSpPr>
        <p:spPr>
          <a:xfrm>
            <a:off x="434340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72000" y="3794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Thinking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0" y="437083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hidden notes before answering; costs tokens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50292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low / medium / high effort</a:t>
            </a:r>
            <a:endParaRPr lang="en-US" sz="1400" dirty="0"/>
          </a:p>
        </p:txBody>
      </p:sp>
      <p:sp>
        <p:nvSpPr>
          <p:cNvPr id="23" name="term Token"/>
          <p:cNvSpPr/>
          <p:nvPr/>
        </p:nvSpPr>
        <p:spPr>
          <a:xfrm>
            <a:off x="8138160" y="3657600"/>
            <a:ext cx="3520440" cy="2011680"/>
          </a:xfrm>
          <a:prstGeom prst="roundRect">
            <a:avLst>
              <a:gd name="adj" fmla="val 36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66760" y="379476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472C4"/>
                </a:solidFill>
              </a:rPr>
              <a:t>Token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370832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piece of a word: the unit of cost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8366760" y="502920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e.g. a one-page answer ≈ 700 tokens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C8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Solving Computational Math with LLMs, Accurately and Cheaply</dc:title>
  <dc:subject>PptxGenJS Presentation</dc:subject>
  <dc:creator>POSTECH graduate NLP course project</dc:creator>
  <cp:lastModifiedBy>POSTECH graduate NLP course project</cp:lastModifiedBy>
  <cp:revision>1</cp:revision>
  <dcterms:created xsi:type="dcterms:W3CDTF">2026-10-19T13:26:47Z</dcterms:created>
  <dcterms:modified xsi:type="dcterms:W3CDTF">2026-10-19T13:26:47Z</dcterms:modified>
</cp:coreProperties>
</file>