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74beefc6-e110-f19f-8180-0cecfbb1ba13}">
          <p14:sldIdLst>
            <p14:sldId id="256"/>
            <p14:sldId id="257"/>
            <p14:sldId id="258"/>
            <p14:sldId id="259"/>
            <p14:sldId id="260"/>
          </p14:sldIdLst>
        </p14:section>
        <p14:section name="Recipe" id="{c16e5ab0-6c47-4f1b-fad1-9bff569c8596}">
          <p14:sldIdLst>
            <p14:sldId id="261"/>
            <p14:sldId id="262"/>
            <p14:sldId id="263"/>
            <p14:sldId id="264"/>
            <p14:sldId id="265"/>
          </p14:sldIdLst>
        </p14:section>
        <p14:section name="Together" id="{8e2edeed-c44d-0e75-ddfc-600070d16dc7}">
          <p14:sldIdLst>
            <p14:sldId id="266"/>
            <p14:sldId id="267"/>
          </p14:sldIdLst>
        </p14:section>
        <p14:section name="Next" id="{2b4335e7-6eca-23e2-2b9d-ae04db08c713}">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next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More rows (MBR-exec, majority vote, DeepConf, Self-Debugging, Mixture-of-Thought cascade, BM25 retrieval) are in PROPOSAL.md section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Tools, Facts, and Checks</a:t>
            </a:r>
            <a:endParaRPr lang="en-US" sz="2200" dirty="0"/>
          </a:p>
          <a:p>
            <a:pPr algn="ctr" indent="0" marL="0">
              <a:buNone/>
            </a:pPr>
            <a:r>
              <a:rPr lang="en-US" sz="1600" dirty="0">
                <a:solidFill>
                  <a:srgbClr val="44546A"/>
                </a:solidFill>
              </a:rPr>
              <a:t>POSTECH CSED490E (Graduate NLP) · Team 5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3566160" y="1234440"/>
            <a:ext cx="8046720" cy="411480"/>
          </a:xfrm>
          <a:prstGeom prst="rect">
            <a:avLst/>
          </a:prstGeom>
          <a:noFill/>
          <a:ln/>
        </p:spPr>
        <p:txBody>
          <a:bodyPr wrap="square" lIns="0" tIns="0" rIns="0" bIns="0" rtlCol="0" anchor="ctr"/>
          <a:lstStyle/>
          <a:p>
            <a:pPr algn="ctr" indent="0" marL="0">
              <a:buNone/>
            </a:pPr>
            <a:r>
              <a:rPr lang="en-US" sz="1600" dirty="0">
                <a:solidFill>
                  <a:schemeClr val="tx1"/>
                </a:solidFill>
              </a:rPr>
              <a:t>Same shape moved, turned or flipped, so the right answer never changes: 436 (twice its area)</a:t>
            </a:r>
            <a:endParaRPr lang="en-US" sz="16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691640"/>
            <a:ext cx="8046720" cy="1737360"/>
          </a:xfrm>
          <a:prstGeom prst="rect">
            <a:avLst/>
          </a:prstGeom>
        </p:spPr>
      </p:pic>
      <p:sp>
        <p:nvSpPr>
          <p:cNvPr id="5" name="Text 2"/>
          <p:cNvSpPr txBox="1"/>
          <p:nvPr/>
        </p:nvSpPr>
        <p:spPr>
          <a:xfrm>
            <a:off x="356616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original</a:t>
            </a:r>
            <a:endParaRPr lang="en-US" sz="1600" dirty="0"/>
          </a:p>
        </p:txBody>
      </p:sp>
      <p:sp>
        <p:nvSpPr>
          <p:cNvPr id="6" name="Text 3"/>
          <p:cNvSpPr txBox="1"/>
          <p:nvPr/>
        </p:nvSpPr>
        <p:spPr>
          <a:xfrm>
            <a:off x="557784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moved</a:t>
            </a:r>
            <a:endParaRPr lang="en-US" sz="1600" dirty="0"/>
          </a:p>
        </p:txBody>
      </p:sp>
      <p:sp>
        <p:nvSpPr>
          <p:cNvPr id="7" name="Text 4"/>
          <p:cNvSpPr txBox="1"/>
          <p:nvPr/>
        </p:nvSpPr>
        <p:spPr>
          <a:xfrm>
            <a:off x="758952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turned</a:t>
            </a:r>
            <a:endParaRPr lang="en-US" sz="1600" dirty="0"/>
          </a:p>
        </p:txBody>
      </p:sp>
      <p:sp>
        <p:nvSpPr>
          <p:cNvPr id="8" name="Text 5"/>
          <p:cNvSpPr txBox="1"/>
          <p:nvPr/>
        </p:nvSpPr>
        <p:spPr>
          <a:xfrm>
            <a:off x="960120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flipped</a:t>
            </a:r>
            <a:endParaRPr lang="en-US" sz="1600" dirty="0"/>
          </a:p>
        </p:txBody>
      </p:sp>
      <p:sp>
        <p:nvSpPr>
          <p:cNvPr id="9" name="Text 6"/>
          <p:cNvSpPr txBox="1"/>
          <p:nvPr/>
        </p:nvSpPr>
        <p:spPr>
          <a:xfrm>
            <a:off x="548640" y="384048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Answer in words</a:t>
            </a:r>
            <a:endParaRPr lang="en-US" sz="2000" dirty="0"/>
          </a:p>
          <a:p>
            <a:pPr indent="0" marL="0">
              <a:buNone/>
            </a:pPr>
            <a:r>
              <a:rPr lang="en-US" sz="1400" dirty="0">
                <a:solidFill>
                  <a:srgbClr val="44546A"/>
                </a:solidFill>
              </a:rPr>
              <a:t>the model does the arithmetic itself</a:t>
            </a:r>
            <a:endParaRPr lang="en-US" sz="2000" dirty="0"/>
          </a:p>
        </p:txBody>
      </p:sp>
      <p:sp>
        <p:nvSpPr>
          <p:cNvPr id="10" name="answer 436 ✓"/>
          <p:cNvSpPr/>
          <p:nvPr/>
        </p:nvSpPr>
        <p:spPr>
          <a:xfrm>
            <a:off x="3794760" y="3931920"/>
            <a:ext cx="1554480" cy="548640"/>
          </a:xfrm>
          <a:prstGeom prst="roundRect">
            <a:avLst>
              <a:gd name="adj" fmla="val 16667"/>
            </a:avLst>
          </a:prstGeom>
          <a:solidFill>
            <a:srgbClr val="E2F0D9"/>
          </a:solidFill>
          <a:ln w="12700">
            <a:solidFill>
              <a:srgbClr val="70AD47"/>
            </a:solidFill>
            <a:prstDash val="solid"/>
          </a:ln>
        </p:spPr>
      </p:sp>
      <p:sp>
        <p:nvSpPr>
          <p:cNvPr id="11" name="Text 8"/>
          <p:cNvSpPr txBox="1"/>
          <p:nvPr/>
        </p:nvSpPr>
        <p:spPr>
          <a:xfrm>
            <a:off x="3794760" y="393192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2" name="answer 2944 ✗"/>
          <p:cNvSpPr/>
          <p:nvPr/>
        </p:nvSpPr>
        <p:spPr>
          <a:xfrm>
            <a:off x="5806440" y="393192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580644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4" name="answer 392 ✗"/>
          <p:cNvSpPr/>
          <p:nvPr/>
        </p:nvSpPr>
        <p:spPr>
          <a:xfrm>
            <a:off x="7818120" y="3931920"/>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81812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6" name="answer 728 ✗"/>
          <p:cNvSpPr/>
          <p:nvPr/>
        </p:nvSpPr>
        <p:spPr>
          <a:xfrm>
            <a:off x="9829800" y="3931920"/>
            <a:ext cx="1554480" cy="548640"/>
          </a:xfrm>
          <a:prstGeom prst="roundRect">
            <a:avLst>
              <a:gd name="adj" fmla="val 16667"/>
            </a:avLst>
          </a:prstGeom>
          <a:solidFill>
            <a:srgbClr val="FADBD8"/>
          </a:solidFill>
          <a:ln w="12700">
            <a:solidFill>
              <a:srgbClr val="C00000"/>
            </a:solidFill>
            <a:prstDash val="solid"/>
          </a:ln>
        </p:spPr>
      </p:sp>
      <p:sp>
        <p:nvSpPr>
          <p:cNvPr id="17" name="Text 14"/>
          <p:cNvSpPr txBox="1"/>
          <p:nvPr/>
        </p:nvSpPr>
        <p:spPr>
          <a:xfrm>
            <a:off x="982980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8" name="Text 15"/>
          <p:cNvSpPr txBox="1"/>
          <p:nvPr/>
        </p:nvSpPr>
        <p:spPr>
          <a:xfrm>
            <a:off x="548640" y="461772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Write a program</a:t>
            </a:r>
            <a:endParaRPr lang="en-US" sz="2000" dirty="0"/>
          </a:p>
          <a:p>
            <a:pPr indent="0" marL="0">
              <a:buNone/>
            </a:pPr>
            <a:r>
              <a:rPr lang="en-US" sz="1400" dirty="0">
                <a:solidFill>
                  <a:srgbClr val="44546A"/>
                </a:solidFill>
              </a:rPr>
              <a:t>the computer does the arithmetic</a:t>
            </a:r>
            <a:endParaRPr lang="en-US" sz="2000" dirty="0"/>
          </a:p>
        </p:txBody>
      </p:sp>
      <p:sp>
        <p:nvSpPr>
          <p:cNvPr id="19" name="answer 436 ✓"/>
          <p:cNvSpPr/>
          <p:nvPr/>
        </p:nvSpPr>
        <p:spPr>
          <a:xfrm>
            <a:off x="3794760" y="470916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379476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5806440" y="470916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580644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answer 436 ✓"/>
          <p:cNvSpPr/>
          <p:nvPr/>
        </p:nvSpPr>
        <p:spPr>
          <a:xfrm>
            <a:off x="7818120" y="4709160"/>
            <a:ext cx="1554480" cy="548640"/>
          </a:xfrm>
          <a:prstGeom prst="roundRect">
            <a:avLst>
              <a:gd name="adj" fmla="val 16667"/>
            </a:avLst>
          </a:prstGeom>
          <a:solidFill>
            <a:srgbClr val="E2F0D9"/>
          </a:solidFill>
          <a:ln w="12700">
            <a:solidFill>
              <a:srgbClr val="70AD47"/>
            </a:solidFill>
            <a:prstDash val="solid"/>
          </a:ln>
        </p:spPr>
      </p:sp>
      <p:sp>
        <p:nvSpPr>
          <p:cNvPr id="24" name="Text 21"/>
          <p:cNvSpPr txBox="1"/>
          <p:nvPr/>
        </p:nvSpPr>
        <p:spPr>
          <a:xfrm>
            <a:off x="781812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5" name="answer 436 ✓"/>
          <p:cNvSpPr/>
          <p:nvPr/>
        </p:nvSpPr>
        <p:spPr>
          <a:xfrm>
            <a:off x="9829800" y="4709160"/>
            <a:ext cx="1554480" cy="548640"/>
          </a:xfrm>
          <a:prstGeom prst="roundRect">
            <a:avLst>
              <a:gd name="adj" fmla="val 16667"/>
            </a:avLst>
          </a:prstGeom>
          <a:solidFill>
            <a:srgbClr val="E2F0D9"/>
          </a:solidFill>
          <a:ln w="12700">
            <a:solidFill>
              <a:srgbClr val="70AD47"/>
            </a:solidFill>
            <a:prstDash val="solid"/>
          </a:ln>
        </p:spPr>
      </p:sp>
      <p:sp>
        <p:nvSpPr>
          <p:cNvPr id="26" name="Text 23"/>
          <p:cNvSpPr txBox="1"/>
          <p:nvPr/>
        </p:nvSpPr>
        <p:spPr>
          <a:xfrm>
            <a:off x="982980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7" name="Text 2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But programs can be silently wrong, and thinking is expensive. Goal: right answers, lowest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answer: a recipe, cheap steps first</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routing solved: 23% → 77–90%</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Results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our recipe step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Step 2.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smaller the model, the more one fact helps</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Step 3. A free check: do two versions agree?</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Step 4. Think harder only when the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Step 5. Same problem every day: reuse a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420624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4892040" y="1868119"/>
            <a:ext cx="2995574" cy="283464"/>
          </a:xfrm>
          <a:prstGeom prst="rect">
            <a:avLst/>
          </a:prstGeom>
          <a:solidFill>
            <a:srgbClr val="A5A5A5"/>
          </a:solidFill>
          <a:ln w="6350">
            <a:solidFill>
              <a:srgbClr val="A5A5A5"/>
            </a:solidFill>
            <a:prstDash val="solid"/>
          </a:ln>
        </p:spPr>
      </p:sp>
      <p:sp>
        <p:nvSpPr>
          <p:cNvPr id="6" name="Text 4"/>
          <p:cNvSpPr txBox="1"/>
          <p:nvPr/>
        </p:nvSpPr>
        <p:spPr>
          <a:xfrm>
            <a:off x="7979054" y="1783080"/>
            <a:ext cx="192024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4206240" cy="453542"/>
          </a:xfrm>
          <a:prstGeom prst="rect">
            <a:avLst/>
          </a:prstGeom>
          <a:noFill/>
          <a:ln/>
        </p:spPr>
        <p:txBody>
          <a:bodyPr wrap="square" lIns="0" tIns="0" rIns="0" bIns="0" rtlCol="0" anchor="ctr"/>
          <a:lstStyle/>
          <a:p>
            <a:pPr algn="r" indent="0" marL="0">
              <a:buNone/>
            </a:pPr>
            <a:r>
              <a:rPr lang="en-US" sz="1600" dirty="0">
                <a:solidFill>
                  <a:schemeClr val="tx1"/>
                </a:solidFill>
              </a:rPr>
              <a:t>Think on the hardest-looking problems</a:t>
            </a:r>
            <a:endParaRPr lang="en-US" sz="1600" dirty="0"/>
          </a:p>
        </p:txBody>
      </p:sp>
      <p:sp>
        <p:nvSpPr>
          <p:cNvPr id="8" name="bar Think on the hardest-looking problems"/>
          <p:cNvSpPr/>
          <p:nvPr/>
        </p:nvSpPr>
        <p:spPr>
          <a:xfrm>
            <a:off x="4892040" y="2435047"/>
            <a:ext cx="3518611" cy="283464"/>
          </a:xfrm>
          <a:prstGeom prst="rect">
            <a:avLst/>
          </a:prstGeom>
          <a:solidFill>
            <a:srgbClr val="7F7F7F"/>
          </a:solidFill>
          <a:ln w="6350">
            <a:solidFill>
              <a:srgbClr val="7F7F7F"/>
            </a:solidFill>
            <a:prstDash val="solid"/>
          </a:ln>
        </p:spPr>
      </p:sp>
      <p:sp>
        <p:nvSpPr>
          <p:cNvPr id="9" name="Text 7"/>
          <p:cNvSpPr txBox="1"/>
          <p:nvPr/>
        </p:nvSpPr>
        <p:spPr>
          <a:xfrm>
            <a:off x="8502091" y="2350008"/>
            <a:ext cx="192024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4206240" cy="453542"/>
          </a:xfrm>
          <a:prstGeom prst="rect">
            <a:avLst/>
          </a:prstGeom>
          <a:noFill/>
          <a:ln/>
        </p:spPr>
        <p:txBody>
          <a:bodyPr wrap="square" lIns="0" tIns="0" rIns="0" bIns="0" rtlCol="0" anchor="ctr"/>
          <a:lstStyle/>
          <a:p>
            <a:pPr algn="r" indent="0" marL="0">
              <a:buNone/>
            </a:pPr>
            <a:r>
              <a:rPr lang="en-US" sz="1600" dirty="0">
                <a:solidFill>
                  <a:schemeClr val="tx1"/>
                </a:solidFill>
              </a:rPr>
              <a:t>Think whenever the check fails</a:t>
            </a:r>
            <a:endParaRPr lang="en-US" sz="1600" dirty="0"/>
          </a:p>
        </p:txBody>
      </p:sp>
      <p:sp>
        <p:nvSpPr>
          <p:cNvPr id="11" name="bar Think whenever the check fails"/>
          <p:cNvSpPr/>
          <p:nvPr/>
        </p:nvSpPr>
        <p:spPr>
          <a:xfrm>
            <a:off x="4892040" y="3001975"/>
            <a:ext cx="3661258" cy="283464"/>
          </a:xfrm>
          <a:prstGeom prst="rect">
            <a:avLst/>
          </a:prstGeom>
          <a:solidFill>
            <a:srgbClr val="7F7F7F"/>
          </a:solidFill>
          <a:ln w="6350">
            <a:solidFill>
              <a:srgbClr val="7F7F7F"/>
            </a:solidFill>
            <a:prstDash val="solid"/>
          </a:ln>
        </p:spPr>
      </p:sp>
      <p:sp>
        <p:nvSpPr>
          <p:cNvPr id="12" name="Text 10"/>
          <p:cNvSpPr txBox="1"/>
          <p:nvPr/>
        </p:nvSpPr>
        <p:spPr>
          <a:xfrm>
            <a:off x="8644738" y="2916936"/>
            <a:ext cx="192024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4206240" cy="453542"/>
          </a:xfrm>
          <a:prstGeom prst="rect">
            <a:avLst/>
          </a:prstGeom>
          <a:noFill/>
          <a:ln/>
        </p:spPr>
        <p:txBody>
          <a:bodyPr wrap="square" lIns="0" tIns="0" rIns="0" bIns="0" rtlCol="0" anchor="ctr"/>
          <a:lstStyle/>
          <a:p>
            <a:pPr algn="r" indent="0" marL="0">
              <a:buNone/>
            </a:pPr>
            <a:r>
              <a:rPr lang="en-US" sz="1600" dirty="0">
                <a:solidFill>
                  <a:schemeClr val="tx1"/>
                </a:solidFill>
              </a:rPr>
              <a:t>Choose the fix by failure type</a:t>
            </a:r>
            <a:endParaRPr lang="en-US" sz="1600" dirty="0"/>
          </a:p>
        </p:txBody>
      </p:sp>
      <p:sp>
        <p:nvSpPr>
          <p:cNvPr id="14" name="bar Choose the fix by failure type"/>
          <p:cNvSpPr/>
          <p:nvPr/>
        </p:nvSpPr>
        <p:spPr>
          <a:xfrm>
            <a:off x="4892040" y="3568903"/>
            <a:ext cx="3946550" cy="283464"/>
          </a:xfrm>
          <a:prstGeom prst="rect">
            <a:avLst/>
          </a:prstGeom>
          <a:solidFill>
            <a:srgbClr val="ED7D31"/>
          </a:solidFill>
          <a:ln w="6350">
            <a:solidFill>
              <a:srgbClr val="ED7D31"/>
            </a:solidFill>
            <a:prstDash val="solid"/>
          </a:ln>
        </p:spPr>
      </p:sp>
      <p:sp>
        <p:nvSpPr>
          <p:cNvPr id="15" name="Text 13"/>
          <p:cNvSpPr txBox="1"/>
          <p:nvPr/>
        </p:nvSpPr>
        <p:spPr>
          <a:xfrm>
            <a:off x="8930030" y="3483864"/>
            <a:ext cx="192024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420624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first, then think on failure</a:t>
            </a:r>
            <a:endParaRPr lang="en-US" sz="1600" dirty="0"/>
          </a:p>
        </p:txBody>
      </p:sp>
      <p:sp>
        <p:nvSpPr>
          <p:cNvPr id="17" name="bar Retrieved fact first, then think on failure"/>
          <p:cNvSpPr/>
          <p:nvPr/>
        </p:nvSpPr>
        <p:spPr>
          <a:xfrm>
            <a:off x="4892040" y="4135831"/>
            <a:ext cx="3994099" cy="283464"/>
          </a:xfrm>
          <a:prstGeom prst="rect">
            <a:avLst/>
          </a:prstGeom>
          <a:solidFill>
            <a:srgbClr val="5B9BD5"/>
          </a:solidFill>
          <a:ln w="6350">
            <a:solidFill>
              <a:srgbClr val="5B9BD5"/>
            </a:solidFill>
            <a:prstDash val="solid"/>
          </a:ln>
        </p:spPr>
      </p:sp>
      <p:sp>
        <p:nvSpPr>
          <p:cNvPr id="18" name="Text 16"/>
          <p:cNvSpPr txBox="1"/>
          <p:nvPr/>
        </p:nvSpPr>
        <p:spPr>
          <a:xfrm>
            <a:off x="8977579" y="4050792"/>
            <a:ext cx="192024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420624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 on failure</a:t>
            </a:r>
            <a:endParaRPr lang="en-US" sz="1600" dirty="0"/>
          </a:p>
        </p:txBody>
      </p:sp>
      <p:sp>
        <p:nvSpPr>
          <p:cNvPr id="20" name="bar Fact first, then think on failure"/>
          <p:cNvSpPr/>
          <p:nvPr/>
        </p:nvSpPr>
        <p:spPr>
          <a:xfrm>
            <a:off x="4892040" y="4702759"/>
            <a:ext cx="4136746" cy="283464"/>
          </a:xfrm>
          <a:prstGeom prst="rect">
            <a:avLst/>
          </a:prstGeom>
          <a:solidFill>
            <a:srgbClr val="4472C4"/>
          </a:solidFill>
          <a:ln w="6350">
            <a:solidFill>
              <a:srgbClr val="4472C4"/>
            </a:solidFill>
            <a:prstDash val="solid"/>
          </a:ln>
        </p:spPr>
      </p:sp>
      <p:sp>
        <p:nvSpPr>
          <p:cNvPr id="21" name="Text 19"/>
          <p:cNvSpPr txBox="1"/>
          <p:nvPr/>
        </p:nvSpPr>
        <p:spPr>
          <a:xfrm>
            <a:off x="9120226" y="4617720"/>
            <a:ext cx="192024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6692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6692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Missing knowledge that is not a library fact: Lean proofs, factual questions. Thinking cannot add it (+2–5 points at 70–200× tokens)</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Facts were hand-written; automatic retrieval keeps most of the gain (84% vs 87%)</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Contest geometry on one 24 GB GPU (gpt-oss-20b, running)</a:t>
            </a:r>
            <a:endParaRPr lang="en-US" sz="1700" dirty="0"/>
          </a:p>
          <a:p>
            <a:pPr marL="342900" indent="-342900">
              <a:spcAft>
                <a:spcPts val="800"/>
              </a:spcAft>
              <a:buSzPct val="100000"/>
              <a:buChar char="•"/>
            </a:pPr>
            <a:r>
              <a:rPr lang="en-US" sz="1700" dirty="0">
                <a:solidFill>
                  <a:schemeClr val="tx1"/>
                </a:solidFill>
              </a:rPr>
              <a:t>Competition math for small models (running)</a:t>
            </a:r>
            <a:endParaRPr lang="en-US" sz="1700" dirty="0"/>
          </a:p>
          <a:p>
            <a:pPr marL="342900" indent="-342900">
              <a:spcAft>
                <a:spcPts val="800"/>
              </a:spcAft>
              <a:buSzPct val="100000"/>
              <a:buChar char="•"/>
            </a:pPr>
            <a:r>
              <a:rPr lang="en-US" sz="1700" dirty="0">
                <a:solidFill>
                  <a:schemeClr val="tx1"/>
                </a:solidFill>
              </a:rPr>
              <a:t>Facts found automatically; a commercial model;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2026-10-17T17:55:15Z</dcterms:created>
  <dcterms:modified xsi:type="dcterms:W3CDTF">2026-10-17T17:55:15Z</dcterms:modified>
</cp:coreProperties>
</file>