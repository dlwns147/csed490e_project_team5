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2a8043b1-823a-febe-2431-24f054bb5b9b}">
          <p14:sldIdLst>
            <p14:sldId id="256"/>
            <p14:sldId id="257"/>
            <p14:sldId id="258"/>
            <p14:sldId id="259"/>
            <p14:sldId id="260"/>
            <p14:sldId id="261"/>
            <p14:sldId id="262"/>
            <p14:sldId id="263"/>
            <p14:sldId id="264"/>
          </p14:sldIdLst>
        </p14:section>
        <p14:section name="Extra pages" id="{1173e94d-e401-4e44-d14d-50883a5a2323}">
          <p14:sldIdLst>
            <p14:sldId id="265"/>
            <p14:sldId id="266"/>
            <p14:sldId id="267"/>
            <p14:sldId id="268"/>
            <p14:sldId id="269"/>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We study how to solve computational math with LLMs: answers that must be computed exactly, with the fewest tokens and the smallest GPU. Nine slides, then extra pages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The findings give a recipe, cheapest steps first: write a program, add the missing fact (by hand or mined automatically), run a free check, think harder only on a failure, reuse a checked program when the problem repeats. Together, on 624 geometry and optimization problems with 3 models: 87% at 2.5k tokens per problem, vs 74% at 4.1k for spending thinking on the hardest-looking problems. Takeaway: give the fact first, think only where a free check fails. Extra pages: small models, reuse, proofs, the full comparison with published methods,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Real run (Qwen3-8B, MAMO easy-189). Step 0 happens once per kind of problem: the model's own shortest program for another benchmark problem that passed the label-free check becomes the fact. Steps 1-2: with it the program calls solver.Minimize(10*x + 15*y + 20*z) and prints 20000 (316 tokens); without it, it calls Objective().Minimize() and crashes. Step 3: a second program (312 tokens) also prints 20000, so they agree. Step 4: thinking is used only when the two disagree or a program crashes; here it is skipped (thinking alone took 5,323 tokens). Step 5: if the same kind of problem comes back with new data, the checked program is reused. Table: what the free check is in each domain; none needs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5-minute talk; 5 minutes of questions follow. The extra pages (slides 10-18) answer the likely questions: 10 It pays off: no human, small GPU, 30 labels; 11 All policies, cost vs accuracy; 12 One fact helps small models most; 13 Reuse a checked program; 14 Proofs need a specialized model; 15 Compared with published methods; 16 Where the recipe stops, and next; 17 All findings at a glance; 18 Words we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four ways to spend compute on the same 624 problems (Qwen3-8B, Qwen3-32B, Qwen3.6; same order on 3 seeds). Thinking on the hardest-looking problems, the compute-optimal scaling idea, gets 74% at 4.1k tokens; fact first and thinking only when the check fails gets 87% at 2.5k. Right: the fact needs no human (the model's own checked program for a similar problem: gpt-oss-20b 78.8% vs 78.9% hand-written on held-out MAMO); models that fit one 24 GB GPU match Qwen3-32B with the fact; 30 labelled problems choose the best policy for a new task (0.6 points from the best on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More rows (MBR-exec, majority vote, DeepConf, Self-Debugging, Mixture-of-Thought cascade, BM25 retrieval) are in PROPOSAL.md section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Tools, Facts, and Checks</a:t>
            </a:r>
            <a:endParaRPr lang="en-US" sz="2200" dirty="0"/>
          </a:p>
          <a:p>
            <a:pPr algn="ctr" indent="0" marL="0">
              <a:buNone/>
            </a:pPr>
            <a:r>
              <a:rPr lang="en-US" sz="1600" dirty="0">
                <a:solidFill>
                  <a:srgbClr val="44546A"/>
                </a:solidFill>
              </a:rPr>
              <a:t>POSTECH CSED490E (Graduate NLP) · Team 5 · 5-minute proposal talk</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3566160" y="1234440"/>
            <a:ext cx="8046720" cy="411480"/>
          </a:xfrm>
          <a:prstGeom prst="rect">
            <a:avLst/>
          </a:prstGeom>
          <a:noFill/>
          <a:ln/>
        </p:spPr>
        <p:txBody>
          <a:bodyPr wrap="square" lIns="0" tIns="0" rIns="0" bIns="0" rtlCol="0" anchor="ctr"/>
          <a:lstStyle/>
          <a:p>
            <a:pPr algn="ctr" indent="0" marL="0">
              <a:buNone/>
            </a:pPr>
            <a:r>
              <a:rPr lang="en-US" sz="1600" dirty="0">
                <a:solidFill>
                  <a:schemeClr val="tx1"/>
                </a:solidFill>
              </a:rPr>
              <a:t>Same shape moved, turned or flipped, so the right answer never changes: 436 (twice its area)</a:t>
            </a:r>
            <a:endParaRPr lang="en-US" sz="16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691640"/>
            <a:ext cx="8046720" cy="1737360"/>
          </a:xfrm>
          <a:prstGeom prst="rect">
            <a:avLst/>
          </a:prstGeom>
        </p:spPr>
      </p:pic>
      <p:sp>
        <p:nvSpPr>
          <p:cNvPr id="5" name="Text 2"/>
          <p:cNvSpPr txBox="1"/>
          <p:nvPr/>
        </p:nvSpPr>
        <p:spPr>
          <a:xfrm>
            <a:off x="356616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original</a:t>
            </a:r>
            <a:endParaRPr lang="en-US" sz="1600" dirty="0"/>
          </a:p>
        </p:txBody>
      </p:sp>
      <p:sp>
        <p:nvSpPr>
          <p:cNvPr id="6" name="Text 3"/>
          <p:cNvSpPr txBox="1"/>
          <p:nvPr/>
        </p:nvSpPr>
        <p:spPr>
          <a:xfrm>
            <a:off x="557784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moved</a:t>
            </a:r>
            <a:endParaRPr lang="en-US" sz="1600" dirty="0"/>
          </a:p>
        </p:txBody>
      </p:sp>
      <p:sp>
        <p:nvSpPr>
          <p:cNvPr id="7" name="Text 4"/>
          <p:cNvSpPr txBox="1"/>
          <p:nvPr/>
        </p:nvSpPr>
        <p:spPr>
          <a:xfrm>
            <a:off x="758952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turned</a:t>
            </a:r>
            <a:endParaRPr lang="en-US" sz="1600" dirty="0"/>
          </a:p>
        </p:txBody>
      </p:sp>
      <p:sp>
        <p:nvSpPr>
          <p:cNvPr id="8" name="Text 5"/>
          <p:cNvSpPr txBox="1"/>
          <p:nvPr/>
        </p:nvSpPr>
        <p:spPr>
          <a:xfrm>
            <a:off x="960120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flipped</a:t>
            </a:r>
            <a:endParaRPr lang="en-US" sz="1600" dirty="0"/>
          </a:p>
        </p:txBody>
      </p:sp>
      <p:sp>
        <p:nvSpPr>
          <p:cNvPr id="9" name="Text 6"/>
          <p:cNvSpPr txBox="1"/>
          <p:nvPr/>
        </p:nvSpPr>
        <p:spPr>
          <a:xfrm>
            <a:off x="548640" y="384048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Answer in words</a:t>
            </a:r>
            <a:endParaRPr lang="en-US" sz="2000" dirty="0"/>
          </a:p>
          <a:p>
            <a:pPr indent="0" marL="0">
              <a:buNone/>
            </a:pPr>
            <a:r>
              <a:rPr lang="en-US" sz="1400" dirty="0">
                <a:solidFill>
                  <a:srgbClr val="44546A"/>
                </a:solidFill>
              </a:rPr>
              <a:t>the model does the arithmetic itself</a:t>
            </a:r>
            <a:endParaRPr lang="en-US" sz="2000" dirty="0"/>
          </a:p>
        </p:txBody>
      </p:sp>
      <p:sp>
        <p:nvSpPr>
          <p:cNvPr id="10" name="answer 436 ✓"/>
          <p:cNvSpPr/>
          <p:nvPr/>
        </p:nvSpPr>
        <p:spPr>
          <a:xfrm>
            <a:off x="3794760" y="3931920"/>
            <a:ext cx="1554480" cy="548640"/>
          </a:xfrm>
          <a:prstGeom prst="roundRect">
            <a:avLst>
              <a:gd name="adj" fmla="val 16667"/>
            </a:avLst>
          </a:prstGeom>
          <a:solidFill>
            <a:srgbClr val="E2F0D9"/>
          </a:solidFill>
          <a:ln w="12700">
            <a:solidFill>
              <a:srgbClr val="70AD47"/>
            </a:solidFill>
            <a:prstDash val="solid"/>
          </a:ln>
        </p:spPr>
      </p:sp>
      <p:sp>
        <p:nvSpPr>
          <p:cNvPr id="11" name="Text 8"/>
          <p:cNvSpPr txBox="1"/>
          <p:nvPr/>
        </p:nvSpPr>
        <p:spPr>
          <a:xfrm>
            <a:off x="3794760" y="393192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2" name="answer 2944 ✗"/>
          <p:cNvSpPr/>
          <p:nvPr/>
        </p:nvSpPr>
        <p:spPr>
          <a:xfrm>
            <a:off x="5806440" y="393192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580644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4" name="answer 392 ✗"/>
          <p:cNvSpPr/>
          <p:nvPr/>
        </p:nvSpPr>
        <p:spPr>
          <a:xfrm>
            <a:off x="7818120" y="3931920"/>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81812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6" name="answer 728 ✗"/>
          <p:cNvSpPr/>
          <p:nvPr/>
        </p:nvSpPr>
        <p:spPr>
          <a:xfrm>
            <a:off x="9829800" y="3931920"/>
            <a:ext cx="1554480" cy="548640"/>
          </a:xfrm>
          <a:prstGeom prst="roundRect">
            <a:avLst>
              <a:gd name="adj" fmla="val 16667"/>
            </a:avLst>
          </a:prstGeom>
          <a:solidFill>
            <a:srgbClr val="FADBD8"/>
          </a:solidFill>
          <a:ln w="12700">
            <a:solidFill>
              <a:srgbClr val="C00000"/>
            </a:solidFill>
            <a:prstDash val="solid"/>
          </a:ln>
        </p:spPr>
      </p:sp>
      <p:sp>
        <p:nvSpPr>
          <p:cNvPr id="17" name="Text 14"/>
          <p:cNvSpPr txBox="1"/>
          <p:nvPr/>
        </p:nvSpPr>
        <p:spPr>
          <a:xfrm>
            <a:off x="982980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8" name="Text 15"/>
          <p:cNvSpPr txBox="1"/>
          <p:nvPr/>
        </p:nvSpPr>
        <p:spPr>
          <a:xfrm>
            <a:off x="548640" y="461772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Write a program</a:t>
            </a:r>
            <a:endParaRPr lang="en-US" sz="2000" dirty="0"/>
          </a:p>
          <a:p>
            <a:pPr indent="0" marL="0">
              <a:buNone/>
            </a:pPr>
            <a:r>
              <a:rPr lang="en-US" sz="1400" dirty="0">
                <a:solidFill>
                  <a:srgbClr val="44546A"/>
                </a:solidFill>
              </a:rPr>
              <a:t>the computer does the arithmetic</a:t>
            </a:r>
            <a:endParaRPr lang="en-US" sz="2000" dirty="0"/>
          </a:p>
        </p:txBody>
      </p:sp>
      <p:sp>
        <p:nvSpPr>
          <p:cNvPr id="19" name="answer 436 ✓"/>
          <p:cNvSpPr/>
          <p:nvPr/>
        </p:nvSpPr>
        <p:spPr>
          <a:xfrm>
            <a:off x="3794760" y="470916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379476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5806440" y="470916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580644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answer 436 ✓"/>
          <p:cNvSpPr/>
          <p:nvPr/>
        </p:nvSpPr>
        <p:spPr>
          <a:xfrm>
            <a:off x="7818120" y="4709160"/>
            <a:ext cx="1554480" cy="548640"/>
          </a:xfrm>
          <a:prstGeom prst="roundRect">
            <a:avLst>
              <a:gd name="adj" fmla="val 16667"/>
            </a:avLst>
          </a:prstGeom>
          <a:solidFill>
            <a:srgbClr val="E2F0D9"/>
          </a:solidFill>
          <a:ln w="12700">
            <a:solidFill>
              <a:srgbClr val="70AD47"/>
            </a:solidFill>
            <a:prstDash val="solid"/>
          </a:ln>
        </p:spPr>
      </p:sp>
      <p:sp>
        <p:nvSpPr>
          <p:cNvPr id="24" name="Text 21"/>
          <p:cNvSpPr txBox="1"/>
          <p:nvPr/>
        </p:nvSpPr>
        <p:spPr>
          <a:xfrm>
            <a:off x="781812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5" name="answer 436 ✓"/>
          <p:cNvSpPr/>
          <p:nvPr/>
        </p:nvSpPr>
        <p:spPr>
          <a:xfrm>
            <a:off x="9829800" y="4709160"/>
            <a:ext cx="1554480" cy="548640"/>
          </a:xfrm>
          <a:prstGeom prst="roundRect">
            <a:avLst>
              <a:gd name="adj" fmla="val 16667"/>
            </a:avLst>
          </a:prstGeom>
          <a:solidFill>
            <a:srgbClr val="E2F0D9"/>
          </a:solidFill>
          <a:ln w="12700">
            <a:solidFill>
              <a:srgbClr val="70AD47"/>
            </a:solidFill>
            <a:prstDash val="solid"/>
          </a:ln>
        </p:spPr>
      </p:sp>
      <p:sp>
        <p:nvSpPr>
          <p:cNvPr id="26" name="Text 23"/>
          <p:cNvSpPr txBox="1"/>
          <p:nvPr/>
        </p:nvSpPr>
        <p:spPr>
          <a:xfrm>
            <a:off x="982980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7" name="Text 2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But programs can be silently wrong, and thinking is expensive. Goal: right answers, lowest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from these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the recipe runs on one problem</a:t>
            </a:r>
            <a:endParaRPr lang="en-US" sz="3600" dirty="0"/>
          </a:p>
        </p:txBody>
      </p:sp>
      <p:sp>
        <p:nvSpPr>
          <p:cNvPr id="3" name="Text 1"/>
          <p:cNvSpPr txBox="1"/>
          <p:nvPr/>
        </p:nvSpPr>
        <p:spPr>
          <a:xfrm>
            <a:off x="548640" y="1188720"/>
            <a:ext cx="11064240" cy="365760"/>
          </a:xfrm>
          <a:prstGeom prst="rect">
            <a:avLst/>
          </a:prstGeom>
          <a:noFill/>
          <a:ln/>
        </p:spPr>
        <p:txBody>
          <a:bodyPr wrap="square" lIns="0" tIns="0" rIns="0" bIns="0" rtlCol="0" anchor="ctr"/>
          <a:lstStyle/>
          <a:p>
            <a:pPr indent="0" marL="0">
              <a:buNone/>
            </a:pPr>
            <a:r>
              <a:rPr lang="en-US" sz="1600" dirty="0">
                <a:solidFill>
                  <a:schemeClr val="tx1"/>
                </a:solidFill>
              </a:rPr>
              <a:t>Qwen3-8B on a MAMO word problem: products X, Y, Z cost $10, $15, $20 under three limits; minimum cost? (answer 20000)</a:t>
            </a:r>
            <a:endParaRPr lang="en-US" sz="1600" dirty="0"/>
          </a:p>
        </p:txBody>
      </p:sp>
      <p:sp>
        <p:nvSpPr>
          <p:cNvPr id="4" name="walk 0"/>
          <p:cNvSpPr/>
          <p:nvPr/>
        </p:nvSpPr>
        <p:spPr>
          <a:xfrm>
            <a:off x="548640" y="1691640"/>
            <a:ext cx="2514600" cy="1920240"/>
          </a:xfrm>
          <a:prstGeom prst="roundRect">
            <a:avLst>
              <a:gd name="adj" fmla="val 3810"/>
            </a:avLst>
          </a:prstGeom>
          <a:solidFill>
            <a:srgbClr val="E2F0D9"/>
          </a:solidFill>
          <a:ln w="9525">
            <a:solidFill>
              <a:srgbClr val="BFBFBF"/>
            </a:solidFill>
            <a:prstDash val="solid"/>
          </a:ln>
        </p:spPr>
      </p:sp>
      <p:sp>
        <p:nvSpPr>
          <p:cNvPr id="5" name="walk badge 0"/>
          <p:cNvSpPr/>
          <p:nvPr/>
        </p:nvSpPr>
        <p:spPr>
          <a:xfrm>
            <a:off x="640080" y="1801368"/>
            <a:ext cx="411480" cy="411480"/>
          </a:xfrm>
          <a:prstGeom prst="ellipse">
            <a:avLst/>
          </a:prstGeom>
          <a:solidFill>
            <a:srgbClr val="4472C4"/>
          </a:solidFill>
          <a:ln w="12700">
            <a:solidFill>
              <a:srgbClr val="4472C4"/>
            </a:solidFill>
            <a:prstDash val="solid"/>
          </a:ln>
        </p:spPr>
      </p:sp>
      <p:sp>
        <p:nvSpPr>
          <p:cNvPr id="6" name="Text 4"/>
          <p:cNvSpPr txBox="1"/>
          <p:nvPr/>
        </p:nvSpPr>
        <p:spPr>
          <a:xfrm>
            <a:off x="640080" y="180136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0</a:t>
            </a:r>
            <a:endParaRPr lang="en-US" sz="1500" dirty="0"/>
          </a:p>
        </p:txBody>
      </p:sp>
      <p:sp>
        <p:nvSpPr>
          <p:cNvPr id="7" name="Text 5"/>
          <p:cNvSpPr txBox="1"/>
          <p:nvPr/>
        </p:nvSpPr>
        <p:spPr>
          <a:xfrm>
            <a:off x="1115568" y="1783080"/>
            <a:ext cx="1874520" cy="457200"/>
          </a:xfrm>
          <a:prstGeom prst="rect">
            <a:avLst/>
          </a:prstGeom>
          <a:noFill/>
          <a:ln/>
        </p:spPr>
        <p:txBody>
          <a:bodyPr wrap="square" lIns="0" tIns="0" rIns="0" bIns="0" rtlCol="0" anchor="ctr"/>
          <a:lstStyle/>
          <a:p>
            <a:pPr indent="0" marL="0">
              <a:buNone/>
            </a:pPr>
            <a:r>
              <a:rPr lang="en-US" sz="1500" b="1" dirty="0">
                <a:solidFill>
                  <a:schemeClr val="tx1"/>
                </a:solidFill>
              </a:rPr>
              <a:t>Mine the fact (once)</a:t>
            </a:r>
            <a:endParaRPr lang="en-US" sz="1500" dirty="0"/>
          </a:p>
        </p:txBody>
      </p:sp>
      <p:sp>
        <p:nvSpPr>
          <p:cNvPr id="8" name="Text 6"/>
          <p:cNvSpPr txBox="1"/>
          <p:nvPr/>
        </p:nvSpPr>
        <p:spPr>
          <a:xfrm>
            <a:off x="676656" y="2331720"/>
            <a:ext cx="2258568" cy="1234440"/>
          </a:xfrm>
          <a:prstGeom prst="rect">
            <a:avLst/>
          </a:prstGeom>
          <a:noFill/>
          <a:ln/>
        </p:spPr>
        <p:txBody>
          <a:bodyPr wrap="square" lIns="0" tIns="0" rIns="0" bIns="0" rtlCol="0" anchor="t"/>
          <a:lstStyle/>
          <a:p>
            <a:pPr indent="0" marL="0">
              <a:buNone/>
            </a:pPr>
            <a:r>
              <a:rPr lang="en-US" sz="1350" dirty="0">
                <a:solidFill>
                  <a:schemeClr val="tx1"/>
                </a:solidFill>
              </a:rPr>
              <a:t>for this kind of problem: the model's own program for another problem (vans and trucks) that passed the check; it shows solver.Minimize(...)</a:t>
            </a:r>
            <a:endParaRPr lang="en-US" sz="1350" dirty="0"/>
          </a:p>
        </p:txBody>
      </p:sp>
      <p:sp>
        <p:nvSpPr>
          <p:cNvPr id="9" name="Text 7"/>
          <p:cNvSpPr txBox="1"/>
          <p:nvPr/>
        </p:nvSpPr>
        <p:spPr>
          <a:xfrm>
            <a:off x="548640" y="3675888"/>
            <a:ext cx="2514600" cy="320040"/>
          </a:xfrm>
          <a:prstGeom prst="rect">
            <a:avLst/>
          </a:prstGeom>
          <a:noFill/>
          <a:ln/>
        </p:spPr>
        <p:txBody>
          <a:bodyPr wrap="square" lIns="0" tIns="0" rIns="0" bIns="0" rtlCol="0" anchor="ctr"/>
          <a:lstStyle/>
          <a:p>
            <a:pPr algn="ctr" indent="0" marL="0">
              <a:buNone/>
            </a:pPr>
            <a:r>
              <a:rPr lang="en-US" sz="1500" b="1" dirty="0">
                <a:solidFill>
                  <a:schemeClr val="tx2"/>
                </a:solidFill>
              </a:rPr>
              <a:t>paid once</a:t>
            </a:r>
            <a:endParaRPr lang="en-US" sz="1500" dirty="0"/>
          </a:p>
        </p:txBody>
      </p:sp>
      <p:sp>
        <p:nvSpPr>
          <p:cNvPr id="10" name="Shape 8"/>
          <p:cNvSpPr/>
          <p:nvPr/>
        </p:nvSpPr>
        <p:spPr>
          <a:xfrm>
            <a:off x="3063240" y="2468880"/>
            <a:ext cx="182880" cy="0"/>
          </a:xfrm>
          <a:prstGeom prst="line">
            <a:avLst/>
          </a:prstGeom>
          <a:noFill/>
          <a:ln w="25400">
            <a:solidFill>
              <a:srgbClr val="7F7F7F"/>
            </a:solidFill>
            <a:prstDash val="solid"/>
            <a:tailEnd type="triangle"/>
          </a:ln>
        </p:spPr>
      </p:sp>
      <p:sp>
        <p:nvSpPr>
          <p:cNvPr id="11" name="walk 1-2"/>
          <p:cNvSpPr/>
          <p:nvPr/>
        </p:nvSpPr>
        <p:spPr>
          <a:xfrm>
            <a:off x="3246120" y="1691640"/>
            <a:ext cx="2148840" cy="1920240"/>
          </a:xfrm>
          <a:prstGeom prst="roundRect">
            <a:avLst>
              <a:gd name="adj" fmla="val 3810"/>
            </a:avLst>
          </a:prstGeom>
          <a:solidFill>
            <a:srgbClr val="DEEBF7"/>
          </a:solidFill>
          <a:ln w="9525">
            <a:solidFill>
              <a:srgbClr val="BFBFBF"/>
            </a:solidFill>
            <a:prstDash val="solid"/>
          </a:ln>
        </p:spPr>
      </p:sp>
      <p:sp>
        <p:nvSpPr>
          <p:cNvPr id="12" name="walk badge 1-2"/>
          <p:cNvSpPr/>
          <p:nvPr/>
        </p:nvSpPr>
        <p:spPr>
          <a:xfrm>
            <a:off x="3337560" y="1801368"/>
            <a:ext cx="411480" cy="411480"/>
          </a:xfrm>
          <a:prstGeom prst="ellipse">
            <a:avLst/>
          </a:prstGeom>
          <a:solidFill>
            <a:srgbClr val="4472C4"/>
          </a:solidFill>
          <a:ln w="12700">
            <a:solidFill>
              <a:srgbClr val="4472C4"/>
            </a:solidFill>
            <a:prstDash val="solid"/>
          </a:ln>
        </p:spPr>
      </p:sp>
      <p:sp>
        <p:nvSpPr>
          <p:cNvPr id="13" name="Text 11"/>
          <p:cNvSpPr txBox="1"/>
          <p:nvPr/>
        </p:nvSpPr>
        <p:spPr>
          <a:xfrm>
            <a:off x="3337560" y="180136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1-2</a:t>
            </a:r>
            <a:endParaRPr lang="en-US" sz="1500" dirty="0"/>
          </a:p>
        </p:txBody>
      </p:sp>
      <p:sp>
        <p:nvSpPr>
          <p:cNvPr id="14" name="Text 12"/>
          <p:cNvSpPr txBox="1"/>
          <p:nvPr/>
        </p:nvSpPr>
        <p:spPr>
          <a:xfrm>
            <a:off x="3813048" y="1783080"/>
            <a:ext cx="1508760" cy="457200"/>
          </a:xfrm>
          <a:prstGeom prst="rect">
            <a:avLst/>
          </a:prstGeom>
          <a:noFill/>
          <a:ln/>
        </p:spPr>
        <p:txBody>
          <a:bodyPr wrap="square" lIns="0" tIns="0" rIns="0" bIns="0" rtlCol="0" anchor="ctr"/>
          <a:lstStyle/>
          <a:p>
            <a:pPr indent="0" marL="0">
              <a:buNone/>
            </a:pPr>
            <a:r>
              <a:rPr lang="en-US" sz="1500" b="1" dirty="0">
                <a:solidFill>
                  <a:schemeClr val="tx1"/>
                </a:solidFill>
              </a:rPr>
              <a:t>Program + fact</a:t>
            </a:r>
            <a:endParaRPr lang="en-US" sz="1500" dirty="0"/>
          </a:p>
        </p:txBody>
      </p:sp>
      <p:sp>
        <p:nvSpPr>
          <p:cNvPr id="15" name="Text 13"/>
          <p:cNvSpPr txBox="1"/>
          <p:nvPr/>
        </p:nvSpPr>
        <p:spPr>
          <a:xfrm>
            <a:off x="3374136" y="2331720"/>
            <a:ext cx="1892808" cy="1234440"/>
          </a:xfrm>
          <a:prstGeom prst="rect">
            <a:avLst/>
          </a:prstGeom>
          <a:noFill/>
          <a:ln/>
        </p:spPr>
        <p:txBody>
          <a:bodyPr wrap="square" lIns="0" tIns="0" rIns="0" bIns="0" rtlCol="0" anchor="t"/>
          <a:lstStyle/>
          <a:p>
            <a:pPr indent="0" marL="0">
              <a:buNone/>
            </a:pPr>
            <a:r>
              <a:rPr lang="en-US" sz="1350" dirty="0">
                <a:solidFill>
                  <a:schemeClr val="tx1"/>
                </a:solidFill>
              </a:rPr>
              <a:t>writes solver.Minimize(10*x + 15*y + 20*z) and prints 20000 (without the fact it crashes)</a:t>
            </a:r>
            <a:endParaRPr lang="en-US" sz="1350" dirty="0"/>
          </a:p>
        </p:txBody>
      </p:sp>
      <p:sp>
        <p:nvSpPr>
          <p:cNvPr id="16" name="Text 14"/>
          <p:cNvSpPr txBox="1"/>
          <p:nvPr/>
        </p:nvSpPr>
        <p:spPr>
          <a:xfrm>
            <a:off x="3246120" y="3675888"/>
            <a:ext cx="2148840" cy="320040"/>
          </a:xfrm>
          <a:prstGeom prst="rect">
            <a:avLst/>
          </a:prstGeom>
          <a:noFill/>
          <a:ln/>
        </p:spPr>
        <p:txBody>
          <a:bodyPr wrap="square" lIns="0" tIns="0" rIns="0" bIns="0" rtlCol="0" anchor="ctr"/>
          <a:lstStyle/>
          <a:p>
            <a:pPr algn="ctr" indent="0" marL="0">
              <a:buNone/>
            </a:pPr>
            <a:r>
              <a:rPr lang="en-US" sz="1500" b="1" dirty="0">
                <a:solidFill>
                  <a:srgbClr val="4472C4"/>
                </a:solidFill>
              </a:rPr>
              <a:t>316 tokens</a:t>
            </a:r>
            <a:endParaRPr lang="en-US" sz="1500" dirty="0"/>
          </a:p>
        </p:txBody>
      </p:sp>
      <p:sp>
        <p:nvSpPr>
          <p:cNvPr id="17" name="Shape 15"/>
          <p:cNvSpPr/>
          <p:nvPr/>
        </p:nvSpPr>
        <p:spPr>
          <a:xfrm>
            <a:off x="5394960" y="2468880"/>
            <a:ext cx="182880" cy="0"/>
          </a:xfrm>
          <a:prstGeom prst="line">
            <a:avLst/>
          </a:prstGeom>
          <a:noFill/>
          <a:ln w="25400">
            <a:solidFill>
              <a:srgbClr val="7F7F7F"/>
            </a:solidFill>
            <a:prstDash val="solid"/>
            <a:tailEnd type="triangle"/>
          </a:ln>
        </p:spPr>
      </p:sp>
      <p:sp>
        <p:nvSpPr>
          <p:cNvPr id="18" name="walk 3"/>
          <p:cNvSpPr/>
          <p:nvPr/>
        </p:nvSpPr>
        <p:spPr>
          <a:xfrm>
            <a:off x="5577840" y="1691640"/>
            <a:ext cx="2011680" cy="1920240"/>
          </a:xfrm>
          <a:prstGeom prst="roundRect">
            <a:avLst>
              <a:gd name="adj" fmla="val 3810"/>
            </a:avLst>
          </a:prstGeom>
          <a:solidFill>
            <a:srgbClr val="DEEBF7"/>
          </a:solidFill>
          <a:ln w="9525">
            <a:solidFill>
              <a:srgbClr val="BFBFBF"/>
            </a:solidFill>
            <a:prstDash val="solid"/>
          </a:ln>
        </p:spPr>
      </p:sp>
      <p:sp>
        <p:nvSpPr>
          <p:cNvPr id="19" name="walk badge 3"/>
          <p:cNvSpPr/>
          <p:nvPr/>
        </p:nvSpPr>
        <p:spPr>
          <a:xfrm>
            <a:off x="5669280" y="1801368"/>
            <a:ext cx="411480" cy="411480"/>
          </a:xfrm>
          <a:prstGeom prst="ellipse">
            <a:avLst/>
          </a:prstGeom>
          <a:solidFill>
            <a:srgbClr val="4472C4"/>
          </a:solidFill>
          <a:ln w="12700">
            <a:solidFill>
              <a:srgbClr val="4472C4"/>
            </a:solidFill>
            <a:prstDash val="solid"/>
          </a:ln>
        </p:spPr>
      </p:sp>
      <p:sp>
        <p:nvSpPr>
          <p:cNvPr id="20" name="Text 18"/>
          <p:cNvSpPr txBox="1"/>
          <p:nvPr/>
        </p:nvSpPr>
        <p:spPr>
          <a:xfrm>
            <a:off x="5669280" y="180136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21" name="Text 19"/>
          <p:cNvSpPr txBox="1"/>
          <p:nvPr/>
        </p:nvSpPr>
        <p:spPr>
          <a:xfrm>
            <a:off x="6144768" y="1783080"/>
            <a:ext cx="1371600" cy="457200"/>
          </a:xfrm>
          <a:prstGeom prst="rect">
            <a:avLst/>
          </a:prstGeom>
          <a:noFill/>
          <a:ln/>
        </p:spPr>
        <p:txBody>
          <a:bodyPr wrap="square" lIns="0" tIns="0" rIns="0" bIns="0" rtlCol="0" anchor="ctr"/>
          <a:lstStyle/>
          <a:p>
            <a:pPr indent="0" marL="0">
              <a:buNone/>
            </a:pPr>
            <a:r>
              <a:rPr lang="en-US" sz="1500" b="1" dirty="0">
                <a:solidFill>
                  <a:schemeClr val="tx1"/>
                </a:solidFill>
              </a:rPr>
              <a:t>Free check</a:t>
            </a:r>
            <a:endParaRPr lang="en-US" sz="1500" dirty="0"/>
          </a:p>
        </p:txBody>
      </p:sp>
      <p:sp>
        <p:nvSpPr>
          <p:cNvPr id="22" name="Text 20"/>
          <p:cNvSpPr txBox="1"/>
          <p:nvPr/>
        </p:nvSpPr>
        <p:spPr>
          <a:xfrm>
            <a:off x="5705856" y="2331720"/>
            <a:ext cx="1755648" cy="1234440"/>
          </a:xfrm>
          <a:prstGeom prst="rect">
            <a:avLst/>
          </a:prstGeom>
          <a:noFill/>
          <a:ln/>
        </p:spPr>
        <p:txBody>
          <a:bodyPr wrap="square" lIns="0" tIns="0" rIns="0" bIns="0" rtlCol="0" anchor="t"/>
          <a:lstStyle/>
          <a:p>
            <a:pPr indent="0" marL="0">
              <a:buNone/>
            </a:pPr>
            <a:r>
              <a:rPr lang="en-US" sz="1350" dirty="0">
                <a:solidFill>
                  <a:schemeClr val="tx1"/>
                </a:solidFill>
              </a:rPr>
              <a:t>a second version also runs and prints 20000: the two agree</a:t>
            </a:r>
            <a:endParaRPr lang="en-US" sz="1350" dirty="0"/>
          </a:p>
        </p:txBody>
      </p:sp>
      <p:sp>
        <p:nvSpPr>
          <p:cNvPr id="23" name="Text 21"/>
          <p:cNvSpPr txBox="1"/>
          <p:nvPr/>
        </p:nvSpPr>
        <p:spPr>
          <a:xfrm>
            <a:off x="5577840" y="3675888"/>
            <a:ext cx="2011680" cy="320040"/>
          </a:xfrm>
          <a:prstGeom prst="rect">
            <a:avLst/>
          </a:prstGeom>
          <a:noFill/>
          <a:ln/>
        </p:spPr>
        <p:txBody>
          <a:bodyPr wrap="square" lIns="0" tIns="0" rIns="0" bIns="0" rtlCol="0" anchor="ctr"/>
          <a:lstStyle/>
          <a:p>
            <a:pPr algn="ctr" indent="0" marL="0">
              <a:buNone/>
            </a:pPr>
            <a:r>
              <a:rPr lang="en-US" sz="1500" b="1" dirty="0">
                <a:solidFill>
                  <a:srgbClr val="4472C4"/>
                </a:solidFill>
              </a:rPr>
              <a:t>+312 tokens</a:t>
            </a:r>
            <a:endParaRPr lang="en-US" sz="1500" dirty="0"/>
          </a:p>
        </p:txBody>
      </p:sp>
      <p:sp>
        <p:nvSpPr>
          <p:cNvPr id="24" name="Shape 22"/>
          <p:cNvSpPr/>
          <p:nvPr/>
        </p:nvSpPr>
        <p:spPr>
          <a:xfrm>
            <a:off x="7589520" y="2468880"/>
            <a:ext cx="182880" cy="0"/>
          </a:xfrm>
          <a:prstGeom prst="line">
            <a:avLst/>
          </a:prstGeom>
          <a:noFill/>
          <a:ln w="25400">
            <a:solidFill>
              <a:srgbClr val="7F7F7F"/>
            </a:solidFill>
            <a:prstDash val="solid"/>
            <a:tailEnd type="triangle"/>
          </a:ln>
        </p:spPr>
      </p:sp>
      <p:sp>
        <p:nvSpPr>
          <p:cNvPr id="25" name="walk 4"/>
          <p:cNvSpPr/>
          <p:nvPr/>
        </p:nvSpPr>
        <p:spPr>
          <a:xfrm>
            <a:off x="7772400" y="1691640"/>
            <a:ext cx="2103120" cy="1920240"/>
          </a:xfrm>
          <a:prstGeom prst="roundRect">
            <a:avLst>
              <a:gd name="adj" fmla="val 3810"/>
            </a:avLst>
          </a:prstGeom>
          <a:solidFill>
            <a:srgbClr val="FFFFFF"/>
          </a:solidFill>
          <a:ln w="9525">
            <a:solidFill>
              <a:srgbClr val="BFBFBF"/>
            </a:solidFill>
            <a:prstDash val="solid"/>
          </a:ln>
        </p:spPr>
      </p:sp>
      <p:sp>
        <p:nvSpPr>
          <p:cNvPr id="26" name="walk badge 4"/>
          <p:cNvSpPr/>
          <p:nvPr/>
        </p:nvSpPr>
        <p:spPr>
          <a:xfrm>
            <a:off x="7863840" y="1801368"/>
            <a:ext cx="411480" cy="411480"/>
          </a:xfrm>
          <a:prstGeom prst="ellipse">
            <a:avLst/>
          </a:prstGeom>
          <a:solidFill>
            <a:srgbClr val="4472C4"/>
          </a:solidFill>
          <a:ln w="12700">
            <a:solidFill>
              <a:srgbClr val="4472C4"/>
            </a:solidFill>
            <a:prstDash val="solid"/>
          </a:ln>
        </p:spPr>
      </p:sp>
      <p:sp>
        <p:nvSpPr>
          <p:cNvPr id="27" name="Text 25"/>
          <p:cNvSpPr txBox="1"/>
          <p:nvPr/>
        </p:nvSpPr>
        <p:spPr>
          <a:xfrm>
            <a:off x="7863840" y="180136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8" name="Text 26"/>
          <p:cNvSpPr txBox="1"/>
          <p:nvPr/>
        </p:nvSpPr>
        <p:spPr>
          <a:xfrm>
            <a:off x="8339328" y="1783080"/>
            <a:ext cx="1463040" cy="457200"/>
          </a:xfrm>
          <a:prstGeom prst="rect">
            <a:avLst/>
          </a:prstGeom>
          <a:noFill/>
          <a:ln/>
        </p:spPr>
        <p:txBody>
          <a:bodyPr wrap="square" lIns="0" tIns="0" rIns="0" bIns="0" rtlCol="0" anchor="ctr"/>
          <a:lstStyle/>
          <a:p>
            <a:pPr indent="0" marL="0">
              <a:buNone/>
            </a:pPr>
            <a:r>
              <a:rPr lang="en-US" sz="1500" b="1" dirty="0">
                <a:solidFill>
                  <a:schemeClr val="tx1"/>
                </a:solidFill>
              </a:rPr>
              <a:t>Think? No</a:t>
            </a:r>
            <a:endParaRPr lang="en-US" sz="1500" dirty="0"/>
          </a:p>
        </p:txBody>
      </p:sp>
      <p:sp>
        <p:nvSpPr>
          <p:cNvPr id="29" name="Text 27"/>
          <p:cNvSpPr txBox="1"/>
          <p:nvPr/>
        </p:nvSpPr>
        <p:spPr>
          <a:xfrm>
            <a:off x="7900416" y="2331720"/>
            <a:ext cx="1847088" cy="1234440"/>
          </a:xfrm>
          <a:prstGeom prst="rect">
            <a:avLst/>
          </a:prstGeom>
          <a:noFill/>
          <a:ln/>
        </p:spPr>
        <p:txBody>
          <a:bodyPr wrap="square" lIns="0" tIns="0" rIns="0" bIns="0" rtlCol="0" anchor="t"/>
          <a:lstStyle/>
          <a:p>
            <a:pPr indent="0" marL="0">
              <a:buNone/>
            </a:pPr>
            <a:r>
              <a:rPr lang="en-US" sz="1350" dirty="0">
                <a:solidFill>
                  <a:schemeClr val="tx1"/>
                </a:solidFill>
              </a:rPr>
              <a:t>think harder only if they disagree or crash; here accept 20000 (thinking alone: 5.3k tokens)</a:t>
            </a:r>
            <a:endParaRPr lang="en-US" sz="1350" dirty="0"/>
          </a:p>
        </p:txBody>
      </p:sp>
      <p:sp>
        <p:nvSpPr>
          <p:cNvPr id="30" name="Text 28"/>
          <p:cNvSpPr txBox="1"/>
          <p:nvPr/>
        </p:nvSpPr>
        <p:spPr>
          <a:xfrm>
            <a:off x="7772400" y="3675888"/>
            <a:ext cx="2103120" cy="320040"/>
          </a:xfrm>
          <a:prstGeom prst="rect">
            <a:avLst/>
          </a:prstGeom>
          <a:noFill/>
          <a:ln/>
        </p:spPr>
        <p:txBody>
          <a:bodyPr wrap="square" lIns="0" tIns="0" rIns="0" bIns="0" rtlCol="0" anchor="ctr"/>
          <a:lstStyle/>
          <a:p>
            <a:pPr algn="ctr" indent="0" marL="0">
              <a:buNone/>
            </a:pPr>
            <a:r>
              <a:rPr lang="en-US" sz="1500" b="1" dirty="0">
                <a:solidFill>
                  <a:srgbClr val="38761D"/>
                </a:solidFill>
              </a:rPr>
              <a:t>total 0.6k</a:t>
            </a:r>
            <a:endParaRPr lang="en-US" sz="1500" dirty="0"/>
          </a:p>
        </p:txBody>
      </p:sp>
      <p:sp>
        <p:nvSpPr>
          <p:cNvPr id="31" name="Shape 29"/>
          <p:cNvSpPr/>
          <p:nvPr/>
        </p:nvSpPr>
        <p:spPr>
          <a:xfrm>
            <a:off x="9875520" y="2468880"/>
            <a:ext cx="182880" cy="0"/>
          </a:xfrm>
          <a:prstGeom prst="line">
            <a:avLst/>
          </a:prstGeom>
          <a:noFill/>
          <a:ln w="25400">
            <a:solidFill>
              <a:srgbClr val="7F7F7F"/>
            </a:solidFill>
            <a:prstDash val="solid"/>
            <a:tailEnd type="triangle"/>
          </a:ln>
        </p:spPr>
      </p:sp>
      <p:sp>
        <p:nvSpPr>
          <p:cNvPr id="32" name="walk 5"/>
          <p:cNvSpPr/>
          <p:nvPr/>
        </p:nvSpPr>
        <p:spPr>
          <a:xfrm>
            <a:off x="10058400" y="1691640"/>
            <a:ext cx="1554480" cy="1920240"/>
          </a:xfrm>
          <a:prstGeom prst="roundRect">
            <a:avLst>
              <a:gd name="adj" fmla="val 4706"/>
            </a:avLst>
          </a:prstGeom>
          <a:solidFill>
            <a:srgbClr val="F2F2F2"/>
          </a:solidFill>
          <a:ln w="9525">
            <a:solidFill>
              <a:srgbClr val="BFBFBF"/>
            </a:solidFill>
            <a:prstDash val="solid"/>
          </a:ln>
        </p:spPr>
      </p:sp>
      <p:sp>
        <p:nvSpPr>
          <p:cNvPr id="33" name="walk badge 5"/>
          <p:cNvSpPr/>
          <p:nvPr/>
        </p:nvSpPr>
        <p:spPr>
          <a:xfrm>
            <a:off x="10149840" y="1801368"/>
            <a:ext cx="411480" cy="411480"/>
          </a:xfrm>
          <a:prstGeom prst="ellipse">
            <a:avLst/>
          </a:prstGeom>
          <a:solidFill>
            <a:srgbClr val="4472C4"/>
          </a:solidFill>
          <a:ln w="12700">
            <a:solidFill>
              <a:srgbClr val="4472C4"/>
            </a:solidFill>
            <a:prstDash val="solid"/>
          </a:ln>
        </p:spPr>
      </p:sp>
      <p:sp>
        <p:nvSpPr>
          <p:cNvPr id="34" name="Text 32"/>
          <p:cNvSpPr txBox="1"/>
          <p:nvPr/>
        </p:nvSpPr>
        <p:spPr>
          <a:xfrm>
            <a:off x="10149840" y="180136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35" name="Text 33"/>
          <p:cNvSpPr txBox="1"/>
          <p:nvPr/>
        </p:nvSpPr>
        <p:spPr>
          <a:xfrm>
            <a:off x="10625328" y="1783080"/>
            <a:ext cx="914400" cy="457200"/>
          </a:xfrm>
          <a:prstGeom prst="rect">
            <a:avLst/>
          </a:prstGeom>
          <a:noFill/>
          <a:ln/>
        </p:spPr>
        <p:txBody>
          <a:bodyPr wrap="square" lIns="0" tIns="0" rIns="0" bIns="0" rtlCol="0" anchor="ctr"/>
          <a:lstStyle/>
          <a:p>
            <a:pPr indent="0" marL="0">
              <a:buNone/>
            </a:pPr>
            <a:r>
              <a:rPr lang="en-US" sz="1500" b="1" dirty="0">
                <a:solidFill>
                  <a:schemeClr val="tx1"/>
                </a:solidFill>
              </a:rPr>
              <a:t>Reuse</a:t>
            </a:r>
            <a:endParaRPr lang="en-US" sz="1500" dirty="0"/>
          </a:p>
        </p:txBody>
      </p:sp>
      <p:sp>
        <p:nvSpPr>
          <p:cNvPr id="36" name="Text 34"/>
          <p:cNvSpPr txBox="1"/>
          <p:nvPr/>
        </p:nvSpPr>
        <p:spPr>
          <a:xfrm>
            <a:off x="10186416" y="2331720"/>
            <a:ext cx="1298448" cy="1234440"/>
          </a:xfrm>
          <a:prstGeom prst="rect">
            <a:avLst/>
          </a:prstGeom>
          <a:noFill/>
          <a:ln/>
        </p:spPr>
        <p:txBody>
          <a:bodyPr wrap="square" lIns="0" tIns="0" rIns="0" bIns="0" rtlCol="0" anchor="t"/>
          <a:lstStyle/>
          <a:p>
            <a:pPr indent="0" marL="0">
              <a:buNone/>
            </a:pPr>
            <a:r>
              <a:rPr lang="en-US" sz="1350" dirty="0">
                <a:solidFill>
                  <a:schemeClr val="tx1"/>
                </a:solidFill>
              </a:rPr>
              <a:t>same kind of problem with new data: run the checked program again</a:t>
            </a:r>
            <a:endParaRPr lang="en-US" sz="1350" dirty="0"/>
          </a:p>
        </p:txBody>
      </p:sp>
      <p:sp>
        <p:nvSpPr>
          <p:cNvPr id="37" name="Text 35"/>
          <p:cNvSpPr txBox="1"/>
          <p:nvPr/>
        </p:nvSpPr>
        <p:spPr>
          <a:xfrm>
            <a:off x="10058400" y="3675888"/>
            <a:ext cx="1554480" cy="320040"/>
          </a:xfrm>
          <a:prstGeom prst="rect">
            <a:avLst/>
          </a:prstGeom>
          <a:noFill/>
          <a:ln/>
        </p:spPr>
        <p:txBody>
          <a:bodyPr wrap="square" lIns="0" tIns="0" rIns="0" bIns="0" rtlCol="0" anchor="ctr"/>
          <a:lstStyle/>
          <a:p>
            <a:pPr algn="ctr" indent="0" marL="0">
              <a:buNone/>
            </a:pPr>
            <a:r>
              <a:rPr lang="en-US" sz="1500" b="1" dirty="0">
                <a:solidFill>
                  <a:schemeClr val="tx2"/>
                </a:solidFill>
              </a:rPr>
              <a:t>≈ 0 tokens</a:t>
            </a:r>
            <a:endParaRPr lang="en-US" sz="1500" dirty="0"/>
          </a:p>
        </p:txBody>
      </p:sp>
      <p:sp>
        <p:nvSpPr>
          <p:cNvPr id="38" name="Text 36"/>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The free check depends on the kind of problem (no answers needed)</a:t>
            </a:r>
            <a:endParaRPr lang="en-US" sz="1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4498848"/>
          <a:ext cx="11064240" cy="914400"/>
        </p:xfrm>
        <a:graphic>
          <a:graphicData uri="http://schemas.openxmlformats.org/drawingml/2006/table">
            <a:tbl>
              <a:tblPr/>
              <a:tblGrid>
                <a:gridCol w="2743200"/>
                <a:gridCol w="2834640"/>
                <a:gridCol w="2743200"/>
                <a:gridCol w="2743200"/>
              </a:tblGrid>
              <a:tr h="384048">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and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 and math</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dirty="0">
                          <a:solidFill>
                            <a:schemeClr val="tx1"/>
                          </a:solidFill>
                        </a:rPr>
                        <a:t>run the sample tests printed in the statement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same answer on moved, turned and mirrored copies; or two versions agree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the plan obeys every rule (capacity, time windows)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the program runs and prints a value; two versions (or text and program) agree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0"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Cheap steps first: this problem cost 0.6k tokens instead of 5.3k, and it is right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Thank you: questions?</a:t>
            </a:r>
            <a:endParaRPr lang="en-US" sz="3600" dirty="0"/>
          </a:p>
        </p:txBody>
      </p:sp>
      <p:sp>
        <p:nvSpPr>
          <p:cNvPr id="3" name="takeaway"/>
          <p:cNvSpPr/>
          <p:nvPr/>
        </p:nvSpPr>
        <p:spPr>
          <a:xfrm>
            <a:off x="548640" y="1371600"/>
            <a:ext cx="11064240" cy="1371600"/>
          </a:xfrm>
          <a:prstGeom prst="roundRect">
            <a:avLst>
              <a:gd name="adj" fmla="val 5333"/>
            </a:avLst>
          </a:prstGeom>
          <a:solidFill>
            <a:srgbClr val="F2F2F2"/>
          </a:solidFill>
          <a:ln w="9525">
            <a:solidFill>
              <a:srgbClr val="D9D9D9"/>
            </a:solidFill>
            <a:prstDash val="solid"/>
          </a:ln>
        </p:spPr>
      </p:sp>
      <p:sp>
        <p:nvSpPr>
          <p:cNvPr id="4" name="Text 2"/>
          <p:cNvSpPr txBox="1"/>
          <p:nvPr/>
        </p:nvSpPr>
        <p:spPr>
          <a:xfrm>
            <a:off x="822960" y="1463040"/>
            <a:ext cx="10515600" cy="1188720"/>
          </a:xfrm>
          <a:prstGeom prst="rect">
            <a:avLst/>
          </a:prstGeom>
          <a:noFill/>
          <a:ln/>
        </p:spPr>
        <p:txBody>
          <a:bodyPr wrap="square" lIns="0" tIns="0" rIns="0" bIns="0" rtlCol="0" anchor="ctr"/>
          <a:lstStyle/>
          <a:p>
            <a:pPr indent="0" marL="0">
              <a:buNone/>
            </a:pPr>
            <a:r>
              <a:rPr lang="en-US" sz="2000" b="1" dirty="0">
                <a:solidFill>
                  <a:schemeClr val="tx1"/>
                </a:solidFill>
              </a:rPr>
              <a:t>Takeaway: </a:t>
            </a:r>
            <a:pPr indent="0" marL="0">
              <a:buNone/>
            </a:pPr>
            <a:r>
              <a:rPr lang="en-US" sz="2000" dirty="0">
                <a:solidFill>
                  <a:schemeClr val="tx1"/>
                </a:solidFill>
              </a:rPr>
              <a:t>give the model the missing fact first, and spend thinking only where a free check fails. More accurate, fewer tokens, and it works on one 24 GB GPU.</a:t>
            </a:r>
            <a:endParaRPr lang="en-US" sz="2000" dirty="0"/>
          </a:p>
        </p:txBody>
      </p:sp>
      <p:sp>
        <p:nvSpPr>
          <p:cNvPr id="5" name="Text 3"/>
          <p:cNvSpPr txBox="1"/>
          <p:nvPr/>
        </p:nvSpPr>
        <p:spPr>
          <a:xfrm>
            <a:off x="548640" y="3017520"/>
            <a:ext cx="11064240" cy="411480"/>
          </a:xfrm>
          <a:prstGeom prst="rect">
            <a:avLst/>
          </a:prstGeom>
          <a:noFill/>
          <a:ln/>
        </p:spPr>
        <p:txBody>
          <a:bodyPr wrap="square" lIns="0" tIns="0" rIns="0" bIns="0" rtlCol="0" anchor="ctr"/>
          <a:lstStyle/>
          <a:p>
            <a:pPr indent="0" marL="0">
              <a:buNone/>
            </a:pPr>
            <a:r>
              <a:rPr lang="en-US" sz="1800" b="1" dirty="0">
                <a:solidFill>
                  <a:srgbClr val="4472C4"/>
                </a:solidFill>
              </a:rPr>
              <a:t>Extra pages for questions</a:t>
            </a:r>
            <a:endParaRPr lang="en-US" sz="1800" dirty="0"/>
          </a:p>
        </p:txBody>
      </p:sp>
      <p:sp>
        <p:nvSpPr>
          <p:cNvPr id="6" name="Text 4"/>
          <p:cNvSpPr txBox="1"/>
          <p:nvPr/>
        </p:nvSpPr>
        <p:spPr>
          <a:xfrm>
            <a:off x="54864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10  </a:t>
            </a:r>
            <a:pPr indent="0" marL="0">
              <a:buNone/>
            </a:pPr>
            <a:r>
              <a:rPr lang="en-US" sz="1500" dirty="0">
                <a:solidFill>
                  <a:schemeClr val="tx1"/>
                </a:solidFill>
              </a:rPr>
              <a:t>It pays off: no human, small GPU, 30 labels</a:t>
            </a:r>
            <a:endParaRPr lang="en-US" sz="1500" dirty="0"/>
          </a:p>
        </p:txBody>
      </p:sp>
      <p:sp>
        <p:nvSpPr>
          <p:cNvPr id="7" name="Text 5"/>
          <p:cNvSpPr txBox="1"/>
          <p:nvPr/>
        </p:nvSpPr>
        <p:spPr>
          <a:xfrm>
            <a:off x="429768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11  </a:t>
            </a:r>
            <a:pPr indent="0" marL="0">
              <a:buNone/>
            </a:pPr>
            <a:r>
              <a:rPr lang="en-US" sz="1500" dirty="0">
                <a:solidFill>
                  <a:schemeClr val="tx1"/>
                </a:solidFill>
              </a:rPr>
              <a:t>All policies, cost vs accuracy</a:t>
            </a:r>
            <a:endParaRPr lang="en-US" sz="1500" dirty="0"/>
          </a:p>
        </p:txBody>
      </p:sp>
      <p:sp>
        <p:nvSpPr>
          <p:cNvPr id="8" name="Text 6"/>
          <p:cNvSpPr txBox="1"/>
          <p:nvPr/>
        </p:nvSpPr>
        <p:spPr>
          <a:xfrm>
            <a:off x="804672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12  </a:t>
            </a:r>
            <a:pPr indent="0" marL="0">
              <a:buNone/>
            </a:pPr>
            <a:r>
              <a:rPr lang="en-US" sz="1500" dirty="0">
                <a:solidFill>
                  <a:schemeClr val="tx1"/>
                </a:solidFill>
              </a:rPr>
              <a:t>One fact helps small models most</a:t>
            </a:r>
            <a:endParaRPr lang="en-US" sz="1500" dirty="0"/>
          </a:p>
        </p:txBody>
      </p:sp>
      <p:sp>
        <p:nvSpPr>
          <p:cNvPr id="9" name="Text 7"/>
          <p:cNvSpPr txBox="1"/>
          <p:nvPr/>
        </p:nvSpPr>
        <p:spPr>
          <a:xfrm>
            <a:off x="54864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13  </a:t>
            </a:r>
            <a:pPr indent="0" marL="0">
              <a:buNone/>
            </a:pPr>
            <a:r>
              <a:rPr lang="en-US" sz="1500" dirty="0">
                <a:solidFill>
                  <a:schemeClr val="tx1"/>
                </a:solidFill>
              </a:rPr>
              <a:t>Reuse a checked program</a:t>
            </a:r>
            <a:endParaRPr lang="en-US" sz="1500" dirty="0"/>
          </a:p>
        </p:txBody>
      </p:sp>
      <p:sp>
        <p:nvSpPr>
          <p:cNvPr id="10" name="Text 8"/>
          <p:cNvSpPr txBox="1"/>
          <p:nvPr/>
        </p:nvSpPr>
        <p:spPr>
          <a:xfrm>
            <a:off x="429768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14  </a:t>
            </a:r>
            <a:pPr indent="0" marL="0">
              <a:buNone/>
            </a:pPr>
            <a:r>
              <a:rPr lang="en-US" sz="1500" dirty="0">
                <a:solidFill>
                  <a:schemeClr val="tx1"/>
                </a:solidFill>
              </a:rPr>
              <a:t>Proofs need a specialized model</a:t>
            </a:r>
            <a:endParaRPr lang="en-US" sz="1500" dirty="0"/>
          </a:p>
        </p:txBody>
      </p:sp>
      <p:sp>
        <p:nvSpPr>
          <p:cNvPr id="11" name="Text 9"/>
          <p:cNvSpPr txBox="1"/>
          <p:nvPr/>
        </p:nvSpPr>
        <p:spPr>
          <a:xfrm>
            <a:off x="804672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15  </a:t>
            </a:r>
            <a:pPr indent="0" marL="0">
              <a:buNone/>
            </a:pPr>
            <a:r>
              <a:rPr lang="en-US" sz="1500" dirty="0">
                <a:solidFill>
                  <a:schemeClr val="tx1"/>
                </a:solidFill>
              </a:rPr>
              <a:t>Compared with published methods</a:t>
            </a:r>
            <a:endParaRPr lang="en-US" sz="1500" dirty="0"/>
          </a:p>
        </p:txBody>
      </p:sp>
      <p:sp>
        <p:nvSpPr>
          <p:cNvPr id="12" name="Text 10"/>
          <p:cNvSpPr txBox="1"/>
          <p:nvPr/>
        </p:nvSpPr>
        <p:spPr>
          <a:xfrm>
            <a:off x="54864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16  </a:t>
            </a:r>
            <a:pPr indent="0" marL="0">
              <a:buNone/>
            </a:pPr>
            <a:r>
              <a:rPr lang="en-US" sz="1500" dirty="0">
                <a:solidFill>
                  <a:schemeClr val="tx1"/>
                </a:solidFill>
              </a:rPr>
              <a:t>Where the recipe stops, and next</a:t>
            </a:r>
            <a:endParaRPr lang="en-US" sz="1500" dirty="0"/>
          </a:p>
        </p:txBody>
      </p:sp>
      <p:sp>
        <p:nvSpPr>
          <p:cNvPr id="13" name="Text 11"/>
          <p:cNvSpPr txBox="1"/>
          <p:nvPr/>
        </p:nvSpPr>
        <p:spPr>
          <a:xfrm>
            <a:off x="429768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17  </a:t>
            </a:r>
            <a:pPr indent="0" marL="0">
              <a:buNone/>
            </a:pPr>
            <a:r>
              <a:rPr lang="en-US" sz="1500" dirty="0">
                <a:solidFill>
                  <a:schemeClr val="tx1"/>
                </a:solidFill>
              </a:rPr>
              <a:t>All findings at a glance</a:t>
            </a:r>
            <a:endParaRPr lang="en-US" sz="1500" dirty="0"/>
          </a:p>
        </p:txBody>
      </p:sp>
      <p:sp>
        <p:nvSpPr>
          <p:cNvPr id="14" name="Text 12"/>
          <p:cNvSpPr txBox="1"/>
          <p:nvPr/>
        </p:nvSpPr>
        <p:spPr>
          <a:xfrm>
            <a:off x="804672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18  </a:t>
            </a:r>
            <a:pPr indent="0" marL="0">
              <a:buNone/>
            </a:pPr>
            <a:r>
              <a:rPr lang="en-US" sz="1500" dirty="0">
                <a:solidFill>
                  <a:schemeClr val="tx1"/>
                </a:solidFill>
              </a:rPr>
              <a:t>Words we use</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it pays off, even without a human or a big GPU</a:t>
            </a:r>
            <a:endParaRPr lang="en-US" sz="3600" dirty="0"/>
          </a:p>
        </p:txBody>
      </p:sp>
      <p:sp>
        <p:nvSpPr>
          <p:cNvPr id="3" name="Text 1"/>
          <p:cNvSpPr txBox="1"/>
          <p:nvPr/>
        </p:nvSpPr>
        <p:spPr>
          <a:xfrm>
            <a:off x="548640" y="1234440"/>
            <a:ext cx="6949440" cy="411480"/>
          </a:xfrm>
          <a:prstGeom prst="rect">
            <a:avLst/>
          </a:prstGeom>
          <a:noFill/>
          <a:ln/>
        </p:spPr>
        <p:txBody>
          <a:bodyPr wrap="square" lIns="0" tIns="0" rIns="0" bIns="0" rtlCol="0" anchor="ctr"/>
          <a:lstStyle/>
          <a:p>
            <a:pPr indent="0" marL="0">
              <a:buNone/>
            </a:pPr>
            <a:r>
              <a:rPr lang="en-US" sz="1600" dirty="0">
                <a:solidFill>
                  <a:schemeClr val="tx1"/>
                </a:solidFill>
              </a:rPr>
              <a:t>624 geometry and optimization problems, 3 models: % solved · tokens per problem</a:t>
            </a:r>
            <a:endParaRPr lang="en-US" sz="1600" dirty="0"/>
          </a:p>
        </p:txBody>
      </p:sp>
      <p:sp>
        <p:nvSpPr>
          <p:cNvPr id="4" name="Text 2"/>
          <p:cNvSpPr txBox="1"/>
          <p:nvPr/>
        </p:nvSpPr>
        <p:spPr>
          <a:xfrm>
            <a:off x="548640" y="178308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on hardest (Snell et al.)</a:t>
            </a:r>
            <a:endParaRPr lang="en-US" sz="1600" dirty="0"/>
          </a:p>
        </p:txBody>
      </p:sp>
      <p:sp>
        <p:nvSpPr>
          <p:cNvPr id="5" name="bar Think on hardest (Snell et al.)"/>
          <p:cNvSpPr/>
          <p:nvPr/>
        </p:nvSpPr>
        <p:spPr>
          <a:xfrm>
            <a:off x="3703320" y="1879092"/>
            <a:ext cx="1759306" cy="320040"/>
          </a:xfrm>
          <a:prstGeom prst="rect">
            <a:avLst/>
          </a:prstGeom>
          <a:solidFill>
            <a:srgbClr val="7F7F7F"/>
          </a:solidFill>
          <a:ln w="6350">
            <a:solidFill>
              <a:srgbClr val="7F7F7F"/>
            </a:solidFill>
            <a:prstDash val="solid"/>
          </a:ln>
        </p:spPr>
      </p:sp>
      <p:sp>
        <p:nvSpPr>
          <p:cNvPr id="6" name="Text 4"/>
          <p:cNvSpPr txBox="1"/>
          <p:nvPr/>
        </p:nvSpPr>
        <p:spPr>
          <a:xfrm>
            <a:off x="5554066" y="178308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7" name="Text 5"/>
          <p:cNvSpPr txBox="1"/>
          <p:nvPr/>
        </p:nvSpPr>
        <p:spPr>
          <a:xfrm>
            <a:off x="548640" y="242316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when the check fails</a:t>
            </a:r>
            <a:endParaRPr lang="en-US" sz="1600" dirty="0"/>
          </a:p>
        </p:txBody>
      </p:sp>
      <p:sp>
        <p:nvSpPr>
          <p:cNvPr id="8" name="bar Think when the check fails"/>
          <p:cNvSpPr/>
          <p:nvPr/>
        </p:nvSpPr>
        <p:spPr>
          <a:xfrm>
            <a:off x="3703320" y="2519172"/>
            <a:ext cx="1830629" cy="320040"/>
          </a:xfrm>
          <a:prstGeom prst="rect">
            <a:avLst/>
          </a:prstGeom>
          <a:solidFill>
            <a:srgbClr val="7F7F7F"/>
          </a:solidFill>
          <a:ln w="6350">
            <a:solidFill>
              <a:srgbClr val="7F7F7F"/>
            </a:solidFill>
            <a:prstDash val="solid"/>
          </a:ln>
        </p:spPr>
      </p:sp>
      <p:sp>
        <p:nvSpPr>
          <p:cNvPr id="9" name="Text 7"/>
          <p:cNvSpPr txBox="1"/>
          <p:nvPr/>
        </p:nvSpPr>
        <p:spPr>
          <a:xfrm>
            <a:off x="5625389" y="242316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0" name="Text 8"/>
          <p:cNvSpPr txBox="1"/>
          <p:nvPr/>
        </p:nvSpPr>
        <p:spPr>
          <a:xfrm>
            <a:off x="548640" y="306324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1" name="bar Fix by failure type"/>
          <p:cNvSpPr/>
          <p:nvPr/>
        </p:nvSpPr>
        <p:spPr>
          <a:xfrm>
            <a:off x="3703320" y="3159252"/>
            <a:ext cx="1973275" cy="320040"/>
          </a:xfrm>
          <a:prstGeom prst="rect">
            <a:avLst/>
          </a:prstGeom>
          <a:solidFill>
            <a:srgbClr val="7F7F7F"/>
          </a:solidFill>
          <a:ln w="6350">
            <a:solidFill>
              <a:srgbClr val="7F7F7F"/>
            </a:solidFill>
            <a:prstDash val="solid"/>
          </a:ln>
        </p:spPr>
      </p:sp>
      <p:sp>
        <p:nvSpPr>
          <p:cNvPr id="12" name="Text 10"/>
          <p:cNvSpPr txBox="1"/>
          <p:nvPr/>
        </p:nvSpPr>
        <p:spPr>
          <a:xfrm>
            <a:off x="5768035" y="306324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83% · 4.2k</a:t>
            </a:r>
            <a:endParaRPr lang="en-US" sz="1800" dirty="0"/>
          </a:p>
        </p:txBody>
      </p:sp>
      <p:sp>
        <p:nvSpPr>
          <p:cNvPr id="13" name="Text 11"/>
          <p:cNvSpPr txBox="1"/>
          <p:nvPr/>
        </p:nvSpPr>
        <p:spPr>
          <a:xfrm>
            <a:off x="548640" y="370332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Fact first, think on failure</a:t>
            </a:r>
            <a:endParaRPr lang="en-US" sz="1600" dirty="0"/>
          </a:p>
        </p:txBody>
      </p:sp>
      <p:sp>
        <p:nvSpPr>
          <p:cNvPr id="14" name="bar Fact first, think on failure"/>
          <p:cNvSpPr/>
          <p:nvPr/>
        </p:nvSpPr>
        <p:spPr>
          <a:xfrm>
            <a:off x="3703320" y="3799332"/>
            <a:ext cx="2068373" cy="320040"/>
          </a:xfrm>
          <a:prstGeom prst="rect">
            <a:avLst/>
          </a:prstGeom>
          <a:solidFill>
            <a:srgbClr val="4472C4"/>
          </a:solidFill>
          <a:ln w="6350">
            <a:solidFill>
              <a:srgbClr val="4472C4"/>
            </a:solidFill>
            <a:prstDash val="solid"/>
          </a:ln>
        </p:spPr>
      </p:sp>
      <p:sp>
        <p:nvSpPr>
          <p:cNvPr id="15" name="Text 13"/>
          <p:cNvSpPr txBox="1"/>
          <p:nvPr/>
        </p:nvSpPr>
        <p:spPr>
          <a:xfrm>
            <a:off x="5863133" y="3703320"/>
            <a:ext cx="1371600" cy="512064"/>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16" name="Text 14"/>
          <p:cNvSpPr txBox="1"/>
          <p:nvPr/>
        </p:nvSpPr>
        <p:spPr>
          <a:xfrm>
            <a:off x="7863840" y="132588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79% = 79%</a:t>
            </a:r>
            <a:endParaRPr lang="en-US" sz="3000" dirty="0"/>
          </a:p>
        </p:txBody>
      </p:sp>
      <p:sp>
        <p:nvSpPr>
          <p:cNvPr id="17" name="Text 15"/>
          <p:cNvSpPr txBox="1"/>
          <p:nvPr/>
        </p:nvSpPr>
        <p:spPr>
          <a:xfrm>
            <a:off x="7863840" y="1874520"/>
            <a:ext cx="3749040" cy="685800"/>
          </a:xfrm>
          <a:prstGeom prst="rect">
            <a:avLst/>
          </a:prstGeom>
          <a:noFill/>
          <a:ln/>
        </p:spPr>
        <p:txBody>
          <a:bodyPr wrap="square" lIns="0" tIns="0" rIns="0" bIns="0" rtlCol="0" anchor="t"/>
          <a:lstStyle/>
          <a:p>
            <a:pPr indent="0" marL="0">
              <a:buNone/>
            </a:pPr>
            <a:r>
              <a:rPr lang="en-US" sz="1400" dirty="0">
                <a:solidFill>
                  <a:schemeClr val="tx1"/>
                </a:solidFill>
              </a:rPr>
              <a:t>fact found automatically = hand-written, on a benchmark never used before (MAMO)</a:t>
            </a:r>
            <a:endParaRPr lang="en-US" sz="1400" dirty="0"/>
          </a:p>
        </p:txBody>
      </p:sp>
      <p:sp>
        <p:nvSpPr>
          <p:cNvPr id="18" name="Text 16"/>
          <p:cNvSpPr txBox="1"/>
          <p:nvPr/>
        </p:nvSpPr>
        <p:spPr>
          <a:xfrm>
            <a:off x="7863840" y="274320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24 GB</a:t>
            </a:r>
            <a:endParaRPr lang="en-US" sz="3000" dirty="0"/>
          </a:p>
        </p:txBody>
      </p:sp>
      <p:sp>
        <p:nvSpPr>
          <p:cNvPr id="19" name="Text 17"/>
          <p:cNvSpPr txBox="1"/>
          <p:nvPr/>
        </p:nvSpPr>
        <p:spPr>
          <a:xfrm>
            <a:off x="7863840" y="3291840"/>
            <a:ext cx="3749040" cy="685800"/>
          </a:xfrm>
          <a:prstGeom prst="rect">
            <a:avLst/>
          </a:prstGeom>
          <a:noFill/>
          <a:ln/>
        </p:spPr>
        <p:txBody>
          <a:bodyPr wrap="square" lIns="0" tIns="0" rIns="0" bIns="0" rtlCol="0" anchor="t"/>
          <a:lstStyle/>
          <a:p>
            <a:pPr indent="0" marL="0">
              <a:buNone/>
            </a:pPr>
            <a:r>
              <a:rPr lang="en-US" sz="1400" dirty="0">
                <a:solidFill>
                  <a:schemeClr val="tx1"/>
                </a:solidFill>
              </a:rPr>
              <a:t>one RTX 3090-class GPU: gpt-oss-20b and Qwen3-14B match Qwen3-32B</a:t>
            </a:r>
            <a:endParaRPr lang="en-US" sz="1400" dirty="0"/>
          </a:p>
        </p:txBody>
      </p:sp>
      <p:sp>
        <p:nvSpPr>
          <p:cNvPr id="20" name="Text 18"/>
          <p:cNvSpPr txBox="1"/>
          <p:nvPr/>
        </p:nvSpPr>
        <p:spPr>
          <a:xfrm>
            <a:off x="7863840" y="416052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30</a:t>
            </a:r>
            <a:endParaRPr lang="en-US" sz="3000" dirty="0"/>
          </a:p>
        </p:txBody>
      </p:sp>
      <p:sp>
        <p:nvSpPr>
          <p:cNvPr id="21" name="Text 19"/>
          <p:cNvSpPr txBox="1"/>
          <p:nvPr/>
        </p:nvSpPr>
        <p:spPr>
          <a:xfrm>
            <a:off x="7863840" y="4709160"/>
            <a:ext cx="3749040" cy="685800"/>
          </a:xfrm>
          <a:prstGeom prst="rect">
            <a:avLst/>
          </a:prstGeom>
          <a:noFill/>
          <a:ln/>
        </p:spPr>
        <p:txBody>
          <a:bodyPr wrap="square" lIns="0" tIns="0" rIns="0" bIns="0" rtlCol="0" anchor="t"/>
          <a:lstStyle/>
          <a:p>
            <a:pPr indent="0" marL="0">
              <a:buNone/>
            </a:pPr>
            <a:r>
              <a:rPr lang="en-US" sz="1400" dirty="0">
                <a:solidFill>
                  <a:schemeClr val="tx1"/>
                </a:solidFill>
              </a:rPr>
              <a:t>labelled problems pick the best policy for a new task</a:t>
            </a:r>
            <a:endParaRPr lang="en-US" sz="1400" dirty="0"/>
          </a:p>
        </p:txBody>
      </p:sp>
      <p:sp>
        <p:nvSpPr>
          <p:cNvPr id="22"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"Spend more on hard problems" loses to "facts first, think where the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6692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6692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findings at a glance</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2026-10-19T08:32:42Z</dcterms:created>
  <dcterms:modified xsi:type="dcterms:W3CDTF">2026-10-19T08:32:42Z</dcterms:modified>
</cp:coreProperties>
</file>