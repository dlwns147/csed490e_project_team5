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df7fc325-90c7-f1e3-e031-f95c403e57c3}">
          <p14:sldIdLst>
            <p14:sldId id="256"/>
            <p14:sldId id="257"/>
            <p14:sldId id="258"/>
            <p14:sldId id="259"/>
            <p14:sldId id="260"/>
            <p14:sldId id="261"/>
            <p14:sldId id="262"/>
            <p14:sldId id="263"/>
          </p14:sldIdLst>
        </p14:section>
        <p14:section name="Extra pages" id="{deaa3883-19f5-b1e7-3b27-b6bb0a65ab72}">
          <p14:sldIdLst>
            <p14:sldId id="264"/>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study how to solve computational math with LLMs: answers that must be computed exactly, with the fewest tokens and the smallest GPU. Seven slides, then extra pages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model writes the program (the right side shows the line that matters). With a long reference sheet it guesses a plausible function name that does not exist and crashes; with five lines showing the exact call it writes the right one. Thinking longer cannot supply a fact it does not have (3 of 100).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findings give a recipe, cheapest steps first: write a program, add the missing fact (by hand or mined automatically), run a free check, think harder only on a failure, reuse a checked program when the problem repeats. Together, on 624 geometry and optimization problems with 3 models: 87% at 2.5k tokens per problem, vs 74% at 4.1k for spending thinking on the hardest-looking problems. Takeaway: give the fact first, think only where a free check fails. Extra pages: small models, reuse, proofs, the full comparison with published methods,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The extra pages after this slide answer the likely questions: does it pay off and how (9, 10), small models (11), reuse (12), proofs (13), published baselines (14), limits and next steps (15), all findings (16), terms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More rows (MBR-exec, majority vote, DeepConf, Self-Debugging, Mixture-of-Thought cascade, BM25 retrieval) are in PROPOSAL.md section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Tools, Facts, and Checks</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3566160" y="1234440"/>
            <a:ext cx="8046720" cy="411480"/>
          </a:xfrm>
          <a:prstGeom prst="rect">
            <a:avLst/>
          </a:prstGeom>
          <a:noFill/>
          <a:ln/>
        </p:spPr>
        <p:txBody>
          <a:bodyPr wrap="square" lIns="0" tIns="0" rIns="0" bIns="0" rtlCol="0" anchor="ctr"/>
          <a:lstStyle/>
          <a:p>
            <a:pPr algn="ctr" indent="0" marL="0">
              <a:buNone/>
            </a:pPr>
            <a:r>
              <a:rPr lang="en-US" sz="1600" dirty="0">
                <a:solidFill>
                  <a:schemeClr val="tx1"/>
                </a:solidFill>
              </a:rPr>
              <a:t>Same shape moved, turned or flipped, so the right answer never changes: 436 (twice its area)</a:t>
            </a:r>
            <a:endParaRPr lang="en-US" sz="16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691640"/>
            <a:ext cx="8046720" cy="1737360"/>
          </a:xfrm>
          <a:prstGeom prst="rect">
            <a:avLst/>
          </a:prstGeom>
        </p:spPr>
      </p:pic>
      <p:sp>
        <p:nvSpPr>
          <p:cNvPr id="5" name="Text 2"/>
          <p:cNvSpPr txBox="1"/>
          <p:nvPr/>
        </p:nvSpPr>
        <p:spPr>
          <a:xfrm>
            <a:off x="356616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original</a:t>
            </a:r>
            <a:endParaRPr lang="en-US" sz="1600" dirty="0"/>
          </a:p>
        </p:txBody>
      </p:sp>
      <p:sp>
        <p:nvSpPr>
          <p:cNvPr id="6" name="Text 3"/>
          <p:cNvSpPr txBox="1"/>
          <p:nvPr/>
        </p:nvSpPr>
        <p:spPr>
          <a:xfrm>
            <a:off x="557784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moved</a:t>
            </a:r>
            <a:endParaRPr lang="en-US" sz="1600" dirty="0"/>
          </a:p>
        </p:txBody>
      </p:sp>
      <p:sp>
        <p:nvSpPr>
          <p:cNvPr id="7" name="Text 4"/>
          <p:cNvSpPr txBox="1"/>
          <p:nvPr/>
        </p:nvSpPr>
        <p:spPr>
          <a:xfrm>
            <a:off x="758952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turned</a:t>
            </a:r>
            <a:endParaRPr lang="en-US" sz="1600" dirty="0"/>
          </a:p>
        </p:txBody>
      </p:sp>
      <p:sp>
        <p:nvSpPr>
          <p:cNvPr id="8" name="Text 5"/>
          <p:cNvSpPr txBox="1"/>
          <p:nvPr/>
        </p:nvSpPr>
        <p:spPr>
          <a:xfrm>
            <a:off x="9601200" y="3246120"/>
            <a:ext cx="2011680" cy="320040"/>
          </a:xfrm>
          <a:prstGeom prst="rect">
            <a:avLst/>
          </a:prstGeom>
          <a:noFill/>
          <a:ln/>
        </p:spPr>
        <p:txBody>
          <a:bodyPr wrap="square" lIns="0" tIns="0" rIns="0" bIns="0" rtlCol="0" anchor="ctr"/>
          <a:lstStyle/>
          <a:p>
            <a:pPr algn="ctr" indent="0" marL="0">
              <a:buNone/>
            </a:pPr>
            <a:r>
              <a:rPr lang="en-US" sz="1600" dirty="0">
                <a:solidFill>
                  <a:schemeClr val="tx2"/>
                </a:solidFill>
              </a:rPr>
              <a:t>flipped</a:t>
            </a:r>
            <a:endParaRPr lang="en-US" sz="1600" dirty="0"/>
          </a:p>
        </p:txBody>
      </p:sp>
      <p:sp>
        <p:nvSpPr>
          <p:cNvPr id="9" name="Text 6"/>
          <p:cNvSpPr txBox="1"/>
          <p:nvPr/>
        </p:nvSpPr>
        <p:spPr>
          <a:xfrm>
            <a:off x="548640" y="384048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Answer in words</a:t>
            </a:r>
            <a:endParaRPr lang="en-US" sz="2000" dirty="0"/>
          </a:p>
          <a:p>
            <a:pPr indent="0" marL="0">
              <a:buNone/>
            </a:pPr>
            <a:r>
              <a:rPr lang="en-US" sz="1400" dirty="0">
                <a:solidFill>
                  <a:srgbClr val="44546A"/>
                </a:solidFill>
              </a:rPr>
              <a:t>the model does the arithmetic itself</a:t>
            </a:r>
            <a:endParaRPr lang="en-US" sz="2000" dirty="0"/>
          </a:p>
        </p:txBody>
      </p:sp>
      <p:sp>
        <p:nvSpPr>
          <p:cNvPr id="10" name="answer 436 ✓"/>
          <p:cNvSpPr/>
          <p:nvPr/>
        </p:nvSpPr>
        <p:spPr>
          <a:xfrm>
            <a:off x="3794760" y="3931920"/>
            <a:ext cx="1554480" cy="548640"/>
          </a:xfrm>
          <a:prstGeom prst="roundRect">
            <a:avLst>
              <a:gd name="adj" fmla="val 16667"/>
            </a:avLst>
          </a:prstGeom>
          <a:solidFill>
            <a:srgbClr val="E2F0D9"/>
          </a:solidFill>
          <a:ln w="12700">
            <a:solidFill>
              <a:srgbClr val="70AD47"/>
            </a:solidFill>
            <a:prstDash val="solid"/>
          </a:ln>
        </p:spPr>
      </p:sp>
      <p:sp>
        <p:nvSpPr>
          <p:cNvPr id="11" name="Text 8"/>
          <p:cNvSpPr txBox="1"/>
          <p:nvPr/>
        </p:nvSpPr>
        <p:spPr>
          <a:xfrm>
            <a:off x="3794760" y="393192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2" name="answer 2944 ✗"/>
          <p:cNvSpPr/>
          <p:nvPr/>
        </p:nvSpPr>
        <p:spPr>
          <a:xfrm>
            <a:off x="5806440" y="393192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580644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4" name="answer 392 ✗"/>
          <p:cNvSpPr/>
          <p:nvPr/>
        </p:nvSpPr>
        <p:spPr>
          <a:xfrm>
            <a:off x="7818120" y="3931920"/>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81812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6" name="answer 728 ✗"/>
          <p:cNvSpPr/>
          <p:nvPr/>
        </p:nvSpPr>
        <p:spPr>
          <a:xfrm>
            <a:off x="9829800" y="3931920"/>
            <a:ext cx="1554480" cy="548640"/>
          </a:xfrm>
          <a:prstGeom prst="roundRect">
            <a:avLst>
              <a:gd name="adj" fmla="val 16667"/>
            </a:avLst>
          </a:prstGeom>
          <a:solidFill>
            <a:srgbClr val="FADBD8"/>
          </a:solidFill>
          <a:ln w="12700">
            <a:solidFill>
              <a:srgbClr val="C00000"/>
            </a:solidFill>
            <a:prstDash val="solid"/>
          </a:ln>
        </p:spPr>
      </p:sp>
      <p:sp>
        <p:nvSpPr>
          <p:cNvPr id="17" name="Text 14"/>
          <p:cNvSpPr txBox="1"/>
          <p:nvPr/>
        </p:nvSpPr>
        <p:spPr>
          <a:xfrm>
            <a:off x="9829800" y="393192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8" name="Text 15"/>
          <p:cNvSpPr txBox="1"/>
          <p:nvPr/>
        </p:nvSpPr>
        <p:spPr>
          <a:xfrm>
            <a:off x="548640" y="4617720"/>
            <a:ext cx="2926080" cy="731520"/>
          </a:xfrm>
          <a:prstGeom prst="rect">
            <a:avLst/>
          </a:prstGeom>
          <a:noFill/>
          <a:ln/>
        </p:spPr>
        <p:txBody>
          <a:bodyPr wrap="square" lIns="0" tIns="0" rIns="0" bIns="0" rtlCol="0" anchor="ctr"/>
          <a:lstStyle/>
          <a:p>
            <a:pPr indent="0" marL="0">
              <a:buNone/>
            </a:pPr>
            <a:r>
              <a:rPr lang="en-US" sz="2000" b="1" dirty="0">
                <a:solidFill>
                  <a:schemeClr val="tx1"/>
                </a:solidFill>
              </a:rPr>
              <a:t>Write a program</a:t>
            </a:r>
            <a:endParaRPr lang="en-US" sz="2000" dirty="0"/>
          </a:p>
          <a:p>
            <a:pPr indent="0" marL="0">
              <a:buNone/>
            </a:pPr>
            <a:r>
              <a:rPr lang="en-US" sz="1400" dirty="0">
                <a:solidFill>
                  <a:srgbClr val="44546A"/>
                </a:solidFill>
              </a:rPr>
              <a:t>the computer does the arithmetic</a:t>
            </a:r>
            <a:endParaRPr lang="en-US" sz="2000" dirty="0"/>
          </a:p>
        </p:txBody>
      </p:sp>
      <p:sp>
        <p:nvSpPr>
          <p:cNvPr id="19" name="answer 436 ✓"/>
          <p:cNvSpPr/>
          <p:nvPr/>
        </p:nvSpPr>
        <p:spPr>
          <a:xfrm>
            <a:off x="3794760" y="470916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379476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5806440" y="470916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580644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answer 436 ✓"/>
          <p:cNvSpPr/>
          <p:nvPr/>
        </p:nvSpPr>
        <p:spPr>
          <a:xfrm>
            <a:off x="7818120" y="4709160"/>
            <a:ext cx="1554480" cy="548640"/>
          </a:xfrm>
          <a:prstGeom prst="roundRect">
            <a:avLst>
              <a:gd name="adj" fmla="val 16667"/>
            </a:avLst>
          </a:prstGeom>
          <a:solidFill>
            <a:srgbClr val="E2F0D9"/>
          </a:solidFill>
          <a:ln w="12700">
            <a:solidFill>
              <a:srgbClr val="70AD47"/>
            </a:solidFill>
            <a:prstDash val="solid"/>
          </a:ln>
        </p:spPr>
      </p:sp>
      <p:sp>
        <p:nvSpPr>
          <p:cNvPr id="24" name="Text 21"/>
          <p:cNvSpPr txBox="1"/>
          <p:nvPr/>
        </p:nvSpPr>
        <p:spPr>
          <a:xfrm>
            <a:off x="781812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5" name="answer 436 ✓"/>
          <p:cNvSpPr/>
          <p:nvPr/>
        </p:nvSpPr>
        <p:spPr>
          <a:xfrm>
            <a:off x="9829800" y="4709160"/>
            <a:ext cx="1554480" cy="548640"/>
          </a:xfrm>
          <a:prstGeom prst="roundRect">
            <a:avLst>
              <a:gd name="adj" fmla="val 16667"/>
            </a:avLst>
          </a:prstGeom>
          <a:solidFill>
            <a:srgbClr val="E2F0D9"/>
          </a:solidFill>
          <a:ln w="12700">
            <a:solidFill>
              <a:srgbClr val="70AD47"/>
            </a:solidFill>
            <a:prstDash val="solid"/>
          </a:ln>
        </p:spPr>
      </p:sp>
      <p:sp>
        <p:nvSpPr>
          <p:cNvPr id="26" name="Text 23"/>
          <p:cNvSpPr txBox="1"/>
          <p:nvPr/>
        </p:nvSpPr>
        <p:spPr>
          <a:xfrm>
            <a:off x="9829800" y="47091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7" name="Text 2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But programs can be silently wrong, and thinking is expensive. Goal: right answers, lowest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5 lines of exact usage"/>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+ 5 lines of exact usage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Out of 100 routing problems, how many it solves best:</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from these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akeaway"/>
          <p:cNvSpPr/>
          <p:nvPr/>
        </p:nvSpPr>
        <p:spPr>
          <a:xfrm>
            <a:off x="548640" y="1371600"/>
            <a:ext cx="11064240" cy="1371600"/>
          </a:xfrm>
          <a:prstGeom prst="roundRect">
            <a:avLst>
              <a:gd name="adj" fmla="val 5333"/>
            </a:avLst>
          </a:prstGeom>
          <a:solidFill>
            <a:srgbClr val="F2F2F2"/>
          </a:solidFill>
          <a:ln w="9525">
            <a:solidFill>
              <a:srgbClr val="D9D9D9"/>
            </a:solidFill>
            <a:prstDash val="solid"/>
          </a:ln>
        </p:spPr>
      </p:sp>
      <p:sp>
        <p:nvSpPr>
          <p:cNvPr id="4" name="Text 2"/>
          <p:cNvSpPr txBox="1"/>
          <p:nvPr/>
        </p:nvSpPr>
        <p:spPr>
          <a:xfrm>
            <a:off x="822960" y="1463040"/>
            <a:ext cx="10515600" cy="1188720"/>
          </a:xfrm>
          <a:prstGeom prst="rect">
            <a:avLst/>
          </a:prstGeom>
          <a:noFill/>
          <a:ln/>
        </p:spPr>
        <p:txBody>
          <a:bodyPr wrap="square" lIns="0" tIns="0" rIns="0" bIns="0" rtlCol="0" anchor="ctr"/>
          <a:lstStyle/>
          <a:p>
            <a:pPr indent="0" marL="0">
              <a:buNone/>
            </a:pPr>
            <a:r>
              <a:rPr lang="en-US" sz="2000" b="1" dirty="0">
                <a:solidFill>
                  <a:schemeClr val="tx1"/>
                </a:solidFill>
              </a:rPr>
              <a:t>Takeaway: </a:t>
            </a:r>
            <a:pPr indent="0" marL="0">
              <a:buNone/>
            </a:pPr>
            <a:r>
              <a:rPr lang="en-US" sz="2000" dirty="0">
                <a:solidFill>
                  <a:schemeClr val="tx1"/>
                </a:solidFill>
              </a:rPr>
              <a:t>give the model the missing fact first, and spend thinking only where a free check fails. More accurate, fewer tokens, and it works on one 24 GB GPU.</a:t>
            </a:r>
            <a:endParaRPr lang="en-US" sz="2000" dirty="0"/>
          </a:p>
        </p:txBody>
      </p:sp>
      <p:sp>
        <p:nvSpPr>
          <p:cNvPr id="5" name="Text 3"/>
          <p:cNvSpPr txBox="1"/>
          <p:nvPr/>
        </p:nvSpPr>
        <p:spPr>
          <a:xfrm>
            <a:off x="548640" y="3017520"/>
            <a:ext cx="11064240" cy="411480"/>
          </a:xfrm>
          <a:prstGeom prst="rect">
            <a:avLst/>
          </a:prstGeom>
          <a:noFill/>
          <a:ln/>
        </p:spPr>
        <p:txBody>
          <a:bodyPr wrap="square" lIns="0" tIns="0" rIns="0" bIns="0" rtlCol="0" anchor="ctr"/>
          <a:lstStyle/>
          <a:p>
            <a:pPr indent="0" marL="0">
              <a:buNone/>
            </a:pPr>
            <a:r>
              <a:rPr lang="en-US" sz="1800" b="1" dirty="0">
                <a:solidFill>
                  <a:srgbClr val="4472C4"/>
                </a:solidFill>
              </a:rPr>
              <a:t>Extra pages for questions</a:t>
            </a:r>
            <a:endParaRPr lang="en-US" sz="1800" dirty="0"/>
          </a:p>
        </p:txBody>
      </p:sp>
      <p:sp>
        <p:nvSpPr>
          <p:cNvPr id="6" name="Text 4"/>
          <p:cNvSpPr txBox="1"/>
          <p:nvPr/>
        </p:nvSpPr>
        <p:spPr>
          <a:xfrm>
            <a:off x="54864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9  </a:t>
            </a:r>
            <a:pPr indent="0" marL="0">
              <a:buNone/>
            </a:pPr>
            <a:r>
              <a:rPr lang="en-US" sz="1500" dirty="0">
                <a:solidFill>
                  <a:schemeClr val="tx1"/>
                </a:solidFill>
              </a:rPr>
              <a:t>It pays off: no human, small GPU, 30 labels</a:t>
            </a:r>
            <a:endParaRPr lang="en-US" sz="1500" dirty="0"/>
          </a:p>
        </p:txBody>
      </p:sp>
      <p:sp>
        <p:nvSpPr>
          <p:cNvPr id="7" name="Text 5"/>
          <p:cNvSpPr txBox="1"/>
          <p:nvPr/>
        </p:nvSpPr>
        <p:spPr>
          <a:xfrm>
            <a:off x="429768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10  </a:t>
            </a:r>
            <a:pPr indent="0" marL="0">
              <a:buNone/>
            </a:pPr>
            <a:r>
              <a:rPr lang="en-US" sz="1500" dirty="0">
                <a:solidFill>
                  <a:schemeClr val="tx1"/>
                </a:solidFill>
              </a:rPr>
              <a:t>All policies, cost vs accuracy</a:t>
            </a:r>
            <a:endParaRPr lang="en-US" sz="1500" dirty="0"/>
          </a:p>
        </p:txBody>
      </p:sp>
      <p:sp>
        <p:nvSpPr>
          <p:cNvPr id="8" name="Text 6"/>
          <p:cNvSpPr txBox="1"/>
          <p:nvPr/>
        </p:nvSpPr>
        <p:spPr>
          <a:xfrm>
            <a:off x="8046720" y="35204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11  </a:t>
            </a:r>
            <a:pPr indent="0" marL="0">
              <a:buNone/>
            </a:pPr>
            <a:r>
              <a:rPr lang="en-US" sz="1500" dirty="0">
                <a:solidFill>
                  <a:schemeClr val="tx1"/>
                </a:solidFill>
              </a:rPr>
              <a:t>One fact helps small models most</a:t>
            </a:r>
            <a:endParaRPr lang="en-US" sz="1500" dirty="0"/>
          </a:p>
        </p:txBody>
      </p:sp>
      <p:sp>
        <p:nvSpPr>
          <p:cNvPr id="9" name="Text 7"/>
          <p:cNvSpPr txBox="1"/>
          <p:nvPr/>
        </p:nvSpPr>
        <p:spPr>
          <a:xfrm>
            <a:off x="54864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12  </a:t>
            </a:r>
            <a:pPr indent="0" marL="0">
              <a:buNone/>
            </a:pPr>
            <a:r>
              <a:rPr lang="en-US" sz="1500" dirty="0">
                <a:solidFill>
                  <a:schemeClr val="tx1"/>
                </a:solidFill>
              </a:rPr>
              <a:t>Reuse a checked program</a:t>
            </a:r>
            <a:endParaRPr lang="en-US" sz="1500" dirty="0"/>
          </a:p>
        </p:txBody>
      </p:sp>
      <p:sp>
        <p:nvSpPr>
          <p:cNvPr id="10" name="Text 8"/>
          <p:cNvSpPr txBox="1"/>
          <p:nvPr/>
        </p:nvSpPr>
        <p:spPr>
          <a:xfrm>
            <a:off x="429768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13  </a:t>
            </a:r>
            <a:pPr indent="0" marL="0">
              <a:buNone/>
            </a:pPr>
            <a:r>
              <a:rPr lang="en-US" sz="1500" dirty="0">
                <a:solidFill>
                  <a:schemeClr val="tx1"/>
                </a:solidFill>
              </a:rPr>
              <a:t>Proofs need a specialized model</a:t>
            </a:r>
            <a:endParaRPr lang="en-US" sz="1500" dirty="0"/>
          </a:p>
        </p:txBody>
      </p:sp>
      <p:sp>
        <p:nvSpPr>
          <p:cNvPr id="11" name="Text 9"/>
          <p:cNvSpPr txBox="1"/>
          <p:nvPr/>
        </p:nvSpPr>
        <p:spPr>
          <a:xfrm>
            <a:off x="8046720" y="42062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14  </a:t>
            </a:r>
            <a:pPr indent="0" marL="0">
              <a:buNone/>
            </a:pPr>
            <a:r>
              <a:rPr lang="en-US" sz="1500" dirty="0">
                <a:solidFill>
                  <a:schemeClr val="tx1"/>
                </a:solidFill>
              </a:rPr>
              <a:t>Compared with published methods</a:t>
            </a:r>
            <a:endParaRPr lang="en-US" sz="1500" dirty="0"/>
          </a:p>
        </p:txBody>
      </p:sp>
      <p:sp>
        <p:nvSpPr>
          <p:cNvPr id="12" name="Text 10"/>
          <p:cNvSpPr txBox="1"/>
          <p:nvPr/>
        </p:nvSpPr>
        <p:spPr>
          <a:xfrm>
            <a:off x="54864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15  </a:t>
            </a:r>
            <a:pPr indent="0" marL="0">
              <a:buNone/>
            </a:pPr>
            <a:r>
              <a:rPr lang="en-US" sz="1500" dirty="0">
                <a:solidFill>
                  <a:schemeClr val="tx1"/>
                </a:solidFill>
              </a:rPr>
              <a:t>Where the recipe stops, and next</a:t>
            </a:r>
            <a:endParaRPr lang="en-US" sz="1500" dirty="0"/>
          </a:p>
        </p:txBody>
      </p:sp>
      <p:sp>
        <p:nvSpPr>
          <p:cNvPr id="13" name="Text 11"/>
          <p:cNvSpPr txBox="1"/>
          <p:nvPr/>
        </p:nvSpPr>
        <p:spPr>
          <a:xfrm>
            <a:off x="429768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16  </a:t>
            </a:r>
            <a:pPr indent="0" marL="0">
              <a:buNone/>
            </a:pPr>
            <a:r>
              <a:rPr lang="en-US" sz="1500" dirty="0">
                <a:solidFill>
                  <a:schemeClr val="tx1"/>
                </a:solidFill>
              </a:rPr>
              <a:t>All findings at a glance</a:t>
            </a:r>
            <a:endParaRPr lang="en-US" sz="1500" dirty="0"/>
          </a:p>
        </p:txBody>
      </p:sp>
      <p:sp>
        <p:nvSpPr>
          <p:cNvPr id="14" name="Text 12"/>
          <p:cNvSpPr txBox="1"/>
          <p:nvPr/>
        </p:nvSpPr>
        <p:spPr>
          <a:xfrm>
            <a:off x="8046720" y="4892040"/>
            <a:ext cx="3611880" cy="548640"/>
          </a:xfrm>
          <a:prstGeom prst="rect">
            <a:avLst/>
          </a:prstGeom>
          <a:noFill/>
          <a:ln/>
        </p:spPr>
        <p:txBody>
          <a:bodyPr wrap="square" lIns="0" tIns="0" rIns="0" bIns="0" rtlCol="0" anchor="ctr"/>
          <a:lstStyle/>
          <a:p>
            <a:pPr indent="0" marL="0">
              <a:buNone/>
            </a:pPr>
            <a:r>
              <a:rPr lang="en-US" sz="1500" b="1" dirty="0">
                <a:solidFill>
                  <a:srgbClr val="4472C4"/>
                </a:solidFill>
              </a:rPr>
              <a:t>17  </a:t>
            </a:r>
            <a:pPr indent="0" marL="0">
              <a:buNone/>
            </a:pPr>
            <a:r>
              <a:rPr lang="en-US" sz="1500" dirty="0">
                <a:solidFill>
                  <a:schemeClr val="tx1"/>
                </a:solidFill>
              </a:rPr>
              <a:t>Words we use</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6692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6692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2026-10-19T08:03:52Z</dcterms:created>
  <dcterms:modified xsi:type="dcterms:W3CDTF">2026-10-19T08:03:52Z</dcterms:modified>
</cp:coreProperties>
</file>