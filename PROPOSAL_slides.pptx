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posal" id="{df48ce5d-ce98-b275-92a9-e08e1c6ea563}">
          <p14:sldIdLst>
            <p14:sldId id="256"/>
            <p14:sldId id="257"/>
            <p14:sldId id="258"/>
            <p14:sldId id="259"/>
            <p14:sldId id="260"/>
          </p14:sldIdLst>
        </p14:section>
        <p14:section name="Results" id="{c5c2372c-db46-d045-86b2-06a0fc34f03b}">
          <p14:sldIdLst>
            <p14:sldId id="261"/>
            <p14:sldId id="262"/>
            <p14:sldId id="263"/>
            <p14:sldId id="264"/>
          </p14:sldIdLst>
        </p14:section>
        <p14:section name="Status" id="{ed74a3a1-22c0-e6de-2777-d372735a2811}">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an LLM writes a program for a geometry or optimization problem and it fails, the usual fix is more compute. We measure which failures that fixes, and what to spend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Qwen3-8B, real outputs. Asked to answer directly, it does the arithmetic in words and gives a different area for each moved, turned or flipped copy of the same polygon (only the original is right). Asked for a program, it writes the shoelace formula and the computer gets all copies right. The shapes on the slide are an illustration; the numbers are from our pilot. This is why we study programs, and why their silent mistakes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 something we give the model in the prompt to use in its program, like helper functions (orient tells which side of a line a point is on) or a library (OR-Tools solves routing problems). Fact: know-how the model may lack, like the exact function name or that the library needs whole numbers. Check: a cheap test of the program's output without knowing the true answer, like running the examples printed in the problem, or moving the input and making sure the answer does not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Tokens measure cost: every result is reported as accuracy and tokens. Thinking (reasoning effort) buys accuracy with tokens; the project asks when it is worth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claim. Each failure has a signature visible without an answer key (a crash on an API name; confident, consistent answers that change when the tool is removed; disagreement between samples). So compute can be allocated by failure type instead of by difficulty.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claim was pre-registered; positive claims hold on 2-3 seeds. Limitations: the mechanisms were found on generated tasks; the facts are hand-written; open models only. If choosing by failure type does not beat choosing by difficulty at the same token budget, the claim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Tools, Facts, and Checks</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When LLM-written math programs fail, and what to spend instead</a:t>
            </a:r>
            <a:endParaRPr lang="en-US" sz="2200" dirty="0"/>
          </a:p>
          <a:p>
            <a:pPr algn="ctr" indent="0" marL="0">
              <a:buNone/>
            </a:pPr>
            <a:r>
              <a:rPr lang="en-US" sz="1600" dirty="0">
                <a:solidFill>
                  <a:srgbClr val="44546A"/>
                </a:solidFill>
              </a:rPr>
              <a:t>Graduate NLP course project proposal · POSTECH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3566160" y="1234440"/>
            <a:ext cx="8046720" cy="411480"/>
          </a:xfrm>
          <a:prstGeom prst="rect">
            <a:avLst/>
          </a:prstGeom>
          <a:noFill/>
          <a:ln/>
        </p:spPr>
        <p:txBody>
          <a:bodyPr wrap="square" lIns="0" tIns="0" rIns="0" bIns="0" rtlCol="0" anchor="ctr"/>
          <a:lstStyle/>
          <a:p>
            <a:pPr algn="ctr" indent="0" marL="0">
              <a:buNone/>
            </a:pPr>
            <a:r>
              <a:rPr lang="en-US" sz="1600" dirty="0">
                <a:solidFill>
                  <a:schemeClr val="tx1"/>
                </a:solidFill>
              </a:rPr>
              <a:t>Same shape moved, turned or flipped, so the right answer never changes: 436 (twice its area)</a:t>
            </a:r>
            <a:endParaRPr lang="en-US" sz="16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691640"/>
            <a:ext cx="8046720" cy="1737360"/>
          </a:xfrm>
          <a:prstGeom prst="rect">
            <a:avLst/>
          </a:prstGeom>
        </p:spPr>
      </p:pic>
      <p:sp>
        <p:nvSpPr>
          <p:cNvPr id="5" name="Text 2"/>
          <p:cNvSpPr txBox="1"/>
          <p:nvPr/>
        </p:nvSpPr>
        <p:spPr>
          <a:xfrm>
            <a:off x="356616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original</a:t>
            </a:r>
            <a:endParaRPr lang="en-US" sz="1600" dirty="0"/>
          </a:p>
        </p:txBody>
      </p:sp>
      <p:sp>
        <p:nvSpPr>
          <p:cNvPr id="6" name="Text 3"/>
          <p:cNvSpPr txBox="1"/>
          <p:nvPr/>
        </p:nvSpPr>
        <p:spPr>
          <a:xfrm>
            <a:off x="557784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moved</a:t>
            </a:r>
            <a:endParaRPr lang="en-US" sz="1600" dirty="0"/>
          </a:p>
        </p:txBody>
      </p:sp>
      <p:sp>
        <p:nvSpPr>
          <p:cNvPr id="7" name="Text 4"/>
          <p:cNvSpPr txBox="1"/>
          <p:nvPr/>
        </p:nvSpPr>
        <p:spPr>
          <a:xfrm>
            <a:off x="758952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turned</a:t>
            </a:r>
            <a:endParaRPr lang="en-US" sz="1600" dirty="0"/>
          </a:p>
        </p:txBody>
      </p:sp>
      <p:sp>
        <p:nvSpPr>
          <p:cNvPr id="8" name="Text 5"/>
          <p:cNvSpPr txBox="1"/>
          <p:nvPr/>
        </p:nvSpPr>
        <p:spPr>
          <a:xfrm>
            <a:off x="960120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flipped</a:t>
            </a:r>
            <a:endParaRPr lang="en-US" sz="1600" dirty="0"/>
          </a:p>
        </p:txBody>
      </p:sp>
      <p:sp>
        <p:nvSpPr>
          <p:cNvPr id="9" name="Text 6"/>
          <p:cNvSpPr txBox="1"/>
          <p:nvPr/>
        </p:nvSpPr>
        <p:spPr>
          <a:xfrm>
            <a:off x="548640" y="384048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Answer in words</a:t>
            </a:r>
            <a:endParaRPr lang="en-US" sz="2000" dirty="0"/>
          </a:p>
          <a:p>
            <a:pPr indent="0" marL="0">
              <a:buNone/>
            </a:pPr>
            <a:r>
              <a:rPr lang="en-US" sz="1400" dirty="0">
                <a:solidFill>
                  <a:srgbClr val="44546A"/>
                </a:solidFill>
              </a:rPr>
              <a:t>the model does the arithmetic itself</a:t>
            </a:r>
            <a:endParaRPr lang="en-US" sz="2000" dirty="0"/>
          </a:p>
        </p:txBody>
      </p:sp>
      <p:sp>
        <p:nvSpPr>
          <p:cNvPr id="10" name="answer 436 ✓"/>
          <p:cNvSpPr/>
          <p:nvPr/>
        </p:nvSpPr>
        <p:spPr>
          <a:xfrm>
            <a:off x="3794760" y="3931920"/>
            <a:ext cx="1554480" cy="548640"/>
          </a:xfrm>
          <a:prstGeom prst="roundRect">
            <a:avLst>
              <a:gd name="adj" fmla="val 16667"/>
            </a:avLst>
          </a:prstGeom>
          <a:solidFill>
            <a:srgbClr val="E2F0D9"/>
          </a:solidFill>
          <a:ln w="12700">
            <a:solidFill>
              <a:srgbClr val="70AD47"/>
            </a:solidFill>
            <a:prstDash val="solid"/>
          </a:ln>
        </p:spPr>
      </p:sp>
      <p:sp>
        <p:nvSpPr>
          <p:cNvPr id="11" name="Text 8"/>
          <p:cNvSpPr txBox="1"/>
          <p:nvPr/>
        </p:nvSpPr>
        <p:spPr>
          <a:xfrm>
            <a:off x="3794760" y="393192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2" name="answer 2944 ✗"/>
          <p:cNvSpPr/>
          <p:nvPr/>
        </p:nvSpPr>
        <p:spPr>
          <a:xfrm>
            <a:off x="5806440" y="393192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580644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4" name="answer 392 ✗"/>
          <p:cNvSpPr/>
          <p:nvPr/>
        </p:nvSpPr>
        <p:spPr>
          <a:xfrm>
            <a:off x="7818120" y="3931920"/>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81812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6" name="answer 728 ✗"/>
          <p:cNvSpPr/>
          <p:nvPr/>
        </p:nvSpPr>
        <p:spPr>
          <a:xfrm>
            <a:off x="9829800" y="3931920"/>
            <a:ext cx="1554480" cy="548640"/>
          </a:xfrm>
          <a:prstGeom prst="roundRect">
            <a:avLst>
              <a:gd name="adj" fmla="val 16667"/>
            </a:avLst>
          </a:prstGeom>
          <a:solidFill>
            <a:srgbClr val="FADBD8"/>
          </a:solidFill>
          <a:ln w="12700">
            <a:solidFill>
              <a:srgbClr val="C00000"/>
            </a:solidFill>
            <a:prstDash val="solid"/>
          </a:ln>
        </p:spPr>
      </p:sp>
      <p:sp>
        <p:nvSpPr>
          <p:cNvPr id="17" name="Text 14"/>
          <p:cNvSpPr txBox="1"/>
          <p:nvPr/>
        </p:nvSpPr>
        <p:spPr>
          <a:xfrm>
            <a:off x="982980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8" name="Text 15"/>
          <p:cNvSpPr txBox="1"/>
          <p:nvPr/>
        </p:nvSpPr>
        <p:spPr>
          <a:xfrm>
            <a:off x="548640" y="461772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Write a program</a:t>
            </a:r>
            <a:endParaRPr lang="en-US" sz="2000" dirty="0"/>
          </a:p>
          <a:p>
            <a:pPr indent="0" marL="0">
              <a:buNone/>
            </a:pPr>
            <a:r>
              <a:rPr lang="en-US" sz="1400" dirty="0">
                <a:solidFill>
                  <a:srgbClr val="44546A"/>
                </a:solidFill>
              </a:rPr>
              <a:t>the computer does the arithmetic</a:t>
            </a:r>
            <a:endParaRPr lang="en-US" sz="2000" dirty="0"/>
          </a:p>
        </p:txBody>
      </p:sp>
      <p:sp>
        <p:nvSpPr>
          <p:cNvPr id="19" name="answer 436 ✓"/>
          <p:cNvSpPr/>
          <p:nvPr/>
        </p:nvSpPr>
        <p:spPr>
          <a:xfrm>
            <a:off x="3794760" y="470916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379476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5806440" y="470916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580644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answer 436 ✓"/>
          <p:cNvSpPr/>
          <p:nvPr/>
        </p:nvSpPr>
        <p:spPr>
          <a:xfrm>
            <a:off x="7818120" y="4709160"/>
            <a:ext cx="1554480" cy="548640"/>
          </a:xfrm>
          <a:prstGeom prst="roundRect">
            <a:avLst>
              <a:gd name="adj" fmla="val 16667"/>
            </a:avLst>
          </a:prstGeom>
          <a:solidFill>
            <a:srgbClr val="E2F0D9"/>
          </a:solidFill>
          <a:ln w="12700">
            <a:solidFill>
              <a:srgbClr val="70AD47"/>
            </a:solidFill>
            <a:prstDash val="solid"/>
          </a:ln>
        </p:spPr>
      </p:sp>
      <p:sp>
        <p:nvSpPr>
          <p:cNvPr id="24" name="Text 21"/>
          <p:cNvSpPr txBox="1"/>
          <p:nvPr/>
        </p:nvSpPr>
        <p:spPr>
          <a:xfrm>
            <a:off x="781812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5" name="answer 436 ✓"/>
          <p:cNvSpPr/>
          <p:nvPr/>
        </p:nvSpPr>
        <p:spPr>
          <a:xfrm>
            <a:off x="9829800" y="4709160"/>
            <a:ext cx="1554480" cy="548640"/>
          </a:xfrm>
          <a:prstGeom prst="roundRect">
            <a:avLst>
              <a:gd name="adj" fmla="val 16667"/>
            </a:avLst>
          </a:prstGeom>
          <a:solidFill>
            <a:srgbClr val="E2F0D9"/>
          </a:solidFill>
          <a:ln w="12700">
            <a:solidFill>
              <a:srgbClr val="70AD47"/>
            </a:solidFill>
            <a:prstDash val="solid"/>
          </a:ln>
        </p:spPr>
      </p:sp>
      <p:sp>
        <p:nvSpPr>
          <p:cNvPr id="26" name="Text 23"/>
          <p:cNvSpPr txBox="1"/>
          <p:nvPr/>
        </p:nvSpPr>
        <p:spPr>
          <a:xfrm>
            <a:off x="982980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7" name="Text 2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But programs can also be silently wrong. When, and what is the cheapest fix?</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Three words in the title: tool, fact, check</a:t>
            </a:r>
            <a:endParaRPr lang="en-US" sz="3600" dirty="0"/>
          </a:p>
        </p:txBody>
      </p:sp>
      <p:sp>
        <p:nvSpPr>
          <p:cNvPr id="3" name="word Tool"/>
          <p:cNvSpPr/>
          <p:nvPr/>
        </p:nvSpPr>
        <p:spPr>
          <a:xfrm>
            <a:off x="548640" y="1417320"/>
            <a:ext cx="3520440" cy="4114800"/>
          </a:xfrm>
          <a:prstGeom prst="roundRect">
            <a:avLst>
              <a:gd name="adj" fmla="val 2078"/>
            </a:avLst>
          </a:prstGeom>
          <a:solidFill>
            <a:srgbClr val="F2F2F2"/>
          </a:solidFill>
          <a:ln w="9525">
            <a:solidFill>
              <a:srgbClr val="D9D9D9"/>
            </a:solidFill>
            <a:prstDash val="solid"/>
          </a:ln>
        </p:spPr>
      </p:sp>
      <p:sp>
        <p:nvSpPr>
          <p:cNvPr id="4" name="Text 2"/>
          <p:cNvSpPr txBox="1"/>
          <p:nvPr/>
        </p:nvSpPr>
        <p:spPr>
          <a:xfrm>
            <a:off x="777240" y="1554480"/>
            <a:ext cx="3063240" cy="640080"/>
          </a:xfrm>
          <a:prstGeom prst="rect">
            <a:avLst/>
          </a:prstGeom>
          <a:noFill/>
          <a:ln/>
        </p:spPr>
        <p:txBody>
          <a:bodyPr wrap="square" lIns="0" tIns="0" rIns="0" bIns="0" rtlCol="0" anchor="ctr"/>
          <a:lstStyle/>
          <a:p>
            <a:pPr indent="0" marL="0">
              <a:buNone/>
            </a:pPr>
            <a:r>
              <a:rPr lang="en-US" sz="3200" b="1" dirty="0">
                <a:solidFill>
                  <a:srgbClr val="4472C4"/>
                </a:solidFill>
              </a:rPr>
              <a:t>Tool</a:t>
            </a:r>
            <a:endParaRPr lang="en-US" sz="3200" dirty="0"/>
          </a:p>
        </p:txBody>
      </p:sp>
      <p:sp>
        <p:nvSpPr>
          <p:cNvPr id="5" name="Text 3"/>
          <p:cNvSpPr txBox="1"/>
          <p:nvPr/>
        </p:nvSpPr>
        <p:spPr>
          <a:xfrm>
            <a:off x="777240" y="2194560"/>
            <a:ext cx="3063240" cy="82296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 for the model to use</a:t>
            </a:r>
            <a:endParaRPr lang="en-US" sz="1600" dirty="0"/>
          </a:p>
        </p:txBody>
      </p:sp>
      <p:sp>
        <p:nvSpPr>
          <p:cNvPr id="6" name="Text 4"/>
          <p:cNvSpPr txBox="1"/>
          <p:nvPr/>
        </p:nvSpPr>
        <p:spPr>
          <a:xfrm>
            <a:off x="777240" y="3017520"/>
            <a:ext cx="3063240" cy="320040"/>
          </a:xfrm>
          <a:prstGeom prst="rect">
            <a:avLst/>
          </a:prstGeom>
          <a:noFill/>
          <a:ln/>
        </p:spPr>
        <p:txBody>
          <a:bodyPr wrap="square" lIns="0" tIns="0" rIns="0" bIns="0" rtlCol="0" anchor="ctr"/>
          <a:lstStyle/>
          <a:p>
            <a:pPr indent="0" marL="0">
              <a:buNone/>
            </a:pPr>
            <a:r>
              <a:rPr lang="en-US" sz="1300" dirty="0">
                <a:solidFill>
                  <a:schemeClr val="tx2"/>
                </a:solidFill>
              </a:rPr>
              <a:t>for example</a:t>
            </a:r>
            <a:endParaRPr lang="en-US" sz="1300" dirty="0"/>
          </a:p>
        </p:txBody>
      </p:sp>
      <p:sp>
        <p:nvSpPr>
          <p:cNvPr id="7" name="code orient(a, b, c)"/>
          <p:cNvSpPr/>
          <p:nvPr/>
        </p:nvSpPr>
        <p:spPr>
          <a:xfrm>
            <a:off x="777240" y="3383280"/>
            <a:ext cx="3063240" cy="411480"/>
          </a:xfrm>
          <a:prstGeom prst="rect">
            <a:avLst/>
          </a:prstGeom>
          <a:solidFill>
            <a:srgbClr val="FFFFFF"/>
          </a:solidFill>
          <a:ln w="9525">
            <a:solidFill>
              <a:srgbClr val="BFBFBF"/>
            </a:solidFill>
            <a:prstDash val="solid"/>
          </a:ln>
        </p:spPr>
      </p:sp>
      <p:sp>
        <p:nvSpPr>
          <p:cNvPr id="8" name="Text 6"/>
          <p:cNvSpPr txBox="1"/>
          <p:nvPr/>
        </p:nvSpPr>
        <p:spPr>
          <a:xfrm>
            <a:off x="886968" y="3383280"/>
            <a:ext cx="2843784" cy="41148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orient(a, b, c)</a:t>
            </a:r>
            <a:endParaRPr lang="en-US" sz="1400" dirty="0"/>
          </a:p>
        </p:txBody>
      </p:sp>
      <p:sp>
        <p:nvSpPr>
          <p:cNvPr id="9" name="Text 7"/>
          <p:cNvSpPr txBox="1"/>
          <p:nvPr/>
        </p:nvSpPr>
        <p:spPr>
          <a:xfrm>
            <a:off x="777240" y="3822192"/>
            <a:ext cx="3063240" cy="457200"/>
          </a:xfrm>
          <a:prstGeom prst="rect">
            <a:avLst/>
          </a:prstGeom>
          <a:noFill/>
          <a:ln/>
        </p:spPr>
        <p:txBody>
          <a:bodyPr wrap="square" lIns="0" tIns="0" rIns="0" bIns="0" rtlCol="0" anchor="t"/>
          <a:lstStyle/>
          <a:p>
            <a:pPr indent="0" marL="0">
              <a:buNone/>
            </a:pPr>
            <a:r>
              <a:rPr lang="en-US" sz="1400" dirty="0">
                <a:solidFill>
                  <a:schemeClr val="tx1"/>
                </a:solidFill>
              </a:rPr>
              <a:t>is point c left or right of line a→b?</a:t>
            </a:r>
            <a:endParaRPr lang="en-US" sz="1400" dirty="0"/>
          </a:p>
        </p:txBody>
      </p:sp>
      <p:sp>
        <p:nvSpPr>
          <p:cNvPr id="10" name="code OR-Tools library"/>
          <p:cNvSpPr/>
          <p:nvPr/>
        </p:nvSpPr>
        <p:spPr>
          <a:xfrm>
            <a:off x="777240" y="4389120"/>
            <a:ext cx="3063240" cy="411480"/>
          </a:xfrm>
          <a:prstGeom prst="rect">
            <a:avLst/>
          </a:prstGeom>
          <a:solidFill>
            <a:srgbClr val="FFFFFF"/>
          </a:solidFill>
          <a:ln w="9525">
            <a:solidFill>
              <a:srgbClr val="BFBFBF"/>
            </a:solidFill>
            <a:prstDash val="solid"/>
          </a:ln>
        </p:spPr>
      </p:sp>
      <p:sp>
        <p:nvSpPr>
          <p:cNvPr id="11" name="Text 9"/>
          <p:cNvSpPr txBox="1"/>
          <p:nvPr/>
        </p:nvSpPr>
        <p:spPr>
          <a:xfrm>
            <a:off x="886968" y="4389120"/>
            <a:ext cx="2843784" cy="41148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OR-Tools library</a:t>
            </a:r>
            <a:endParaRPr lang="en-US" sz="1400" dirty="0"/>
          </a:p>
        </p:txBody>
      </p:sp>
      <p:sp>
        <p:nvSpPr>
          <p:cNvPr id="12" name="Text 10"/>
          <p:cNvSpPr txBox="1"/>
          <p:nvPr/>
        </p:nvSpPr>
        <p:spPr>
          <a:xfrm>
            <a:off x="777240" y="4828032"/>
            <a:ext cx="3063240" cy="457200"/>
          </a:xfrm>
          <a:prstGeom prst="rect">
            <a:avLst/>
          </a:prstGeom>
          <a:noFill/>
          <a:ln/>
        </p:spPr>
        <p:txBody>
          <a:bodyPr wrap="square" lIns="0" tIns="0" rIns="0" bIns="0" rtlCol="0" anchor="t"/>
          <a:lstStyle/>
          <a:p>
            <a:pPr indent="0" marL="0">
              <a:buNone/>
            </a:pPr>
            <a:r>
              <a:rPr lang="en-US" sz="1400" dirty="0">
                <a:solidFill>
                  <a:schemeClr val="tx1"/>
                </a:solidFill>
              </a:rPr>
              <a:t>a ready-made route optimizer</a:t>
            </a:r>
            <a:endParaRPr lang="en-US" sz="1400" dirty="0"/>
          </a:p>
        </p:txBody>
      </p:sp>
      <p:sp>
        <p:nvSpPr>
          <p:cNvPr id="13" name="word Fact"/>
          <p:cNvSpPr/>
          <p:nvPr/>
        </p:nvSpPr>
        <p:spPr>
          <a:xfrm>
            <a:off x="4343400" y="1417320"/>
            <a:ext cx="3520440" cy="4114800"/>
          </a:xfrm>
          <a:prstGeom prst="roundRect">
            <a:avLst>
              <a:gd name="adj" fmla="val 2078"/>
            </a:avLst>
          </a:prstGeom>
          <a:solidFill>
            <a:srgbClr val="F2F2F2"/>
          </a:solidFill>
          <a:ln w="9525">
            <a:solidFill>
              <a:srgbClr val="D9D9D9"/>
            </a:solidFill>
            <a:prstDash val="solid"/>
          </a:ln>
        </p:spPr>
      </p:sp>
      <p:sp>
        <p:nvSpPr>
          <p:cNvPr id="14" name="Text 12"/>
          <p:cNvSpPr txBox="1"/>
          <p:nvPr/>
        </p:nvSpPr>
        <p:spPr>
          <a:xfrm>
            <a:off x="4572000" y="1554480"/>
            <a:ext cx="3063240" cy="640080"/>
          </a:xfrm>
          <a:prstGeom prst="rect">
            <a:avLst/>
          </a:prstGeom>
          <a:noFill/>
          <a:ln/>
        </p:spPr>
        <p:txBody>
          <a:bodyPr wrap="square" lIns="0" tIns="0" rIns="0" bIns="0" rtlCol="0" anchor="ctr"/>
          <a:lstStyle/>
          <a:p>
            <a:pPr indent="0" marL="0">
              <a:buNone/>
            </a:pPr>
            <a:r>
              <a:rPr lang="en-US" sz="3200" b="1" dirty="0">
                <a:solidFill>
                  <a:srgbClr val="4472C4"/>
                </a:solidFill>
              </a:rPr>
              <a:t>Fact</a:t>
            </a:r>
            <a:endParaRPr lang="en-US" sz="3200" dirty="0"/>
          </a:p>
        </p:txBody>
      </p:sp>
      <p:sp>
        <p:nvSpPr>
          <p:cNvPr id="15" name="Text 13"/>
          <p:cNvSpPr txBox="1"/>
          <p:nvPr/>
        </p:nvSpPr>
        <p:spPr>
          <a:xfrm>
            <a:off x="4572000" y="2194560"/>
            <a:ext cx="3063240" cy="822960"/>
          </a:xfrm>
          <a:prstGeom prst="rect">
            <a:avLst/>
          </a:prstGeom>
          <a:noFill/>
          <a:ln/>
        </p:spPr>
        <p:txBody>
          <a:bodyPr wrap="square" lIns="0" tIns="0" rIns="0" bIns="0" rtlCol="0" anchor="t"/>
          <a:lstStyle/>
          <a:p>
            <a:pPr indent="0" marL="0">
              <a:buNone/>
            </a:pPr>
            <a:r>
              <a:rPr lang="en-US" sz="1600" dirty="0">
                <a:solidFill>
                  <a:schemeClr val="tx1"/>
                </a:solidFill>
              </a:rPr>
              <a:t>a piece of know-how the model may not have</a:t>
            </a:r>
            <a:endParaRPr lang="en-US" sz="1600" dirty="0"/>
          </a:p>
        </p:txBody>
      </p:sp>
      <p:sp>
        <p:nvSpPr>
          <p:cNvPr id="16" name="Text 14"/>
          <p:cNvSpPr txBox="1"/>
          <p:nvPr/>
        </p:nvSpPr>
        <p:spPr>
          <a:xfrm>
            <a:off x="4572000" y="3017520"/>
            <a:ext cx="3063240" cy="320040"/>
          </a:xfrm>
          <a:prstGeom prst="rect">
            <a:avLst/>
          </a:prstGeom>
          <a:noFill/>
          <a:ln/>
        </p:spPr>
        <p:txBody>
          <a:bodyPr wrap="square" lIns="0" tIns="0" rIns="0" bIns="0" rtlCol="0" anchor="ctr"/>
          <a:lstStyle/>
          <a:p>
            <a:pPr indent="0" marL="0">
              <a:buNone/>
            </a:pPr>
            <a:r>
              <a:rPr lang="en-US" sz="1300" dirty="0">
                <a:solidFill>
                  <a:schemeClr val="tx2"/>
                </a:solidFill>
              </a:rPr>
              <a:t>for example</a:t>
            </a:r>
            <a:endParaRPr lang="en-US" sz="1300" dirty="0"/>
          </a:p>
        </p:txBody>
      </p:sp>
      <p:sp>
        <p:nvSpPr>
          <p:cNvPr id="17" name="code RegisterUnaryTransit"/>
          <p:cNvSpPr/>
          <p:nvPr/>
        </p:nvSpPr>
        <p:spPr>
          <a:xfrm>
            <a:off x="4572000" y="3383280"/>
            <a:ext cx="3063240" cy="411480"/>
          </a:xfrm>
          <a:prstGeom prst="rect">
            <a:avLst/>
          </a:prstGeom>
          <a:solidFill>
            <a:srgbClr val="FFFFFF"/>
          </a:solidFill>
          <a:ln w="9525">
            <a:solidFill>
              <a:srgbClr val="BFBFBF"/>
            </a:solidFill>
            <a:prstDash val="solid"/>
          </a:ln>
        </p:spPr>
      </p:sp>
      <p:sp>
        <p:nvSpPr>
          <p:cNvPr id="18" name="Text 16"/>
          <p:cNvSpPr txBox="1"/>
          <p:nvPr/>
        </p:nvSpPr>
        <p:spPr>
          <a:xfrm>
            <a:off x="4681728" y="3383280"/>
            <a:ext cx="2843784" cy="411480"/>
          </a:xfrm>
          <a:prstGeom prst="rect">
            <a:avLst/>
          </a:prstGeom>
          <a:noFill/>
          <a:ln/>
        </p:spPr>
        <p:txBody>
          <a:bodyPr wrap="square" lIns="0" tIns="0" rIns="0" bIns="0" rtlCol="0" anchor="ctr"/>
          <a:lstStyle/>
          <a:p>
            <a:pPr indent="0" marL="0">
              <a:buNone/>
            </a:pPr>
            <a:r>
              <a:rPr lang="en-US" sz="1100" dirty="0">
                <a:solidFill>
                  <a:schemeClr val="tx1"/>
                </a:solidFill>
                <a:latin typeface="Courier New" pitchFamily="34" charset="0"/>
                <a:ea typeface="Courier New" pitchFamily="34" charset="-122"/>
                <a:cs typeface="Courier New" pitchFamily="34" charset="-120"/>
              </a:rPr>
              <a:t>RegisterUnaryTransitCallback(...)</a:t>
            </a:r>
            <a:endParaRPr lang="en-US" sz="1100" dirty="0"/>
          </a:p>
        </p:txBody>
      </p:sp>
      <p:sp>
        <p:nvSpPr>
          <p:cNvPr id="19" name="Text 17"/>
          <p:cNvSpPr txBox="1"/>
          <p:nvPr/>
        </p:nvSpPr>
        <p:spPr>
          <a:xfrm>
            <a:off x="4572000" y="3822192"/>
            <a:ext cx="3063240" cy="457200"/>
          </a:xfrm>
          <a:prstGeom prst="rect">
            <a:avLst/>
          </a:prstGeom>
          <a:noFill/>
          <a:ln/>
        </p:spPr>
        <p:txBody>
          <a:bodyPr wrap="square" lIns="0" tIns="0" rIns="0" bIns="0" rtlCol="0" anchor="t"/>
          <a:lstStyle/>
          <a:p>
            <a:pPr indent="0" marL="0">
              <a:buNone/>
            </a:pPr>
            <a:r>
              <a:rPr lang="en-US" sz="1400" dirty="0">
                <a:solidFill>
                  <a:schemeClr val="tx1"/>
                </a:solidFill>
              </a:rPr>
              <a:t>the exact name of the function to call</a:t>
            </a:r>
            <a:endParaRPr lang="en-US" sz="1400" dirty="0"/>
          </a:p>
        </p:txBody>
      </p:sp>
      <p:sp>
        <p:nvSpPr>
          <p:cNvPr id="20" name="code use whole numbers"/>
          <p:cNvSpPr/>
          <p:nvPr/>
        </p:nvSpPr>
        <p:spPr>
          <a:xfrm>
            <a:off x="4572000" y="4389120"/>
            <a:ext cx="3063240" cy="411480"/>
          </a:xfrm>
          <a:prstGeom prst="rect">
            <a:avLst/>
          </a:prstGeom>
          <a:solidFill>
            <a:srgbClr val="FFFFFF"/>
          </a:solidFill>
          <a:ln w="9525">
            <a:solidFill>
              <a:srgbClr val="BFBFBF"/>
            </a:solidFill>
            <a:prstDash val="solid"/>
          </a:ln>
        </p:spPr>
      </p:sp>
      <p:sp>
        <p:nvSpPr>
          <p:cNvPr id="21" name="Text 19"/>
          <p:cNvSpPr txBox="1"/>
          <p:nvPr/>
        </p:nvSpPr>
        <p:spPr>
          <a:xfrm>
            <a:off x="4681728" y="4389120"/>
            <a:ext cx="2843784" cy="41148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use whole numbers</a:t>
            </a:r>
            <a:endParaRPr lang="en-US" sz="1400" dirty="0"/>
          </a:p>
        </p:txBody>
      </p:sp>
      <p:sp>
        <p:nvSpPr>
          <p:cNvPr id="22" name="Text 20"/>
          <p:cNvSpPr txBox="1"/>
          <p:nvPr/>
        </p:nvSpPr>
        <p:spPr>
          <a:xfrm>
            <a:off x="4572000" y="4828032"/>
            <a:ext cx="3063240" cy="457200"/>
          </a:xfrm>
          <a:prstGeom prst="rect">
            <a:avLst/>
          </a:prstGeom>
          <a:noFill/>
          <a:ln/>
        </p:spPr>
        <p:txBody>
          <a:bodyPr wrap="square" lIns="0" tIns="0" rIns="0" bIns="0" rtlCol="0" anchor="t"/>
          <a:lstStyle/>
          <a:p>
            <a:pPr indent="0" marL="0">
              <a:buNone/>
            </a:pPr>
            <a:r>
              <a:rPr lang="en-US" sz="1400" dirty="0">
                <a:solidFill>
                  <a:schemeClr val="tx1"/>
                </a:solidFill>
              </a:rPr>
              <a:t>the route library rejects decimals</a:t>
            </a:r>
            <a:endParaRPr lang="en-US" sz="1400" dirty="0"/>
          </a:p>
        </p:txBody>
      </p:sp>
      <p:sp>
        <p:nvSpPr>
          <p:cNvPr id="23" name="word Check"/>
          <p:cNvSpPr/>
          <p:nvPr/>
        </p:nvSpPr>
        <p:spPr>
          <a:xfrm>
            <a:off x="8138160" y="1417320"/>
            <a:ext cx="3520440" cy="4114800"/>
          </a:xfrm>
          <a:prstGeom prst="roundRect">
            <a:avLst>
              <a:gd name="adj" fmla="val 2078"/>
            </a:avLst>
          </a:prstGeom>
          <a:solidFill>
            <a:srgbClr val="F2F2F2"/>
          </a:solidFill>
          <a:ln w="9525">
            <a:solidFill>
              <a:srgbClr val="D9D9D9"/>
            </a:solidFill>
            <a:prstDash val="solid"/>
          </a:ln>
        </p:spPr>
      </p:sp>
      <p:sp>
        <p:nvSpPr>
          <p:cNvPr id="24" name="Text 22"/>
          <p:cNvSpPr txBox="1"/>
          <p:nvPr/>
        </p:nvSpPr>
        <p:spPr>
          <a:xfrm>
            <a:off x="8366760" y="1554480"/>
            <a:ext cx="3063240" cy="640080"/>
          </a:xfrm>
          <a:prstGeom prst="rect">
            <a:avLst/>
          </a:prstGeom>
          <a:noFill/>
          <a:ln/>
        </p:spPr>
        <p:txBody>
          <a:bodyPr wrap="square" lIns="0" tIns="0" rIns="0" bIns="0" rtlCol="0" anchor="ctr"/>
          <a:lstStyle/>
          <a:p>
            <a:pPr indent="0" marL="0">
              <a:buNone/>
            </a:pPr>
            <a:r>
              <a:rPr lang="en-US" sz="3200" b="1" dirty="0">
                <a:solidFill>
                  <a:srgbClr val="4472C4"/>
                </a:solidFill>
              </a:rPr>
              <a:t>Check</a:t>
            </a:r>
            <a:endParaRPr lang="en-US" sz="3200" dirty="0"/>
          </a:p>
        </p:txBody>
      </p:sp>
      <p:sp>
        <p:nvSpPr>
          <p:cNvPr id="25" name="Text 23"/>
          <p:cNvSpPr txBox="1"/>
          <p:nvPr/>
        </p:nvSpPr>
        <p:spPr>
          <a:xfrm>
            <a:off x="8366760" y="2194560"/>
            <a:ext cx="3063240" cy="822960"/>
          </a:xfrm>
          <a:prstGeom prst="rect">
            <a:avLst/>
          </a:prstGeom>
          <a:noFill/>
          <a:ln/>
        </p:spPr>
        <p:txBody>
          <a:bodyPr wrap="square" lIns="0" tIns="0" rIns="0" bIns="0" rtlCol="0" anchor="t"/>
          <a:lstStyle/>
          <a:p>
            <a:pPr indent="0" marL="0">
              <a:buNone/>
            </a:pPr>
            <a:r>
              <a:rPr lang="en-US" sz="1600" dirty="0">
                <a:solidFill>
                  <a:schemeClr val="tx1"/>
                </a:solidFill>
              </a:rPr>
              <a:t>a cheap test of a program, without knowing the answer</a:t>
            </a:r>
            <a:endParaRPr lang="en-US" sz="1600" dirty="0"/>
          </a:p>
        </p:txBody>
      </p:sp>
      <p:sp>
        <p:nvSpPr>
          <p:cNvPr id="26" name="Text 24"/>
          <p:cNvSpPr txBox="1"/>
          <p:nvPr/>
        </p:nvSpPr>
        <p:spPr>
          <a:xfrm>
            <a:off x="8366760" y="3017520"/>
            <a:ext cx="3063240" cy="320040"/>
          </a:xfrm>
          <a:prstGeom prst="rect">
            <a:avLst/>
          </a:prstGeom>
          <a:noFill/>
          <a:ln/>
        </p:spPr>
        <p:txBody>
          <a:bodyPr wrap="square" lIns="0" tIns="0" rIns="0" bIns="0" rtlCol="0" anchor="ctr"/>
          <a:lstStyle/>
          <a:p>
            <a:pPr indent="0" marL="0">
              <a:buNone/>
            </a:pPr>
            <a:r>
              <a:rPr lang="en-US" sz="1300" dirty="0">
                <a:solidFill>
                  <a:schemeClr val="tx2"/>
                </a:solidFill>
              </a:rPr>
              <a:t>for example</a:t>
            </a:r>
            <a:endParaRPr lang="en-US" sz="1300" dirty="0"/>
          </a:p>
        </p:txBody>
      </p:sp>
      <p:sp>
        <p:nvSpPr>
          <p:cNvPr id="27" name="code run the examples"/>
          <p:cNvSpPr/>
          <p:nvPr/>
        </p:nvSpPr>
        <p:spPr>
          <a:xfrm>
            <a:off x="8366760" y="3383280"/>
            <a:ext cx="3063240" cy="411480"/>
          </a:xfrm>
          <a:prstGeom prst="rect">
            <a:avLst/>
          </a:prstGeom>
          <a:solidFill>
            <a:srgbClr val="FFFFFF"/>
          </a:solidFill>
          <a:ln w="9525">
            <a:solidFill>
              <a:srgbClr val="BFBFBF"/>
            </a:solidFill>
            <a:prstDash val="solid"/>
          </a:ln>
        </p:spPr>
      </p:sp>
      <p:sp>
        <p:nvSpPr>
          <p:cNvPr id="28" name="Text 26"/>
          <p:cNvSpPr txBox="1"/>
          <p:nvPr/>
        </p:nvSpPr>
        <p:spPr>
          <a:xfrm>
            <a:off x="8476488" y="3383280"/>
            <a:ext cx="2843784" cy="41148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run the examples</a:t>
            </a:r>
            <a:endParaRPr lang="en-US" sz="1400" dirty="0"/>
          </a:p>
        </p:txBody>
      </p:sp>
      <p:sp>
        <p:nvSpPr>
          <p:cNvPr id="29" name="Text 27"/>
          <p:cNvSpPr txBox="1"/>
          <p:nvPr/>
        </p:nvSpPr>
        <p:spPr>
          <a:xfrm>
            <a:off x="8366760" y="3822192"/>
            <a:ext cx="3063240" cy="457200"/>
          </a:xfrm>
          <a:prstGeom prst="rect">
            <a:avLst/>
          </a:prstGeom>
          <a:noFill/>
          <a:ln/>
        </p:spPr>
        <p:txBody>
          <a:bodyPr wrap="square" lIns="0" tIns="0" rIns="0" bIns="0" rtlCol="0" anchor="t"/>
          <a:lstStyle/>
          <a:p>
            <a:pPr indent="0" marL="0">
              <a:buNone/>
            </a:pPr>
            <a:r>
              <a:rPr lang="en-US" sz="1400" dirty="0">
                <a:solidFill>
                  <a:schemeClr val="tx1"/>
                </a:solidFill>
              </a:rPr>
              <a:t>does it print the answers shown in the problem?</a:t>
            </a:r>
            <a:endParaRPr lang="en-US" sz="1400" dirty="0"/>
          </a:p>
        </p:txBody>
      </p:sp>
      <p:sp>
        <p:nvSpPr>
          <p:cNvPr id="30" name="code move the input"/>
          <p:cNvSpPr/>
          <p:nvPr/>
        </p:nvSpPr>
        <p:spPr>
          <a:xfrm>
            <a:off x="8366760" y="4389120"/>
            <a:ext cx="3063240" cy="411480"/>
          </a:xfrm>
          <a:prstGeom prst="rect">
            <a:avLst/>
          </a:prstGeom>
          <a:solidFill>
            <a:srgbClr val="FFFFFF"/>
          </a:solidFill>
          <a:ln w="9525">
            <a:solidFill>
              <a:srgbClr val="BFBFBF"/>
            </a:solidFill>
            <a:prstDash val="solid"/>
          </a:ln>
        </p:spPr>
      </p:sp>
      <p:sp>
        <p:nvSpPr>
          <p:cNvPr id="31" name="Text 29"/>
          <p:cNvSpPr txBox="1"/>
          <p:nvPr/>
        </p:nvSpPr>
        <p:spPr>
          <a:xfrm>
            <a:off x="8476488" y="4389120"/>
            <a:ext cx="2843784" cy="41148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move the input</a:t>
            </a:r>
            <a:endParaRPr lang="en-US" sz="1400" dirty="0"/>
          </a:p>
        </p:txBody>
      </p:sp>
      <p:sp>
        <p:nvSpPr>
          <p:cNvPr id="32" name="Text 30"/>
          <p:cNvSpPr txBox="1"/>
          <p:nvPr/>
        </p:nvSpPr>
        <p:spPr>
          <a:xfrm>
            <a:off x="8366760" y="4828032"/>
            <a:ext cx="3063240" cy="457200"/>
          </a:xfrm>
          <a:prstGeom prst="rect">
            <a:avLst/>
          </a:prstGeom>
          <a:noFill/>
          <a:ln/>
        </p:spPr>
        <p:txBody>
          <a:bodyPr wrap="square" lIns="0" tIns="0" rIns="0" bIns="0" rtlCol="0" anchor="t"/>
          <a:lstStyle/>
          <a:p>
            <a:pPr indent="0" marL="0">
              <a:buNone/>
            </a:pPr>
            <a:r>
              <a:rPr lang="en-US" sz="1400" dirty="0">
                <a:solidFill>
                  <a:schemeClr val="tx1"/>
                </a:solidFill>
              </a:rPr>
              <a:t>the answer must not change</a:t>
            </a:r>
            <a:endParaRPr lang="en-US" sz="1400" dirty="0"/>
          </a:p>
        </p:txBody>
      </p:sp>
      <p:sp>
        <p:nvSpPr>
          <p:cNvPr id="33" name="Text 3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Question: which tools, facts and checks help, which hurt, and what do they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Other words you will hear</a:t>
            </a:r>
            <a:endParaRPr lang="en-US" sz="3600" dirty="0"/>
          </a:p>
        </p:txBody>
      </p:sp>
      <p:sp>
        <p:nvSpPr>
          <p:cNvPr id="3" name="term Token"/>
          <p:cNvSpPr/>
          <p:nvPr/>
        </p:nvSpPr>
        <p:spPr>
          <a:xfrm>
            <a:off x="548640" y="1417320"/>
            <a:ext cx="544068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498348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5" name="Text 3"/>
          <p:cNvSpPr txBox="1"/>
          <p:nvPr/>
        </p:nvSpPr>
        <p:spPr>
          <a:xfrm>
            <a:off x="777240" y="2103120"/>
            <a:ext cx="4983480" cy="731520"/>
          </a:xfrm>
          <a:prstGeom prst="rect">
            <a:avLst/>
          </a:prstGeom>
          <a:noFill/>
          <a:ln/>
        </p:spPr>
        <p:txBody>
          <a:bodyPr wrap="square" lIns="0" tIns="0" rIns="0" bIns="0" rtlCol="0" anchor="t"/>
          <a:lstStyle/>
          <a:p>
            <a:pPr indent="0" marL="0">
              <a:buNone/>
            </a:pPr>
            <a:r>
              <a:rPr lang="en-US" sz="1600" dirty="0">
                <a:solidFill>
                  <a:schemeClr val="tx1"/>
                </a:solidFill>
              </a:rPr>
              <a:t>a small piece of a word. Models are paid and timed by tokens, so tokens = cost</a:t>
            </a:r>
            <a:endParaRPr lang="en-US" sz="1600" dirty="0"/>
          </a:p>
        </p:txBody>
      </p:sp>
      <p:sp>
        <p:nvSpPr>
          <p:cNvPr id="6" name="Text 4"/>
          <p:cNvSpPr txBox="1"/>
          <p:nvPr/>
        </p:nvSpPr>
        <p:spPr>
          <a:xfrm>
            <a:off x="777240" y="2880360"/>
            <a:ext cx="4983480" cy="411480"/>
          </a:xfrm>
          <a:prstGeom prst="rect">
            <a:avLst/>
          </a:prstGeom>
          <a:noFill/>
          <a:ln/>
        </p:spPr>
        <p:txBody>
          <a:bodyPr wrap="square" lIns="0" tIns="0" rIns="0" bIns="0" rtlCol="0" anchor="ctr"/>
          <a:lstStyle/>
          <a:p>
            <a:pPr indent="0" marL="0">
              <a:buNone/>
            </a:pPr>
            <a:r>
              <a:rPr lang="en-US" sz="1500" i="1" dirty="0">
                <a:solidFill>
                  <a:schemeClr val="tx2"/>
                </a:solidFill>
              </a:rPr>
              <a:t>e.g. a one-page answer ≈ 700 tokens</a:t>
            </a:r>
            <a:endParaRPr lang="en-US" sz="1500" dirty="0"/>
          </a:p>
        </p:txBody>
      </p:sp>
      <p:sp>
        <p:nvSpPr>
          <p:cNvPr id="7" name="term Thinking"/>
          <p:cNvSpPr/>
          <p:nvPr/>
        </p:nvSpPr>
        <p:spPr>
          <a:xfrm>
            <a:off x="6172200" y="1417320"/>
            <a:ext cx="544068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6400800" y="1554480"/>
            <a:ext cx="498348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9" name="Text 7"/>
          <p:cNvSpPr txBox="1"/>
          <p:nvPr/>
        </p:nvSpPr>
        <p:spPr>
          <a:xfrm>
            <a:off x="6400800" y="2103120"/>
            <a:ext cx="4983480" cy="731520"/>
          </a:xfrm>
          <a:prstGeom prst="rect">
            <a:avLst/>
          </a:prstGeom>
          <a:noFill/>
          <a:ln/>
        </p:spPr>
        <p:txBody>
          <a:bodyPr wrap="square" lIns="0" tIns="0" rIns="0" bIns="0" rtlCol="0" anchor="t"/>
          <a:lstStyle/>
          <a:p>
            <a:pPr indent="0" marL="0">
              <a:buNone/>
            </a:pPr>
            <a:r>
              <a:rPr lang="en-US" sz="1600" dirty="0">
                <a:solidFill>
                  <a:schemeClr val="tx1"/>
                </a:solidFill>
              </a:rPr>
              <a:t>the model writes hidden notes before answering; more thinking = more tokens</a:t>
            </a:r>
            <a:endParaRPr lang="en-US" sz="1600" dirty="0"/>
          </a:p>
        </p:txBody>
      </p:sp>
      <p:sp>
        <p:nvSpPr>
          <p:cNvPr id="10" name="Text 8"/>
          <p:cNvSpPr txBox="1"/>
          <p:nvPr/>
        </p:nvSpPr>
        <p:spPr>
          <a:xfrm>
            <a:off x="6400800" y="2880360"/>
            <a:ext cx="4983480" cy="411480"/>
          </a:xfrm>
          <a:prstGeom prst="rect">
            <a:avLst/>
          </a:prstGeom>
          <a:noFill/>
          <a:ln/>
        </p:spPr>
        <p:txBody>
          <a:bodyPr wrap="square" lIns="0" tIns="0" rIns="0" bIns="0" rtlCol="0" anchor="ctr"/>
          <a:lstStyle/>
          <a:p>
            <a:pPr indent="0" marL="0">
              <a:buNone/>
            </a:pPr>
            <a:r>
              <a:rPr lang="en-US" sz="1500" i="1" dirty="0">
                <a:solidFill>
                  <a:schemeClr val="tx2"/>
                </a:solidFill>
              </a:rPr>
              <a:t>e.g. low / medium / high effort</a:t>
            </a:r>
            <a:endParaRPr lang="en-US" sz="1500" dirty="0"/>
          </a:p>
        </p:txBody>
      </p:sp>
      <p:sp>
        <p:nvSpPr>
          <p:cNvPr id="11" name="term Solver"/>
          <p:cNvSpPr/>
          <p:nvPr/>
        </p:nvSpPr>
        <p:spPr>
          <a:xfrm>
            <a:off x="548640" y="3657600"/>
            <a:ext cx="544068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777240" y="3794760"/>
            <a:ext cx="4983480" cy="548640"/>
          </a:xfrm>
          <a:prstGeom prst="rect">
            <a:avLst/>
          </a:prstGeom>
          <a:noFill/>
          <a:ln/>
        </p:spPr>
        <p:txBody>
          <a:bodyPr wrap="square" lIns="0" tIns="0" rIns="0" bIns="0" rtlCol="0" anchor="ctr"/>
          <a:lstStyle/>
          <a:p>
            <a:pPr indent="0" marL="0">
              <a:buNone/>
            </a:pPr>
            <a:r>
              <a:rPr lang="en-US" sz="2600" b="1" dirty="0">
                <a:solidFill>
                  <a:srgbClr val="4472C4"/>
                </a:solidFill>
              </a:rPr>
              <a:t>Solver</a:t>
            </a:r>
            <a:endParaRPr lang="en-US" sz="2600" dirty="0"/>
          </a:p>
        </p:txBody>
      </p:sp>
      <p:sp>
        <p:nvSpPr>
          <p:cNvPr id="13" name="Text 11"/>
          <p:cNvSpPr txBox="1"/>
          <p:nvPr/>
        </p:nvSpPr>
        <p:spPr>
          <a:xfrm>
            <a:off x="777240" y="4343400"/>
            <a:ext cx="4983480" cy="731520"/>
          </a:xfrm>
          <a:prstGeom prst="rect">
            <a:avLst/>
          </a:prstGeom>
          <a:noFill/>
          <a:ln/>
        </p:spPr>
        <p:txBody>
          <a:bodyPr wrap="square" lIns="0" tIns="0" rIns="0" bIns="0" rtlCol="0" anchor="t"/>
          <a:lstStyle/>
          <a:p>
            <a:pPr indent="0" marL="0">
              <a:buNone/>
            </a:pPr>
            <a:r>
              <a:rPr lang="en-US" sz="1600" dirty="0">
                <a:solidFill>
                  <a:schemeClr val="tx1"/>
                </a:solidFill>
              </a:rPr>
              <a:t>ready-made software that searches for the best plan once the problem is written down</a:t>
            </a:r>
            <a:endParaRPr lang="en-US" sz="1600" dirty="0"/>
          </a:p>
        </p:txBody>
      </p:sp>
      <p:sp>
        <p:nvSpPr>
          <p:cNvPr id="14" name="Text 12"/>
          <p:cNvSpPr txBox="1"/>
          <p:nvPr/>
        </p:nvSpPr>
        <p:spPr>
          <a:xfrm>
            <a:off x="777240" y="5120640"/>
            <a:ext cx="4983480" cy="411480"/>
          </a:xfrm>
          <a:prstGeom prst="rect">
            <a:avLst/>
          </a:prstGeom>
          <a:noFill/>
          <a:ln/>
        </p:spPr>
        <p:txBody>
          <a:bodyPr wrap="square" lIns="0" tIns="0" rIns="0" bIns="0" rtlCol="0" anchor="ctr"/>
          <a:lstStyle/>
          <a:p>
            <a:pPr indent="0" marL="0">
              <a:buNone/>
            </a:pPr>
            <a:r>
              <a:rPr lang="en-US" sz="1500" i="1" dirty="0">
                <a:solidFill>
                  <a:schemeClr val="tx2"/>
                </a:solidFill>
              </a:rPr>
              <a:t>e.g. OR-Tools finds the shortest delivery routes</a:t>
            </a:r>
            <a:endParaRPr lang="en-US" sz="1500" dirty="0"/>
          </a:p>
        </p:txBody>
      </p:sp>
      <p:sp>
        <p:nvSpPr>
          <p:cNvPr id="15" name="term Benchmark"/>
          <p:cNvSpPr/>
          <p:nvPr/>
        </p:nvSpPr>
        <p:spPr>
          <a:xfrm>
            <a:off x="6172200" y="3657600"/>
            <a:ext cx="544068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6400800" y="3794760"/>
            <a:ext cx="4983480" cy="548640"/>
          </a:xfrm>
          <a:prstGeom prst="rect">
            <a:avLst/>
          </a:prstGeom>
          <a:noFill/>
          <a:ln/>
        </p:spPr>
        <p:txBody>
          <a:bodyPr wrap="square" lIns="0" tIns="0" rIns="0" bIns="0" rtlCol="0" anchor="ctr"/>
          <a:lstStyle/>
          <a:p>
            <a:pPr indent="0" marL="0">
              <a:buNone/>
            </a:pPr>
            <a:r>
              <a:rPr lang="en-US" sz="2600" b="1" dirty="0">
                <a:solidFill>
                  <a:srgbClr val="4472C4"/>
                </a:solidFill>
              </a:rPr>
              <a:t>Benchmark</a:t>
            </a:r>
            <a:endParaRPr lang="en-US" sz="2600" dirty="0"/>
          </a:p>
        </p:txBody>
      </p:sp>
      <p:sp>
        <p:nvSpPr>
          <p:cNvPr id="17" name="Text 15"/>
          <p:cNvSpPr txBox="1"/>
          <p:nvPr/>
        </p:nvSpPr>
        <p:spPr>
          <a:xfrm>
            <a:off x="6400800" y="4343400"/>
            <a:ext cx="4983480" cy="731520"/>
          </a:xfrm>
          <a:prstGeom prst="rect">
            <a:avLst/>
          </a:prstGeom>
          <a:noFill/>
          <a:ln/>
        </p:spPr>
        <p:txBody>
          <a:bodyPr wrap="square" lIns="0" tIns="0" rIns="0" bIns="0" rtlCol="0" anchor="t"/>
          <a:lstStyle/>
          <a:p>
            <a:pPr indent="0" marL="0">
              <a:buNone/>
            </a:pPr>
            <a:r>
              <a:rPr lang="en-US" sz="1600" dirty="0">
                <a:solidFill>
                  <a:schemeClr val="tx1"/>
                </a:solidFill>
              </a:rPr>
              <a:t>a fixed set of problems with known answers, used to score models</a:t>
            </a:r>
            <a:endParaRPr lang="en-US" sz="1600" dirty="0"/>
          </a:p>
        </p:txBody>
      </p:sp>
      <p:sp>
        <p:nvSpPr>
          <p:cNvPr id="18" name="Text 16"/>
          <p:cNvSpPr txBox="1"/>
          <p:nvPr/>
        </p:nvSpPr>
        <p:spPr>
          <a:xfrm>
            <a:off x="6400800" y="5120640"/>
            <a:ext cx="4983480" cy="411480"/>
          </a:xfrm>
          <a:prstGeom prst="rect">
            <a:avLst/>
          </a:prstGeom>
          <a:noFill/>
          <a:ln/>
        </p:spPr>
        <p:txBody>
          <a:bodyPr wrap="square" lIns="0" tIns="0" rIns="0" bIns="0" rtlCol="0" anchor="ctr"/>
          <a:lstStyle/>
          <a:p>
            <a:pPr indent="0" marL="0">
              <a:buNone/>
            </a:pPr>
            <a:r>
              <a:rPr lang="en-US" sz="1500" i="1" dirty="0">
                <a:solidFill>
                  <a:schemeClr val="tx2"/>
                </a:solidFill>
              </a:rPr>
              <a:t>e.g. 311 Codeforces geometry contest problems</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Three kinds of mistakes, three different fixes</a:t>
            </a:r>
            <a:endParaRPr lang="en-US" sz="3600" dirty="0"/>
          </a:p>
        </p:txBody>
      </p:sp>
      <p:sp>
        <p:nvSpPr>
          <p:cNvPr id="3" name="mechanism 1"/>
          <p:cNvSpPr/>
          <p:nvPr/>
        </p:nvSpPr>
        <p:spPr>
          <a:xfrm>
            <a:off x="548640" y="1463040"/>
            <a:ext cx="3520440" cy="3931920"/>
          </a:xfrm>
          <a:prstGeom prst="roundRect">
            <a:avLst>
              <a:gd name="adj" fmla="val 2078"/>
            </a:avLst>
          </a:prstGeom>
          <a:solidFill>
            <a:srgbClr val="F2F2F2"/>
          </a:solidFill>
          <a:ln w="9525">
            <a:solidFill>
              <a:srgbClr val="D9D9D9"/>
            </a:solidFill>
            <a:prstDash val="solid"/>
          </a:ln>
        </p:spPr>
      </p:sp>
      <p:sp>
        <p:nvSpPr>
          <p:cNvPr id="4" name="badge 1"/>
          <p:cNvSpPr/>
          <p:nvPr/>
        </p:nvSpPr>
        <p:spPr>
          <a:xfrm>
            <a:off x="1920240" y="1737360"/>
            <a:ext cx="777240" cy="777240"/>
          </a:xfrm>
          <a:prstGeom prst="ellipse">
            <a:avLst/>
          </a:prstGeom>
          <a:solidFill>
            <a:srgbClr val="4472C4"/>
          </a:solidFill>
          <a:ln w="12700">
            <a:solidFill>
              <a:srgbClr val="4472C4"/>
            </a:solidFill>
            <a:prstDash val="solid"/>
          </a:ln>
        </p:spPr>
      </p:sp>
      <p:sp>
        <p:nvSpPr>
          <p:cNvPr id="5" name="Text 3"/>
          <p:cNvSpPr txBox="1"/>
          <p:nvPr/>
        </p:nvSpPr>
        <p:spPr>
          <a:xfrm>
            <a:off x="1920240"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rPr>
              <a:t>1</a:t>
            </a:r>
            <a:endParaRPr lang="en-US" sz="2800" dirty="0"/>
          </a:p>
        </p:txBody>
      </p:sp>
      <p:sp>
        <p:nvSpPr>
          <p:cNvPr id="6" name="Text 4"/>
          <p:cNvSpPr txBox="1"/>
          <p:nvPr/>
        </p:nvSpPr>
        <p:spPr>
          <a:xfrm>
            <a:off x="731520" y="2697480"/>
            <a:ext cx="3154680" cy="548640"/>
          </a:xfrm>
          <a:prstGeom prst="rect">
            <a:avLst/>
          </a:prstGeom>
          <a:noFill/>
          <a:ln/>
        </p:spPr>
        <p:txBody>
          <a:bodyPr wrap="square" lIns="0" tIns="0" rIns="0" bIns="0" rtlCol="0" anchor="ctr"/>
          <a:lstStyle/>
          <a:p>
            <a:pPr algn="ctr" indent="0" marL="0">
              <a:buNone/>
            </a:pPr>
            <a:r>
              <a:rPr lang="en-US" sz="2400" b="1" dirty="0">
                <a:solidFill>
                  <a:schemeClr val="tx1"/>
                </a:solidFill>
              </a:rPr>
              <a:t>Doesn't know the library</a:t>
            </a:r>
            <a:endParaRPr lang="en-US" sz="2400" dirty="0"/>
          </a:p>
        </p:txBody>
      </p:sp>
      <p:sp>
        <p:nvSpPr>
          <p:cNvPr id="7" name="Text 5"/>
          <p:cNvSpPr txBox="1"/>
          <p:nvPr/>
        </p:nvSpPr>
        <p:spPr>
          <a:xfrm>
            <a:off x="731520" y="3291840"/>
            <a:ext cx="3154680" cy="822960"/>
          </a:xfrm>
          <a:prstGeom prst="rect">
            <a:avLst/>
          </a:prstGeom>
          <a:noFill/>
          <a:ln/>
        </p:spPr>
        <p:txBody>
          <a:bodyPr wrap="square" lIns="0" tIns="0" rIns="0" bIns="0" rtlCol="0" anchor="t"/>
          <a:lstStyle/>
          <a:p>
            <a:pPr algn="ctr" indent="0" marL="0">
              <a:buNone/>
            </a:pPr>
            <a:r>
              <a:rPr lang="en-US" sz="1600" dirty="0">
                <a:solidFill>
                  <a:schemeClr val="tx2"/>
                </a:solidFill>
              </a:rPr>
              <a:t>it makes up a function name</a:t>
            </a:r>
            <a:endParaRPr lang="en-US" sz="1600" dirty="0"/>
          </a:p>
        </p:txBody>
      </p:sp>
      <p:sp>
        <p:nvSpPr>
          <p:cNvPr id="8" name="Text 6"/>
          <p:cNvSpPr txBox="1"/>
          <p:nvPr/>
        </p:nvSpPr>
        <p:spPr>
          <a:xfrm>
            <a:off x="731520" y="4206240"/>
            <a:ext cx="3154680" cy="914400"/>
          </a:xfrm>
          <a:prstGeom prst="rect">
            <a:avLst/>
          </a:prstGeom>
          <a:noFill/>
          <a:ln/>
        </p:spPr>
        <p:txBody>
          <a:bodyPr wrap="square" lIns="0" tIns="0" rIns="0" bIns="0" rtlCol="0" anchor="t"/>
          <a:lstStyle/>
          <a:p>
            <a:pPr algn="ctr" indent="0" marL="0">
              <a:buNone/>
            </a:pPr>
            <a:r>
              <a:rPr lang="en-US" sz="2000" b="1" dirty="0">
                <a:solidFill>
                  <a:srgbClr val="4472C4"/>
                </a:solidFill>
              </a:rPr>
              <a:t>Show the exact usage</a:t>
            </a:r>
            <a:endParaRPr lang="en-US" sz="2000" dirty="0"/>
          </a:p>
        </p:txBody>
      </p:sp>
      <p:sp>
        <p:nvSpPr>
          <p:cNvPr id="9" name="mechanism 2"/>
          <p:cNvSpPr/>
          <p:nvPr/>
        </p:nvSpPr>
        <p:spPr>
          <a:xfrm>
            <a:off x="4343400" y="1463040"/>
            <a:ext cx="3520440" cy="3931920"/>
          </a:xfrm>
          <a:prstGeom prst="roundRect">
            <a:avLst>
              <a:gd name="adj" fmla="val 2078"/>
            </a:avLst>
          </a:prstGeom>
          <a:solidFill>
            <a:srgbClr val="F2F2F2"/>
          </a:solidFill>
          <a:ln w="9525">
            <a:solidFill>
              <a:srgbClr val="D9D9D9"/>
            </a:solidFill>
            <a:prstDash val="solid"/>
          </a:ln>
        </p:spPr>
      </p:sp>
      <p:sp>
        <p:nvSpPr>
          <p:cNvPr id="10" name="badge 2"/>
          <p:cNvSpPr/>
          <p:nvPr/>
        </p:nvSpPr>
        <p:spPr>
          <a:xfrm>
            <a:off x="5715000" y="1737360"/>
            <a:ext cx="777240" cy="777240"/>
          </a:xfrm>
          <a:prstGeom prst="ellipse">
            <a:avLst/>
          </a:prstGeom>
          <a:solidFill>
            <a:srgbClr val="4472C4"/>
          </a:solidFill>
          <a:ln w="12700">
            <a:solidFill>
              <a:srgbClr val="4472C4"/>
            </a:solidFill>
            <a:prstDash val="solid"/>
          </a:ln>
        </p:spPr>
      </p:sp>
      <p:sp>
        <p:nvSpPr>
          <p:cNvPr id="11" name="Text 9"/>
          <p:cNvSpPr txBox="1"/>
          <p:nvPr/>
        </p:nvSpPr>
        <p:spPr>
          <a:xfrm>
            <a:off x="5715000"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rPr>
              <a:t>2</a:t>
            </a:r>
            <a:endParaRPr lang="en-US" sz="2800" dirty="0"/>
          </a:p>
        </p:txBody>
      </p:sp>
      <p:sp>
        <p:nvSpPr>
          <p:cNvPr id="12" name="Text 10"/>
          <p:cNvSpPr txBox="1"/>
          <p:nvPr/>
        </p:nvSpPr>
        <p:spPr>
          <a:xfrm>
            <a:off x="4526280" y="2697480"/>
            <a:ext cx="3154680" cy="548640"/>
          </a:xfrm>
          <a:prstGeom prst="rect">
            <a:avLst/>
          </a:prstGeom>
          <a:noFill/>
          <a:ln/>
        </p:spPr>
        <p:txBody>
          <a:bodyPr wrap="square" lIns="0" tIns="0" rIns="0" bIns="0" rtlCol="0" anchor="ctr"/>
          <a:lstStyle/>
          <a:p>
            <a:pPr algn="ctr" indent="0" marL="0">
              <a:buNone/>
            </a:pPr>
            <a:r>
              <a:rPr lang="en-US" sz="2400" b="1" dirty="0">
                <a:solidFill>
                  <a:schemeClr val="tx1"/>
                </a:solidFill>
              </a:rPr>
              <a:t>Distracted by extra tools</a:t>
            </a:r>
            <a:endParaRPr lang="en-US" sz="2400" dirty="0"/>
          </a:p>
        </p:txBody>
      </p:sp>
      <p:sp>
        <p:nvSpPr>
          <p:cNvPr id="13" name="Text 11"/>
          <p:cNvSpPr txBox="1"/>
          <p:nvPr/>
        </p:nvSpPr>
        <p:spPr>
          <a:xfrm>
            <a:off x="4526280" y="3291840"/>
            <a:ext cx="3154680" cy="822960"/>
          </a:xfrm>
          <a:prstGeom prst="rect">
            <a:avLst/>
          </a:prstGeom>
          <a:noFill/>
          <a:ln/>
        </p:spPr>
        <p:txBody>
          <a:bodyPr wrap="square" lIns="0" tIns="0" rIns="0" bIns="0" rtlCol="0" anchor="t"/>
          <a:lstStyle/>
          <a:p>
            <a:pPr algn="ctr" indent="0" marL="0">
              <a:buNone/>
            </a:pPr>
            <a:r>
              <a:rPr lang="en-US" sz="1600" dirty="0">
                <a:solidFill>
                  <a:schemeClr val="tx2"/>
                </a:solidFill>
              </a:rPr>
              <a:t>an unneeded helper changes its method</a:t>
            </a:r>
            <a:endParaRPr lang="en-US" sz="1600" dirty="0"/>
          </a:p>
        </p:txBody>
      </p:sp>
      <p:sp>
        <p:nvSpPr>
          <p:cNvPr id="14" name="Text 12"/>
          <p:cNvSpPr txBox="1"/>
          <p:nvPr/>
        </p:nvSpPr>
        <p:spPr>
          <a:xfrm>
            <a:off x="4526280" y="4206240"/>
            <a:ext cx="3154680" cy="914400"/>
          </a:xfrm>
          <a:prstGeom prst="rect">
            <a:avLst/>
          </a:prstGeom>
          <a:noFill/>
          <a:ln/>
        </p:spPr>
        <p:txBody>
          <a:bodyPr wrap="square" lIns="0" tIns="0" rIns="0" bIns="0" rtlCol="0" anchor="t"/>
          <a:lstStyle/>
          <a:p>
            <a:pPr algn="ctr" indent="0" marL="0">
              <a:buNone/>
            </a:pPr>
            <a:r>
              <a:rPr lang="en-US" sz="2000" b="1" dirty="0">
                <a:solidFill>
                  <a:srgbClr val="4472C4"/>
                </a:solidFill>
              </a:rPr>
              <a:t>Compare two programs</a:t>
            </a:r>
            <a:endParaRPr lang="en-US" sz="2000" dirty="0"/>
          </a:p>
        </p:txBody>
      </p:sp>
      <p:sp>
        <p:nvSpPr>
          <p:cNvPr id="15" name="mechanism 3"/>
          <p:cNvSpPr/>
          <p:nvPr/>
        </p:nvSpPr>
        <p:spPr>
          <a:xfrm>
            <a:off x="8138160" y="1463040"/>
            <a:ext cx="3520440" cy="3931920"/>
          </a:xfrm>
          <a:prstGeom prst="roundRect">
            <a:avLst>
              <a:gd name="adj" fmla="val 2078"/>
            </a:avLst>
          </a:prstGeom>
          <a:solidFill>
            <a:srgbClr val="F2F2F2"/>
          </a:solidFill>
          <a:ln w="9525">
            <a:solidFill>
              <a:srgbClr val="D9D9D9"/>
            </a:solidFill>
            <a:prstDash val="solid"/>
          </a:ln>
        </p:spPr>
      </p:sp>
      <p:sp>
        <p:nvSpPr>
          <p:cNvPr id="16" name="badge 3"/>
          <p:cNvSpPr/>
          <p:nvPr/>
        </p:nvSpPr>
        <p:spPr>
          <a:xfrm>
            <a:off x="9509760" y="1737360"/>
            <a:ext cx="777240" cy="777240"/>
          </a:xfrm>
          <a:prstGeom prst="ellipse">
            <a:avLst/>
          </a:prstGeom>
          <a:solidFill>
            <a:srgbClr val="4472C4"/>
          </a:solidFill>
          <a:ln w="12700">
            <a:solidFill>
              <a:srgbClr val="4472C4"/>
            </a:solidFill>
            <a:prstDash val="solid"/>
          </a:ln>
        </p:spPr>
      </p:sp>
      <p:sp>
        <p:nvSpPr>
          <p:cNvPr id="17" name="Text 15"/>
          <p:cNvSpPr txBox="1"/>
          <p:nvPr/>
        </p:nvSpPr>
        <p:spPr>
          <a:xfrm>
            <a:off x="9509760"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rPr>
              <a:t>3</a:t>
            </a:r>
            <a:endParaRPr lang="en-US" sz="2800" dirty="0"/>
          </a:p>
        </p:txBody>
      </p:sp>
      <p:sp>
        <p:nvSpPr>
          <p:cNvPr id="18" name="Text 16"/>
          <p:cNvSpPr txBox="1"/>
          <p:nvPr/>
        </p:nvSpPr>
        <p:spPr>
          <a:xfrm>
            <a:off x="8321040" y="2697480"/>
            <a:ext cx="3154680" cy="548640"/>
          </a:xfrm>
          <a:prstGeom prst="rect">
            <a:avLst/>
          </a:prstGeom>
          <a:noFill/>
          <a:ln/>
        </p:spPr>
        <p:txBody>
          <a:bodyPr wrap="square" lIns="0" tIns="0" rIns="0" bIns="0" rtlCol="0" anchor="ctr"/>
          <a:lstStyle/>
          <a:p>
            <a:pPr algn="ctr" indent="0" marL="0">
              <a:buNone/>
            </a:pPr>
            <a:r>
              <a:rPr lang="en-US" sz="2400" b="1" dirty="0">
                <a:solidFill>
                  <a:schemeClr val="tx1"/>
                </a:solidFill>
              </a:rPr>
              <a:t>The problem is hard</a:t>
            </a:r>
            <a:endParaRPr lang="en-US" sz="2400" dirty="0"/>
          </a:p>
        </p:txBody>
      </p:sp>
      <p:sp>
        <p:nvSpPr>
          <p:cNvPr id="19" name="Text 17"/>
          <p:cNvSpPr txBox="1"/>
          <p:nvPr/>
        </p:nvSpPr>
        <p:spPr>
          <a:xfrm>
            <a:off x="8321040" y="3291840"/>
            <a:ext cx="3154680" cy="822960"/>
          </a:xfrm>
          <a:prstGeom prst="rect">
            <a:avLst/>
          </a:prstGeom>
          <a:noFill/>
          <a:ln/>
        </p:spPr>
        <p:txBody>
          <a:bodyPr wrap="square" lIns="0" tIns="0" rIns="0" bIns="0" rtlCol="0" anchor="t"/>
          <a:lstStyle/>
          <a:p>
            <a:pPr algn="ctr" indent="0" marL="0">
              <a:buNone/>
            </a:pPr>
            <a:r>
              <a:rPr lang="en-US" sz="1600" dirty="0">
                <a:solidFill>
                  <a:schemeClr val="tx2"/>
                </a:solidFill>
              </a:rPr>
              <a:t>its logic is wrong</a:t>
            </a:r>
            <a:endParaRPr lang="en-US" sz="1600" dirty="0"/>
          </a:p>
        </p:txBody>
      </p:sp>
      <p:sp>
        <p:nvSpPr>
          <p:cNvPr id="20" name="Text 18"/>
          <p:cNvSpPr txBox="1"/>
          <p:nvPr/>
        </p:nvSpPr>
        <p:spPr>
          <a:xfrm>
            <a:off x="8321040" y="4206240"/>
            <a:ext cx="3154680" cy="914400"/>
          </a:xfrm>
          <a:prstGeom prst="rect">
            <a:avLst/>
          </a:prstGeom>
          <a:noFill/>
          <a:ln/>
        </p:spPr>
        <p:txBody>
          <a:bodyPr wrap="square" lIns="0" tIns="0" rIns="0" bIns="0" rtlCol="0" anchor="t"/>
          <a:lstStyle/>
          <a:p>
            <a:pPr algn="ctr" indent="0" marL="0">
              <a:buNone/>
            </a:pPr>
            <a:r>
              <a:rPr lang="en-US" sz="2000" b="1" dirty="0">
                <a:solidFill>
                  <a:srgbClr val="4472C4"/>
                </a:solidFill>
              </a:rPr>
              <a:t>Think harder, only when a check fails</a:t>
            </a:r>
            <a:endParaRPr lang="en-US" sz="2000" dirty="0"/>
          </a:p>
        </p:txBody>
      </p:sp>
      <p:sp>
        <p:nvSpPr>
          <p:cNvPr id="21" name="Text 1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"Just think longer" only helps the third. Next: one example of each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1. It doesn't know the library: show the exact usage</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2. Extra tools distract it: compare two programs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task, two prompts. The model writes a program for each; we run both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3. Hard problems: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Same problem every day: check one program, reuse it</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project is now</a:t>
            </a:r>
            <a:endParaRPr lang="en-US" sz="3600" dirty="0"/>
          </a:p>
        </p:txBody>
      </p:sp>
      <p:sp>
        <p:nvSpPr>
          <p:cNvPr id="3" name="Text 1"/>
          <p:cNvSpPr txBox="1"/>
          <p:nvPr/>
        </p:nvSpPr>
        <p:spPr>
          <a:xfrm>
            <a:off x="548640" y="1554480"/>
            <a:ext cx="2194560" cy="1097280"/>
          </a:xfrm>
          <a:prstGeom prst="rect">
            <a:avLst/>
          </a:prstGeom>
          <a:noFill/>
          <a:ln/>
        </p:spPr>
        <p:txBody>
          <a:bodyPr wrap="square" lIns="0" tIns="0" rIns="0" bIns="0" rtlCol="0" anchor="ctr"/>
          <a:lstStyle/>
          <a:p>
            <a:pPr indent="0" marL="0">
              <a:buNone/>
            </a:pPr>
            <a:r>
              <a:rPr lang="en-US" sz="2800" b="1" dirty="0">
                <a:solidFill>
                  <a:srgbClr val="70AD47"/>
                </a:solidFill>
              </a:rPr>
              <a:t>Done</a:t>
            </a:r>
            <a:endParaRPr lang="en-US" sz="2800" dirty="0"/>
          </a:p>
        </p:txBody>
      </p:sp>
      <p:sp>
        <p:nvSpPr>
          <p:cNvPr id="4" name="Text 2"/>
          <p:cNvSpPr txBox="1"/>
          <p:nvPr/>
        </p:nvSpPr>
        <p:spPr>
          <a:xfrm>
            <a:off x="2834640" y="1554480"/>
            <a:ext cx="8778240" cy="1097280"/>
          </a:xfrm>
          <a:prstGeom prst="rect">
            <a:avLst/>
          </a:prstGeom>
          <a:noFill/>
          <a:ln/>
        </p:spPr>
        <p:txBody>
          <a:bodyPr wrap="square" lIns="0" tIns="0" rIns="0" bIns="0" rtlCol="0" anchor="ctr"/>
          <a:lstStyle/>
          <a:p>
            <a:pPr indent="0" marL="0">
              <a:buNone/>
            </a:pPr>
            <a:r>
              <a:rPr lang="en-US" sz="2000" dirty="0">
                <a:solidFill>
                  <a:schemeClr val="tx1"/>
                </a:solidFill>
              </a:rPr>
              <a:t>tested on real benchmarks (contest geometry, delivery routing, scheduling, math, proofs) and against 10 published methods</a:t>
            </a:r>
            <a:endParaRPr lang="en-US" sz="2000" dirty="0"/>
          </a:p>
        </p:txBody>
      </p:sp>
      <p:sp>
        <p:nvSpPr>
          <p:cNvPr id="5" name="Text 3"/>
          <p:cNvSpPr txBox="1"/>
          <p:nvPr/>
        </p:nvSpPr>
        <p:spPr>
          <a:xfrm>
            <a:off x="548640" y="2971800"/>
            <a:ext cx="2194560" cy="1097280"/>
          </a:xfrm>
          <a:prstGeom prst="rect">
            <a:avLst/>
          </a:prstGeom>
          <a:noFill/>
          <a:ln/>
        </p:spPr>
        <p:txBody>
          <a:bodyPr wrap="square" lIns="0" tIns="0" rIns="0" bIns="0" rtlCol="0" anchor="ctr"/>
          <a:lstStyle/>
          <a:p>
            <a:pPr indent="0" marL="0">
              <a:buNone/>
            </a:pPr>
            <a:r>
              <a:rPr lang="en-US" sz="2800" b="1" dirty="0">
                <a:solidFill>
                  <a:srgbClr val="4472C4"/>
                </a:solidFill>
              </a:rPr>
              <a:t>Running</a:t>
            </a:r>
            <a:endParaRPr lang="en-US" sz="2800" dirty="0"/>
          </a:p>
        </p:txBody>
      </p:sp>
      <p:sp>
        <p:nvSpPr>
          <p:cNvPr id="6" name="Text 4"/>
          <p:cNvSpPr txBox="1"/>
          <p:nvPr/>
        </p:nvSpPr>
        <p:spPr>
          <a:xfrm>
            <a:off x="2834640" y="2971800"/>
            <a:ext cx="8778240" cy="1097280"/>
          </a:xfrm>
          <a:prstGeom prst="rect">
            <a:avLst/>
          </a:prstGeom>
          <a:noFill/>
          <a:ln/>
        </p:spPr>
        <p:txBody>
          <a:bodyPr wrap="square" lIns="0" tIns="0" rIns="0" bIns="0" rtlCol="0" anchor="ctr"/>
          <a:lstStyle/>
          <a:p>
            <a:pPr indent="0" marL="0">
              <a:buNone/>
            </a:pPr>
            <a:r>
              <a:rPr lang="en-US" sz="2000" dirty="0">
                <a:solidFill>
                  <a:schemeClr val="tx1"/>
                </a:solidFill>
              </a:rPr>
              <a:t>main test: does picking the fix by mistake type beat "think longer on hard problems", for the same cost?</a:t>
            </a:r>
            <a:endParaRPr lang="en-US" sz="2000" dirty="0"/>
          </a:p>
        </p:txBody>
      </p:sp>
      <p:sp>
        <p:nvSpPr>
          <p:cNvPr id="7" name="Text 5"/>
          <p:cNvSpPr txBox="1"/>
          <p:nvPr/>
        </p:nvSpPr>
        <p:spPr>
          <a:xfrm>
            <a:off x="548640" y="4389120"/>
            <a:ext cx="2194560" cy="1097280"/>
          </a:xfrm>
          <a:prstGeom prst="rect">
            <a:avLst/>
          </a:prstGeom>
          <a:noFill/>
          <a:ln/>
        </p:spPr>
        <p:txBody>
          <a:bodyPr wrap="square" lIns="0" tIns="0" rIns="0" bIns="0" rtlCol="0" anchor="ctr"/>
          <a:lstStyle/>
          <a:p>
            <a:pPr indent="0" marL="0">
              <a:buNone/>
            </a:pPr>
            <a:r>
              <a:rPr lang="en-US" sz="2800" b="1" dirty="0">
                <a:solidFill>
                  <a:srgbClr val="ED7D31"/>
                </a:solidFill>
              </a:rPr>
              <a:t>Next</a:t>
            </a:r>
            <a:endParaRPr lang="en-US" sz="2800" dirty="0"/>
          </a:p>
        </p:txBody>
      </p:sp>
      <p:sp>
        <p:nvSpPr>
          <p:cNvPr id="8" name="Text 6"/>
          <p:cNvSpPr txBox="1"/>
          <p:nvPr/>
        </p:nvSpPr>
        <p:spPr>
          <a:xfrm>
            <a:off x="2834640" y="4389120"/>
            <a:ext cx="8778240" cy="1097280"/>
          </a:xfrm>
          <a:prstGeom prst="rect">
            <a:avLst/>
          </a:prstGeom>
          <a:noFill/>
          <a:ln/>
        </p:spPr>
        <p:txBody>
          <a:bodyPr wrap="square" lIns="0" tIns="0" rIns="0" bIns="0" rtlCol="0" anchor="ctr"/>
          <a:lstStyle/>
          <a:p>
            <a:pPr indent="0" marL="0">
              <a:buNone/>
            </a:pPr>
            <a:r>
              <a:rPr lang="en-US" sz="2000" dirty="0">
                <a:solidFill>
                  <a:schemeClr val="tx1"/>
                </a:solidFill>
              </a:rPr>
              <a:t>check the same idea on factual questions and on a commercial model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Tools, Facts, and Checks: project proposal</dc:title>
  <dc:subject>PptxGenJS Presentation</dc:subject>
  <dc:creator>POSTECH graduate NLP course project</dc:creator>
  <cp:lastModifiedBy>POSTECH graduate NLP course project</cp:lastModifiedBy>
  <cp:revision>1</cp:revision>
  <dcterms:created xsi:type="dcterms:W3CDTF">2026-10-17T04:15:09Z</dcterms:created>
  <dcterms:modified xsi:type="dcterms:W3CDTF">2026-10-17T04:15:09Z</dcterms:modified>
</cp:coreProperties>
</file>